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2" r:id="rId4"/>
    <p:sldId id="258" r:id="rId5"/>
    <p:sldId id="259" r:id="rId6"/>
    <p:sldId id="260" r:id="rId7"/>
    <p:sldId id="263" r:id="rId8"/>
    <p:sldId id="261" r:id="rId9"/>
    <p:sldId id="268" r:id="rId10"/>
    <p:sldId id="269" r:id="rId11"/>
    <p:sldId id="270" r:id="rId12"/>
    <p:sldId id="271" r:id="rId13"/>
    <p:sldId id="272" r:id="rId14"/>
    <p:sldId id="262" r:id="rId15"/>
    <p:sldId id="264" r:id="rId16"/>
    <p:sldId id="265" r:id="rId17"/>
    <p:sldId id="267"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5" d="100"/>
          <a:sy n="65" d="100"/>
        </p:scale>
        <p:origin x="-1296" y="-7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48AB859-1548-4341-9097-7E0D7352F292}" type="datetimeFigureOut">
              <a:rPr lang="en-US" smtClean="0"/>
              <a:t>10/11/2023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3AF196-4BAA-48CC-869D-1F84A6A9D6C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48AB859-1548-4341-9097-7E0D7352F292}" type="datetimeFigureOut">
              <a:rPr lang="en-US" smtClean="0"/>
              <a:t>10/11/2023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3AF196-4BAA-48CC-869D-1F84A6A9D6C9}"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48AB859-1548-4341-9097-7E0D7352F292}" type="datetimeFigureOut">
              <a:rPr lang="en-US" smtClean="0"/>
              <a:t>10/11/2023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3AF196-4BAA-48CC-869D-1F84A6A9D6C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48AB859-1548-4341-9097-7E0D7352F292}" type="datetimeFigureOut">
              <a:rPr lang="en-US" smtClean="0"/>
              <a:t>10/11/2023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3AF196-4BAA-48CC-869D-1F84A6A9D6C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48AB859-1548-4341-9097-7E0D7352F292}" type="datetimeFigureOut">
              <a:rPr lang="en-US" smtClean="0"/>
              <a:t>10/11/2023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C3AF196-4BAA-48CC-869D-1F84A6A9D6C9}"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48AB859-1548-4341-9097-7E0D7352F292}" type="datetimeFigureOut">
              <a:rPr lang="en-US" smtClean="0"/>
              <a:t>10/11/2023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C3AF196-4BAA-48CC-869D-1F84A6A9D6C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8AB859-1548-4341-9097-7E0D7352F292}" type="datetimeFigureOut">
              <a:rPr lang="en-US" smtClean="0"/>
              <a:t>10/11/2023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C3AF196-4BAA-48CC-869D-1F84A6A9D6C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48AB859-1548-4341-9097-7E0D7352F292}" type="datetimeFigureOut">
              <a:rPr lang="en-US" smtClean="0"/>
              <a:t>10/11/2023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3AF196-4BAA-48CC-869D-1F84A6A9D6C9}"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48AB859-1548-4341-9097-7E0D7352F292}" type="datetimeFigureOut">
              <a:rPr lang="en-US" smtClean="0"/>
              <a:t>10/11/2023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3AF196-4BAA-48CC-869D-1F84A6A9D6C9}"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48AB859-1548-4341-9097-7E0D7352F292}" type="datetimeFigureOut">
              <a:rPr lang="en-US" smtClean="0"/>
              <a:t>10/11/2023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3AF196-4BAA-48CC-869D-1F84A6A9D6C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48AB859-1548-4341-9097-7E0D7352F292}" type="datetimeFigureOut">
              <a:rPr lang="en-US" smtClean="0"/>
              <a:t>10/11/2023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3AF196-4BAA-48CC-869D-1F84A6A9D6C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8AB859-1548-4341-9097-7E0D7352F292}" type="datetimeFigureOut">
              <a:rPr lang="en-US" smtClean="0"/>
              <a:t>10/11/2023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3AF196-4BAA-48CC-869D-1F84A6A9D6C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Unit 1</a:t>
            </a:r>
            <a:endParaRPr lang="en-IN" dirty="0"/>
          </a:p>
        </p:txBody>
      </p:sp>
      <p:sp>
        <p:nvSpPr>
          <p:cNvPr id="3" name="Subtitle 2"/>
          <p:cNvSpPr>
            <a:spLocks noGrp="1"/>
          </p:cNvSpPr>
          <p:nvPr>
            <p:ph type="subTitle" idx="1"/>
          </p:nvPr>
        </p:nvSpPr>
        <p:spPr/>
        <p:txBody>
          <a:bodyPr/>
          <a:lstStyle/>
          <a:p>
            <a:r>
              <a:rPr lang="en-IN" dirty="0" smtClean="0"/>
              <a:t>The Software Development Life Cycle</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SDLC</a:t>
            </a:r>
            <a:endParaRPr lang="en-IN" dirty="0"/>
          </a:p>
        </p:txBody>
      </p:sp>
      <p:sp>
        <p:nvSpPr>
          <p:cNvPr id="3" name="Content Placeholder 2"/>
          <p:cNvSpPr>
            <a:spLocks noGrp="1"/>
          </p:cNvSpPr>
          <p:nvPr>
            <p:ph idx="1"/>
          </p:nvPr>
        </p:nvSpPr>
        <p:spPr/>
        <p:txBody>
          <a:bodyPr/>
          <a:lstStyle/>
          <a:p>
            <a:r>
              <a:rPr lang="en-IN" dirty="0" smtClean="0"/>
              <a:t>Pre-development </a:t>
            </a:r>
            <a:r>
              <a:rPr lang="en-IN" dirty="0"/>
              <a:t>phases of the SDLC – </a:t>
            </a:r>
            <a:endParaRPr lang="en-IN" dirty="0" smtClean="0"/>
          </a:p>
          <a:p>
            <a:r>
              <a:rPr lang="en-IN" dirty="0" smtClean="0"/>
              <a:t>Development </a:t>
            </a:r>
            <a:r>
              <a:rPr lang="en-IN" dirty="0"/>
              <a:t>specific phases of the SDLC </a:t>
            </a:r>
            <a:r>
              <a:rPr lang="en-IN" dirty="0" smtClean="0"/>
              <a:t>–</a:t>
            </a:r>
          </a:p>
          <a:p>
            <a:r>
              <a:rPr lang="en-IN" dirty="0" smtClean="0"/>
              <a:t>Post-development </a:t>
            </a:r>
            <a:r>
              <a:rPr lang="en-IN" dirty="0"/>
              <a:t>phases of the SDLC;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SDLC</a:t>
            </a:r>
            <a:endParaRPr lang="en-IN" dirty="0"/>
          </a:p>
        </p:txBody>
      </p:sp>
      <p:sp>
        <p:nvSpPr>
          <p:cNvPr id="3" name="Content Placeholder 2"/>
          <p:cNvSpPr>
            <a:spLocks noGrp="1"/>
          </p:cNvSpPr>
          <p:nvPr>
            <p:ph idx="1"/>
          </p:nvPr>
        </p:nvSpPr>
        <p:spPr/>
        <p:txBody>
          <a:bodyPr>
            <a:normAutofit fontScale="85000" lnSpcReduction="20000"/>
          </a:bodyPr>
          <a:lstStyle/>
          <a:p>
            <a:r>
              <a:rPr lang="en-IN" dirty="0"/>
              <a:t>The goals of this SDLC approach are to:</a:t>
            </a:r>
          </a:p>
          <a:p>
            <a:pPr lvl="1"/>
            <a:r>
              <a:rPr lang="en-IN" dirty="0"/>
              <a:t>Deliver quality systems which meet or exceed customer expectations when promised and within cost estimates.</a:t>
            </a:r>
          </a:p>
          <a:p>
            <a:pPr lvl="1"/>
            <a:r>
              <a:rPr lang="en-IN" dirty="0"/>
              <a:t>Provide a framework for developing quality systems using an identifiable, measurable, and repeatable process.</a:t>
            </a:r>
          </a:p>
          <a:p>
            <a:pPr lvl="1"/>
            <a:r>
              <a:rPr lang="en-IN" dirty="0"/>
              <a:t>Establish a project management structure to ensure that each system development project is effectively managed throughout its life cycle.</a:t>
            </a:r>
          </a:p>
          <a:p>
            <a:pPr lvl="1"/>
            <a:r>
              <a:rPr lang="en-IN" dirty="0"/>
              <a:t>Identify and assign the roles and responsibilities of all involved parties, including functional and technical managers, throughout the system development life cycle.</a:t>
            </a:r>
          </a:p>
          <a:p>
            <a:pPr lvl="1"/>
            <a:r>
              <a:rPr lang="en-IN" dirty="0"/>
              <a:t>Ensure that system development requirements are well defined and subsequently satisfied.</a:t>
            </a: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Pre-development phases of the SDLC</a:t>
            </a:r>
            <a:endParaRPr lang="en-IN" dirty="0"/>
          </a:p>
        </p:txBody>
      </p:sp>
      <p:sp>
        <p:nvSpPr>
          <p:cNvPr id="3" name="Content Placeholder 2"/>
          <p:cNvSpPr>
            <a:spLocks noGrp="1"/>
          </p:cNvSpPr>
          <p:nvPr>
            <p:ph idx="1"/>
          </p:nvPr>
        </p:nvSpPr>
        <p:spPr/>
        <p:txBody>
          <a:bodyPr>
            <a:normAutofit/>
          </a:bodyPr>
          <a:lstStyle/>
          <a:p>
            <a:r>
              <a:rPr lang="en-IN" dirty="0" smtClean="0"/>
              <a:t>A </a:t>
            </a:r>
            <a:r>
              <a:rPr lang="en-IN" dirty="0"/>
              <a:t>process was </a:t>
            </a:r>
            <a:r>
              <a:rPr lang="en-IN" dirty="0" smtClean="0"/>
              <a:t>defined </a:t>
            </a:r>
            <a:r>
              <a:rPr lang="en-IN" dirty="0"/>
              <a:t>as a collection of work activities, actions, </a:t>
            </a:r>
            <a:r>
              <a:rPr lang="en-IN" dirty="0" smtClean="0"/>
              <a:t>and tasks </a:t>
            </a:r>
            <a:r>
              <a:rPr lang="en-IN" dirty="0"/>
              <a:t>that are performed when some work product is to be created. </a:t>
            </a:r>
            <a:endParaRPr lang="en-IN" dirty="0" smtClean="0"/>
          </a:p>
          <a:p>
            <a:r>
              <a:rPr lang="en-IN" dirty="0" smtClean="0"/>
              <a:t>Each </a:t>
            </a:r>
            <a:r>
              <a:rPr lang="en-IN" dirty="0"/>
              <a:t>of </a:t>
            </a:r>
            <a:r>
              <a:rPr lang="en-IN" dirty="0" smtClean="0"/>
              <a:t>these activities</a:t>
            </a:r>
            <a:r>
              <a:rPr lang="en-IN" dirty="0"/>
              <a:t>, actions, and tasks resides within a framework or model that </a:t>
            </a:r>
            <a:r>
              <a:rPr lang="en-IN" dirty="0" smtClean="0"/>
              <a:t>defines their </a:t>
            </a:r>
            <a:r>
              <a:rPr lang="en-IN" dirty="0"/>
              <a:t>relationship with the process and with one another.</a:t>
            </a:r>
            <a:r>
              <a:rPr lang="en-IN" b="1" dirty="0" smtClean="0"/>
              <a:t> </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Pre-development phases of the SDLC</a:t>
            </a:r>
            <a:endParaRPr lang="en-IN" dirty="0"/>
          </a:p>
        </p:txBody>
      </p:sp>
      <p:sp>
        <p:nvSpPr>
          <p:cNvPr id="3" name="Content Placeholder 2"/>
          <p:cNvSpPr>
            <a:spLocks noGrp="1"/>
          </p:cNvSpPr>
          <p:nvPr>
            <p:ph idx="1"/>
          </p:nvPr>
        </p:nvSpPr>
        <p:spPr/>
        <p:txBody>
          <a:bodyPr/>
          <a:lstStyle/>
          <a:p>
            <a:r>
              <a:rPr lang="en-IN" dirty="0" smtClean="0"/>
              <a:t>A </a:t>
            </a:r>
            <a:r>
              <a:rPr lang="en-IN" dirty="0"/>
              <a:t>generic process framework for software </a:t>
            </a:r>
            <a:r>
              <a:rPr lang="en-IN" dirty="0" smtClean="0"/>
              <a:t>engineering defines five </a:t>
            </a:r>
            <a:r>
              <a:rPr lang="en-IN" dirty="0"/>
              <a:t>framework activities— </a:t>
            </a:r>
            <a:endParaRPr lang="en-IN" dirty="0" smtClean="0"/>
          </a:p>
          <a:p>
            <a:pPr lvl="1"/>
            <a:r>
              <a:rPr lang="en-IN" b="1" dirty="0" smtClean="0"/>
              <a:t>communication</a:t>
            </a:r>
            <a:r>
              <a:rPr lang="en-IN" b="1" dirty="0"/>
              <a:t>, </a:t>
            </a:r>
            <a:endParaRPr lang="en-IN" b="1" dirty="0" smtClean="0"/>
          </a:p>
          <a:p>
            <a:pPr lvl="1"/>
            <a:r>
              <a:rPr lang="en-IN" b="1" dirty="0" smtClean="0"/>
              <a:t>planning</a:t>
            </a:r>
            <a:r>
              <a:rPr lang="en-IN" b="1" dirty="0"/>
              <a:t>, </a:t>
            </a:r>
            <a:endParaRPr lang="en-IN" b="1" dirty="0" smtClean="0"/>
          </a:p>
          <a:p>
            <a:pPr lvl="1"/>
            <a:r>
              <a:rPr lang="en-IN" b="1" dirty="0" err="1" smtClean="0"/>
              <a:t>modeling</a:t>
            </a:r>
            <a:r>
              <a:rPr lang="en-IN" b="1" dirty="0"/>
              <a:t>,</a:t>
            </a:r>
          </a:p>
          <a:p>
            <a:pPr lvl="1"/>
            <a:r>
              <a:rPr lang="en-IN" b="1" dirty="0"/>
              <a:t>construction, </a:t>
            </a:r>
            <a:endParaRPr lang="en-IN" b="1" dirty="0" smtClean="0"/>
          </a:p>
          <a:p>
            <a:pPr lvl="1"/>
            <a:r>
              <a:rPr lang="en-IN" b="1" dirty="0" smtClean="0"/>
              <a:t>and </a:t>
            </a:r>
            <a:r>
              <a:rPr lang="en-IN" b="1" dirty="0"/>
              <a:t>deployment .</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Pre-development phases of the SDLC</a:t>
            </a:r>
            <a:endParaRPr lang="en-IN" dirty="0"/>
          </a:p>
        </p:txBody>
      </p:sp>
      <p:sp>
        <p:nvSpPr>
          <p:cNvPr id="3" name="Content Placeholder 2"/>
          <p:cNvSpPr>
            <a:spLocks noGrp="1"/>
          </p:cNvSpPr>
          <p:nvPr>
            <p:ph idx="1"/>
          </p:nvPr>
        </p:nvSpPr>
        <p:spPr/>
        <p:txBody>
          <a:bodyPr/>
          <a:lstStyle/>
          <a:p>
            <a:endParaRPr lang="en-IN"/>
          </a:p>
        </p:txBody>
      </p:sp>
      <p:pic>
        <p:nvPicPr>
          <p:cNvPr id="1026" name="Picture 2"/>
          <p:cNvPicPr>
            <a:picLocks noChangeAspect="1" noChangeArrowheads="1"/>
          </p:cNvPicPr>
          <p:nvPr/>
        </p:nvPicPr>
        <p:blipFill>
          <a:blip r:embed="rId2"/>
          <a:srcRect/>
          <a:stretch>
            <a:fillRect/>
          </a:stretch>
        </p:blipFill>
        <p:spPr bwMode="auto">
          <a:xfrm>
            <a:off x="2071670" y="1285860"/>
            <a:ext cx="4298950" cy="469900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Pre-development phases of the SDLC</a:t>
            </a:r>
            <a:endParaRPr lang="en-IN" dirty="0"/>
          </a:p>
        </p:txBody>
      </p:sp>
      <p:sp>
        <p:nvSpPr>
          <p:cNvPr id="3" name="Content Placeholder 2"/>
          <p:cNvSpPr>
            <a:spLocks noGrp="1"/>
          </p:cNvSpPr>
          <p:nvPr>
            <p:ph idx="1"/>
          </p:nvPr>
        </p:nvSpPr>
        <p:spPr/>
        <p:txBody>
          <a:bodyPr>
            <a:normAutofit fontScale="92500"/>
          </a:bodyPr>
          <a:lstStyle/>
          <a:p>
            <a:r>
              <a:rPr lang="en-IN" dirty="0"/>
              <a:t>Software process - Collection of work activities, actions, </a:t>
            </a:r>
            <a:r>
              <a:rPr lang="en-IN" dirty="0" smtClean="0"/>
              <a:t>and tasks </a:t>
            </a:r>
            <a:r>
              <a:rPr lang="en-IN" dirty="0"/>
              <a:t>to create work products.</a:t>
            </a:r>
          </a:p>
          <a:p>
            <a:r>
              <a:rPr lang="en-IN" dirty="0"/>
              <a:t>Framework - Activities, actions, and tasks reside </a:t>
            </a:r>
            <a:r>
              <a:rPr lang="en-IN" dirty="0" smtClean="0"/>
              <a:t>with relationship</a:t>
            </a:r>
            <a:r>
              <a:rPr lang="en-IN" dirty="0"/>
              <a:t>.</a:t>
            </a:r>
          </a:p>
          <a:p>
            <a:r>
              <a:rPr lang="en-IN" dirty="0"/>
              <a:t>Framework activities - communication, planning, </a:t>
            </a:r>
            <a:r>
              <a:rPr lang="en-IN" dirty="0" err="1"/>
              <a:t>modeling</a:t>
            </a:r>
            <a:r>
              <a:rPr lang="en-IN" dirty="0" smtClean="0"/>
              <a:t>, construction</a:t>
            </a:r>
            <a:r>
              <a:rPr lang="en-IN" dirty="0"/>
              <a:t>, and deployment</a:t>
            </a:r>
          </a:p>
          <a:p>
            <a:r>
              <a:rPr lang="en-IN" dirty="0"/>
              <a:t>Umbrella activities - project tracking and control, </a:t>
            </a:r>
            <a:r>
              <a:rPr lang="en-IN" dirty="0" smtClean="0"/>
              <a:t>risk management</a:t>
            </a:r>
            <a:r>
              <a:rPr lang="en-IN" dirty="0"/>
              <a:t>, quality assurance, etc.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Pre-development phases of the SDLC</a:t>
            </a:r>
            <a:endParaRPr lang="en-IN" dirty="0"/>
          </a:p>
        </p:txBody>
      </p:sp>
      <p:sp>
        <p:nvSpPr>
          <p:cNvPr id="3" name="Content Placeholder 2"/>
          <p:cNvSpPr>
            <a:spLocks noGrp="1"/>
          </p:cNvSpPr>
          <p:nvPr>
            <p:ph idx="1"/>
          </p:nvPr>
        </p:nvSpPr>
        <p:spPr/>
        <p:txBody>
          <a:bodyPr/>
          <a:lstStyle/>
          <a:p>
            <a:endParaRPr lang="en-IN" dirty="0"/>
          </a:p>
        </p:txBody>
      </p:sp>
      <p:pic>
        <p:nvPicPr>
          <p:cNvPr id="2050" name="Picture 2"/>
          <p:cNvPicPr>
            <a:picLocks noChangeAspect="1" noChangeArrowheads="1"/>
          </p:cNvPicPr>
          <p:nvPr/>
        </p:nvPicPr>
        <p:blipFill>
          <a:blip r:embed="rId2"/>
          <a:srcRect/>
          <a:stretch>
            <a:fillRect/>
          </a:stretch>
        </p:blipFill>
        <p:spPr bwMode="auto">
          <a:xfrm>
            <a:off x="1643042" y="1357298"/>
            <a:ext cx="5632450" cy="4552946"/>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Pre-development phases of the SDLC</a:t>
            </a:r>
            <a:endParaRPr lang="en-IN" dirty="0"/>
          </a:p>
        </p:txBody>
      </p:sp>
      <p:sp>
        <p:nvSpPr>
          <p:cNvPr id="3" name="Content Placeholder 2"/>
          <p:cNvSpPr>
            <a:spLocks noGrp="1"/>
          </p:cNvSpPr>
          <p:nvPr>
            <p:ph idx="1"/>
          </p:nvPr>
        </p:nvSpPr>
        <p:spPr/>
        <p:txBody>
          <a:bodyPr/>
          <a:lstStyle/>
          <a:p>
            <a:r>
              <a:rPr lang="en-IN" dirty="0" smtClean="0"/>
              <a:t>Communication : In </a:t>
            </a:r>
            <a:r>
              <a:rPr lang="en-IN" dirty="0"/>
              <a:t>an SDLC, this is the first and most crucial phase for a software project's success. In this phase, communication takes place between stakeholders, end-users, and project teams, as both functional and non-functional requirements are gathered from customers.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Pre-development phases of the SDLC</a:t>
            </a:r>
            <a:endParaRPr lang="en-IN" dirty="0"/>
          </a:p>
        </p:txBody>
      </p:sp>
      <p:sp>
        <p:nvSpPr>
          <p:cNvPr id="3" name="Content Placeholder 2"/>
          <p:cNvSpPr>
            <a:spLocks noGrp="1"/>
          </p:cNvSpPr>
          <p:nvPr>
            <p:ph idx="1"/>
          </p:nvPr>
        </p:nvSpPr>
        <p:spPr/>
        <p:txBody>
          <a:bodyPr>
            <a:normAutofit fontScale="92500"/>
          </a:bodyPr>
          <a:lstStyle/>
          <a:p>
            <a:r>
              <a:rPr lang="en-IN" dirty="0" smtClean="0"/>
              <a:t>Planning : </a:t>
            </a:r>
            <a:r>
              <a:rPr lang="en-IN" dirty="0"/>
              <a:t>Planning helps systems engineers and developers identify whether a new system can help a business achieve its strategic objectives</a:t>
            </a:r>
            <a:r>
              <a:rPr lang="en-IN" dirty="0" smtClean="0"/>
              <a:t>.</a:t>
            </a:r>
          </a:p>
          <a:p>
            <a:r>
              <a:rPr lang="en-IN" dirty="0" smtClean="0"/>
              <a:t> </a:t>
            </a:r>
            <a:r>
              <a:rPr lang="en-IN" dirty="0"/>
              <a:t>A preliminary plan, sometimes called a feasibility study, can allow development teams to outline the resources they need to build new infrastructure or upgrade existing services. </a:t>
            </a:r>
            <a:endParaRPr lang="en-IN" dirty="0" smtClean="0"/>
          </a:p>
          <a:p>
            <a:r>
              <a:rPr lang="en-IN" dirty="0" smtClean="0"/>
              <a:t>This </a:t>
            </a:r>
            <a:r>
              <a:rPr lang="en-IN" dirty="0"/>
              <a:t>life cycle phase helps teams discover potential problems and work toward solutions.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Pre-development phases of the SDLC</a:t>
            </a:r>
            <a:endParaRPr lang="en-IN" dirty="0"/>
          </a:p>
        </p:txBody>
      </p:sp>
      <p:sp>
        <p:nvSpPr>
          <p:cNvPr id="3" name="Content Placeholder 2"/>
          <p:cNvSpPr>
            <a:spLocks noGrp="1"/>
          </p:cNvSpPr>
          <p:nvPr>
            <p:ph idx="1"/>
          </p:nvPr>
        </p:nvSpPr>
        <p:spPr/>
        <p:txBody>
          <a:bodyPr>
            <a:normAutofit fontScale="77500" lnSpcReduction="20000"/>
          </a:bodyPr>
          <a:lstStyle/>
          <a:p>
            <a:r>
              <a:rPr lang="en-IN" dirty="0" err="1" smtClean="0"/>
              <a:t>Modeling</a:t>
            </a:r>
            <a:r>
              <a:rPr lang="en-IN" dirty="0" smtClean="0"/>
              <a:t> : </a:t>
            </a:r>
          </a:p>
          <a:p>
            <a:r>
              <a:rPr lang="en-IN" dirty="0" smtClean="0"/>
              <a:t>SRS </a:t>
            </a:r>
            <a:r>
              <a:rPr lang="en-IN" dirty="0"/>
              <a:t>is the reference for product architects to come out with the best architecture for the product to be developed. </a:t>
            </a:r>
            <a:endParaRPr lang="en-IN" dirty="0" smtClean="0"/>
          </a:p>
          <a:p>
            <a:r>
              <a:rPr lang="en-IN" dirty="0" smtClean="0"/>
              <a:t>Based </a:t>
            </a:r>
            <a:r>
              <a:rPr lang="en-IN" dirty="0"/>
              <a:t>on the requirements specified in SRS, usually more than one design approach for the product architecture is proposed and documented in a DDS - Design Document Specification.</a:t>
            </a:r>
          </a:p>
          <a:p>
            <a:r>
              <a:rPr lang="en-IN" dirty="0"/>
              <a:t>This DDS is reviewed by all the important stakeholders and based on various parameters as risk assessment, product robustness, design modularity, budget and time constraints, the best design approach is selected for the product.</a:t>
            </a:r>
          </a:p>
          <a:p>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Pre-development phases of the SDLC</a:t>
            </a:r>
            <a:endParaRPr lang="en-IN" dirty="0"/>
          </a:p>
        </p:txBody>
      </p:sp>
      <p:sp>
        <p:nvSpPr>
          <p:cNvPr id="3" name="Content Placeholder 2"/>
          <p:cNvSpPr>
            <a:spLocks noGrp="1"/>
          </p:cNvSpPr>
          <p:nvPr>
            <p:ph idx="1"/>
          </p:nvPr>
        </p:nvSpPr>
        <p:spPr/>
        <p:txBody>
          <a:bodyPr>
            <a:normAutofit fontScale="70000" lnSpcReduction="20000"/>
          </a:bodyPr>
          <a:lstStyle/>
          <a:p>
            <a:r>
              <a:rPr lang="en-IN" dirty="0" smtClean="0"/>
              <a:t>Construction : </a:t>
            </a:r>
          </a:p>
          <a:p>
            <a:r>
              <a:rPr lang="en-IN" dirty="0" smtClean="0"/>
              <a:t>In </a:t>
            </a:r>
            <a:r>
              <a:rPr lang="en-IN" dirty="0"/>
              <a:t>this stage of SDLC the actual development starts and the product is built. </a:t>
            </a:r>
            <a:endParaRPr lang="en-IN" dirty="0" smtClean="0"/>
          </a:p>
          <a:p>
            <a:r>
              <a:rPr lang="en-IN" dirty="0" smtClean="0"/>
              <a:t>The </a:t>
            </a:r>
            <a:r>
              <a:rPr lang="en-IN" dirty="0"/>
              <a:t>programming code is generated as per DDS during this stage. If the design is performed in a detailed and organized manner, code generation can be accomplished without much hassle.</a:t>
            </a:r>
          </a:p>
          <a:p>
            <a:r>
              <a:rPr lang="en-IN" dirty="0"/>
              <a:t>Developers must follow the coding guidelines defined by their organization and programming tools like compilers, interpreters, debuggers, etc. are used to generate the code</a:t>
            </a:r>
            <a:r>
              <a:rPr lang="en-IN" dirty="0" smtClean="0"/>
              <a:t>.</a:t>
            </a:r>
          </a:p>
          <a:p>
            <a:r>
              <a:rPr lang="en-IN" dirty="0" smtClean="0"/>
              <a:t>Different </a:t>
            </a:r>
            <a:r>
              <a:rPr lang="en-IN" dirty="0"/>
              <a:t>high level programming languages such as C, C++, Pascal, Java and PHP are used for coding. </a:t>
            </a:r>
            <a:endParaRPr lang="en-IN" dirty="0" smtClean="0"/>
          </a:p>
          <a:p>
            <a:r>
              <a:rPr lang="en-IN" dirty="0" smtClean="0"/>
              <a:t>The </a:t>
            </a:r>
            <a:r>
              <a:rPr lang="en-IN" dirty="0"/>
              <a:t>programming language is chosen with respect to the type of software being developed</a:t>
            </a:r>
            <a:r>
              <a:rPr lang="en-IN" dirty="0" smtClean="0"/>
              <a:t>.</a:t>
            </a:r>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Pre-development phases of the SDLC</a:t>
            </a:r>
            <a:endParaRPr lang="en-IN" dirty="0"/>
          </a:p>
        </p:txBody>
      </p:sp>
      <p:sp>
        <p:nvSpPr>
          <p:cNvPr id="3" name="Content Placeholder 2"/>
          <p:cNvSpPr>
            <a:spLocks noGrp="1"/>
          </p:cNvSpPr>
          <p:nvPr>
            <p:ph idx="1"/>
          </p:nvPr>
        </p:nvSpPr>
        <p:spPr/>
        <p:txBody>
          <a:bodyPr>
            <a:normAutofit fontScale="92500" lnSpcReduction="10000"/>
          </a:bodyPr>
          <a:lstStyle/>
          <a:p>
            <a:r>
              <a:rPr lang="en-IN" dirty="0" smtClean="0"/>
              <a:t>Deployment : </a:t>
            </a:r>
          </a:p>
          <a:p>
            <a:r>
              <a:rPr lang="en-IN" dirty="0" smtClean="0"/>
              <a:t>In </a:t>
            </a:r>
            <a:r>
              <a:rPr lang="en-IN" dirty="0"/>
              <a:t>this stage of work, the software is deployed into a production environment. </a:t>
            </a:r>
            <a:endParaRPr lang="en-IN" dirty="0" smtClean="0"/>
          </a:p>
          <a:p>
            <a:r>
              <a:rPr lang="en-IN" dirty="0" smtClean="0"/>
              <a:t>The </a:t>
            </a:r>
            <a:r>
              <a:rPr lang="en-IN" dirty="0"/>
              <a:t>work gathered, designed, developed, and tested is shared with the consumers and users of the software service</a:t>
            </a:r>
            <a:r>
              <a:rPr lang="en-IN" dirty="0" smtClean="0"/>
              <a:t>.</a:t>
            </a:r>
          </a:p>
          <a:p>
            <a:r>
              <a:rPr lang="en-IN" dirty="0" smtClean="0"/>
              <a:t>This </a:t>
            </a:r>
            <a:r>
              <a:rPr lang="en-IN" dirty="0"/>
              <a:t>process involves provisioning infrastructure within an on-premise or cloud provider and defining a software deployment strategy for delivering the changes to a customer.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Development specific phases of the SDLC</a:t>
            </a:r>
            <a:endParaRPr lang="en-IN" dirty="0"/>
          </a:p>
        </p:txBody>
      </p:sp>
      <p:sp>
        <p:nvSpPr>
          <p:cNvPr id="3" name="Content Placeholder 2"/>
          <p:cNvSpPr>
            <a:spLocks noGrp="1"/>
          </p:cNvSpPr>
          <p:nvPr>
            <p:ph idx="1"/>
          </p:nvPr>
        </p:nvSpPr>
        <p:spPr/>
        <p:txBody>
          <a:bodyPr>
            <a:normAutofit lnSpcReduction="10000"/>
          </a:bodyPr>
          <a:lstStyle/>
          <a:p>
            <a:r>
              <a:rPr lang="en-IN" dirty="0"/>
              <a:t>Each software process models has generic framework </a:t>
            </a:r>
            <a:r>
              <a:rPr lang="en-IN" dirty="0" smtClean="0"/>
              <a:t>activities but </a:t>
            </a:r>
            <a:r>
              <a:rPr lang="en-IN" dirty="0"/>
              <a:t>a order of activities, actions and </a:t>
            </a:r>
            <a:r>
              <a:rPr lang="en-IN" dirty="0" smtClean="0"/>
              <a:t>task. </a:t>
            </a:r>
          </a:p>
          <a:p>
            <a:r>
              <a:rPr lang="en-IN" dirty="0" smtClean="0"/>
              <a:t>PRESCRIPTIVE </a:t>
            </a:r>
            <a:r>
              <a:rPr lang="en-IN" dirty="0"/>
              <a:t>PROCESS MODELS</a:t>
            </a:r>
          </a:p>
          <a:p>
            <a:pPr lvl="1"/>
            <a:r>
              <a:rPr lang="en-IN" dirty="0"/>
              <a:t>1 Waterfall Model</a:t>
            </a:r>
          </a:p>
          <a:p>
            <a:pPr lvl="1"/>
            <a:r>
              <a:rPr lang="en-IN" dirty="0"/>
              <a:t>2 Incremental Process Models</a:t>
            </a:r>
          </a:p>
          <a:p>
            <a:pPr lvl="1"/>
            <a:r>
              <a:rPr lang="en-IN" dirty="0"/>
              <a:t>3 Evolutionary Process </a:t>
            </a:r>
            <a:r>
              <a:rPr lang="en-IN" dirty="0" smtClean="0"/>
              <a:t>Models : </a:t>
            </a:r>
            <a:r>
              <a:rPr lang="en-IN" dirty="0"/>
              <a:t>prototyping, spiral.</a:t>
            </a:r>
          </a:p>
          <a:p>
            <a:pPr lvl="1"/>
            <a:r>
              <a:rPr lang="en-IN" dirty="0"/>
              <a:t>4 Concurrent model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IN" dirty="0" smtClean="0"/>
              <a:t>Waterfall Model</a:t>
            </a:r>
            <a:endParaRPr lang="en-IN" dirty="0"/>
          </a:p>
        </p:txBody>
      </p:sp>
      <p:sp>
        <p:nvSpPr>
          <p:cNvPr id="3" name="Content Placeholder 2"/>
          <p:cNvSpPr>
            <a:spLocks noGrp="1"/>
          </p:cNvSpPr>
          <p:nvPr>
            <p:ph idx="1"/>
          </p:nvPr>
        </p:nvSpPr>
        <p:spPr>
          <a:xfrm>
            <a:off x="457200" y="1142985"/>
            <a:ext cx="8229600" cy="3786214"/>
          </a:xfrm>
        </p:spPr>
        <p:txBody>
          <a:bodyPr>
            <a:normAutofit/>
          </a:bodyPr>
          <a:lstStyle/>
          <a:p>
            <a:r>
              <a:rPr lang="en-IN" dirty="0"/>
              <a:t>The waterfall model, the classic life cycle- a systematic</a:t>
            </a:r>
            <a:r>
              <a:rPr lang="en-IN" dirty="0" smtClean="0"/>
              <a:t>, sequential </a:t>
            </a:r>
            <a:r>
              <a:rPr lang="en-IN" dirty="0"/>
              <a:t>approach to software development.</a:t>
            </a:r>
          </a:p>
          <a:p>
            <a:r>
              <a:rPr lang="en-IN" dirty="0"/>
              <a:t>Progresses through planning, </a:t>
            </a:r>
            <a:r>
              <a:rPr lang="en-IN" dirty="0" err="1"/>
              <a:t>modeling</a:t>
            </a:r>
            <a:r>
              <a:rPr lang="en-IN" dirty="0"/>
              <a:t>, construction, </a:t>
            </a:r>
            <a:r>
              <a:rPr lang="en-IN" dirty="0" smtClean="0"/>
              <a:t>and deployment</a:t>
            </a:r>
            <a:r>
              <a:rPr lang="en-IN" dirty="0"/>
              <a:t>.</a:t>
            </a:r>
          </a:p>
          <a:p>
            <a:r>
              <a:rPr lang="en-IN" dirty="0" smtClean="0"/>
              <a:t>Workflow </a:t>
            </a:r>
            <a:r>
              <a:rPr lang="en-IN" dirty="0"/>
              <a:t>from communication through deployment.</a:t>
            </a:r>
          </a:p>
        </p:txBody>
      </p:sp>
      <p:pic>
        <p:nvPicPr>
          <p:cNvPr id="3074" name="Picture 2"/>
          <p:cNvPicPr>
            <a:picLocks noChangeAspect="1" noChangeArrowheads="1"/>
          </p:cNvPicPr>
          <p:nvPr/>
        </p:nvPicPr>
        <p:blipFill>
          <a:blip r:embed="rId2"/>
          <a:srcRect/>
          <a:stretch>
            <a:fillRect/>
          </a:stretch>
        </p:blipFill>
        <p:spPr bwMode="auto">
          <a:xfrm>
            <a:off x="571472" y="4857760"/>
            <a:ext cx="7400925" cy="1819275"/>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Waterfall Model</a:t>
            </a:r>
            <a:endParaRPr lang="en-IN" dirty="0"/>
          </a:p>
        </p:txBody>
      </p:sp>
      <p:sp>
        <p:nvSpPr>
          <p:cNvPr id="3" name="Content Placeholder 2"/>
          <p:cNvSpPr>
            <a:spLocks noGrp="1"/>
          </p:cNvSpPr>
          <p:nvPr>
            <p:ph idx="1"/>
          </p:nvPr>
        </p:nvSpPr>
        <p:spPr/>
        <p:txBody>
          <a:bodyPr>
            <a:normAutofit fontScale="92500" lnSpcReduction="10000"/>
          </a:bodyPr>
          <a:lstStyle/>
          <a:p>
            <a:r>
              <a:rPr lang="en-IN" dirty="0"/>
              <a:t>When to use this model ?</a:t>
            </a:r>
          </a:p>
          <a:p>
            <a:pPr lvl="1"/>
            <a:r>
              <a:rPr lang="en-IN" dirty="0" smtClean="0"/>
              <a:t>1. software </a:t>
            </a:r>
            <a:r>
              <a:rPr lang="en-IN" dirty="0"/>
              <a:t>requirements are reasonably well </a:t>
            </a:r>
            <a:r>
              <a:rPr lang="en-IN" dirty="0" err="1"/>
              <a:t>dened</a:t>
            </a:r>
            <a:r>
              <a:rPr lang="en-IN" dirty="0"/>
              <a:t>, no technology issues</a:t>
            </a:r>
            <a:r>
              <a:rPr lang="en-IN" dirty="0" smtClean="0"/>
              <a:t>, small </a:t>
            </a:r>
            <a:r>
              <a:rPr lang="en-IN" dirty="0"/>
              <a:t>project, no customer interaction in </a:t>
            </a:r>
            <a:r>
              <a:rPr lang="en-IN" dirty="0" smtClean="0"/>
              <a:t>between </a:t>
            </a:r>
            <a:endParaRPr lang="en-IN" dirty="0"/>
          </a:p>
          <a:p>
            <a:pPr lvl="1"/>
            <a:r>
              <a:rPr lang="en-IN" dirty="0"/>
              <a:t>2 Work is to proceed to completion in a linear manner.</a:t>
            </a:r>
          </a:p>
          <a:p>
            <a:pPr lvl="1"/>
            <a:r>
              <a:rPr lang="en-IN" dirty="0" smtClean="0"/>
              <a:t>Example : website </a:t>
            </a:r>
            <a:r>
              <a:rPr lang="en-IN" dirty="0"/>
              <a:t>for shopping </a:t>
            </a:r>
            <a:r>
              <a:rPr lang="en-IN" dirty="0" smtClean="0"/>
              <a:t>mall</a:t>
            </a:r>
          </a:p>
          <a:p>
            <a:r>
              <a:rPr lang="en-IN" dirty="0" smtClean="0"/>
              <a:t>Problem :</a:t>
            </a:r>
          </a:p>
          <a:p>
            <a:pPr lvl="1"/>
            <a:r>
              <a:rPr lang="en-IN" dirty="0" smtClean="0"/>
              <a:t>Sequential flow, Natural uncertainty, Late working version, Delay in Dependency task, Exceed production time.</a:t>
            </a:r>
          </a:p>
          <a:p>
            <a:pPr lvl="1"/>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Incremental process model</a:t>
            </a:r>
          </a:p>
        </p:txBody>
      </p:sp>
      <p:sp>
        <p:nvSpPr>
          <p:cNvPr id="3" name="Content Placeholder 2"/>
          <p:cNvSpPr>
            <a:spLocks noGrp="1"/>
          </p:cNvSpPr>
          <p:nvPr>
            <p:ph idx="1"/>
          </p:nvPr>
        </p:nvSpPr>
        <p:spPr/>
        <p:txBody>
          <a:bodyPr>
            <a:normAutofit fontScale="92500" lnSpcReduction="20000"/>
          </a:bodyPr>
          <a:lstStyle/>
          <a:p>
            <a:r>
              <a:rPr lang="en-IN" dirty="0"/>
              <a:t>Combines activity of linear and parallel process </a:t>
            </a:r>
            <a:r>
              <a:rPr lang="en-IN" dirty="0" smtClean="0"/>
              <a:t>flows</a:t>
            </a:r>
            <a:r>
              <a:rPr lang="en-IN" dirty="0"/>
              <a:t>.</a:t>
            </a:r>
          </a:p>
          <a:p>
            <a:r>
              <a:rPr lang="en-IN" dirty="0"/>
              <a:t>The </a:t>
            </a:r>
            <a:r>
              <a:rPr lang="en-IN" dirty="0" smtClean="0"/>
              <a:t>first </a:t>
            </a:r>
            <a:r>
              <a:rPr lang="en-IN" dirty="0"/>
              <a:t>increment is often a core product.</a:t>
            </a:r>
          </a:p>
          <a:p>
            <a:r>
              <a:rPr lang="en-IN" dirty="0"/>
              <a:t>Supplementary features are added up.</a:t>
            </a:r>
          </a:p>
          <a:p>
            <a:r>
              <a:rPr lang="en-IN" dirty="0"/>
              <a:t>Focuses on the delivery of an operational product with </a:t>
            </a:r>
            <a:r>
              <a:rPr lang="en-IN" dirty="0" smtClean="0"/>
              <a:t>each increment.</a:t>
            </a:r>
          </a:p>
          <a:p>
            <a:r>
              <a:rPr lang="en-IN" dirty="0"/>
              <a:t>When to use this model ?</a:t>
            </a:r>
          </a:p>
          <a:p>
            <a:pPr lvl="1"/>
            <a:r>
              <a:rPr lang="en-IN" dirty="0"/>
              <a:t>1 </a:t>
            </a:r>
            <a:r>
              <a:rPr lang="en-IN" dirty="0" smtClean="0"/>
              <a:t>Limited </a:t>
            </a:r>
            <a:r>
              <a:rPr lang="en-IN" dirty="0"/>
              <a:t>set of software functionality.</a:t>
            </a:r>
          </a:p>
          <a:p>
            <a:pPr lvl="1"/>
            <a:r>
              <a:rPr lang="en-IN" dirty="0"/>
              <a:t>2 </a:t>
            </a:r>
            <a:r>
              <a:rPr lang="en-IN" dirty="0" smtClean="0"/>
              <a:t>Refine </a:t>
            </a:r>
            <a:r>
              <a:rPr lang="en-IN" dirty="0"/>
              <a:t>and expand on that functionality in later </a:t>
            </a:r>
            <a:r>
              <a:rPr lang="en-IN" dirty="0" smtClean="0"/>
              <a:t>software releases</a:t>
            </a:r>
            <a:r>
              <a:rPr lang="en-IN" dirty="0"/>
              <a:t>, lengthy developments schedules, Projects with </a:t>
            </a:r>
            <a:r>
              <a:rPr lang="en-IN" dirty="0" smtClean="0"/>
              <a:t>new Technology</a:t>
            </a:r>
            <a:r>
              <a:rPr lang="en-IN"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Incremental process model</a:t>
            </a:r>
            <a:endParaRPr lang="en-IN" dirty="0"/>
          </a:p>
        </p:txBody>
      </p:sp>
      <p:sp>
        <p:nvSpPr>
          <p:cNvPr id="3" name="Content Placeholder 2"/>
          <p:cNvSpPr>
            <a:spLocks noGrp="1"/>
          </p:cNvSpPr>
          <p:nvPr>
            <p:ph idx="1"/>
          </p:nvPr>
        </p:nvSpPr>
        <p:spPr/>
        <p:txBody>
          <a:bodyPr/>
          <a:lstStyle/>
          <a:p>
            <a:endParaRPr lang="en-IN"/>
          </a:p>
        </p:txBody>
      </p:sp>
      <p:pic>
        <p:nvPicPr>
          <p:cNvPr id="4" name="Picture 2"/>
          <p:cNvPicPr>
            <a:picLocks noChangeAspect="1" noChangeArrowheads="1"/>
          </p:cNvPicPr>
          <p:nvPr/>
        </p:nvPicPr>
        <p:blipFill>
          <a:blip r:embed="rId2"/>
          <a:srcRect/>
          <a:stretch>
            <a:fillRect/>
          </a:stretch>
        </p:blipFill>
        <p:spPr bwMode="auto">
          <a:xfrm>
            <a:off x="0" y="1285860"/>
            <a:ext cx="9048750" cy="518160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V model</a:t>
            </a:r>
            <a:endParaRPr lang="en-IN" dirty="0"/>
          </a:p>
        </p:txBody>
      </p:sp>
      <p:sp>
        <p:nvSpPr>
          <p:cNvPr id="3" name="Content Placeholder 2"/>
          <p:cNvSpPr>
            <a:spLocks noGrp="1"/>
          </p:cNvSpPr>
          <p:nvPr>
            <p:ph idx="1"/>
          </p:nvPr>
        </p:nvSpPr>
        <p:spPr/>
        <p:txBody>
          <a:bodyPr/>
          <a:lstStyle/>
          <a:p>
            <a:endParaRPr lang="en-IN"/>
          </a:p>
        </p:txBody>
      </p:sp>
      <p:pic>
        <p:nvPicPr>
          <p:cNvPr id="5123" name="Picture 3"/>
          <p:cNvPicPr>
            <a:picLocks noChangeAspect="1" noChangeArrowheads="1"/>
          </p:cNvPicPr>
          <p:nvPr/>
        </p:nvPicPr>
        <p:blipFill>
          <a:blip r:embed="rId2"/>
          <a:srcRect/>
          <a:stretch>
            <a:fillRect/>
          </a:stretch>
        </p:blipFill>
        <p:spPr bwMode="auto">
          <a:xfrm>
            <a:off x="642938" y="1142984"/>
            <a:ext cx="7858125" cy="5053029"/>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Evolutionary Process Models</a:t>
            </a:r>
            <a:endParaRPr lang="en-IN" dirty="0"/>
          </a:p>
        </p:txBody>
      </p:sp>
      <p:sp>
        <p:nvSpPr>
          <p:cNvPr id="3" name="Content Placeholder 2"/>
          <p:cNvSpPr>
            <a:spLocks noGrp="1"/>
          </p:cNvSpPr>
          <p:nvPr>
            <p:ph idx="1"/>
          </p:nvPr>
        </p:nvSpPr>
        <p:spPr>
          <a:xfrm>
            <a:off x="457200" y="1600200"/>
            <a:ext cx="4471990" cy="4525963"/>
          </a:xfrm>
        </p:spPr>
        <p:txBody>
          <a:bodyPr>
            <a:normAutofit fontScale="85000" lnSpcReduction="20000"/>
          </a:bodyPr>
          <a:lstStyle/>
          <a:p>
            <a:r>
              <a:rPr lang="en-IN" dirty="0" smtClean="0"/>
              <a:t>Prototype:</a:t>
            </a:r>
          </a:p>
          <a:p>
            <a:pPr lvl="1"/>
            <a:r>
              <a:rPr lang="en-IN" dirty="0"/>
              <a:t>The prototype can serve as the </a:t>
            </a:r>
            <a:r>
              <a:rPr lang="en-IN" dirty="0" err="1"/>
              <a:t>rst</a:t>
            </a:r>
            <a:r>
              <a:rPr lang="en-IN" dirty="0"/>
              <a:t> system and mechanism for </a:t>
            </a:r>
            <a:r>
              <a:rPr lang="en-IN" dirty="0" smtClean="0"/>
              <a:t>identifying software </a:t>
            </a:r>
            <a:r>
              <a:rPr lang="en-IN" dirty="0"/>
              <a:t>requirements.</a:t>
            </a:r>
          </a:p>
          <a:p>
            <a:pPr lvl="1"/>
            <a:r>
              <a:rPr lang="en-IN" dirty="0"/>
              <a:t>Quick design focuses on aspects visible to end users. Quick design leads to </a:t>
            </a:r>
            <a:r>
              <a:rPr lang="en-IN" dirty="0" smtClean="0"/>
              <a:t>the construction </a:t>
            </a:r>
            <a:r>
              <a:rPr lang="en-IN" dirty="0"/>
              <a:t>of a prototype.</a:t>
            </a:r>
          </a:p>
          <a:p>
            <a:pPr lvl="1"/>
            <a:r>
              <a:rPr lang="en-IN" dirty="0"/>
              <a:t>Working programs generated quickly</a:t>
            </a:r>
          </a:p>
          <a:p>
            <a:pPr lvl="1"/>
            <a:r>
              <a:rPr lang="en-IN" dirty="0"/>
              <a:t>The prototype is deployed and evaluated by stakeholders,</a:t>
            </a:r>
          </a:p>
        </p:txBody>
      </p:sp>
      <p:pic>
        <p:nvPicPr>
          <p:cNvPr id="6147" name="Picture 3"/>
          <p:cNvPicPr>
            <a:picLocks noChangeAspect="1" noChangeArrowheads="1"/>
          </p:cNvPicPr>
          <p:nvPr/>
        </p:nvPicPr>
        <p:blipFill>
          <a:blip r:embed="rId2"/>
          <a:srcRect/>
          <a:stretch>
            <a:fillRect/>
          </a:stretch>
        </p:blipFill>
        <p:spPr bwMode="auto">
          <a:xfrm>
            <a:off x="4714876" y="1928802"/>
            <a:ext cx="4105275" cy="3467100"/>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Evolutionary Process Models</a:t>
            </a:r>
            <a:endParaRPr lang="en-IN" dirty="0"/>
          </a:p>
        </p:txBody>
      </p:sp>
      <p:sp>
        <p:nvSpPr>
          <p:cNvPr id="3" name="Content Placeholder 2"/>
          <p:cNvSpPr>
            <a:spLocks noGrp="1"/>
          </p:cNvSpPr>
          <p:nvPr>
            <p:ph idx="1"/>
          </p:nvPr>
        </p:nvSpPr>
        <p:spPr>
          <a:xfrm>
            <a:off x="457200" y="1600200"/>
            <a:ext cx="4257676" cy="4525963"/>
          </a:xfrm>
        </p:spPr>
        <p:txBody>
          <a:bodyPr>
            <a:normAutofit fontScale="62500" lnSpcReduction="20000"/>
          </a:bodyPr>
          <a:lstStyle/>
          <a:p>
            <a:r>
              <a:rPr lang="en-IN" dirty="0" smtClean="0"/>
              <a:t>Spiral :</a:t>
            </a:r>
          </a:p>
          <a:p>
            <a:r>
              <a:rPr lang="en-IN" dirty="0" smtClean="0"/>
              <a:t>Adapted </a:t>
            </a:r>
            <a:r>
              <a:rPr lang="en-IN" dirty="0"/>
              <a:t>to apply throughout the life of the software.</a:t>
            </a:r>
          </a:p>
          <a:p>
            <a:r>
              <a:rPr lang="en-IN" dirty="0"/>
              <a:t>Combines linear and iterative process </a:t>
            </a:r>
            <a:r>
              <a:rPr lang="en-IN" dirty="0" smtClean="0"/>
              <a:t>model Software </a:t>
            </a:r>
            <a:r>
              <a:rPr lang="en-IN" dirty="0"/>
              <a:t>is developed in a series of evolutionary releases and will evolve </a:t>
            </a:r>
            <a:r>
              <a:rPr lang="en-IN" dirty="0" smtClean="0"/>
              <a:t>through a </a:t>
            </a:r>
            <a:r>
              <a:rPr lang="en-IN" dirty="0"/>
              <a:t>number of iterations around the spiral.</a:t>
            </a:r>
          </a:p>
          <a:p>
            <a:r>
              <a:rPr lang="en-IN" dirty="0"/>
              <a:t>Subsequent passes around the spiral might be used to develop a prototype </a:t>
            </a:r>
            <a:r>
              <a:rPr lang="en-IN" dirty="0" smtClean="0"/>
              <a:t>and then </a:t>
            </a:r>
            <a:r>
              <a:rPr lang="en-IN" dirty="0"/>
              <a:t>progressively more sophisticated versions of the software.</a:t>
            </a:r>
          </a:p>
          <a:p>
            <a:r>
              <a:rPr lang="en-IN" dirty="0"/>
              <a:t>Technical risk is considered as each revolution is made.</a:t>
            </a:r>
          </a:p>
        </p:txBody>
      </p:sp>
      <p:pic>
        <p:nvPicPr>
          <p:cNvPr id="7170" name="Picture 2"/>
          <p:cNvPicPr>
            <a:picLocks noChangeAspect="1" noChangeArrowheads="1"/>
          </p:cNvPicPr>
          <p:nvPr/>
        </p:nvPicPr>
        <p:blipFill>
          <a:blip r:embed="rId2"/>
          <a:srcRect/>
          <a:stretch>
            <a:fillRect/>
          </a:stretch>
        </p:blipFill>
        <p:spPr bwMode="auto">
          <a:xfrm>
            <a:off x="4714877" y="1928802"/>
            <a:ext cx="3571900" cy="3476625"/>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Concurrent Models</a:t>
            </a:r>
            <a:r>
              <a:rPr lang="en-IN" dirty="0" smtClean="0"/>
              <a:t/>
            </a:r>
            <a:br>
              <a:rPr lang="en-IN" dirty="0" smtClean="0"/>
            </a:br>
            <a:endParaRPr lang="en-IN" dirty="0"/>
          </a:p>
        </p:txBody>
      </p:sp>
      <p:sp>
        <p:nvSpPr>
          <p:cNvPr id="3" name="Content Placeholder 2"/>
          <p:cNvSpPr>
            <a:spLocks noGrp="1"/>
          </p:cNvSpPr>
          <p:nvPr>
            <p:ph idx="1"/>
          </p:nvPr>
        </p:nvSpPr>
        <p:spPr>
          <a:xfrm>
            <a:off x="457200" y="1600200"/>
            <a:ext cx="4114800" cy="4525963"/>
          </a:xfrm>
        </p:spPr>
        <p:txBody>
          <a:bodyPr>
            <a:normAutofit fontScale="70000" lnSpcReduction="20000"/>
          </a:bodyPr>
          <a:lstStyle/>
          <a:p>
            <a:r>
              <a:rPr lang="en-IN" dirty="0"/>
              <a:t>Applicable to all types of software development and </a:t>
            </a:r>
            <a:r>
              <a:rPr lang="en-IN" dirty="0" smtClean="0"/>
              <a:t>provides an </a:t>
            </a:r>
            <a:r>
              <a:rPr lang="en-IN" dirty="0"/>
              <a:t>accurate picture of the current state of a project.</a:t>
            </a:r>
          </a:p>
          <a:p>
            <a:r>
              <a:rPr lang="en-IN" dirty="0" smtClean="0"/>
              <a:t>Defines </a:t>
            </a:r>
            <a:r>
              <a:rPr lang="en-IN" dirty="0"/>
              <a:t>a series of events that will trigger transitions from</a:t>
            </a:r>
          </a:p>
          <a:p>
            <a:r>
              <a:rPr lang="en-IN" dirty="0"/>
              <a:t>state to state for each of the software engineering activities</a:t>
            </a:r>
            <a:r>
              <a:rPr lang="en-IN" dirty="0" smtClean="0"/>
              <a:t>, actions</a:t>
            </a:r>
            <a:r>
              <a:rPr lang="en-IN" dirty="0"/>
              <a:t>, or tasks.</a:t>
            </a:r>
          </a:p>
          <a:p>
            <a:r>
              <a:rPr lang="en-IN" dirty="0"/>
              <a:t>Independently built independent pieces, improved </a:t>
            </a:r>
            <a:r>
              <a:rPr lang="en-IN" dirty="0" smtClean="0"/>
              <a:t>resource utilization</a:t>
            </a:r>
            <a:r>
              <a:rPr lang="en-IN" dirty="0"/>
              <a:t>, early </a:t>
            </a:r>
            <a:r>
              <a:rPr lang="en-IN" dirty="0" smtClean="0"/>
              <a:t>finish</a:t>
            </a:r>
            <a:r>
              <a:rPr lang="en-IN" dirty="0"/>
              <a:t>.</a:t>
            </a:r>
          </a:p>
        </p:txBody>
      </p:sp>
      <p:pic>
        <p:nvPicPr>
          <p:cNvPr id="8195" name="Picture 3"/>
          <p:cNvPicPr>
            <a:picLocks noChangeAspect="1" noChangeArrowheads="1"/>
          </p:cNvPicPr>
          <p:nvPr/>
        </p:nvPicPr>
        <p:blipFill>
          <a:blip r:embed="rId2"/>
          <a:srcRect/>
          <a:stretch>
            <a:fillRect/>
          </a:stretch>
        </p:blipFill>
        <p:spPr bwMode="auto">
          <a:xfrm>
            <a:off x="4752975" y="785794"/>
            <a:ext cx="4391025" cy="535305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SPECIALIZED PROCESS MODELS</a:t>
            </a:r>
            <a:endParaRPr lang="en-IN" dirty="0"/>
          </a:p>
        </p:txBody>
      </p:sp>
      <p:sp>
        <p:nvSpPr>
          <p:cNvPr id="3" name="Content Placeholder 2"/>
          <p:cNvSpPr>
            <a:spLocks noGrp="1"/>
          </p:cNvSpPr>
          <p:nvPr>
            <p:ph idx="1"/>
          </p:nvPr>
        </p:nvSpPr>
        <p:spPr>
          <a:xfrm>
            <a:off x="457200" y="1600200"/>
            <a:ext cx="7543824" cy="4525963"/>
          </a:xfrm>
        </p:spPr>
        <p:txBody>
          <a:bodyPr>
            <a:normAutofit lnSpcReduction="10000"/>
          </a:bodyPr>
          <a:lstStyle/>
          <a:p>
            <a:r>
              <a:rPr lang="en-IN" dirty="0" smtClean="0"/>
              <a:t>1. Component-Based Development</a:t>
            </a:r>
          </a:p>
          <a:p>
            <a:pPr lvl="1"/>
            <a:r>
              <a:rPr lang="en-IN" dirty="0"/>
              <a:t>Commercial o-the-shelf (COTS) software components</a:t>
            </a:r>
          </a:p>
          <a:p>
            <a:pPr lvl="1"/>
            <a:r>
              <a:rPr lang="en-IN" dirty="0"/>
              <a:t>Works towards targeted functionality</a:t>
            </a:r>
          </a:p>
          <a:p>
            <a:pPr lvl="1"/>
            <a:r>
              <a:rPr lang="en-IN" dirty="0"/>
              <a:t>Supports well </a:t>
            </a:r>
            <a:r>
              <a:rPr lang="en-IN" dirty="0" smtClean="0"/>
              <a:t>defined </a:t>
            </a:r>
            <a:r>
              <a:rPr lang="en-IN" dirty="0"/>
              <a:t>interfaces</a:t>
            </a:r>
          </a:p>
          <a:p>
            <a:pPr lvl="1"/>
            <a:r>
              <a:rPr lang="en-IN" dirty="0"/>
              <a:t>Many components can be integrated into the software</a:t>
            </a:r>
          </a:p>
          <a:p>
            <a:pPr lvl="1"/>
            <a:r>
              <a:rPr lang="en-IN" dirty="0" err="1"/>
              <a:t>Modeling</a:t>
            </a:r>
            <a:r>
              <a:rPr lang="en-IN" dirty="0"/>
              <a:t> and construction activities begin with </a:t>
            </a:r>
            <a:r>
              <a:rPr lang="en-IN" dirty="0" smtClean="0"/>
              <a:t>the </a:t>
            </a:r>
            <a:r>
              <a:rPr lang="en-IN" dirty="0" err="1" smtClean="0"/>
              <a:t>identication</a:t>
            </a:r>
            <a:r>
              <a:rPr lang="en-IN" dirty="0" smtClean="0"/>
              <a:t> </a:t>
            </a:r>
            <a:r>
              <a:rPr lang="en-IN" dirty="0"/>
              <a:t>of candidate components.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SPECIALIZED PROCESS MODELS</a:t>
            </a:r>
            <a:endParaRPr lang="en-IN" dirty="0"/>
          </a:p>
        </p:txBody>
      </p:sp>
      <p:sp>
        <p:nvSpPr>
          <p:cNvPr id="3" name="Content Placeholder 2"/>
          <p:cNvSpPr>
            <a:spLocks noGrp="1"/>
          </p:cNvSpPr>
          <p:nvPr>
            <p:ph idx="1"/>
          </p:nvPr>
        </p:nvSpPr>
        <p:spPr>
          <a:xfrm>
            <a:off x="457200" y="1600200"/>
            <a:ext cx="7543824" cy="4525963"/>
          </a:xfrm>
        </p:spPr>
        <p:txBody>
          <a:bodyPr/>
          <a:lstStyle/>
          <a:p>
            <a:r>
              <a:rPr lang="en-IN" dirty="0"/>
              <a:t>Formal Methods </a:t>
            </a:r>
            <a:r>
              <a:rPr lang="en-IN" dirty="0" smtClean="0"/>
              <a:t>Model</a:t>
            </a:r>
          </a:p>
          <a:p>
            <a:r>
              <a:rPr lang="en-IN" dirty="0"/>
              <a:t>Formal mathematical </a:t>
            </a:r>
            <a:r>
              <a:rPr lang="en-IN" dirty="0" smtClean="0"/>
              <a:t>specification</a:t>
            </a:r>
            <a:endParaRPr lang="en-IN" dirty="0"/>
          </a:p>
          <a:p>
            <a:r>
              <a:rPr lang="en-IN" dirty="0"/>
              <a:t>Specify, develop, and verify using mathematical notation</a:t>
            </a:r>
          </a:p>
          <a:p>
            <a:r>
              <a:rPr lang="en-IN" dirty="0" err="1"/>
              <a:t>Cleanroom</a:t>
            </a:r>
            <a:r>
              <a:rPr lang="en-IN" dirty="0"/>
              <a:t> software engineering</a:t>
            </a:r>
          </a:p>
          <a:p>
            <a:r>
              <a:rPr lang="en-IN" dirty="0"/>
              <a:t>Application of mathematical analysis</a:t>
            </a:r>
          </a:p>
          <a:p>
            <a:r>
              <a:rPr lang="en-IN" dirty="0"/>
              <a:t>Program </a:t>
            </a:r>
            <a:r>
              <a:rPr lang="en-IN" dirty="0" err="1"/>
              <a:t>verication</a:t>
            </a:r>
            <a:r>
              <a:rPr lang="en-IN" dirty="0"/>
              <a:t> - discover and correct errors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Post-development phases of the SDLC</a:t>
            </a:r>
            <a:endParaRPr lang="en-IN" dirty="0"/>
          </a:p>
        </p:txBody>
      </p:sp>
      <p:sp>
        <p:nvSpPr>
          <p:cNvPr id="3" name="Content Placeholder 2"/>
          <p:cNvSpPr>
            <a:spLocks noGrp="1"/>
          </p:cNvSpPr>
          <p:nvPr>
            <p:ph idx="1"/>
          </p:nvPr>
        </p:nvSpPr>
        <p:spPr/>
        <p:txBody>
          <a:bodyPr>
            <a:normAutofit fontScale="77500" lnSpcReduction="20000"/>
          </a:bodyPr>
          <a:lstStyle/>
          <a:p>
            <a:r>
              <a:rPr lang="en-IN" b="1" dirty="0"/>
              <a:t>Operations and Maintenance</a:t>
            </a:r>
          </a:p>
          <a:p>
            <a:pPr lvl="1"/>
            <a:r>
              <a:rPr lang="en-IN" dirty="0"/>
              <a:t>The system operation is ongoing. </a:t>
            </a:r>
            <a:endParaRPr lang="en-IN" dirty="0" smtClean="0"/>
          </a:p>
          <a:p>
            <a:pPr lvl="1"/>
            <a:r>
              <a:rPr lang="en-IN" dirty="0" smtClean="0"/>
              <a:t>The </a:t>
            </a:r>
            <a:r>
              <a:rPr lang="en-IN" dirty="0"/>
              <a:t>system is monitored for continued performance in accordance with user requirements and needed system modifications are incorporated. </a:t>
            </a:r>
            <a:endParaRPr lang="en-IN" dirty="0" smtClean="0"/>
          </a:p>
          <a:p>
            <a:pPr lvl="1"/>
            <a:r>
              <a:rPr lang="en-IN" dirty="0" smtClean="0"/>
              <a:t>Operations </a:t>
            </a:r>
            <a:r>
              <a:rPr lang="en-IN" dirty="0"/>
              <a:t>continue as long as the system responds to the organization’s needs</a:t>
            </a:r>
            <a:r>
              <a:rPr lang="en-IN" dirty="0" smtClean="0"/>
              <a:t>.</a:t>
            </a:r>
          </a:p>
          <a:p>
            <a:pPr lvl="1"/>
            <a:r>
              <a:rPr lang="en-IN" dirty="0" smtClean="0"/>
              <a:t>When </a:t>
            </a:r>
            <a:r>
              <a:rPr lang="en-IN" dirty="0"/>
              <a:t>modifications are identified, the system may </a:t>
            </a:r>
            <a:r>
              <a:rPr lang="en-IN" dirty="0" err="1"/>
              <a:t>reenter</a:t>
            </a:r>
            <a:r>
              <a:rPr lang="en-IN" dirty="0"/>
              <a:t> the planning phase.</a:t>
            </a:r>
          </a:p>
          <a:p>
            <a:pPr lvl="1"/>
            <a:r>
              <a:rPr lang="en-IN" dirty="0" smtClean="0"/>
              <a:t>In the context of the SDLC, deployment of the software, when it's in use and maintenance is done.  </a:t>
            </a:r>
          </a:p>
          <a:p>
            <a:pPr lvl="1"/>
            <a:r>
              <a:rPr lang="en-IN" dirty="0" smtClean="0"/>
              <a:t>This </a:t>
            </a:r>
            <a:r>
              <a:rPr lang="en-IN" dirty="0"/>
              <a:t>could involve updates, bug fixes, and other adjustments to ensure the software continues to function as intended.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Summary</a:t>
            </a:r>
          </a:p>
        </p:txBody>
      </p:sp>
      <p:sp>
        <p:nvSpPr>
          <p:cNvPr id="3" name="Content Placeholder 2"/>
          <p:cNvSpPr>
            <a:spLocks noGrp="1"/>
          </p:cNvSpPr>
          <p:nvPr>
            <p:ph idx="1"/>
          </p:nvPr>
        </p:nvSpPr>
        <p:spPr/>
        <p:txBody>
          <a:bodyPr/>
          <a:lstStyle/>
          <a:p>
            <a:r>
              <a:rPr lang="en-IN" dirty="0" smtClean="0"/>
              <a:t>Pre-development phases of the SDLC – </a:t>
            </a:r>
          </a:p>
          <a:p>
            <a:r>
              <a:rPr lang="en-IN" dirty="0" smtClean="0"/>
              <a:t>Development specific phases of the SDLC –</a:t>
            </a:r>
          </a:p>
          <a:p>
            <a:r>
              <a:rPr lang="en-IN" dirty="0" smtClean="0"/>
              <a:t>Post-development phases of the SDLC;</a:t>
            </a: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1171</TotalTime>
  <Words>1221</Words>
  <Application>Microsoft Office PowerPoint</Application>
  <PresentationFormat>On-screen Show (4:3)</PresentationFormat>
  <Paragraphs>124</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Unit 1</vt:lpstr>
      <vt:lpstr>SDLC</vt:lpstr>
      <vt:lpstr>SDLC</vt:lpstr>
      <vt:lpstr>Pre-development phases of the SDLC</vt:lpstr>
      <vt:lpstr>Pre-development phases of the SDLC</vt:lpstr>
      <vt:lpstr>Pre-development phases of the SDLC</vt:lpstr>
      <vt:lpstr>Pre-development phases of the SDLC</vt:lpstr>
      <vt:lpstr>Pre-development phases of the SDLC</vt:lpstr>
      <vt:lpstr>Pre-development phases of the SDLC</vt:lpstr>
      <vt:lpstr>Pre-development phases of the SDLC</vt:lpstr>
      <vt:lpstr>Pre-development phases of the SDLC</vt:lpstr>
      <vt:lpstr>Pre-development phases of the SDLC</vt:lpstr>
      <vt:lpstr>Pre-development phases of the SDLC</vt:lpstr>
      <vt:lpstr>Development specific phases of the SDLC</vt:lpstr>
      <vt:lpstr>Waterfall Model</vt:lpstr>
      <vt:lpstr>Waterfall Model</vt:lpstr>
      <vt:lpstr>Incremental process model</vt:lpstr>
      <vt:lpstr>Incremental process model</vt:lpstr>
      <vt:lpstr>V model</vt:lpstr>
      <vt:lpstr>Evolutionary Process Models</vt:lpstr>
      <vt:lpstr>Evolutionary Process Models</vt:lpstr>
      <vt:lpstr>Concurrent Models </vt:lpstr>
      <vt:lpstr>SPECIALIZED PROCESS MODELS</vt:lpstr>
      <vt:lpstr>SPECIALIZED PROCESS MODELS</vt:lpstr>
      <vt:lpstr>Post-development phases of the SDLC</vt:lpstr>
      <vt:lpstr>Summary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SSN</dc:creator>
  <cp:lastModifiedBy>SSN</cp:lastModifiedBy>
  <cp:revision>8</cp:revision>
  <dcterms:created xsi:type="dcterms:W3CDTF">2023-10-11T07:45:35Z</dcterms:created>
  <dcterms:modified xsi:type="dcterms:W3CDTF">2023-10-12T03:16:37Z</dcterms:modified>
</cp:coreProperties>
</file>