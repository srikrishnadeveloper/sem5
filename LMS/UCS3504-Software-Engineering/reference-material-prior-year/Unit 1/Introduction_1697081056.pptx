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  <p:sldId id="270" r:id="rId14"/>
    <p:sldId id="267" r:id="rId15"/>
    <p:sldId id="268" r:id="rId16"/>
    <p:sldId id="271" r:id="rId17"/>
    <p:sldId id="272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296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8A01E-493C-4DCF-966B-90DD903EFC1B}" type="datetimeFigureOut">
              <a:rPr lang="en-US" smtClean="0"/>
              <a:pPr/>
              <a:t>10/11/2023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16582-3ECB-40BB-84A9-C48B39E36936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8A01E-493C-4DCF-966B-90DD903EFC1B}" type="datetimeFigureOut">
              <a:rPr lang="en-US" smtClean="0"/>
              <a:pPr/>
              <a:t>10/11/2023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16582-3ECB-40BB-84A9-C48B39E36936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8A01E-493C-4DCF-966B-90DD903EFC1B}" type="datetimeFigureOut">
              <a:rPr lang="en-US" smtClean="0"/>
              <a:pPr/>
              <a:t>10/11/2023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16582-3ECB-40BB-84A9-C48B39E36936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8A01E-493C-4DCF-966B-90DD903EFC1B}" type="datetimeFigureOut">
              <a:rPr lang="en-US" smtClean="0"/>
              <a:pPr/>
              <a:t>10/11/2023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16582-3ECB-40BB-84A9-C48B39E36936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8A01E-493C-4DCF-966B-90DD903EFC1B}" type="datetimeFigureOut">
              <a:rPr lang="en-US" smtClean="0"/>
              <a:pPr/>
              <a:t>10/11/2023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16582-3ECB-40BB-84A9-C48B39E36936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8A01E-493C-4DCF-966B-90DD903EFC1B}" type="datetimeFigureOut">
              <a:rPr lang="en-US" smtClean="0"/>
              <a:pPr/>
              <a:t>10/11/2023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16582-3ECB-40BB-84A9-C48B39E36936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8A01E-493C-4DCF-966B-90DD903EFC1B}" type="datetimeFigureOut">
              <a:rPr lang="en-US" smtClean="0"/>
              <a:pPr/>
              <a:t>10/11/2023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16582-3ECB-40BB-84A9-C48B39E36936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8A01E-493C-4DCF-966B-90DD903EFC1B}" type="datetimeFigureOut">
              <a:rPr lang="en-US" smtClean="0"/>
              <a:pPr/>
              <a:t>10/11/2023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16582-3ECB-40BB-84A9-C48B39E36936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8A01E-493C-4DCF-966B-90DD903EFC1B}" type="datetimeFigureOut">
              <a:rPr lang="en-US" smtClean="0"/>
              <a:pPr/>
              <a:t>10/11/2023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16582-3ECB-40BB-84A9-C48B39E36936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8A01E-493C-4DCF-966B-90DD903EFC1B}" type="datetimeFigureOut">
              <a:rPr lang="en-US" smtClean="0"/>
              <a:pPr/>
              <a:t>10/11/2023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16582-3ECB-40BB-84A9-C48B39E36936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8A01E-493C-4DCF-966B-90DD903EFC1B}" type="datetimeFigureOut">
              <a:rPr lang="en-US" smtClean="0"/>
              <a:pPr/>
              <a:t>10/11/2023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16582-3ECB-40BB-84A9-C48B39E36936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F8A01E-493C-4DCF-966B-90DD903EFC1B}" type="datetimeFigureOut">
              <a:rPr lang="en-US" smtClean="0"/>
              <a:pPr/>
              <a:t>10/11/2023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916582-3ECB-40BB-84A9-C48B39E36936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/>
              <a:t>UNIT I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x-none" smtClean="0"/>
              <a:t>Introduction to Software Engineering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x-none" smtClean="0"/>
              <a:t>Introduction to Software Engineering</a:t>
            </a:r>
            <a:r>
              <a:rPr lang="en-IN" dirty="0" smtClean="0"/>
              <a:t/>
            </a:r>
            <a:br>
              <a:rPr lang="en-IN" dirty="0" smtClean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x-none" smtClean="0"/>
              <a:t>Objectives</a:t>
            </a:r>
            <a:endParaRPr lang="en-IN" dirty="0" smtClean="0"/>
          </a:p>
          <a:p>
            <a:r>
              <a:rPr lang="x-none" smtClean="0"/>
              <a:t>Principles </a:t>
            </a:r>
            <a:endParaRPr lang="en-IN" dirty="0" smtClean="0"/>
          </a:p>
          <a:p>
            <a:r>
              <a:rPr lang="x-none" smtClean="0"/>
              <a:t>Practices</a:t>
            </a:r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Introduction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 smtClean="0"/>
              <a:t> Software </a:t>
            </a:r>
            <a:r>
              <a:rPr lang="en-IN" dirty="0"/>
              <a:t>Engineering is the </a:t>
            </a:r>
            <a:r>
              <a:rPr lang="en-IN" dirty="0" err="1"/>
              <a:t>subdiscipline</a:t>
            </a:r>
            <a:r>
              <a:rPr lang="en-IN" dirty="0"/>
              <a:t> of Computer Science </a:t>
            </a:r>
            <a:r>
              <a:rPr lang="en-IN" dirty="0" smtClean="0"/>
              <a:t>that attempts </a:t>
            </a:r>
            <a:r>
              <a:rPr lang="en-IN" dirty="0"/>
              <a:t>to apply engineering principles to the develop, </a:t>
            </a:r>
            <a:r>
              <a:rPr lang="en-IN" dirty="0" smtClean="0"/>
              <a:t> operation, </a:t>
            </a:r>
            <a:r>
              <a:rPr lang="en-IN" dirty="0" err="1" smtClean="0"/>
              <a:t>modication</a:t>
            </a:r>
            <a:r>
              <a:rPr lang="en-IN" dirty="0" smtClean="0"/>
              <a:t> </a:t>
            </a:r>
            <a:r>
              <a:rPr lang="en-IN" dirty="0"/>
              <a:t>and maintenance of the software components </a:t>
            </a:r>
            <a:r>
              <a:rPr lang="en-IN" dirty="0" smtClean="0"/>
              <a:t>of various </a:t>
            </a:r>
            <a:r>
              <a:rPr lang="en-IN" dirty="0"/>
              <a:t>computing systems.</a:t>
            </a:r>
            <a:r>
              <a:rPr lang="en-US" b="1" dirty="0"/>
              <a:t>		</a:t>
            </a:r>
            <a:r>
              <a:rPr lang="en-US" b="1" dirty="0" smtClean="0"/>
              <a:t> </a:t>
            </a:r>
            <a:endParaRPr lang="en-IN" b="1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Software Engineering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What is it?</a:t>
            </a:r>
          </a:p>
          <a:p>
            <a:r>
              <a:rPr lang="en-IN" dirty="0"/>
              <a:t>Who does it?</a:t>
            </a:r>
          </a:p>
          <a:p>
            <a:r>
              <a:rPr lang="en-IN" dirty="0"/>
              <a:t>Why it is important ?</a:t>
            </a:r>
          </a:p>
          <a:p>
            <a:r>
              <a:rPr lang="en-IN" dirty="0"/>
              <a:t>What are the steps ?</a:t>
            </a:r>
          </a:p>
          <a:p>
            <a:r>
              <a:rPr lang="en-IN" dirty="0"/>
              <a:t>What are the work products ?</a:t>
            </a:r>
          </a:p>
          <a:p>
            <a:r>
              <a:rPr lang="en-IN" dirty="0"/>
              <a:t>How do I ensure that I have done it right?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THE NATURE OF SOFTWARE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/>
              <a:t>Why does it take so long to get software </a:t>
            </a:r>
            <a:r>
              <a:rPr lang="en-IN" dirty="0" smtClean="0"/>
              <a:t>finished</a:t>
            </a:r>
            <a:r>
              <a:rPr lang="en-IN" dirty="0"/>
              <a:t>?</a:t>
            </a:r>
          </a:p>
          <a:p>
            <a:r>
              <a:rPr lang="en-IN" dirty="0" smtClean="0"/>
              <a:t>Why </a:t>
            </a:r>
            <a:r>
              <a:rPr lang="en-IN" dirty="0"/>
              <a:t>are development costs so high?</a:t>
            </a:r>
          </a:p>
          <a:p>
            <a:r>
              <a:rPr lang="en-IN" dirty="0" smtClean="0"/>
              <a:t>Why </a:t>
            </a:r>
            <a:r>
              <a:rPr lang="en-IN" dirty="0"/>
              <a:t>can’t we </a:t>
            </a:r>
            <a:r>
              <a:rPr lang="en-IN" dirty="0" err="1"/>
              <a:t>fi</a:t>
            </a:r>
            <a:r>
              <a:rPr lang="en-IN" dirty="0"/>
              <a:t> </a:t>
            </a:r>
            <a:r>
              <a:rPr lang="en-IN" dirty="0" err="1"/>
              <a:t>nd</a:t>
            </a:r>
            <a:r>
              <a:rPr lang="en-IN" dirty="0"/>
              <a:t> all errors before we give the software to our customers?</a:t>
            </a:r>
          </a:p>
          <a:p>
            <a:r>
              <a:rPr lang="en-IN" dirty="0" smtClean="0"/>
              <a:t>Why </a:t>
            </a:r>
            <a:r>
              <a:rPr lang="en-IN" dirty="0"/>
              <a:t>do we spend so much time and effort maintaining existing programs?</a:t>
            </a:r>
          </a:p>
          <a:p>
            <a:r>
              <a:rPr lang="en-IN" dirty="0" smtClean="0"/>
              <a:t>Why </a:t>
            </a:r>
            <a:r>
              <a:rPr lang="en-IN" dirty="0"/>
              <a:t>do we continue to have </a:t>
            </a:r>
            <a:r>
              <a:rPr lang="en-IN" dirty="0" err="1"/>
              <a:t>diffi</a:t>
            </a:r>
            <a:r>
              <a:rPr lang="en-IN" dirty="0"/>
              <a:t> </a:t>
            </a:r>
            <a:r>
              <a:rPr lang="en-IN" dirty="0" err="1"/>
              <a:t>culty</a:t>
            </a:r>
            <a:r>
              <a:rPr lang="en-IN" dirty="0"/>
              <a:t> in measuring progress as software </a:t>
            </a:r>
            <a:r>
              <a:rPr lang="en-IN" dirty="0" smtClean="0"/>
              <a:t>is being </a:t>
            </a:r>
            <a:r>
              <a:rPr lang="en-IN" dirty="0"/>
              <a:t>developed and maintained?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Defining </a:t>
            </a:r>
            <a:r>
              <a:rPr lang="en-IN" b="1" dirty="0"/>
              <a:t>Software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Software is: </a:t>
            </a:r>
            <a:endParaRPr lang="en-IN" dirty="0" smtClean="0"/>
          </a:p>
          <a:p>
            <a:r>
              <a:rPr lang="en-IN" dirty="0" smtClean="0"/>
              <a:t>(</a:t>
            </a:r>
            <a:r>
              <a:rPr lang="en-IN" dirty="0"/>
              <a:t>1) instructions (computer programs) that when executed provide </a:t>
            </a:r>
            <a:r>
              <a:rPr lang="en-IN" dirty="0" smtClean="0"/>
              <a:t>desired features</a:t>
            </a:r>
            <a:r>
              <a:rPr lang="en-IN" dirty="0"/>
              <a:t>, function, and performance; </a:t>
            </a:r>
            <a:endParaRPr lang="en-IN" dirty="0" smtClean="0"/>
          </a:p>
          <a:p>
            <a:r>
              <a:rPr lang="en-IN" dirty="0" smtClean="0"/>
              <a:t>(</a:t>
            </a:r>
            <a:r>
              <a:rPr lang="en-IN" dirty="0"/>
              <a:t>2) data structures that enable the </a:t>
            </a:r>
            <a:r>
              <a:rPr lang="en-IN" dirty="0" smtClean="0"/>
              <a:t>programs to </a:t>
            </a:r>
            <a:r>
              <a:rPr lang="en-IN" dirty="0"/>
              <a:t>adequately manipulate information, </a:t>
            </a:r>
            <a:r>
              <a:rPr lang="en-IN" dirty="0" smtClean="0"/>
              <a:t>and</a:t>
            </a:r>
          </a:p>
          <a:p>
            <a:r>
              <a:rPr lang="en-IN" dirty="0" smtClean="0"/>
              <a:t> </a:t>
            </a:r>
            <a:r>
              <a:rPr lang="en-IN" dirty="0"/>
              <a:t>(3) descriptive information in </a:t>
            </a:r>
            <a:r>
              <a:rPr lang="en-IN" dirty="0" smtClean="0"/>
              <a:t>both hard </a:t>
            </a:r>
            <a:r>
              <a:rPr lang="en-IN" dirty="0"/>
              <a:t>copy and virtual forms that describes the operation and use of the programs.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Software Application Domains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System software, </a:t>
            </a:r>
            <a:endParaRPr lang="en-IN" dirty="0" smtClean="0"/>
          </a:p>
          <a:p>
            <a:r>
              <a:rPr lang="en-IN" dirty="0" smtClean="0"/>
              <a:t>Application </a:t>
            </a:r>
            <a:r>
              <a:rPr lang="en-IN" dirty="0"/>
              <a:t>software</a:t>
            </a:r>
            <a:r>
              <a:rPr lang="en-IN" dirty="0" smtClean="0"/>
              <a:t>,</a:t>
            </a:r>
          </a:p>
          <a:p>
            <a:r>
              <a:rPr lang="en-IN" dirty="0" smtClean="0"/>
              <a:t> Engineering/</a:t>
            </a:r>
            <a:r>
              <a:rPr lang="en-IN" dirty="0" err="1" smtClean="0"/>
              <a:t>scientic</a:t>
            </a:r>
            <a:r>
              <a:rPr lang="en-IN" dirty="0" smtClean="0"/>
              <a:t> software,</a:t>
            </a:r>
          </a:p>
          <a:p>
            <a:r>
              <a:rPr lang="en-IN" dirty="0" smtClean="0"/>
              <a:t>Embedded </a:t>
            </a:r>
            <a:r>
              <a:rPr lang="en-IN" dirty="0"/>
              <a:t>software, </a:t>
            </a:r>
            <a:endParaRPr lang="en-IN" dirty="0" smtClean="0"/>
          </a:p>
          <a:p>
            <a:r>
              <a:rPr lang="en-IN" dirty="0" smtClean="0"/>
              <a:t>Product-line </a:t>
            </a:r>
            <a:r>
              <a:rPr lang="en-IN" dirty="0"/>
              <a:t>software, </a:t>
            </a:r>
            <a:endParaRPr lang="en-IN" dirty="0" smtClean="0"/>
          </a:p>
          <a:p>
            <a:r>
              <a:rPr lang="en-IN" dirty="0" smtClean="0"/>
              <a:t>Web applications</a:t>
            </a:r>
            <a:r>
              <a:rPr lang="en-IN" dirty="0"/>
              <a:t>, </a:t>
            </a:r>
            <a:endParaRPr lang="en-IN" dirty="0" smtClean="0"/>
          </a:p>
          <a:p>
            <a:r>
              <a:rPr lang="en-IN" dirty="0" err="1" smtClean="0"/>
              <a:t>Articial</a:t>
            </a:r>
            <a:r>
              <a:rPr lang="en-IN" dirty="0" smtClean="0"/>
              <a:t> </a:t>
            </a:r>
            <a:r>
              <a:rPr lang="en-IN" dirty="0"/>
              <a:t>intelligence software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00100" y="714356"/>
            <a:ext cx="6699250" cy="544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DEFINING THE DISCIPLINE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</a:t>
            </a:r>
            <a:r>
              <a:rPr lang="en-IN" dirty="0" smtClean="0"/>
              <a:t>IEEE </a:t>
            </a:r>
            <a:r>
              <a:rPr lang="en-IN" dirty="0"/>
              <a:t>has developed the following </a:t>
            </a:r>
            <a:r>
              <a:rPr lang="en-IN" dirty="0" err="1"/>
              <a:t>defi</a:t>
            </a:r>
            <a:r>
              <a:rPr lang="en-IN" dirty="0"/>
              <a:t> </a:t>
            </a:r>
            <a:r>
              <a:rPr lang="en-IN" dirty="0" err="1"/>
              <a:t>nition</a:t>
            </a:r>
            <a:r>
              <a:rPr lang="en-IN" dirty="0"/>
              <a:t> for software engineering:</a:t>
            </a:r>
          </a:p>
          <a:p>
            <a:r>
              <a:rPr lang="en-IN" dirty="0"/>
              <a:t>Software Engineering : </a:t>
            </a:r>
            <a:endParaRPr lang="en-IN" dirty="0" smtClean="0"/>
          </a:p>
          <a:p>
            <a:pPr lvl="1"/>
            <a:r>
              <a:rPr lang="en-IN" dirty="0" smtClean="0"/>
              <a:t>(</a:t>
            </a:r>
            <a:r>
              <a:rPr lang="en-IN" dirty="0"/>
              <a:t>1) The application of a systematic, disciplined, </a:t>
            </a:r>
            <a:r>
              <a:rPr lang="en-IN" dirty="0" smtClean="0"/>
              <a:t>quantifiable approach </a:t>
            </a:r>
            <a:r>
              <a:rPr lang="en-IN" dirty="0"/>
              <a:t>to the development, operation, and </a:t>
            </a:r>
            <a:r>
              <a:rPr lang="en-IN" dirty="0" smtClean="0"/>
              <a:t> maintenance </a:t>
            </a:r>
            <a:r>
              <a:rPr lang="en-IN" dirty="0"/>
              <a:t>of software; that is, </a:t>
            </a:r>
            <a:r>
              <a:rPr lang="en-IN" dirty="0" smtClean="0"/>
              <a:t>the application </a:t>
            </a:r>
            <a:r>
              <a:rPr lang="en-IN" dirty="0"/>
              <a:t>of engineering to software</a:t>
            </a:r>
            <a:r>
              <a:rPr lang="en-IN" dirty="0" smtClean="0"/>
              <a:t>.</a:t>
            </a:r>
          </a:p>
          <a:p>
            <a:r>
              <a:rPr lang="en-IN" dirty="0" smtClean="0"/>
              <a:t> 	(</a:t>
            </a:r>
            <a:r>
              <a:rPr lang="en-IN" dirty="0"/>
              <a:t>2) The study of approaches as in (1).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SE layers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35075" y="2451100"/>
            <a:ext cx="6673850" cy="195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Objective of SE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1. Maintainability – the ease with which changes in a functional unit can be performed in order to meet prescribed requirements. </a:t>
            </a:r>
          </a:p>
          <a:p>
            <a:r>
              <a:rPr lang="en-IN" dirty="0" smtClean="0"/>
              <a:t>2. Correctness – the extent to which software meets its specified requirements </a:t>
            </a:r>
          </a:p>
          <a:p>
            <a:r>
              <a:rPr lang="en-IN" dirty="0" smtClean="0"/>
              <a:t>3. </a:t>
            </a:r>
            <a:r>
              <a:rPr lang="en-IN" dirty="0" err="1" smtClean="0"/>
              <a:t>Reuseability</a:t>
            </a:r>
            <a:r>
              <a:rPr lang="en-IN" dirty="0" smtClean="0"/>
              <a:t> – the extent to which a module can be used in multiple applications.</a:t>
            </a:r>
            <a:endParaRPr lang="en-IN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Objective of SE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4. Testability – the extent to which software facilitates both the establishment of test criteria and the evaluation of the software with respect to those criteria. </a:t>
            </a:r>
          </a:p>
          <a:p>
            <a:r>
              <a:rPr lang="en-IN" dirty="0" smtClean="0"/>
              <a:t>5. Reliability – an attribute of software quality. The extent to which a program can be expected to perform its intended function, over an arbitrary time period.</a:t>
            </a:r>
            <a:endParaRPr lang="en-IN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Objective of SE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6. Portability – the ease with which software can be transferred from one computer system or environment to another. </a:t>
            </a:r>
          </a:p>
          <a:p>
            <a:r>
              <a:rPr lang="en-IN" dirty="0" smtClean="0"/>
              <a:t>7. Adaptability – the ease with which software allows differing system constraints and user needs to be satisfied by making changes to the software.</a:t>
            </a:r>
            <a:endParaRPr lang="en-IN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x-none" smtClean="0"/>
              <a:t>Principles </a:t>
            </a:r>
            <a:r>
              <a:rPr lang="en-IN" dirty="0" smtClean="0"/>
              <a:t/>
            </a:r>
            <a:br>
              <a:rPr lang="en-IN" dirty="0" smtClean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 smtClean="0"/>
              <a:t>Software Engineering Principle</a:t>
            </a:r>
          </a:p>
          <a:p>
            <a:pPr lvl="1"/>
            <a:r>
              <a:rPr lang="en-IN" dirty="0" smtClean="0"/>
              <a:t> A tool or methodology employed to assist software developers in reaching the objectives of software engineering.</a:t>
            </a:r>
          </a:p>
          <a:p>
            <a:r>
              <a:rPr lang="en-IN" dirty="0" smtClean="0"/>
              <a:t>Examples – </a:t>
            </a:r>
          </a:p>
          <a:p>
            <a:pPr lvl="1"/>
            <a:r>
              <a:rPr lang="en-IN" dirty="0" smtClean="0"/>
              <a:t>Modularity – </a:t>
            </a:r>
          </a:p>
          <a:p>
            <a:pPr lvl="1"/>
            <a:r>
              <a:rPr lang="en-IN" dirty="0" smtClean="0"/>
              <a:t>Hierarchical Decomposition – </a:t>
            </a:r>
          </a:p>
          <a:p>
            <a:pPr lvl="1"/>
            <a:r>
              <a:rPr lang="en-IN" dirty="0" smtClean="0"/>
              <a:t>Functional Decomposition –</a:t>
            </a:r>
          </a:p>
          <a:p>
            <a:r>
              <a:rPr lang="en-IN" dirty="0" smtClean="0"/>
              <a:t> 	Information Hiding</a:t>
            </a:r>
            <a:endParaRPr lang="en-IN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SE Practices</a:t>
            </a:r>
            <a:endParaRPr lang="en-IN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57224" y="1152525"/>
            <a:ext cx="7581900" cy="47768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SE practice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Understand the problem (communication and analysis).</a:t>
            </a:r>
          </a:p>
          <a:p>
            <a:r>
              <a:rPr lang="en-IN" dirty="0" smtClean="0"/>
              <a:t>Plan a solution (</a:t>
            </a:r>
            <a:r>
              <a:rPr lang="en-IN" dirty="0" err="1" smtClean="0"/>
              <a:t>modeling</a:t>
            </a:r>
            <a:r>
              <a:rPr lang="en-IN" dirty="0" smtClean="0"/>
              <a:t> and software design).</a:t>
            </a:r>
          </a:p>
          <a:p>
            <a:r>
              <a:rPr lang="en-IN" dirty="0" smtClean="0"/>
              <a:t>Carry out the plan (code generation).</a:t>
            </a:r>
          </a:p>
          <a:p>
            <a:r>
              <a:rPr lang="en-IN" dirty="0" smtClean="0"/>
              <a:t>Examine the result for accuracy (testing and </a:t>
            </a:r>
            <a:r>
              <a:rPr lang="en-IN" dirty="0" smtClean="0"/>
              <a:t>quality assurance</a:t>
            </a:r>
            <a:r>
              <a:rPr lang="en-IN" dirty="0" smtClean="0"/>
              <a:t>).</a:t>
            </a:r>
            <a:endParaRPr lang="en-IN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SE practice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 smtClean="0"/>
              <a:t>Seven principles that focus on software engineering practice -</a:t>
            </a:r>
          </a:p>
          <a:p>
            <a:r>
              <a:rPr lang="en-IN" dirty="0" smtClean="0"/>
              <a:t>Reason, </a:t>
            </a:r>
            <a:endParaRPr lang="en-IN" dirty="0" smtClean="0"/>
          </a:p>
          <a:p>
            <a:r>
              <a:rPr lang="en-IN" dirty="0" smtClean="0"/>
              <a:t>Simple</a:t>
            </a:r>
            <a:r>
              <a:rPr lang="en-IN" dirty="0" smtClean="0"/>
              <a:t>, </a:t>
            </a:r>
            <a:endParaRPr lang="en-IN" dirty="0" smtClean="0"/>
          </a:p>
          <a:p>
            <a:r>
              <a:rPr lang="en-IN" dirty="0" smtClean="0"/>
              <a:t>Vision</a:t>
            </a:r>
            <a:r>
              <a:rPr lang="en-IN" dirty="0" smtClean="0"/>
              <a:t>, </a:t>
            </a:r>
            <a:endParaRPr lang="en-IN" dirty="0" smtClean="0"/>
          </a:p>
          <a:p>
            <a:r>
              <a:rPr lang="en-IN" dirty="0" smtClean="0"/>
              <a:t>Produce </a:t>
            </a:r>
            <a:r>
              <a:rPr lang="en-IN" dirty="0" smtClean="0"/>
              <a:t>&amp; Consume, </a:t>
            </a:r>
            <a:endParaRPr lang="en-IN" dirty="0" smtClean="0"/>
          </a:p>
          <a:p>
            <a:r>
              <a:rPr lang="en-IN" dirty="0" smtClean="0"/>
              <a:t>Future</a:t>
            </a:r>
            <a:r>
              <a:rPr lang="en-IN" dirty="0" smtClean="0"/>
              <a:t>, </a:t>
            </a:r>
            <a:endParaRPr lang="en-IN" dirty="0" smtClean="0"/>
          </a:p>
          <a:p>
            <a:r>
              <a:rPr lang="en-IN" dirty="0" err="1" smtClean="0"/>
              <a:t>Resuse</a:t>
            </a:r>
            <a:r>
              <a:rPr lang="en-IN" dirty="0" smtClean="0"/>
              <a:t>,</a:t>
            </a:r>
          </a:p>
          <a:p>
            <a:r>
              <a:rPr lang="en-IN" dirty="0" smtClean="0"/>
              <a:t>Think.</a:t>
            </a:r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565</Words>
  <Application>Microsoft Office PowerPoint</Application>
  <PresentationFormat>On-screen Show (4:3)</PresentationFormat>
  <Paragraphs>73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UNIT I</vt:lpstr>
      <vt:lpstr>Introduction to Software Engineering </vt:lpstr>
      <vt:lpstr>Introduction</vt:lpstr>
      <vt:lpstr>Software Engineering</vt:lpstr>
      <vt:lpstr>THE NATURE OF SOFTWARE</vt:lpstr>
      <vt:lpstr>Defining Software</vt:lpstr>
      <vt:lpstr>Software Application Domains</vt:lpstr>
      <vt:lpstr>Slide 8</vt:lpstr>
      <vt:lpstr>DEFINING THE DISCIPLINE</vt:lpstr>
      <vt:lpstr>SE layers</vt:lpstr>
      <vt:lpstr>Objective of SE </vt:lpstr>
      <vt:lpstr>Objective of SE </vt:lpstr>
      <vt:lpstr>Objective of SE </vt:lpstr>
      <vt:lpstr>Principles  </vt:lpstr>
      <vt:lpstr>SE Practices</vt:lpstr>
      <vt:lpstr>SE practice</vt:lpstr>
      <vt:lpstr>SE practice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I</dc:title>
  <dc:creator>SSN</dc:creator>
  <cp:lastModifiedBy>SSN</cp:lastModifiedBy>
  <cp:revision>4</cp:revision>
  <dcterms:created xsi:type="dcterms:W3CDTF">2023-10-11T07:25:16Z</dcterms:created>
  <dcterms:modified xsi:type="dcterms:W3CDTF">2023-10-11T07:51:09Z</dcterms:modified>
</cp:coreProperties>
</file>