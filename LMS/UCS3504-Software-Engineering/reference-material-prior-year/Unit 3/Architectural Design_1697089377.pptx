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7" r:id="rId4"/>
    <p:sldId id="259" r:id="rId5"/>
    <p:sldId id="260" r:id="rId6"/>
    <p:sldId id="261" r:id="rId7"/>
    <p:sldId id="262" r:id="rId8"/>
    <p:sldId id="263" r:id="rId9"/>
    <p:sldId id="264" r:id="rId10"/>
    <p:sldId id="265" r:id="rId11"/>
    <p:sldId id="274" r:id="rId12"/>
    <p:sldId id="275" r:id="rId13"/>
    <p:sldId id="276" r:id="rId14"/>
    <p:sldId id="277" r:id="rId15"/>
    <p:sldId id="278" r:id="rId16"/>
    <p:sldId id="279" r:id="rId17"/>
    <p:sldId id="280" r:id="rId18"/>
    <p:sldId id="281" r:id="rId19"/>
    <p:sldId id="282" r:id="rId20"/>
    <p:sldId id="283" r:id="rId21"/>
    <p:sldId id="290" r:id="rId22"/>
    <p:sldId id="289" r:id="rId23"/>
    <p:sldId id="284" r:id="rId24"/>
    <p:sldId id="285" r:id="rId25"/>
    <p:sldId id="286" r:id="rId26"/>
    <p:sldId id="287" r:id="rId27"/>
    <p:sldId id="288" r:id="rId2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296"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F1768-C20B-42EB-AACC-88F4F5C0B54C}" type="datetimeFigureOut">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BFD085-DD43-4450-AAD7-C86EFBD33B6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EF1768-C20B-42EB-AACC-88F4F5C0B54C}" type="datetimeFigureOut">
              <a:rPr lang="en-US" smtClean="0"/>
              <a:pPr/>
              <a:t>10/12/2023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BFD085-DD43-4450-AAD7-C86EFBD33B6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Architectural Design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Outline</a:t>
            </a:r>
            <a:endParaRPr lang="en-IN" dirty="0"/>
          </a:p>
        </p:txBody>
      </p:sp>
      <p:sp>
        <p:nvSpPr>
          <p:cNvPr id="3" name="Content Placeholder 2"/>
          <p:cNvSpPr>
            <a:spLocks noGrp="1"/>
          </p:cNvSpPr>
          <p:nvPr>
            <p:ph idx="1"/>
          </p:nvPr>
        </p:nvSpPr>
        <p:spPr>
          <a:xfrm>
            <a:off x="457200" y="1447800"/>
            <a:ext cx="8229600" cy="4678363"/>
          </a:xfrm>
        </p:spPr>
        <p:txBody>
          <a:bodyPr>
            <a:normAutofit lnSpcReduction="10000"/>
          </a:bodyPr>
          <a:lstStyle/>
          <a:p>
            <a:r>
              <a:rPr lang="en-IN" dirty="0" smtClean="0"/>
              <a:t>Definition of an Architecture.</a:t>
            </a:r>
          </a:p>
          <a:p>
            <a:r>
              <a:rPr lang="en-IN" dirty="0" smtClean="0"/>
              <a:t>Architecture styles : </a:t>
            </a:r>
          </a:p>
          <a:p>
            <a:pPr lvl="1"/>
            <a:r>
              <a:rPr lang="en-US" dirty="0" smtClean="0"/>
              <a:t>Data-centered architectures, </a:t>
            </a:r>
          </a:p>
          <a:p>
            <a:pPr lvl="1"/>
            <a:r>
              <a:rPr lang="en-US" dirty="0" smtClean="0"/>
              <a:t>Data flow architecture</a:t>
            </a:r>
          </a:p>
          <a:p>
            <a:pPr lvl="1"/>
            <a:r>
              <a:rPr lang="en-US" dirty="0" smtClean="0"/>
              <a:t>Call and return architectures</a:t>
            </a:r>
          </a:p>
          <a:p>
            <a:pPr lvl="1"/>
            <a:r>
              <a:rPr lang="en-US" dirty="0" smtClean="0"/>
              <a:t>Object-oriented architectures</a:t>
            </a:r>
          </a:p>
          <a:p>
            <a:pPr lvl="1"/>
            <a:r>
              <a:rPr lang="en-US" dirty="0" smtClean="0"/>
              <a:t>Layered architectures.</a:t>
            </a:r>
          </a:p>
          <a:p>
            <a:r>
              <a:rPr lang="en-US" dirty="0" smtClean="0"/>
              <a:t>Architecture for network based applications</a:t>
            </a:r>
          </a:p>
          <a:p>
            <a:r>
              <a:rPr lang="en-US" dirty="0" smtClean="0"/>
              <a:t>Decentralized architectures</a:t>
            </a:r>
            <a:endParaRPr lang="en-US" dirty="0" smtClean="0"/>
          </a:p>
          <a:p>
            <a:pPr>
              <a:buNone/>
            </a:pPr>
            <a:endParaRPr lang="en-US" dirty="0" smtClean="0"/>
          </a:p>
          <a:p>
            <a:endParaRPr lang="en-US" b="1" dirty="0" smtClean="0"/>
          </a:p>
          <a:p>
            <a:endParaRPr lang="en-US" b="1" dirty="0" smtClean="0"/>
          </a:p>
          <a:p>
            <a:endParaRPr lang="en-US" b="1" dirty="0" smtClean="0"/>
          </a:p>
          <a:p>
            <a:endParaRPr lang="en-IN" dirty="0" smtClean="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SA definition : The </a:t>
            </a:r>
            <a:r>
              <a:rPr lang="en-US" dirty="0"/>
              <a:t>software architecture of a program or computing system is the structure or </a:t>
            </a:r>
            <a:r>
              <a:rPr lang="en-US" dirty="0" smtClean="0"/>
              <a:t>structures of </a:t>
            </a:r>
            <a:r>
              <a:rPr lang="en-US" dirty="0"/>
              <a:t>the system, which comprise software components, the externally visible properties </a:t>
            </a:r>
            <a:r>
              <a:rPr lang="en-US" dirty="0" smtClean="0"/>
              <a:t>of those </a:t>
            </a:r>
            <a:r>
              <a:rPr lang="en-US" dirty="0"/>
              <a:t>components, and the relationships among them</a:t>
            </a:r>
            <a:r>
              <a:rPr lang="en-US" dirty="0" smtClean="0"/>
              <a:t>.</a:t>
            </a:r>
          </a:p>
          <a:p>
            <a:r>
              <a:rPr lang="en-US" dirty="0"/>
              <a:t>The architecture </a:t>
            </a:r>
            <a:r>
              <a:rPr lang="en-US" dirty="0" smtClean="0"/>
              <a:t>is </a:t>
            </a:r>
            <a:r>
              <a:rPr lang="en-US" dirty="0"/>
              <a:t>a representation </a:t>
            </a:r>
            <a:r>
              <a:rPr lang="en-US" dirty="0" smtClean="0"/>
              <a:t>that enables </a:t>
            </a:r>
            <a:r>
              <a:rPr lang="en-US" dirty="0"/>
              <a:t>you to </a:t>
            </a:r>
            <a:endParaRPr lang="en-US" dirty="0" smtClean="0"/>
          </a:p>
          <a:p>
            <a:pPr lvl="1"/>
            <a:r>
              <a:rPr lang="en-US" dirty="0" smtClean="0"/>
              <a:t>(</a:t>
            </a:r>
            <a:r>
              <a:rPr lang="en-US" dirty="0"/>
              <a:t>1) analyze the effectiveness of the design in meeting its stated requirements</a:t>
            </a:r>
            <a:r>
              <a:rPr lang="en-US" dirty="0" smtClean="0"/>
              <a:t>, </a:t>
            </a:r>
          </a:p>
          <a:p>
            <a:pPr lvl="1"/>
            <a:r>
              <a:rPr lang="en-US" dirty="0" smtClean="0"/>
              <a:t>(</a:t>
            </a:r>
            <a:r>
              <a:rPr lang="en-US" dirty="0"/>
              <a:t>2) consider architectural alternatives at a stage when making </a:t>
            </a:r>
            <a:r>
              <a:rPr lang="en-US" dirty="0" smtClean="0"/>
              <a:t>design changes </a:t>
            </a:r>
            <a:r>
              <a:rPr lang="en-US" dirty="0"/>
              <a:t>is still relatively easy, and </a:t>
            </a:r>
            <a:endParaRPr lang="en-US" dirty="0" smtClean="0"/>
          </a:p>
          <a:p>
            <a:pPr lvl="1"/>
            <a:r>
              <a:rPr lang="en-US" dirty="0" smtClean="0"/>
              <a:t>(</a:t>
            </a:r>
            <a:r>
              <a:rPr lang="en-US" dirty="0"/>
              <a:t>3) reduce the risks associated with the </a:t>
            </a:r>
            <a:r>
              <a:rPr lang="en-US" dirty="0" smtClean="0"/>
              <a:t>construction of </a:t>
            </a:r>
            <a:r>
              <a:rPr lang="en-US" dirty="0"/>
              <a:t>the software</a:t>
            </a:r>
            <a:r>
              <a:rPr lang="en-US" dirty="0" smtClean="0"/>
              <a:t>.</a:t>
            </a:r>
          </a:p>
          <a:p>
            <a:r>
              <a:rPr lang="en-US" dirty="0" smtClean="0"/>
              <a:t>Architecture design focus on representation of the structure of software components, their properties, and interactions.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Styles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An </a:t>
            </a:r>
            <a:r>
              <a:rPr lang="en-US" dirty="0"/>
              <a:t>architectural style </a:t>
            </a:r>
            <a:r>
              <a:rPr lang="en-US" dirty="0" smtClean="0"/>
              <a:t>is </a:t>
            </a:r>
            <a:r>
              <a:rPr lang="en-US" dirty="0"/>
              <a:t>to establish </a:t>
            </a:r>
            <a:r>
              <a:rPr lang="en-US" dirty="0">
                <a:solidFill>
                  <a:srgbClr val="FF0000"/>
                </a:solidFill>
              </a:rPr>
              <a:t>a structure for all components of the system</a:t>
            </a:r>
            <a:r>
              <a:rPr lang="en-US" dirty="0" smtClean="0"/>
              <a:t>.</a:t>
            </a:r>
          </a:p>
          <a:p>
            <a:r>
              <a:rPr lang="en-US" dirty="0"/>
              <a:t>Each style describes </a:t>
            </a:r>
            <a:endParaRPr lang="en-US" dirty="0" smtClean="0"/>
          </a:p>
          <a:p>
            <a:pPr lvl="1"/>
            <a:r>
              <a:rPr lang="en-US" dirty="0" smtClean="0"/>
              <a:t>(</a:t>
            </a:r>
            <a:r>
              <a:rPr lang="en-US" dirty="0"/>
              <a:t>1) </a:t>
            </a:r>
            <a:r>
              <a:rPr lang="en-US" dirty="0" smtClean="0"/>
              <a:t>a </a:t>
            </a:r>
            <a:r>
              <a:rPr lang="en-US" b="1" dirty="0" smtClean="0"/>
              <a:t>set </a:t>
            </a:r>
            <a:r>
              <a:rPr lang="en-US" b="1" dirty="0"/>
              <a:t>of components </a:t>
            </a:r>
            <a:r>
              <a:rPr lang="en-US" dirty="0"/>
              <a:t>(e.g., a database, computational modules) that perform a </a:t>
            </a:r>
            <a:r>
              <a:rPr lang="en-US" dirty="0" smtClean="0"/>
              <a:t>function required </a:t>
            </a:r>
            <a:r>
              <a:rPr lang="en-US" dirty="0"/>
              <a:t>by a system; </a:t>
            </a:r>
            <a:endParaRPr lang="en-US" dirty="0" smtClean="0"/>
          </a:p>
          <a:p>
            <a:pPr lvl="1"/>
            <a:r>
              <a:rPr lang="en-US" dirty="0" smtClean="0"/>
              <a:t>(</a:t>
            </a:r>
            <a:r>
              <a:rPr lang="en-US" dirty="0"/>
              <a:t>2) a </a:t>
            </a:r>
            <a:r>
              <a:rPr lang="en-US" b="1" dirty="0"/>
              <a:t>set of connectors </a:t>
            </a:r>
            <a:r>
              <a:rPr lang="en-US" dirty="0"/>
              <a:t>that enable “communication, </a:t>
            </a:r>
            <a:r>
              <a:rPr lang="en-US" dirty="0" smtClean="0"/>
              <a:t>coordination and </a:t>
            </a:r>
            <a:r>
              <a:rPr lang="en-US" dirty="0"/>
              <a:t>cooperation” among components; </a:t>
            </a:r>
            <a:endParaRPr lang="en-US" dirty="0" smtClean="0"/>
          </a:p>
          <a:p>
            <a:pPr lvl="1"/>
            <a:r>
              <a:rPr lang="en-US" dirty="0" smtClean="0"/>
              <a:t>(</a:t>
            </a:r>
            <a:r>
              <a:rPr lang="en-US" dirty="0"/>
              <a:t>3) </a:t>
            </a:r>
            <a:r>
              <a:rPr lang="en-US" b="1" dirty="0"/>
              <a:t>constraints</a:t>
            </a:r>
            <a:r>
              <a:rPr lang="en-US" dirty="0"/>
              <a:t> that define how </a:t>
            </a:r>
            <a:r>
              <a:rPr lang="en-US" dirty="0" smtClean="0"/>
              <a:t>components can </a:t>
            </a:r>
            <a:r>
              <a:rPr lang="en-US" dirty="0"/>
              <a:t>be integrated to form the system; and </a:t>
            </a:r>
            <a:endParaRPr lang="en-US" dirty="0" smtClean="0"/>
          </a:p>
          <a:p>
            <a:pPr lvl="1"/>
            <a:r>
              <a:rPr lang="en-US" dirty="0" smtClean="0"/>
              <a:t>(</a:t>
            </a:r>
            <a:r>
              <a:rPr lang="en-US" dirty="0"/>
              <a:t>4) </a:t>
            </a:r>
            <a:r>
              <a:rPr lang="en-US" dirty="0" smtClean="0"/>
              <a:t>the </a:t>
            </a:r>
            <a:r>
              <a:rPr lang="en-US" dirty="0"/>
              <a:t>overall </a:t>
            </a:r>
            <a:r>
              <a:rPr lang="en-US" b="1" dirty="0"/>
              <a:t>properties of a </a:t>
            </a:r>
            <a:r>
              <a:rPr lang="en-US" b="1" dirty="0" smtClean="0"/>
              <a:t>system</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Architectural styles</a:t>
            </a:r>
            <a:endParaRPr lang="en-US" dirty="0"/>
          </a:p>
        </p:txBody>
      </p:sp>
      <p:sp>
        <p:nvSpPr>
          <p:cNvPr id="3" name="Content Placeholder 2"/>
          <p:cNvSpPr>
            <a:spLocks noGrp="1"/>
          </p:cNvSpPr>
          <p:nvPr>
            <p:ph idx="1"/>
          </p:nvPr>
        </p:nvSpPr>
        <p:spPr>
          <a:xfrm>
            <a:off x="457200" y="1828800"/>
            <a:ext cx="8229600" cy="4297363"/>
          </a:xfrm>
        </p:spPr>
        <p:txBody>
          <a:bodyPr>
            <a:normAutofit fontScale="92500" lnSpcReduction="20000"/>
          </a:bodyPr>
          <a:lstStyle/>
          <a:p>
            <a:r>
              <a:rPr lang="en-US" b="1" dirty="0"/>
              <a:t>Data-centered architectures</a:t>
            </a:r>
            <a:r>
              <a:rPr lang="en-US" b="1" dirty="0" smtClean="0"/>
              <a:t>.</a:t>
            </a:r>
            <a:r>
              <a:rPr lang="en-US" dirty="0"/>
              <a:t> A data store (e.g., a file or database) resides </a:t>
            </a:r>
            <a:r>
              <a:rPr lang="en-US" dirty="0" smtClean="0"/>
              <a:t>at the </a:t>
            </a:r>
            <a:r>
              <a:rPr lang="en-US" dirty="0"/>
              <a:t>center of this architecture and is accessed frequently by other components </a:t>
            </a:r>
            <a:r>
              <a:rPr lang="en-US" dirty="0" smtClean="0"/>
              <a:t>that update</a:t>
            </a:r>
            <a:r>
              <a:rPr lang="en-US" dirty="0"/>
              <a:t>, add, delete, or otherwise modify data within the store</a:t>
            </a:r>
            <a:r>
              <a:rPr lang="en-US" dirty="0" smtClean="0"/>
              <a:t>.</a:t>
            </a:r>
          </a:p>
          <a:p>
            <a:r>
              <a:rPr lang="en-US" dirty="0"/>
              <a:t>Data-centered architectures promote </a:t>
            </a:r>
            <a:r>
              <a:rPr lang="en-US" i="1" dirty="0" err="1" smtClean="0"/>
              <a:t>integrability</a:t>
            </a:r>
            <a:r>
              <a:rPr lang="en-US" i="1" dirty="0" smtClean="0"/>
              <a:t>. </a:t>
            </a:r>
            <a:r>
              <a:rPr lang="en-US" i="1" dirty="0"/>
              <a:t>That is, </a:t>
            </a:r>
            <a:r>
              <a:rPr lang="en-US" i="1" dirty="0" smtClean="0"/>
              <a:t>existing </a:t>
            </a:r>
            <a:r>
              <a:rPr lang="en-US" dirty="0" smtClean="0"/>
              <a:t>components </a:t>
            </a:r>
            <a:r>
              <a:rPr lang="en-US" dirty="0"/>
              <a:t>can be changed and new client components added to the </a:t>
            </a:r>
            <a:r>
              <a:rPr lang="en-US" dirty="0" smtClean="0"/>
              <a:t>architecture without </a:t>
            </a:r>
            <a:r>
              <a:rPr lang="en-US" dirty="0"/>
              <a:t>concern about other clients (because the client components </a:t>
            </a:r>
            <a:r>
              <a:rPr lang="en-US" dirty="0" smtClean="0"/>
              <a:t>operate independently</a:t>
            </a:r>
            <a:r>
              <a:rPr lang="en-US" dirty="0"/>
              <a:t>).</a:t>
            </a:r>
          </a:p>
        </p:txBody>
      </p:sp>
      <p:pic>
        <p:nvPicPr>
          <p:cNvPr id="5" name="Picture 4" descr="Fig1.png"/>
          <p:cNvPicPr>
            <a:picLocks noChangeAspect="1"/>
          </p:cNvPicPr>
          <p:nvPr/>
        </p:nvPicPr>
        <p:blipFill>
          <a:blip r:embed="rId2"/>
          <a:stretch>
            <a:fillRect/>
          </a:stretch>
        </p:blipFill>
        <p:spPr>
          <a:xfrm>
            <a:off x="6115306" y="0"/>
            <a:ext cx="3028694" cy="19436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Architectural styles</a:t>
            </a:r>
            <a:endParaRPr lang="en-US" dirty="0"/>
          </a:p>
        </p:txBody>
      </p:sp>
      <p:sp>
        <p:nvSpPr>
          <p:cNvPr id="3" name="Content Placeholder 2"/>
          <p:cNvSpPr>
            <a:spLocks noGrp="1"/>
          </p:cNvSpPr>
          <p:nvPr>
            <p:ph idx="1"/>
          </p:nvPr>
        </p:nvSpPr>
        <p:spPr>
          <a:xfrm>
            <a:off x="457200" y="1371600"/>
            <a:ext cx="8229600" cy="4754563"/>
          </a:xfrm>
        </p:spPr>
        <p:txBody>
          <a:bodyPr>
            <a:normAutofit/>
          </a:bodyPr>
          <a:lstStyle/>
          <a:p>
            <a:r>
              <a:rPr lang="en-US" sz="1700" b="1" dirty="0" smtClean="0"/>
              <a:t>Data flow architecture </a:t>
            </a:r>
            <a:r>
              <a:rPr lang="en-US" sz="1700" dirty="0" smtClean="0"/>
              <a:t>: </a:t>
            </a:r>
            <a:r>
              <a:rPr lang="en-US" sz="1700" dirty="0"/>
              <a:t>A pipe-and-filter </a:t>
            </a:r>
            <a:r>
              <a:rPr lang="en-US" sz="1700" dirty="0" smtClean="0"/>
              <a:t>pattern </a:t>
            </a:r>
            <a:r>
              <a:rPr lang="en-US" sz="1700" dirty="0"/>
              <a:t>has a set of components, </a:t>
            </a:r>
            <a:r>
              <a:rPr lang="en-US" sz="1700" dirty="0" smtClean="0"/>
              <a:t>called </a:t>
            </a:r>
            <a:r>
              <a:rPr lang="en-US" sz="1700" i="1" dirty="0" smtClean="0"/>
              <a:t>filters</a:t>
            </a:r>
            <a:r>
              <a:rPr lang="en-US" sz="1700" i="1" dirty="0"/>
              <a:t>, connected by pipes that transmit data from one component to the next. </a:t>
            </a:r>
            <a:endParaRPr lang="en-US" sz="1700" i="1" dirty="0" smtClean="0"/>
          </a:p>
          <a:p>
            <a:r>
              <a:rPr lang="en-US" sz="1700" i="1" dirty="0" smtClean="0"/>
              <a:t>Each </a:t>
            </a:r>
            <a:r>
              <a:rPr lang="en-US" sz="1700" dirty="0" smtClean="0"/>
              <a:t>filter </a:t>
            </a:r>
            <a:r>
              <a:rPr lang="en-US" sz="1700" dirty="0"/>
              <a:t>works independently of those components upstream and downstream, is </a:t>
            </a:r>
            <a:r>
              <a:rPr lang="en-US" sz="1700" dirty="0" smtClean="0"/>
              <a:t>designed to </a:t>
            </a:r>
            <a:r>
              <a:rPr lang="en-US" sz="1700" dirty="0"/>
              <a:t>expect data input of a certain form, and produces data output (to the </a:t>
            </a:r>
            <a:r>
              <a:rPr lang="en-US" sz="1700" dirty="0" smtClean="0"/>
              <a:t>next filter</a:t>
            </a:r>
            <a:r>
              <a:rPr lang="en-US" sz="1700" dirty="0"/>
              <a:t>) of a specified form. </a:t>
            </a:r>
            <a:endParaRPr lang="en-US" sz="1700" dirty="0" smtClean="0"/>
          </a:p>
          <a:p>
            <a:r>
              <a:rPr lang="en-US" sz="1700" dirty="0" smtClean="0"/>
              <a:t>However</a:t>
            </a:r>
            <a:r>
              <a:rPr lang="en-US" sz="1700" dirty="0"/>
              <a:t>, the filter does not require knowledge of </a:t>
            </a:r>
            <a:r>
              <a:rPr lang="en-US" sz="1700" dirty="0" smtClean="0"/>
              <a:t>the workings </a:t>
            </a:r>
            <a:r>
              <a:rPr lang="en-US" sz="1700" dirty="0"/>
              <a:t>of its neighboring </a:t>
            </a:r>
            <a:r>
              <a:rPr lang="en-US" sz="1700" dirty="0" err="1" smtClean="0"/>
              <a:t>flters</a:t>
            </a:r>
            <a:r>
              <a:rPr lang="en-US" dirty="0"/>
              <a:t>.</a:t>
            </a:r>
          </a:p>
        </p:txBody>
      </p:sp>
      <p:pic>
        <p:nvPicPr>
          <p:cNvPr id="4" name="Picture 3" descr="fig2.png"/>
          <p:cNvPicPr>
            <a:picLocks noChangeAspect="1"/>
          </p:cNvPicPr>
          <p:nvPr/>
        </p:nvPicPr>
        <p:blipFill>
          <a:blip r:embed="rId2"/>
          <a:stretch>
            <a:fillRect/>
          </a:stretch>
        </p:blipFill>
        <p:spPr>
          <a:xfrm>
            <a:off x="1600200" y="3352800"/>
            <a:ext cx="6639852" cy="30865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Styles</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US" sz="1900" b="1" dirty="0"/>
              <a:t>Call and return architectures. </a:t>
            </a:r>
            <a:r>
              <a:rPr lang="en-US" sz="1900" dirty="0"/>
              <a:t>This architectural style enables you to achieve </a:t>
            </a:r>
            <a:r>
              <a:rPr lang="en-US" sz="1900" dirty="0" smtClean="0"/>
              <a:t>a program </a:t>
            </a:r>
            <a:r>
              <a:rPr lang="en-US" sz="1900" dirty="0"/>
              <a:t>structure that is relatively easy to modify and scale. A number of </a:t>
            </a:r>
            <a:r>
              <a:rPr lang="en-US" sz="1900" dirty="0" err="1" smtClean="0"/>
              <a:t>substyles</a:t>
            </a:r>
            <a:r>
              <a:rPr lang="en-US" sz="1900" dirty="0" smtClean="0"/>
              <a:t> exist </a:t>
            </a:r>
            <a:r>
              <a:rPr lang="en-US" sz="1900" dirty="0"/>
              <a:t>within this category</a:t>
            </a:r>
            <a:r>
              <a:rPr lang="en-US" sz="1900" dirty="0" smtClean="0"/>
              <a:t>:</a:t>
            </a:r>
          </a:p>
          <a:p>
            <a:r>
              <a:rPr lang="en-US" sz="1900" i="1" dirty="0"/>
              <a:t>Main program/subprogram architectures. This classic program </a:t>
            </a:r>
            <a:r>
              <a:rPr lang="en-US" sz="1900" i="1" dirty="0" smtClean="0"/>
              <a:t>structure </a:t>
            </a:r>
            <a:r>
              <a:rPr lang="en-US" sz="1900" dirty="0" smtClean="0"/>
              <a:t>decomposes </a:t>
            </a:r>
            <a:r>
              <a:rPr lang="en-US" sz="1900" dirty="0"/>
              <a:t>function into a control hierarchy where a “main” </a:t>
            </a:r>
            <a:r>
              <a:rPr lang="en-US" sz="1900" dirty="0" smtClean="0"/>
              <a:t>program </a:t>
            </a:r>
            <a:r>
              <a:rPr lang="en-US" sz="1900" dirty="0"/>
              <a:t>invokes a number of program components that in turn may invoke still </a:t>
            </a:r>
            <a:r>
              <a:rPr lang="en-US" sz="1900" dirty="0" smtClean="0"/>
              <a:t>other components</a:t>
            </a:r>
            <a:r>
              <a:rPr lang="en-US" sz="1900" dirty="0"/>
              <a:t>. Figure  </a:t>
            </a:r>
            <a:r>
              <a:rPr lang="en-US" sz="1900" dirty="0" smtClean="0"/>
              <a:t>illustrates </a:t>
            </a:r>
            <a:r>
              <a:rPr lang="en-US" sz="1900" dirty="0"/>
              <a:t>an architecture of this type.</a:t>
            </a:r>
          </a:p>
          <a:p>
            <a:r>
              <a:rPr lang="en-US" sz="1900" i="1" dirty="0" smtClean="0"/>
              <a:t>Remote </a:t>
            </a:r>
            <a:r>
              <a:rPr lang="en-US" sz="1900" i="1" dirty="0"/>
              <a:t>procedure call architectures. The components of a </a:t>
            </a:r>
            <a:r>
              <a:rPr lang="en-US" sz="1900" i="1" dirty="0" smtClean="0"/>
              <a:t>main </a:t>
            </a:r>
            <a:r>
              <a:rPr lang="en-US" sz="1900" dirty="0" smtClean="0"/>
              <a:t>program/subprogram </a:t>
            </a:r>
            <a:r>
              <a:rPr lang="en-US" sz="1900" dirty="0"/>
              <a:t>architecture are distributed across multiple </a:t>
            </a:r>
            <a:r>
              <a:rPr lang="en-US" sz="1900" dirty="0" smtClean="0"/>
              <a:t>computers </a:t>
            </a:r>
            <a:r>
              <a:rPr lang="en-US" sz="1600" dirty="0" smtClean="0"/>
              <a:t>on </a:t>
            </a:r>
            <a:r>
              <a:rPr lang="en-US" sz="1600" dirty="0"/>
              <a:t>a network</a:t>
            </a:r>
            <a:r>
              <a:rPr lang="en-US" dirty="0"/>
              <a:t>.</a:t>
            </a:r>
          </a:p>
        </p:txBody>
      </p:sp>
      <p:pic>
        <p:nvPicPr>
          <p:cNvPr id="4" name="Picture 3" descr="fig3.png"/>
          <p:cNvPicPr>
            <a:picLocks noChangeAspect="1"/>
          </p:cNvPicPr>
          <p:nvPr/>
        </p:nvPicPr>
        <p:blipFill>
          <a:blip r:embed="rId2"/>
          <a:stretch>
            <a:fillRect/>
          </a:stretch>
        </p:blipFill>
        <p:spPr>
          <a:xfrm>
            <a:off x="4191000" y="3886200"/>
            <a:ext cx="4495800" cy="213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Styles</a:t>
            </a:r>
            <a:endParaRPr lang="en-US" dirty="0"/>
          </a:p>
        </p:txBody>
      </p:sp>
      <p:sp>
        <p:nvSpPr>
          <p:cNvPr id="3" name="Content Placeholder 2"/>
          <p:cNvSpPr>
            <a:spLocks noGrp="1"/>
          </p:cNvSpPr>
          <p:nvPr>
            <p:ph idx="1"/>
          </p:nvPr>
        </p:nvSpPr>
        <p:spPr/>
        <p:txBody>
          <a:bodyPr/>
          <a:lstStyle/>
          <a:p>
            <a:r>
              <a:rPr lang="en-US" b="1" dirty="0"/>
              <a:t>Object-oriented architectures. The components of a system encapsulate </a:t>
            </a:r>
            <a:r>
              <a:rPr lang="en-US" b="1" dirty="0" smtClean="0"/>
              <a:t>data </a:t>
            </a:r>
            <a:r>
              <a:rPr lang="en-US" dirty="0" smtClean="0"/>
              <a:t>and </a:t>
            </a:r>
            <a:r>
              <a:rPr lang="en-US" dirty="0"/>
              <a:t>the operations that must be applied to manipulate the data. Communication </a:t>
            </a:r>
            <a:r>
              <a:rPr lang="en-US" dirty="0" smtClean="0"/>
              <a:t>and coordination </a:t>
            </a:r>
            <a:r>
              <a:rPr lang="en-US" dirty="0"/>
              <a:t>between components are accomplished via message passing</a:t>
            </a:r>
            <a:r>
              <a:rPr lang="en-US" dirty="0" smtClean="0"/>
              <a: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Styles</a:t>
            </a:r>
            <a:endParaRPr lang="en-US" dirty="0"/>
          </a:p>
        </p:txBody>
      </p:sp>
      <p:sp>
        <p:nvSpPr>
          <p:cNvPr id="3" name="Content Placeholder 2"/>
          <p:cNvSpPr>
            <a:spLocks noGrp="1"/>
          </p:cNvSpPr>
          <p:nvPr>
            <p:ph idx="1"/>
          </p:nvPr>
        </p:nvSpPr>
        <p:spPr>
          <a:xfrm>
            <a:off x="457200" y="1295400"/>
            <a:ext cx="8229600" cy="4830763"/>
          </a:xfrm>
        </p:spPr>
        <p:txBody>
          <a:bodyPr>
            <a:normAutofit/>
          </a:bodyPr>
          <a:lstStyle/>
          <a:p>
            <a:r>
              <a:rPr lang="en-US" sz="2000" b="1" dirty="0"/>
              <a:t>Layered architectures</a:t>
            </a:r>
            <a:r>
              <a:rPr lang="en-US" sz="2000" b="1" dirty="0" smtClean="0"/>
              <a:t>. </a:t>
            </a:r>
            <a:r>
              <a:rPr lang="en-US" sz="2000" dirty="0"/>
              <a:t>A number of different layers are defined, each accomplishing </a:t>
            </a:r>
            <a:r>
              <a:rPr lang="en-US" sz="2000" dirty="0" smtClean="0"/>
              <a:t>operations that </a:t>
            </a:r>
            <a:r>
              <a:rPr lang="en-US" sz="2000" dirty="0"/>
              <a:t>progressively become closer to the machine instruction set. At the </a:t>
            </a:r>
            <a:r>
              <a:rPr lang="en-US" sz="2000" dirty="0" smtClean="0"/>
              <a:t>outer layer</a:t>
            </a:r>
            <a:r>
              <a:rPr lang="en-US" sz="2000" dirty="0"/>
              <a:t>, components service user interface operations. At the inner layer, </a:t>
            </a:r>
            <a:r>
              <a:rPr lang="en-US" sz="2000" dirty="0" smtClean="0"/>
              <a:t>components perform </a:t>
            </a:r>
            <a:r>
              <a:rPr lang="en-US" sz="2000" dirty="0"/>
              <a:t>operating system interfacing. Intermediate layers provide utility </a:t>
            </a:r>
            <a:r>
              <a:rPr lang="en-US" sz="2000" dirty="0" smtClean="0"/>
              <a:t>services and </a:t>
            </a:r>
            <a:r>
              <a:rPr lang="en-US" sz="2000" dirty="0"/>
              <a:t>application software functions.</a:t>
            </a:r>
          </a:p>
        </p:txBody>
      </p:sp>
      <p:pic>
        <p:nvPicPr>
          <p:cNvPr id="4" name="Picture 3" descr="fig4.png"/>
          <p:cNvPicPr>
            <a:picLocks noChangeAspect="1"/>
          </p:cNvPicPr>
          <p:nvPr/>
        </p:nvPicPr>
        <p:blipFill>
          <a:blip r:embed="rId2"/>
          <a:stretch>
            <a:fillRect/>
          </a:stretch>
        </p:blipFill>
        <p:spPr>
          <a:xfrm>
            <a:off x="3200400" y="3104626"/>
            <a:ext cx="4906060" cy="37533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style</a:t>
            </a:r>
            <a:endParaRPr lang="en-US" dirty="0"/>
          </a:p>
        </p:txBody>
      </p:sp>
      <p:sp>
        <p:nvSpPr>
          <p:cNvPr id="3" name="Content Placeholder 2"/>
          <p:cNvSpPr>
            <a:spLocks noGrp="1"/>
          </p:cNvSpPr>
          <p:nvPr>
            <p:ph idx="1"/>
          </p:nvPr>
        </p:nvSpPr>
        <p:spPr/>
        <p:txBody>
          <a:bodyPr>
            <a:normAutofit fontScale="70000" lnSpcReduction="20000"/>
          </a:bodyPr>
          <a:lstStyle/>
          <a:p>
            <a:r>
              <a:rPr lang="en-US" dirty="0">
                <a:solidFill>
                  <a:srgbClr val="FF0000"/>
                </a:solidFill>
              </a:rPr>
              <a:t>Organization and </a:t>
            </a:r>
            <a:r>
              <a:rPr lang="en-US" dirty="0" smtClean="0">
                <a:solidFill>
                  <a:srgbClr val="FF0000"/>
                </a:solidFill>
              </a:rPr>
              <a:t>Refinement (</a:t>
            </a:r>
            <a:r>
              <a:rPr lang="en-US" dirty="0">
                <a:solidFill>
                  <a:srgbClr val="FF0000"/>
                </a:solidFill>
              </a:rPr>
              <a:t>detailed analysis of the architecture</a:t>
            </a:r>
            <a:r>
              <a:rPr lang="en-US" dirty="0" smtClean="0">
                <a:solidFill>
                  <a:srgbClr val="FF0000"/>
                </a:solidFill>
              </a:rPr>
              <a:t>.) </a:t>
            </a:r>
            <a:r>
              <a:rPr lang="en-US" dirty="0" smtClean="0"/>
              <a:t>- </a:t>
            </a:r>
            <a:r>
              <a:rPr lang="en-US" dirty="0"/>
              <a:t>to establish a set of design criteria that can be used to assess </a:t>
            </a:r>
            <a:r>
              <a:rPr lang="en-US" dirty="0" smtClean="0"/>
              <a:t>an architectural </a:t>
            </a:r>
            <a:r>
              <a:rPr lang="en-US" dirty="0"/>
              <a:t>design that is </a:t>
            </a:r>
            <a:r>
              <a:rPr lang="en-US" dirty="0" smtClean="0"/>
              <a:t>derived.</a:t>
            </a:r>
          </a:p>
          <a:p>
            <a:r>
              <a:rPr lang="en-US" dirty="0" smtClean="0"/>
              <a:t>Some of criteria to access are as follows:</a:t>
            </a:r>
          </a:p>
          <a:p>
            <a:pPr lvl="1"/>
            <a:r>
              <a:rPr lang="en-US" dirty="0"/>
              <a:t>How do components transfer control within the system?</a:t>
            </a:r>
          </a:p>
          <a:p>
            <a:pPr lvl="1"/>
            <a:r>
              <a:rPr lang="en-US" dirty="0"/>
              <a:t>How is control shared among components? </a:t>
            </a:r>
            <a:endParaRPr lang="en-US" dirty="0" smtClean="0"/>
          </a:p>
          <a:p>
            <a:pPr lvl="1"/>
            <a:r>
              <a:rPr lang="en-US" dirty="0" smtClean="0"/>
              <a:t>What </a:t>
            </a:r>
            <a:r>
              <a:rPr lang="en-US" dirty="0"/>
              <a:t>is the control </a:t>
            </a:r>
            <a:r>
              <a:rPr lang="en-US" dirty="0" smtClean="0"/>
              <a:t>topology (</a:t>
            </a:r>
            <a:r>
              <a:rPr lang="en-US" dirty="0"/>
              <a:t>i.e., the geometric form that the control takes)? </a:t>
            </a:r>
            <a:endParaRPr lang="en-US" dirty="0" smtClean="0"/>
          </a:p>
          <a:p>
            <a:pPr lvl="1"/>
            <a:r>
              <a:rPr lang="en-US" dirty="0" smtClean="0"/>
              <a:t>Is </a:t>
            </a:r>
            <a:r>
              <a:rPr lang="en-US" dirty="0"/>
              <a:t>control synchronized </a:t>
            </a:r>
            <a:r>
              <a:rPr lang="en-US" dirty="0" smtClean="0"/>
              <a:t>or do </a:t>
            </a:r>
            <a:r>
              <a:rPr lang="en-US" dirty="0"/>
              <a:t>components operate asynchronously</a:t>
            </a:r>
            <a:r>
              <a:rPr lang="en-US" dirty="0" smtClean="0"/>
              <a:t>?</a:t>
            </a:r>
          </a:p>
          <a:p>
            <a:pPr lvl="1"/>
            <a:r>
              <a:rPr lang="en-US" dirty="0"/>
              <a:t>How are data communicated between components</a:t>
            </a:r>
            <a:r>
              <a:rPr lang="en-US" dirty="0" smtClean="0"/>
              <a:t>?</a:t>
            </a:r>
          </a:p>
          <a:p>
            <a:pPr lvl="1"/>
            <a:r>
              <a:rPr lang="en-US" dirty="0" smtClean="0"/>
              <a:t>Do data </a:t>
            </a:r>
            <a:r>
              <a:rPr lang="en-US" dirty="0"/>
              <a:t>components (e.g., a blackboard or repository) exist, and if so, what </a:t>
            </a:r>
            <a:r>
              <a:rPr lang="en-US" dirty="0" smtClean="0"/>
              <a:t>is their </a:t>
            </a:r>
            <a:r>
              <a:rPr lang="en-US" dirty="0"/>
              <a:t>role</a:t>
            </a:r>
            <a:r>
              <a:rPr lang="en-US" dirty="0" smtClean="0"/>
              <a:t>?</a:t>
            </a:r>
          </a:p>
          <a:p>
            <a:pPr lvl="1"/>
            <a:r>
              <a:rPr lang="en-US" dirty="0"/>
              <a:t>How do data </a:t>
            </a:r>
            <a:r>
              <a:rPr lang="en-US" dirty="0" smtClean="0"/>
              <a:t>and control </a:t>
            </a:r>
            <a:r>
              <a:rPr lang="en-US" dirty="0"/>
              <a:t>interact within the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Layered architecture</a:t>
            </a:r>
            <a:endParaRPr lang="en-IN" dirty="0"/>
          </a:p>
        </p:txBody>
      </p:sp>
      <p:pic>
        <p:nvPicPr>
          <p:cNvPr id="1027" name="Picture 3"/>
          <p:cNvPicPr>
            <a:picLocks noGrp="1" noChangeAspect="1" noChangeArrowheads="1"/>
          </p:cNvPicPr>
          <p:nvPr>
            <p:ph idx="1"/>
          </p:nvPr>
        </p:nvPicPr>
        <p:blipFill>
          <a:blip r:embed="rId2"/>
          <a:srcRect/>
          <a:stretch>
            <a:fillRect/>
          </a:stretch>
        </p:blipFill>
        <p:spPr bwMode="auto">
          <a:xfrm>
            <a:off x="1876425" y="1818481"/>
            <a:ext cx="5391150" cy="4089400"/>
          </a:xfrm>
          <a:prstGeom prst="rect">
            <a:avLst/>
          </a:prstGeom>
          <a:noFill/>
          <a:ln w="9525">
            <a:noFill/>
            <a:miter lim="800000"/>
            <a:headEnd/>
            <a:tailEnd/>
          </a:ln>
          <a:effectLst/>
        </p:spPr>
      </p:pic>
      <p:sp>
        <p:nvSpPr>
          <p:cNvPr id="6" name="Rectangle 5"/>
          <p:cNvSpPr/>
          <p:nvPr/>
        </p:nvSpPr>
        <p:spPr>
          <a:xfrm>
            <a:off x="1143000" y="1219200"/>
            <a:ext cx="6705600" cy="646331"/>
          </a:xfrm>
          <a:prstGeom prst="rect">
            <a:avLst/>
          </a:prstGeom>
        </p:spPr>
        <p:txBody>
          <a:bodyPr wrap="square">
            <a:spAutoFit/>
          </a:bodyPr>
          <a:lstStyle/>
          <a:p>
            <a:r>
              <a:rPr lang="en-IN" dirty="0" smtClean="0"/>
              <a:t> </a:t>
            </a:r>
            <a:r>
              <a:rPr lang="en-IN" dirty="0" smtClean="0"/>
              <a:t>Is </a:t>
            </a:r>
            <a:r>
              <a:rPr lang="en-IN" dirty="0" smtClean="0"/>
              <a:t>the standard architecture used for most Java Enterprise applications</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client-server architecture</a:t>
            </a:r>
            <a:endParaRPr lang="en-IN" dirty="0"/>
          </a:p>
        </p:txBody>
      </p:sp>
      <p:sp>
        <p:nvSpPr>
          <p:cNvPr id="3" name="Content Placeholder 2"/>
          <p:cNvSpPr>
            <a:spLocks noGrp="1"/>
          </p:cNvSpPr>
          <p:nvPr>
            <p:ph idx="1"/>
          </p:nvPr>
        </p:nvSpPr>
        <p:spPr>
          <a:xfrm>
            <a:off x="457200" y="1600201"/>
            <a:ext cx="8229600" cy="1524000"/>
          </a:xfrm>
        </p:spPr>
        <p:txBody>
          <a:bodyPr>
            <a:normAutofit lnSpcReduction="10000"/>
          </a:bodyPr>
          <a:lstStyle/>
          <a:p>
            <a:r>
              <a:rPr lang="en-IN" dirty="0" smtClean="0"/>
              <a:t>classic examples of applications with a client-server architecture are the World Wide Web and email.</a:t>
            </a:r>
            <a:endParaRPr lang="en-IN" dirty="0"/>
          </a:p>
        </p:txBody>
      </p:sp>
      <p:pic>
        <p:nvPicPr>
          <p:cNvPr id="2050" name="Picture 2"/>
          <p:cNvPicPr>
            <a:picLocks noChangeAspect="1" noChangeArrowheads="1"/>
          </p:cNvPicPr>
          <p:nvPr/>
        </p:nvPicPr>
        <p:blipFill>
          <a:blip r:embed="rId2"/>
          <a:srcRect/>
          <a:stretch>
            <a:fillRect/>
          </a:stretch>
        </p:blipFill>
        <p:spPr bwMode="auto">
          <a:xfrm>
            <a:off x="1323975" y="2971799"/>
            <a:ext cx="5229225" cy="35718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Event-driven architecture</a:t>
            </a:r>
            <a:br>
              <a:rPr lang="en-IN" b="1" dirty="0" smtClean="0"/>
            </a:br>
            <a:endParaRPr lang="en-IN" dirty="0"/>
          </a:p>
        </p:txBody>
      </p:sp>
      <p:sp>
        <p:nvSpPr>
          <p:cNvPr id="3" name="Content Placeholder 2"/>
          <p:cNvSpPr>
            <a:spLocks noGrp="1"/>
          </p:cNvSpPr>
          <p:nvPr>
            <p:ph idx="1"/>
          </p:nvPr>
        </p:nvSpPr>
        <p:spPr/>
        <p:txBody>
          <a:bodyPr/>
          <a:lstStyle/>
          <a:p>
            <a:r>
              <a:rPr lang="en-IN" dirty="0" smtClean="0"/>
              <a:t>shopping cart on an e-commerce </a:t>
            </a:r>
            <a:r>
              <a:rPr lang="en-IN" dirty="0" smtClean="0"/>
              <a:t>website, </a:t>
            </a:r>
            <a:r>
              <a:rPr lang="en-IN" dirty="0" smtClean="0"/>
              <a:t> swiping of a credit </a:t>
            </a:r>
            <a:r>
              <a:rPr lang="en-IN" dirty="0" smtClean="0"/>
              <a:t>card, </a:t>
            </a:r>
            <a:r>
              <a:rPr lang="en-IN" dirty="0" smtClean="0"/>
              <a:t> Apache Kafka </a:t>
            </a:r>
            <a:r>
              <a:rPr lang="en-IN" dirty="0" smtClean="0"/>
              <a:t> tool</a:t>
            </a:r>
            <a:endParaRPr lang="en-IN" dirty="0"/>
          </a:p>
        </p:txBody>
      </p:sp>
      <p:pic>
        <p:nvPicPr>
          <p:cNvPr id="3074" name="Picture 2"/>
          <p:cNvPicPr>
            <a:picLocks noChangeAspect="1" noChangeArrowheads="1"/>
          </p:cNvPicPr>
          <p:nvPr/>
        </p:nvPicPr>
        <p:blipFill>
          <a:blip r:embed="rId2"/>
          <a:srcRect/>
          <a:stretch>
            <a:fillRect/>
          </a:stretch>
        </p:blipFill>
        <p:spPr bwMode="auto">
          <a:xfrm>
            <a:off x="1143000" y="3124200"/>
            <a:ext cx="5943600" cy="3224213"/>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Microkernel architecture</a:t>
            </a:r>
            <a:br>
              <a:rPr lang="en-IN" b="1" dirty="0" smtClean="0"/>
            </a:br>
            <a:endParaRPr lang="en-IN" dirty="0"/>
          </a:p>
        </p:txBody>
      </p:sp>
      <p:pic>
        <p:nvPicPr>
          <p:cNvPr id="4098" name="Picture 2"/>
          <p:cNvPicPr>
            <a:picLocks noGrp="1" noChangeAspect="1" noChangeArrowheads="1"/>
          </p:cNvPicPr>
          <p:nvPr>
            <p:ph idx="1"/>
          </p:nvPr>
        </p:nvPicPr>
        <p:blipFill>
          <a:blip r:embed="rId2"/>
          <a:srcRect/>
          <a:stretch>
            <a:fillRect/>
          </a:stretch>
        </p:blipFill>
        <p:spPr bwMode="auto">
          <a:xfrm>
            <a:off x="2362200" y="1600200"/>
            <a:ext cx="4165600" cy="1479550"/>
          </a:xfrm>
          <a:prstGeom prst="rect">
            <a:avLst/>
          </a:prstGeom>
          <a:noFill/>
          <a:ln w="9525">
            <a:noFill/>
            <a:miter lim="800000"/>
            <a:headEnd/>
            <a:tailEnd/>
          </a:ln>
          <a:effectLst/>
        </p:spPr>
      </p:pic>
      <p:sp>
        <p:nvSpPr>
          <p:cNvPr id="5" name="Rectangle 4"/>
          <p:cNvSpPr/>
          <p:nvPr/>
        </p:nvSpPr>
        <p:spPr>
          <a:xfrm>
            <a:off x="762000" y="3429000"/>
            <a:ext cx="7391400" cy="923330"/>
          </a:xfrm>
          <a:prstGeom prst="rect">
            <a:avLst/>
          </a:prstGeom>
        </p:spPr>
        <p:txBody>
          <a:bodyPr wrap="square">
            <a:spAutoFit/>
          </a:bodyPr>
          <a:lstStyle/>
          <a:p>
            <a:pPr marL="342900" indent="-342900">
              <a:buAutoNum type="arabicPeriod"/>
            </a:pPr>
            <a:r>
              <a:rPr lang="en-IN" dirty="0" smtClean="0"/>
              <a:t>Cold-air </a:t>
            </a:r>
            <a:r>
              <a:rPr lang="en-IN" dirty="0" smtClean="0"/>
              <a:t>intake to your car to boost its torque and horsepower</a:t>
            </a:r>
            <a:r>
              <a:rPr lang="en-IN" dirty="0" smtClean="0"/>
              <a:t>.</a:t>
            </a:r>
          </a:p>
          <a:p>
            <a:r>
              <a:rPr lang="en-IN" dirty="0" smtClean="0"/>
              <a:t>2.   Plug-in </a:t>
            </a:r>
            <a:r>
              <a:rPr lang="en-IN" dirty="0" smtClean="0"/>
              <a:t>components can be connected using an open service gateway initiative (</a:t>
            </a:r>
            <a:r>
              <a:rPr lang="en-IN" dirty="0" err="1" smtClean="0"/>
              <a:t>OSGi</a:t>
            </a:r>
            <a:r>
              <a:rPr lang="en-IN" dirty="0" smtClean="0"/>
              <a:t>), messaging, web services, or object instantiation.</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smtClean="0"/>
              <a:t>Microservices</a:t>
            </a:r>
            <a:r>
              <a:rPr lang="en-IN" b="1" dirty="0" smtClean="0"/>
              <a:t> architecture</a:t>
            </a:r>
            <a:br>
              <a:rPr lang="en-IN" b="1" dirty="0" smtClean="0"/>
            </a:br>
            <a:endParaRPr lang="en-IN" dirty="0"/>
          </a:p>
        </p:txBody>
      </p:sp>
      <p:sp>
        <p:nvSpPr>
          <p:cNvPr id="3" name="Content Placeholder 2"/>
          <p:cNvSpPr>
            <a:spLocks noGrp="1"/>
          </p:cNvSpPr>
          <p:nvPr>
            <p:ph idx="1"/>
          </p:nvPr>
        </p:nvSpPr>
        <p:spPr>
          <a:xfrm>
            <a:off x="457200" y="1143000"/>
            <a:ext cx="8229600" cy="4983163"/>
          </a:xfrm>
        </p:spPr>
        <p:txBody>
          <a:bodyPr/>
          <a:lstStyle/>
          <a:p>
            <a:r>
              <a:rPr lang="en-IN" dirty="0" smtClean="0"/>
              <a:t>Major companies like Amazon, Netflix, and </a:t>
            </a:r>
            <a:r>
              <a:rPr lang="en-IN" dirty="0" err="1" smtClean="0"/>
              <a:t>Spotify</a:t>
            </a:r>
            <a:r>
              <a:rPr lang="en-IN" dirty="0" smtClean="0"/>
              <a:t> can be found implementing this architecture.</a:t>
            </a:r>
            <a:endParaRPr lang="en-IN" dirty="0"/>
          </a:p>
        </p:txBody>
      </p:sp>
      <p:pic>
        <p:nvPicPr>
          <p:cNvPr id="5122" name="Picture 2"/>
          <p:cNvPicPr>
            <a:picLocks noChangeAspect="1" noChangeArrowheads="1"/>
          </p:cNvPicPr>
          <p:nvPr/>
        </p:nvPicPr>
        <p:blipFill>
          <a:blip r:embed="rId2"/>
          <a:srcRect/>
          <a:stretch>
            <a:fillRect/>
          </a:stretch>
        </p:blipFill>
        <p:spPr bwMode="auto">
          <a:xfrm>
            <a:off x="623888" y="2743200"/>
            <a:ext cx="7896225" cy="362902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Cloud-native architecture</a:t>
            </a:r>
            <a:br>
              <a:rPr lang="en-IN" b="1" dirty="0" smtClean="0"/>
            </a:br>
            <a:endParaRPr lang="en-IN" dirty="0"/>
          </a:p>
        </p:txBody>
      </p:sp>
      <p:sp>
        <p:nvSpPr>
          <p:cNvPr id="3" name="Content Placeholder 2"/>
          <p:cNvSpPr>
            <a:spLocks noGrp="1"/>
          </p:cNvSpPr>
          <p:nvPr>
            <p:ph idx="1"/>
          </p:nvPr>
        </p:nvSpPr>
        <p:spPr>
          <a:xfrm>
            <a:off x="457200" y="1600201"/>
            <a:ext cx="8229600" cy="1524000"/>
          </a:xfrm>
        </p:spPr>
        <p:txBody>
          <a:bodyPr/>
          <a:lstStyle/>
          <a:p>
            <a:r>
              <a:rPr lang="en-IN" dirty="0" smtClean="0"/>
              <a:t>best for social networking sites or any system that needs to handle massive spikes in traffic.</a:t>
            </a:r>
            <a:endParaRPr lang="en-IN" dirty="0"/>
          </a:p>
        </p:txBody>
      </p:sp>
      <p:pic>
        <p:nvPicPr>
          <p:cNvPr id="6147" name="Picture 3"/>
          <p:cNvPicPr>
            <a:picLocks noChangeAspect="1" noChangeArrowheads="1"/>
          </p:cNvPicPr>
          <p:nvPr/>
        </p:nvPicPr>
        <p:blipFill>
          <a:blip r:embed="rId2"/>
          <a:srcRect/>
          <a:stretch>
            <a:fillRect/>
          </a:stretch>
        </p:blipFill>
        <p:spPr bwMode="auto">
          <a:xfrm>
            <a:off x="0" y="3200400"/>
            <a:ext cx="4267200" cy="2971801"/>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a:srcRect/>
          <a:stretch>
            <a:fillRect/>
          </a:stretch>
        </p:blipFill>
        <p:spPr bwMode="auto">
          <a:xfrm>
            <a:off x="4495800" y="3276600"/>
            <a:ext cx="3857624" cy="2662238"/>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Amazon web services</a:t>
            </a:r>
            <a:endParaRPr lang="en-IN" dirty="0"/>
          </a:p>
        </p:txBody>
      </p:sp>
      <p:sp>
        <p:nvSpPr>
          <p:cNvPr id="3" name="Content Placeholder 2"/>
          <p:cNvSpPr>
            <a:spLocks noGrp="1"/>
          </p:cNvSpPr>
          <p:nvPr>
            <p:ph idx="1"/>
          </p:nvPr>
        </p:nvSpPr>
        <p:spPr>
          <a:xfrm>
            <a:off x="457200" y="1600201"/>
            <a:ext cx="8229600" cy="533400"/>
          </a:xfrm>
        </p:spPr>
        <p:txBody>
          <a:bodyPr>
            <a:normAutofit fontScale="62500" lnSpcReduction="20000"/>
          </a:bodyPr>
          <a:lstStyle/>
          <a:p>
            <a:r>
              <a:rPr lang="en-IN" dirty="0" smtClean="0"/>
              <a:t>Amazon Web Services is the most widely used cloud computing platform</a:t>
            </a:r>
            <a:endParaRPr lang="en-IN" dirty="0"/>
          </a:p>
        </p:txBody>
      </p:sp>
      <p:pic>
        <p:nvPicPr>
          <p:cNvPr id="7171" name="Picture 3"/>
          <p:cNvPicPr>
            <a:picLocks noChangeAspect="1" noChangeArrowheads="1"/>
          </p:cNvPicPr>
          <p:nvPr/>
        </p:nvPicPr>
        <p:blipFill>
          <a:blip r:embed="rId2"/>
          <a:srcRect/>
          <a:stretch>
            <a:fillRect/>
          </a:stretch>
        </p:blipFill>
        <p:spPr bwMode="auto">
          <a:xfrm>
            <a:off x="1524000" y="2362200"/>
            <a:ext cx="6362700" cy="407035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Microsoft Azure</a:t>
            </a:r>
            <a:br>
              <a:rPr lang="en-IN" b="1" dirty="0" smtClean="0"/>
            </a:br>
            <a:endParaRPr lang="en-IN" dirty="0"/>
          </a:p>
        </p:txBody>
      </p:sp>
      <p:sp>
        <p:nvSpPr>
          <p:cNvPr id="3" name="Content Placeholder 2"/>
          <p:cNvSpPr>
            <a:spLocks noGrp="1"/>
          </p:cNvSpPr>
          <p:nvPr>
            <p:ph idx="1"/>
          </p:nvPr>
        </p:nvSpPr>
        <p:spPr>
          <a:xfrm>
            <a:off x="533400" y="1143000"/>
            <a:ext cx="8229600" cy="990600"/>
          </a:xfrm>
        </p:spPr>
        <p:txBody>
          <a:bodyPr>
            <a:normAutofit lnSpcReduction="10000"/>
          </a:bodyPr>
          <a:lstStyle/>
          <a:p>
            <a:r>
              <a:rPr lang="en-IN" dirty="0" smtClean="0"/>
              <a:t>Uses </a:t>
            </a:r>
            <a:r>
              <a:rPr lang="en-IN" dirty="0" smtClean="0"/>
              <a:t>machine learning to create movie recommendations </a:t>
            </a:r>
            <a:endParaRPr lang="en-IN" dirty="0"/>
          </a:p>
        </p:txBody>
      </p:sp>
      <p:pic>
        <p:nvPicPr>
          <p:cNvPr id="8194" name="Picture 2"/>
          <p:cNvPicPr>
            <a:picLocks noChangeAspect="1" noChangeArrowheads="1"/>
          </p:cNvPicPr>
          <p:nvPr/>
        </p:nvPicPr>
        <p:blipFill>
          <a:blip r:embed="rId2"/>
          <a:srcRect/>
          <a:stretch>
            <a:fillRect/>
          </a:stretch>
        </p:blipFill>
        <p:spPr bwMode="auto">
          <a:xfrm>
            <a:off x="1371600" y="2362200"/>
            <a:ext cx="5991225" cy="37719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Google Cloud Platform (GCP)</a:t>
            </a:r>
            <a:br>
              <a:rPr lang="en-IN" b="1" dirty="0" smtClean="0"/>
            </a:br>
            <a:endParaRPr lang="en-IN" dirty="0"/>
          </a:p>
        </p:txBody>
      </p:sp>
      <p:sp>
        <p:nvSpPr>
          <p:cNvPr id="3" name="Content Placeholder 2"/>
          <p:cNvSpPr>
            <a:spLocks noGrp="1"/>
          </p:cNvSpPr>
          <p:nvPr>
            <p:ph idx="1"/>
          </p:nvPr>
        </p:nvSpPr>
        <p:spPr>
          <a:xfrm>
            <a:off x="457200" y="1600201"/>
            <a:ext cx="8229600" cy="685800"/>
          </a:xfrm>
        </p:spPr>
        <p:txBody>
          <a:bodyPr>
            <a:normAutofit fontScale="70000" lnSpcReduction="20000"/>
          </a:bodyPr>
          <a:lstStyle/>
          <a:p>
            <a:r>
              <a:rPr lang="en-IN" dirty="0" smtClean="0"/>
              <a:t>Collection </a:t>
            </a:r>
            <a:r>
              <a:rPr lang="en-IN" dirty="0" smtClean="0"/>
              <a:t>of cloud computing services and the third-largest </a:t>
            </a:r>
            <a:r>
              <a:rPr lang="en-IN" dirty="0" err="1" smtClean="0"/>
              <a:t>IaaS</a:t>
            </a:r>
            <a:r>
              <a:rPr lang="en-IN" dirty="0" smtClean="0"/>
              <a:t> provider</a:t>
            </a:r>
            <a:endParaRPr lang="en-IN" dirty="0"/>
          </a:p>
        </p:txBody>
      </p:sp>
      <p:pic>
        <p:nvPicPr>
          <p:cNvPr id="9218" name="Picture 2"/>
          <p:cNvPicPr>
            <a:picLocks noChangeAspect="1" noChangeArrowheads="1"/>
          </p:cNvPicPr>
          <p:nvPr/>
        </p:nvPicPr>
        <p:blipFill>
          <a:blip r:embed="rId2"/>
          <a:srcRect/>
          <a:stretch>
            <a:fillRect/>
          </a:stretch>
        </p:blipFill>
        <p:spPr bwMode="auto">
          <a:xfrm>
            <a:off x="1371600" y="2286000"/>
            <a:ext cx="6413500" cy="368935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normAutofit fontScale="92500"/>
          </a:bodyPr>
          <a:lstStyle/>
          <a:p>
            <a:r>
              <a:rPr lang="en-IN" dirty="0" smtClean="0"/>
              <a:t>A decentralized architecture is one where most of the network functions and resources are distributed among multiple nodes, such as peer-to-peer devices or edge computing devices</a:t>
            </a:r>
            <a:r>
              <a:rPr lang="en-IN" dirty="0" smtClean="0"/>
              <a:t>.</a:t>
            </a:r>
          </a:p>
          <a:p>
            <a:r>
              <a:rPr lang="en-IN" dirty="0" smtClean="0"/>
              <a:t>The World Wide Web was originally developed as a decentralized platform</a:t>
            </a:r>
            <a:r>
              <a:rPr lang="en-IN" dirty="0" smtClean="0"/>
              <a:t>.</a:t>
            </a:r>
          </a:p>
          <a:p>
            <a:r>
              <a:rPr lang="en-IN" dirty="0" err="1" smtClean="0"/>
              <a:t>Blockchain</a:t>
            </a:r>
            <a:r>
              <a:rPr lang="en-IN" dirty="0" smtClean="0"/>
              <a:t> </a:t>
            </a:r>
            <a:r>
              <a:rPr lang="en-IN" dirty="0" smtClean="0"/>
              <a:t>technologies such as </a:t>
            </a:r>
            <a:r>
              <a:rPr lang="en-IN" dirty="0" err="1" smtClean="0"/>
              <a:t>Bitcoin</a:t>
            </a:r>
            <a:r>
              <a:rPr lang="en-IN" dirty="0" smtClean="0"/>
              <a:t> and </a:t>
            </a:r>
            <a:r>
              <a:rPr lang="en-IN" dirty="0" err="1" smtClean="0"/>
              <a:t>Ethereum</a:t>
            </a:r>
            <a:r>
              <a:rPr lang="en-IN" dirty="0" smtClean="0"/>
              <a:t> are examples of decentralized architectures and systems.</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Decentralized architecture</a:t>
            </a:r>
            <a:endParaRPr lang="en-IN"/>
          </a:p>
        </p:txBody>
      </p:sp>
      <p:sp>
        <p:nvSpPr>
          <p:cNvPr id="3" name="Content Placeholder 2"/>
          <p:cNvSpPr>
            <a:spLocks noGrp="1"/>
          </p:cNvSpPr>
          <p:nvPr>
            <p:ph idx="1"/>
          </p:nvPr>
        </p:nvSpPr>
        <p:spPr>
          <a:xfrm>
            <a:off x="457200" y="1600201"/>
            <a:ext cx="8229600" cy="228600"/>
          </a:xfrm>
        </p:spPr>
        <p:txBody>
          <a:bodyPr>
            <a:normAutofit fontScale="32500" lnSpcReduction="20000"/>
          </a:bodyPr>
          <a:lstStyle/>
          <a:p>
            <a:endParaRPr lang="en-IN" dirty="0"/>
          </a:p>
        </p:txBody>
      </p:sp>
      <p:pic>
        <p:nvPicPr>
          <p:cNvPr id="11267" name="Picture 3"/>
          <p:cNvPicPr>
            <a:picLocks noChangeAspect="1" noChangeArrowheads="1"/>
          </p:cNvPicPr>
          <p:nvPr/>
        </p:nvPicPr>
        <p:blipFill>
          <a:blip r:embed="rId2"/>
          <a:srcRect/>
          <a:stretch>
            <a:fillRect/>
          </a:stretch>
        </p:blipFill>
        <p:spPr bwMode="auto">
          <a:xfrm>
            <a:off x="1412875" y="1898650"/>
            <a:ext cx="6318250" cy="30607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lstStyle/>
          <a:p>
            <a:endParaRPr lang="en-IN" dirty="0"/>
          </a:p>
        </p:txBody>
      </p:sp>
      <p:pic>
        <p:nvPicPr>
          <p:cNvPr id="10242" name="Picture 2"/>
          <p:cNvPicPr>
            <a:picLocks noChangeAspect="1" noChangeArrowheads="1"/>
          </p:cNvPicPr>
          <p:nvPr/>
        </p:nvPicPr>
        <p:blipFill>
          <a:blip r:embed="rId2"/>
          <a:srcRect/>
          <a:stretch>
            <a:fillRect/>
          </a:stretch>
        </p:blipFill>
        <p:spPr bwMode="auto">
          <a:xfrm>
            <a:off x="1828800" y="1676400"/>
            <a:ext cx="5010150" cy="39624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lstStyle/>
          <a:p>
            <a:r>
              <a:rPr lang="en-IN" dirty="0" smtClean="0"/>
              <a:t>Decentralization is the distribution of functions, control and information instead of centralizing them in a single entity</a:t>
            </a:r>
            <a:r>
              <a:rPr lang="en-IN" dirty="0" smtClean="0"/>
              <a:t>.</a:t>
            </a:r>
          </a:p>
          <a:p>
            <a:r>
              <a:rPr lang="en-IN" dirty="0" smtClean="0"/>
              <a:t>Decentralized means that there is no single point where the decision is made. Every node makes a decision for it's own behaviour and the resulting system behaviour is the aggregate response.</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lstStyle/>
          <a:p>
            <a:r>
              <a:rPr lang="en-IN" dirty="0" smtClean="0"/>
              <a:t>This makes it more difficult for hackers to compromise the system and steal sensitive data. Additionally, a decentralized architecture offers greater resilience, as the network can continue to function even if individual nodes fail or drop out. This makes the system more reliable and less prone to downtime.</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lstStyle/>
          <a:p>
            <a:r>
              <a:rPr lang="en-IN" dirty="0" smtClean="0"/>
              <a:t>Features:</a:t>
            </a:r>
          </a:p>
          <a:p>
            <a:pPr lvl="1"/>
            <a:r>
              <a:rPr lang="en-IN" dirty="0" smtClean="0"/>
              <a:t>Delegation </a:t>
            </a:r>
            <a:r>
              <a:rPr lang="en-IN" dirty="0" smtClean="0"/>
              <a:t>of authority to lower management.</a:t>
            </a:r>
          </a:p>
          <a:p>
            <a:pPr lvl="1"/>
            <a:r>
              <a:rPr lang="en-IN" dirty="0" smtClean="0"/>
              <a:t>Faster response time.</a:t>
            </a:r>
          </a:p>
          <a:p>
            <a:pPr lvl="1"/>
            <a:r>
              <a:rPr lang="en-IN" dirty="0" smtClean="0"/>
              <a:t>Quick decision making.</a:t>
            </a:r>
          </a:p>
          <a:p>
            <a:pPr lvl="1"/>
            <a:r>
              <a:rPr lang="en-IN" dirty="0" smtClean="0"/>
              <a:t>Development of individual departments.</a:t>
            </a:r>
          </a:p>
          <a:p>
            <a:pPr lvl="1"/>
            <a:r>
              <a:rPr lang="en-IN" dirty="0" smtClean="0"/>
              <a:t>Employee engagement and development.</a:t>
            </a:r>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lstStyle/>
          <a:p>
            <a:r>
              <a:rPr lang="en-IN" dirty="0" smtClean="0"/>
              <a:t>Improved </a:t>
            </a:r>
            <a:r>
              <a:rPr lang="en-IN" dirty="0" smtClean="0"/>
              <a:t>fault tolerance: Decentralized systems are designed to be fault tolerant, meaning that if one or more nodes fail, the system can still continue to function. This is because the workload is distributed across multiple nodes, rather than relying on a single point of failure</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Decentralized architecture</a:t>
            </a:r>
            <a:endParaRPr lang="en-IN" dirty="0"/>
          </a:p>
        </p:txBody>
      </p:sp>
      <p:sp>
        <p:nvSpPr>
          <p:cNvPr id="3" name="Content Placeholder 2"/>
          <p:cNvSpPr>
            <a:spLocks noGrp="1"/>
          </p:cNvSpPr>
          <p:nvPr>
            <p:ph idx="1"/>
          </p:nvPr>
        </p:nvSpPr>
        <p:spPr/>
        <p:txBody>
          <a:bodyPr/>
          <a:lstStyle/>
          <a:p>
            <a:r>
              <a:rPr lang="en-IN" dirty="0" smtClean="0"/>
              <a:t>The Internet and World Wide Web were conceived as decentralized technologies. </a:t>
            </a:r>
          </a:p>
          <a:p>
            <a:r>
              <a:rPr lang="en-IN" dirty="0" err="1" smtClean="0"/>
              <a:t>Ethereum</a:t>
            </a:r>
            <a:r>
              <a:rPr lang="en-IN" dirty="0" smtClean="0"/>
              <a:t> is an example of a distributed computing platform and operating system that can run any decentralized application;</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467</TotalTime>
  <Words>985</Words>
  <Application>Microsoft Office PowerPoint</Application>
  <PresentationFormat>On-screen Show (4:3)</PresentationFormat>
  <Paragraphs>96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Architectural Design</vt:lpstr>
      <vt:lpstr>Outline</vt:lpstr>
      <vt:lpstr>Architecture</vt:lpstr>
      <vt:lpstr>Architecture Styles</vt:lpstr>
      <vt:lpstr>Architectural styles</vt:lpstr>
      <vt:lpstr>Architectural styles</vt:lpstr>
      <vt:lpstr>Architectural Styles</vt:lpstr>
      <vt:lpstr>Architectural Styles</vt:lpstr>
      <vt:lpstr>Architectural Styles</vt:lpstr>
      <vt:lpstr>Architectural style</vt:lpstr>
      <vt:lpstr>Layered architecture</vt:lpstr>
      <vt:lpstr>client-server architecture</vt:lpstr>
      <vt:lpstr>Event-driven architecture </vt:lpstr>
      <vt:lpstr>Microkernel architecture </vt:lpstr>
      <vt:lpstr>Microservices architecture </vt:lpstr>
      <vt:lpstr>Cloud-native architecture </vt:lpstr>
      <vt:lpstr>Amazon web services</vt:lpstr>
      <vt:lpstr>Microsoft Azure </vt:lpstr>
      <vt:lpstr>Google Cloud Platform (GCP) </vt:lpstr>
      <vt:lpstr>Decentralized architecture</vt:lpstr>
      <vt:lpstr>Decentralized architecture</vt:lpstr>
      <vt:lpstr>Decentralized architecture</vt:lpstr>
      <vt:lpstr>Decentralized architecture</vt:lpstr>
      <vt:lpstr>Decentralized architecture</vt:lpstr>
      <vt:lpstr>Decentralized architecture</vt:lpstr>
      <vt:lpstr>Decentralized architecture</vt:lpstr>
      <vt:lpstr>Decentralized architecture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Design</dc:title>
  <dc:creator>chamu</dc:creator>
  <cp:lastModifiedBy>SSN</cp:lastModifiedBy>
  <cp:revision>54</cp:revision>
  <dcterms:created xsi:type="dcterms:W3CDTF">2017-03-14T07:01:07Z</dcterms:created>
  <dcterms:modified xsi:type="dcterms:W3CDTF">2023-10-12T05:41:14Z</dcterms:modified>
</cp:coreProperties>
</file>