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518283"/>
            <a:ext cx="8707755" cy="2540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7210" y="2875359"/>
            <a:ext cx="7483475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II:</a:t>
            </a:r>
            <a:r>
              <a:rPr sz="35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Liquid Crystal</a:t>
            </a:r>
            <a:r>
              <a:rPr sz="3500" b="1" spc="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Display (LCD)</a:t>
            </a:r>
            <a:endParaRPr sz="3500" dirty="0">
              <a:latin typeface="Verdana"/>
              <a:cs typeface="Verdana"/>
            </a:endParaRPr>
          </a:p>
          <a:p>
            <a:pPr marL="2407920" marR="2399665" algn="ctr">
              <a:lnSpc>
                <a:spcPct val="121600"/>
              </a:lnSpc>
              <a:spcBef>
                <a:spcPts val="3254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GB" sz="2500" smtClean="0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500" dirty="0">
              <a:latin typeface="Verdana"/>
              <a:cs typeface="Verdana"/>
            </a:endParaRPr>
          </a:p>
          <a:p>
            <a:pPr marL="1076325" marR="106616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28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To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principles, operation, and advantages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spc="-20" dirty="0">
                <a:latin typeface="Verdana"/>
                <a:cs typeface="Verdana"/>
              </a:rPr>
              <a:t>LCD.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6154" y="426127"/>
            <a:ext cx="98444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Electronic</a:t>
            </a:r>
            <a:r>
              <a:rPr spc="-75" dirty="0"/>
              <a:t> </a:t>
            </a:r>
            <a:r>
              <a:rPr spc="-10" dirty="0"/>
              <a:t>Displays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02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displays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essential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communicating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data 	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transducers.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spc="-35" dirty="0">
                <a:latin typeface="Verdana"/>
                <a:cs typeface="Verdana"/>
              </a:rPr>
              <a:t>Two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dominant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technologies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currently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market:</a:t>
            </a:r>
            <a:endParaRPr sz="2200">
              <a:latin typeface="Verdana"/>
              <a:cs typeface="Verdana"/>
            </a:endParaRPr>
          </a:p>
          <a:p>
            <a:pPr marL="138684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8684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LED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(Light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Emitting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Diode)</a:t>
            </a:r>
            <a:endParaRPr sz="2200">
              <a:latin typeface="Verdana"/>
              <a:cs typeface="Verdana"/>
            </a:endParaRPr>
          </a:p>
          <a:p>
            <a:pPr marL="138684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8684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LCD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(Liquid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Display)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246505" algn="l"/>
                <a:tab pos="3290570" algn="l"/>
                <a:tab pos="4618355" algn="l"/>
                <a:tab pos="5251450" algn="l"/>
                <a:tab pos="5990590" algn="l"/>
                <a:tab pos="6880225" algn="l"/>
                <a:tab pos="8132445" algn="l"/>
              </a:tabLst>
            </a:pP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presentation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focuses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shift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toward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0" dirty="0">
                <a:latin typeface="Verdana"/>
                <a:cs typeface="Verdana"/>
              </a:rPr>
              <a:t>LCD 	</a:t>
            </a:r>
            <a:r>
              <a:rPr sz="2200" dirty="0">
                <a:latin typeface="Verdana"/>
                <a:cs typeface="Verdana"/>
              </a:rPr>
              <a:t>technology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portable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devices.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4872" y="124572"/>
            <a:ext cx="893127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7945" marR="5080" indent="-2595880">
              <a:lnSpc>
                <a:spcPct val="1002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5" dirty="0"/>
              <a:t> </a:t>
            </a:r>
            <a:r>
              <a:rPr dirty="0"/>
              <a:t>Problem</a:t>
            </a:r>
            <a:r>
              <a:rPr spc="-5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LEDs</a:t>
            </a:r>
            <a:r>
              <a:rPr spc="1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Power Consumption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675295"/>
            <a:ext cx="8708390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LEDs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consume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significant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power.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7-</a:t>
            </a:r>
            <a:r>
              <a:rPr sz="2200" dirty="0">
                <a:latin typeface="Verdana"/>
                <a:cs typeface="Verdana"/>
              </a:rPr>
              <a:t>segment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15–</a:t>
            </a:r>
            <a:r>
              <a:rPr sz="2200" dirty="0">
                <a:latin typeface="Verdana"/>
                <a:cs typeface="Verdana"/>
              </a:rPr>
              <a:t>20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per 	</a:t>
            </a:r>
            <a:r>
              <a:rPr sz="2200" spc="-10" dirty="0">
                <a:latin typeface="Verdana"/>
                <a:cs typeface="Verdana"/>
              </a:rPr>
              <a:t>segment.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62530" algn="l"/>
                <a:tab pos="4195445" algn="l"/>
                <a:tab pos="4681220" algn="l"/>
                <a:tab pos="6273165" algn="l"/>
                <a:tab pos="754824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Worst-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case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scenario: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four-</a:t>
            </a:r>
            <a:r>
              <a:rPr sz="2200" spc="-10" dirty="0">
                <a:latin typeface="Verdana"/>
                <a:cs typeface="Verdana"/>
              </a:rPr>
              <a:t>digit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display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showing 	</a:t>
            </a:r>
            <a:r>
              <a:rPr sz="2200" dirty="0">
                <a:latin typeface="Verdana"/>
                <a:cs typeface="Verdana"/>
              </a:rPr>
              <a:t>"8888"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consume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least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420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mA.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26840" y="426127"/>
            <a:ext cx="640461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LED</a:t>
            </a:r>
            <a:r>
              <a:rPr spc="-10" dirty="0"/>
              <a:t> </a:t>
            </a:r>
            <a:r>
              <a:rPr dirty="0"/>
              <a:t>Power</a:t>
            </a:r>
            <a:r>
              <a:rPr spc="-30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048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levels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420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acceptable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mains-</a:t>
            </a:r>
            <a:r>
              <a:rPr sz="2200" spc="-10" dirty="0">
                <a:latin typeface="Verdana"/>
                <a:cs typeface="Verdana"/>
              </a:rPr>
              <a:t>powered 	equipment.</a:t>
            </a:r>
            <a:endParaRPr sz="2200">
              <a:latin typeface="Verdana"/>
              <a:cs typeface="Verdana"/>
            </a:endParaRPr>
          </a:p>
          <a:p>
            <a:pPr marL="389255" marR="762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consumption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"out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question"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standard 	</a:t>
            </a:r>
            <a:r>
              <a:rPr sz="2200" spc="-25" dirty="0">
                <a:latin typeface="Verdana"/>
                <a:cs typeface="Verdana"/>
              </a:rPr>
              <a:t>battery-</a:t>
            </a:r>
            <a:r>
              <a:rPr sz="2200" dirty="0">
                <a:latin typeface="Verdana"/>
                <a:cs typeface="Verdana"/>
              </a:rPr>
              <a:t>operated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Exceptions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include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displays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secondary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cells,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which 	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turn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ignition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off.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33714" y="426127"/>
            <a:ext cx="8191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LCDs</a:t>
            </a:r>
            <a:r>
              <a:rPr spc="-3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Portable</a:t>
            </a:r>
            <a:r>
              <a:rPr spc="-25" dirty="0"/>
              <a:t> </a:t>
            </a:r>
            <a:r>
              <a:rPr spc="-10" dirty="0"/>
              <a:t>Gear?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331" y="1477158"/>
            <a:ext cx="536384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388745" algn="l"/>
                <a:tab pos="2133600" algn="l"/>
                <a:tab pos="2877820" algn="l"/>
                <a:tab pos="4470400" algn="l"/>
              </a:tabLst>
            </a:pPr>
            <a:r>
              <a:rPr sz="2200" spc="-20" dirty="0">
                <a:latin typeface="Verdana"/>
                <a:cs typeface="Verdana"/>
              </a:rPr>
              <a:t>LCDs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preferred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choice 	equipment.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applications: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Pocket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calculators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Portable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computers/laptops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Digital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voltmeters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731" y="1645391"/>
            <a:ext cx="30803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0245" algn="l"/>
              </a:tabLst>
            </a:pP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battery-</a:t>
            </a:r>
            <a:r>
              <a:rPr sz="2200" spc="-10" dirty="0">
                <a:latin typeface="Verdana"/>
                <a:cs typeface="Verdana"/>
              </a:rPr>
              <a:t>operated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05856" y="426127"/>
            <a:ext cx="784923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"Liquid</a:t>
            </a:r>
            <a:r>
              <a:rPr spc="-40" dirty="0"/>
              <a:t> </a:t>
            </a:r>
            <a:r>
              <a:rPr spc="-10" dirty="0"/>
              <a:t>Crystals"?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1323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The</a:t>
            </a:r>
            <a:r>
              <a:rPr spc="80" dirty="0"/>
              <a:t> </a:t>
            </a:r>
            <a:r>
              <a:rPr dirty="0"/>
              <a:t>name</a:t>
            </a:r>
            <a:r>
              <a:rPr spc="8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bit</a:t>
            </a:r>
            <a:r>
              <a:rPr spc="7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misnomer:</a:t>
            </a:r>
            <a:r>
              <a:rPr spc="85" dirty="0"/>
              <a:t> </a:t>
            </a:r>
            <a:r>
              <a:rPr dirty="0"/>
              <a:t>they</a:t>
            </a:r>
            <a:r>
              <a:rPr spc="70" dirty="0"/>
              <a:t> </a:t>
            </a:r>
            <a:r>
              <a:rPr dirty="0"/>
              <a:t>are</a:t>
            </a:r>
            <a:r>
              <a:rPr spc="80" dirty="0"/>
              <a:t> </a:t>
            </a:r>
            <a:r>
              <a:rPr dirty="0"/>
              <a:t>not</a:t>
            </a:r>
            <a:r>
              <a:rPr spc="70" dirty="0"/>
              <a:t> </a:t>
            </a:r>
            <a:r>
              <a:rPr spc="-10" dirty="0"/>
              <a:t>necessarily 	</a:t>
            </a:r>
            <a:r>
              <a:rPr dirty="0"/>
              <a:t>liquids</a:t>
            </a:r>
            <a:r>
              <a:rPr spc="-6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definitely</a:t>
            </a:r>
            <a:r>
              <a:rPr spc="-40" dirty="0"/>
              <a:t> </a:t>
            </a:r>
            <a:r>
              <a:rPr dirty="0"/>
              <a:t>not</a:t>
            </a:r>
            <a:r>
              <a:rPr spc="-50" dirty="0"/>
              <a:t> </a:t>
            </a:r>
            <a:r>
              <a:rPr spc="-10" dirty="0"/>
              <a:t>crystals.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term</a:t>
            </a:r>
            <a:r>
              <a:rPr spc="5" dirty="0"/>
              <a:t> </a:t>
            </a:r>
            <a:r>
              <a:rPr dirty="0"/>
              <a:t>refers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organic</a:t>
            </a:r>
            <a:r>
              <a:rPr b="1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materials</a:t>
            </a:r>
            <a:r>
              <a:rPr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(chemicals</a:t>
            </a:r>
            <a:r>
              <a:rPr spc="-15" dirty="0"/>
              <a:t> </a:t>
            </a:r>
            <a:r>
              <a:rPr dirty="0"/>
              <a:t>found</a:t>
            </a:r>
            <a:r>
              <a:rPr spc="-20" dirty="0"/>
              <a:t> </a:t>
            </a:r>
            <a:r>
              <a:rPr spc="-25" dirty="0"/>
              <a:t>in 	</a:t>
            </a:r>
            <a:r>
              <a:rPr dirty="0"/>
              <a:t>living</a:t>
            </a:r>
            <a:r>
              <a:rPr spc="-65" dirty="0"/>
              <a:t> </a:t>
            </a:r>
            <a:r>
              <a:rPr dirty="0"/>
              <a:t>organisms)</a:t>
            </a:r>
            <a:r>
              <a:rPr spc="-4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unique</a:t>
            </a:r>
            <a:r>
              <a:rPr spc="-70" dirty="0"/>
              <a:t> </a:t>
            </a:r>
            <a:r>
              <a:rPr dirty="0"/>
              <a:t>chemical</a:t>
            </a:r>
            <a:r>
              <a:rPr spc="-40" dirty="0"/>
              <a:t> </a:t>
            </a:r>
            <a:r>
              <a:rPr spc="-10" dirty="0"/>
              <a:t>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6932" y="426127"/>
            <a:ext cx="91852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Solid</a:t>
            </a:r>
            <a:r>
              <a:rPr spc="-35" dirty="0"/>
              <a:t> </a:t>
            </a:r>
            <a:r>
              <a:rPr dirty="0"/>
              <a:t>Crystals</a:t>
            </a:r>
            <a:r>
              <a:rPr spc="-35" dirty="0"/>
              <a:t> </a:t>
            </a:r>
            <a:r>
              <a:rPr dirty="0"/>
              <a:t>vs.</a:t>
            </a:r>
            <a:r>
              <a:rPr spc="-25" dirty="0"/>
              <a:t> </a:t>
            </a:r>
            <a:r>
              <a:rPr dirty="0"/>
              <a:t>Liquid</a:t>
            </a:r>
            <a:r>
              <a:rPr spc="-20" dirty="0"/>
              <a:t> </a:t>
            </a:r>
            <a:r>
              <a:rPr spc="-10" dirty="0"/>
              <a:t>Crystals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175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Solid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Crystals: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Precise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atomic</a:t>
            </a:r>
            <a:r>
              <a:rPr sz="2200" spc="-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order,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hard,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melting 	</a:t>
            </a:r>
            <a:r>
              <a:rPr sz="2200" dirty="0">
                <a:latin typeface="Verdana"/>
                <a:cs typeface="Verdana"/>
              </a:rPr>
              <a:t>point,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polarize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Liquid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Crystals: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Units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contain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hundreds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thousands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atoms,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enough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interaction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exists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create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structure, 	</a:t>
            </a:r>
            <a:r>
              <a:rPr sz="2200" dirty="0">
                <a:latin typeface="Verdana"/>
                <a:cs typeface="Verdana"/>
              </a:rPr>
              <a:t>especially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viscous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32270" y="426127"/>
            <a:ext cx="55949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Molecular</a:t>
            </a:r>
            <a:r>
              <a:rPr spc="-7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12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cholesterol)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consist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long 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chains.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When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chains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arranged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line,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material 	</a:t>
            </a:r>
            <a:r>
              <a:rPr sz="2200" dirty="0">
                <a:latin typeface="Verdana"/>
                <a:cs typeface="Verdana"/>
              </a:rPr>
              <a:t>polarizes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strongly.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In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electronics,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whose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chains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align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</a:t>
            </a:r>
            <a:endParaRPr sz="220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20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electrostatic</a:t>
            </a:r>
            <a:r>
              <a:rPr sz="22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field.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31177" y="426127"/>
            <a:ext cx="69977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LCD</a:t>
            </a:r>
            <a:r>
              <a:rPr spc="-50" dirty="0"/>
              <a:t> </a:t>
            </a:r>
            <a:r>
              <a:rPr dirty="0"/>
              <a:t>Electrical</a:t>
            </a:r>
            <a:r>
              <a:rPr spc="-40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3"/>
            <a:ext cx="8709660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non-conductive.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Aligning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chains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field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causes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no</a:t>
            </a:r>
            <a:r>
              <a:rPr sz="2200" b="1" spc="22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current 	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flow.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lack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flow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secret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incredibly 	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consumption.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7111" y="426127"/>
            <a:ext cx="77666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LCD</a:t>
            </a:r>
            <a:r>
              <a:rPr spc="-20" dirty="0"/>
              <a:t> </a:t>
            </a:r>
            <a:r>
              <a:rPr dirty="0"/>
              <a:t>Cell</a:t>
            </a:r>
            <a:r>
              <a:rPr spc="-65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322945" cy="475170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An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LCD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consists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of:</a:t>
            </a:r>
            <a:endParaRPr sz="2200">
              <a:latin typeface="Verdana"/>
              <a:cs typeface="Verdana"/>
            </a:endParaRPr>
          </a:p>
          <a:p>
            <a:pPr marL="892175" lvl="1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17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Sets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of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electrodes.</a:t>
            </a:r>
            <a:endParaRPr sz="2200">
              <a:latin typeface="Verdana"/>
              <a:cs typeface="Verdana"/>
            </a:endParaRPr>
          </a:p>
          <a:p>
            <a:pPr marL="892175" lvl="1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17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Liquid</a:t>
            </a:r>
            <a:r>
              <a:rPr sz="2200" b="1" spc="-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crystal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material</a:t>
            </a:r>
            <a:r>
              <a:rPr sz="2200" b="1" spc="-3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covering</a:t>
            </a:r>
            <a:r>
              <a:rPr sz="2200" b="1" spc="-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the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electrodes.</a:t>
            </a:r>
            <a:endParaRPr sz="2200">
              <a:latin typeface="Verdana"/>
              <a:cs typeface="Verdana"/>
            </a:endParaRPr>
          </a:p>
          <a:p>
            <a:pPr marL="892175" lvl="1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17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A</a:t>
            </a:r>
            <a:r>
              <a:rPr sz="2200" b="1" spc="-5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transparent</a:t>
            </a:r>
            <a:r>
              <a:rPr sz="2200" b="1" spc="1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enclosing</a:t>
            </a:r>
            <a:r>
              <a:rPr sz="2200" b="1" spc="-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wall</a:t>
            </a:r>
            <a:r>
              <a:rPr sz="2200" b="1" spc="-4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(front).</a:t>
            </a:r>
            <a:endParaRPr sz="2200">
              <a:latin typeface="Verdana"/>
              <a:cs typeface="Verdana"/>
            </a:endParaRPr>
          </a:p>
          <a:p>
            <a:pPr marL="892175" lvl="1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17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A</a:t>
            </a:r>
            <a:r>
              <a:rPr sz="2200" b="1" spc="-4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reflective</a:t>
            </a:r>
            <a:r>
              <a:rPr sz="2200" b="1" spc="-1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backplate.</a:t>
            </a:r>
            <a:endParaRPr sz="2200">
              <a:latin typeface="Verdana"/>
              <a:cs typeface="Verdana"/>
            </a:endParaRPr>
          </a:p>
          <a:p>
            <a:pPr marL="389255" marR="37465" indent="-377190" algn="just">
              <a:lnSpc>
                <a:spcPct val="150000"/>
              </a:lnSpc>
              <a:spcBef>
                <a:spcPts val="157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Liquid</a:t>
            </a:r>
            <a:r>
              <a:rPr sz="2200" b="1" spc="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Crystals:</a:t>
            </a:r>
            <a:r>
              <a:rPr sz="2200" b="1" spc="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Organic</a:t>
            </a:r>
            <a:r>
              <a:rPr sz="2200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compounds</a:t>
            </a:r>
            <a:r>
              <a:rPr sz="2200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that</a:t>
            </a:r>
            <a:r>
              <a:rPr sz="2200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exhibit</a:t>
            </a:r>
            <a:r>
              <a:rPr sz="2200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Verdana"/>
                <a:cs typeface="Verdana"/>
              </a:rPr>
              <a:t>both 	</a:t>
            </a:r>
            <a:r>
              <a:rPr sz="2200" spc="-10" dirty="0">
                <a:solidFill>
                  <a:srgbClr val="FF0000"/>
                </a:solidFill>
                <a:latin typeface="Verdana"/>
                <a:cs typeface="Verdana"/>
              </a:rPr>
              <a:t>solid-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like</a:t>
            </a:r>
            <a:r>
              <a:rPr sz="2200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order</a:t>
            </a:r>
            <a:r>
              <a:rPr sz="2200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2200" spc="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Verdana"/>
                <a:cs typeface="Verdana"/>
              </a:rPr>
              <a:t>liquid-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like</a:t>
            </a:r>
            <a:r>
              <a:rPr sz="2200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fluidity,</a:t>
            </a:r>
            <a:r>
              <a:rPr sz="2200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allowing</a:t>
            </a:r>
            <a:r>
              <a:rPr sz="2200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them</a:t>
            </a:r>
            <a:r>
              <a:rPr sz="2200" spc="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Verdana"/>
                <a:cs typeface="Verdana"/>
              </a:rPr>
              <a:t>to 	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twist</a:t>
            </a:r>
            <a:r>
              <a:rPr sz="2200" spc="4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2200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change</a:t>
            </a:r>
            <a:r>
              <a:rPr sz="2200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orientation</a:t>
            </a:r>
            <a:r>
              <a:rPr sz="2200" spc="5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when</a:t>
            </a:r>
            <a:r>
              <a:rPr sz="2200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electric</a:t>
            </a:r>
            <a:r>
              <a:rPr sz="2200" spc="48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voltage</a:t>
            </a:r>
            <a:r>
              <a:rPr sz="2200" spc="4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Verdana"/>
                <a:cs typeface="Verdana"/>
              </a:rPr>
              <a:t>is 	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applied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control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light</a:t>
            </a:r>
            <a:r>
              <a:rPr sz="2200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Verdana"/>
                <a:cs typeface="Verdana"/>
              </a:rPr>
              <a:t>transmission.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7111" y="426127"/>
            <a:ext cx="77666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LCD</a:t>
            </a:r>
            <a:r>
              <a:rPr spc="-20" dirty="0"/>
              <a:t> </a:t>
            </a:r>
            <a:r>
              <a:rPr dirty="0"/>
              <a:t>Cell</a:t>
            </a:r>
            <a:r>
              <a:rPr spc="-65" dirty="0"/>
              <a:t> </a:t>
            </a:r>
            <a:r>
              <a:rPr spc="-10" dirty="0"/>
              <a:t>Construction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557528"/>
            <a:ext cx="6402323" cy="55290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7111" y="426127"/>
            <a:ext cx="77666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LCD</a:t>
            </a:r>
            <a:r>
              <a:rPr spc="-20" dirty="0"/>
              <a:t> </a:t>
            </a:r>
            <a:r>
              <a:rPr dirty="0"/>
              <a:t>Cell</a:t>
            </a:r>
            <a:r>
              <a:rPr spc="-65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6951" y="1518283"/>
            <a:ext cx="9045575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liquid  crystal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(LCD)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has  liquid  crystal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material 	</a:t>
            </a:r>
            <a:r>
              <a:rPr sz="2200" dirty="0">
                <a:latin typeface="Verdana"/>
                <a:cs typeface="Verdana"/>
              </a:rPr>
              <a:t>sandwiched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sheets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glass.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applied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transparent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electrodes, 	</a:t>
            </a: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molecules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aligned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parallel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glass 	surface.</a:t>
            </a:r>
            <a:endParaRPr sz="2200">
              <a:latin typeface="Verdana"/>
              <a:cs typeface="Verdana"/>
            </a:endParaRPr>
          </a:p>
          <a:p>
            <a:pPr marL="389255" marR="889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When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applied,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direction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turn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vertical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glass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They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vary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characteristics,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depending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their 	orientation.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47111" y="426127"/>
            <a:ext cx="77666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LCD</a:t>
            </a:r>
            <a:r>
              <a:rPr spc="-20" dirty="0"/>
              <a:t> </a:t>
            </a:r>
            <a:r>
              <a:rPr dirty="0"/>
              <a:t>Cell</a:t>
            </a:r>
            <a:r>
              <a:rPr spc="-65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6951" y="1518283"/>
            <a:ext cx="41668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072005" algn="l"/>
                <a:tab pos="2141855" algn="l"/>
                <a:tab pos="2710815" algn="l"/>
                <a:tab pos="2891790" algn="l"/>
              </a:tabLst>
            </a:pPr>
            <a:r>
              <a:rPr sz="2200" spc="-10" dirty="0">
                <a:latin typeface="Verdana"/>
                <a:cs typeface="Verdana"/>
              </a:rPr>
              <a:t>Therefore,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quantity 	controlled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combining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2435" y="1518283"/>
            <a:ext cx="470725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 marR="5080" indent="-106045">
              <a:lnSpc>
                <a:spcPct val="150000"/>
              </a:lnSpc>
              <a:spcBef>
                <a:spcPts val="100"/>
              </a:spcBef>
              <a:tabLst>
                <a:tab pos="578485" algn="l"/>
                <a:tab pos="868680" algn="l"/>
                <a:tab pos="1493520" algn="l"/>
                <a:tab pos="2143125" algn="l"/>
                <a:tab pos="2708910" algn="l"/>
                <a:tab pos="3565525" algn="l"/>
                <a:tab pos="3763645" algn="l"/>
                <a:tab pos="4354830" algn="l"/>
              </a:tabLst>
            </a:pP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light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transmission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can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be 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motion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liquid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crystal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6951" y="2523951"/>
            <a:ext cx="904430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molecules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direction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polarization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polarizing </a:t>
            </a:r>
            <a:r>
              <a:rPr sz="2200" dirty="0">
                <a:latin typeface="Verdana"/>
                <a:cs typeface="Verdana"/>
              </a:rPr>
              <a:t>plates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attached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sides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glass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sheets.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LCDs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utilize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characteristics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images.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48558" y="426127"/>
            <a:ext cx="67608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 Role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Polarization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66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831215" algn="l"/>
                <a:tab pos="1845945" algn="l"/>
                <a:tab pos="2365375" algn="l"/>
                <a:tab pos="4178300" algn="l"/>
                <a:tab pos="5744210" algn="l"/>
                <a:tab pos="6218555" algn="l"/>
                <a:tab pos="7375525" algn="l"/>
                <a:tab pos="8242934" algn="l"/>
              </a:tabLst>
            </a:pP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sheet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polarizing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material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placed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over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transparent</a:t>
            </a:r>
            <a:r>
              <a:rPr sz="2200" spc="-1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wall.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relies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passing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sheet.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Default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state:</a:t>
            </a:r>
            <a:r>
              <a:rPr sz="22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passes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reflects 	</a:t>
            </a:r>
            <a:r>
              <a:rPr sz="2200" dirty="0">
                <a:latin typeface="Verdana"/>
                <a:cs typeface="Verdana"/>
              </a:rPr>
              <a:t>off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backplate,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returns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viewer.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43568" y="426127"/>
            <a:ext cx="37744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LCD</a:t>
            </a:r>
            <a:r>
              <a:rPr spc="-10" dirty="0"/>
              <a:t> 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178" y="1451924"/>
            <a:ext cx="9212580" cy="5004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6985" indent="-378460" algn="just">
              <a:lnSpc>
                <a:spcPct val="152300"/>
              </a:lnSpc>
              <a:spcBef>
                <a:spcPts val="90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The  liquid</a:t>
            </a:r>
            <a:r>
              <a:rPr sz="1950" spc="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crystal</a:t>
            </a:r>
            <a:r>
              <a:rPr sz="1950" spc="-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display  cell  is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used</a:t>
            </a:r>
            <a:r>
              <a:rPr sz="1950" spc="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with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  sheet</a:t>
            </a:r>
            <a:r>
              <a:rPr sz="1950" spc="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polarizing </a:t>
            </a:r>
            <a:r>
              <a:rPr sz="1950" dirty="0">
                <a:latin typeface="Verdana"/>
                <a:cs typeface="Verdana"/>
              </a:rPr>
              <a:t>material</a:t>
            </a:r>
            <a:r>
              <a:rPr sz="1950" spc="-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over</a:t>
            </a:r>
            <a:r>
              <a:rPr sz="1950" spc="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transparent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wall.</a:t>
            </a:r>
            <a:endParaRPr sz="1950">
              <a:latin typeface="Verdana"/>
              <a:cs typeface="Verdana"/>
            </a:endParaRPr>
          </a:p>
          <a:p>
            <a:pPr marL="390525" marR="6350" indent="-378460" algn="just">
              <a:lnSpc>
                <a:spcPct val="1523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External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light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will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pass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through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polarizing</a:t>
            </a:r>
            <a:r>
              <a:rPr sz="1950" spc="1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sheet,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1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if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liquid </a:t>
            </a:r>
            <a:r>
              <a:rPr sz="1950" dirty="0">
                <a:latin typeface="Verdana"/>
                <a:cs typeface="Verdana"/>
              </a:rPr>
              <a:t>crystal</a:t>
            </a:r>
            <a:r>
              <a:rPr sz="1950" spc="4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material</a:t>
            </a:r>
            <a:r>
              <a:rPr sz="1950" spc="4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-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not</a:t>
            </a:r>
            <a:r>
              <a:rPr sz="1950" spc="4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aligned,</a:t>
            </a:r>
            <a:r>
              <a:rPr sz="1950" spc="-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will</a:t>
            </a:r>
            <a:r>
              <a:rPr sz="1950" spc="-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pass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also</a:t>
            </a:r>
            <a:r>
              <a:rPr sz="1950" spc="4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through</a:t>
            </a:r>
            <a:r>
              <a:rPr sz="1950" spc="-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this</a:t>
            </a:r>
            <a:r>
              <a:rPr sz="1950" spc="-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-9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be </a:t>
            </a:r>
            <a:r>
              <a:rPr sz="1950" dirty="0">
                <a:latin typeface="Verdana"/>
                <a:cs typeface="Verdana"/>
              </a:rPr>
              <a:t>reflected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from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back-plate.</a:t>
            </a:r>
            <a:endParaRPr sz="1950">
              <a:latin typeface="Verdana"/>
              <a:cs typeface="Verdana"/>
            </a:endParaRPr>
          </a:p>
          <a:p>
            <a:pPr marL="390525" marR="6350" indent="-378460" algn="just">
              <a:lnSpc>
                <a:spcPct val="152300"/>
              </a:lnSpc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If</a:t>
            </a:r>
            <a:r>
              <a:rPr sz="1950" spc="1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voltage</a:t>
            </a:r>
            <a:r>
              <a:rPr sz="1950" spc="19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1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applied</a:t>
            </a:r>
            <a:r>
              <a:rPr sz="1950" spc="1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between</a:t>
            </a:r>
            <a:r>
              <a:rPr sz="1950" spc="1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two</a:t>
            </a:r>
            <a:r>
              <a:rPr sz="1950" spc="1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electrodes,</a:t>
            </a:r>
            <a:r>
              <a:rPr sz="1950" spc="18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however,</a:t>
            </a:r>
            <a:r>
              <a:rPr sz="1950" spc="180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material</a:t>
            </a:r>
            <a:r>
              <a:rPr sz="1950" spc="4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between</a:t>
            </a:r>
            <a:r>
              <a:rPr sz="1950" spc="4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these</a:t>
            </a:r>
            <a:r>
              <a:rPr sz="1950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electrodes</a:t>
            </a:r>
            <a:r>
              <a:rPr sz="1950" spc="4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will</a:t>
            </a:r>
            <a:r>
              <a:rPr sz="1950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become</a:t>
            </a:r>
            <a:r>
              <a:rPr sz="1950" spc="4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polarizing,</a:t>
            </a:r>
            <a:r>
              <a:rPr sz="1950" spc="4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7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already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polarized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light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will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not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pass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cannot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reflected.</a:t>
            </a:r>
            <a:endParaRPr sz="1950">
              <a:latin typeface="Verdana"/>
              <a:cs typeface="Verdana"/>
            </a:endParaRPr>
          </a:p>
          <a:p>
            <a:pPr marL="390525" marR="5080" indent="-378460" algn="just">
              <a:lnSpc>
                <a:spcPct val="152300"/>
              </a:lnSpc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This</a:t>
            </a:r>
            <a:r>
              <a:rPr sz="1950" spc="1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makes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0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affected</a:t>
            </a:r>
            <a:r>
              <a:rPr sz="1950" spc="1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area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look</a:t>
            </a:r>
            <a:r>
              <a:rPr sz="1950" spc="1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dark,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1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0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stronger</a:t>
            </a:r>
            <a:r>
              <a:rPr sz="1950" spc="9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illumination</a:t>
            </a:r>
            <a:r>
              <a:rPr sz="1950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cell</a:t>
            </a:r>
            <a:r>
              <a:rPr sz="1950" spc="45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5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greater</a:t>
            </a:r>
            <a:r>
              <a:rPr sz="1950" spc="4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5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contrast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between</a:t>
            </a:r>
            <a:r>
              <a:rPr sz="1950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this</a:t>
            </a:r>
            <a:r>
              <a:rPr sz="1950" spc="490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dark </a:t>
            </a:r>
            <a:r>
              <a:rPr sz="1950" dirty="0">
                <a:latin typeface="Verdana"/>
                <a:cs typeface="Verdana"/>
              </a:rPr>
              <a:t>area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brighter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parts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that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have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not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been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polarized.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43568" y="426127"/>
            <a:ext cx="37744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LCD</a:t>
            </a:r>
            <a:r>
              <a:rPr spc="-10" dirty="0"/>
              <a:t> Principle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382267"/>
            <a:ext cx="4419599" cy="59192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48025" y="1453653"/>
            <a:ext cx="5190490" cy="430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16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1850" dirty="0">
                <a:latin typeface="Verdana"/>
                <a:cs typeface="Verdana"/>
              </a:rPr>
              <a:t>The</a:t>
            </a:r>
            <a:r>
              <a:rPr sz="1850" spc="-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shape</a:t>
            </a:r>
            <a:r>
              <a:rPr sz="1850" spc="-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that</a:t>
            </a:r>
            <a:r>
              <a:rPr sz="1850" spc="-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is  to</a:t>
            </a:r>
            <a:r>
              <a:rPr sz="1850" spc="-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be  displayed</a:t>
            </a:r>
            <a:r>
              <a:rPr sz="1850" spc="-15" dirty="0">
                <a:latin typeface="Verdana"/>
                <a:cs typeface="Verdana"/>
              </a:rPr>
              <a:t>  </a:t>
            </a:r>
            <a:r>
              <a:rPr sz="1850" spc="-25" dirty="0">
                <a:latin typeface="Verdana"/>
                <a:cs typeface="Verdana"/>
              </a:rPr>
              <a:t>is 	</a:t>
            </a:r>
            <a:r>
              <a:rPr sz="1850" dirty="0">
                <a:latin typeface="Verdana"/>
                <a:cs typeface="Verdana"/>
              </a:rPr>
              <a:t>deposited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3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form</a:t>
            </a:r>
            <a:r>
              <a:rPr sz="1850" spc="2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3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30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transparent 	</a:t>
            </a:r>
            <a:r>
              <a:rPr sz="1850" dirty="0">
                <a:latin typeface="Verdana"/>
                <a:cs typeface="Verdana"/>
              </a:rPr>
              <a:t>conductive</a:t>
            </a:r>
            <a:r>
              <a:rPr sz="1850" spc="-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coating</a:t>
            </a:r>
            <a:r>
              <a:rPr sz="1850" spc="-2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on  the</a:t>
            </a:r>
            <a:r>
              <a:rPr sz="1850" spc="-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front</a:t>
            </a:r>
            <a:r>
              <a:rPr sz="1850" spc="-20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face, 	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reflective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rear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face</a:t>
            </a:r>
            <a:r>
              <a:rPr sz="1850" spc="1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1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other 	electrode.</a:t>
            </a:r>
            <a:endParaRPr sz="185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16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sz="1850" dirty="0">
                <a:latin typeface="Verdana"/>
                <a:cs typeface="Verdana"/>
              </a:rPr>
              <a:t>When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power</a:t>
            </a:r>
            <a:r>
              <a:rPr sz="1850" spc="5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applied,</a:t>
            </a:r>
            <a:r>
              <a:rPr sz="1850" spc="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45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material 	</a:t>
            </a:r>
            <a:r>
              <a:rPr sz="1850" dirty="0">
                <a:latin typeface="Verdana"/>
                <a:cs typeface="Verdana"/>
              </a:rPr>
              <a:t>between</a:t>
            </a:r>
            <a:r>
              <a:rPr sz="1850" spc="4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these</a:t>
            </a:r>
            <a:r>
              <a:rPr sz="1850" spc="46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electrodes</a:t>
            </a:r>
            <a:r>
              <a:rPr sz="1850" spc="475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polarizes 	</a:t>
            </a:r>
            <a:r>
              <a:rPr sz="1850" dirty="0">
                <a:latin typeface="Verdana"/>
                <a:cs typeface="Verdana"/>
              </a:rPr>
              <a:t>light,</a:t>
            </a:r>
            <a:r>
              <a:rPr sz="1850" spc="-2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-2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-2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shape</a:t>
            </a:r>
            <a:r>
              <a:rPr sz="1850" spc="-2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-2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-25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polarized 	</a:t>
            </a:r>
            <a:r>
              <a:rPr sz="1850" dirty="0">
                <a:latin typeface="Verdana"/>
                <a:cs typeface="Verdana"/>
              </a:rPr>
              <a:t>zone</a:t>
            </a:r>
            <a:r>
              <a:rPr sz="1850" spc="3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accurately</a:t>
            </a:r>
            <a:r>
              <a:rPr sz="1850" spc="3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follows</a:t>
            </a:r>
            <a:r>
              <a:rPr sz="1850" spc="3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3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shape</a:t>
            </a:r>
            <a:r>
              <a:rPr sz="1850" spc="30" dirty="0">
                <a:latin typeface="Verdana"/>
                <a:cs typeface="Verdana"/>
              </a:rPr>
              <a:t>  </a:t>
            </a:r>
            <a:r>
              <a:rPr sz="1850" spc="-25" dirty="0">
                <a:latin typeface="Verdana"/>
                <a:cs typeface="Verdana"/>
              </a:rPr>
              <a:t>of 	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electrode.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49963" y="5871473"/>
            <a:ext cx="16865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latin typeface="Verdana"/>
                <a:cs typeface="Verdana"/>
              </a:rPr>
              <a:t>polarized,</a:t>
            </a:r>
            <a:r>
              <a:rPr sz="1850" spc="130" dirty="0">
                <a:latin typeface="Verdana"/>
                <a:cs typeface="Verdana"/>
              </a:rPr>
              <a:t>  </a:t>
            </a:r>
            <a:r>
              <a:rPr sz="1850" spc="-35" dirty="0">
                <a:latin typeface="Verdana"/>
                <a:cs typeface="Verdana"/>
              </a:rPr>
              <a:t>no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8025" y="5728524"/>
            <a:ext cx="3328035" cy="882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 marR="5080" indent="-378460">
              <a:lnSpc>
                <a:spcPct val="1519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  <a:tab pos="1184275" algn="l"/>
                <a:tab pos="1645285" algn="l"/>
              </a:tabLst>
            </a:pPr>
            <a:r>
              <a:rPr sz="1850" dirty="0">
                <a:latin typeface="Verdana"/>
                <a:cs typeface="Verdana"/>
              </a:rPr>
              <a:t>Where</a:t>
            </a:r>
            <a:r>
              <a:rPr sz="1850" spc="15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material</a:t>
            </a:r>
            <a:r>
              <a:rPr sz="1850" spc="140" dirty="0">
                <a:latin typeface="Verdana"/>
                <a:cs typeface="Verdana"/>
              </a:rPr>
              <a:t>  </a:t>
            </a:r>
            <a:r>
              <a:rPr sz="1850" spc="-25" dirty="0">
                <a:latin typeface="Verdana"/>
                <a:cs typeface="Verdana"/>
              </a:rPr>
              <a:t>is </a:t>
            </a:r>
            <a:r>
              <a:rPr sz="1850" spc="-10" dirty="0">
                <a:latin typeface="Verdana"/>
                <a:cs typeface="Verdana"/>
              </a:rPr>
              <a:t>light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is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reflected,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1606" y="6299715"/>
            <a:ext cx="21564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91260" algn="l"/>
                <a:tab pos="1607820" algn="l"/>
              </a:tabLst>
            </a:pPr>
            <a:r>
              <a:rPr sz="1850" spc="-10" dirty="0">
                <a:latin typeface="Verdana"/>
                <a:cs typeface="Verdana"/>
              </a:rPr>
              <a:t>causing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50" dirty="0">
                <a:latin typeface="Verdana"/>
                <a:cs typeface="Verdana"/>
              </a:rPr>
              <a:t>a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dark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1" y="6726448"/>
            <a:ext cx="9207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latin typeface="Verdana"/>
                <a:cs typeface="Verdana"/>
              </a:rPr>
              <a:t>display.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43568" y="426127"/>
            <a:ext cx="37744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LCD</a:t>
            </a:r>
            <a:r>
              <a:rPr spc="-10" dirty="0"/>
              <a:t> 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178" y="1451924"/>
            <a:ext cx="9212580" cy="4551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6985" indent="-378460" algn="just">
              <a:lnSpc>
                <a:spcPct val="152300"/>
              </a:lnSpc>
              <a:spcBef>
                <a:spcPts val="90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Although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some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displays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are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made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with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built-in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backlight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for </a:t>
            </a:r>
            <a:r>
              <a:rPr sz="1950" dirty="0">
                <a:latin typeface="Verdana"/>
                <a:cs typeface="Verdana"/>
              </a:rPr>
              <a:t>viewing</a:t>
            </a:r>
            <a:r>
              <a:rPr sz="1950" spc="-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-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-5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dark,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LCDs</a:t>
            </a:r>
            <a:r>
              <a:rPr sz="1950" spc="-5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generally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are</a:t>
            </a:r>
            <a:r>
              <a:rPr sz="1950" spc="-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intended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-6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use</a:t>
            </a:r>
            <a:r>
              <a:rPr sz="1950" spc="-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spc="-20" dirty="0">
                <a:latin typeface="Verdana"/>
                <a:cs typeface="Verdana"/>
              </a:rPr>
              <a:t>well </a:t>
            </a:r>
            <a:r>
              <a:rPr sz="1950" dirty="0">
                <a:latin typeface="Verdana"/>
                <a:cs typeface="Verdana"/>
              </a:rPr>
              <a:t>illuminated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areas.</a:t>
            </a:r>
            <a:endParaRPr sz="1950">
              <a:latin typeface="Verdana"/>
              <a:cs typeface="Verdana"/>
            </a:endParaRPr>
          </a:p>
          <a:p>
            <a:pPr marL="390525" marR="5080" indent="-378460" algn="just">
              <a:lnSpc>
                <a:spcPct val="152300"/>
              </a:lnSpc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The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use</a:t>
            </a:r>
            <a:r>
              <a:rPr sz="1950" spc="2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DC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on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3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electrodes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causes</a:t>
            </a:r>
            <a:r>
              <a:rPr sz="1950" spc="2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irreversible</a:t>
            </a:r>
            <a:r>
              <a:rPr sz="1950" spc="2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changes</a:t>
            </a:r>
            <a:r>
              <a:rPr sz="1950" spc="2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28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liquid</a:t>
            </a:r>
            <a:r>
              <a:rPr sz="1950" spc="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crystal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material,</a:t>
            </a:r>
            <a:r>
              <a:rPr sz="1950" spc="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so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that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usual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practice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2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invert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04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DC </a:t>
            </a:r>
            <a:r>
              <a:rPr sz="1950" dirty="0">
                <a:latin typeface="Verdana"/>
                <a:cs typeface="Verdana"/>
              </a:rPr>
              <a:t>supply</a:t>
            </a:r>
            <a:r>
              <a:rPr sz="1950" spc="2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low-</a:t>
            </a:r>
            <a:r>
              <a:rPr sz="1950" spc="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frequency</a:t>
            </a:r>
            <a:r>
              <a:rPr sz="1950" spc="2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(30–60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Hz)</a:t>
            </a:r>
            <a:r>
              <a:rPr sz="1950" spc="2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AC</a:t>
            </a:r>
            <a:r>
              <a:rPr sz="1950" spc="2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25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use</a:t>
            </a:r>
            <a:r>
              <a:rPr sz="1950" spc="22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this</a:t>
            </a:r>
            <a:r>
              <a:rPr sz="1950" spc="2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as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supply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2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electrodes.</a:t>
            </a:r>
            <a:endParaRPr sz="1950">
              <a:latin typeface="Verdana"/>
              <a:cs typeface="Verdana"/>
            </a:endParaRPr>
          </a:p>
          <a:p>
            <a:pPr marL="390525" marR="6985" indent="-378460" algn="just">
              <a:lnSpc>
                <a:spcPct val="1523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The</a:t>
            </a:r>
            <a:r>
              <a:rPr sz="1950" spc="3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use</a:t>
            </a:r>
            <a:r>
              <a:rPr sz="1950" spc="3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electronic</a:t>
            </a:r>
            <a:r>
              <a:rPr sz="1950" spc="3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conversion</a:t>
            </a:r>
            <a:r>
              <a:rPr sz="1950" spc="3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can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ensure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that</a:t>
            </a:r>
            <a:r>
              <a:rPr sz="1950" spc="3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no</a:t>
            </a:r>
            <a:r>
              <a:rPr sz="1950" spc="3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trace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DC</a:t>
            </a:r>
            <a:r>
              <a:rPr sz="1950" spc="33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is </a:t>
            </a:r>
            <a:r>
              <a:rPr sz="1950" dirty="0">
                <a:latin typeface="Verdana"/>
                <a:cs typeface="Verdana"/>
              </a:rPr>
              <a:t>present,</a:t>
            </a:r>
            <a:r>
              <a:rPr sz="1950" spc="7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since</a:t>
            </a:r>
            <a:r>
              <a:rPr sz="1950" spc="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7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power</a:t>
            </a:r>
            <a:r>
              <a:rPr sz="1950" spc="7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consumption</a:t>
            </a:r>
            <a:r>
              <a:rPr sz="1950" spc="7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so</a:t>
            </a:r>
            <a:r>
              <a:rPr sz="1950" spc="8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low,</a:t>
            </a:r>
            <a:r>
              <a:rPr sz="1950" spc="7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relatively </a:t>
            </a:r>
            <a:r>
              <a:rPr sz="1950" dirty="0">
                <a:latin typeface="Verdana"/>
                <a:cs typeface="Verdana"/>
              </a:rPr>
              <a:t>simple</a:t>
            </a:r>
            <a:r>
              <a:rPr sz="1950" spc="2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inverter</a:t>
            </a:r>
            <a:r>
              <a:rPr sz="1950" spc="2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circuits</a:t>
            </a:r>
            <a:r>
              <a:rPr sz="1950" spc="-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can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used.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31121" y="426127"/>
            <a:ext cx="85972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LCD</a:t>
            </a:r>
            <a:r>
              <a:rPr spc="-10" dirty="0"/>
              <a:t> </a:t>
            </a:r>
            <a:r>
              <a:rPr dirty="0"/>
              <a:t>Creates</a:t>
            </a:r>
            <a:r>
              <a:rPr spc="-30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spc="-10" dirty="0"/>
              <a:t>Image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When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voltage</a:t>
            </a:r>
            <a:r>
              <a:rPr spc="-1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applied</a:t>
            </a:r>
            <a:r>
              <a:rPr spc="-3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electrodes:</a:t>
            </a:r>
          </a:p>
          <a:p>
            <a:pPr marL="883919" lvl="1" indent="-36893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aligns/polarizes.</a:t>
            </a:r>
            <a:endParaRPr sz="2200">
              <a:latin typeface="Verdana"/>
              <a:cs typeface="Verdana"/>
            </a:endParaRPr>
          </a:p>
          <a:p>
            <a:pPr marL="883919" marR="5080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already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polarized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this </a:t>
            </a:r>
            <a:r>
              <a:rPr sz="2200" dirty="0">
                <a:latin typeface="Verdana"/>
                <a:cs typeface="Verdana"/>
              </a:rPr>
              <a:t>zone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reflected.</a:t>
            </a:r>
            <a:endParaRPr sz="2200">
              <a:latin typeface="Verdana"/>
              <a:cs typeface="Verdana"/>
            </a:endParaRPr>
          </a:p>
          <a:p>
            <a:pPr marL="381000" indent="-36830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8100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Result:</a:t>
            </a:r>
            <a:r>
              <a:rPr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affected</a:t>
            </a:r>
            <a:r>
              <a:rPr spc="-55" dirty="0"/>
              <a:t> </a:t>
            </a:r>
            <a:r>
              <a:rPr dirty="0"/>
              <a:t>area</a:t>
            </a:r>
            <a:r>
              <a:rPr spc="-70" dirty="0"/>
              <a:t> </a:t>
            </a:r>
            <a:r>
              <a:rPr dirty="0"/>
              <a:t>looks</a:t>
            </a:r>
            <a:r>
              <a:rPr spc="-55" dirty="0"/>
              <a:t> 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dark.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80154" y="426127"/>
            <a:ext cx="7299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Contrast</a:t>
            </a:r>
            <a:r>
              <a:rPr spc="-4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Illumination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4957" y="1445156"/>
            <a:ext cx="8710930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LCDs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contrast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rather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emitting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stronger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ambient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illumination,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greater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contrast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dark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bright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areas.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Most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LCDs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intended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well-</a:t>
            </a:r>
            <a:r>
              <a:rPr sz="2200" dirty="0">
                <a:latin typeface="Verdana"/>
                <a:cs typeface="Verdana"/>
              </a:rPr>
              <a:t>illuminated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areas, 	</a:t>
            </a:r>
            <a:r>
              <a:rPr sz="2200" dirty="0">
                <a:latin typeface="Verdana"/>
                <a:cs typeface="Verdana"/>
              </a:rPr>
              <a:t>though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backlights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dark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77618" y="426127"/>
            <a:ext cx="61023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LCD</a:t>
            </a:r>
            <a:r>
              <a:rPr spc="-25" dirty="0"/>
              <a:t> </a:t>
            </a:r>
            <a:r>
              <a:rPr dirty="0"/>
              <a:t>Shape</a:t>
            </a:r>
            <a:r>
              <a:rPr spc="-25" dirty="0"/>
              <a:t> </a:t>
            </a:r>
            <a:r>
              <a:rPr spc="-10" dirty="0"/>
              <a:t>Formation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shape</a:t>
            </a:r>
            <a:r>
              <a:rPr spc="-4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displayed</a:t>
            </a:r>
            <a:r>
              <a:rPr spc="-55" dirty="0"/>
              <a:t> </a:t>
            </a:r>
            <a:r>
              <a:rPr dirty="0"/>
              <a:t>(e.g.,</a:t>
            </a:r>
            <a:r>
              <a:rPr spc="-3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number)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deposited</a:t>
            </a:r>
            <a:r>
              <a:rPr spc="-55" dirty="0"/>
              <a:t> </a:t>
            </a:r>
            <a:r>
              <a:rPr spc="-25" dirty="0"/>
              <a:t>as 	</a:t>
            </a:r>
            <a:r>
              <a:rPr dirty="0"/>
              <a:t>a</a:t>
            </a:r>
            <a:r>
              <a:rPr spc="-55" dirty="0"/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transparent</a:t>
            </a:r>
            <a:r>
              <a:rPr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conductive</a:t>
            </a:r>
            <a:r>
              <a:rPr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coating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front</a:t>
            </a:r>
            <a:r>
              <a:rPr spc="-40" dirty="0"/>
              <a:t> </a:t>
            </a:r>
            <a:r>
              <a:rPr spc="-10" dirty="0"/>
              <a:t>face.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The</a:t>
            </a:r>
            <a:r>
              <a:rPr spc="-110" dirty="0"/>
              <a:t>  </a:t>
            </a:r>
            <a:r>
              <a:rPr dirty="0"/>
              <a:t>polarized</a:t>
            </a:r>
            <a:r>
              <a:rPr spc="-105" dirty="0"/>
              <a:t>  </a:t>
            </a:r>
            <a:r>
              <a:rPr dirty="0"/>
              <a:t>zone</a:t>
            </a:r>
            <a:r>
              <a:rPr spc="-105" dirty="0"/>
              <a:t>  </a:t>
            </a:r>
            <a:r>
              <a:rPr dirty="0"/>
              <a:t>accurately</a:t>
            </a:r>
            <a:r>
              <a:rPr spc="545" dirty="0"/>
              <a:t> </a:t>
            </a:r>
            <a:r>
              <a:rPr dirty="0"/>
              <a:t>follows</a:t>
            </a:r>
            <a:r>
              <a:rPr spc="545" dirty="0"/>
              <a:t> </a:t>
            </a:r>
            <a:r>
              <a:rPr dirty="0"/>
              <a:t>the</a:t>
            </a:r>
            <a:r>
              <a:rPr spc="535" dirty="0"/>
              <a:t> </a:t>
            </a:r>
            <a:r>
              <a:rPr dirty="0"/>
              <a:t>shape</a:t>
            </a:r>
            <a:r>
              <a:rPr spc="-110" dirty="0"/>
              <a:t>  </a:t>
            </a:r>
            <a:r>
              <a:rPr dirty="0"/>
              <a:t>of</a:t>
            </a:r>
            <a:r>
              <a:rPr spc="-114" dirty="0"/>
              <a:t>  </a:t>
            </a:r>
            <a:r>
              <a:rPr spc="-20" dirty="0"/>
              <a:t>this 	</a:t>
            </a:r>
            <a:r>
              <a:rPr spc="-10" dirty="0"/>
              <a:t>electrode.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7369" y="426127"/>
            <a:ext cx="89846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Power</a:t>
            </a:r>
            <a:r>
              <a:rPr spc="-10" dirty="0"/>
              <a:t> </a:t>
            </a:r>
            <a:r>
              <a:rPr dirty="0"/>
              <a:t>Requirements:</a:t>
            </a:r>
            <a:r>
              <a:rPr spc="-30" dirty="0"/>
              <a:t> </a:t>
            </a:r>
            <a:r>
              <a:rPr dirty="0"/>
              <a:t>DC</a:t>
            </a:r>
            <a:r>
              <a:rPr spc="-30" dirty="0"/>
              <a:t> </a:t>
            </a:r>
            <a:r>
              <a:rPr dirty="0"/>
              <a:t>vs.</a:t>
            </a:r>
            <a:r>
              <a:rPr spc="-20" dirty="0"/>
              <a:t> </a:t>
            </a:r>
            <a:r>
              <a:rPr spc="-25" dirty="0"/>
              <a:t>AC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Problem:</a:t>
            </a:r>
            <a:r>
              <a:rPr b="1" spc="5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dirty="0"/>
              <a:t>Using</a:t>
            </a:r>
            <a:r>
              <a:rPr spc="40" dirty="0"/>
              <a:t>  </a:t>
            </a:r>
            <a:r>
              <a:rPr dirty="0"/>
              <a:t>DC</a:t>
            </a:r>
            <a:r>
              <a:rPr spc="30" dirty="0"/>
              <a:t>  </a:t>
            </a:r>
            <a:r>
              <a:rPr dirty="0"/>
              <a:t>on</a:t>
            </a:r>
            <a:r>
              <a:rPr spc="30" dirty="0"/>
              <a:t>  </a:t>
            </a:r>
            <a:r>
              <a:rPr dirty="0"/>
              <a:t>electrodes</a:t>
            </a:r>
            <a:r>
              <a:rPr spc="20" dirty="0"/>
              <a:t>  </a:t>
            </a:r>
            <a:r>
              <a:rPr dirty="0"/>
              <a:t>causes</a:t>
            </a:r>
            <a:r>
              <a:rPr spc="25" dirty="0"/>
              <a:t>  </a:t>
            </a:r>
            <a:r>
              <a:rPr spc="-10" dirty="0"/>
              <a:t>"irreversible 	</a:t>
            </a:r>
            <a:r>
              <a:rPr dirty="0"/>
              <a:t>changes"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liquid</a:t>
            </a:r>
            <a:r>
              <a:rPr spc="-55" dirty="0"/>
              <a:t> </a:t>
            </a:r>
            <a:r>
              <a:rPr dirty="0"/>
              <a:t>crystal</a:t>
            </a:r>
            <a:r>
              <a:rPr spc="-40" dirty="0"/>
              <a:t> </a:t>
            </a:r>
            <a:r>
              <a:rPr spc="-10" dirty="0"/>
              <a:t>material.</a:t>
            </a: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Solution:</a:t>
            </a:r>
            <a:r>
              <a:rPr b="1" spc="-4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dirty="0"/>
              <a:t>Invert</a:t>
            </a:r>
            <a:r>
              <a:rPr spc="-65" dirty="0"/>
              <a:t>  </a:t>
            </a:r>
            <a:r>
              <a:rPr dirty="0"/>
              <a:t>the</a:t>
            </a:r>
            <a:r>
              <a:rPr spc="-70" dirty="0"/>
              <a:t>  </a:t>
            </a:r>
            <a:r>
              <a:rPr dirty="0"/>
              <a:t>DC</a:t>
            </a:r>
            <a:r>
              <a:rPr spc="-60" dirty="0"/>
              <a:t>  </a:t>
            </a:r>
            <a:r>
              <a:rPr dirty="0"/>
              <a:t>supply</a:t>
            </a:r>
            <a:r>
              <a:rPr spc="-60" dirty="0"/>
              <a:t>  </a:t>
            </a:r>
            <a:r>
              <a:rPr dirty="0"/>
              <a:t>to</a:t>
            </a:r>
            <a:r>
              <a:rPr spc="-60" dirty="0"/>
              <a:t>  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low-frequency</a:t>
            </a:r>
            <a:r>
              <a:rPr b="1" spc="-5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b="1" spc="-25" dirty="0">
                <a:solidFill>
                  <a:srgbClr val="0070BF"/>
                </a:solidFill>
                <a:latin typeface="Verdana"/>
                <a:cs typeface="Verdana"/>
              </a:rPr>
              <a:t>AC 	</a:t>
            </a:r>
            <a:r>
              <a:rPr spc="-30" dirty="0"/>
              <a:t>(30–</a:t>
            </a:r>
            <a:r>
              <a:rPr dirty="0"/>
              <a:t>60</a:t>
            </a:r>
            <a:r>
              <a:rPr spc="25" dirty="0"/>
              <a:t> </a:t>
            </a:r>
            <a:r>
              <a:rPr dirty="0"/>
              <a:t>Hz)</a:t>
            </a:r>
            <a:r>
              <a:rPr spc="-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electrodes.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Electronic</a:t>
            </a:r>
            <a:r>
              <a:rPr spc="-90" dirty="0"/>
              <a:t> </a:t>
            </a:r>
            <a:r>
              <a:rPr dirty="0"/>
              <a:t>conversion</a:t>
            </a:r>
            <a:r>
              <a:rPr spc="-55" dirty="0"/>
              <a:t> </a:t>
            </a:r>
            <a:r>
              <a:rPr dirty="0"/>
              <a:t>ensures</a:t>
            </a:r>
            <a:r>
              <a:rPr spc="-90" dirty="0"/>
              <a:t> </a:t>
            </a:r>
            <a:r>
              <a:rPr dirty="0"/>
              <a:t>no</a:t>
            </a:r>
            <a:r>
              <a:rPr spc="-60" dirty="0"/>
              <a:t> </a:t>
            </a:r>
            <a:r>
              <a:rPr dirty="0"/>
              <a:t>trace</a:t>
            </a:r>
            <a:r>
              <a:rPr spc="-6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DC</a:t>
            </a:r>
            <a:r>
              <a:rPr spc="-6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spc="-10" dirty="0"/>
              <a:t>present.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9402" y="426127"/>
            <a:ext cx="82397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Energy</a:t>
            </a:r>
            <a:r>
              <a:rPr spc="-55" dirty="0"/>
              <a:t> </a:t>
            </a:r>
            <a:r>
              <a:rPr dirty="0"/>
              <a:t>Efficiency</a:t>
            </a:r>
            <a:r>
              <a:rPr spc="-45" dirty="0"/>
              <a:t> </a:t>
            </a:r>
            <a:r>
              <a:rPr spc="-10" dirty="0"/>
              <a:t>Breakdown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6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four-</a:t>
            </a:r>
            <a:r>
              <a:rPr sz="2200" dirty="0">
                <a:latin typeface="Verdana"/>
                <a:cs typeface="Verdana"/>
              </a:rPr>
              <a:t>digit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LCD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display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operating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32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kHz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only 	</a:t>
            </a:r>
            <a:r>
              <a:rPr sz="2200" dirty="0">
                <a:latin typeface="Verdana"/>
                <a:cs typeface="Verdana"/>
              </a:rPr>
              <a:t>about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8</a:t>
            </a:r>
            <a:r>
              <a:rPr sz="2200" b="1" spc="-5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0070BF"/>
                </a:solidFill>
                <a:latin typeface="Verdana"/>
                <a:cs typeface="Verdana"/>
              </a:rPr>
              <a:t>µA.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Compare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420,000</a:t>
            </a:r>
            <a:r>
              <a:rPr sz="2200" b="1" spc="22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µA</a:t>
            </a:r>
            <a:r>
              <a:rPr sz="2200" b="1" spc="21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(420</a:t>
            </a:r>
            <a:r>
              <a:rPr sz="2200" b="1" spc="22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mA)</a:t>
            </a:r>
            <a:r>
              <a:rPr sz="2200" b="1" spc="21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required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equivalent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display.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makes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complex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driving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ICs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powered</a:t>
            </a:r>
            <a:r>
              <a:rPr sz="2200" spc="-25" dirty="0">
                <a:latin typeface="Verdana"/>
                <a:cs typeface="Verdana"/>
              </a:rPr>
              <a:t> by 	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batteries.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3084" y="426127"/>
            <a:ext cx="966851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Packaging</a:t>
            </a:r>
            <a:r>
              <a:rPr spc="-8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Integrated</a:t>
            </a:r>
            <a:r>
              <a:rPr spc="-45" dirty="0"/>
              <a:t> </a:t>
            </a:r>
            <a:r>
              <a:rPr spc="-10" dirty="0"/>
              <a:t>Circuits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Manufacturers</a:t>
            </a:r>
            <a:r>
              <a:rPr spc="-114" dirty="0"/>
              <a:t> </a:t>
            </a:r>
            <a:r>
              <a:rPr dirty="0"/>
              <a:t>rarely</a:t>
            </a:r>
            <a:r>
              <a:rPr spc="-95" dirty="0"/>
              <a:t> </a:t>
            </a:r>
            <a:r>
              <a:rPr dirty="0"/>
              <a:t>supply</a:t>
            </a:r>
            <a:r>
              <a:rPr spc="-75" dirty="0"/>
              <a:t> </a:t>
            </a:r>
            <a:r>
              <a:rPr dirty="0"/>
              <a:t>"bare"</a:t>
            </a:r>
            <a:r>
              <a:rPr spc="-105" dirty="0"/>
              <a:t> </a:t>
            </a:r>
            <a:r>
              <a:rPr spc="-10" dirty="0"/>
              <a:t>LCDs.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Most</a:t>
            </a:r>
            <a:r>
              <a:rPr spc="545" dirty="0"/>
              <a:t> </a:t>
            </a:r>
            <a:r>
              <a:rPr dirty="0"/>
              <a:t>units</a:t>
            </a:r>
            <a:r>
              <a:rPr spc="-110" dirty="0"/>
              <a:t>  </a:t>
            </a:r>
            <a:r>
              <a:rPr dirty="0"/>
              <a:t>are</a:t>
            </a:r>
            <a:r>
              <a:rPr spc="545" dirty="0"/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packaged</a:t>
            </a:r>
            <a:r>
              <a:rPr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with</a:t>
            </a:r>
            <a:r>
              <a:rPr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inverters</a:t>
            </a:r>
            <a:r>
              <a:rPr b="1" spc="-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driving 	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logic</a:t>
            </a:r>
            <a:r>
              <a:rPr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pc="-20" dirty="0"/>
              <a:t>built-</a:t>
            </a:r>
            <a:r>
              <a:rPr spc="-25" dirty="0"/>
              <a:t>in.</a:t>
            </a: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Some</a:t>
            </a:r>
            <a:r>
              <a:rPr spc="35" dirty="0"/>
              <a:t> </a:t>
            </a:r>
            <a:r>
              <a:rPr dirty="0"/>
              <a:t>incorporate</a:t>
            </a:r>
            <a:r>
              <a:rPr spc="20" dirty="0"/>
              <a:t> </a:t>
            </a:r>
            <a:r>
              <a:rPr dirty="0"/>
              <a:t>counters</a:t>
            </a:r>
            <a:r>
              <a:rPr spc="3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multiplexers</a:t>
            </a:r>
            <a:r>
              <a:rPr spc="10" dirty="0"/>
              <a:t> </a:t>
            </a:r>
            <a:r>
              <a:rPr dirty="0"/>
              <a:t>so</a:t>
            </a:r>
            <a:r>
              <a:rPr spc="40" dirty="0"/>
              <a:t> </a:t>
            </a:r>
            <a:r>
              <a:rPr dirty="0"/>
              <a:t>pulses</a:t>
            </a:r>
            <a:r>
              <a:rPr spc="25" dirty="0"/>
              <a:t> </a:t>
            </a:r>
            <a:r>
              <a:rPr spc="-25" dirty="0"/>
              <a:t>can 	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input</a:t>
            </a:r>
            <a:r>
              <a:rPr spc="-40" dirty="0"/>
              <a:t> </a:t>
            </a:r>
            <a:r>
              <a:rPr spc="-10" dirty="0"/>
              <a:t>directly.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7628" y="426127"/>
            <a:ext cx="94824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Evolution:</a:t>
            </a:r>
            <a:r>
              <a:rPr spc="-45" dirty="0"/>
              <a:t> </a:t>
            </a:r>
            <a:r>
              <a:rPr dirty="0"/>
              <a:t>"Supertwist"</a:t>
            </a:r>
            <a:r>
              <a:rPr spc="-60" dirty="0"/>
              <a:t> </a:t>
            </a:r>
            <a:r>
              <a:rPr spc="-20" dirty="0"/>
              <a:t>LCDs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249920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"Supertwist"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technology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recent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advancement.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Benefits:</a:t>
            </a:r>
            <a:endParaRPr sz="2200">
              <a:latin typeface="Verdana"/>
              <a:cs typeface="Verdana"/>
            </a:endParaRPr>
          </a:p>
          <a:p>
            <a:pPr marL="883919" lvl="1" indent="-36893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Much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greater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contrast.</a:t>
            </a:r>
            <a:endParaRPr sz="2200">
              <a:latin typeface="Verdana"/>
              <a:cs typeface="Verdana"/>
            </a:endParaRPr>
          </a:p>
          <a:p>
            <a:pPr marL="883919" lvl="1" indent="-36893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Faster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operation.</a:t>
            </a:r>
            <a:endParaRPr sz="2200">
              <a:latin typeface="Verdana"/>
              <a:cs typeface="Verdana"/>
            </a:endParaRPr>
          </a:p>
          <a:p>
            <a:pPr marL="883919" lvl="1" indent="-36893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83919" algn="l"/>
              </a:tabLst>
            </a:pPr>
            <a:r>
              <a:rPr sz="2200" dirty="0">
                <a:latin typeface="Verdana"/>
                <a:cs typeface="Verdana"/>
              </a:rPr>
              <a:t>Widely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portable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computer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screens.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929" y="426127"/>
            <a:ext cx="98742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TFT</a:t>
            </a:r>
            <a:r>
              <a:rPr spc="-15" dirty="0"/>
              <a:t> </a:t>
            </a:r>
            <a:r>
              <a:rPr spc="-10" dirty="0"/>
              <a:t>(Thin-</a:t>
            </a:r>
            <a:r>
              <a:rPr dirty="0"/>
              <a:t>Film</a:t>
            </a:r>
            <a:r>
              <a:rPr spc="-30" dirty="0"/>
              <a:t> </a:t>
            </a:r>
            <a:r>
              <a:rPr dirty="0"/>
              <a:t>Transistor)</a:t>
            </a:r>
            <a:r>
              <a:rPr spc="-5" dirty="0"/>
              <a:t> </a:t>
            </a:r>
            <a:r>
              <a:rPr spc="-10" dirty="0"/>
              <a:t>Screens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latest</a:t>
            </a:r>
            <a:r>
              <a:rPr spc="-65" dirty="0"/>
              <a:t> </a:t>
            </a:r>
            <a:r>
              <a:rPr dirty="0"/>
              <a:t>development</a:t>
            </a:r>
            <a:r>
              <a:rPr spc="-4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LCD</a:t>
            </a:r>
            <a:r>
              <a:rPr spc="-80" dirty="0"/>
              <a:t> </a:t>
            </a:r>
            <a:r>
              <a:rPr spc="-10" dirty="0"/>
              <a:t>technology.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A</a:t>
            </a:r>
            <a:r>
              <a:rPr spc="380" dirty="0"/>
              <a:t> </a:t>
            </a:r>
            <a:r>
              <a:rPr dirty="0"/>
              <a:t>set</a:t>
            </a:r>
            <a:r>
              <a:rPr spc="380" dirty="0"/>
              <a:t> </a:t>
            </a:r>
            <a:r>
              <a:rPr dirty="0"/>
              <a:t>of</a:t>
            </a:r>
            <a:r>
              <a:rPr spc="400" dirty="0"/>
              <a:t> </a:t>
            </a:r>
            <a:r>
              <a:rPr b="1" spc="-10" dirty="0">
                <a:solidFill>
                  <a:srgbClr val="0070BF"/>
                </a:solidFill>
                <a:latin typeface="Verdana"/>
                <a:cs typeface="Verdana"/>
              </a:rPr>
              <a:t>Thin-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Film</a:t>
            </a:r>
            <a:r>
              <a:rPr b="1" spc="43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Transistors</a:t>
            </a:r>
            <a:r>
              <a:rPr b="1" spc="409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dirty="0"/>
              <a:t>controls</a:t>
            </a:r>
            <a:r>
              <a:rPr spc="390" dirty="0"/>
              <a:t> </a:t>
            </a:r>
            <a:r>
              <a:rPr dirty="0"/>
              <a:t>each</a:t>
            </a:r>
            <a:r>
              <a:rPr spc="380" dirty="0"/>
              <a:t> </a:t>
            </a:r>
            <a:r>
              <a:rPr spc="-10" dirty="0"/>
              <a:t>individual 	</a:t>
            </a:r>
            <a:r>
              <a:rPr dirty="0"/>
              <a:t>LCD</a:t>
            </a:r>
            <a:r>
              <a:rPr spc="-45" dirty="0"/>
              <a:t> </a:t>
            </a:r>
            <a:r>
              <a:rPr dirty="0"/>
              <a:t>cell</a:t>
            </a:r>
            <a:r>
              <a:rPr spc="-3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screen.</a:t>
            </a:r>
          </a:p>
          <a:p>
            <a:pPr marL="389255" marR="762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This</a:t>
            </a:r>
            <a:r>
              <a:rPr spc="475" dirty="0"/>
              <a:t> </a:t>
            </a:r>
            <a:r>
              <a:rPr dirty="0"/>
              <a:t>technology</a:t>
            </a:r>
            <a:r>
              <a:rPr spc="470" dirty="0"/>
              <a:t> </a:t>
            </a:r>
            <a:r>
              <a:rPr dirty="0"/>
              <a:t>allows</a:t>
            </a:r>
            <a:r>
              <a:rPr spc="475" dirty="0"/>
              <a:t> </a:t>
            </a:r>
            <a:r>
              <a:rPr dirty="0"/>
              <a:t>for</a:t>
            </a:r>
            <a:r>
              <a:rPr spc="484" dirty="0"/>
              <a:t> </a:t>
            </a:r>
            <a:r>
              <a:rPr b="1" spc="-10" dirty="0">
                <a:solidFill>
                  <a:srgbClr val="0070BF"/>
                </a:solidFill>
                <a:latin typeface="Verdana"/>
                <a:cs typeface="Verdana"/>
              </a:rPr>
              <a:t>fast-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acting</a:t>
            </a:r>
            <a:r>
              <a:rPr b="1" spc="50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colour</a:t>
            </a:r>
            <a:r>
              <a:rPr b="1" spc="50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b="1" spc="-10" dirty="0">
                <a:solidFill>
                  <a:srgbClr val="0070BF"/>
                </a:solidFill>
                <a:latin typeface="Verdana"/>
                <a:cs typeface="Verdana"/>
              </a:rPr>
              <a:t>displays 	</a:t>
            </a:r>
            <a:r>
              <a:rPr dirty="0"/>
              <a:t>found</a:t>
            </a:r>
            <a:r>
              <a:rPr spc="-4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modern</a:t>
            </a:r>
            <a:r>
              <a:rPr spc="-40" dirty="0"/>
              <a:t> </a:t>
            </a:r>
            <a:r>
              <a:rPr spc="-10" dirty="0"/>
              <a:t>laptops.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1257" y="426127"/>
            <a:ext cx="92760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Alternative</a:t>
            </a:r>
            <a:r>
              <a:rPr spc="-65" dirty="0"/>
              <a:t> </a:t>
            </a:r>
            <a:r>
              <a:rPr dirty="0"/>
              <a:t>Display</a:t>
            </a:r>
            <a:r>
              <a:rPr spc="-45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29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Filament</a:t>
            </a:r>
            <a:r>
              <a:rPr sz="2200" b="1" spc="5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Displays:</a:t>
            </a:r>
            <a:r>
              <a:rPr sz="2200" b="1" spc="53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7-</a:t>
            </a:r>
            <a:r>
              <a:rPr sz="2200" dirty="0">
                <a:latin typeface="Verdana"/>
                <a:cs typeface="Verdana"/>
              </a:rPr>
              <a:t>segment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form,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sometimes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better 	</a:t>
            </a:r>
            <a:r>
              <a:rPr sz="2200" spc="-20" dirty="0">
                <a:latin typeface="Verdana"/>
                <a:cs typeface="Verdana"/>
              </a:rPr>
              <a:t>brightness-to-</a:t>
            </a:r>
            <a:r>
              <a:rPr sz="2200" dirty="0">
                <a:latin typeface="Verdana"/>
                <a:cs typeface="Verdana"/>
              </a:rPr>
              <a:t>consumption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ratio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LEDs.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Gas</a:t>
            </a:r>
            <a:r>
              <a:rPr sz="2200" b="1" spc="-7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Plasma</a:t>
            </a:r>
            <a:r>
              <a:rPr sz="2200" b="1" spc="-6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Displays:</a:t>
            </a:r>
            <a:r>
              <a:rPr sz="2200" b="1" spc="-6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before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LEDs;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older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portable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computers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poor-</a:t>
            </a:r>
            <a:r>
              <a:rPr sz="2200" spc="-10" dirty="0">
                <a:latin typeface="Verdana"/>
                <a:cs typeface="Verdana"/>
              </a:rPr>
              <a:t>light 	viewing.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Despite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LCD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remain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dominant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types.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58409" y="426127"/>
            <a:ext cx="59366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Summary</a:t>
            </a:r>
            <a:r>
              <a:rPr spc="-3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009900"/>
                </a:solidFill>
                <a:latin typeface="Verdana"/>
                <a:cs typeface="Verdana"/>
              </a:rPr>
              <a:t>Low</a:t>
            </a:r>
            <a:r>
              <a:rPr b="1" spc="-3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9900"/>
                </a:solidFill>
                <a:latin typeface="Verdana"/>
                <a:cs typeface="Verdana"/>
              </a:rPr>
              <a:t>Power:</a:t>
            </a:r>
            <a:r>
              <a:rPr b="1" spc="-4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pc="-25" dirty="0"/>
              <a:t>Micro-</a:t>
            </a:r>
            <a:r>
              <a:rPr dirty="0"/>
              <a:t>ampere</a:t>
            </a:r>
            <a:r>
              <a:rPr spc="-20" dirty="0"/>
              <a:t> </a:t>
            </a:r>
            <a:r>
              <a:rPr spc="-10" dirty="0"/>
              <a:t>consumption.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009900"/>
                </a:solidFill>
                <a:latin typeface="Verdana"/>
                <a:cs typeface="Verdana"/>
              </a:rPr>
              <a:t>Reflective:</a:t>
            </a:r>
            <a:r>
              <a:rPr b="1" spc="-5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dirty="0"/>
              <a:t>visibility</a:t>
            </a:r>
            <a:r>
              <a:rPr spc="-6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bright</a:t>
            </a:r>
            <a:r>
              <a:rPr spc="-50" dirty="0"/>
              <a:t> </a:t>
            </a:r>
            <a:r>
              <a:rPr spc="-10" dirty="0"/>
              <a:t>light.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009900"/>
                </a:solidFill>
                <a:latin typeface="Verdana"/>
                <a:cs typeface="Verdana"/>
              </a:rPr>
              <a:t>Scalable:</a:t>
            </a:r>
            <a:r>
              <a:rPr b="1" spc="17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dirty="0"/>
              <a:t>From</a:t>
            </a:r>
            <a:r>
              <a:rPr spc="150" dirty="0"/>
              <a:t> </a:t>
            </a:r>
            <a:r>
              <a:rPr dirty="0"/>
              <a:t>simple</a:t>
            </a:r>
            <a:r>
              <a:rPr spc="145" dirty="0"/>
              <a:t> </a:t>
            </a:r>
            <a:r>
              <a:rPr dirty="0"/>
              <a:t>calculator</a:t>
            </a:r>
            <a:r>
              <a:rPr spc="140" dirty="0"/>
              <a:t> </a:t>
            </a:r>
            <a:r>
              <a:rPr dirty="0"/>
              <a:t>digits</a:t>
            </a:r>
            <a:r>
              <a:rPr spc="160" dirty="0"/>
              <a:t> </a:t>
            </a:r>
            <a:r>
              <a:rPr dirty="0"/>
              <a:t>to</a:t>
            </a:r>
            <a:r>
              <a:rPr spc="120" dirty="0"/>
              <a:t> </a:t>
            </a:r>
            <a:r>
              <a:rPr spc="-10" dirty="0"/>
              <a:t>high-resolution 	</a:t>
            </a:r>
            <a:r>
              <a:rPr dirty="0"/>
              <a:t>TFT</a:t>
            </a:r>
            <a:r>
              <a:rPr spc="-25" dirty="0"/>
              <a:t> </a:t>
            </a:r>
            <a:r>
              <a:rPr dirty="0"/>
              <a:t>laptop</a:t>
            </a:r>
            <a:r>
              <a:rPr spc="-15" dirty="0"/>
              <a:t> </a:t>
            </a:r>
            <a:r>
              <a:rPr spc="-10" dirty="0"/>
              <a:t>screens.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76442" y="426127"/>
            <a:ext cx="81083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80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dirty="0"/>
              <a:t>Future</a:t>
            </a:r>
            <a:r>
              <a:rPr spc="-35" dirty="0"/>
              <a:t> </a:t>
            </a:r>
            <a:r>
              <a:rPr spc="-10" dirty="0"/>
              <a:t>Outlook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dirty="0"/>
              <a:t>LCD</a:t>
            </a:r>
            <a:r>
              <a:rPr spc="-95" dirty="0"/>
              <a:t> </a:t>
            </a:r>
            <a:r>
              <a:rPr dirty="0"/>
              <a:t>technology</a:t>
            </a:r>
            <a:r>
              <a:rPr spc="-75" dirty="0"/>
              <a:t> </a:t>
            </a:r>
            <a:r>
              <a:rPr dirty="0"/>
              <a:t>has</a:t>
            </a:r>
            <a:r>
              <a:rPr spc="-95" dirty="0"/>
              <a:t> </a:t>
            </a:r>
            <a:r>
              <a:rPr dirty="0"/>
              <a:t>revolutionized</a:t>
            </a:r>
            <a:r>
              <a:rPr spc="-95" dirty="0"/>
              <a:t> </a:t>
            </a:r>
            <a:r>
              <a:rPr dirty="0"/>
              <a:t>portable</a:t>
            </a:r>
            <a:r>
              <a:rPr spc="-85" dirty="0"/>
              <a:t> </a:t>
            </a:r>
            <a:r>
              <a:rPr spc="-10" dirty="0"/>
              <a:t>electronics.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Ongoing</a:t>
            </a:r>
            <a:r>
              <a:rPr spc="-50" dirty="0"/>
              <a:t> </a:t>
            </a:r>
            <a:r>
              <a:rPr dirty="0"/>
              <a:t>developments</a:t>
            </a:r>
            <a:r>
              <a:rPr spc="-65" dirty="0"/>
              <a:t> </a:t>
            </a:r>
            <a:r>
              <a:rPr dirty="0"/>
              <a:t>like</a:t>
            </a:r>
            <a:r>
              <a:rPr spc="-55" dirty="0"/>
              <a:t> </a:t>
            </a:r>
            <a:r>
              <a:rPr dirty="0"/>
              <a:t>TFT</a:t>
            </a:r>
            <a:r>
              <a:rPr spc="-3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Supertwist</a:t>
            </a:r>
            <a:r>
              <a:rPr spc="-50" dirty="0"/>
              <a:t> </a:t>
            </a:r>
            <a:r>
              <a:rPr dirty="0"/>
              <a:t>continue</a:t>
            </a:r>
            <a:r>
              <a:rPr spc="-55" dirty="0"/>
              <a:t> </a:t>
            </a:r>
            <a:r>
              <a:rPr spc="-25" dirty="0"/>
              <a:t>to 	</a:t>
            </a:r>
            <a:r>
              <a:rPr dirty="0"/>
              <a:t>improve</a:t>
            </a:r>
            <a:r>
              <a:rPr spc="-60" dirty="0"/>
              <a:t> </a:t>
            </a:r>
            <a:r>
              <a:rPr dirty="0"/>
              <a:t>speed</a:t>
            </a:r>
            <a:r>
              <a:rPr spc="-7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color</a:t>
            </a:r>
            <a:r>
              <a:rPr spc="-100" dirty="0"/>
              <a:t> </a:t>
            </a:r>
            <a:r>
              <a:rPr spc="-10" dirty="0"/>
              <a:t>fidelity.</a:t>
            </a: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dirty="0"/>
              <a:t>LCD</a:t>
            </a:r>
            <a:r>
              <a:rPr spc="190" dirty="0"/>
              <a:t> </a:t>
            </a:r>
            <a:r>
              <a:rPr dirty="0"/>
              <a:t>remains</a:t>
            </a:r>
            <a:r>
              <a:rPr spc="185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gold</a:t>
            </a:r>
            <a:r>
              <a:rPr spc="185" dirty="0"/>
              <a:t> </a:t>
            </a:r>
            <a:r>
              <a:rPr dirty="0"/>
              <a:t>standard</a:t>
            </a:r>
            <a:r>
              <a:rPr spc="185" dirty="0"/>
              <a:t> </a:t>
            </a:r>
            <a:r>
              <a:rPr dirty="0"/>
              <a:t>for</a:t>
            </a:r>
            <a:r>
              <a:rPr spc="200" dirty="0"/>
              <a:t> </a:t>
            </a:r>
            <a:r>
              <a:rPr spc="-25" dirty="0"/>
              <a:t>battery-</a:t>
            </a:r>
            <a:r>
              <a:rPr dirty="0"/>
              <a:t>efficient</a:t>
            </a:r>
            <a:r>
              <a:rPr spc="200" dirty="0"/>
              <a:t> </a:t>
            </a:r>
            <a:r>
              <a:rPr spc="-10" dirty="0"/>
              <a:t>visual 	interfaces.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3" y="1375991"/>
            <a:ext cx="9212580" cy="558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6350" indent="-502920">
              <a:lnSpc>
                <a:spcPct val="151900"/>
              </a:lnSpc>
              <a:spcBef>
                <a:spcPts val="95"/>
              </a:spcBef>
              <a:buAutoNum type="arabicPeriod"/>
              <a:tabLst>
                <a:tab pos="514984" algn="l"/>
                <a:tab pos="516255" algn="l"/>
                <a:tab pos="1598295" algn="l"/>
                <a:tab pos="2299335" algn="l"/>
                <a:tab pos="3124200" algn="l"/>
                <a:tab pos="3733165" algn="l"/>
                <a:tab pos="5062220" algn="l"/>
                <a:tab pos="5808345" algn="l"/>
                <a:tab pos="6619240" algn="l"/>
                <a:tab pos="7171055" algn="l"/>
              </a:tabLst>
            </a:pP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Explain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why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LCDs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are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preferred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over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LEDs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for</a:t>
            </a:r>
            <a:r>
              <a:rPr sz="1850" dirty="0">
                <a:latin typeface="Verdana"/>
                <a:cs typeface="Verdana"/>
              </a:rPr>
              <a:t>	battery-</a:t>
            </a:r>
            <a:r>
              <a:rPr sz="1850" spc="-10" dirty="0">
                <a:latin typeface="Verdana"/>
                <a:cs typeface="Verdana"/>
              </a:rPr>
              <a:t>operated equipment.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Define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chemical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nature of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"liquid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crystals"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as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described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text.</a:t>
            </a:r>
            <a:endParaRPr sz="1850">
              <a:latin typeface="Verdana"/>
              <a:cs typeface="Verdana"/>
            </a:endParaRPr>
          </a:p>
          <a:p>
            <a:pPr marL="514984" marR="5080" indent="-502920">
              <a:lnSpc>
                <a:spcPct val="151400"/>
              </a:lnSpc>
              <a:spcBef>
                <a:spcPts val="10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Describe</a:t>
            </a:r>
            <a:r>
              <a:rPr sz="1850" spc="-7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4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physical</a:t>
            </a:r>
            <a:r>
              <a:rPr sz="1850" spc="4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construction</a:t>
            </a:r>
            <a:r>
              <a:rPr sz="1850" spc="4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-7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reflective</a:t>
            </a:r>
            <a:r>
              <a:rPr sz="1850" spc="-7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principle</a:t>
            </a:r>
            <a:r>
              <a:rPr sz="1850" spc="-7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-6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an</a:t>
            </a:r>
            <a:r>
              <a:rPr sz="1850" spc="-70" dirty="0">
                <a:latin typeface="Verdana"/>
                <a:cs typeface="Verdana"/>
              </a:rPr>
              <a:t>  </a:t>
            </a:r>
            <a:r>
              <a:rPr sz="1850" spc="-25" dirty="0">
                <a:latin typeface="Verdana"/>
                <a:cs typeface="Verdana"/>
              </a:rPr>
              <a:t>LCD </a:t>
            </a:r>
            <a:r>
              <a:rPr sz="1850" spc="-10" dirty="0">
                <a:latin typeface="Verdana"/>
                <a:cs typeface="Verdana"/>
              </a:rPr>
              <a:t>cell.</a:t>
            </a:r>
            <a:endParaRPr sz="1850">
              <a:latin typeface="Verdana"/>
              <a:cs typeface="Verdana"/>
            </a:endParaRPr>
          </a:p>
          <a:p>
            <a:pPr marL="514984" marR="5080" indent="-502920">
              <a:lnSpc>
                <a:spcPct val="151400"/>
              </a:lnSpc>
              <a:spcBef>
                <a:spcPts val="10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Compare</a:t>
            </a:r>
            <a:r>
              <a:rPr sz="1850" spc="3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3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power</a:t>
            </a:r>
            <a:r>
              <a:rPr sz="1850" spc="3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consumption</a:t>
            </a:r>
            <a:r>
              <a:rPr sz="1850" spc="3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3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3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four-digit</a:t>
            </a:r>
            <a:r>
              <a:rPr sz="1850" spc="3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LED</a:t>
            </a:r>
            <a:r>
              <a:rPr sz="1850" spc="3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display</a:t>
            </a:r>
            <a:r>
              <a:rPr sz="1850" spc="3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versus</a:t>
            </a:r>
            <a:r>
              <a:rPr sz="1850" spc="350" dirty="0">
                <a:latin typeface="Verdana"/>
                <a:cs typeface="Verdana"/>
              </a:rPr>
              <a:t> </a:t>
            </a:r>
            <a:r>
              <a:rPr sz="1850" spc="-50" dirty="0">
                <a:latin typeface="Verdana"/>
                <a:cs typeface="Verdana"/>
              </a:rPr>
              <a:t>a </a:t>
            </a:r>
            <a:r>
              <a:rPr sz="1850" dirty="0">
                <a:latin typeface="Verdana"/>
                <a:cs typeface="Verdana"/>
              </a:rPr>
              <a:t>four-digit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LCD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display.</a:t>
            </a:r>
            <a:endParaRPr sz="1850">
              <a:latin typeface="Verdana"/>
              <a:cs typeface="Verdana"/>
            </a:endParaRPr>
          </a:p>
          <a:p>
            <a:pPr marL="514984" marR="6985" indent="-502920">
              <a:lnSpc>
                <a:spcPct val="151400"/>
              </a:lnSpc>
              <a:spcBef>
                <a:spcPts val="10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Briefly</a:t>
            </a:r>
            <a:r>
              <a:rPr sz="1850" spc="2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explain</a:t>
            </a:r>
            <a:r>
              <a:rPr sz="1850" spc="2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evolution</a:t>
            </a:r>
            <a:r>
              <a:rPr sz="1850" spc="2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5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LCD</a:t>
            </a:r>
            <a:r>
              <a:rPr sz="1850" spc="25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technology</a:t>
            </a:r>
            <a:r>
              <a:rPr sz="1850" spc="2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from</a:t>
            </a:r>
            <a:r>
              <a:rPr sz="1850" spc="2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standard</a:t>
            </a:r>
            <a:r>
              <a:rPr sz="1850" spc="25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displays </a:t>
            </a:r>
            <a:r>
              <a:rPr sz="1850" dirty="0">
                <a:latin typeface="Verdana"/>
                <a:cs typeface="Verdana"/>
              </a:rPr>
              <a:t>to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TFT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screens.</a:t>
            </a:r>
            <a:endParaRPr sz="1850">
              <a:latin typeface="Verdana"/>
              <a:cs typeface="Verdana"/>
            </a:endParaRPr>
          </a:p>
          <a:p>
            <a:pPr marL="514984" marR="6350" indent="-502920">
              <a:lnSpc>
                <a:spcPct val="151300"/>
              </a:lnSpc>
              <a:spcBef>
                <a:spcPts val="15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Detailed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Analysis</a:t>
            </a:r>
            <a:r>
              <a:rPr sz="1850" spc="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LCD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Operation: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From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Molecular</a:t>
            </a:r>
            <a:r>
              <a:rPr sz="1850" spc="1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Alignment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to</a:t>
            </a:r>
            <a:r>
              <a:rPr sz="1850" spc="10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Visual Output.</a:t>
            </a:r>
            <a:endParaRPr sz="1850">
              <a:latin typeface="Verdana"/>
              <a:cs typeface="Verdana"/>
            </a:endParaRPr>
          </a:p>
          <a:p>
            <a:pPr marL="514984" marR="6350" indent="-502920">
              <a:lnSpc>
                <a:spcPct val="151400"/>
              </a:lnSpc>
              <a:spcBef>
                <a:spcPts val="10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Discuss</a:t>
            </a:r>
            <a:r>
              <a:rPr sz="1850" spc="4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48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role</a:t>
            </a:r>
            <a:r>
              <a:rPr sz="1850" spc="459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4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auxiliary</a:t>
            </a:r>
            <a:r>
              <a:rPr sz="1850" spc="4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circuitry</a:t>
            </a:r>
            <a:r>
              <a:rPr sz="1850" spc="4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4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electronic</a:t>
            </a:r>
            <a:r>
              <a:rPr sz="1850" spc="4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displays,</a:t>
            </a:r>
            <a:r>
              <a:rPr sz="1850" spc="46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including </a:t>
            </a:r>
            <a:r>
              <a:rPr sz="1850" dirty="0">
                <a:latin typeface="Verdana"/>
                <a:cs typeface="Verdana"/>
              </a:rPr>
              <a:t>Multiplexers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-10" dirty="0">
                <a:latin typeface="Verdana"/>
                <a:cs typeface="Verdana"/>
              </a:rPr>
              <a:t> Inverters.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794</Words>
  <Application>Microsoft Office PowerPoint</Application>
  <PresentationFormat>Custom</PresentationFormat>
  <Paragraphs>164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Verdana</vt:lpstr>
      <vt:lpstr>Wingdings</vt:lpstr>
      <vt:lpstr>Office Theme</vt:lpstr>
      <vt:lpstr>UEC3942: Introduction to Sensors and Actuators</vt:lpstr>
      <vt:lpstr>Learning Outcomes</vt:lpstr>
      <vt:lpstr>Introduction to Electronic Displays</vt:lpstr>
      <vt:lpstr>The Problem with LEDs - Power Consumption</vt:lpstr>
      <vt:lpstr>LED Power Limitations</vt:lpstr>
      <vt:lpstr>Why LCDs for Portable Gear?</vt:lpstr>
      <vt:lpstr>What are "Liquid Crystals"?</vt:lpstr>
      <vt:lpstr>Solid Crystals vs. Liquid Crystals</vt:lpstr>
      <vt:lpstr>Molecular Structure</vt:lpstr>
      <vt:lpstr>LCD Electrical Properties</vt:lpstr>
      <vt:lpstr>Basic LCD Cell Construction</vt:lpstr>
      <vt:lpstr>Basic LCD Cell Construction</vt:lpstr>
      <vt:lpstr>Basic LCD Cell Construction</vt:lpstr>
      <vt:lpstr>Basic LCD Cell Construction</vt:lpstr>
      <vt:lpstr>The Role of Polarization</vt:lpstr>
      <vt:lpstr>LCD Principle</vt:lpstr>
      <vt:lpstr>LCD Principle</vt:lpstr>
      <vt:lpstr>LCD Principle</vt:lpstr>
      <vt:lpstr>How an LCD Creates an Image</vt:lpstr>
      <vt:lpstr>Contrast and Illumination</vt:lpstr>
      <vt:lpstr>LCD Shape Formation</vt:lpstr>
      <vt:lpstr>Power Requirements: DC vs. AC</vt:lpstr>
      <vt:lpstr>Energy Efficiency Breakdown</vt:lpstr>
      <vt:lpstr>Packaging and Integrated Circuits</vt:lpstr>
      <vt:lpstr>The Evolution: "Supertwist" LCDs</vt:lpstr>
      <vt:lpstr>TFT (Thin-Film Transistor) Screens</vt:lpstr>
      <vt:lpstr>Alternative Display Technologies</vt:lpstr>
      <vt:lpstr>Summary of Benefits</vt:lpstr>
      <vt:lpstr>Conclusion &amp; Future Outlook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Liquid Crystal Display (LCD)</dc:title>
  <dc:creator>Karthie Alias Ayyadurai</dc:creator>
  <cp:lastModifiedBy>Microsoft account</cp:lastModifiedBy>
  <cp:revision>2</cp:revision>
  <dcterms:created xsi:type="dcterms:W3CDTF">2026-07-01T10:10:32Z</dcterms:created>
  <dcterms:modified xsi:type="dcterms:W3CDTF">2026-07-01T10:37:52Z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2026-02-04T00:00:00Z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