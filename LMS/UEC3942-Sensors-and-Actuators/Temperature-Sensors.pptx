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10" r:id="rId55"/>
    <p:sldId id="311" r:id="rId56"/>
    <p:sldId id="312" r:id="rId57"/>
    <p:sldId id="313" r:id="rId58"/>
    <p:sldId id="314" r:id="rId5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54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1"/>
                </a:moveTo>
                <a:lnTo>
                  <a:pt x="0" y="263651"/>
                </a:lnTo>
                <a:lnTo>
                  <a:pt x="0" y="0"/>
                </a:lnTo>
                <a:lnTo>
                  <a:pt x="7906512" y="0"/>
                </a:lnTo>
                <a:lnTo>
                  <a:pt x="8057388" y="263651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2"/>
                </a:moveTo>
                <a:lnTo>
                  <a:pt x="0" y="233172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20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76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97" y="34290"/>
                </a:lnTo>
                <a:lnTo>
                  <a:pt x="61823" y="93141"/>
                </a:lnTo>
                <a:lnTo>
                  <a:pt x="56400" y="132588"/>
                </a:lnTo>
                <a:lnTo>
                  <a:pt x="60159" y="158711"/>
                </a:lnTo>
                <a:lnTo>
                  <a:pt x="72783" y="182702"/>
                </a:lnTo>
                <a:lnTo>
                  <a:pt x="96253" y="205244"/>
                </a:lnTo>
                <a:lnTo>
                  <a:pt x="132600" y="227088"/>
                </a:lnTo>
                <a:lnTo>
                  <a:pt x="207276" y="263664"/>
                </a:lnTo>
                <a:lnTo>
                  <a:pt x="221576" y="271678"/>
                </a:lnTo>
                <a:lnTo>
                  <a:pt x="233756" y="281000"/>
                </a:lnTo>
                <a:lnTo>
                  <a:pt x="242201" y="293446"/>
                </a:lnTo>
                <a:lnTo>
                  <a:pt x="245376" y="310908"/>
                </a:lnTo>
                <a:lnTo>
                  <a:pt x="240487" y="330504"/>
                </a:lnTo>
                <a:lnTo>
                  <a:pt x="226898" y="345389"/>
                </a:lnTo>
                <a:lnTo>
                  <a:pt x="206146" y="354838"/>
                </a:lnTo>
                <a:lnTo>
                  <a:pt x="179844" y="358152"/>
                </a:lnTo>
                <a:lnTo>
                  <a:pt x="158572" y="353402"/>
                </a:lnTo>
                <a:lnTo>
                  <a:pt x="140030" y="340817"/>
                </a:lnTo>
                <a:lnTo>
                  <a:pt x="126898" y="322783"/>
                </a:lnTo>
                <a:lnTo>
                  <a:pt x="121932" y="301764"/>
                </a:lnTo>
                <a:lnTo>
                  <a:pt x="121932" y="292620"/>
                </a:lnTo>
                <a:lnTo>
                  <a:pt x="0" y="292620"/>
                </a:lnTo>
                <a:lnTo>
                  <a:pt x="0" y="310908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44" y="425208"/>
                </a:lnTo>
                <a:lnTo>
                  <a:pt x="236842" y="420636"/>
                </a:lnTo>
                <a:lnTo>
                  <a:pt x="285394" y="407428"/>
                </a:lnTo>
                <a:lnTo>
                  <a:pt x="324624" y="386346"/>
                </a:lnTo>
                <a:lnTo>
                  <a:pt x="353682" y="358152"/>
                </a:lnTo>
                <a:lnTo>
                  <a:pt x="371754" y="323608"/>
                </a:lnTo>
                <a:lnTo>
                  <a:pt x="371881" y="322783"/>
                </a:lnTo>
                <a:lnTo>
                  <a:pt x="377964" y="283476"/>
                </a:lnTo>
                <a:lnTo>
                  <a:pt x="372694" y="256628"/>
                </a:lnTo>
                <a:lnTo>
                  <a:pt x="357581" y="233375"/>
                </a:lnTo>
                <a:lnTo>
                  <a:pt x="333590" y="213817"/>
                </a:lnTo>
                <a:lnTo>
                  <a:pt x="301764" y="198132"/>
                </a:lnTo>
                <a:lnTo>
                  <a:pt x="227088" y="160032"/>
                </a:lnTo>
                <a:lnTo>
                  <a:pt x="207479" y="151434"/>
                </a:lnTo>
                <a:lnTo>
                  <a:pt x="192608" y="139268"/>
                </a:lnTo>
                <a:lnTo>
                  <a:pt x="183146" y="123380"/>
                </a:lnTo>
                <a:lnTo>
                  <a:pt x="179844" y="103632"/>
                </a:lnTo>
                <a:lnTo>
                  <a:pt x="184581" y="89966"/>
                </a:lnTo>
                <a:lnTo>
                  <a:pt x="197180" y="77724"/>
                </a:lnTo>
                <a:lnTo>
                  <a:pt x="215201" y="68922"/>
                </a:lnTo>
                <a:lnTo>
                  <a:pt x="236232" y="65532"/>
                </a:lnTo>
                <a:lnTo>
                  <a:pt x="255828" y="69062"/>
                </a:lnTo>
                <a:lnTo>
                  <a:pt x="270713" y="78867"/>
                </a:lnTo>
                <a:lnTo>
                  <a:pt x="280162" y="93827"/>
                </a:lnTo>
                <a:lnTo>
                  <a:pt x="283476" y="112776"/>
                </a:lnTo>
                <a:lnTo>
                  <a:pt x="283476" y="123380"/>
                </a:lnTo>
                <a:lnTo>
                  <a:pt x="406920" y="123380"/>
                </a:lnTo>
                <a:lnTo>
                  <a:pt x="406920" y="103632"/>
                </a:lnTo>
                <a:close/>
              </a:path>
              <a:path w="1039495" h="425450">
                <a:moveTo>
                  <a:pt x="670572" y="103644"/>
                </a:moveTo>
                <a:lnTo>
                  <a:pt x="661504" y="65544"/>
                </a:lnTo>
                <a:lnTo>
                  <a:pt x="660209" y="60083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52" y="0"/>
                </a:lnTo>
                <a:lnTo>
                  <a:pt x="471538" y="1574"/>
                </a:lnTo>
                <a:lnTo>
                  <a:pt x="438531" y="5727"/>
                </a:lnTo>
                <a:lnTo>
                  <a:pt x="410679" y="11582"/>
                </a:lnTo>
                <a:lnTo>
                  <a:pt x="387096" y="18300"/>
                </a:lnTo>
                <a:lnTo>
                  <a:pt x="401408" y="34632"/>
                </a:lnTo>
                <a:lnTo>
                  <a:pt x="413575" y="54114"/>
                </a:lnTo>
                <a:lnTo>
                  <a:pt x="422033" y="77012"/>
                </a:lnTo>
                <a:lnTo>
                  <a:pt x="422122" y="77736"/>
                </a:lnTo>
                <a:lnTo>
                  <a:pt x="425196" y="103644"/>
                </a:lnTo>
                <a:lnTo>
                  <a:pt x="425196" y="112788"/>
                </a:lnTo>
                <a:lnTo>
                  <a:pt x="416115" y="123380"/>
                </a:lnTo>
                <a:lnTo>
                  <a:pt x="416052" y="132600"/>
                </a:lnTo>
                <a:lnTo>
                  <a:pt x="312420" y="132600"/>
                </a:lnTo>
                <a:lnTo>
                  <a:pt x="317449" y="158711"/>
                </a:lnTo>
                <a:lnTo>
                  <a:pt x="332041" y="182702"/>
                </a:lnTo>
                <a:lnTo>
                  <a:pt x="355498" y="205244"/>
                </a:lnTo>
                <a:lnTo>
                  <a:pt x="387096" y="227088"/>
                </a:lnTo>
                <a:lnTo>
                  <a:pt x="463296" y="263664"/>
                </a:lnTo>
                <a:lnTo>
                  <a:pt x="476973" y="271678"/>
                </a:lnTo>
                <a:lnTo>
                  <a:pt x="489204" y="281000"/>
                </a:lnTo>
                <a:lnTo>
                  <a:pt x="498017" y="293446"/>
                </a:lnTo>
                <a:lnTo>
                  <a:pt x="501396" y="310908"/>
                </a:lnTo>
                <a:lnTo>
                  <a:pt x="497713" y="330504"/>
                </a:lnTo>
                <a:lnTo>
                  <a:pt x="486727" y="345389"/>
                </a:lnTo>
                <a:lnTo>
                  <a:pt x="468617" y="354838"/>
                </a:lnTo>
                <a:lnTo>
                  <a:pt x="443484" y="358152"/>
                </a:lnTo>
                <a:lnTo>
                  <a:pt x="419252" y="353402"/>
                </a:lnTo>
                <a:lnTo>
                  <a:pt x="401574" y="340817"/>
                </a:lnTo>
                <a:lnTo>
                  <a:pt x="390766" y="322783"/>
                </a:lnTo>
                <a:lnTo>
                  <a:pt x="387096" y="301764"/>
                </a:lnTo>
                <a:lnTo>
                  <a:pt x="387096" y="292620"/>
                </a:lnTo>
                <a:lnTo>
                  <a:pt x="382358" y="321017"/>
                </a:lnTo>
                <a:lnTo>
                  <a:pt x="369760" y="348437"/>
                </a:lnTo>
                <a:lnTo>
                  <a:pt x="351739" y="373837"/>
                </a:lnTo>
                <a:lnTo>
                  <a:pt x="330708" y="396252"/>
                </a:lnTo>
                <a:lnTo>
                  <a:pt x="321564" y="396252"/>
                </a:lnTo>
                <a:lnTo>
                  <a:pt x="312420" y="405396"/>
                </a:lnTo>
                <a:lnTo>
                  <a:pt x="336410" y="412991"/>
                </a:lnTo>
                <a:lnTo>
                  <a:pt x="365950" y="419303"/>
                </a:lnTo>
                <a:lnTo>
                  <a:pt x="399224" y="423608"/>
                </a:lnTo>
                <a:lnTo>
                  <a:pt x="434340" y="425208"/>
                </a:lnTo>
                <a:lnTo>
                  <a:pt x="491998" y="420636"/>
                </a:lnTo>
                <a:lnTo>
                  <a:pt x="540969" y="407428"/>
                </a:lnTo>
                <a:lnTo>
                  <a:pt x="580466" y="386346"/>
                </a:lnTo>
                <a:lnTo>
                  <a:pt x="609663" y="358152"/>
                </a:lnTo>
                <a:lnTo>
                  <a:pt x="627773" y="323608"/>
                </a:lnTo>
                <a:lnTo>
                  <a:pt x="627900" y="322783"/>
                </a:lnTo>
                <a:lnTo>
                  <a:pt x="633996" y="283476"/>
                </a:lnTo>
                <a:lnTo>
                  <a:pt x="618185" y="233375"/>
                </a:lnTo>
                <a:lnTo>
                  <a:pt x="566940" y="198132"/>
                </a:lnTo>
                <a:lnTo>
                  <a:pt x="490728" y="160032"/>
                </a:lnTo>
                <a:lnTo>
                  <a:pt x="471779" y="151434"/>
                </a:lnTo>
                <a:lnTo>
                  <a:pt x="456819" y="139268"/>
                </a:lnTo>
                <a:lnTo>
                  <a:pt x="447014" y="123380"/>
                </a:lnTo>
                <a:lnTo>
                  <a:pt x="443484" y="103644"/>
                </a:lnTo>
                <a:lnTo>
                  <a:pt x="447014" y="89966"/>
                </a:lnTo>
                <a:lnTo>
                  <a:pt x="456819" y="77736"/>
                </a:lnTo>
                <a:lnTo>
                  <a:pt x="471779" y="68922"/>
                </a:lnTo>
                <a:lnTo>
                  <a:pt x="490728" y="65544"/>
                </a:lnTo>
                <a:lnTo>
                  <a:pt x="515861" y="69062"/>
                </a:lnTo>
                <a:lnTo>
                  <a:pt x="533984" y="78879"/>
                </a:lnTo>
                <a:lnTo>
                  <a:pt x="544957" y="93827"/>
                </a:lnTo>
                <a:lnTo>
                  <a:pt x="548652" y="112788"/>
                </a:lnTo>
                <a:lnTo>
                  <a:pt x="539559" y="123380"/>
                </a:lnTo>
                <a:lnTo>
                  <a:pt x="670572" y="123380"/>
                </a:lnTo>
                <a:lnTo>
                  <a:pt x="670572" y="103644"/>
                </a:lnTo>
                <a:close/>
              </a:path>
              <a:path w="1039495" h="425450">
                <a:moveTo>
                  <a:pt x="1039380" y="103632"/>
                </a:moveTo>
                <a:lnTo>
                  <a:pt x="1030973" y="59804"/>
                </a:lnTo>
                <a:lnTo>
                  <a:pt x="1007567" y="27241"/>
                </a:lnTo>
                <a:lnTo>
                  <a:pt x="971867" y="6985"/>
                </a:lnTo>
                <a:lnTo>
                  <a:pt x="926604" y="0"/>
                </a:lnTo>
                <a:lnTo>
                  <a:pt x="882789" y="5410"/>
                </a:lnTo>
                <a:lnTo>
                  <a:pt x="837831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60" y="85344"/>
                </a:lnTo>
                <a:lnTo>
                  <a:pt x="860856" y="87236"/>
                </a:lnTo>
                <a:lnTo>
                  <a:pt x="875741" y="93535"/>
                </a:lnTo>
                <a:lnTo>
                  <a:pt x="885190" y="105283"/>
                </a:lnTo>
                <a:lnTo>
                  <a:pt x="888504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61" y="142875"/>
                </a:lnTo>
                <a:lnTo>
                  <a:pt x="884643" y="155600"/>
                </a:lnTo>
                <a:lnTo>
                  <a:pt x="879360" y="169164"/>
                </a:lnTo>
                <a:lnTo>
                  <a:pt x="822972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60" y="405384"/>
                </a:lnTo>
                <a:lnTo>
                  <a:pt x="1021092" y="179832"/>
                </a:lnTo>
                <a:lnTo>
                  <a:pt x="1030236" y="141732"/>
                </a:lnTo>
                <a:lnTo>
                  <a:pt x="1035519" y="133210"/>
                </a:lnTo>
                <a:lnTo>
                  <a:pt x="1038237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80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0823" y="426127"/>
            <a:ext cx="6956753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3202" y="1518284"/>
            <a:ext cx="9141460" cy="4551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1670"/>
            <a:ext cx="9505905" cy="11364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35036" y="3143539"/>
            <a:ext cx="7189470" cy="30949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Unit I:</a:t>
            </a:r>
            <a:r>
              <a:rPr sz="3500" b="1" spc="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Temperature</a:t>
            </a:r>
            <a:r>
              <a:rPr sz="3500" b="1" spc="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Sensors</a:t>
            </a:r>
            <a:endParaRPr sz="35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3500" dirty="0">
              <a:latin typeface="Verdana"/>
              <a:cs typeface="Verdana"/>
            </a:endParaRPr>
          </a:p>
          <a:p>
            <a:pPr marL="2259965" marR="2253615" algn="ctr">
              <a:lnSpc>
                <a:spcPct val="121600"/>
              </a:lnSpc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500" spc="12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500" spc="-45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500" spc="-8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IN" sz="2500" spc="-85" dirty="0">
                <a:solidFill>
                  <a:srgbClr val="808080"/>
                </a:solidFill>
                <a:latin typeface="Verdana"/>
                <a:cs typeface="Verdana"/>
              </a:rPr>
              <a:t>C. </a:t>
            </a:r>
            <a:r>
              <a:rPr lang="en-IN" sz="2500" spc="-85">
                <a:solidFill>
                  <a:srgbClr val="808080"/>
                </a:solidFill>
                <a:latin typeface="Verdana"/>
                <a:cs typeface="Verdana"/>
              </a:rPr>
              <a:t>Annadurai</a:t>
            </a:r>
            <a:endParaRPr sz="2500" dirty="0">
              <a:latin typeface="Verdana"/>
              <a:cs typeface="Verdana"/>
            </a:endParaRPr>
          </a:p>
          <a:p>
            <a:pPr marL="928369" marR="920115" algn="ctr">
              <a:lnSpc>
                <a:spcPts val="3650"/>
              </a:lnSpc>
              <a:spcBef>
                <a:spcPts val="90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500" spc="11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500" spc="1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9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500" spc="3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500" spc="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5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10058400" y="1927860"/>
                </a:moveTo>
                <a:lnTo>
                  <a:pt x="0" y="192786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7860"/>
                </a:lnTo>
                <a:close/>
              </a:path>
            </a:pathLst>
          </a:custGeom>
          <a:solidFill>
            <a:srgbClr val="335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387" y="871727"/>
            <a:ext cx="9185275" cy="40894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2650" dirty="0">
                <a:solidFill>
                  <a:srgbClr val="FF0000"/>
                </a:solidFill>
              </a:rPr>
              <a:t>UEC</a:t>
            </a:r>
            <a:r>
              <a:rPr lang="en-IN" sz="2650" dirty="0">
                <a:solidFill>
                  <a:srgbClr val="FF0000"/>
                </a:solidFill>
              </a:rPr>
              <a:t>3942</a:t>
            </a:r>
            <a:r>
              <a:rPr sz="2650" dirty="0">
                <a:solidFill>
                  <a:srgbClr val="FF0000"/>
                </a:solidFill>
              </a:rPr>
              <a:t>:</a:t>
            </a:r>
            <a:r>
              <a:rPr sz="2650" spc="-7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Introduction</a:t>
            </a:r>
            <a:r>
              <a:rPr sz="2650" spc="-13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to</a:t>
            </a:r>
            <a:r>
              <a:rPr sz="2650" spc="-12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Sensors</a:t>
            </a:r>
            <a:r>
              <a:rPr sz="2650" spc="-120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and</a:t>
            </a:r>
            <a:r>
              <a:rPr sz="2650" spc="-130" dirty="0">
                <a:solidFill>
                  <a:srgbClr val="FF0000"/>
                </a:solidFill>
              </a:rPr>
              <a:t> </a:t>
            </a:r>
            <a:r>
              <a:rPr sz="2650" spc="-10" dirty="0">
                <a:solidFill>
                  <a:srgbClr val="FF0000"/>
                </a:solidFill>
              </a:rPr>
              <a:t>Actuators</a:t>
            </a:r>
            <a:endParaRPr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675296"/>
            <a:ext cx="8792210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At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end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session,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students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will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able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to </a:t>
            </a:r>
            <a:r>
              <a:rPr sz="2200" dirty="0">
                <a:latin typeface="Verdana"/>
                <a:cs typeface="Verdana"/>
              </a:rPr>
              <a:t>understand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types,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working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principles,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characteristics,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 </a:t>
            </a:r>
            <a:r>
              <a:rPr sz="2200" dirty="0">
                <a:latin typeface="Verdana"/>
                <a:cs typeface="Verdana"/>
              </a:rPr>
              <a:t>applications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b="1" dirty="0">
                <a:solidFill>
                  <a:srgbClr val="FFFFFF"/>
                </a:solidFill>
                <a:latin typeface="Verdana"/>
                <a:cs typeface="Verdana"/>
              </a:rPr>
              <a:t>Learning</a:t>
            </a:r>
            <a:r>
              <a:rPr sz="3950" b="1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950" b="1" spc="-10" dirty="0">
                <a:solidFill>
                  <a:srgbClr val="FFFFFF"/>
                </a:solidFill>
                <a:latin typeface="Verdana"/>
                <a:cs typeface="Verdana"/>
              </a:rPr>
              <a:t>Outcomes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4094" y="426127"/>
            <a:ext cx="922845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Introduction</a:t>
            </a:r>
            <a:r>
              <a:rPr spc="-5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Thermal</a:t>
            </a:r>
            <a:r>
              <a:rPr spc="-50" dirty="0"/>
              <a:t> </a:t>
            </a:r>
            <a:r>
              <a:rPr spc="-10" dirty="0"/>
              <a:t>Sensing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344385"/>
            <a:ext cx="8709660" cy="606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762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Thermal</a:t>
            </a:r>
            <a:r>
              <a:rPr sz="2200" b="1" spc="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sensing</a:t>
            </a:r>
            <a:r>
              <a:rPr sz="2200" b="1" spc="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critical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process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detect</a:t>
            </a:r>
            <a:r>
              <a:rPr sz="2200" spc="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fire, </a:t>
            </a:r>
            <a:r>
              <a:rPr sz="2200" dirty="0">
                <a:latin typeface="Verdana"/>
                <a:cs typeface="Verdana"/>
              </a:rPr>
              <a:t>overheating,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failure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cooling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systems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like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freezers.</a:t>
            </a:r>
            <a:endParaRPr sz="2200">
              <a:latin typeface="Verdana"/>
              <a:cs typeface="Verdana"/>
            </a:endParaRPr>
          </a:p>
          <a:p>
            <a:pPr marL="390525" marR="6985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1066800" algn="l"/>
                <a:tab pos="2765425" algn="l"/>
                <a:tab pos="3651885" algn="l"/>
                <a:tab pos="4036695" algn="l"/>
                <a:tab pos="5707380" algn="l"/>
                <a:tab pos="6323330" algn="l"/>
                <a:tab pos="7651115" algn="l"/>
                <a:tab pos="8426450" algn="l"/>
              </a:tabLst>
            </a:pP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bimetallic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strip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considered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simplest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type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 </a:t>
            </a:r>
            <a:r>
              <a:rPr sz="2200" dirty="0">
                <a:latin typeface="Verdana"/>
                <a:cs typeface="Verdana"/>
              </a:rPr>
              <a:t>thermal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931544" algn="l"/>
                <a:tab pos="2867025" algn="l"/>
                <a:tab pos="4124960" algn="l"/>
                <a:tab pos="4846955" algn="l"/>
                <a:tab pos="5387975" algn="l"/>
                <a:tab pos="6734809" algn="l"/>
                <a:tab pos="7493634" algn="l"/>
                <a:tab pos="8441690" algn="l"/>
              </a:tabLst>
            </a:pPr>
            <a:r>
              <a:rPr sz="2200" spc="-25" dirty="0">
                <a:latin typeface="Verdana"/>
                <a:cs typeface="Verdana"/>
              </a:rPr>
              <a:t>All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temperature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sensors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rely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changes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that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occur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in </a:t>
            </a:r>
            <a:r>
              <a:rPr sz="2200" dirty="0">
                <a:latin typeface="Verdana"/>
                <a:cs typeface="Verdana"/>
              </a:rPr>
              <a:t>materials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their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temperatures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change.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Types</a:t>
            </a:r>
            <a:r>
              <a:rPr sz="22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of</a:t>
            </a:r>
            <a:r>
              <a:rPr sz="22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Thermal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Sensors:</a:t>
            </a:r>
            <a:endParaRPr sz="2200">
              <a:latin typeface="Verdana"/>
              <a:cs typeface="Verdana"/>
            </a:endParaRPr>
          </a:p>
          <a:p>
            <a:pPr marL="1396365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6365" algn="l"/>
              </a:tabLst>
            </a:pPr>
            <a:r>
              <a:rPr sz="2200" dirty="0">
                <a:latin typeface="Verdana"/>
                <a:cs typeface="Verdana"/>
              </a:rPr>
              <a:t>Bimetallic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Strip</a:t>
            </a:r>
            <a:endParaRPr sz="2200">
              <a:latin typeface="Verdana"/>
              <a:cs typeface="Verdana"/>
            </a:endParaRPr>
          </a:p>
          <a:p>
            <a:pPr marL="1396365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6365" algn="l"/>
              </a:tabLst>
            </a:pPr>
            <a:r>
              <a:rPr sz="2200" spc="-10" dirty="0">
                <a:latin typeface="Verdana"/>
                <a:cs typeface="Verdana"/>
              </a:rPr>
              <a:t>Thermocouple</a:t>
            </a:r>
            <a:endParaRPr sz="2200">
              <a:latin typeface="Verdana"/>
              <a:cs typeface="Verdana"/>
            </a:endParaRPr>
          </a:p>
          <a:p>
            <a:pPr marL="1396365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6365" algn="l"/>
              </a:tabLst>
            </a:pP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-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Thermometer</a:t>
            </a:r>
            <a:r>
              <a:rPr sz="2200" spc="-1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(RTD)</a:t>
            </a:r>
            <a:endParaRPr sz="2200">
              <a:latin typeface="Verdana"/>
              <a:cs typeface="Verdana"/>
            </a:endParaRPr>
          </a:p>
          <a:p>
            <a:pPr marL="1396365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6365" algn="l"/>
              </a:tabLst>
            </a:pPr>
            <a:r>
              <a:rPr sz="2200" spc="-10" dirty="0">
                <a:latin typeface="Verdana"/>
                <a:cs typeface="Verdana"/>
              </a:rPr>
              <a:t>Thermistor</a:t>
            </a:r>
            <a:endParaRPr sz="2200">
              <a:latin typeface="Verdana"/>
              <a:cs typeface="Verdana"/>
            </a:endParaRPr>
          </a:p>
          <a:p>
            <a:pPr marL="1396365" lvl="1" indent="-37846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396365" algn="l"/>
              </a:tabLst>
            </a:pPr>
            <a:r>
              <a:rPr sz="2200" dirty="0">
                <a:latin typeface="Verdana"/>
                <a:cs typeface="Verdana"/>
              </a:rPr>
              <a:t>Pyroelectric</a:t>
            </a:r>
            <a:r>
              <a:rPr sz="2200" spc="-1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Detectors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68065" y="426127"/>
            <a:ext cx="89242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Defining</a:t>
            </a:r>
            <a:r>
              <a:rPr spc="-45" dirty="0"/>
              <a:t> </a:t>
            </a:r>
            <a:r>
              <a:rPr dirty="0"/>
              <a:t>Heat</a:t>
            </a:r>
            <a:r>
              <a:rPr spc="-2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Temperature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09660" cy="30435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 algn="just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Heat</a:t>
            </a:r>
            <a:r>
              <a:rPr sz="2200" b="1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form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joules.</a:t>
            </a:r>
            <a:endParaRPr sz="2200">
              <a:latin typeface="Verdana"/>
              <a:cs typeface="Verdana"/>
            </a:endParaRPr>
          </a:p>
          <a:p>
            <a:pPr marL="389255" marR="762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emperature</a:t>
            </a:r>
            <a:r>
              <a:rPr sz="2200" b="1" spc="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serves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level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heat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for 	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while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physical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state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remains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unchanged.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1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relationship</a:t>
            </a:r>
            <a:r>
              <a:rPr sz="2200" spc="1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1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1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1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18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is 	</a:t>
            </a:r>
            <a:r>
              <a:rPr sz="2200" dirty="0">
                <a:latin typeface="Verdana"/>
                <a:cs typeface="Verdana"/>
              </a:rPr>
              <a:t>comparable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relationship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level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energy.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1475" y="426127"/>
            <a:ext cx="935418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Construction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Bimetallic</a:t>
            </a:r>
            <a:r>
              <a:rPr spc="-55" dirty="0"/>
              <a:t> </a:t>
            </a:r>
            <a:r>
              <a:rPr spc="-10" dirty="0"/>
              <a:t>Strip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4700" y="1553417"/>
            <a:ext cx="896112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635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743585" algn="l"/>
                <a:tab pos="2540000" algn="l"/>
                <a:tab pos="3427729" algn="l"/>
                <a:tab pos="3812540" algn="l"/>
                <a:tab pos="5022850" algn="l"/>
                <a:tab pos="5521960" algn="l"/>
                <a:tab pos="6748780" algn="l"/>
                <a:tab pos="7200900" algn="l"/>
                <a:tab pos="8439150" algn="l"/>
              </a:tabLst>
            </a:pP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BF0000"/>
                </a:solidFill>
                <a:latin typeface="Verdana"/>
                <a:cs typeface="Verdana"/>
              </a:rPr>
              <a:t>compound</a:t>
            </a:r>
            <a:r>
              <a:rPr sz="2200" b="1" dirty="0">
                <a:solidFill>
                  <a:srgbClr val="BF0000"/>
                </a:solidFill>
                <a:latin typeface="Verdana"/>
                <a:cs typeface="Verdana"/>
              </a:rPr>
              <a:t>	</a:t>
            </a:r>
            <a:r>
              <a:rPr sz="2200" b="1" spc="-20" dirty="0">
                <a:solidFill>
                  <a:srgbClr val="BF0000"/>
                </a:solidFill>
                <a:latin typeface="Verdana"/>
                <a:cs typeface="Verdana"/>
              </a:rPr>
              <a:t>strip</a:t>
            </a:r>
            <a:r>
              <a:rPr sz="2200" b="1" dirty="0">
                <a:solidFill>
                  <a:srgbClr val="B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created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by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riveting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welding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two </a:t>
            </a:r>
            <a:r>
              <a:rPr sz="2200" dirty="0">
                <a:latin typeface="Verdana"/>
                <a:cs typeface="Verdana"/>
              </a:rPr>
              <a:t>layers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different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metals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together.</a:t>
            </a:r>
            <a:endParaRPr sz="2200">
              <a:latin typeface="Verdana"/>
              <a:cs typeface="Verdana"/>
            </a:endParaRPr>
          </a:p>
          <a:p>
            <a:pPr marL="390525" marR="6985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These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metals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specifically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chosen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have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very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different </a:t>
            </a:r>
            <a:r>
              <a:rPr sz="2200" dirty="0">
                <a:latin typeface="Verdana"/>
                <a:cs typeface="Verdana"/>
              </a:rPr>
              <a:t>values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linear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expansivity.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strip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manufactured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various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shapes,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including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straight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strip,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spring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shape,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disc.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7757" y="5173687"/>
            <a:ext cx="6593181" cy="10303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04849" y="426127"/>
            <a:ext cx="505206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Working</a:t>
            </a:r>
            <a:r>
              <a:rPr spc="-55" dirty="0"/>
              <a:t> </a:t>
            </a:r>
            <a:r>
              <a:rPr spc="-10" dirty="0"/>
              <a:t>Principle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6083" y="1726907"/>
            <a:ext cx="870775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600835" algn="l"/>
                <a:tab pos="3745865" algn="l"/>
                <a:tab pos="4544060" algn="l"/>
                <a:tab pos="4989830" algn="l"/>
                <a:tab pos="5668010" algn="l"/>
                <a:tab pos="7195820" algn="l"/>
                <a:tab pos="842581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Linear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Expansivity: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This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fractional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change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 </a:t>
            </a:r>
            <a:r>
              <a:rPr sz="2200" dirty="0">
                <a:latin typeface="Verdana"/>
                <a:cs typeface="Verdana"/>
              </a:rPr>
              <a:t>length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per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degree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temperature.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6083" y="2732982"/>
            <a:ext cx="8708390" cy="10312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90525" algn="l"/>
                <a:tab pos="1887855" algn="l"/>
                <a:tab pos="3208020" algn="l"/>
                <a:tab pos="4580255" algn="l"/>
                <a:tab pos="5247005" algn="l"/>
                <a:tab pos="5966460" algn="l"/>
                <a:tab pos="7118350" algn="l"/>
                <a:tab pos="835660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Bending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Action: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Because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two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metals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expand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by</a:t>
            </a:r>
            <a:endParaRPr sz="22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320"/>
              </a:spcBef>
            </a:pPr>
            <a:r>
              <a:rPr sz="2200" spc="-25" dirty="0">
                <a:latin typeface="Verdana"/>
                <a:cs typeface="Verdana"/>
              </a:rPr>
              <a:t>to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4110" y="3235884"/>
            <a:ext cx="784669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401445" algn="l"/>
                <a:tab pos="2823845" algn="l"/>
                <a:tab pos="3780154" algn="l"/>
                <a:tab pos="5046345" algn="l"/>
                <a:tab pos="5704205" algn="l"/>
                <a:tab pos="6535420" algn="l"/>
                <a:tab pos="6962140" algn="l"/>
              </a:tabLst>
            </a:pPr>
            <a:r>
              <a:rPr sz="2200" spc="-10" dirty="0">
                <a:latin typeface="Verdana"/>
                <a:cs typeface="Verdana"/>
              </a:rPr>
              <a:t>different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amounts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when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heated,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strip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forced </a:t>
            </a:r>
            <a:r>
              <a:rPr sz="2200" spc="-10" dirty="0">
                <a:latin typeface="Verdana"/>
                <a:cs typeface="Verdana"/>
              </a:rPr>
              <a:t>bend.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6083" y="4241687"/>
            <a:ext cx="871093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2010410" algn="l"/>
                <a:tab pos="2512695" algn="l"/>
                <a:tab pos="3606165" algn="l"/>
                <a:tab pos="4587875" algn="l"/>
                <a:tab pos="5840095" algn="l"/>
                <a:tab pos="6481445" algn="l"/>
                <a:tab pos="7463155" algn="l"/>
                <a:tab pos="824357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Direction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of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Bend: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When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heated,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metal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with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 </a:t>
            </a:r>
            <a:r>
              <a:rPr sz="2200" dirty="0">
                <a:latin typeface="Verdana"/>
                <a:cs typeface="Verdana"/>
              </a:rPr>
              <a:t>higher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expansivity will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outer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side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curve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4472" y="5768046"/>
            <a:ext cx="3611879" cy="9970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3998" y="426127"/>
            <a:ext cx="96932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Common</a:t>
            </a:r>
            <a:r>
              <a:rPr spc="-20" dirty="0"/>
              <a:t> </a:t>
            </a:r>
            <a:r>
              <a:rPr dirty="0"/>
              <a:t>Metal</a:t>
            </a:r>
            <a:r>
              <a:rPr spc="-50" dirty="0"/>
              <a:t> </a:t>
            </a:r>
            <a:r>
              <a:rPr dirty="0"/>
              <a:t>Expansivity</a:t>
            </a:r>
            <a:r>
              <a:rPr spc="-40" dirty="0"/>
              <a:t> </a:t>
            </a:r>
            <a:r>
              <a:rPr spc="-10" dirty="0"/>
              <a:t>Values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3917" y="1816157"/>
            <a:ext cx="93948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Linear</a:t>
            </a:r>
            <a:r>
              <a:rPr sz="2200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expansivity</a:t>
            </a:r>
            <a:r>
              <a:rPr sz="2200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values</a:t>
            </a:r>
            <a:r>
              <a:rPr sz="2200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(multiply</a:t>
            </a:r>
            <a:r>
              <a:rPr sz="2200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by</a:t>
            </a:r>
            <a:r>
              <a:rPr sz="2200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Verdana"/>
                <a:cs typeface="Verdana"/>
              </a:rPr>
              <a:t>10</a:t>
            </a:r>
            <a:r>
              <a:rPr sz="2175" spc="-30" baseline="24904" dirty="0">
                <a:solidFill>
                  <a:srgbClr val="FF0000"/>
                </a:solidFill>
                <a:latin typeface="Verdana"/>
                <a:cs typeface="Verdana"/>
              </a:rPr>
              <a:t>-</a:t>
            </a:r>
            <a:r>
              <a:rPr sz="2175" baseline="24904" dirty="0">
                <a:solidFill>
                  <a:srgbClr val="FF0000"/>
                </a:solidFill>
                <a:latin typeface="Verdana"/>
                <a:cs typeface="Verdana"/>
              </a:rPr>
              <a:t>5</a:t>
            </a:r>
            <a:r>
              <a:rPr sz="2175" spc="352" baseline="2490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m</a:t>
            </a:r>
            <a:r>
              <a:rPr sz="2200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for</a:t>
            </a:r>
            <a:r>
              <a:rPr sz="2200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value</a:t>
            </a:r>
            <a:r>
              <a:rPr sz="2200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in</a:t>
            </a:r>
            <a:r>
              <a:rPr sz="2200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spc="-80" dirty="0">
                <a:solidFill>
                  <a:srgbClr val="FF0000"/>
                </a:solidFill>
                <a:latin typeface="Verdana"/>
                <a:cs typeface="Verdana"/>
              </a:rPr>
              <a:t>K</a:t>
            </a:r>
            <a:r>
              <a:rPr sz="2175" spc="-120" baseline="24904" dirty="0">
                <a:solidFill>
                  <a:srgbClr val="FF0000"/>
                </a:solidFill>
                <a:latin typeface="Verdana"/>
                <a:cs typeface="Verdana"/>
              </a:rPr>
              <a:t>-</a:t>
            </a:r>
            <a:r>
              <a:rPr sz="2175" spc="-37" baseline="24904" dirty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r>
              <a:rPr sz="2200" spc="-25" dirty="0">
                <a:solidFill>
                  <a:srgbClr val="FF0000"/>
                </a:solidFill>
                <a:latin typeface="Verdana"/>
                <a:cs typeface="Verdana"/>
              </a:rPr>
              <a:t>):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31098" y="2441836"/>
            <a:ext cx="1827530" cy="10312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b="1" spc="-10" dirty="0">
                <a:solidFill>
                  <a:srgbClr val="1F1F1F"/>
                </a:solidFill>
                <a:latin typeface="Verdana"/>
                <a:cs typeface="Verdana"/>
              </a:rPr>
              <a:t>Expansivity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1.2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67972" y="2441836"/>
            <a:ext cx="1858010" cy="2875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200" b="1" spc="-10" dirty="0">
                <a:solidFill>
                  <a:srgbClr val="1F1F1F"/>
                </a:solidFill>
                <a:latin typeface="Verdana"/>
                <a:cs typeface="Verdana"/>
              </a:rPr>
              <a:t>Metal/Alloy </a:t>
            </a:r>
            <a:r>
              <a:rPr sz="2200" b="1" spc="-20" dirty="0">
                <a:solidFill>
                  <a:srgbClr val="1F1F1F"/>
                </a:solidFill>
                <a:latin typeface="Verdana"/>
                <a:cs typeface="Verdana"/>
              </a:rPr>
              <a:t>Iron</a:t>
            </a:r>
            <a:endParaRPr sz="2200">
              <a:latin typeface="Verdana"/>
              <a:cs typeface="Verdana"/>
            </a:endParaRPr>
          </a:p>
          <a:p>
            <a:pPr marL="12700" marR="419734">
              <a:lnSpc>
                <a:spcPct val="100000"/>
              </a:lnSpc>
              <a:spcBef>
                <a:spcPts val="1320"/>
              </a:spcBef>
            </a:pPr>
            <a:r>
              <a:rPr sz="2200" b="1" spc="-10" dirty="0">
                <a:solidFill>
                  <a:srgbClr val="1F1F1F"/>
                </a:solidFill>
                <a:latin typeface="Verdana"/>
                <a:cs typeface="Verdana"/>
              </a:rPr>
              <a:t>Stainless Steel</a:t>
            </a:r>
            <a:endParaRPr sz="2200">
              <a:latin typeface="Verdana"/>
              <a:cs typeface="Verdana"/>
            </a:endParaRPr>
          </a:p>
          <a:p>
            <a:pPr marL="12700" marR="437515">
              <a:lnSpc>
                <a:spcPct val="150000"/>
              </a:lnSpc>
            </a:pPr>
            <a:r>
              <a:rPr sz="2200" b="1" spc="-10" dirty="0">
                <a:solidFill>
                  <a:srgbClr val="1F1F1F"/>
                </a:solidFill>
                <a:latin typeface="Verdana"/>
                <a:cs typeface="Verdana"/>
              </a:rPr>
              <a:t>Platinum Invar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4846" y="2441836"/>
            <a:ext cx="1827530" cy="10312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b="1" spc="-10" dirty="0">
                <a:solidFill>
                  <a:srgbClr val="1F1F1F"/>
                </a:solidFill>
                <a:latin typeface="Verdana"/>
                <a:cs typeface="Verdana"/>
              </a:rPr>
              <a:t>Expansivity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2.6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1720" y="2441836"/>
            <a:ext cx="185801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200" b="1" spc="-10" dirty="0">
                <a:solidFill>
                  <a:srgbClr val="1F1F1F"/>
                </a:solidFill>
                <a:latin typeface="Verdana"/>
                <a:cs typeface="Verdana"/>
              </a:rPr>
              <a:t>Metal/Alloy Magnesium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31098" y="3783506"/>
            <a:ext cx="4819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1.0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1720" y="3783506"/>
            <a:ext cx="27451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75205" algn="l"/>
              </a:tabLst>
            </a:pPr>
            <a:r>
              <a:rPr sz="2200" b="1" spc="-10" dirty="0">
                <a:solidFill>
                  <a:srgbClr val="1F1F1F"/>
                </a:solidFill>
                <a:latin typeface="Verdana"/>
                <a:cs typeface="Verdana"/>
              </a:rPr>
              <a:t>Aluminium</a:t>
            </a:r>
            <a:r>
              <a:rPr sz="2200" b="1" dirty="0">
                <a:solidFill>
                  <a:srgbClr val="1F1F1F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2.4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31098" y="4285945"/>
            <a:ext cx="657860" cy="10312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0.90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0.2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04846" y="4285945"/>
            <a:ext cx="481965" cy="10312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2.1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1.6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1720" y="4285945"/>
            <a:ext cx="113474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200" b="1" spc="-10" dirty="0">
                <a:solidFill>
                  <a:srgbClr val="1F1F1F"/>
                </a:solidFill>
                <a:latin typeface="Verdana"/>
                <a:cs typeface="Verdana"/>
              </a:rPr>
              <a:t>Brass Copper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2704" y="426127"/>
            <a:ext cx="86321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Sensitivity</a:t>
            </a:r>
            <a:r>
              <a:rPr spc="-5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Physical</a:t>
            </a:r>
            <a:r>
              <a:rPr spc="-45" dirty="0"/>
              <a:t> </a:t>
            </a:r>
            <a:r>
              <a:rPr spc="-10" dirty="0"/>
              <a:t>Forms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675296"/>
            <a:ext cx="8877935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825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Sensitivity:</a:t>
            </a:r>
            <a:r>
              <a:rPr sz="2200" b="1" spc="3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sensitivity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depends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length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strip.</a:t>
            </a:r>
            <a:endParaRPr sz="2200">
              <a:latin typeface="Verdana"/>
              <a:cs typeface="Verdana"/>
            </a:endParaRPr>
          </a:p>
          <a:p>
            <a:pPr marL="389255" marR="698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Spiral</a:t>
            </a:r>
            <a:r>
              <a:rPr sz="2200" b="1" spc="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Strips:</a:t>
            </a:r>
            <a:r>
              <a:rPr sz="2200" b="1" spc="1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increase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sensitivity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within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space,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strip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often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arranged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spiral.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Proportionality:</a:t>
            </a:r>
            <a:r>
              <a:rPr sz="2200" b="1" spc="4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amount</a:t>
            </a:r>
            <a:r>
              <a:rPr sz="2200" spc="4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deflection</a:t>
            </a:r>
            <a:r>
              <a:rPr sz="2200" spc="4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42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fairly 	</a:t>
            </a:r>
            <a:r>
              <a:rPr sz="2200" dirty="0">
                <a:latin typeface="Verdana"/>
                <a:cs typeface="Verdana"/>
              </a:rPr>
              <a:t>precisely</a:t>
            </a:r>
            <a:r>
              <a:rPr sz="2200" spc="3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proportional</a:t>
            </a:r>
            <a:r>
              <a:rPr sz="2200" spc="3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3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3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if</a:t>
            </a:r>
            <a:r>
              <a:rPr sz="2200" spc="33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range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remains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small.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5117" y="124572"/>
            <a:ext cx="964755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735" marR="5080" indent="-3328670">
              <a:lnSpc>
                <a:spcPct val="100200"/>
              </a:lnSpc>
              <a:spcBef>
                <a:spcPts val="100"/>
              </a:spcBef>
            </a:pPr>
            <a:r>
              <a:rPr dirty="0"/>
              <a:t>Characteristics</a:t>
            </a:r>
            <a:r>
              <a:rPr spc="-4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Challenge</a:t>
            </a:r>
            <a:r>
              <a:rPr spc="-70" dirty="0"/>
              <a:t> </a:t>
            </a:r>
            <a:r>
              <a:rPr spc="-25" dirty="0"/>
              <a:t>of </a:t>
            </a:r>
            <a:r>
              <a:rPr spc="-10" dirty="0"/>
              <a:t>Hysteresis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9711" y="1548787"/>
            <a:ext cx="896048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611630" algn="l"/>
                <a:tab pos="3218180" algn="l"/>
                <a:tab pos="5173345" algn="l"/>
                <a:tab pos="6155055" algn="l"/>
                <a:tab pos="7223125" algn="l"/>
                <a:tab pos="8142605" algn="l"/>
              </a:tabLst>
            </a:pPr>
            <a:r>
              <a:rPr sz="2200" spc="-10" dirty="0">
                <a:latin typeface="Verdana"/>
                <a:cs typeface="Verdana"/>
              </a:rPr>
              <a:t>Simple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bimetallic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thermostats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often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suffer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from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large hysteresis.</a:t>
            </a:r>
            <a:endParaRPr sz="2200">
              <a:latin typeface="Verdana"/>
              <a:cs typeface="Verdana"/>
            </a:endParaRPr>
          </a:p>
          <a:p>
            <a:pPr marL="390525" marR="6985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For example,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thermostat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set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 20°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might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not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open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until </a:t>
            </a:r>
            <a:r>
              <a:rPr sz="2200" dirty="0">
                <a:latin typeface="Verdana"/>
                <a:cs typeface="Verdana"/>
              </a:rPr>
              <a:t>22°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not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close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again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until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18° </a:t>
            </a:r>
            <a:r>
              <a:rPr sz="2200" spc="-25" dirty="0">
                <a:latin typeface="Verdana"/>
                <a:cs typeface="Verdana"/>
              </a:rPr>
              <a:t>C.</a:t>
            </a:r>
            <a:endParaRPr sz="2200">
              <a:latin typeface="Verdana"/>
              <a:cs typeface="Verdana"/>
            </a:endParaRPr>
          </a:p>
          <a:p>
            <a:pPr marL="390525" marR="9525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This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leads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 undesirable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swings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make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thermostat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ineffective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precise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control.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32240" y="124572"/>
            <a:ext cx="819404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1720" marR="5080" indent="-2319655">
              <a:lnSpc>
                <a:spcPct val="100200"/>
              </a:lnSpc>
              <a:spcBef>
                <a:spcPts val="100"/>
              </a:spcBef>
            </a:pPr>
            <a:r>
              <a:rPr dirty="0"/>
              <a:t>Improving</a:t>
            </a:r>
            <a:r>
              <a:rPr spc="-75" dirty="0"/>
              <a:t> </a:t>
            </a:r>
            <a:r>
              <a:rPr dirty="0"/>
              <a:t>Performance</a:t>
            </a:r>
            <a:r>
              <a:rPr spc="-45" dirty="0"/>
              <a:t> </a:t>
            </a:r>
            <a:r>
              <a:rPr spc="-20" dirty="0"/>
              <a:t>with </a:t>
            </a:r>
            <a:r>
              <a:rPr spc="-10" dirty="0"/>
              <a:t>Accelerators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7696" y="1536667"/>
            <a:ext cx="8959215" cy="354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Accelerator:</a:t>
            </a:r>
            <a:r>
              <a:rPr sz="2200" b="1" spc="-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high-</a:t>
            </a:r>
            <a:r>
              <a:rPr sz="2200" dirty="0">
                <a:latin typeface="Verdana"/>
                <a:cs typeface="Verdana"/>
              </a:rPr>
              <a:t>value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resistor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placed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near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bimetallic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element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reduce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hysteresis.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Function:</a:t>
            </a:r>
            <a:r>
              <a:rPr sz="2200" b="1" spc="3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contacts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close,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resistor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generates 	</a:t>
            </a:r>
            <a:r>
              <a:rPr sz="2200" dirty="0">
                <a:latin typeface="Verdana"/>
                <a:cs typeface="Verdana"/>
              </a:rPr>
              <a:t>heat,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causing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thermostat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heat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up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faster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spc="-10" dirty="0">
                <a:latin typeface="Verdana"/>
                <a:cs typeface="Verdana"/>
              </a:rPr>
              <a:t>room.</a:t>
            </a:r>
            <a:endParaRPr sz="2200">
              <a:latin typeface="Verdana"/>
              <a:cs typeface="Verdana"/>
            </a:endParaRPr>
          </a:p>
          <a:p>
            <a:pPr marL="389255" marR="698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Benefit:</a:t>
            </a:r>
            <a:r>
              <a:rPr sz="2200" b="1" spc="1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causes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contacts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open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before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room 	</a:t>
            </a:r>
            <a:r>
              <a:rPr sz="2200" dirty="0">
                <a:latin typeface="Verdana"/>
                <a:cs typeface="Verdana"/>
              </a:rPr>
              <a:t>overshoots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desired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temperature.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544" y="5252935"/>
            <a:ext cx="7348714" cy="19941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1134" y="124572"/>
            <a:ext cx="909828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84830" marR="5080" indent="-3072765">
              <a:lnSpc>
                <a:spcPct val="100200"/>
              </a:lnSpc>
              <a:spcBef>
                <a:spcPts val="100"/>
              </a:spcBef>
            </a:pPr>
            <a:r>
              <a:rPr dirty="0"/>
              <a:t>Bimetallic</a:t>
            </a:r>
            <a:r>
              <a:rPr spc="-75" dirty="0"/>
              <a:t> </a:t>
            </a:r>
            <a:r>
              <a:rPr dirty="0"/>
              <a:t>Discs</a:t>
            </a:r>
            <a:r>
              <a:rPr spc="-45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spc="-10" dirty="0"/>
              <a:t>Overheating Protection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4700" y="1518284"/>
            <a:ext cx="8861425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Snap-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over Action: </a:t>
            </a:r>
            <a:r>
              <a:rPr sz="2200" dirty="0">
                <a:latin typeface="Verdana"/>
                <a:cs typeface="Verdana"/>
              </a:rPr>
              <a:t>Bimetallic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discs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buckle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abruptly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a 	</a:t>
            </a:r>
            <a:r>
              <a:rPr sz="2200" dirty="0">
                <a:latin typeface="Verdana"/>
                <a:cs typeface="Verdana"/>
              </a:rPr>
              <a:t>certain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reached,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providing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"snap"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action 	</a:t>
            </a:r>
            <a:r>
              <a:rPr sz="2200" dirty="0">
                <a:latin typeface="Verdana"/>
                <a:cs typeface="Verdana"/>
              </a:rPr>
              <a:t>without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external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assistance.</a:t>
            </a:r>
            <a:endParaRPr sz="2200">
              <a:latin typeface="Verdana"/>
              <a:cs typeface="Verdana"/>
            </a:endParaRPr>
          </a:p>
          <a:p>
            <a:pPr marL="389255" marR="952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Applications:</a:t>
            </a:r>
            <a:r>
              <a:rPr sz="2200" b="1" spc="2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25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25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2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extensively</a:t>
            </a:r>
            <a:r>
              <a:rPr sz="2200" spc="2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6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protect 	</a:t>
            </a:r>
            <a:r>
              <a:rPr sz="2200" dirty="0">
                <a:latin typeface="Verdana"/>
                <a:cs typeface="Verdana"/>
              </a:rPr>
              <a:t>electronic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equipment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components.</a:t>
            </a:r>
            <a:endParaRPr sz="2200">
              <a:latin typeface="Verdana"/>
              <a:cs typeface="Verdana"/>
            </a:endParaRPr>
          </a:p>
          <a:p>
            <a:pPr marL="389255" marR="889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Targets:</a:t>
            </a:r>
            <a:r>
              <a:rPr sz="2200" b="1" spc="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commonly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bolted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heat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sinks,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motors, 	transformers,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jug-kettles.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9061" y="5256010"/>
            <a:ext cx="4090651" cy="18294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94968" y="426127"/>
            <a:ext cx="846645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Applications</a:t>
            </a:r>
            <a:r>
              <a:rPr spc="-5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Maintenance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428406"/>
            <a:ext cx="8961755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Thermostats:</a:t>
            </a:r>
            <a:r>
              <a:rPr sz="2200" b="1" spc="3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3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controlling</a:t>
            </a:r>
            <a:r>
              <a:rPr sz="2200" spc="3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room</a:t>
            </a:r>
            <a:r>
              <a:rPr sz="2200" spc="3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heating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systems.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Safety</a:t>
            </a:r>
            <a:r>
              <a:rPr sz="2200" b="1" spc="3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Switches:</a:t>
            </a:r>
            <a:r>
              <a:rPr sz="2200" b="1" spc="3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fire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detection</a:t>
            </a:r>
            <a:r>
              <a:rPr sz="2200" spc="3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overheating 	protection.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Maintenance:</a:t>
            </a:r>
            <a:r>
              <a:rPr sz="2200" b="1" spc="305" dirty="0">
                <a:solidFill>
                  <a:srgbClr val="FF0000"/>
                </a:solidFill>
                <a:latin typeface="Verdana"/>
                <a:cs typeface="Verdana"/>
              </a:rPr>
              <a:t>   </a:t>
            </a:r>
            <a:r>
              <a:rPr sz="2200" spc="-20" dirty="0">
                <a:latin typeface="Verdana"/>
                <a:cs typeface="Verdana"/>
              </a:rPr>
              <a:t>Long-</a:t>
            </a:r>
            <a:r>
              <a:rPr sz="2200" dirty="0">
                <a:latin typeface="Verdana"/>
                <a:cs typeface="Verdana"/>
              </a:rPr>
              <a:t>element</a:t>
            </a:r>
            <a:r>
              <a:rPr sz="2200" spc="28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strips</a:t>
            </a:r>
            <a:r>
              <a:rPr sz="2200" spc="28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require</a:t>
            </a:r>
            <a:r>
              <a:rPr sz="2200" spc="275" dirty="0">
                <a:latin typeface="Verdana"/>
                <a:cs typeface="Verdana"/>
              </a:rPr>
              <a:t>   </a:t>
            </a:r>
            <a:r>
              <a:rPr sz="2200" spc="-10" dirty="0">
                <a:latin typeface="Verdana"/>
                <a:cs typeface="Verdana"/>
              </a:rPr>
              <a:t>periodic 	</a:t>
            </a:r>
            <a:r>
              <a:rPr sz="2200" dirty="0">
                <a:latin typeface="Verdana"/>
                <a:cs typeface="Verdana"/>
              </a:rPr>
              <a:t>recalibration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because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subject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"creep"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(gradual 	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metal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over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time).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6687" y="426127"/>
            <a:ext cx="88233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Introduction</a:t>
            </a:r>
            <a:r>
              <a:rPr spc="-5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Thermocouples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6083" y="1726907"/>
            <a:ext cx="871093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635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Definition:</a:t>
            </a:r>
            <a:r>
              <a:rPr sz="2200" b="1" spc="1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thermocouple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primary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element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frequently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thermal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switches.</a:t>
            </a:r>
            <a:endParaRPr sz="2200">
              <a:latin typeface="Verdana"/>
              <a:cs typeface="Verdana"/>
            </a:endParaRPr>
          </a:p>
          <a:p>
            <a:pPr marL="390525" marR="762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Core</a:t>
            </a:r>
            <a:r>
              <a:rPr sz="2200" b="1" spc="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Concept:</a:t>
            </a:r>
            <a:r>
              <a:rPr sz="2200" b="1" spc="1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consists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two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dissimilar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metals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joined together.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Basic</a:t>
            </a:r>
            <a:r>
              <a:rPr sz="2200" b="1" spc="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Function:</a:t>
            </a:r>
            <a:r>
              <a:rPr sz="2200" b="1" spc="20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converts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differences</a:t>
            </a:r>
            <a:r>
              <a:rPr sz="2200" spc="14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into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(contact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potential).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970" y="4998204"/>
            <a:ext cx="3690717" cy="20294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6152" y="4924044"/>
            <a:ext cx="3503676" cy="24688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72161" y="124572"/>
            <a:ext cx="591693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2434">
              <a:lnSpc>
                <a:spcPct val="100200"/>
              </a:lnSpc>
              <a:spcBef>
                <a:spcPts val="100"/>
              </a:spcBef>
            </a:pPr>
            <a:r>
              <a:rPr dirty="0"/>
              <a:t>Working</a:t>
            </a:r>
            <a:r>
              <a:rPr spc="-55" dirty="0"/>
              <a:t> </a:t>
            </a:r>
            <a:r>
              <a:rPr spc="-10" dirty="0"/>
              <a:t>Principle </a:t>
            </a:r>
            <a:r>
              <a:rPr dirty="0"/>
              <a:t>(The</a:t>
            </a:r>
            <a:r>
              <a:rPr spc="-40" dirty="0"/>
              <a:t> </a:t>
            </a:r>
            <a:r>
              <a:rPr dirty="0"/>
              <a:t>Seebeck</a:t>
            </a:r>
            <a:r>
              <a:rPr spc="-15" dirty="0"/>
              <a:t> </a:t>
            </a:r>
            <a:r>
              <a:rPr spc="-10" dirty="0"/>
              <a:t>Effect)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3459" y="1542659"/>
            <a:ext cx="879284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-6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Seebeck</a:t>
            </a:r>
            <a:r>
              <a:rPr sz="2200" b="1" spc="-5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Effect:</a:t>
            </a:r>
            <a:r>
              <a:rPr sz="2200" b="1" spc="-6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Thermocouples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operate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based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on 	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phenomenon,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where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EMF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generated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due</a:t>
            </a:r>
            <a:r>
              <a:rPr sz="2200" spc="6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to 	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1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gradients.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Mechanism:</a:t>
            </a:r>
            <a:r>
              <a:rPr sz="2200" b="1" spc="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contact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potential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exists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dissimilar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3459" y="3554402"/>
            <a:ext cx="1656714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>
              <a:lnSpc>
                <a:spcPct val="150000"/>
              </a:lnSpc>
              <a:spcBef>
                <a:spcPts val="100"/>
              </a:spcBef>
            </a:pPr>
            <a:r>
              <a:rPr sz="2200" spc="-10" dirty="0">
                <a:latin typeface="Verdana"/>
                <a:cs typeface="Verdana"/>
              </a:rPr>
              <a:t>metals; changes.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Voltage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7573" y="3722635"/>
            <a:ext cx="703008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3280" algn="l"/>
                <a:tab pos="2393950" algn="l"/>
                <a:tab pos="3863975" algn="l"/>
                <a:tab pos="4497070" algn="l"/>
                <a:tab pos="5274945" algn="l"/>
              </a:tabLst>
            </a:pPr>
            <a:r>
              <a:rPr sz="2200" spc="-20" dirty="0">
                <a:latin typeface="Verdana"/>
                <a:cs typeface="Verdana"/>
              </a:rPr>
              <a:t>this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potential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changes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temperature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4306" y="4728438"/>
            <a:ext cx="70104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41500" algn="l"/>
                <a:tab pos="2820670" algn="l"/>
                <a:tab pos="3194685" algn="l"/>
                <a:tab pos="4217670" algn="l"/>
                <a:tab pos="577151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Detection: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While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single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junction's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potential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1487" y="5063108"/>
            <a:ext cx="841311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cannot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measured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alone,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circuit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two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junctions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at </a:t>
            </a:r>
            <a:r>
              <a:rPr sz="2200" dirty="0">
                <a:latin typeface="Verdana"/>
                <a:cs typeface="Verdana"/>
              </a:rPr>
              <a:t>different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temperatures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produces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detectable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a </a:t>
            </a:r>
            <a:r>
              <a:rPr sz="2200" dirty="0">
                <a:latin typeface="Verdana"/>
                <a:cs typeface="Verdana"/>
              </a:rPr>
              <a:t>few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millivolts.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19608" y="426127"/>
            <a:ext cx="781685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Thermocouple</a:t>
            </a:r>
            <a:r>
              <a:rPr spc="-50" dirty="0"/>
              <a:t> </a:t>
            </a:r>
            <a:r>
              <a:rPr spc="-10" dirty="0"/>
              <a:t>Construction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10295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Junctions:</a:t>
            </a:r>
            <a:r>
              <a:rPr sz="2200" b="1" spc="-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standard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circuit</a:t>
            </a:r>
            <a:r>
              <a:rPr sz="2200" spc="-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features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"Hot"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junction 	</a:t>
            </a:r>
            <a:r>
              <a:rPr sz="2200" dirty="0">
                <a:latin typeface="Verdana"/>
                <a:cs typeface="Verdana"/>
              </a:rPr>
              <a:t>(sensing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end)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"Cold"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junction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(reference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end).</a:t>
            </a:r>
            <a:endParaRPr sz="2200">
              <a:latin typeface="Verdana"/>
              <a:cs typeface="Verdana"/>
            </a:endParaRPr>
          </a:p>
          <a:p>
            <a:pPr marL="389255" marR="825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Materials:</a:t>
            </a:r>
            <a:r>
              <a:rPr sz="2200" b="1" spc="4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Common</a:t>
            </a:r>
            <a:r>
              <a:rPr sz="2200" spc="45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examples</a:t>
            </a:r>
            <a:r>
              <a:rPr sz="2200" spc="4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include</a:t>
            </a:r>
            <a:r>
              <a:rPr sz="2200" spc="43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combinations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like 	</a:t>
            </a:r>
            <a:r>
              <a:rPr sz="2200" dirty="0">
                <a:latin typeface="Verdana"/>
                <a:cs typeface="Verdana"/>
              </a:rPr>
              <a:t>Copper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Constantan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(an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alloy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copper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nickel).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Circuit</a:t>
            </a:r>
            <a:r>
              <a:rPr sz="2200" b="1" spc="-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Design:</a:t>
            </a:r>
            <a:r>
              <a:rPr sz="2200" b="1" spc="-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Practical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circuits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must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designed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so 	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only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intended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junctions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exposed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different 	temperatures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avoid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parasitic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voltages.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6455" y="426127"/>
            <a:ext cx="86055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Mathematical</a:t>
            </a:r>
            <a:r>
              <a:rPr spc="-35" dirty="0"/>
              <a:t> </a:t>
            </a:r>
            <a:r>
              <a:rPr dirty="0"/>
              <a:t>Modeling</a:t>
            </a:r>
            <a:r>
              <a:rPr spc="-5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25" dirty="0"/>
              <a:t>EMF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0836" y="1428406"/>
            <a:ext cx="8709660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835150" algn="l"/>
                <a:tab pos="3558540" algn="l"/>
                <a:tab pos="4300220" algn="l"/>
                <a:tab pos="6442075" algn="l"/>
                <a:tab pos="7421245" algn="l"/>
                <a:tab pos="847280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General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Equation: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Electromotive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Force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(EMF)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 </a:t>
            </a:r>
            <a:r>
              <a:rPr sz="2200" dirty="0">
                <a:latin typeface="Verdana"/>
                <a:cs typeface="Verdana"/>
              </a:rPr>
              <a:t>calculated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as: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5"/>
              </a:spcBef>
              <a:buClr>
                <a:srgbClr val="FF0000"/>
              </a:buClr>
              <a:buFont typeface="Wingdings"/>
              <a:buChar char=""/>
            </a:pPr>
            <a:endParaRPr sz="2200">
              <a:latin typeface="Verdana"/>
              <a:cs typeface="Verdana"/>
            </a:endParaRPr>
          </a:p>
          <a:p>
            <a:pPr marL="390525" marR="6985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Simplified</a:t>
            </a:r>
            <a:r>
              <a:rPr sz="2200" b="1" spc="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Model:</a:t>
            </a:r>
            <a:r>
              <a:rPr sz="2200" b="1" spc="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If</a:t>
            </a:r>
            <a:r>
              <a:rPr sz="2200" spc="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cold</a:t>
            </a:r>
            <a:r>
              <a:rPr sz="2200" spc="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junction</a:t>
            </a:r>
            <a:r>
              <a:rPr sz="2200" spc="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held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0°C,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</a:t>
            </a:r>
            <a:r>
              <a:rPr sz="2200" dirty="0">
                <a:latin typeface="Verdana"/>
                <a:cs typeface="Verdana"/>
              </a:rPr>
              <a:t>equation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becomes: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0836" y="4915364"/>
            <a:ext cx="8706485" cy="11658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90525" marR="5080" indent="-378460">
              <a:lnSpc>
                <a:spcPct val="145100"/>
              </a:lnSpc>
              <a:spcBef>
                <a:spcPts val="385"/>
              </a:spcBef>
              <a:buFont typeface="Wingdings"/>
              <a:buChar char=""/>
              <a:tabLst>
                <a:tab pos="390525" algn="l"/>
                <a:tab pos="2272030" algn="l"/>
                <a:tab pos="2768600" algn="l"/>
                <a:tab pos="3736340" algn="l"/>
                <a:tab pos="5264785" algn="l"/>
                <a:tab pos="5739130" algn="l"/>
                <a:tab pos="6212840" algn="l"/>
                <a:tab pos="6664325" algn="l"/>
                <a:tab pos="7143750" algn="l"/>
                <a:tab pos="7866380" algn="l"/>
                <a:tab pos="8242934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Constants: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these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formulas,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b,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c,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650" spc="-25" dirty="0">
                <a:latin typeface="Times New Roman"/>
                <a:cs typeface="Times New Roman"/>
              </a:rPr>
              <a:t>α</a:t>
            </a:r>
            <a:r>
              <a:rPr sz="2200" spc="-25" dirty="0">
                <a:latin typeface="Verdana"/>
                <a:cs typeface="Verdana"/>
              </a:rPr>
              <a:t>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β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30" dirty="0">
                <a:latin typeface="Verdana"/>
                <a:cs typeface="Verdana"/>
              </a:rPr>
              <a:t>are </a:t>
            </a:r>
            <a:r>
              <a:rPr sz="2200" dirty="0">
                <a:latin typeface="Verdana"/>
                <a:cs typeface="Verdana"/>
              </a:rPr>
              <a:t>specific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constants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determined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types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metals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used.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4240" y="2209800"/>
            <a:ext cx="2883651" cy="6411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88079" y="4283964"/>
            <a:ext cx="2319693" cy="58078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4505" y="426127"/>
            <a:ext cx="802894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Performance</a:t>
            </a:r>
            <a:r>
              <a:rPr spc="-45" dirty="0"/>
              <a:t> </a:t>
            </a:r>
            <a:r>
              <a:rPr spc="-10" dirty="0"/>
              <a:t>Characteristics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428406"/>
            <a:ext cx="9044940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Linearity:</a:t>
            </a:r>
            <a:r>
              <a:rPr sz="22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below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"transition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point,"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EMF</a:t>
            </a:r>
            <a:r>
              <a:rPr sz="2200" spc="1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1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almost</a:t>
            </a:r>
            <a:r>
              <a:rPr sz="2200" spc="1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directly</a:t>
            </a:r>
            <a:r>
              <a:rPr sz="2200" spc="1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proportional</a:t>
            </a:r>
            <a:r>
              <a:rPr sz="2200" spc="1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5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temperature 	difference.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-9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Transition</a:t>
            </a:r>
            <a:r>
              <a:rPr sz="2200" b="1" spc="5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Point:</a:t>
            </a:r>
            <a:r>
              <a:rPr sz="2200" b="1" spc="-1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Most</a:t>
            </a:r>
            <a:r>
              <a:rPr sz="2200" spc="5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thermocouples</a:t>
            </a:r>
            <a:r>
              <a:rPr sz="2200" spc="5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reach</a:t>
            </a:r>
            <a:r>
              <a:rPr sz="2200" spc="5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53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peak 	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14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(turn-</a:t>
            </a:r>
            <a:r>
              <a:rPr sz="2200" dirty="0">
                <a:latin typeface="Verdana"/>
                <a:cs typeface="Verdana"/>
              </a:rPr>
              <a:t>over</a:t>
            </a:r>
            <a:r>
              <a:rPr sz="2200" spc="1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point),</a:t>
            </a:r>
            <a:r>
              <a:rPr sz="2200" spc="1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after</a:t>
            </a:r>
            <a:r>
              <a:rPr sz="2200" spc="1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which</a:t>
            </a:r>
            <a:r>
              <a:rPr sz="2200" spc="1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4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characteristic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3202" y="3943051"/>
            <a:ext cx="2275840" cy="10312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420"/>
              </a:spcBef>
            </a:pPr>
            <a:r>
              <a:rPr sz="2200" spc="-10" dirty="0">
                <a:latin typeface="Verdana"/>
                <a:cs typeface="Verdana"/>
              </a:rPr>
              <a:t>reverses.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Limitations: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68214" y="4614186"/>
            <a:ext cx="65004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65580" algn="l"/>
                <a:tab pos="2025650" algn="l"/>
                <a:tab pos="2828925" algn="l"/>
                <a:tab pos="4243070" algn="l"/>
                <a:tab pos="5054600" algn="l"/>
              </a:tabLst>
            </a:pPr>
            <a:r>
              <a:rPr sz="2200" spc="-10" dirty="0">
                <a:latin typeface="Verdana"/>
                <a:cs typeface="Verdana"/>
              </a:rPr>
              <a:t>Because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this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reversal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non-linear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1093" y="4948855"/>
            <a:ext cx="866330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498600" algn="l"/>
                <a:tab pos="3777615" algn="l"/>
                <a:tab pos="4441190" algn="l"/>
                <a:tab pos="5807710" algn="l"/>
                <a:tab pos="6859270" algn="l"/>
                <a:tab pos="7659370" algn="l"/>
                <a:tab pos="8482330" algn="l"/>
              </a:tabLst>
            </a:pPr>
            <a:r>
              <a:rPr sz="2200" spc="-10" dirty="0">
                <a:latin typeface="Verdana"/>
                <a:cs typeface="Verdana"/>
              </a:rPr>
              <a:t>behavior,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thermocouples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typically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useful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only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over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 </a:t>
            </a:r>
            <a:r>
              <a:rPr sz="2200" dirty="0">
                <a:latin typeface="Verdana"/>
                <a:cs typeface="Verdana"/>
              </a:rPr>
              <a:t>specific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limited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range.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0657" y="124572"/>
            <a:ext cx="851662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7839" marR="5080" indent="-1755775">
              <a:lnSpc>
                <a:spcPct val="100200"/>
              </a:lnSpc>
              <a:spcBef>
                <a:spcPts val="100"/>
              </a:spcBef>
            </a:pPr>
            <a:r>
              <a:rPr dirty="0"/>
              <a:t>Common</a:t>
            </a:r>
            <a:r>
              <a:rPr spc="-20" dirty="0"/>
              <a:t> </a:t>
            </a:r>
            <a:r>
              <a:rPr dirty="0"/>
              <a:t>Thermocouple</a:t>
            </a:r>
            <a:r>
              <a:rPr spc="-60" dirty="0"/>
              <a:t> </a:t>
            </a:r>
            <a:r>
              <a:rPr spc="-10" dirty="0"/>
              <a:t>Types </a:t>
            </a:r>
            <a:r>
              <a:rPr dirty="0"/>
              <a:t>(Standard</a:t>
            </a:r>
            <a:r>
              <a:rPr spc="-50" dirty="0"/>
              <a:t> </a:t>
            </a:r>
            <a:r>
              <a:rPr spc="-10" dirty="0"/>
              <a:t>Codes)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06069" y="1845074"/>
            <a:ext cx="1998345" cy="4183379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1950" b="1" spc="-10" dirty="0">
                <a:solidFill>
                  <a:srgbClr val="1F1F1F"/>
                </a:solidFill>
                <a:latin typeface="Calibri"/>
                <a:cs typeface="Calibri"/>
              </a:rPr>
              <a:t>Notes</a:t>
            </a:r>
            <a:endParaRPr sz="1950">
              <a:latin typeface="Calibri"/>
              <a:cs typeface="Calibri"/>
            </a:endParaRPr>
          </a:p>
          <a:p>
            <a:pPr marL="12700" marR="421640" algn="just">
              <a:lnSpc>
                <a:spcPct val="101499"/>
              </a:lnSpc>
              <a:spcBef>
                <a:spcPts val="1320"/>
              </a:spcBef>
            </a:pPr>
            <a:r>
              <a:rPr sz="1950" dirty="0">
                <a:solidFill>
                  <a:srgbClr val="1F1F1F"/>
                </a:solidFill>
                <a:latin typeface="Calibri"/>
                <a:cs typeface="Calibri"/>
              </a:rPr>
              <a:t>Most</a:t>
            </a:r>
            <a:r>
              <a:rPr sz="195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F1F1F"/>
                </a:solidFill>
                <a:latin typeface="Calibri"/>
                <a:cs typeface="Calibri"/>
              </a:rPr>
              <a:t>common; </a:t>
            </a:r>
            <a:r>
              <a:rPr sz="1950" dirty="0">
                <a:solidFill>
                  <a:srgbClr val="1F1F1F"/>
                </a:solidFill>
                <a:latin typeface="Calibri"/>
                <a:cs typeface="Calibri"/>
              </a:rPr>
              <a:t>avoid</a:t>
            </a:r>
            <a:r>
              <a:rPr sz="1950" spc="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F1F1F"/>
                </a:solidFill>
                <a:latin typeface="Calibri"/>
                <a:cs typeface="Calibri"/>
              </a:rPr>
              <a:t>reducing agents.</a:t>
            </a:r>
            <a:endParaRPr sz="1950">
              <a:latin typeface="Calibri"/>
              <a:cs typeface="Calibri"/>
            </a:endParaRPr>
          </a:p>
          <a:p>
            <a:pPr marL="12700" marR="5080">
              <a:lnSpc>
                <a:spcPct val="101499"/>
              </a:lnSpc>
              <a:spcBef>
                <a:spcPts val="1320"/>
              </a:spcBef>
            </a:pPr>
            <a:r>
              <a:rPr sz="1950" dirty="0">
                <a:solidFill>
                  <a:srgbClr val="1F1F1F"/>
                </a:solidFill>
                <a:latin typeface="Calibri"/>
                <a:cs typeface="Calibri"/>
              </a:rPr>
              <a:t>Attacked</a:t>
            </a:r>
            <a:r>
              <a:rPr sz="195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F1F1F"/>
                </a:solidFill>
                <a:latin typeface="Calibri"/>
                <a:cs typeface="Calibri"/>
              </a:rPr>
              <a:t>by</a:t>
            </a:r>
            <a:r>
              <a:rPr sz="195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F1F1F"/>
                </a:solidFill>
                <a:latin typeface="Calibri"/>
                <a:cs typeface="Calibri"/>
              </a:rPr>
              <a:t>oxygen </a:t>
            </a:r>
            <a:r>
              <a:rPr sz="1950" dirty="0">
                <a:solidFill>
                  <a:srgbClr val="1F1F1F"/>
                </a:solidFill>
                <a:latin typeface="Calibri"/>
                <a:cs typeface="Calibri"/>
              </a:rPr>
              <a:t>or</a:t>
            </a:r>
            <a:r>
              <a:rPr sz="1950" spc="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F1F1F"/>
                </a:solidFill>
                <a:latin typeface="Calibri"/>
                <a:cs typeface="Calibri"/>
              </a:rPr>
              <a:t>acids.</a:t>
            </a:r>
            <a:endParaRPr sz="1950">
              <a:latin typeface="Calibri"/>
              <a:cs typeface="Calibri"/>
            </a:endParaRPr>
          </a:p>
          <a:p>
            <a:pPr marL="12700" marR="206375">
              <a:lnSpc>
                <a:spcPct val="101600"/>
              </a:lnSpc>
              <a:spcBef>
                <a:spcPts val="1320"/>
              </a:spcBef>
            </a:pPr>
            <a:r>
              <a:rPr sz="1950" dirty="0">
                <a:solidFill>
                  <a:srgbClr val="1F1F1F"/>
                </a:solidFill>
                <a:latin typeface="Calibri"/>
                <a:cs typeface="Calibri"/>
              </a:rPr>
              <a:t>Ideal</a:t>
            </a:r>
            <a:r>
              <a:rPr sz="1950" spc="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1F1F1F"/>
                </a:solidFill>
                <a:latin typeface="Calibri"/>
                <a:cs typeface="Calibri"/>
              </a:rPr>
              <a:t>for</a:t>
            </a:r>
            <a:r>
              <a:rPr sz="1950" spc="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950" spc="-20" dirty="0">
                <a:solidFill>
                  <a:srgbClr val="1F1F1F"/>
                </a:solidFill>
                <a:latin typeface="Calibri"/>
                <a:cs typeface="Calibri"/>
              </a:rPr>
              <a:t>low- </a:t>
            </a:r>
            <a:r>
              <a:rPr sz="1950" dirty="0">
                <a:solidFill>
                  <a:srgbClr val="1F1F1F"/>
                </a:solidFill>
                <a:latin typeface="Calibri"/>
                <a:cs typeface="Calibri"/>
              </a:rPr>
              <a:t>temperature</a:t>
            </a:r>
            <a:r>
              <a:rPr sz="195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950" spc="-20" dirty="0">
                <a:solidFill>
                  <a:srgbClr val="1F1F1F"/>
                </a:solidFill>
                <a:latin typeface="Calibri"/>
                <a:cs typeface="Calibri"/>
              </a:rPr>
              <a:t>use.</a:t>
            </a:r>
            <a:endParaRPr sz="1950">
              <a:latin typeface="Calibri"/>
              <a:cs typeface="Calibri"/>
            </a:endParaRPr>
          </a:p>
          <a:p>
            <a:pPr marL="12700" marR="94615">
              <a:lnSpc>
                <a:spcPct val="101499"/>
              </a:lnSpc>
              <a:spcBef>
                <a:spcPts val="1320"/>
              </a:spcBef>
            </a:pPr>
            <a:r>
              <a:rPr sz="1950" dirty="0">
                <a:solidFill>
                  <a:srgbClr val="1F1F1F"/>
                </a:solidFill>
                <a:latin typeface="Calibri"/>
                <a:cs typeface="Calibri"/>
              </a:rPr>
              <a:t>High</a:t>
            </a:r>
            <a:r>
              <a:rPr sz="1950" spc="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F1F1F"/>
                </a:solidFill>
                <a:latin typeface="Calibri"/>
                <a:cs typeface="Calibri"/>
              </a:rPr>
              <a:t>temperature; </a:t>
            </a:r>
            <a:r>
              <a:rPr sz="1950" dirty="0">
                <a:solidFill>
                  <a:srgbClr val="1F1F1F"/>
                </a:solidFill>
                <a:latin typeface="Calibri"/>
                <a:cs typeface="Calibri"/>
              </a:rPr>
              <a:t>needs</a:t>
            </a:r>
            <a:r>
              <a:rPr sz="1950" spc="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950" spc="-10" dirty="0">
                <a:solidFill>
                  <a:srgbClr val="1F1F1F"/>
                </a:solidFill>
                <a:latin typeface="Calibri"/>
                <a:cs typeface="Calibri"/>
              </a:rPr>
              <a:t>ceramic sheath.</a:t>
            </a:r>
            <a:endParaRPr sz="195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97633" y="2088286"/>
          <a:ext cx="6233160" cy="3639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3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59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950" b="1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0560">
                        <a:lnSpc>
                          <a:spcPts val="1875"/>
                        </a:lnSpc>
                      </a:pPr>
                      <a:r>
                        <a:rPr sz="195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Metals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ts val="1875"/>
                        </a:lnSpc>
                      </a:pPr>
                      <a:r>
                        <a:rPr sz="1950" b="1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Range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19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r>
                        <a:rPr sz="1950" b="1" spc="-4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50" b="1" spc="-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T="231140" marB="0"/>
                </a:tc>
                <a:tc>
                  <a:txBody>
                    <a:bodyPr/>
                    <a:lstStyle/>
                    <a:p>
                      <a:pPr marL="670560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19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NiCr</a:t>
                      </a:r>
                      <a:r>
                        <a:rPr sz="1950" spc="3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950" spc="4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50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NiAl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T="231140" marB="0"/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ct val="100000"/>
                        </a:lnSpc>
                        <a:spcBef>
                          <a:spcPts val="1845"/>
                        </a:spcBef>
                      </a:pPr>
                      <a:r>
                        <a:rPr sz="19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0 to</a:t>
                      </a:r>
                      <a:r>
                        <a:rPr sz="1950" spc="3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1100</a:t>
                      </a:r>
                      <a:r>
                        <a:rPr sz="1950" spc="-1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°</a:t>
                      </a:r>
                      <a:r>
                        <a:rPr sz="19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T="2343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64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9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r>
                        <a:rPr sz="1950" b="1" spc="-4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50" b="1" spc="-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J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670560">
                        <a:lnSpc>
                          <a:spcPct val="100000"/>
                        </a:lnSpc>
                      </a:pPr>
                      <a:r>
                        <a:rPr sz="19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Fe</a:t>
                      </a:r>
                      <a:r>
                        <a:rPr sz="1950" spc="1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950" spc="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50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CuNi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sz="19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0 to</a:t>
                      </a:r>
                      <a:r>
                        <a:rPr sz="1950" spc="3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50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800</a:t>
                      </a:r>
                      <a:r>
                        <a:rPr sz="1950" spc="-2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°</a:t>
                      </a:r>
                      <a:r>
                        <a:rPr sz="1950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T="2349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64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19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r>
                        <a:rPr sz="1950" b="1" spc="-4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50" b="1" spc="-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T="229870" marB="0"/>
                </a:tc>
                <a:tc>
                  <a:txBody>
                    <a:bodyPr/>
                    <a:lstStyle/>
                    <a:p>
                      <a:pPr marL="670560">
                        <a:lnSpc>
                          <a:spcPct val="100000"/>
                        </a:lnSpc>
                        <a:spcBef>
                          <a:spcPts val="1810"/>
                        </a:spcBef>
                      </a:pPr>
                      <a:r>
                        <a:rPr sz="19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</a:t>
                      </a:r>
                      <a:r>
                        <a:rPr sz="1950" spc="2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950" spc="3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50" spc="-2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CuNi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T="229870" marB="0"/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ct val="100000"/>
                        </a:lnSpc>
                        <a:spcBef>
                          <a:spcPts val="1835"/>
                        </a:spcBef>
                      </a:pPr>
                      <a:r>
                        <a:rPr sz="19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-200</a:t>
                      </a:r>
                      <a:r>
                        <a:rPr sz="1950" spc="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950" spc="3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+400</a:t>
                      </a:r>
                      <a:r>
                        <a:rPr sz="1950" spc="-1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°</a:t>
                      </a:r>
                      <a:r>
                        <a:rPr sz="19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T="2330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950" b="1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r>
                        <a:rPr sz="1950" b="1" spc="-4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50" b="1" spc="-2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S/R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670560">
                        <a:lnSpc>
                          <a:spcPct val="100000"/>
                        </a:lnSpc>
                      </a:pPr>
                      <a:r>
                        <a:rPr sz="19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PtRh</a:t>
                      </a:r>
                      <a:r>
                        <a:rPr sz="1950" spc="2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950" spc="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50" spc="-2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Pt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sz="195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0 to</a:t>
                      </a:r>
                      <a:r>
                        <a:rPr sz="1950" spc="35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1400</a:t>
                      </a:r>
                      <a:r>
                        <a:rPr sz="1950" spc="-1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°</a:t>
                      </a:r>
                      <a:r>
                        <a:rPr sz="1950" spc="-10" dirty="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1950">
                        <a:latin typeface="Calibri"/>
                        <a:cs typeface="Calibri"/>
                      </a:endParaRPr>
                    </a:p>
                  </a:txBody>
                  <a:tcPr marL="0" marR="0" marT="2349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63783" y="124572"/>
            <a:ext cx="672909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6695" marR="5080" indent="-1484630">
              <a:lnSpc>
                <a:spcPct val="100200"/>
              </a:lnSpc>
              <a:spcBef>
                <a:spcPts val="100"/>
              </a:spcBef>
            </a:pPr>
            <a:r>
              <a:rPr dirty="0"/>
              <a:t>Signal</a:t>
            </a:r>
            <a:r>
              <a:rPr spc="-50" dirty="0"/>
              <a:t> </a:t>
            </a:r>
            <a:r>
              <a:rPr dirty="0"/>
              <a:t>Conditioning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Amplification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10930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Small</a:t>
            </a:r>
            <a:r>
              <a:rPr sz="2200" b="1" spc="-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Output:</a:t>
            </a:r>
            <a:r>
              <a:rPr sz="2200" b="1" spc="-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Outputs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very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low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(millivolts),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often 	</a:t>
            </a:r>
            <a:r>
              <a:rPr sz="2200" dirty="0">
                <a:latin typeface="Verdana"/>
                <a:cs typeface="Verdana"/>
              </a:rPr>
              <a:t>requiring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amplification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useful.</a:t>
            </a:r>
            <a:endParaRPr sz="2200">
              <a:latin typeface="Verdana"/>
              <a:cs typeface="Verdana"/>
            </a:endParaRPr>
          </a:p>
          <a:p>
            <a:pPr marL="389255" marR="762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Amplifier</a:t>
            </a:r>
            <a:r>
              <a:rPr sz="2200" b="1" spc="190" dirty="0">
                <a:solidFill>
                  <a:srgbClr val="FF0000"/>
                </a:solidFill>
                <a:latin typeface="Verdana"/>
                <a:cs typeface="Verdana"/>
              </a:rPr>
              <a:t> 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Choice:</a:t>
            </a:r>
            <a:r>
              <a:rPr sz="2200" b="1" spc="185" dirty="0">
                <a:solidFill>
                  <a:srgbClr val="FF0000"/>
                </a:solidFill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"Chopper"</a:t>
            </a:r>
            <a:r>
              <a:rPr sz="2200" spc="16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type</a:t>
            </a:r>
            <a:r>
              <a:rPr sz="2200" spc="18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amplifiers</a:t>
            </a:r>
            <a:r>
              <a:rPr sz="2200" spc="165" dirty="0">
                <a:latin typeface="Verdana"/>
                <a:cs typeface="Verdana"/>
              </a:rPr>
              <a:t>   </a:t>
            </a:r>
            <a:r>
              <a:rPr sz="2200" spc="-25" dirty="0">
                <a:latin typeface="Verdana"/>
                <a:cs typeface="Verdana"/>
              </a:rPr>
              <a:t>are 	</a:t>
            </a:r>
            <a:r>
              <a:rPr sz="2200" dirty="0">
                <a:latin typeface="Verdana"/>
                <a:cs typeface="Verdana"/>
              </a:rPr>
              <a:t>preferred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due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their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superior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drift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stability.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Switching:</a:t>
            </a:r>
            <a:r>
              <a:rPr sz="2200" b="1" spc="1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on/off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actions,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Schmitt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trigger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circuit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is 	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permit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adjustment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switching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temperature 	bias.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50766" y="426127"/>
            <a:ext cx="85566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Advantages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Thermocouples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726907"/>
            <a:ext cx="8961755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762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Physical</a:t>
            </a:r>
            <a:r>
              <a:rPr sz="2200" b="1" spc="2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Size:</a:t>
            </a:r>
            <a:r>
              <a:rPr sz="2200" b="1" spc="2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1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elements</a:t>
            </a:r>
            <a:r>
              <a:rPr sz="2200" spc="1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1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very</a:t>
            </a:r>
            <a:r>
              <a:rPr sz="2200" spc="17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small, 	</a:t>
            </a:r>
            <a:r>
              <a:rPr sz="2200" dirty="0">
                <a:latin typeface="Verdana"/>
                <a:cs typeface="Verdana"/>
              </a:rPr>
              <a:t>allowing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them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fit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tight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spaces.</a:t>
            </a:r>
            <a:endParaRPr sz="2200">
              <a:latin typeface="Verdana"/>
              <a:cs typeface="Verdana"/>
            </a:endParaRPr>
          </a:p>
          <a:p>
            <a:pPr marL="389255" marR="762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Response</a:t>
            </a:r>
            <a:r>
              <a:rPr sz="2200" b="1" spc="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Time:</a:t>
            </a:r>
            <a:r>
              <a:rPr sz="2200" b="1" spc="1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Their</a:t>
            </a:r>
            <a:r>
              <a:rPr sz="2200" spc="1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mass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allows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them</a:t>
            </a:r>
            <a:r>
              <a:rPr sz="2200" spc="1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respond 	</a:t>
            </a:r>
            <a:r>
              <a:rPr sz="2200" dirty="0">
                <a:latin typeface="Verdana"/>
                <a:cs typeface="Verdana"/>
              </a:rPr>
              <a:t>quickly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rapidly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changing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temperatures.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Remote</a:t>
            </a:r>
            <a:r>
              <a:rPr sz="2200" b="1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Sensing: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nature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output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allows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reading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circuitry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located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far</a:t>
            </a:r>
            <a:r>
              <a:rPr sz="2200" spc="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6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actual 	sensor.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9866" y="426127"/>
            <a:ext cx="86772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Related</a:t>
            </a:r>
            <a:r>
              <a:rPr spc="-50" dirty="0"/>
              <a:t> </a:t>
            </a:r>
            <a:r>
              <a:rPr dirty="0"/>
              <a:t>Thermoelectric</a:t>
            </a:r>
            <a:r>
              <a:rPr spc="-80" dirty="0"/>
              <a:t> </a:t>
            </a:r>
            <a:r>
              <a:rPr spc="-10" dirty="0"/>
              <a:t>Effects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0836" y="1518284"/>
            <a:ext cx="8792845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55" algn="just">
              <a:lnSpc>
                <a:spcPct val="150000"/>
              </a:lnSpc>
              <a:spcBef>
                <a:spcPts val="100"/>
              </a:spcBef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Peltier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Effect:  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reverse</a:t>
            </a:r>
            <a:r>
              <a:rPr sz="2200" spc="-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Seebeck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effect </a:t>
            </a:r>
            <a:r>
              <a:rPr sz="2200" dirty="0">
                <a:latin typeface="Verdana"/>
                <a:cs typeface="Verdana"/>
              </a:rPr>
              <a:t>(using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electricity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create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difference).</a:t>
            </a:r>
            <a:endParaRPr sz="2200">
              <a:latin typeface="Verdana"/>
              <a:cs typeface="Verdana"/>
            </a:endParaRPr>
          </a:p>
          <a:p>
            <a:pPr marL="12700" marR="5715" algn="just">
              <a:lnSpc>
                <a:spcPct val="150000"/>
              </a:lnSpc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Kelvin</a:t>
            </a:r>
            <a:r>
              <a:rPr sz="2200" b="1" spc="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Effect:</a:t>
            </a:r>
            <a:r>
              <a:rPr sz="2200" b="1" spc="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Concerns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EMF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generated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single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conductor </a:t>
            </a:r>
            <a:r>
              <a:rPr sz="2200" dirty="0">
                <a:latin typeface="Verdana"/>
                <a:cs typeface="Verdana"/>
              </a:rPr>
              <a:t>(no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junction)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difference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exists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between </a:t>
            </a:r>
            <a:r>
              <a:rPr sz="2200" dirty="0">
                <a:latin typeface="Verdana"/>
                <a:cs typeface="Verdana"/>
              </a:rPr>
              <a:t>two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parts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conductor.</a:t>
            </a:r>
            <a:endParaRPr sz="2200">
              <a:latin typeface="Verdana"/>
              <a:cs typeface="Verdana"/>
            </a:endParaRPr>
          </a:p>
          <a:p>
            <a:pPr marL="12700" marR="5080" algn="just">
              <a:lnSpc>
                <a:spcPct val="150000"/>
              </a:lnSpc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Heat</a:t>
            </a:r>
            <a:r>
              <a:rPr sz="2200" b="1" spc="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Release:</a:t>
            </a:r>
            <a:r>
              <a:rPr sz="2200" b="1" spc="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flows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conductor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with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4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gradient,</a:t>
            </a:r>
            <a:r>
              <a:rPr sz="2200" spc="4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heat</a:t>
            </a:r>
            <a:r>
              <a:rPr sz="2200" spc="4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459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released</a:t>
            </a:r>
            <a:r>
              <a:rPr sz="2200" spc="4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4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75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rate </a:t>
            </a:r>
            <a:r>
              <a:rPr sz="2200" dirty="0">
                <a:latin typeface="Verdana"/>
                <a:cs typeface="Verdana"/>
              </a:rPr>
              <a:t>proportional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gradient.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69677" y="124572"/>
            <a:ext cx="672084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2855" marR="5080" indent="-1240790">
              <a:lnSpc>
                <a:spcPct val="100200"/>
              </a:lnSpc>
              <a:spcBef>
                <a:spcPts val="100"/>
              </a:spcBef>
            </a:pPr>
            <a:r>
              <a:rPr dirty="0"/>
              <a:t>Practical</a:t>
            </a:r>
            <a:r>
              <a:rPr spc="-85" dirty="0"/>
              <a:t> </a:t>
            </a:r>
            <a:r>
              <a:rPr dirty="0"/>
              <a:t>Applications</a:t>
            </a:r>
            <a:r>
              <a:rPr spc="-45" dirty="0"/>
              <a:t> </a:t>
            </a:r>
            <a:r>
              <a:rPr spc="-50" dirty="0"/>
              <a:t>&amp; </a:t>
            </a:r>
            <a:r>
              <a:rPr spc="-10" dirty="0"/>
              <a:t>Considerations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18284"/>
            <a:ext cx="9140825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Industrial</a:t>
            </a:r>
            <a:r>
              <a:rPr sz="22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Use: 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among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most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important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sensors 	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industrial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measurement.</a:t>
            </a:r>
            <a:endParaRPr sz="2200">
              <a:latin typeface="Verdana"/>
              <a:cs typeface="Verdana"/>
            </a:endParaRPr>
          </a:p>
          <a:p>
            <a:pPr marL="389255" marR="825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High-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Temperature</a:t>
            </a:r>
            <a:r>
              <a:rPr sz="2200" b="1" spc="540" dirty="0">
                <a:solidFill>
                  <a:srgbClr val="FF0000"/>
                </a:solidFill>
                <a:latin typeface="Verdana"/>
                <a:cs typeface="Verdana"/>
              </a:rPr>
              <a:t> 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Measurement:</a:t>
            </a:r>
            <a:r>
              <a:rPr sz="2200" b="1" spc="545" dirty="0">
                <a:solidFill>
                  <a:srgbClr val="FF0000"/>
                </a:solidFill>
                <a:latin typeface="Verdana"/>
                <a:cs typeface="Verdana"/>
              </a:rPr>
              <a:t>   </a:t>
            </a:r>
            <a:r>
              <a:rPr sz="2200" spc="-10" dirty="0">
                <a:latin typeface="Verdana"/>
                <a:cs typeface="Verdana"/>
              </a:rPr>
              <a:t>Platinum/Rhodium 	</a:t>
            </a:r>
            <a:r>
              <a:rPr sz="2200" dirty="0">
                <a:latin typeface="Verdana"/>
                <a:cs typeface="Verdana"/>
              </a:rPr>
              <a:t>types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specifically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utilized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extreme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heat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environments.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Circuit</a:t>
            </a:r>
            <a:r>
              <a:rPr sz="2200" b="1" spc="2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Board</a:t>
            </a:r>
            <a:r>
              <a:rPr sz="2200" b="1" spc="2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Interference:</a:t>
            </a:r>
            <a:r>
              <a:rPr sz="2200" b="1" spc="2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Designers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must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careful,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as 	</a:t>
            </a:r>
            <a:r>
              <a:rPr sz="2200" dirty="0">
                <a:latin typeface="Verdana"/>
                <a:cs typeface="Verdana"/>
              </a:rPr>
              <a:t>any</a:t>
            </a:r>
            <a:r>
              <a:rPr sz="2200" spc="28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metal-to-</a:t>
            </a:r>
            <a:r>
              <a:rPr sz="2200" dirty="0">
                <a:latin typeface="Verdana"/>
                <a:cs typeface="Verdana"/>
              </a:rPr>
              <a:t>metal</a:t>
            </a:r>
            <a:r>
              <a:rPr sz="2200" spc="2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contact</a:t>
            </a:r>
            <a:r>
              <a:rPr sz="2200" spc="2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2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PCB</a:t>
            </a:r>
            <a:r>
              <a:rPr sz="2200" spc="2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2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act</a:t>
            </a:r>
            <a:r>
              <a:rPr sz="2200" spc="2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28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an 	</a:t>
            </a:r>
            <a:r>
              <a:rPr sz="2200" dirty="0">
                <a:latin typeface="Verdana"/>
                <a:cs typeface="Verdana"/>
              </a:rPr>
              <a:t>unintended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thermocouple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introduce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errors.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0015" y="124572"/>
            <a:ext cx="949515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3470" marR="5080" indent="-3621404">
              <a:lnSpc>
                <a:spcPct val="100200"/>
              </a:lnSpc>
              <a:spcBef>
                <a:spcPts val="100"/>
              </a:spcBef>
            </a:pPr>
            <a:r>
              <a:rPr dirty="0"/>
              <a:t>Introduction</a:t>
            </a:r>
            <a:r>
              <a:rPr spc="-3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10" dirty="0"/>
              <a:t>Resistance-Based Sensing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18284"/>
            <a:ext cx="914146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Fundamental</a:t>
            </a:r>
            <a:r>
              <a:rPr sz="2200" b="1" spc="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Concept:</a:t>
            </a:r>
            <a:r>
              <a:rPr sz="2200" b="1" spc="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Both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devices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rely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predictable 	</a:t>
            </a:r>
            <a:r>
              <a:rPr sz="2200" dirty="0">
                <a:latin typeface="Verdana"/>
                <a:cs typeface="Verdana"/>
              </a:rPr>
              <a:t>change</a:t>
            </a:r>
            <a:r>
              <a:rPr sz="2200" spc="459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4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4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4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4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47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its 	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1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changes.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Categories: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9900FF"/>
                </a:solidFill>
                <a:latin typeface="Verdana"/>
                <a:cs typeface="Verdana"/>
              </a:rPr>
              <a:t>Metals:</a:t>
            </a:r>
            <a:r>
              <a:rPr sz="2200" b="1" spc="60" dirty="0">
                <a:solidFill>
                  <a:srgbClr val="9900FF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Positive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Coefficient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(PTC)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—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Resistance 	</a:t>
            </a:r>
            <a:r>
              <a:rPr sz="2200" dirty="0">
                <a:latin typeface="Verdana"/>
                <a:cs typeface="Verdana"/>
              </a:rPr>
              <a:t>increases</a:t>
            </a:r>
            <a:r>
              <a:rPr sz="2200" spc="-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(e.g.,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Platinum).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1910" y="4535830"/>
            <a:ext cx="3655695" cy="10312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420"/>
              </a:spcBef>
              <a:tabLst>
                <a:tab pos="1862455" algn="l"/>
              </a:tabLst>
            </a:pPr>
            <a:r>
              <a:rPr sz="2200" spc="-10" dirty="0">
                <a:latin typeface="Verdana"/>
                <a:cs typeface="Verdana"/>
              </a:rPr>
              <a:t>Primarily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Negative</a:t>
            </a:r>
            <a:endParaRPr sz="2200">
              <a:latin typeface="Verdana"/>
              <a:cs typeface="Verdana"/>
            </a:endParaRPr>
          </a:p>
          <a:p>
            <a:pPr marR="69850" algn="r">
              <a:lnSpc>
                <a:spcPct val="100000"/>
              </a:lnSpc>
              <a:spcBef>
                <a:spcPts val="1320"/>
              </a:spcBef>
              <a:tabLst>
                <a:tab pos="481965" algn="l"/>
                <a:tab pos="2169160" algn="l"/>
              </a:tabLst>
            </a:pPr>
            <a:r>
              <a:rPr sz="2200" spc="-50" dirty="0">
                <a:latin typeface="Verdana"/>
                <a:cs typeface="Verdana"/>
              </a:rPr>
              <a:t>—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Resistance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decreases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79721" y="4535830"/>
            <a:ext cx="228346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81965">
              <a:lnSpc>
                <a:spcPct val="150000"/>
              </a:lnSpc>
              <a:spcBef>
                <a:spcPts val="100"/>
              </a:spcBef>
              <a:tabLst>
                <a:tab pos="528320" algn="l"/>
              </a:tabLst>
            </a:pPr>
            <a:r>
              <a:rPr sz="2200" spc="-35" dirty="0">
                <a:latin typeface="Verdana"/>
                <a:cs typeface="Verdana"/>
              </a:rPr>
              <a:t>Temperature </a:t>
            </a:r>
            <a:r>
              <a:rPr sz="2200" spc="-25" dirty="0">
                <a:latin typeface="Verdana"/>
                <a:cs typeface="Verdana"/>
              </a:rPr>
              <a:t>as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temperature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3202" y="4535830"/>
            <a:ext cx="302831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2068830" algn="l"/>
              </a:tabLst>
            </a:pPr>
            <a:r>
              <a:rPr sz="2200" b="1" spc="-10" dirty="0">
                <a:solidFill>
                  <a:srgbClr val="9900FF"/>
                </a:solidFill>
                <a:latin typeface="Verdana"/>
                <a:cs typeface="Verdana"/>
              </a:rPr>
              <a:t>Semiconductors: </a:t>
            </a:r>
            <a:r>
              <a:rPr sz="2200" spc="-10" dirty="0">
                <a:latin typeface="Verdana"/>
                <a:cs typeface="Verdana"/>
              </a:rPr>
              <a:t>Coefficient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(NTC) </a:t>
            </a:r>
            <a:r>
              <a:rPr sz="2200" spc="-10" dirty="0">
                <a:latin typeface="Verdana"/>
                <a:cs typeface="Verdana"/>
              </a:rPr>
              <a:t>rises.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3985" y="124572"/>
            <a:ext cx="9552940" cy="12325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Resistance</a:t>
            </a:r>
            <a:r>
              <a:rPr spc="-60" dirty="0"/>
              <a:t> </a:t>
            </a:r>
            <a:r>
              <a:rPr dirty="0"/>
              <a:t>Thermometers</a:t>
            </a:r>
            <a:r>
              <a:rPr spc="-20" dirty="0"/>
              <a:t> </a:t>
            </a:r>
            <a:r>
              <a:rPr spc="-10" dirty="0"/>
              <a:t>(RTDs)</a:t>
            </a: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/>
              <a:t>—</a:t>
            </a:r>
            <a:r>
              <a:rPr spc="-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18284"/>
            <a:ext cx="9139555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Standardization:</a:t>
            </a:r>
            <a:r>
              <a:rPr sz="2200" b="1" spc="2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Platinum</a:t>
            </a:r>
            <a:r>
              <a:rPr sz="2200" spc="2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1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thermometers</a:t>
            </a:r>
            <a:r>
              <a:rPr sz="2200" spc="204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are 	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secondary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standards,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calibrated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primary 	</a:t>
            </a:r>
            <a:r>
              <a:rPr sz="2200" spc="-20" dirty="0">
                <a:latin typeface="Verdana"/>
                <a:cs typeface="Verdana"/>
              </a:rPr>
              <a:t>gas-</a:t>
            </a:r>
            <a:r>
              <a:rPr sz="2200" dirty="0">
                <a:latin typeface="Verdana"/>
                <a:cs typeface="Verdana"/>
              </a:rPr>
              <a:t>thermometer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standard.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Industrial</a:t>
            </a:r>
            <a:r>
              <a:rPr sz="2200" b="1" spc="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Shift:</a:t>
            </a:r>
            <a:r>
              <a:rPr sz="2200" b="1" spc="7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Advances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construction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have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allowed 	</a:t>
            </a:r>
            <a:r>
              <a:rPr sz="2200" dirty="0">
                <a:latin typeface="Verdana"/>
                <a:cs typeface="Verdana"/>
              </a:rPr>
              <a:t>RTDs</a:t>
            </a:r>
            <a:r>
              <a:rPr sz="2200" spc="2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replace</a:t>
            </a:r>
            <a:r>
              <a:rPr sz="2200" spc="2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thermocouples</a:t>
            </a:r>
            <a:r>
              <a:rPr sz="2200" spc="2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2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many</a:t>
            </a:r>
            <a:r>
              <a:rPr sz="2200" spc="26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high-precision 	</a:t>
            </a:r>
            <a:r>
              <a:rPr sz="2200" dirty="0">
                <a:latin typeface="Verdana"/>
                <a:cs typeface="Verdana"/>
              </a:rPr>
              <a:t>processes that require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tighter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limits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(e.g.,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within 	</a:t>
            </a:r>
            <a:r>
              <a:rPr sz="2200" dirty="0">
                <a:latin typeface="Verdana"/>
                <a:cs typeface="Verdana"/>
              </a:rPr>
              <a:t>0.1°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10°</a:t>
            </a:r>
            <a:r>
              <a:rPr sz="2200" spc="-25" dirty="0">
                <a:latin typeface="Verdana"/>
                <a:cs typeface="Verdana"/>
              </a:rPr>
              <a:t> C).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28339" y="426127"/>
            <a:ext cx="74002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Working</a:t>
            </a:r>
            <a:r>
              <a:rPr spc="-55" dirty="0"/>
              <a:t> </a:t>
            </a:r>
            <a:r>
              <a:rPr dirty="0"/>
              <a:t>Principle</a:t>
            </a:r>
            <a:r>
              <a:rPr spc="-5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20" dirty="0"/>
              <a:t>RTDs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18284"/>
            <a:ext cx="9138285" cy="254063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90525" algn="l"/>
                <a:tab pos="2044064" algn="l"/>
                <a:tab pos="2724150" algn="l"/>
                <a:tab pos="4138295" algn="l"/>
                <a:tab pos="5716905" algn="l"/>
                <a:tab pos="6149340" algn="l"/>
                <a:tab pos="6483985" algn="l"/>
                <a:tab pos="7741284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Principle: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electrical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resistance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metallic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conductor</a:t>
            </a:r>
            <a:endParaRPr sz="2200">
              <a:latin typeface="Verdana"/>
              <a:cs typeface="Verdana"/>
            </a:endParaRPr>
          </a:p>
          <a:p>
            <a:pPr marL="39052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Verdana"/>
                <a:cs typeface="Verdana"/>
              </a:rPr>
              <a:t>(</a:t>
            </a:r>
            <a:r>
              <a:rPr sz="2200" i="1" dirty="0">
                <a:latin typeface="Verdana"/>
                <a:cs typeface="Verdana"/>
              </a:rPr>
              <a:t>R</a:t>
            </a:r>
            <a:r>
              <a:rPr sz="2200" dirty="0">
                <a:latin typeface="Verdana"/>
                <a:cs typeface="Verdana"/>
              </a:rPr>
              <a:t>)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varies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(</a:t>
            </a:r>
            <a:r>
              <a:rPr sz="2200" i="1" spc="-20" dirty="0">
                <a:latin typeface="Verdana"/>
                <a:cs typeface="Verdana"/>
              </a:rPr>
              <a:t>T</a:t>
            </a:r>
            <a:r>
              <a:rPr sz="2200" spc="-20" dirty="0">
                <a:latin typeface="Verdana"/>
                <a:cs typeface="Verdana"/>
              </a:rPr>
              <a:t>).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2068195" algn="l"/>
                <a:tab pos="2901950" algn="l"/>
                <a:tab pos="4017645" algn="l"/>
                <a:tab pos="5141595" algn="l"/>
                <a:tab pos="5484495" algn="l"/>
                <a:tab pos="6533515" algn="l"/>
                <a:tab pos="749236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Linearity: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Most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metals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exhibit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nearly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linear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relationship </a:t>
            </a:r>
            <a:r>
              <a:rPr sz="2200" dirty="0">
                <a:latin typeface="Verdana"/>
                <a:cs typeface="Verdana"/>
              </a:rPr>
              <a:t>over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wide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range.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Equation:</a:t>
            </a:r>
            <a:r>
              <a:rPr sz="2200" b="1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relationship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approximated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by: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4847" y="5235897"/>
            <a:ext cx="7383145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Verdana"/>
                <a:cs typeface="Verdana"/>
              </a:rPr>
              <a:t>where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850" dirty="0">
                <a:latin typeface="Times New Roman"/>
                <a:cs typeface="Times New Roman"/>
              </a:rPr>
              <a:t>α</a:t>
            </a:r>
            <a:r>
              <a:rPr sz="285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coefficient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resistance.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3927" y="4543864"/>
            <a:ext cx="3715234" cy="46423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57670" y="426127"/>
            <a:ext cx="77419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Sample</a:t>
            </a:r>
            <a:r>
              <a:rPr spc="-40" dirty="0"/>
              <a:t> </a:t>
            </a:r>
            <a:r>
              <a:rPr dirty="0"/>
              <a:t>Problem</a:t>
            </a:r>
            <a:r>
              <a:rPr spc="-1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10" dirty="0"/>
              <a:t>Solution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02919" y="1520952"/>
            <a:ext cx="8885555" cy="5442585"/>
            <a:chOff x="502919" y="1520952"/>
            <a:chExt cx="8885555" cy="54425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19" y="1520952"/>
              <a:ext cx="8885439" cy="54422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9880" y="2293620"/>
              <a:ext cx="2549652" cy="5029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5581" y="426127"/>
            <a:ext cx="972566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Material</a:t>
            </a:r>
            <a:r>
              <a:rPr spc="-55" dirty="0"/>
              <a:t> </a:t>
            </a:r>
            <a:r>
              <a:rPr dirty="0"/>
              <a:t>Selection:</a:t>
            </a:r>
            <a:r>
              <a:rPr spc="-40" dirty="0"/>
              <a:t> </a:t>
            </a:r>
            <a:r>
              <a:rPr dirty="0"/>
              <a:t>Why</a:t>
            </a:r>
            <a:r>
              <a:rPr spc="-35" dirty="0"/>
              <a:t> </a:t>
            </a:r>
            <a:r>
              <a:rPr spc="-10" dirty="0"/>
              <a:t>Platinum?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18284"/>
            <a:ext cx="9140190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2244725" algn="l"/>
                <a:tab pos="3533140" algn="l"/>
                <a:tab pos="4183379" algn="l"/>
                <a:tab pos="4975225" algn="l"/>
                <a:tab pos="7083425" algn="l"/>
                <a:tab pos="874014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Platinum: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Serves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international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reference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for </a:t>
            </a:r>
            <a:r>
              <a:rPr sz="2200" spc="-10" dirty="0">
                <a:latin typeface="Verdana"/>
                <a:cs typeface="Verdana"/>
              </a:rPr>
              <a:t>temperatures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-</a:t>
            </a:r>
            <a:r>
              <a:rPr sz="2200" dirty="0">
                <a:latin typeface="Verdana"/>
                <a:cs typeface="Verdana"/>
              </a:rPr>
              <a:t>270°C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+660°C.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Properties:</a:t>
            </a:r>
            <a:endParaRPr sz="2200">
              <a:latin typeface="Verdana"/>
              <a:cs typeface="Verdana"/>
            </a:endParaRPr>
          </a:p>
          <a:p>
            <a:pPr marL="89281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2810" algn="l"/>
              </a:tabLst>
            </a:pPr>
            <a:r>
              <a:rPr sz="2200" dirty="0">
                <a:latin typeface="Verdana"/>
                <a:cs typeface="Verdana"/>
              </a:rPr>
              <a:t>Highly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stable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both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electrically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mechanically.</a:t>
            </a:r>
            <a:endParaRPr sz="2200">
              <a:latin typeface="Verdana"/>
              <a:cs typeface="Verdana"/>
            </a:endParaRPr>
          </a:p>
          <a:p>
            <a:pPr marL="89281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2810" algn="l"/>
              </a:tabLst>
            </a:pPr>
            <a:r>
              <a:rPr sz="2200" dirty="0">
                <a:latin typeface="Verdana"/>
                <a:cs typeface="Verdana"/>
              </a:rPr>
              <a:t>Minimal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drift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aging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effects.</a:t>
            </a:r>
            <a:endParaRPr sz="2200">
              <a:latin typeface="Verdana"/>
              <a:cs typeface="Verdana"/>
            </a:endParaRPr>
          </a:p>
          <a:p>
            <a:pPr marL="89281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2810" algn="l"/>
              </a:tabLst>
            </a:pPr>
            <a:r>
              <a:rPr sz="2200" dirty="0">
                <a:latin typeface="Verdana"/>
                <a:cs typeface="Verdana"/>
              </a:rPr>
              <a:t>Linear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response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chemical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resistance.</a:t>
            </a:r>
            <a:endParaRPr sz="2200">
              <a:latin typeface="Verdana"/>
              <a:cs typeface="Verdana"/>
            </a:endParaRPr>
          </a:p>
          <a:p>
            <a:pPr marL="390525" marR="5715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2577465" algn="l"/>
                <a:tab pos="3740150" algn="l"/>
                <a:tab pos="5689600" algn="l"/>
                <a:tab pos="6314440" algn="l"/>
                <a:tab pos="6955790" algn="l"/>
                <a:tab pos="860679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Alternatives: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Copper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(inexpensive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but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low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resistivity)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 </a:t>
            </a:r>
            <a:r>
              <a:rPr sz="2200" dirty="0">
                <a:latin typeface="Verdana"/>
                <a:cs typeface="Verdana"/>
              </a:rPr>
              <a:t>Nickel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(limited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range).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3180" y="426127"/>
            <a:ext cx="92106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RTD</a:t>
            </a:r>
            <a:r>
              <a:rPr spc="-5" dirty="0"/>
              <a:t> </a:t>
            </a:r>
            <a:r>
              <a:rPr dirty="0"/>
              <a:t>Construction</a:t>
            </a:r>
            <a:r>
              <a:rPr spc="-50" dirty="0"/>
              <a:t> </a:t>
            </a:r>
            <a:r>
              <a:rPr spc="-10" dirty="0"/>
              <a:t>(Wire-Wound)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18284"/>
            <a:ext cx="914082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766570" algn="l"/>
                <a:tab pos="2148205" algn="l"/>
                <a:tab pos="2856865" algn="l"/>
                <a:tab pos="4276725" algn="l"/>
                <a:tab pos="5057140" algn="l"/>
                <a:tab pos="5469890" algn="l"/>
                <a:tab pos="6583045" algn="l"/>
                <a:tab pos="7308215" algn="l"/>
                <a:tab pos="7665084" algn="l"/>
                <a:tab pos="861060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Design: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fine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platinum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wire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wound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into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spiral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 </a:t>
            </a:r>
            <a:r>
              <a:rPr sz="2200" dirty="0">
                <a:latin typeface="Verdana"/>
                <a:cs typeface="Verdana"/>
              </a:rPr>
              <a:t>inserted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protective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tube.</a:t>
            </a:r>
            <a:endParaRPr sz="2200">
              <a:latin typeface="Verdana"/>
              <a:cs typeface="Verdana"/>
            </a:endParaRPr>
          </a:p>
          <a:p>
            <a:pPr marL="390525" marR="6985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Housing:</a:t>
            </a:r>
            <a:r>
              <a:rPr sz="2200" b="1" spc="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Often sealed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within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 hollow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alumina (ceramic)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rod </a:t>
            </a:r>
            <a:r>
              <a:rPr sz="2200" dirty="0">
                <a:latin typeface="Verdana"/>
                <a:cs typeface="Verdana"/>
              </a:rPr>
              <a:t>using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ceramic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sealant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ensure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stability.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2653030" algn="l"/>
                <a:tab pos="3529329" algn="l"/>
                <a:tab pos="4053204" algn="l"/>
                <a:tab pos="5665470" algn="l"/>
                <a:tab pos="72104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Ruggedness: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Built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withstand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industrial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environments </a:t>
            </a:r>
            <a:r>
              <a:rPr sz="2200" dirty="0">
                <a:latin typeface="Verdana"/>
                <a:cs typeface="Verdana"/>
              </a:rPr>
              <a:t>while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maintaining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precision.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5869" y="426127"/>
            <a:ext cx="834580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RTD Construction</a:t>
            </a:r>
            <a:r>
              <a:rPr spc="-40" dirty="0"/>
              <a:t> </a:t>
            </a:r>
            <a:r>
              <a:rPr spc="-10" dirty="0"/>
              <a:t>(Thin-Film)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18284"/>
            <a:ext cx="914082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Method:</a:t>
            </a:r>
            <a:r>
              <a:rPr sz="2200" b="1" spc="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thin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layer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platinum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deposited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onto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ceramic </a:t>
            </a:r>
            <a:r>
              <a:rPr sz="2200" dirty="0">
                <a:latin typeface="Verdana"/>
                <a:cs typeface="Verdana"/>
              </a:rPr>
              <a:t>substrate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using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plating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techniques.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Advantages:</a:t>
            </a:r>
            <a:endParaRPr sz="2200">
              <a:latin typeface="Verdana"/>
              <a:cs typeface="Verdana"/>
            </a:endParaRPr>
          </a:p>
          <a:p>
            <a:pPr marL="641985" lvl="1" indent="-134620">
              <a:lnSpc>
                <a:spcPct val="100000"/>
              </a:lnSpc>
              <a:spcBef>
                <a:spcPts val="1320"/>
              </a:spcBef>
              <a:buSzPct val="95454"/>
              <a:buFont typeface="Wingdings"/>
              <a:buChar char=""/>
              <a:tabLst>
                <a:tab pos="641985" algn="l"/>
              </a:tabLst>
            </a:pPr>
            <a:r>
              <a:rPr sz="2200" dirty="0">
                <a:latin typeface="Verdana"/>
                <a:cs typeface="Verdana"/>
              </a:rPr>
              <a:t>Significant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cost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reduction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mass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production.</a:t>
            </a:r>
            <a:endParaRPr sz="2200">
              <a:latin typeface="Verdana"/>
              <a:cs typeface="Verdana"/>
            </a:endParaRPr>
          </a:p>
          <a:p>
            <a:pPr marL="641985" lvl="1" indent="-134620">
              <a:lnSpc>
                <a:spcPct val="100000"/>
              </a:lnSpc>
              <a:spcBef>
                <a:spcPts val="1320"/>
              </a:spcBef>
              <a:buSzPct val="95454"/>
              <a:buFont typeface="Wingdings"/>
              <a:buChar char=""/>
              <a:tabLst>
                <a:tab pos="641985" algn="l"/>
              </a:tabLst>
            </a:pPr>
            <a:r>
              <a:rPr sz="2200" dirty="0">
                <a:latin typeface="Verdana"/>
                <a:cs typeface="Verdana"/>
              </a:rPr>
              <a:t>Small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size: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0.8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mm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diameter.</a:t>
            </a:r>
            <a:endParaRPr sz="2200">
              <a:latin typeface="Verdana"/>
              <a:cs typeface="Verdana"/>
            </a:endParaRPr>
          </a:p>
          <a:p>
            <a:pPr marL="641985" lvl="1" indent="-134620">
              <a:lnSpc>
                <a:spcPct val="100000"/>
              </a:lnSpc>
              <a:spcBef>
                <a:spcPts val="1320"/>
              </a:spcBef>
              <a:buSzPct val="95454"/>
              <a:buFont typeface="Wingdings"/>
              <a:buChar char=""/>
              <a:tabLst>
                <a:tab pos="641985" algn="l"/>
              </a:tabLst>
            </a:pPr>
            <a:r>
              <a:rPr sz="2200" dirty="0">
                <a:latin typeface="Verdana"/>
                <a:cs typeface="Verdana"/>
              </a:rPr>
              <a:t>Highly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resistant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vibration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compared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wire-</a:t>
            </a:r>
            <a:r>
              <a:rPr sz="2200" dirty="0">
                <a:latin typeface="Verdana"/>
                <a:cs typeface="Verdana"/>
              </a:rPr>
              <a:t>wound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types.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9320" y="124572"/>
            <a:ext cx="920115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9190" marR="5080" indent="-3667125">
              <a:lnSpc>
                <a:spcPct val="100200"/>
              </a:lnSpc>
              <a:spcBef>
                <a:spcPts val="100"/>
              </a:spcBef>
            </a:pPr>
            <a:r>
              <a:rPr dirty="0"/>
              <a:t>RTD</a:t>
            </a:r>
            <a:r>
              <a:rPr spc="-20" dirty="0"/>
              <a:t> </a:t>
            </a:r>
            <a:r>
              <a:rPr dirty="0"/>
              <a:t>Circuitry</a:t>
            </a:r>
            <a:r>
              <a:rPr spc="-50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Wheatstone Bridge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4700" y="1518284"/>
            <a:ext cx="9140190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2854325" algn="l"/>
                <a:tab pos="4229735" algn="l"/>
                <a:tab pos="5863590" algn="l"/>
                <a:tab pos="7230109" algn="l"/>
                <a:tab pos="7902575" algn="l"/>
                <a:tab pos="895921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Measurement: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Because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resistance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changes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small,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 </a:t>
            </a:r>
            <a:r>
              <a:rPr sz="2200" dirty="0">
                <a:latin typeface="Verdana"/>
                <a:cs typeface="Verdana"/>
              </a:rPr>
              <a:t>Wheatstone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bridge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typically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variance.</a:t>
            </a:r>
            <a:endParaRPr sz="2200">
              <a:latin typeface="Verdana"/>
              <a:cs typeface="Verdana"/>
            </a:endParaRPr>
          </a:p>
          <a:p>
            <a:pPr marL="390525" marR="5715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1760220" algn="l"/>
                <a:tab pos="2446655" algn="l"/>
                <a:tab pos="3503295" algn="l"/>
                <a:tab pos="4867275" algn="l"/>
                <a:tab pos="5488940" algn="l"/>
                <a:tab pos="7078980" algn="l"/>
                <a:tab pos="8253095" algn="l"/>
                <a:tab pos="895858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Output: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bridge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converts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resistance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change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into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 </a:t>
            </a:r>
            <a:r>
              <a:rPr sz="2200" dirty="0">
                <a:latin typeface="Verdana"/>
                <a:cs typeface="Verdana"/>
              </a:rPr>
              <a:t>measurable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signal.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563" y="3880103"/>
            <a:ext cx="8903208" cy="309676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9525" y="124572"/>
            <a:ext cx="877760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4814" marR="5080" indent="-1682750">
              <a:lnSpc>
                <a:spcPct val="100200"/>
              </a:lnSpc>
              <a:spcBef>
                <a:spcPts val="100"/>
              </a:spcBef>
            </a:pPr>
            <a:r>
              <a:rPr dirty="0"/>
              <a:t>Lead</a:t>
            </a:r>
            <a:r>
              <a:rPr spc="-50" dirty="0"/>
              <a:t> </a:t>
            </a:r>
            <a:r>
              <a:rPr dirty="0"/>
              <a:t>Resistance</a:t>
            </a:r>
            <a:r>
              <a:rPr spc="-45" dirty="0"/>
              <a:t> </a:t>
            </a:r>
            <a:r>
              <a:rPr spc="-10" dirty="0"/>
              <a:t>Compensation (2-</a:t>
            </a:r>
            <a:r>
              <a:rPr dirty="0"/>
              <a:t>wire</a:t>
            </a:r>
            <a:r>
              <a:rPr spc="-5" dirty="0"/>
              <a:t> </a:t>
            </a:r>
            <a:r>
              <a:rPr dirty="0"/>
              <a:t>vs.</a:t>
            </a:r>
            <a:r>
              <a:rPr spc="15" dirty="0"/>
              <a:t> </a:t>
            </a:r>
            <a:r>
              <a:rPr spc="-10" dirty="0"/>
              <a:t>3-wire)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4700" y="1340028"/>
            <a:ext cx="9142095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Problem:</a:t>
            </a:r>
            <a:r>
              <a:rPr sz="2200" b="1" spc="50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490" dirty="0">
                <a:latin typeface="Verdana"/>
                <a:cs typeface="Verdana"/>
              </a:rPr>
              <a:t>  </a:t>
            </a:r>
            <a:r>
              <a:rPr sz="2200" spc="-30" dirty="0">
                <a:latin typeface="Verdana"/>
                <a:cs typeface="Verdana"/>
              </a:rPr>
              <a:t>2-</a:t>
            </a:r>
            <a:r>
              <a:rPr sz="2200" dirty="0">
                <a:latin typeface="Verdana"/>
                <a:cs typeface="Verdana"/>
              </a:rPr>
              <a:t>wire</a:t>
            </a:r>
            <a:r>
              <a:rPr sz="2200" spc="48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systems,</a:t>
            </a:r>
            <a:r>
              <a:rPr sz="2200" spc="48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8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48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9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connecting</a:t>
            </a:r>
            <a:r>
              <a:rPr sz="2200" spc="-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cables</a:t>
            </a:r>
            <a:r>
              <a:rPr sz="2200" spc="5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adds</a:t>
            </a:r>
            <a:r>
              <a:rPr sz="2200" spc="-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sensor's</a:t>
            </a:r>
            <a:r>
              <a:rPr sz="2200" spc="5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resistance,</a:t>
            </a:r>
            <a:r>
              <a:rPr sz="2200" spc="5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causing 	</a:t>
            </a:r>
            <a:r>
              <a:rPr sz="2200" dirty="0">
                <a:latin typeface="Verdana"/>
                <a:cs typeface="Verdana"/>
              </a:rPr>
              <a:t>measurement</a:t>
            </a:r>
            <a:r>
              <a:rPr sz="2200" spc="-1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errors.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3-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Wire</a:t>
            </a:r>
            <a:r>
              <a:rPr sz="2200" b="1" spc="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System:</a:t>
            </a:r>
            <a:r>
              <a:rPr sz="2200" b="1" spc="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Uses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two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leads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carry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third 	</a:t>
            </a:r>
            <a:r>
              <a:rPr sz="2200" dirty="0">
                <a:latin typeface="Verdana"/>
                <a:cs typeface="Verdana"/>
              </a:rPr>
              <a:t>lead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voltage.</a:t>
            </a:r>
            <a:endParaRPr sz="2200">
              <a:latin typeface="Verdana"/>
              <a:cs typeface="Verdana"/>
            </a:endParaRPr>
          </a:p>
          <a:p>
            <a:pPr marL="389255" marR="698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Errors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caused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cable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balanced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out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if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leads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equal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length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material.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8052" y="4885944"/>
            <a:ext cx="4888020" cy="209507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3756" y="5160969"/>
            <a:ext cx="4288960" cy="196205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9525" y="124572"/>
            <a:ext cx="877760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92780" marR="5080" indent="-3180715">
              <a:lnSpc>
                <a:spcPct val="100200"/>
              </a:lnSpc>
              <a:spcBef>
                <a:spcPts val="100"/>
              </a:spcBef>
            </a:pPr>
            <a:r>
              <a:rPr dirty="0"/>
              <a:t>Lead</a:t>
            </a:r>
            <a:r>
              <a:rPr spc="-50" dirty="0"/>
              <a:t> </a:t>
            </a:r>
            <a:r>
              <a:rPr dirty="0"/>
              <a:t>Resistance</a:t>
            </a:r>
            <a:r>
              <a:rPr spc="-45" dirty="0"/>
              <a:t> </a:t>
            </a:r>
            <a:r>
              <a:rPr spc="-10" dirty="0"/>
              <a:t>Compensation (4-wire)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18284"/>
            <a:ext cx="9139555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Precision:</a:t>
            </a:r>
            <a:r>
              <a:rPr sz="2200" b="1" spc="50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4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4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8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highest</a:t>
            </a:r>
            <a:r>
              <a:rPr sz="2200" spc="4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accuracy</a:t>
            </a:r>
            <a:r>
              <a:rPr sz="2200" spc="48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laboratory 	applications.</a:t>
            </a:r>
            <a:endParaRPr sz="220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Mechanism:</a:t>
            </a:r>
            <a:r>
              <a:rPr sz="2200" b="1" spc="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Two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wires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supply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regulated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constant</a:t>
            </a:r>
            <a:r>
              <a:rPr sz="2200" spc="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current, 	</a:t>
            </a:r>
            <a:r>
              <a:rPr sz="2200" dirty="0">
                <a:latin typeface="Verdana"/>
                <a:cs typeface="Verdana"/>
              </a:rPr>
              <a:t>while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two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separate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wires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drop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directly 	</a:t>
            </a:r>
            <a:r>
              <a:rPr sz="2200" dirty="0">
                <a:latin typeface="Verdana"/>
                <a:cs typeface="Verdana"/>
              </a:rPr>
              <a:t>across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Benefit:</a:t>
            </a:r>
            <a:r>
              <a:rPr sz="2200" b="1" spc="2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Cable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connection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contact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resistance 	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completely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eliminated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calculation.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01436" y="426127"/>
            <a:ext cx="785050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Critical</a:t>
            </a:r>
            <a:r>
              <a:rPr spc="-45" dirty="0"/>
              <a:t> </a:t>
            </a:r>
            <a:r>
              <a:rPr dirty="0"/>
              <a:t>Factor:</a:t>
            </a:r>
            <a:r>
              <a:rPr spc="-30" dirty="0"/>
              <a:t> </a:t>
            </a:r>
            <a:r>
              <a:rPr spc="-10" dirty="0"/>
              <a:t>Self-Heating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2402" y="1518284"/>
            <a:ext cx="9243060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055" marR="558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4413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Definition: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flowing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generates 	</a:t>
            </a:r>
            <a:r>
              <a:rPr sz="2200" dirty="0">
                <a:latin typeface="Verdana"/>
                <a:cs typeface="Verdana"/>
              </a:rPr>
              <a:t>internal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heat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(I</a:t>
            </a:r>
            <a:r>
              <a:rPr sz="2175" baseline="24904" dirty="0">
                <a:latin typeface="Verdana"/>
                <a:cs typeface="Verdana"/>
              </a:rPr>
              <a:t>2</a:t>
            </a:r>
            <a:r>
              <a:rPr sz="2200" dirty="0">
                <a:latin typeface="Verdana"/>
                <a:cs typeface="Verdana"/>
              </a:rPr>
              <a:t>R),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which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raise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sensor's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temperature 	</a:t>
            </a:r>
            <a:r>
              <a:rPr sz="2200" dirty="0">
                <a:latin typeface="Verdana"/>
                <a:cs typeface="Verdana"/>
              </a:rPr>
              <a:t>above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medium.</a:t>
            </a:r>
            <a:endParaRPr sz="2200">
              <a:latin typeface="Verdana"/>
              <a:cs typeface="Verdana"/>
            </a:endParaRPr>
          </a:p>
          <a:p>
            <a:pPr marL="440055" marR="57785" indent="-377190" algn="just">
              <a:lnSpc>
                <a:spcPct val="150000"/>
              </a:lnSpc>
              <a:buFont typeface="Wingdings"/>
              <a:buChar char=""/>
              <a:tabLst>
                <a:tab pos="4413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Mitigation:</a:t>
            </a:r>
            <a:r>
              <a:rPr sz="2200" b="1" spc="114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Measuring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must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kept</a:t>
            </a:r>
            <a:r>
              <a:rPr sz="2200" spc="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low</a:t>
            </a:r>
            <a:r>
              <a:rPr sz="2200" spc="10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as 	</a:t>
            </a:r>
            <a:r>
              <a:rPr sz="2200" dirty="0">
                <a:latin typeface="Verdana"/>
                <a:cs typeface="Verdana"/>
              </a:rPr>
              <a:t>possible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minimize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errors.</a:t>
            </a:r>
            <a:endParaRPr sz="2200">
              <a:latin typeface="Verdana"/>
              <a:cs typeface="Verdana"/>
            </a:endParaRPr>
          </a:p>
          <a:p>
            <a:pPr marL="440055" marR="55880" indent="-377190" algn="just">
              <a:lnSpc>
                <a:spcPct val="150000"/>
              </a:lnSpc>
              <a:buFont typeface="Wingdings"/>
              <a:buChar char=""/>
              <a:tabLst>
                <a:tab pos="4413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Balance:</a:t>
            </a:r>
            <a:r>
              <a:rPr sz="2200" b="1" spc="4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Designers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must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compromise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4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signal 	</a:t>
            </a:r>
            <a:r>
              <a:rPr sz="2200" dirty="0">
                <a:latin typeface="Verdana"/>
                <a:cs typeface="Verdana"/>
              </a:rPr>
              <a:t>sensitivity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(higher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current)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accuracy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(lower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current).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74343" y="124572"/>
            <a:ext cx="671131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13435">
              <a:lnSpc>
                <a:spcPct val="100200"/>
              </a:lnSpc>
              <a:spcBef>
                <a:spcPts val="100"/>
              </a:spcBef>
            </a:pPr>
            <a:r>
              <a:rPr dirty="0"/>
              <a:t>Comparison</a:t>
            </a:r>
            <a:r>
              <a:rPr spc="-65" dirty="0"/>
              <a:t> </a:t>
            </a:r>
            <a:r>
              <a:rPr spc="-10" dirty="0"/>
              <a:t>Table </a:t>
            </a:r>
            <a:r>
              <a:rPr dirty="0"/>
              <a:t>(Thermocouple</a:t>
            </a:r>
            <a:r>
              <a:rPr spc="-40" dirty="0"/>
              <a:t> </a:t>
            </a:r>
            <a:r>
              <a:rPr dirty="0"/>
              <a:t>vs</a:t>
            </a:r>
            <a:r>
              <a:rPr spc="-35" dirty="0"/>
              <a:t> </a:t>
            </a:r>
            <a:r>
              <a:rPr spc="-20" dirty="0"/>
              <a:t>RTD)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283" y="1456944"/>
            <a:ext cx="8558784" cy="565251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9266" y="426127"/>
            <a:ext cx="791845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Introduction</a:t>
            </a:r>
            <a:r>
              <a:rPr spc="-5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Thermistors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18284"/>
            <a:ext cx="9142095" cy="354647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 algn="just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Etymology:</a:t>
            </a:r>
            <a:r>
              <a:rPr sz="2200" b="1" spc="-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Derived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"Thermal"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"Resistor".</a:t>
            </a:r>
            <a:endParaRPr sz="2200">
              <a:latin typeface="Verdana"/>
              <a:cs typeface="Verdana"/>
            </a:endParaRPr>
          </a:p>
          <a:p>
            <a:pPr marL="389255" marR="762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Composition:</a:t>
            </a:r>
            <a:r>
              <a:rPr sz="2200" b="1" spc="1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Formed</a:t>
            </a:r>
            <a:r>
              <a:rPr sz="2200" spc="1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1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mixtures</a:t>
            </a:r>
            <a:r>
              <a:rPr sz="2200" spc="1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metallic</a:t>
            </a:r>
            <a:r>
              <a:rPr sz="2200" spc="15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oxides 	</a:t>
            </a:r>
            <a:r>
              <a:rPr sz="2200" dirty="0">
                <a:latin typeface="Verdana"/>
                <a:cs typeface="Verdana"/>
              </a:rPr>
              <a:t>(manganese,</a:t>
            </a:r>
            <a:r>
              <a:rPr sz="2200" spc="3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nickel,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cobalt,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etc.)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pressed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beads,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disks, 	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rods.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Resolution:</a:t>
            </a:r>
            <a:r>
              <a:rPr sz="2200" b="1" spc="45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Unlike</a:t>
            </a:r>
            <a:r>
              <a:rPr sz="2200" spc="4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RTDs,</a:t>
            </a:r>
            <a:r>
              <a:rPr sz="2200" spc="43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thermistors</a:t>
            </a:r>
            <a:r>
              <a:rPr sz="2200" spc="4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exhibit</a:t>
            </a:r>
            <a:r>
              <a:rPr sz="2200" spc="42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massive 	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variations,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allowing 	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sensitivity.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49051" y="426127"/>
            <a:ext cx="496125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Thermistor</a:t>
            </a:r>
            <a:r>
              <a:rPr spc="-70" dirty="0"/>
              <a:t> </a:t>
            </a:r>
            <a:r>
              <a:rPr spc="-10" dirty="0"/>
              <a:t>Types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4700" y="1245520"/>
            <a:ext cx="9140190" cy="203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NTC</a:t>
            </a:r>
            <a:r>
              <a:rPr sz="2200" b="1" spc="28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(Negative</a:t>
            </a:r>
            <a:r>
              <a:rPr sz="2200" b="1" spc="3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Temperature</a:t>
            </a:r>
            <a:r>
              <a:rPr sz="2200" b="1" spc="28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Coefficient):</a:t>
            </a:r>
            <a:r>
              <a:rPr sz="2200" b="1" spc="2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Resistance 	</a:t>
            </a:r>
            <a:r>
              <a:rPr sz="2200" dirty="0">
                <a:latin typeface="Verdana"/>
                <a:cs typeface="Verdana"/>
              </a:rPr>
              <a:t>decreases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rises.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most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common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used 	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sensing.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PTC</a:t>
            </a:r>
            <a:r>
              <a:rPr sz="2200" b="1" spc="459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(Positive</a:t>
            </a:r>
            <a:r>
              <a:rPr sz="2200" b="1" spc="4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Temperature</a:t>
            </a:r>
            <a:r>
              <a:rPr sz="2200" b="1" spc="459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Coefficient):</a:t>
            </a:r>
            <a:r>
              <a:rPr sz="2200" b="1" spc="4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Resistance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71265" y="3425361"/>
            <a:ext cx="199008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59865" algn="l"/>
              </a:tabLst>
            </a:pPr>
            <a:r>
              <a:rPr sz="2200" spc="-10" dirty="0">
                <a:latin typeface="Verdana"/>
                <a:cs typeface="Verdana"/>
              </a:rPr>
              <a:t>overheat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9019" y="4856716"/>
            <a:ext cx="2926341" cy="23903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2212" y="4533900"/>
            <a:ext cx="2328072" cy="272561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02591" y="3256991"/>
            <a:ext cx="6584315" cy="1418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529715" algn="l"/>
                <a:tab pos="2332990" algn="l"/>
                <a:tab pos="4385310" algn="l"/>
                <a:tab pos="5314315" algn="l"/>
                <a:tab pos="6186805" algn="l"/>
              </a:tabLst>
            </a:pPr>
            <a:r>
              <a:rPr sz="2200" spc="-10" dirty="0">
                <a:latin typeface="Verdana"/>
                <a:cs typeface="Verdana"/>
              </a:rPr>
              <a:t>increases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with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temperature,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often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used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for </a:t>
            </a:r>
            <a:r>
              <a:rPr sz="2200" dirty="0">
                <a:latin typeface="Verdana"/>
                <a:cs typeface="Verdana"/>
              </a:rPr>
              <a:t>overcurrent</a:t>
            </a:r>
            <a:r>
              <a:rPr sz="2200" spc="-1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protection.</a:t>
            </a:r>
            <a:endParaRPr sz="2200">
              <a:latin typeface="Verdana"/>
              <a:cs typeface="Verdana"/>
            </a:endParaRPr>
          </a:p>
          <a:p>
            <a:pPr marL="1603375">
              <a:lnSpc>
                <a:spcPct val="100000"/>
              </a:lnSpc>
              <a:spcBef>
                <a:spcPts val="1240"/>
              </a:spcBef>
            </a:pP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Resistance</a:t>
            </a:r>
            <a:r>
              <a:rPr sz="1500" b="1" spc="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vs</a:t>
            </a:r>
            <a:r>
              <a:rPr sz="1500" b="1" spc="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Temperature</a:t>
            </a:r>
            <a:r>
              <a:rPr sz="1500" b="1" spc="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spc="-10" dirty="0">
                <a:solidFill>
                  <a:srgbClr val="FF0000"/>
                </a:solidFill>
                <a:latin typeface="Verdana"/>
                <a:cs typeface="Verdana"/>
              </a:rPr>
              <a:t>characteristics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76719" y="5871440"/>
            <a:ext cx="207518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for</a:t>
            </a:r>
            <a:r>
              <a:rPr sz="1500" b="1" spc="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NTC</a:t>
            </a:r>
            <a:r>
              <a:rPr sz="1500" b="1" spc="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spc="-10" dirty="0">
                <a:solidFill>
                  <a:srgbClr val="FF0000"/>
                </a:solidFill>
                <a:latin typeface="Verdana"/>
                <a:cs typeface="Verdana"/>
              </a:rPr>
              <a:t>thermistor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07995" y="5775475"/>
            <a:ext cx="20516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for</a:t>
            </a:r>
            <a:r>
              <a:rPr sz="1500" b="1" spc="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PTC</a:t>
            </a:r>
            <a:r>
              <a:rPr sz="1500" b="1" spc="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spc="-10" dirty="0">
                <a:solidFill>
                  <a:srgbClr val="FF0000"/>
                </a:solidFill>
                <a:latin typeface="Verdana"/>
                <a:cs typeface="Verdana"/>
              </a:rPr>
              <a:t>thermistor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89922" y="124572"/>
            <a:ext cx="707834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3245" marR="5080" indent="-1821180">
              <a:lnSpc>
                <a:spcPct val="100200"/>
              </a:lnSpc>
              <a:spcBef>
                <a:spcPts val="100"/>
              </a:spcBef>
            </a:pPr>
            <a:r>
              <a:rPr dirty="0"/>
              <a:t>Working</a:t>
            </a:r>
            <a:r>
              <a:rPr spc="-45" dirty="0"/>
              <a:t> </a:t>
            </a:r>
            <a:r>
              <a:rPr dirty="0"/>
              <a:t>Principle</a:t>
            </a:r>
            <a:r>
              <a:rPr spc="-5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25" dirty="0"/>
              <a:t>NTC </a:t>
            </a:r>
            <a:r>
              <a:rPr spc="-10" dirty="0"/>
              <a:t>Thermistors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5191" y="1231767"/>
            <a:ext cx="9140825" cy="5163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71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Mechanism:</a:t>
            </a:r>
            <a:r>
              <a:rPr sz="2200" b="1" spc="45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43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4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semiconductor</a:t>
            </a:r>
            <a:r>
              <a:rPr sz="2200" spc="4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materials,</a:t>
            </a:r>
            <a:r>
              <a:rPr sz="2200" spc="44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rising 	</a:t>
            </a:r>
            <a:r>
              <a:rPr sz="2200" dirty="0">
                <a:latin typeface="Verdana"/>
                <a:cs typeface="Verdana"/>
              </a:rPr>
              <a:t>temperatures</a:t>
            </a:r>
            <a:r>
              <a:rPr sz="2200" spc="3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release</a:t>
            </a:r>
            <a:r>
              <a:rPr sz="2200" spc="3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3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charge</a:t>
            </a:r>
            <a:r>
              <a:rPr sz="2200" spc="3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carriers</a:t>
            </a:r>
            <a:r>
              <a:rPr sz="2200" spc="34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(electrons), 	</a:t>
            </a:r>
            <a:r>
              <a:rPr sz="2200" dirty="0">
                <a:latin typeface="Verdana"/>
                <a:cs typeface="Verdana"/>
              </a:rPr>
              <a:t>significantly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lowering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resistance.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Non-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Linearity:</a:t>
            </a:r>
            <a:r>
              <a:rPr sz="2200" b="1" spc="4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relationship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45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exponential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rather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than 	</a:t>
            </a:r>
            <a:r>
              <a:rPr sz="2200" spc="-35" dirty="0">
                <a:latin typeface="Verdana"/>
                <a:cs typeface="Verdana"/>
              </a:rPr>
              <a:t>linear,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requiring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complex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calculations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linearization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circuits.</a:t>
            </a:r>
            <a:endParaRPr sz="2200">
              <a:latin typeface="Verdana"/>
              <a:cs typeface="Verdana"/>
            </a:endParaRPr>
          </a:p>
          <a:p>
            <a:pPr marL="448309" marR="3214370" lvl="1" indent="-377190" algn="just">
              <a:lnSpc>
                <a:spcPct val="150000"/>
              </a:lnSpc>
              <a:spcBef>
                <a:spcPts val="850"/>
              </a:spcBef>
              <a:buFont typeface="Wingdings"/>
              <a:buChar char=""/>
              <a:tabLst>
                <a:tab pos="449580" algn="l"/>
              </a:tabLst>
            </a:pPr>
            <a:r>
              <a:rPr sz="2200" dirty="0">
                <a:latin typeface="Verdana"/>
                <a:cs typeface="Verdana"/>
              </a:rPr>
              <a:t>An</a:t>
            </a:r>
            <a:r>
              <a:rPr sz="2200" spc="36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NTC</a:t>
            </a:r>
            <a:r>
              <a:rPr sz="2200" spc="36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thermistor</a:t>
            </a:r>
            <a:r>
              <a:rPr sz="2200" spc="365" dirty="0">
                <a:latin typeface="Verdana"/>
                <a:cs typeface="Verdana"/>
              </a:rPr>
              <a:t>   </a:t>
            </a:r>
            <a:r>
              <a:rPr sz="2200" spc="-10" dirty="0">
                <a:latin typeface="Verdana"/>
                <a:cs typeface="Verdana"/>
              </a:rPr>
              <a:t>temperature 	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circuit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makes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 	</a:t>
            </a:r>
            <a:r>
              <a:rPr sz="2200" dirty="0">
                <a:latin typeface="Verdana"/>
                <a:cs typeface="Verdana"/>
              </a:rPr>
              <a:t>operational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amplifier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shown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here.</a:t>
            </a:r>
            <a:endParaRPr sz="2200">
              <a:latin typeface="Verdana"/>
              <a:cs typeface="Verdana"/>
            </a:endParaRPr>
          </a:p>
          <a:p>
            <a:pPr marL="448309" marR="3215640" lvl="1" indent="-377190" algn="just">
              <a:lnSpc>
                <a:spcPct val="150000"/>
              </a:lnSpc>
              <a:buFont typeface="Wingdings"/>
              <a:buChar char=""/>
              <a:tabLst>
                <a:tab pos="449580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sensitivity</a:t>
            </a:r>
            <a:r>
              <a:rPr sz="2200" spc="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adjusted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by 	</a:t>
            </a:r>
            <a:r>
              <a:rPr sz="2200" dirty="0">
                <a:latin typeface="Verdana"/>
                <a:cs typeface="Verdana"/>
              </a:rPr>
              <a:t>altering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feedback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ratio.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6811" y="3913356"/>
            <a:ext cx="3192087" cy="302596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98243" y="426127"/>
            <a:ext cx="78657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NTC</a:t>
            </a:r>
            <a:r>
              <a:rPr spc="-60" dirty="0"/>
              <a:t> </a:t>
            </a:r>
            <a:r>
              <a:rPr dirty="0"/>
              <a:t>Mathematical</a:t>
            </a:r>
            <a:r>
              <a:rPr spc="-45" dirty="0"/>
              <a:t> </a:t>
            </a:r>
            <a:r>
              <a:rPr spc="-10" dirty="0"/>
              <a:t>Modeling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6600" y="1518284"/>
            <a:ext cx="921702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8625" marR="431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428625" algn="l"/>
                <a:tab pos="1401445" algn="l"/>
                <a:tab pos="3549015" algn="l"/>
                <a:tab pos="5447030" algn="l"/>
                <a:tab pos="6361430" algn="l"/>
                <a:tab pos="8176259" algn="l"/>
                <a:tab pos="8888095" algn="l"/>
              </a:tabLst>
            </a:pP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B-Constant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Equation: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resistance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i="1" spc="-25" dirty="0">
                <a:latin typeface="Verdana"/>
                <a:cs typeface="Verdana"/>
              </a:rPr>
              <a:t>R</a:t>
            </a:r>
            <a:r>
              <a:rPr sz="2175" spc="-37" baseline="-21072" dirty="0">
                <a:latin typeface="Verdana"/>
                <a:cs typeface="Verdana"/>
              </a:rPr>
              <a:t>2</a:t>
            </a:r>
            <a:r>
              <a:rPr sz="2175" baseline="-21072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at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</a:t>
            </a:r>
            <a:r>
              <a:rPr sz="2200" i="1" dirty="0">
                <a:latin typeface="Verdana"/>
                <a:cs typeface="Verdana"/>
              </a:rPr>
              <a:t>θ</a:t>
            </a:r>
            <a:r>
              <a:rPr sz="2175" baseline="-21072" dirty="0">
                <a:latin typeface="Verdana"/>
                <a:cs typeface="Verdana"/>
              </a:rPr>
              <a:t>2</a:t>
            </a:r>
            <a:r>
              <a:rPr sz="2175" spc="307" baseline="-21072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Kelvins)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calculated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by: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4700" y="3530027"/>
            <a:ext cx="9140825" cy="153416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403860">
              <a:lnSpc>
                <a:spcPct val="100000"/>
              </a:lnSpc>
              <a:spcBef>
                <a:spcPts val="1420"/>
              </a:spcBef>
            </a:pPr>
            <a:r>
              <a:rPr sz="2200" dirty="0">
                <a:latin typeface="Verdana"/>
                <a:cs typeface="Verdana"/>
              </a:rPr>
              <a:t>where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B</a:t>
            </a:r>
            <a:r>
              <a:rPr sz="2200" i="1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constant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related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material's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properties.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Calibration:</a:t>
            </a:r>
            <a:r>
              <a:rPr sz="2200" b="1" spc="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Manufacturers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provide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spc="-30" dirty="0">
                <a:latin typeface="Verdana"/>
                <a:cs typeface="Verdana"/>
              </a:rPr>
              <a:t>"B-</a:t>
            </a:r>
            <a:r>
              <a:rPr sz="2200" dirty="0">
                <a:latin typeface="Verdana"/>
                <a:cs typeface="Verdana"/>
              </a:rPr>
              <a:t>value"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specific </a:t>
            </a:r>
            <a:r>
              <a:rPr sz="2200" spc="-20" dirty="0">
                <a:latin typeface="Verdana"/>
                <a:cs typeface="Verdana"/>
              </a:rPr>
              <a:t>resistance-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tables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each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device.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358" y="5222747"/>
            <a:ext cx="8665478" cy="17299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5857" y="2891773"/>
            <a:ext cx="2269503" cy="63626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3508" y="124572"/>
            <a:ext cx="897128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9100" marR="5080" indent="-1677035">
              <a:lnSpc>
                <a:spcPct val="100200"/>
              </a:lnSpc>
              <a:spcBef>
                <a:spcPts val="100"/>
              </a:spcBef>
            </a:pPr>
            <a:r>
              <a:rPr dirty="0"/>
              <a:t>PTC</a:t>
            </a:r>
            <a:r>
              <a:rPr spc="-40" dirty="0"/>
              <a:t> </a:t>
            </a:r>
            <a:r>
              <a:rPr dirty="0"/>
              <a:t>Thermistors</a:t>
            </a:r>
            <a:r>
              <a:rPr spc="-30" dirty="0"/>
              <a:t> </a:t>
            </a:r>
            <a:r>
              <a:rPr dirty="0"/>
              <a:t>—</a:t>
            </a:r>
            <a:r>
              <a:rPr spc="-15" dirty="0"/>
              <a:t> </a:t>
            </a:r>
            <a:r>
              <a:rPr dirty="0"/>
              <a:t>Principle</a:t>
            </a:r>
            <a:r>
              <a:rPr spc="-30" dirty="0"/>
              <a:t> </a:t>
            </a:r>
            <a:r>
              <a:rPr spc="-25" dirty="0"/>
              <a:t>for </a:t>
            </a:r>
            <a:r>
              <a:rPr dirty="0"/>
              <a:t>overheat</a:t>
            </a:r>
            <a:r>
              <a:rPr spc="-65" dirty="0"/>
              <a:t> </a:t>
            </a:r>
            <a:r>
              <a:rPr spc="-10" dirty="0"/>
              <a:t>protection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9300" y="1518284"/>
            <a:ext cx="9190990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marR="3175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415925" algn="l"/>
                <a:tab pos="1227455" algn="l"/>
                <a:tab pos="3447415" algn="l"/>
                <a:tab pos="4352925" algn="l"/>
                <a:tab pos="5075555" algn="l"/>
                <a:tab pos="6874509" algn="l"/>
                <a:tab pos="8012430" algn="l"/>
                <a:tab pos="8369300" algn="l"/>
              </a:tabLst>
            </a:pP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Trip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Temperature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(</a:t>
            </a:r>
            <a:r>
              <a:rPr sz="2200" b="1" i="1" spc="-1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2175" b="1" i="1" spc="-15" baseline="-21072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)</a:t>
            </a:r>
            <a:r>
              <a:rPr sz="2200" spc="-10" dirty="0">
                <a:latin typeface="Verdana"/>
                <a:cs typeface="Verdana"/>
              </a:rPr>
              <a:t>: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PTC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thermistors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exhibit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sharp </a:t>
            </a:r>
            <a:r>
              <a:rPr sz="2200" dirty="0">
                <a:latin typeface="Verdana"/>
                <a:cs typeface="Verdana"/>
              </a:rPr>
              <a:t>increase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resistance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once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specific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threshold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reached.</a:t>
            </a:r>
            <a:endParaRPr sz="2200">
              <a:latin typeface="Verdana"/>
              <a:cs typeface="Verdana"/>
            </a:endParaRPr>
          </a:p>
          <a:p>
            <a:pPr marL="415925" marR="30480" indent="-378460">
              <a:lnSpc>
                <a:spcPct val="150000"/>
              </a:lnSpc>
              <a:buFont typeface="Wingdings"/>
              <a:buChar char=""/>
              <a:tabLst>
                <a:tab pos="415925" algn="l"/>
                <a:tab pos="3137535" algn="l"/>
                <a:tab pos="3890645" algn="l"/>
                <a:tab pos="5285105" algn="l"/>
                <a:tab pos="5689600" algn="l"/>
                <a:tab pos="6531609" algn="l"/>
                <a:tab pos="6991984" algn="l"/>
                <a:tab pos="8182609" algn="l"/>
                <a:tab pos="886587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Self-Regulation: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This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behavior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used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"switch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off"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35" dirty="0">
                <a:latin typeface="Verdana"/>
                <a:cs typeface="Verdana"/>
              </a:rPr>
              <a:t>or </a:t>
            </a:r>
            <a:r>
              <a:rPr sz="2200" dirty="0">
                <a:latin typeface="Verdana"/>
                <a:cs typeface="Verdana"/>
              </a:rPr>
              <a:t>limit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device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overheats.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29104" y="7023607"/>
            <a:ext cx="579310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PTC</a:t>
            </a:r>
            <a:r>
              <a:rPr sz="1500" b="1" spc="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thermistor</a:t>
            </a:r>
            <a:r>
              <a:rPr sz="1500" b="1" spc="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used</a:t>
            </a:r>
            <a:r>
              <a:rPr sz="1500" b="1" spc="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for</a:t>
            </a:r>
            <a:r>
              <a:rPr sz="1500" b="1" spc="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sensing</a:t>
            </a:r>
            <a:r>
              <a:rPr sz="1500" b="1" spc="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excess</a:t>
            </a:r>
            <a:r>
              <a:rPr sz="1500" b="1" spc="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spc="-10" dirty="0">
                <a:solidFill>
                  <a:srgbClr val="FF0000"/>
                </a:solidFill>
                <a:latin typeface="Verdana"/>
                <a:cs typeface="Verdana"/>
              </a:rPr>
              <a:t>temperature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2555" y="3622547"/>
            <a:ext cx="5551932" cy="326288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3508" y="124572"/>
            <a:ext cx="897128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0795" marR="5080" indent="-1268730">
              <a:lnSpc>
                <a:spcPct val="100200"/>
              </a:lnSpc>
              <a:spcBef>
                <a:spcPts val="100"/>
              </a:spcBef>
            </a:pPr>
            <a:r>
              <a:rPr dirty="0"/>
              <a:t>PTC</a:t>
            </a:r>
            <a:r>
              <a:rPr spc="-40" dirty="0"/>
              <a:t> </a:t>
            </a:r>
            <a:r>
              <a:rPr dirty="0"/>
              <a:t>Thermistors</a:t>
            </a:r>
            <a:r>
              <a:rPr spc="-30" dirty="0"/>
              <a:t> </a:t>
            </a:r>
            <a:r>
              <a:rPr dirty="0"/>
              <a:t>—</a:t>
            </a:r>
            <a:r>
              <a:rPr spc="-15" dirty="0"/>
              <a:t> </a:t>
            </a:r>
            <a:r>
              <a:rPr dirty="0"/>
              <a:t>Principle</a:t>
            </a:r>
            <a:r>
              <a:rPr spc="-30" dirty="0"/>
              <a:t> </a:t>
            </a:r>
            <a:r>
              <a:rPr spc="-25" dirty="0"/>
              <a:t>for </a:t>
            </a:r>
            <a:r>
              <a:rPr dirty="0"/>
              <a:t>overcurrent</a:t>
            </a:r>
            <a:r>
              <a:rPr spc="-55" dirty="0"/>
              <a:t> </a:t>
            </a:r>
            <a:r>
              <a:rPr spc="-10" dirty="0"/>
              <a:t>protection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4700" y="1518284"/>
            <a:ext cx="913955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762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922655" algn="l"/>
                <a:tab pos="1614805" algn="l"/>
                <a:tab pos="2390140" algn="l"/>
                <a:tab pos="3681095" algn="l"/>
                <a:tab pos="4372610" algn="l"/>
                <a:tab pos="5683250" algn="l"/>
                <a:tab pos="7482205" algn="l"/>
                <a:tab pos="8210550" algn="l"/>
                <a:tab pos="8770620" algn="l"/>
              </a:tabLst>
            </a:pPr>
            <a:r>
              <a:rPr sz="2200" b="1" spc="-25" dirty="0">
                <a:solidFill>
                  <a:srgbClr val="009900"/>
                </a:solidFill>
                <a:latin typeface="Verdana"/>
                <a:cs typeface="Verdana"/>
              </a:rPr>
              <a:t>In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	</a:t>
            </a:r>
            <a:r>
              <a:rPr sz="2200" b="1" spc="-25" dirty="0">
                <a:solidFill>
                  <a:srgbClr val="009900"/>
                </a:solidFill>
                <a:latin typeface="Verdana"/>
                <a:cs typeface="Verdana"/>
              </a:rPr>
              <a:t>the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	</a:t>
            </a:r>
            <a:r>
              <a:rPr sz="2200" b="1" spc="-25" dirty="0">
                <a:solidFill>
                  <a:srgbClr val="009900"/>
                </a:solidFill>
                <a:latin typeface="Verdana"/>
                <a:cs typeface="Verdana"/>
              </a:rPr>
              <a:t>PTC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009900"/>
                </a:solidFill>
                <a:latin typeface="Verdana"/>
                <a:cs typeface="Verdana"/>
              </a:rPr>
              <a:t>region,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	</a:t>
            </a:r>
            <a:r>
              <a:rPr sz="2200" b="1" spc="-25" dirty="0">
                <a:solidFill>
                  <a:srgbClr val="009900"/>
                </a:solidFill>
                <a:latin typeface="Verdana"/>
                <a:cs typeface="Verdana"/>
              </a:rPr>
              <a:t>the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009900"/>
                </a:solidFill>
                <a:latin typeface="Verdana"/>
                <a:cs typeface="Verdana"/>
              </a:rPr>
              <a:t>change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009900"/>
                </a:solidFill>
                <a:latin typeface="Verdana"/>
                <a:cs typeface="Verdana"/>
              </a:rPr>
              <a:t>resistance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	</a:t>
            </a:r>
            <a:r>
              <a:rPr sz="2200" b="1" spc="-25" dirty="0">
                <a:solidFill>
                  <a:srgbClr val="009900"/>
                </a:solidFill>
                <a:latin typeface="Verdana"/>
                <a:cs typeface="Verdana"/>
              </a:rPr>
              <a:t>can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	</a:t>
            </a:r>
            <a:r>
              <a:rPr sz="2200" b="1" spc="-25" dirty="0">
                <a:solidFill>
                  <a:srgbClr val="009900"/>
                </a:solidFill>
                <a:latin typeface="Verdana"/>
                <a:cs typeface="Verdana"/>
              </a:rPr>
              <a:t>be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	</a:t>
            </a:r>
            <a:r>
              <a:rPr sz="2200" b="1" spc="-25" dirty="0">
                <a:solidFill>
                  <a:srgbClr val="009900"/>
                </a:solidFill>
                <a:latin typeface="Verdana"/>
                <a:cs typeface="Verdana"/>
              </a:rPr>
              <a:t>as 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large</a:t>
            </a:r>
            <a:r>
              <a:rPr sz="2200" b="1" spc="-35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as</a:t>
            </a:r>
            <a:r>
              <a:rPr sz="2200" b="1" spc="-1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100%</a:t>
            </a:r>
            <a:r>
              <a:rPr sz="2200" b="1" spc="-15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for</a:t>
            </a:r>
            <a:r>
              <a:rPr sz="2200" b="1" spc="-2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each</a:t>
            </a:r>
            <a:r>
              <a:rPr sz="2200" b="1" spc="-3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°C</a:t>
            </a:r>
            <a:r>
              <a:rPr sz="2200" b="1" spc="-3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change</a:t>
            </a:r>
            <a:r>
              <a:rPr sz="2200" b="1" spc="-15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9900"/>
                </a:solidFill>
                <a:latin typeface="Verdana"/>
                <a:cs typeface="Verdana"/>
              </a:rPr>
              <a:t>in</a:t>
            </a:r>
            <a:r>
              <a:rPr sz="2200" b="1" spc="-3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009900"/>
                </a:solidFill>
                <a:latin typeface="Verdana"/>
                <a:cs typeface="Verdana"/>
              </a:rPr>
              <a:t>temperature.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load</a:t>
            </a:r>
            <a:r>
              <a:rPr sz="2200" b="1" spc="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is</a:t>
            </a:r>
            <a:r>
              <a:rPr sz="2200" b="1" spc="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protected</a:t>
            </a:r>
            <a:r>
              <a:rPr sz="2200" b="1" spc="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against</a:t>
            </a:r>
            <a:r>
              <a:rPr sz="2200" b="1" spc="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excess</a:t>
            </a:r>
            <a:r>
              <a:rPr sz="2200" b="1" spc="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current</a:t>
            </a:r>
            <a:r>
              <a:rPr sz="2200" b="1" spc="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when</a:t>
            </a:r>
            <a:r>
              <a:rPr sz="2200" b="1" spc="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it</a:t>
            </a:r>
            <a:r>
              <a:rPr sz="2200" b="1" spc="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is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connected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in</a:t>
            </a:r>
            <a:r>
              <a:rPr sz="22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series</a:t>
            </a:r>
            <a:r>
              <a:rPr sz="22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with</a:t>
            </a:r>
            <a:r>
              <a:rPr sz="22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2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thermistor</a:t>
            </a:r>
            <a:r>
              <a:rPr sz="2200" b="1" spc="-10" dirty="0"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2367" y="6638024"/>
            <a:ext cx="849312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S-shaped</a:t>
            </a:r>
            <a:r>
              <a:rPr sz="1500" b="1" spc="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Characteristics</a:t>
            </a:r>
            <a:r>
              <a:rPr sz="1500" b="1" spc="11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and</a:t>
            </a:r>
            <a:r>
              <a:rPr sz="1500" b="1" spc="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PTC</a:t>
            </a:r>
            <a:r>
              <a:rPr sz="1500" b="1" spc="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thermistor</a:t>
            </a:r>
            <a:r>
              <a:rPr sz="1500" b="1" spc="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used</a:t>
            </a:r>
            <a:r>
              <a:rPr sz="1500" b="1" spc="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for</a:t>
            </a:r>
            <a:r>
              <a:rPr sz="1500" b="1" spc="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sensing</a:t>
            </a:r>
            <a:r>
              <a:rPr sz="1500" b="1" spc="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excess</a:t>
            </a:r>
            <a:r>
              <a:rPr sz="1500" b="1" spc="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spc="-10" dirty="0">
                <a:solidFill>
                  <a:srgbClr val="FF0000"/>
                </a:solidFill>
                <a:latin typeface="Verdana"/>
                <a:cs typeface="Verdana"/>
              </a:rPr>
              <a:t>current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8150" y="3759432"/>
            <a:ext cx="4887000" cy="279321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35161" y="124572"/>
            <a:ext cx="718820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8489" marR="5080" indent="-1876425">
              <a:lnSpc>
                <a:spcPct val="100200"/>
              </a:lnSpc>
              <a:spcBef>
                <a:spcPts val="100"/>
              </a:spcBef>
            </a:pPr>
            <a:r>
              <a:rPr dirty="0"/>
              <a:t>Industrial</a:t>
            </a:r>
            <a:r>
              <a:rPr spc="-65" dirty="0"/>
              <a:t> </a:t>
            </a:r>
            <a:r>
              <a:rPr dirty="0"/>
              <a:t>Applications</a:t>
            </a:r>
            <a:r>
              <a:rPr spc="-70" dirty="0"/>
              <a:t> </a:t>
            </a:r>
            <a:r>
              <a:rPr spc="-25" dirty="0"/>
              <a:t>of </a:t>
            </a:r>
            <a:r>
              <a:rPr spc="-10" dirty="0"/>
              <a:t>Thermistors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18284"/>
            <a:ext cx="9140190" cy="505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Materials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PTC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thermistors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compounds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009900"/>
                </a:solidFill>
                <a:latin typeface="Verdana"/>
                <a:cs typeface="Verdana"/>
              </a:rPr>
              <a:t>barium, </a:t>
            </a:r>
            <a:r>
              <a:rPr sz="2200" dirty="0">
                <a:solidFill>
                  <a:srgbClr val="009900"/>
                </a:solidFill>
                <a:latin typeface="Verdana"/>
                <a:cs typeface="Verdana"/>
              </a:rPr>
              <a:t>lead</a:t>
            </a:r>
            <a:r>
              <a:rPr sz="2200" spc="-85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9900"/>
                </a:solidFill>
                <a:latin typeface="Verdana"/>
                <a:cs typeface="Verdana"/>
              </a:rPr>
              <a:t>and</a:t>
            </a:r>
            <a:r>
              <a:rPr sz="2200" spc="-65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9900"/>
                </a:solidFill>
                <a:latin typeface="Verdana"/>
                <a:cs typeface="Verdana"/>
              </a:rPr>
              <a:t>strontium</a:t>
            </a:r>
            <a:r>
              <a:rPr sz="2200" spc="-6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9900"/>
                </a:solidFill>
                <a:latin typeface="Verdana"/>
                <a:cs typeface="Verdana"/>
              </a:rPr>
              <a:t>titanates</a:t>
            </a:r>
            <a:r>
              <a:rPr sz="2200" spc="-8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009900"/>
                </a:solidFill>
                <a:latin typeface="Verdana"/>
                <a:cs typeface="Verdana"/>
              </a:rPr>
              <a:t>(ceramic</a:t>
            </a:r>
            <a:r>
              <a:rPr sz="2200" spc="-80" dirty="0">
                <a:solidFill>
                  <a:srgbClr val="00990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009900"/>
                </a:solidFill>
                <a:latin typeface="Verdana"/>
                <a:cs typeface="Verdana"/>
              </a:rPr>
              <a:t>materials).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NTC</a:t>
            </a:r>
            <a:r>
              <a:rPr sz="22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Applications:</a:t>
            </a:r>
            <a:endParaRPr sz="2200">
              <a:latin typeface="Verdana"/>
              <a:cs typeface="Verdana"/>
            </a:endParaRPr>
          </a:p>
          <a:p>
            <a:pPr marL="89281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2810" algn="l"/>
              </a:tabLst>
            </a:pPr>
            <a:r>
              <a:rPr sz="2200" dirty="0">
                <a:latin typeface="Verdana"/>
                <a:cs typeface="Verdana"/>
              </a:rPr>
              <a:t>Precise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thermostats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deep-</a:t>
            </a:r>
            <a:r>
              <a:rPr sz="2200" dirty="0">
                <a:latin typeface="Verdana"/>
                <a:cs typeface="Verdana"/>
              </a:rPr>
              <a:t>freezers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ovens.</a:t>
            </a:r>
            <a:endParaRPr sz="2200">
              <a:latin typeface="Verdana"/>
              <a:cs typeface="Verdana"/>
            </a:endParaRPr>
          </a:p>
          <a:p>
            <a:pPr marL="89281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2810" algn="l"/>
              </a:tabLst>
            </a:pPr>
            <a:r>
              <a:rPr sz="2200" dirty="0">
                <a:latin typeface="Verdana"/>
                <a:cs typeface="Verdana"/>
              </a:rPr>
              <a:t>Medical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devices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patient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monitoring.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PTC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Applications:</a:t>
            </a:r>
            <a:endParaRPr sz="2200">
              <a:latin typeface="Verdana"/>
              <a:cs typeface="Verdana"/>
            </a:endParaRPr>
          </a:p>
          <a:p>
            <a:pPr marL="893444" marR="5080" lvl="1" indent="-378460">
              <a:lnSpc>
                <a:spcPct val="150000"/>
              </a:lnSpc>
              <a:buFont typeface="Wingdings"/>
              <a:buChar char=""/>
              <a:tabLst>
                <a:tab pos="893444" algn="l"/>
                <a:tab pos="3690620" algn="l"/>
                <a:tab pos="5369560" algn="l"/>
                <a:tab pos="6016625" algn="l"/>
                <a:tab pos="7117715" algn="l"/>
                <a:tab pos="8609965" algn="l"/>
              </a:tabLst>
            </a:pPr>
            <a:r>
              <a:rPr sz="2200" spc="-30" dirty="0">
                <a:latin typeface="Verdana"/>
                <a:cs typeface="Verdana"/>
              </a:rPr>
              <a:t>Over-</a:t>
            </a:r>
            <a:r>
              <a:rPr sz="2200" spc="-10" dirty="0">
                <a:latin typeface="Verdana"/>
                <a:cs typeface="Verdana"/>
              </a:rPr>
              <a:t>temperature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protection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for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motor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windings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 </a:t>
            </a:r>
            <a:r>
              <a:rPr sz="2200" spc="-10" dirty="0">
                <a:latin typeface="Verdana"/>
                <a:cs typeface="Verdana"/>
              </a:rPr>
              <a:t>transformers.</a:t>
            </a:r>
            <a:endParaRPr sz="2200">
              <a:latin typeface="Verdana"/>
              <a:cs typeface="Verdana"/>
            </a:endParaRPr>
          </a:p>
          <a:p>
            <a:pPr marL="893444" marR="5080" lvl="1" indent="-378460">
              <a:lnSpc>
                <a:spcPct val="150000"/>
              </a:lnSpc>
              <a:buFont typeface="Wingdings"/>
              <a:buChar char=""/>
              <a:tabLst>
                <a:tab pos="893444" algn="l"/>
                <a:tab pos="3146425" algn="l"/>
                <a:tab pos="4236720" algn="l"/>
                <a:tab pos="4984750" algn="l"/>
                <a:tab pos="7095490" algn="l"/>
                <a:tab pos="8872220" algn="l"/>
              </a:tabLst>
            </a:pPr>
            <a:r>
              <a:rPr sz="2200" spc="-25" dirty="0">
                <a:latin typeface="Verdana"/>
                <a:cs typeface="Verdana"/>
              </a:rPr>
              <a:t>Self-</a:t>
            </a:r>
            <a:r>
              <a:rPr sz="2200" spc="-10" dirty="0">
                <a:latin typeface="Verdana"/>
                <a:cs typeface="Verdana"/>
              </a:rPr>
              <a:t>resetting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fuses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for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30" dirty="0">
                <a:latin typeface="Verdana"/>
                <a:cs typeface="Verdana"/>
              </a:rPr>
              <a:t>over-</a:t>
            </a:r>
            <a:r>
              <a:rPr sz="2200" spc="-10" dirty="0">
                <a:latin typeface="Verdana"/>
                <a:cs typeface="Verdana"/>
              </a:rPr>
              <a:t>current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protection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in </a:t>
            </a:r>
            <a:r>
              <a:rPr sz="2200" dirty="0">
                <a:latin typeface="Verdana"/>
                <a:cs typeface="Verdana"/>
              </a:rPr>
              <a:t>electronic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circuits.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37045" y="124572"/>
            <a:ext cx="598678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0850">
              <a:lnSpc>
                <a:spcPct val="100200"/>
              </a:lnSpc>
              <a:spcBef>
                <a:spcPts val="100"/>
              </a:spcBef>
            </a:pPr>
            <a:r>
              <a:rPr dirty="0"/>
              <a:t>Comparison</a:t>
            </a:r>
            <a:r>
              <a:rPr spc="-65" dirty="0"/>
              <a:t> </a:t>
            </a:r>
            <a:r>
              <a:rPr spc="-10" dirty="0"/>
              <a:t>Table </a:t>
            </a:r>
            <a:r>
              <a:rPr dirty="0"/>
              <a:t>(RTD</a:t>
            </a:r>
            <a:r>
              <a:rPr spc="-20" dirty="0"/>
              <a:t> </a:t>
            </a:r>
            <a:r>
              <a:rPr dirty="0"/>
              <a:t>vs.</a:t>
            </a:r>
            <a:r>
              <a:rPr spc="-15" dirty="0"/>
              <a:t> </a:t>
            </a:r>
            <a:r>
              <a:rPr spc="-10" dirty="0"/>
              <a:t>Thermistor)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51666" y="1775930"/>
            <a:ext cx="2781935" cy="404876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Thermistor</a:t>
            </a:r>
            <a:r>
              <a:rPr sz="2200" b="1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(NTC)</a:t>
            </a:r>
            <a:endParaRPr sz="2200">
              <a:latin typeface="Verdana"/>
              <a:cs typeface="Verdana"/>
            </a:endParaRPr>
          </a:p>
          <a:p>
            <a:pPr marL="12700" marR="37274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High</a:t>
            </a:r>
            <a:r>
              <a:rPr sz="2200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(within</a:t>
            </a:r>
            <a:r>
              <a:rPr sz="2200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Verdana"/>
                <a:cs typeface="Verdana"/>
              </a:rPr>
              <a:t>0.1- </a:t>
            </a:r>
            <a:r>
              <a:rPr sz="2200" spc="-10" dirty="0">
                <a:solidFill>
                  <a:srgbClr val="FF0000"/>
                </a:solidFill>
                <a:latin typeface="Verdana"/>
                <a:cs typeface="Verdana"/>
              </a:rPr>
              <a:t>0.2°C)</a:t>
            </a:r>
            <a:endParaRPr sz="2200">
              <a:latin typeface="Verdana"/>
              <a:cs typeface="Verdana"/>
            </a:endParaRPr>
          </a:p>
          <a:p>
            <a:pPr marL="12700" marR="154940">
              <a:lnSpc>
                <a:spcPct val="150000"/>
              </a:lnSpc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Poor</a:t>
            </a:r>
            <a:r>
              <a:rPr sz="2200" spc="-12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(Exponential)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Narrow</a:t>
            </a:r>
            <a:r>
              <a:rPr sz="2200" spc="-7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(-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50</a:t>
            </a:r>
            <a:r>
              <a:rPr sz="2200" spc="-4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to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+250°C)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Moderate</a:t>
            </a:r>
            <a:r>
              <a:rPr sz="2200" spc="-7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to</a:t>
            </a:r>
            <a:r>
              <a:rPr sz="2200" spc="-7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High</a:t>
            </a:r>
            <a:endParaRPr sz="2200">
              <a:latin typeface="Verdana"/>
              <a:cs typeface="Verdana"/>
            </a:endParaRPr>
          </a:p>
          <a:p>
            <a:pPr marL="12700" marR="34480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Low</a:t>
            </a:r>
            <a:r>
              <a:rPr sz="2200" spc="-6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(Mass-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produced</a:t>
            </a:r>
            <a:r>
              <a:rPr sz="2200" spc="-10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oxides)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34256" y="1775930"/>
            <a:ext cx="2494915" cy="404876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RTD</a:t>
            </a:r>
            <a:r>
              <a:rPr sz="22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(Platinum)</a:t>
            </a:r>
            <a:endParaRPr sz="2200">
              <a:latin typeface="Verdana"/>
              <a:cs typeface="Verdana"/>
            </a:endParaRPr>
          </a:p>
          <a:p>
            <a:pPr marL="12700" marR="46164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Highest</a:t>
            </a:r>
            <a:r>
              <a:rPr sz="2200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(up</a:t>
            </a:r>
            <a:r>
              <a:rPr sz="2200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Verdana"/>
                <a:cs typeface="Verdana"/>
              </a:rPr>
              <a:t>to </a:t>
            </a:r>
            <a:r>
              <a:rPr sz="2200" spc="-10" dirty="0">
                <a:solidFill>
                  <a:srgbClr val="FF0000"/>
                </a:solidFill>
                <a:latin typeface="Verdana"/>
                <a:cs typeface="Verdana"/>
              </a:rPr>
              <a:t>0.1°C)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50000"/>
              </a:lnSpc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Excellent</a:t>
            </a:r>
            <a:r>
              <a:rPr sz="2200" spc="-9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(Linear) 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Wide</a:t>
            </a:r>
            <a:r>
              <a:rPr sz="2200" spc="-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(-</a:t>
            </a: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200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1F1F1F"/>
                </a:solidFill>
                <a:latin typeface="Verdana"/>
                <a:cs typeface="Verdana"/>
              </a:rPr>
              <a:t>to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+660°C)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Very</a:t>
            </a:r>
            <a:r>
              <a:rPr sz="2200" spc="-16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1F1F1F"/>
                </a:solidFill>
                <a:latin typeface="Verdana"/>
                <a:cs typeface="Verdana"/>
              </a:rPr>
              <a:t>High</a:t>
            </a:r>
            <a:endParaRPr sz="2200">
              <a:latin typeface="Verdana"/>
              <a:cs typeface="Verdana"/>
            </a:endParaRPr>
          </a:p>
          <a:p>
            <a:pPr marL="12700" marR="38735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solidFill>
                  <a:srgbClr val="1F1F1F"/>
                </a:solidFill>
                <a:latin typeface="Verdana"/>
                <a:cs typeface="Verdana"/>
              </a:rPr>
              <a:t>High</a:t>
            </a:r>
            <a:r>
              <a:rPr sz="2200" spc="-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1F1F1F"/>
                </a:solidFill>
                <a:latin typeface="Verdana"/>
                <a:cs typeface="Verdana"/>
              </a:rPr>
              <a:t>(Platinum material)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6710" y="1944163"/>
            <a:ext cx="12287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Feature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6710" y="2614699"/>
            <a:ext cx="14401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Accuracy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6710" y="3285234"/>
            <a:ext cx="14122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Linearity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6710" y="3955770"/>
            <a:ext cx="10083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Range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6710" y="4626306"/>
            <a:ext cx="13284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Stability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6710" y="5296841"/>
            <a:ext cx="7131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Cost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89157" y="124572"/>
            <a:ext cx="788035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8425" marR="5080" indent="-2626360">
              <a:lnSpc>
                <a:spcPct val="100200"/>
              </a:lnSpc>
              <a:spcBef>
                <a:spcPts val="100"/>
              </a:spcBef>
            </a:pPr>
            <a:r>
              <a:rPr dirty="0"/>
              <a:t>Introduction</a:t>
            </a:r>
            <a:r>
              <a:rPr spc="-5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Pyroelectric Materials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686517"/>
            <a:ext cx="83750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90525" algn="l"/>
                <a:tab pos="2247900" algn="l"/>
                <a:tab pos="4074795" algn="l"/>
                <a:tab pos="4944745" algn="l"/>
                <a:tab pos="5600065" algn="l"/>
                <a:tab pos="7058659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Definition: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Pyroelectric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films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dielectric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materials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69798" y="1518284"/>
            <a:ext cx="59309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15">
              <a:lnSpc>
                <a:spcPct val="150000"/>
              </a:lnSpc>
              <a:spcBef>
                <a:spcPts val="100"/>
              </a:spcBef>
            </a:pPr>
            <a:r>
              <a:rPr sz="2200" spc="-20" dirty="0">
                <a:latin typeface="Verdana"/>
                <a:cs typeface="Verdana"/>
              </a:rPr>
              <a:t>that (IR)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202" y="2021185"/>
            <a:ext cx="8364220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>
              <a:lnSpc>
                <a:spcPct val="150000"/>
              </a:lnSpc>
              <a:spcBef>
                <a:spcPts val="100"/>
              </a:spcBef>
              <a:tabLst>
                <a:tab pos="1689735" algn="l"/>
                <a:tab pos="2066289" algn="l"/>
                <a:tab pos="3288029" algn="l"/>
                <a:tab pos="4445000" algn="l"/>
                <a:tab pos="5401945" algn="l"/>
                <a:tab pos="6771005" algn="l"/>
                <a:tab pos="7259320" algn="l"/>
              </a:tabLst>
            </a:pPr>
            <a:r>
              <a:rPr sz="2200" spc="-10" dirty="0">
                <a:latin typeface="Verdana"/>
                <a:cs typeface="Verdana"/>
              </a:rPr>
              <a:t>develop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surface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charge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when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exposed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infrared </a:t>
            </a:r>
            <a:r>
              <a:rPr sz="2200" spc="-10" dirty="0">
                <a:latin typeface="Verdana"/>
                <a:cs typeface="Verdana"/>
              </a:rPr>
              <a:t>radiation.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Common</a:t>
            </a:r>
            <a:r>
              <a:rPr sz="2200" b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Materials:</a:t>
            </a:r>
            <a:endParaRPr sz="2200">
              <a:latin typeface="Verdana"/>
              <a:cs typeface="Verdana"/>
            </a:endParaRPr>
          </a:p>
          <a:p>
            <a:pPr marL="89281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2810" algn="l"/>
              </a:tabLst>
            </a:pPr>
            <a:r>
              <a:rPr sz="2200" dirty="0">
                <a:latin typeface="Verdana"/>
                <a:cs typeface="Verdana"/>
              </a:rPr>
              <a:t>Plastic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films: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Historically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earlier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designs.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3202" y="4032928"/>
            <a:ext cx="9140825" cy="203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3444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893444" algn="l"/>
                <a:tab pos="2162175" algn="l"/>
                <a:tab pos="3793490" algn="l"/>
                <a:tab pos="4532630" algn="l"/>
                <a:tab pos="6057900" algn="l"/>
                <a:tab pos="7441565" algn="l"/>
                <a:tab pos="8049259" algn="l"/>
              </a:tabLst>
            </a:pPr>
            <a:r>
              <a:rPr sz="2200" spc="-10" dirty="0">
                <a:latin typeface="Verdana"/>
                <a:cs typeface="Verdana"/>
              </a:rPr>
              <a:t>Lithium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Tantalate: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preferred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material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for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modern </a:t>
            </a:r>
            <a:r>
              <a:rPr sz="2200" dirty="0">
                <a:latin typeface="Verdana"/>
                <a:cs typeface="Verdana"/>
              </a:rPr>
              <a:t>passive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infrared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(PIR)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systems.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Core</a:t>
            </a:r>
            <a:r>
              <a:rPr sz="2200" b="1" spc="2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Function:</a:t>
            </a:r>
            <a:r>
              <a:rPr sz="2200" b="1" spc="2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act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transducers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converting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thermal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(IR)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electrical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signals.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28995" y="426127"/>
            <a:ext cx="619760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Principle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88042" y="1518284"/>
            <a:ext cx="527748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835" marR="5080" indent="-191770">
              <a:lnSpc>
                <a:spcPct val="150000"/>
              </a:lnSpc>
              <a:spcBef>
                <a:spcPts val="100"/>
              </a:spcBef>
              <a:tabLst>
                <a:tab pos="1319530" algn="l"/>
                <a:tab pos="1434465" algn="l"/>
                <a:tab pos="1832610" algn="l"/>
                <a:tab pos="2804160" algn="l"/>
                <a:tab pos="3765550" algn="l"/>
                <a:tab pos="4318635" algn="l"/>
                <a:tab pos="4813935" algn="l"/>
              </a:tabLst>
            </a:pPr>
            <a:r>
              <a:rPr sz="2200" spc="-10" dirty="0">
                <a:latin typeface="Verdana"/>
                <a:cs typeface="Verdana"/>
              </a:rPr>
              <a:t>Incident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10" dirty="0">
                <a:latin typeface="Verdana"/>
                <a:cs typeface="Verdana"/>
              </a:rPr>
              <a:t>infrared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radiation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causes </a:t>
            </a:r>
            <a:r>
              <a:rPr sz="2200" spc="-10" dirty="0">
                <a:latin typeface="Verdana"/>
                <a:cs typeface="Verdana"/>
              </a:rPr>
              <a:t>known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polarization,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within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3202" y="1518284"/>
            <a:ext cx="388048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536700" algn="l"/>
                <a:tab pos="1779270" algn="l"/>
                <a:tab pos="330771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Charge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Separation: </a:t>
            </a:r>
            <a:r>
              <a:rPr sz="2200" spc="-10" dirty="0">
                <a:latin typeface="Verdana"/>
                <a:cs typeface="Verdana"/>
              </a:rPr>
              <a:t>charge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separation,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also </a:t>
            </a:r>
            <a:r>
              <a:rPr sz="2200" spc="-10" dirty="0">
                <a:latin typeface="Verdana"/>
                <a:cs typeface="Verdana"/>
              </a:rPr>
              <a:t>material.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202" y="3027125"/>
            <a:ext cx="9140190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Voltage</a:t>
            </a:r>
            <a:r>
              <a:rPr sz="2200" b="1" spc="2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Generation:</a:t>
            </a:r>
            <a:r>
              <a:rPr sz="2200" b="1" spc="2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separation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alters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charge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resulting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across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plates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detector.</a:t>
            </a:r>
            <a:endParaRPr sz="220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Dynamic</a:t>
            </a:r>
            <a:r>
              <a:rPr sz="2200" b="1" spc="6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Sensing:</a:t>
            </a:r>
            <a:r>
              <a:rPr sz="2200" b="1" spc="6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Because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detector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functions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spc="-50" dirty="0">
                <a:latin typeface="Verdana"/>
                <a:cs typeface="Verdana"/>
              </a:rPr>
              <a:t>a 	</a:t>
            </a:r>
            <a:r>
              <a:rPr sz="2200" spc="-25" dirty="0">
                <a:latin typeface="Verdana"/>
                <a:cs typeface="Verdana"/>
              </a:rPr>
              <a:t>capacitor,</a:t>
            </a:r>
            <a:r>
              <a:rPr sz="2200" dirty="0">
                <a:latin typeface="Verdana"/>
                <a:cs typeface="Verdana"/>
              </a:rPr>
              <a:t> it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has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DC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response;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cannot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sense a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stationary 	</a:t>
            </a:r>
            <a:r>
              <a:rPr sz="2200" dirty="0">
                <a:latin typeface="Verdana"/>
                <a:cs typeface="Verdana"/>
              </a:rPr>
              <a:t>infrared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emitter.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Motion</a:t>
            </a:r>
            <a:r>
              <a:rPr sz="2200" b="1" spc="-5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Detection:</a:t>
            </a:r>
            <a:r>
              <a:rPr sz="2200" b="1" spc="-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detector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only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responds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-6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amount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incident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infrared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radiation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altered,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typically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by 	</a:t>
            </a:r>
            <a:r>
              <a:rPr sz="2200" spc="-10" dirty="0">
                <a:latin typeface="Verdana"/>
                <a:cs typeface="Verdana"/>
              </a:rPr>
              <a:t>movement.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66402" y="124572"/>
            <a:ext cx="732409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2370" marR="5080" indent="-2440305">
              <a:lnSpc>
                <a:spcPct val="100200"/>
              </a:lnSpc>
              <a:spcBef>
                <a:spcPts val="100"/>
              </a:spcBef>
            </a:pPr>
            <a:r>
              <a:rPr dirty="0"/>
              <a:t>Construction</a:t>
            </a:r>
            <a:r>
              <a:rPr spc="-4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Internal Circuitry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18284"/>
            <a:ext cx="9140825" cy="505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Capacitor</a:t>
            </a:r>
            <a:r>
              <a:rPr sz="2200" b="1" spc="1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Structure:</a:t>
            </a:r>
            <a:r>
              <a:rPr sz="2200" b="1" spc="1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detector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constructed</a:t>
            </a:r>
            <a:r>
              <a:rPr sz="2200" spc="1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spc="-50" dirty="0">
                <a:latin typeface="Verdana"/>
                <a:cs typeface="Verdana"/>
              </a:rPr>
              <a:t>a 	</a:t>
            </a:r>
            <a:r>
              <a:rPr sz="2200" dirty="0">
                <a:latin typeface="Verdana"/>
                <a:cs typeface="Verdana"/>
              </a:rPr>
              <a:t>capacitor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one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metal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plate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one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plate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made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of 	</a:t>
            </a:r>
            <a:r>
              <a:rPr sz="2200" dirty="0">
                <a:latin typeface="Verdana"/>
                <a:cs typeface="Verdana"/>
              </a:rPr>
              <a:t>pyroelectric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conducting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surface.</a:t>
            </a:r>
            <a:endParaRPr sz="2200">
              <a:latin typeface="Verdana"/>
              <a:cs typeface="Verdana"/>
            </a:endParaRPr>
          </a:p>
          <a:p>
            <a:pPr marL="389255" marR="952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High Impedance:</a:t>
            </a:r>
            <a:r>
              <a:rPr sz="22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pyroelectric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capacitor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has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very </a:t>
            </a:r>
            <a:r>
              <a:rPr sz="2200" spc="-20" dirty="0">
                <a:latin typeface="Verdana"/>
                <a:cs typeface="Verdana"/>
              </a:rPr>
              <a:t>high 	</a:t>
            </a:r>
            <a:r>
              <a:rPr sz="2200" spc="-10" dirty="0">
                <a:latin typeface="Verdana"/>
                <a:cs typeface="Verdana"/>
              </a:rPr>
              <a:t>impedance.</a:t>
            </a:r>
            <a:endParaRPr sz="220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Integrated</a:t>
            </a:r>
            <a:r>
              <a:rPr sz="2200" b="1" spc="3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MOSFET:</a:t>
            </a:r>
            <a:r>
              <a:rPr sz="2200" b="1" spc="3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manage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3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impedance,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practical 	</a:t>
            </a:r>
            <a:r>
              <a:rPr sz="2200" dirty="0">
                <a:latin typeface="Verdana"/>
                <a:cs typeface="Verdana"/>
              </a:rPr>
              <a:t>detectors</a:t>
            </a:r>
            <a:r>
              <a:rPr sz="2200" spc="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built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single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unit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containing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both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capacitor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MOSFET.</a:t>
            </a:r>
            <a:endParaRPr sz="220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Connections:</a:t>
            </a:r>
            <a:r>
              <a:rPr sz="2200" b="1" spc="114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External</a:t>
            </a:r>
            <a:r>
              <a:rPr sz="2200" spc="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connections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provided</a:t>
            </a:r>
            <a:r>
              <a:rPr sz="2200" spc="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source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(S)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drain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(D)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MOSFET.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68121" y="124572"/>
            <a:ext cx="732409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2370" marR="5080" indent="-2440305">
              <a:lnSpc>
                <a:spcPct val="100200"/>
              </a:lnSpc>
              <a:spcBef>
                <a:spcPts val="100"/>
              </a:spcBef>
            </a:pPr>
            <a:r>
              <a:rPr dirty="0"/>
              <a:t>Construction</a:t>
            </a:r>
            <a:r>
              <a:rPr spc="-4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Internal Circuitry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2993" y="1981404"/>
            <a:ext cx="1629294" cy="11642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0687" y="3528059"/>
            <a:ext cx="5486798" cy="202817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89736" y="6101588"/>
            <a:ext cx="785304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500" b="1" spc="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typical</a:t>
            </a:r>
            <a:r>
              <a:rPr sz="1500" b="1" spc="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pyroelectric</a:t>
            </a:r>
            <a:r>
              <a:rPr sz="1500" b="1" spc="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passive</a:t>
            </a:r>
            <a:r>
              <a:rPr sz="1500" b="1" spc="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infrared</a:t>
            </a:r>
            <a:r>
              <a:rPr sz="1500" b="1" spc="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(PIR)</a:t>
            </a:r>
            <a:r>
              <a:rPr sz="1500" b="1" spc="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unit</a:t>
            </a:r>
            <a:r>
              <a:rPr sz="1500" b="1" spc="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and</a:t>
            </a:r>
            <a:r>
              <a:rPr sz="1500" b="1" spc="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its</a:t>
            </a:r>
            <a:r>
              <a:rPr sz="1500" b="1" spc="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internal</a:t>
            </a:r>
            <a:r>
              <a:rPr sz="1500" b="1" spc="1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spc="-10" dirty="0">
                <a:solidFill>
                  <a:srgbClr val="FF0000"/>
                </a:solidFill>
                <a:latin typeface="Verdana"/>
                <a:cs typeface="Verdana"/>
              </a:rPr>
              <a:t>circuit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0426" y="426127"/>
            <a:ext cx="829564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Key</a:t>
            </a:r>
            <a:r>
              <a:rPr spc="-40" dirty="0"/>
              <a:t> </a:t>
            </a:r>
            <a:r>
              <a:rPr dirty="0"/>
              <a:t>Performance</a:t>
            </a:r>
            <a:r>
              <a:rPr spc="-35" dirty="0"/>
              <a:t> </a:t>
            </a:r>
            <a:r>
              <a:rPr spc="-10" dirty="0"/>
              <a:t>Parameters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5102" y="1518284"/>
            <a:ext cx="9218295" cy="455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7355" marR="431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4286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Noise-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Equivalent</a:t>
            </a:r>
            <a:r>
              <a:rPr sz="2200" b="1" spc="25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Power</a:t>
            </a:r>
            <a:r>
              <a:rPr sz="2200" b="1" spc="2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(NEP):</a:t>
            </a:r>
            <a:r>
              <a:rPr sz="2200" b="1" spc="2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Expresses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lower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limit 	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usefulness;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signals</a:t>
            </a:r>
            <a:r>
              <a:rPr sz="2200" spc="5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below</a:t>
            </a:r>
            <a:r>
              <a:rPr sz="2200" spc="5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4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4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lost</a:t>
            </a:r>
            <a:r>
              <a:rPr sz="2200" spc="5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4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noise.</a:t>
            </a:r>
            <a:r>
              <a:rPr sz="2200" spc="4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Lithium 	</a:t>
            </a:r>
            <a:r>
              <a:rPr sz="2200" dirty="0">
                <a:latin typeface="Verdana"/>
                <a:cs typeface="Verdana"/>
              </a:rPr>
              <a:t>tantalate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typically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has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NEP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10</a:t>
            </a:r>
            <a:r>
              <a:rPr sz="2175" spc="-37" baseline="24904" dirty="0">
                <a:latin typeface="Verdana"/>
                <a:cs typeface="Verdana"/>
              </a:rPr>
              <a:t>-</a:t>
            </a:r>
            <a:r>
              <a:rPr sz="2175" baseline="24904" dirty="0">
                <a:latin typeface="Verdana"/>
                <a:cs typeface="Verdana"/>
              </a:rPr>
              <a:t>9</a:t>
            </a:r>
            <a:r>
              <a:rPr sz="2175" spc="375" baseline="249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10 </a:t>
            </a:r>
            <a:r>
              <a:rPr sz="2200" spc="-25" dirty="0">
                <a:latin typeface="Verdana"/>
                <a:cs typeface="Verdana"/>
              </a:rPr>
              <a:t>Hz.</a:t>
            </a:r>
            <a:endParaRPr sz="2200">
              <a:latin typeface="Verdana"/>
              <a:cs typeface="Verdana"/>
            </a:endParaRPr>
          </a:p>
          <a:p>
            <a:pPr marL="427355" marR="44450" indent="-377190" algn="just">
              <a:lnSpc>
                <a:spcPct val="150000"/>
              </a:lnSpc>
              <a:buFont typeface="Wingdings"/>
              <a:buChar char=""/>
              <a:tabLst>
                <a:tab pos="4286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Responsivity:</a:t>
            </a:r>
            <a:r>
              <a:rPr sz="2200" b="1" spc="-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Measured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voltage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-11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output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per 	</a:t>
            </a:r>
            <a:r>
              <a:rPr sz="2200" dirty="0">
                <a:latin typeface="Verdana"/>
                <a:cs typeface="Verdana"/>
              </a:rPr>
              <a:t>unit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radiant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(V/W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A/W).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typical</a:t>
            </a:r>
            <a:r>
              <a:rPr sz="2200" spc="10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voltage 	</a:t>
            </a:r>
            <a:r>
              <a:rPr sz="2200" dirty="0">
                <a:latin typeface="Verdana"/>
                <a:cs typeface="Verdana"/>
              </a:rPr>
              <a:t>responsivity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3200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V/W.</a:t>
            </a:r>
            <a:endParaRPr sz="2200">
              <a:latin typeface="Verdana"/>
              <a:cs typeface="Verdana"/>
            </a:endParaRPr>
          </a:p>
          <a:p>
            <a:pPr marL="427355" marR="43180" indent="-377190" algn="just">
              <a:lnSpc>
                <a:spcPct val="150000"/>
              </a:lnSpc>
              <a:buFont typeface="Wingdings"/>
              <a:buChar char=""/>
              <a:tabLst>
                <a:tab pos="4286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Frequency</a:t>
            </a:r>
            <a:r>
              <a:rPr sz="2200" b="1" spc="3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Response:</a:t>
            </a:r>
            <a:r>
              <a:rPr sz="2200" b="1" spc="3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Refers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how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responsivity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changes 	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modulation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frequencies,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acting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low-</a:t>
            </a:r>
            <a:r>
              <a:rPr sz="2200" dirty="0">
                <a:latin typeface="Verdana"/>
                <a:cs typeface="Verdana"/>
              </a:rPr>
              <a:t>pass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filter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a 	</a:t>
            </a:r>
            <a:r>
              <a:rPr sz="2200" dirty="0">
                <a:latin typeface="Verdana"/>
                <a:cs typeface="Verdana"/>
              </a:rPr>
              <a:t>peak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below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Hz.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81929" y="124572"/>
            <a:ext cx="569531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>
              <a:lnSpc>
                <a:spcPct val="100200"/>
              </a:lnSpc>
              <a:spcBef>
                <a:spcPts val="100"/>
              </a:spcBef>
            </a:pPr>
            <a:r>
              <a:rPr dirty="0"/>
              <a:t>Optical</a:t>
            </a:r>
            <a:r>
              <a:rPr spc="-55" dirty="0"/>
              <a:t> </a:t>
            </a:r>
            <a:r>
              <a:rPr spc="-10" dirty="0"/>
              <a:t>Components </a:t>
            </a:r>
            <a:r>
              <a:rPr dirty="0"/>
              <a:t>(The</a:t>
            </a:r>
            <a:r>
              <a:rPr spc="-40" dirty="0"/>
              <a:t> </a:t>
            </a:r>
            <a:r>
              <a:rPr dirty="0"/>
              <a:t>Fresnel</a:t>
            </a:r>
            <a:r>
              <a:rPr spc="-20" dirty="0"/>
              <a:t> </a:t>
            </a:r>
            <a:r>
              <a:rPr spc="-10" dirty="0"/>
              <a:t>Lens)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71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Function:</a:t>
            </a:r>
            <a:r>
              <a:rPr b="1" spc="3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A</a:t>
            </a:r>
            <a:r>
              <a:rPr spc="270" dirty="0"/>
              <a:t> </a:t>
            </a:r>
            <a:r>
              <a:rPr dirty="0"/>
              <a:t>faceted</a:t>
            </a:r>
            <a:r>
              <a:rPr spc="290" dirty="0"/>
              <a:t> </a:t>
            </a:r>
            <a:r>
              <a:rPr dirty="0"/>
              <a:t>Fresnel</a:t>
            </a:r>
            <a:r>
              <a:rPr spc="265" dirty="0"/>
              <a:t> </a:t>
            </a:r>
            <a:r>
              <a:rPr dirty="0"/>
              <a:t>lens</a:t>
            </a:r>
            <a:r>
              <a:rPr spc="275" dirty="0"/>
              <a:t> </a:t>
            </a:r>
            <a:r>
              <a:rPr dirty="0"/>
              <a:t>is</a:t>
            </a:r>
            <a:r>
              <a:rPr spc="260" dirty="0"/>
              <a:t> </a:t>
            </a:r>
            <a:r>
              <a:rPr dirty="0"/>
              <a:t>an</a:t>
            </a:r>
            <a:r>
              <a:rPr spc="270" dirty="0"/>
              <a:t> </a:t>
            </a:r>
            <a:r>
              <a:rPr dirty="0"/>
              <a:t>essential</a:t>
            </a:r>
            <a:r>
              <a:rPr spc="290" dirty="0"/>
              <a:t> </a:t>
            </a:r>
            <a:r>
              <a:rPr dirty="0"/>
              <a:t>part</a:t>
            </a:r>
            <a:r>
              <a:rPr spc="270" dirty="0"/>
              <a:t> </a:t>
            </a:r>
            <a:r>
              <a:rPr dirty="0"/>
              <a:t>of</a:t>
            </a:r>
            <a:r>
              <a:rPr spc="254" dirty="0"/>
              <a:t> </a:t>
            </a:r>
            <a:r>
              <a:rPr spc="-25" dirty="0"/>
              <a:t>the 	</a:t>
            </a:r>
            <a:r>
              <a:rPr dirty="0"/>
              <a:t>detector</a:t>
            </a:r>
            <a:r>
              <a:rPr spc="-95" dirty="0"/>
              <a:t> </a:t>
            </a:r>
            <a:r>
              <a:rPr spc="-10" dirty="0"/>
              <a:t>unit.</a:t>
            </a:r>
          </a:p>
          <a:p>
            <a:pPr marL="389255" marR="571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Focusing:</a:t>
            </a:r>
            <a:r>
              <a:rPr b="1" spc="17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It</a:t>
            </a:r>
            <a:r>
              <a:rPr spc="140" dirty="0"/>
              <a:t>  </a:t>
            </a:r>
            <a:r>
              <a:rPr dirty="0"/>
              <a:t>focuses</a:t>
            </a:r>
            <a:r>
              <a:rPr spc="140" dirty="0"/>
              <a:t>  </a:t>
            </a:r>
            <a:r>
              <a:rPr dirty="0"/>
              <a:t>infrared</a:t>
            </a:r>
            <a:r>
              <a:rPr spc="150" dirty="0"/>
              <a:t>  </a:t>
            </a:r>
            <a:r>
              <a:rPr dirty="0"/>
              <a:t>from</a:t>
            </a:r>
            <a:r>
              <a:rPr spc="140" dirty="0"/>
              <a:t>  </a:t>
            </a:r>
            <a:r>
              <a:rPr dirty="0"/>
              <a:t>an</a:t>
            </a:r>
            <a:r>
              <a:rPr spc="150" dirty="0"/>
              <a:t>  </a:t>
            </a:r>
            <a:r>
              <a:rPr dirty="0"/>
              <a:t>object</a:t>
            </a:r>
            <a:r>
              <a:rPr spc="145" dirty="0"/>
              <a:t>  </a:t>
            </a:r>
            <a:r>
              <a:rPr dirty="0"/>
              <a:t>onto</a:t>
            </a:r>
            <a:r>
              <a:rPr spc="145" dirty="0"/>
              <a:t>  </a:t>
            </a:r>
            <a:r>
              <a:rPr spc="-25" dirty="0"/>
              <a:t>the 	</a:t>
            </a:r>
            <a:r>
              <a:rPr dirty="0"/>
              <a:t>pyroelectric</a:t>
            </a:r>
            <a:r>
              <a:rPr spc="-145" dirty="0"/>
              <a:t> </a:t>
            </a:r>
            <a:r>
              <a:rPr spc="-10" dirty="0"/>
              <a:t>surfaces.</a:t>
            </a: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Sweeping</a:t>
            </a:r>
            <a:r>
              <a:rPr b="1" spc="1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Action:  </a:t>
            </a:r>
            <a:r>
              <a:rPr dirty="0"/>
              <a:t>As</a:t>
            </a:r>
            <a:r>
              <a:rPr spc="-20" dirty="0"/>
              <a:t>  </a:t>
            </a:r>
            <a:r>
              <a:rPr dirty="0"/>
              <a:t>an</a:t>
            </a:r>
            <a:r>
              <a:rPr spc="-15" dirty="0"/>
              <a:t>  </a:t>
            </a:r>
            <a:r>
              <a:rPr dirty="0"/>
              <a:t>object</a:t>
            </a:r>
            <a:r>
              <a:rPr spc="-30" dirty="0"/>
              <a:t>  </a:t>
            </a:r>
            <a:r>
              <a:rPr dirty="0"/>
              <a:t>moves,</a:t>
            </a:r>
            <a:r>
              <a:rPr spc="-10" dirty="0"/>
              <a:t>  </a:t>
            </a:r>
            <a:r>
              <a:rPr dirty="0"/>
              <a:t>the</a:t>
            </a:r>
            <a:r>
              <a:rPr spc="-30" dirty="0"/>
              <a:t>  </a:t>
            </a:r>
            <a:r>
              <a:rPr dirty="0"/>
              <a:t>lens</a:t>
            </a:r>
            <a:r>
              <a:rPr spc="-25" dirty="0"/>
              <a:t>  </a:t>
            </a:r>
            <a:r>
              <a:rPr spc="-10" dirty="0"/>
              <a:t>causes 	</a:t>
            </a:r>
            <a:r>
              <a:rPr dirty="0"/>
              <a:t>infrared</a:t>
            </a:r>
            <a:r>
              <a:rPr spc="-110" dirty="0"/>
              <a:t>  </a:t>
            </a:r>
            <a:r>
              <a:rPr dirty="0"/>
              <a:t>beams</a:t>
            </a:r>
            <a:r>
              <a:rPr spc="535" dirty="0"/>
              <a:t> </a:t>
            </a:r>
            <a:r>
              <a:rPr dirty="0"/>
              <a:t>to</a:t>
            </a:r>
            <a:r>
              <a:rPr spc="-105" dirty="0"/>
              <a:t>  </a:t>
            </a:r>
            <a:r>
              <a:rPr dirty="0"/>
              <a:t>sweep</a:t>
            </a:r>
            <a:r>
              <a:rPr spc="-110" dirty="0"/>
              <a:t>  </a:t>
            </a:r>
            <a:r>
              <a:rPr dirty="0"/>
              <a:t>across</a:t>
            </a:r>
            <a:r>
              <a:rPr spc="-105" dirty="0"/>
              <a:t>  </a:t>
            </a:r>
            <a:r>
              <a:rPr dirty="0"/>
              <a:t>the</a:t>
            </a:r>
            <a:r>
              <a:rPr spc="-114" dirty="0"/>
              <a:t>  </a:t>
            </a:r>
            <a:r>
              <a:rPr dirty="0"/>
              <a:t>detector,</a:t>
            </a:r>
            <a:r>
              <a:rPr spc="-110" dirty="0"/>
              <a:t>  </a:t>
            </a:r>
            <a:r>
              <a:rPr dirty="0"/>
              <a:t>triggering</a:t>
            </a:r>
            <a:r>
              <a:rPr spc="-110" dirty="0"/>
              <a:t>  </a:t>
            </a:r>
            <a:r>
              <a:rPr spc="-50" dirty="0"/>
              <a:t>a 	</a:t>
            </a:r>
            <a:r>
              <a:rPr spc="-10" dirty="0"/>
              <a:t>response.</a:t>
            </a:r>
          </a:p>
          <a:p>
            <a:pPr marL="389255" marR="635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Field</a:t>
            </a:r>
            <a:r>
              <a:rPr b="1" spc="2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of</a:t>
            </a:r>
            <a:r>
              <a:rPr b="1" spc="3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View:</a:t>
            </a:r>
            <a:r>
              <a:rPr b="1" spc="3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The</a:t>
            </a:r>
            <a:r>
              <a:rPr spc="275" dirty="0"/>
              <a:t> </a:t>
            </a:r>
            <a:r>
              <a:rPr dirty="0"/>
              <a:t>construction</a:t>
            </a:r>
            <a:r>
              <a:rPr spc="305" dirty="0"/>
              <a:t> </a:t>
            </a:r>
            <a:r>
              <a:rPr dirty="0"/>
              <a:t>of</a:t>
            </a:r>
            <a:r>
              <a:rPr spc="285" dirty="0"/>
              <a:t> </a:t>
            </a:r>
            <a:r>
              <a:rPr dirty="0"/>
              <a:t>the</a:t>
            </a:r>
            <a:r>
              <a:rPr spc="275" dirty="0"/>
              <a:t> </a:t>
            </a:r>
            <a:r>
              <a:rPr dirty="0"/>
              <a:t>lens</a:t>
            </a:r>
            <a:r>
              <a:rPr spc="265" dirty="0"/>
              <a:t> </a:t>
            </a:r>
            <a:r>
              <a:rPr dirty="0"/>
              <a:t>determines</a:t>
            </a:r>
            <a:r>
              <a:rPr spc="285" dirty="0"/>
              <a:t> </a:t>
            </a:r>
            <a:r>
              <a:rPr spc="-25" dirty="0"/>
              <a:t>the 	</a:t>
            </a:r>
            <a:r>
              <a:rPr dirty="0"/>
              <a:t>detection</a:t>
            </a:r>
            <a:r>
              <a:rPr spc="-55" dirty="0"/>
              <a:t> </a:t>
            </a:r>
            <a:r>
              <a:rPr dirty="0"/>
              <a:t>angle</a:t>
            </a:r>
            <a:r>
              <a:rPr spc="-6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system.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67084" y="426127"/>
            <a:ext cx="712343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Response</a:t>
            </a:r>
            <a:r>
              <a:rPr spc="-50" dirty="0"/>
              <a:t> </a:t>
            </a:r>
            <a:r>
              <a:rPr spc="-10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9525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419225" algn="l"/>
                <a:tab pos="3189605" algn="l"/>
                <a:tab pos="4277360" algn="l"/>
                <a:tab pos="5842000" algn="l"/>
                <a:tab pos="7105650" algn="l"/>
                <a:tab pos="7534909" algn="l"/>
                <a:tab pos="8500110" algn="l"/>
              </a:tabLst>
            </a:pPr>
            <a:r>
              <a:rPr b="1" spc="-20" dirty="0">
                <a:solidFill>
                  <a:srgbClr val="FF0000"/>
                </a:solidFill>
                <a:latin typeface="Verdana"/>
                <a:cs typeface="Verdana"/>
              </a:rPr>
              <a:t>Time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Constant: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pc="-10" dirty="0"/>
              <a:t>These</a:t>
            </a:r>
            <a:r>
              <a:rPr dirty="0"/>
              <a:t>	</a:t>
            </a:r>
            <a:r>
              <a:rPr spc="-10" dirty="0"/>
              <a:t>detectors</a:t>
            </a:r>
            <a:r>
              <a:rPr dirty="0"/>
              <a:t>	</a:t>
            </a:r>
            <a:r>
              <a:rPr spc="-10" dirty="0"/>
              <a:t>feature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large</a:t>
            </a:r>
            <a:r>
              <a:rPr dirty="0"/>
              <a:t>	</a:t>
            </a:r>
            <a:r>
              <a:rPr spc="-20" dirty="0"/>
              <a:t>time </a:t>
            </a:r>
            <a:r>
              <a:rPr spc="-10" dirty="0"/>
              <a:t>constant.</a:t>
            </a: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Response</a:t>
            </a:r>
            <a:r>
              <a:rPr b="1" spc="25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Rate:</a:t>
            </a:r>
            <a:r>
              <a:rPr b="1" spc="25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The</a:t>
            </a:r>
            <a:r>
              <a:rPr spc="235" dirty="0"/>
              <a:t> </a:t>
            </a:r>
            <a:r>
              <a:rPr dirty="0"/>
              <a:t>typical</a:t>
            </a:r>
            <a:r>
              <a:rPr spc="250" dirty="0"/>
              <a:t> </a:t>
            </a:r>
            <a:r>
              <a:rPr dirty="0"/>
              <a:t>response</a:t>
            </a:r>
            <a:r>
              <a:rPr spc="229" dirty="0"/>
              <a:t> </a:t>
            </a:r>
            <a:r>
              <a:rPr dirty="0"/>
              <a:t>rate</a:t>
            </a:r>
            <a:r>
              <a:rPr spc="235" dirty="0"/>
              <a:t> </a:t>
            </a:r>
            <a:r>
              <a:rPr dirty="0"/>
              <a:t>to</a:t>
            </a:r>
            <a:r>
              <a:rPr spc="245" dirty="0"/>
              <a:t> </a:t>
            </a:r>
            <a:r>
              <a:rPr dirty="0"/>
              <a:t>IR</a:t>
            </a:r>
            <a:r>
              <a:rPr spc="229" dirty="0"/>
              <a:t> </a:t>
            </a:r>
            <a:r>
              <a:rPr spc="-10" dirty="0"/>
              <a:t>alterations </a:t>
            </a:r>
            <a:r>
              <a:rPr dirty="0"/>
              <a:t>ranges</a:t>
            </a:r>
            <a:r>
              <a:rPr spc="-65" dirty="0"/>
              <a:t> </a:t>
            </a:r>
            <a:r>
              <a:rPr dirty="0"/>
              <a:t>from</a:t>
            </a:r>
            <a:r>
              <a:rPr spc="-45" dirty="0"/>
              <a:t> </a:t>
            </a:r>
            <a:r>
              <a:rPr dirty="0"/>
              <a:t>0.2</a:t>
            </a:r>
            <a:r>
              <a:rPr spc="-3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spc="-25" dirty="0"/>
              <a:t>Hz.</a:t>
            </a:r>
          </a:p>
          <a:p>
            <a:pPr marL="390525" marR="762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2172335" algn="l"/>
                <a:tab pos="4093845" algn="l"/>
                <a:tab pos="5613400" algn="l"/>
                <a:tab pos="6812915" algn="l"/>
                <a:tab pos="8226425" algn="l"/>
              </a:tabLst>
            </a:pP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Frequency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Sensitivity: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pc="-10" dirty="0"/>
              <a:t>Maximum</a:t>
            </a:r>
            <a:r>
              <a:rPr dirty="0"/>
              <a:t>	</a:t>
            </a:r>
            <a:r>
              <a:rPr spc="-10" dirty="0"/>
              <a:t>relative</a:t>
            </a:r>
            <a:r>
              <a:rPr dirty="0"/>
              <a:t>	</a:t>
            </a:r>
            <a:r>
              <a:rPr spc="-10" dirty="0"/>
              <a:t>response</a:t>
            </a:r>
            <a:r>
              <a:rPr dirty="0"/>
              <a:t>	</a:t>
            </a:r>
            <a:r>
              <a:rPr spc="-20" dirty="0"/>
              <a:t>occurs </a:t>
            </a:r>
            <a:r>
              <a:rPr dirty="0"/>
              <a:t>at</a:t>
            </a:r>
            <a:r>
              <a:rPr spc="-45" dirty="0"/>
              <a:t> </a:t>
            </a:r>
            <a:r>
              <a:rPr dirty="0"/>
              <a:t>0.2</a:t>
            </a:r>
            <a:r>
              <a:rPr spc="-5" dirty="0"/>
              <a:t> </a:t>
            </a:r>
            <a:r>
              <a:rPr spc="-25" dirty="0"/>
              <a:t>Hz.</a:t>
            </a:r>
          </a:p>
          <a:p>
            <a:pPr marL="892810" lvl="1" indent="-377825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892810" algn="l"/>
              </a:tabLst>
            </a:pPr>
            <a:r>
              <a:rPr sz="2200" dirty="0">
                <a:latin typeface="Verdana"/>
                <a:cs typeface="Verdana"/>
              </a:rPr>
              <a:t>Response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falls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50%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0.055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Hz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0.7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Hz.</a:t>
            </a:r>
            <a:endParaRPr sz="2200">
              <a:latin typeface="Verdana"/>
              <a:cs typeface="Verdana"/>
            </a:endParaRPr>
          </a:p>
          <a:p>
            <a:pPr marL="893444" marR="5715" lvl="1" indent="-378460">
              <a:lnSpc>
                <a:spcPct val="150000"/>
              </a:lnSpc>
              <a:buFont typeface="Wingdings"/>
              <a:buChar char=""/>
              <a:tabLst>
                <a:tab pos="893444" algn="l"/>
              </a:tabLst>
            </a:pPr>
            <a:r>
              <a:rPr sz="2200" dirty="0">
                <a:latin typeface="Verdana"/>
                <a:cs typeface="Verdana"/>
              </a:rPr>
              <a:t>Ideally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suited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detecting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movement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humans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and </a:t>
            </a:r>
            <a:r>
              <a:rPr sz="2200" spc="-10" dirty="0">
                <a:latin typeface="Verdana"/>
                <a:cs typeface="Verdana"/>
              </a:rPr>
              <a:t>animals.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25419" y="426127"/>
            <a:ext cx="840486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Practical</a:t>
            </a:r>
            <a:r>
              <a:rPr spc="-90" dirty="0"/>
              <a:t> </a:t>
            </a:r>
            <a:r>
              <a:rPr dirty="0"/>
              <a:t>Application</a:t>
            </a:r>
            <a:r>
              <a:rPr spc="-75" dirty="0"/>
              <a:t> </a:t>
            </a:r>
            <a:r>
              <a:rPr spc="-10" dirty="0"/>
              <a:t>Circuitry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Supply</a:t>
            </a:r>
            <a:r>
              <a:rPr b="1" spc="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Voltage:</a:t>
            </a:r>
            <a:r>
              <a:rPr b="1" spc="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Units</a:t>
            </a:r>
            <a:r>
              <a:rPr spc="85" dirty="0"/>
              <a:t> </a:t>
            </a:r>
            <a:r>
              <a:rPr dirty="0"/>
              <a:t>typically</a:t>
            </a:r>
            <a:r>
              <a:rPr spc="80" dirty="0"/>
              <a:t> </a:t>
            </a:r>
            <a:r>
              <a:rPr dirty="0"/>
              <a:t>operate</a:t>
            </a:r>
            <a:r>
              <a:rPr spc="75" dirty="0"/>
              <a:t> </a:t>
            </a:r>
            <a:r>
              <a:rPr dirty="0"/>
              <a:t>within</a:t>
            </a:r>
            <a:r>
              <a:rPr spc="80" dirty="0"/>
              <a:t> </a:t>
            </a:r>
            <a:r>
              <a:rPr dirty="0"/>
              <a:t>a</a:t>
            </a:r>
            <a:r>
              <a:rPr spc="85" dirty="0"/>
              <a:t> </a:t>
            </a:r>
            <a:r>
              <a:rPr dirty="0"/>
              <a:t>range</a:t>
            </a:r>
            <a:r>
              <a:rPr spc="80" dirty="0"/>
              <a:t>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3- 	</a:t>
            </a:r>
            <a:r>
              <a:rPr dirty="0"/>
              <a:t>15</a:t>
            </a:r>
            <a:r>
              <a:rPr spc="-20" dirty="0"/>
              <a:t> </a:t>
            </a:r>
            <a:r>
              <a:rPr spc="-35" dirty="0"/>
              <a:t>V.</a:t>
            </a: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Source-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Follower:</a:t>
            </a:r>
            <a:r>
              <a:rPr b="1" spc="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The</a:t>
            </a:r>
            <a:r>
              <a:rPr spc="105" dirty="0"/>
              <a:t> </a:t>
            </a:r>
            <a:r>
              <a:rPr dirty="0"/>
              <a:t>internal</a:t>
            </a:r>
            <a:r>
              <a:rPr spc="100" dirty="0"/>
              <a:t> </a:t>
            </a:r>
            <a:r>
              <a:rPr dirty="0"/>
              <a:t>MOSFET</a:t>
            </a:r>
            <a:r>
              <a:rPr spc="114" dirty="0"/>
              <a:t> </a:t>
            </a:r>
            <a:r>
              <a:rPr dirty="0"/>
              <a:t>is</a:t>
            </a:r>
            <a:r>
              <a:rPr spc="90" dirty="0"/>
              <a:t> </a:t>
            </a:r>
            <a:r>
              <a:rPr dirty="0"/>
              <a:t>usually</a:t>
            </a:r>
            <a:r>
              <a:rPr spc="105" dirty="0"/>
              <a:t> </a:t>
            </a:r>
            <a:r>
              <a:rPr dirty="0"/>
              <a:t>wired</a:t>
            </a:r>
            <a:r>
              <a:rPr spc="105" dirty="0"/>
              <a:t> </a:t>
            </a:r>
            <a:r>
              <a:rPr spc="-20" dirty="0"/>
              <a:t>into 	</a:t>
            </a:r>
            <a:r>
              <a:rPr dirty="0"/>
              <a:t>a</a:t>
            </a:r>
            <a:r>
              <a:rPr spc="125" dirty="0"/>
              <a:t> </a:t>
            </a:r>
            <a:r>
              <a:rPr spc="-20" dirty="0"/>
              <a:t>source-</a:t>
            </a:r>
            <a:r>
              <a:rPr dirty="0"/>
              <a:t>follower</a:t>
            </a:r>
            <a:r>
              <a:rPr spc="120" dirty="0"/>
              <a:t> </a:t>
            </a:r>
            <a:r>
              <a:rPr dirty="0"/>
              <a:t>circuit</a:t>
            </a:r>
            <a:r>
              <a:rPr spc="125" dirty="0"/>
              <a:t> </a:t>
            </a:r>
            <a:r>
              <a:rPr dirty="0"/>
              <a:t>with</a:t>
            </a:r>
            <a:r>
              <a:rPr spc="125" dirty="0"/>
              <a:t> </a:t>
            </a:r>
            <a:r>
              <a:rPr dirty="0"/>
              <a:t>a</a:t>
            </a:r>
            <a:r>
              <a:rPr spc="110" dirty="0"/>
              <a:t> </a:t>
            </a:r>
            <a:r>
              <a:rPr dirty="0"/>
              <a:t>load</a:t>
            </a:r>
            <a:r>
              <a:rPr spc="105" dirty="0"/>
              <a:t> </a:t>
            </a:r>
            <a:r>
              <a:rPr dirty="0"/>
              <a:t>resistor</a:t>
            </a:r>
            <a:r>
              <a:rPr spc="135" dirty="0"/>
              <a:t> </a:t>
            </a:r>
            <a:r>
              <a:rPr dirty="0"/>
              <a:t>(typically</a:t>
            </a:r>
            <a:r>
              <a:rPr spc="105" dirty="0"/>
              <a:t> </a:t>
            </a:r>
            <a:r>
              <a:rPr dirty="0"/>
              <a:t>100</a:t>
            </a:r>
            <a:r>
              <a:rPr spc="120" dirty="0"/>
              <a:t> </a:t>
            </a:r>
            <a:r>
              <a:rPr spc="-25" dirty="0"/>
              <a:t>to 	</a:t>
            </a:r>
            <a:r>
              <a:rPr dirty="0"/>
              <a:t>200</a:t>
            </a:r>
            <a:r>
              <a:rPr spc="-30" dirty="0"/>
              <a:t> </a:t>
            </a:r>
            <a:r>
              <a:rPr spc="-20" dirty="0"/>
              <a:t>kΩ).</a:t>
            </a:r>
          </a:p>
          <a:p>
            <a:pPr marL="389255" marR="698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Amplification:</a:t>
            </a:r>
            <a:r>
              <a:rPr b="1" spc="2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The</a:t>
            </a:r>
            <a:r>
              <a:rPr spc="285" dirty="0"/>
              <a:t>  </a:t>
            </a:r>
            <a:r>
              <a:rPr dirty="0"/>
              <a:t>small</a:t>
            </a:r>
            <a:r>
              <a:rPr spc="280" dirty="0"/>
              <a:t>  </a:t>
            </a:r>
            <a:r>
              <a:rPr dirty="0"/>
              <a:t>signal</a:t>
            </a:r>
            <a:r>
              <a:rPr spc="285" dirty="0"/>
              <a:t>  </a:t>
            </a:r>
            <a:r>
              <a:rPr dirty="0"/>
              <a:t>is</a:t>
            </a:r>
            <a:r>
              <a:rPr spc="265" dirty="0"/>
              <a:t>  </a:t>
            </a:r>
            <a:r>
              <a:rPr dirty="0"/>
              <a:t>often</a:t>
            </a:r>
            <a:r>
              <a:rPr spc="275" dirty="0"/>
              <a:t>  </a:t>
            </a:r>
            <a:r>
              <a:rPr dirty="0"/>
              <a:t>amplified</a:t>
            </a:r>
            <a:r>
              <a:rPr spc="275" dirty="0"/>
              <a:t>  </a:t>
            </a:r>
            <a:r>
              <a:rPr spc="-25" dirty="0"/>
              <a:t>by 	</a:t>
            </a:r>
            <a:r>
              <a:rPr dirty="0"/>
              <a:t>operational</a:t>
            </a:r>
            <a:r>
              <a:rPr spc="330" dirty="0"/>
              <a:t> </a:t>
            </a:r>
            <a:r>
              <a:rPr dirty="0"/>
              <a:t>amplifiers;</a:t>
            </a:r>
            <a:r>
              <a:rPr spc="340" dirty="0"/>
              <a:t> </a:t>
            </a:r>
            <a:r>
              <a:rPr dirty="0"/>
              <a:t>a</a:t>
            </a:r>
            <a:r>
              <a:rPr spc="340" dirty="0"/>
              <a:t> </a:t>
            </a:r>
            <a:r>
              <a:rPr dirty="0"/>
              <a:t>common</a:t>
            </a:r>
            <a:r>
              <a:rPr spc="340" dirty="0"/>
              <a:t> </a:t>
            </a:r>
            <a:r>
              <a:rPr dirty="0"/>
              <a:t>setup</a:t>
            </a:r>
            <a:r>
              <a:rPr spc="340" dirty="0"/>
              <a:t> </a:t>
            </a:r>
            <a:r>
              <a:rPr dirty="0"/>
              <a:t>uses</a:t>
            </a:r>
            <a:r>
              <a:rPr spc="320" dirty="0"/>
              <a:t> </a:t>
            </a:r>
            <a:r>
              <a:rPr dirty="0"/>
              <a:t>two</a:t>
            </a:r>
            <a:r>
              <a:rPr spc="325" dirty="0"/>
              <a:t> </a:t>
            </a:r>
            <a:r>
              <a:rPr dirty="0"/>
              <a:t>stages</a:t>
            </a:r>
            <a:r>
              <a:rPr spc="345" dirty="0"/>
              <a:t> </a:t>
            </a:r>
            <a:r>
              <a:rPr spc="-25" dirty="0"/>
              <a:t>to 	</a:t>
            </a:r>
            <a:r>
              <a:rPr dirty="0"/>
              <a:t>achieve</a:t>
            </a:r>
            <a:r>
              <a:rPr spc="-105" dirty="0"/>
              <a:t> </a:t>
            </a:r>
            <a:r>
              <a:rPr dirty="0"/>
              <a:t>an</a:t>
            </a:r>
            <a:r>
              <a:rPr spc="-80" dirty="0"/>
              <a:t> </a:t>
            </a:r>
            <a:r>
              <a:rPr dirty="0"/>
              <a:t>overall</a:t>
            </a:r>
            <a:r>
              <a:rPr spc="-80" dirty="0"/>
              <a:t> </a:t>
            </a:r>
            <a:r>
              <a:rPr dirty="0"/>
              <a:t>voltage</a:t>
            </a:r>
            <a:r>
              <a:rPr spc="-65" dirty="0"/>
              <a:t> </a:t>
            </a:r>
            <a:r>
              <a:rPr dirty="0"/>
              <a:t>gain</a:t>
            </a:r>
            <a:r>
              <a:rPr spc="-10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approximately</a:t>
            </a:r>
            <a:r>
              <a:rPr spc="-55" dirty="0"/>
              <a:t> </a:t>
            </a:r>
            <a:r>
              <a:rPr spc="-10" dirty="0"/>
              <a:t>3200.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27138" y="426127"/>
            <a:ext cx="840486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Practical</a:t>
            </a:r>
            <a:r>
              <a:rPr spc="-90" dirty="0"/>
              <a:t> </a:t>
            </a:r>
            <a:r>
              <a:rPr dirty="0"/>
              <a:t>Application</a:t>
            </a:r>
            <a:r>
              <a:rPr spc="-75" dirty="0"/>
              <a:t> </a:t>
            </a:r>
            <a:r>
              <a:rPr spc="-10" dirty="0"/>
              <a:t>Circuitry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404" y="1545336"/>
            <a:ext cx="8929116" cy="46085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101088" y="6104624"/>
            <a:ext cx="556069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500" b="1" spc="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suggested</a:t>
            </a:r>
            <a:r>
              <a:rPr sz="1500" b="1" spc="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circuit</a:t>
            </a:r>
            <a:r>
              <a:rPr sz="1500" b="1" spc="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for</a:t>
            </a:r>
            <a:r>
              <a:rPr sz="1500" b="1" spc="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500" b="1" spc="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pyroelectric</a:t>
            </a:r>
            <a:r>
              <a:rPr sz="1500" b="1" spc="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detector</a:t>
            </a:r>
            <a:r>
              <a:rPr sz="1500" b="1" spc="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spc="-20" dirty="0">
                <a:solidFill>
                  <a:srgbClr val="FF0000"/>
                </a:solidFill>
                <a:latin typeface="Verdana"/>
                <a:cs typeface="Verdana"/>
              </a:rPr>
              <a:t>unit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04495" y="426127"/>
            <a:ext cx="464947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Major</a:t>
            </a:r>
            <a:r>
              <a:rPr spc="-40" dirty="0"/>
              <a:t> </a:t>
            </a:r>
            <a:r>
              <a:rPr dirty="0"/>
              <a:t>Use</a:t>
            </a:r>
            <a:r>
              <a:rPr spc="-5" dirty="0"/>
              <a:t> </a:t>
            </a:r>
            <a:r>
              <a:rPr spc="-10" dirty="0"/>
              <a:t>Cases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Security</a:t>
            </a:r>
            <a:r>
              <a:rPr b="1" spc="2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Systems:</a:t>
            </a:r>
            <a:r>
              <a:rPr b="1" spc="25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Primary</a:t>
            </a:r>
            <a:r>
              <a:rPr spc="225" dirty="0"/>
              <a:t> </a:t>
            </a:r>
            <a:r>
              <a:rPr dirty="0"/>
              <a:t>use</a:t>
            </a:r>
            <a:r>
              <a:rPr spc="220" dirty="0"/>
              <a:t> </a:t>
            </a:r>
            <a:r>
              <a:rPr dirty="0"/>
              <a:t>in</a:t>
            </a:r>
            <a:r>
              <a:rPr spc="250" dirty="0"/>
              <a:t> </a:t>
            </a:r>
            <a:r>
              <a:rPr dirty="0"/>
              <a:t>burglar</a:t>
            </a:r>
            <a:r>
              <a:rPr spc="235" dirty="0"/>
              <a:t> </a:t>
            </a:r>
            <a:r>
              <a:rPr dirty="0"/>
              <a:t>alarms</a:t>
            </a:r>
            <a:r>
              <a:rPr spc="229" dirty="0"/>
              <a:t> </a:t>
            </a:r>
            <a:r>
              <a:rPr dirty="0"/>
              <a:t>to</a:t>
            </a:r>
            <a:r>
              <a:rPr spc="215" dirty="0"/>
              <a:t> </a:t>
            </a:r>
            <a:r>
              <a:rPr spc="-10" dirty="0"/>
              <a:t>detect 	</a:t>
            </a:r>
            <a:r>
              <a:rPr dirty="0"/>
              <a:t>unauthorized</a:t>
            </a:r>
            <a:r>
              <a:rPr spc="-120" dirty="0"/>
              <a:t> </a:t>
            </a:r>
            <a:r>
              <a:rPr spc="-10" dirty="0"/>
              <a:t>movement.</a:t>
            </a: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Automation:</a:t>
            </a:r>
          </a:p>
          <a:p>
            <a:pPr marL="1017905" lvl="1" indent="-37592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017905" algn="l"/>
              </a:tabLst>
            </a:pPr>
            <a:r>
              <a:rPr sz="2200" dirty="0">
                <a:latin typeface="Verdana"/>
                <a:cs typeface="Verdana"/>
              </a:rPr>
              <a:t>Automatic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light-</a:t>
            </a:r>
            <a:r>
              <a:rPr sz="2200" dirty="0">
                <a:latin typeface="Verdana"/>
                <a:cs typeface="Verdana"/>
              </a:rPr>
              <a:t>switching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based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room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occupancy.</a:t>
            </a:r>
            <a:endParaRPr sz="2200">
              <a:latin typeface="Verdana"/>
              <a:cs typeface="Verdana"/>
            </a:endParaRPr>
          </a:p>
          <a:p>
            <a:pPr marL="1017905" lvl="1" indent="-37592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1017905" algn="l"/>
              </a:tabLst>
            </a:pPr>
            <a:r>
              <a:rPr sz="2200" dirty="0">
                <a:latin typeface="Verdana"/>
                <a:cs typeface="Verdana"/>
              </a:rPr>
              <a:t>Automatic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door-</a:t>
            </a:r>
            <a:r>
              <a:rPr sz="2200" dirty="0">
                <a:latin typeface="Verdana"/>
                <a:cs typeface="Verdana"/>
              </a:rPr>
              <a:t>opening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equipment.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89890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Positioning:</a:t>
            </a:r>
            <a:r>
              <a:rPr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Utilized</a:t>
            </a:r>
            <a:r>
              <a:rPr spc="-95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dirty="0"/>
              <a:t>various</a:t>
            </a:r>
            <a:r>
              <a:rPr spc="-70" dirty="0"/>
              <a:t> </a:t>
            </a:r>
            <a:r>
              <a:rPr dirty="0"/>
              <a:t>positioning</a:t>
            </a:r>
            <a:r>
              <a:rPr spc="-70" dirty="0"/>
              <a:t> </a:t>
            </a:r>
            <a:r>
              <a:rPr spc="-10" dirty="0"/>
              <a:t>systems.</a:t>
            </a: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Monitoring:</a:t>
            </a:r>
            <a:r>
              <a:rPr b="1" spc="509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Often</a:t>
            </a:r>
            <a:r>
              <a:rPr spc="470" dirty="0"/>
              <a:t> </a:t>
            </a:r>
            <a:r>
              <a:rPr dirty="0"/>
              <a:t>includes</a:t>
            </a:r>
            <a:r>
              <a:rPr spc="475" dirty="0"/>
              <a:t> </a:t>
            </a:r>
            <a:r>
              <a:rPr dirty="0"/>
              <a:t>an</a:t>
            </a:r>
            <a:r>
              <a:rPr spc="490" dirty="0"/>
              <a:t> </a:t>
            </a:r>
            <a:r>
              <a:rPr dirty="0"/>
              <a:t>LED</a:t>
            </a:r>
            <a:r>
              <a:rPr spc="475" dirty="0"/>
              <a:t> </a:t>
            </a:r>
            <a:r>
              <a:rPr dirty="0"/>
              <a:t>display</a:t>
            </a:r>
            <a:r>
              <a:rPr spc="470" dirty="0"/>
              <a:t> </a:t>
            </a:r>
            <a:r>
              <a:rPr dirty="0"/>
              <a:t>to</a:t>
            </a:r>
            <a:r>
              <a:rPr spc="484" dirty="0"/>
              <a:t> </a:t>
            </a:r>
            <a:r>
              <a:rPr dirty="0"/>
              <a:t>indicate</a:t>
            </a:r>
            <a:r>
              <a:rPr spc="484" dirty="0"/>
              <a:t> </a:t>
            </a:r>
            <a:r>
              <a:rPr spc="-25" dirty="0"/>
              <a:t>the 	</a:t>
            </a:r>
            <a:r>
              <a:rPr dirty="0"/>
              <a:t>unit</a:t>
            </a:r>
            <a:r>
              <a:rPr spc="325" dirty="0"/>
              <a:t>  </a:t>
            </a:r>
            <a:r>
              <a:rPr dirty="0"/>
              <a:t>is</a:t>
            </a:r>
            <a:r>
              <a:rPr spc="335" dirty="0"/>
              <a:t>  </a:t>
            </a:r>
            <a:r>
              <a:rPr dirty="0"/>
              <a:t>functioning</a:t>
            </a:r>
            <a:r>
              <a:rPr spc="340" dirty="0"/>
              <a:t>  </a:t>
            </a:r>
            <a:r>
              <a:rPr dirty="0"/>
              <a:t>correctly</a:t>
            </a:r>
            <a:r>
              <a:rPr spc="340" dirty="0"/>
              <a:t>  </a:t>
            </a:r>
            <a:r>
              <a:rPr dirty="0"/>
              <a:t>even</a:t>
            </a:r>
            <a:r>
              <a:rPr spc="345" dirty="0"/>
              <a:t>  </a:t>
            </a:r>
            <a:r>
              <a:rPr dirty="0"/>
              <a:t>when</a:t>
            </a:r>
            <a:r>
              <a:rPr spc="340" dirty="0"/>
              <a:t>  </a:t>
            </a:r>
            <a:r>
              <a:rPr dirty="0"/>
              <a:t>the</a:t>
            </a:r>
            <a:r>
              <a:rPr spc="340" dirty="0"/>
              <a:t>  </a:t>
            </a:r>
            <a:r>
              <a:rPr dirty="0"/>
              <a:t>alarm</a:t>
            </a:r>
            <a:r>
              <a:rPr spc="340" dirty="0"/>
              <a:t>  </a:t>
            </a:r>
            <a:r>
              <a:rPr spc="-25" dirty="0"/>
              <a:t>is 	</a:t>
            </a:r>
            <a:r>
              <a:rPr spc="-10" dirty="0"/>
              <a:t>disengaged.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45720" y="426127"/>
            <a:ext cx="716788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Conclusion</a:t>
            </a:r>
            <a:r>
              <a:rPr spc="-60" dirty="0"/>
              <a:t> </a:t>
            </a:r>
            <a:r>
              <a:rPr dirty="0"/>
              <a:t>and</a:t>
            </a:r>
            <a:r>
              <a:rPr spc="-10" dirty="0"/>
              <a:t> Summary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11" y="1476904"/>
            <a:ext cx="9141460" cy="5658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9255" marR="5080" indent="-377190" algn="just">
              <a:lnSpc>
                <a:spcPct val="150900"/>
              </a:lnSpc>
              <a:spcBef>
                <a:spcPts val="95"/>
              </a:spcBef>
              <a:buFont typeface="Wingdings"/>
              <a:buChar char=""/>
              <a:tabLst>
                <a:tab pos="390525" algn="l"/>
              </a:tabLst>
            </a:pP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Bimetallic</a:t>
            </a:r>
            <a:r>
              <a:rPr sz="1750" b="1" spc="1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strip</a:t>
            </a:r>
            <a:r>
              <a:rPr sz="1750" b="1" spc="1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serves</a:t>
            </a:r>
            <a:r>
              <a:rPr sz="1750" spc="13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as</a:t>
            </a:r>
            <a:r>
              <a:rPr sz="1750" spc="13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</a:t>
            </a:r>
            <a:r>
              <a:rPr sz="1750" spc="13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fundamental</a:t>
            </a:r>
            <a:r>
              <a:rPr sz="1750" spc="1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and</a:t>
            </a:r>
            <a:r>
              <a:rPr sz="1750" spc="1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versatile</a:t>
            </a:r>
            <a:r>
              <a:rPr sz="1750" spc="14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thermal</a:t>
            </a:r>
            <a:r>
              <a:rPr sz="1750" spc="1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sensor</a:t>
            </a:r>
            <a:r>
              <a:rPr sz="1750" spc="125" dirty="0">
                <a:latin typeface="Verdana"/>
                <a:cs typeface="Verdana"/>
              </a:rPr>
              <a:t> </a:t>
            </a:r>
            <a:r>
              <a:rPr sz="1750" spc="-20" dirty="0">
                <a:latin typeface="Verdana"/>
                <a:cs typeface="Verdana"/>
              </a:rPr>
              <a:t>that 	</a:t>
            </a:r>
            <a:r>
              <a:rPr sz="1750" dirty="0">
                <a:latin typeface="Verdana"/>
                <a:cs typeface="Verdana"/>
              </a:rPr>
              <a:t>leverages</a:t>
            </a:r>
            <a:r>
              <a:rPr sz="1750" spc="-3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-3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differential</a:t>
            </a:r>
            <a:r>
              <a:rPr sz="1750" spc="-3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linear</a:t>
            </a:r>
            <a:r>
              <a:rPr sz="1750" spc="-4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expansivity</a:t>
            </a:r>
            <a:r>
              <a:rPr sz="1750" spc="-3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of</a:t>
            </a:r>
            <a:r>
              <a:rPr sz="1750" spc="-3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bonded</a:t>
            </a:r>
            <a:r>
              <a:rPr sz="1750" spc="-3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metals</a:t>
            </a:r>
            <a:r>
              <a:rPr sz="1750" spc="-3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to</a:t>
            </a:r>
            <a:r>
              <a:rPr sz="1750" spc="-25" dirty="0">
                <a:latin typeface="Verdana"/>
                <a:cs typeface="Verdana"/>
              </a:rPr>
              <a:t>  </a:t>
            </a:r>
            <a:r>
              <a:rPr sz="1750" spc="-10" dirty="0">
                <a:latin typeface="Verdana"/>
                <a:cs typeface="Verdana"/>
              </a:rPr>
              <a:t>provide 	</a:t>
            </a:r>
            <a:r>
              <a:rPr sz="1750" dirty="0">
                <a:latin typeface="Verdana"/>
                <a:cs typeface="Verdana"/>
              </a:rPr>
              <a:t>reliable</a:t>
            </a:r>
            <a:r>
              <a:rPr sz="1750" spc="70" dirty="0">
                <a:latin typeface="Verdana"/>
                <a:cs typeface="Verdana"/>
              </a:rPr>
              <a:t>  </a:t>
            </a:r>
            <a:r>
              <a:rPr sz="1750" spc="-10" dirty="0">
                <a:latin typeface="Verdana"/>
                <a:cs typeface="Verdana"/>
              </a:rPr>
              <a:t>temperature-</a:t>
            </a:r>
            <a:r>
              <a:rPr sz="1750" dirty="0">
                <a:latin typeface="Verdana"/>
                <a:cs typeface="Verdana"/>
              </a:rPr>
              <a:t>dependent</a:t>
            </a:r>
            <a:r>
              <a:rPr sz="1750" spc="6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switching,</a:t>
            </a:r>
            <a:r>
              <a:rPr sz="1750" spc="7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ranging</a:t>
            </a:r>
            <a:r>
              <a:rPr sz="1750" spc="6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from</a:t>
            </a:r>
            <a:r>
              <a:rPr sz="1750" spc="7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sensitive</a:t>
            </a:r>
            <a:r>
              <a:rPr sz="1750" spc="70" dirty="0">
                <a:latin typeface="Verdana"/>
                <a:cs typeface="Verdana"/>
              </a:rPr>
              <a:t>  </a:t>
            </a:r>
            <a:r>
              <a:rPr sz="1750" spc="-10" dirty="0">
                <a:latin typeface="Verdana"/>
                <a:cs typeface="Verdana"/>
              </a:rPr>
              <a:t>spiral- 	</a:t>
            </a:r>
            <a:r>
              <a:rPr sz="1750" dirty="0">
                <a:latin typeface="Verdana"/>
                <a:cs typeface="Verdana"/>
              </a:rPr>
              <a:t>shaped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thermostats</a:t>
            </a:r>
            <a:r>
              <a:rPr sz="1750" spc="-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to </a:t>
            </a:r>
            <a:r>
              <a:rPr sz="1750" spc="-10" dirty="0">
                <a:latin typeface="Verdana"/>
                <a:cs typeface="Verdana"/>
              </a:rPr>
              <a:t>rapid-</a:t>
            </a:r>
            <a:r>
              <a:rPr sz="1750" dirty="0">
                <a:latin typeface="Verdana"/>
                <a:cs typeface="Verdana"/>
              </a:rPr>
              <a:t>acting</a:t>
            </a:r>
            <a:r>
              <a:rPr sz="1750" spc="-2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safety</a:t>
            </a:r>
            <a:r>
              <a:rPr sz="1750" spc="-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discs</a:t>
            </a:r>
            <a:r>
              <a:rPr sz="1750" spc="3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for</a:t>
            </a:r>
            <a:r>
              <a:rPr sz="1750" spc="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overheating</a:t>
            </a:r>
            <a:r>
              <a:rPr sz="1750" spc="-10" dirty="0">
                <a:latin typeface="Verdana"/>
                <a:cs typeface="Verdana"/>
              </a:rPr>
              <a:t> protection..</a:t>
            </a:r>
            <a:endParaRPr sz="175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900"/>
              </a:lnSpc>
              <a:buFont typeface="Wingdings"/>
              <a:buChar char=""/>
              <a:tabLst>
                <a:tab pos="390525" algn="l"/>
              </a:tabLst>
            </a:pP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Thermocouples</a:t>
            </a:r>
            <a:r>
              <a:rPr sz="1750" b="1" spc="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are</a:t>
            </a:r>
            <a:r>
              <a:rPr sz="1750" spc="3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among</a:t>
            </a:r>
            <a:r>
              <a:rPr sz="1750" spc="2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5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most</a:t>
            </a:r>
            <a:r>
              <a:rPr sz="1750" spc="2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essential</a:t>
            </a:r>
            <a:r>
              <a:rPr sz="1750" spc="1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temperature</a:t>
            </a:r>
            <a:r>
              <a:rPr sz="1750" spc="4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sensors</a:t>
            </a:r>
            <a:r>
              <a:rPr sz="1750" spc="4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and</a:t>
            </a:r>
            <a:r>
              <a:rPr sz="1750" spc="40" dirty="0">
                <a:latin typeface="Verdana"/>
                <a:cs typeface="Verdana"/>
              </a:rPr>
              <a:t> </a:t>
            </a:r>
            <a:r>
              <a:rPr sz="1750" spc="-25" dirty="0">
                <a:latin typeface="Verdana"/>
                <a:cs typeface="Verdana"/>
              </a:rPr>
              <a:t>are 	</a:t>
            </a:r>
            <a:r>
              <a:rPr sz="1750" dirty="0">
                <a:latin typeface="Verdana"/>
                <a:cs typeface="Verdana"/>
              </a:rPr>
              <a:t>used</a:t>
            </a:r>
            <a:r>
              <a:rPr sz="1750" spc="22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extensively</a:t>
            </a:r>
            <a:r>
              <a:rPr sz="1750" spc="229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in</a:t>
            </a:r>
            <a:r>
              <a:rPr sz="1750" spc="24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industrial</a:t>
            </a:r>
            <a:r>
              <a:rPr sz="1750" spc="22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applications</a:t>
            </a:r>
            <a:r>
              <a:rPr sz="1750" spc="229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due</a:t>
            </a:r>
            <a:r>
              <a:rPr sz="1750" spc="2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to</a:t>
            </a:r>
            <a:r>
              <a:rPr sz="1750" spc="22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their</a:t>
            </a:r>
            <a:r>
              <a:rPr sz="1750" spc="23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small</a:t>
            </a:r>
            <a:r>
              <a:rPr sz="1750" spc="24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size</a:t>
            </a:r>
            <a:r>
              <a:rPr sz="1750" spc="24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and</a:t>
            </a:r>
            <a:r>
              <a:rPr sz="1750" spc="225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quick 	</a:t>
            </a:r>
            <a:r>
              <a:rPr sz="1750" dirty="0">
                <a:latin typeface="Verdana"/>
                <a:cs typeface="Verdana"/>
              </a:rPr>
              <a:t>response</a:t>
            </a:r>
            <a:r>
              <a:rPr sz="1750" spc="5" dirty="0">
                <a:latin typeface="Verdana"/>
                <a:cs typeface="Verdana"/>
              </a:rPr>
              <a:t> </a:t>
            </a:r>
            <a:r>
              <a:rPr sz="1750" spc="-20" dirty="0">
                <a:latin typeface="Verdana"/>
                <a:cs typeface="Verdana"/>
              </a:rPr>
              <a:t>time.</a:t>
            </a:r>
            <a:endParaRPr sz="175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900"/>
              </a:lnSpc>
              <a:buFont typeface="Wingdings"/>
              <a:buChar char=""/>
              <a:tabLst>
                <a:tab pos="390525" algn="l"/>
              </a:tabLst>
            </a:pP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RTDs</a:t>
            </a:r>
            <a:r>
              <a:rPr sz="1750" b="1" spc="2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are</a:t>
            </a:r>
            <a:r>
              <a:rPr sz="1750" spc="18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the</a:t>
            </a:r>
            <a:r>
              <a:rPr sz="1750" spc="19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gold</a:t>
            </a:r>
            <a:r>
              <a:rPr sz="1750" spc="18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standard</a:t>
            </a:r>
            <a:r>
              <a:rPr sz="1750" spc="18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for</a:t>
            </a:r>
            <a:r>
              <a:rPr sz="1750" spc="190" dirty="0">
                <a:latin typeface="Verdana"/>
                <a:cs typeface="Verdana"/>
              </a:rPr>
              <a:t>  </a:t>
            </a:r>
            <a:r>
              <a:rPr sz="1750" spc="-10" dirty="0">
                <a:latin typeface="Verdana"/>
                <a:cs typeface="Verdana"/>
              </a:rPr>
              <a:t>high-</a:t>
            </a:r>
            <a:r>
              <a:rPr sz="1750" dirty="0">
                <a:latin typeface="Verdana"/>
                <a:cs typeface="Verdana"/>
              </a:rPr>
              <a:t>accuracy,</a:t>
            </a:r>
            <a:r>
              <a:rPr sz="1750" spc="19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wide-range</a:t>
            </a:r>
            <a:r>
              <a:rPr sz="1750" spc="180" dirty="0">
                <a:latin typeface="Verdana"/>
                <a:cs typeface="Verdana"/>
              </a:rPr>
              <a:t>  </a:t>
            </a:r>
            <a:r>
              <a:rPr sz="1750" spc="-10" dirty="0">
                <a:latin typeface="Verdana"/>
                <a:cs typeface="Verdana"/>
              </a:rPr>
              <a:t>industrial 	</a:t>
            </a:r>
            <a:r>
              <a:rPr sz="1750" dirty="0">
                <a:latin typeface="Verdana"/>
                <a:cs typeface="Verdana"/>
              </a:rPr>
              <a:t>processes</a:t>
            </a:r>
            <a:r>
              <a:rPr sz="1750" spc="1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requiring</a:t>
            </a:r>
            <a:r>
              <a:rPr sz="1750" spc="15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long-term </a:t>
            </a:r>
            <a:r>
              <a:rPr sz="1750" spc="-10" dirty="0">
                <a:latin typeface="Verdana"/>
                <a:cs typeface="Verdana"/>
              </a:rPr>
              <a:t>stability.</a:t>
            </a:r>
            <a:endParaRPr sz="175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900"/>
              </a:lnSpc>
              <a:buFont typeface="Wingdings"/>
              <a:buChar char=""/>
              <a:tabLst>
                <a:tab pos="390525" algn="l"/>
              </a:tabLst>
            </a:pP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Thermistors</a:t>
            </a:r>
            <a:r>
              <a:rPr sz="1750" b="1" spc="3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provide</a:t>
            </a:r>
            <a:r>
              <a:rPr sz="1750" spc="32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superior</a:t>
            </a:r>
            <a:r>
              <a:rPr sz="1750" spc="32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sensitivity</a:t>
            </a:r>
            <a:r>
              <a:rPr sz="1750" spc="33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and</a:t>
            </a:r>
            <a:r>
              <a:rPr sz="1750" spc="315" dirty="0">
                <a:latin typeface="Verdana"/>
                <a:cs typeface="Verdana"/>
              </a:rPr>
              <a:t>  </a:t>
            </a:r>
            <a:r>
              <a:rPr sz="1750" spc="-10" dirty="0">
                <a:latin typeface="Verdana"/>
                <a:cs typeface="Verdana"/>
              </a:rPr>
              <a:t>low-</a:t>
            </a:r>
            <a:r>
              <a:rPr sz="1750" dirty="0">
                <a:latin typeface="Verdana"/>
                <a:cs typeface="Verdana"/>
              </a:rPr>
              <a:t>cost</a:t>
            </a:r>
            <a:r>
              <a:rPr sz="1750" spc="31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solutions</a:t>
            </a:r>
            <a:r>
              <a:rPr sz="1750" spc="325" dirty="0">
                <a:latin typeface="Verdana"/>
                <a:cs typeface="Verdana"/>
              </a:rPr>
              <a:t>  </a:t>
            </a:r>
            <a:r>
              <a:rPr sz="1750" spc="-25" dirty="0">
                <a:latin typeface="Verdana"/>
                <a:cs typeface="Verdana"/>
              </a:rPr>
              <a:t>for 	</a:t>
            </a:r>
            <a:r>
              <a:rPr sz="1750" dirty="0">
                <a:latin typeface="Verdana"/>
                <a:cs typeface="Verdana"/>
              </a:rPr>
              <a:t>consumer</a:t>
            </a:r>
            <a:r>
              <a:rPr sz="1750" spc="-1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electronics  and  medical</a:t>
            </a:r>
            <a:r>
              <a:rPr sz="1750" spc="-1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applications</a:t>
            </a:r>
            <a:r>
              <a:rPr sz="1750" spc="-1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where</a:t>
            </a:r>
            <a:r>
              <a:rPr sz="1750" spc="-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a</a:t>
            </a:r>
            <a:r>
              <a:rPr sz="1750" spc="-10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narrow</a:t>
            </a:r>
            <a:r>
              <a:rPr sz="1750" spc="-5" dirty="0">
                <a:latin typeface="Verdana"/>
                <a:cs typeface="Verdana"/>
              </a:rPr>
              <a:t>  </a:t>
            </a:r>
            <a:r>
              <a:rPr sz="1750" dirty="0">
                <a:latin typeface="Verdana"/>
                <a:cs typeface="Verdana"/>
              </a:rPr>
              <a:t>range</a:t>
            </a:r>
            <a:r>
              <a:rPr sz="1750" spc="-10" dirty="0">
                <a:latin typeface="Verdana"/>
                <a:cs typeface="Verdana"/>
              </a:rPr>
              <a:t>  </a:t>
            </a:r>
            <a:r>
              <a:rPr sz="1750" spc="-25" dirty="0">
                <a:latin typeface="Verdana"/>
                <a:cs typeface="Verdana"/>
              </a:rPr>
              <a:t>is 	</a:t>
            </a:r>
            <a:r>
              <a:rPr sz="1750" spc="-10" dirty="0">
                <a:latin typeface="Verdana"/>
                <a:cs typeface="Verdana"/>
              </a:rPr>
              <a:t>sufficient.</a:t>
            </a:r>
            <a:endParaRPr sz="175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900"/>
              </a:lnSpc>
              <a:buFont typeface="Wingdings"/>
              <a:buChar char=""/>
              <a:tabLst>
                <a:tab pos="390525" algn="l"/>
              </a:tabLst>
            </a:pP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Pyroelectric</a:t>
            </a:r>
            <a:r>
              <a:rPr sz="1750" b="1" spc="2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b="1" dirty="0">
                <a:solidFill>
                  <a:srgbClr val="FF0000"/>
                </a:solidFill>
                <a:latin typeface="Verdana"/>
                <a:cs typeface="Verdana"/>
              </a:rPr>
              <a:t>detectors</a:t>
            </a:r>
            <a:r>
              <a:rPr sz="1750" b="1" spc="2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are</a:t>
            </a:r>
            <a:r>
              <a:rPr sz="1750" spc="29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"passive"</a:t>
            </a:r>
            <a:r>
              <a:rPr sz="1750" spc="27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because</a:t>
            </a:r>
            <a:r>
              <a:rPr sz="1750" spc="27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they</a:t>
            </a:r>
            <a:r>
              <a:rPr sz="1750" spc="26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do</a:t>
            </a:r>
            <a:r>
              <a:rPr sz="1750" spc="27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not</a:t>
            </a:r>
            <a:r>
              <a:rPr sz="1750" spc="26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emit</a:t>
            </a:r>
            <a:r>
              <a:rPr sz="1750" spc="254" dirty="0">
                <a:latin typeface="Verdana"/>
                <a:cs typeface="Verdana"/>
              </a:rPr>
              <a:t> </a:t>
            </a:r>
            <a:r>
              <a:rPr sz="1750" spc="-10" dirty="0">
                <a:latin typeface="Verdana"/>
                <a:cs typeface="Verdana"/>
              </a:rPr>
              <a:t>radiation; 	</a:t>
            </a:r>
            <a:r>
              <a:rPr sz="1750" dirty="0">
                <a:latin typeface="Verdana"/>
                <a:cs typeface="Verdana"/>
              </a:rPr>
              <a:t>they</a:t>
            </a:r>
            <a:r>
              <a:rPr sz="1750" spc="-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only</a:t>
            </a:r>
            <a:r>
              <a:rPr sz="1750" spc="10" dirty="0">
                <a:latin typeface="Verdana"/>
                <a:cs typeface="Verdana"/>
              </a:rPr>
              <a:t> </a:t>
            </a:r>
            <a:r>
              <a:rPr sz="1750" dirty="0">
                <a:latin typeface="Verdana"/>
                <a:cs typeface="Verdana"/>
              </a:rPr>
              <a:t>sense</a:t>
            </a:r>
            <a:r>
              <a:rPr sz="1750" spc="-15" dirty="0">
                <a:latin typeface="Verdana"/>
                <a:cs typeface="Verdana"/>
              </a:rPr>
              <a:t> </a:t>
            </a:r>
            <a:r>
              <a:rPr sz="1750" spc="-25" dirty="0">
                <a:latin typeface="Verdana"/>
                <a:cs typeface="Verdana"/>
              </a:rPr>
              <a:t>it.</a:t>
            </a:r>
            <a:endParaRPr sz="1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178" y="1363520"/>
            <a:ext cx="9211945" cy="5909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14984" marR="5715" indent="-502920">
              <a:lnSpc>
                <a:spcPct val="152300"/>
              </a:lnSpc>
              <a:spcBef>
                <a:spcPts val="90"/>
              </a:spcBef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Identify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two</a:t>
            </a:r>
            <a:r>
              <a:rPr sz="1950" spc="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specific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components</a:t>
            </a:r>
            <a:r>
              <a:rPr sz="1950" spc="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where</a:t>
            </a:r>
            <a:r>
              <a:rPr sz="1950" spc="1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bimetallic</a:t>
            </a:r>
            <a:r>
              <a:rPr sz="1950" spc="10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discs</a:t>
            </a:r>
            <a:r>
              <a:rPr sz="1950" spc="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are</a:t>
            </a:r>
            <a:r>
              <a:rPr sz="1950" spc="1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used</a:t>
            </a:r>
            <a:r>
              <a:rPr sz="1950" spc="105" dirty="0">
                <a:latin typeface="Verdana"/>
                <a:cs typeface="Verdana"/>
              </a:rPr>
              <a:t> </a:t>
            </a:r>
            <a:r>
              <a:rPr sz="1950" spc="-25" dirty="0">
                <a:latin typeface="Verdana"/>
                <a:cs typeface="Verdana"/>
              </a:rPr>
              <a:t>for </a:t>
            </a:r>
            <a:r>
              <a:rPr sz="1950" dirty="0">
                <a:latin typeface="Verdana"/>
                <a:cs typeface="Verdana"/>
              </a:rPr>
              <a:t>overheating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protection.</a:t>
            </a:r>
            <a:endParaRPr sz="1950">
              <a:latin typeface="Verdana"/>
              <a:cs typeface="Verdana"/>
            </a:endParaRPr>
          </a:p>
          <a:p>
            <a:pPr marL="514984" marR="5080" indent="-502920">
              <a:lnSpc>
                <a:spcPct val="152300"/>
              </a:lnSpc>
              <a:spcBef>
                <a:spcPts val="5"/>
              </a:spcBef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What</a:t>
            </a:r>
            <a:r>
              <a:rPr sz="1950" spc="12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is</a:t>
            </a:r>
            <a:r>
              <a:rPr sz="1950" spc="1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1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primary</a:t>
            </a:r>
            <a:r>
              <a:rPr sz="1950" spc="1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advantage</a:t>
            </a:r>
            <a:r>
              <a:rPr sz="1950" spc="1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1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arranging</a:t>
            </a:r>
            <a:r>
              <a:rPr sz="1950" spc="1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1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bimetallic</a:t>
            </a:r>
            <a:r>
              <a:rPr sz="1950" spc="1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strip</a:t>
            </a:r>
            <a:r>
              <a:rPr sz="1950" spc="1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into</a:t>
            </a:r>
            <a:r>
              <a:rPr sz="1950" spc="140" dirty="0">
                <a:latin typeface="Verdana"/>
                <a:cs typeface="Verdana"/>
              </a:rPr>
              <a:t> </a:t>
            </a:r>
            <a:r>
              <a:rPr sz="1950" spc="-50" dirty="0">
                <a:latin typeface="Verdana"/>
                <a:cs typeface="Verdana"/>
              </a:rPr>
              <a:t>a </a:t>
            </a:r>
            <a:r>
              <a:rPr sz="1950" dirty="0">
                <a:latin typeface="Verdana"/>
                <a:cs typeface="Verdana"/>
              </a:rPr>
              <a:t>spiral</a:t>
            </a:r>
            <a:r>
              <a:rPr sz="1950" spc="1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shape?</a:t>
            </a:r>
            <a:endParaRPr sz="195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Explain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working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principle</a:t>
            </a:r>
            <a:r>
              <a:rPr sz="1950" spc="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bimetallic</a:t>
            </a:r>
            <a:r>
              <a:rPr sz="1950" spc="9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strip.</a:t>
            </a:r>
            <a:endParaRPr sz="1950">
              <a:latin typeface="Verdana"/>
              <a:cs typeface="Verdana"/>
            </a:endParaRPr>
          </a:p>
          <a:p>
            <a:pPr marL="514984" marR="9525" indent="-502920">
              <a:lnSpc>
                <a:spcPct val="152300"/>
              </a:lnSpc>
              <a:buAutoNum type="arabicPeriod"/>
              <a:tabLst>
                <a:tab pos="514984" algn="l"/>
                <a:tab pos="1604010" algn="l"/>
                <a:tab pos="2154555" algn="l"/>
                <a:tab pos="2775585" algn="l"/>
                <a:tab pos="3384550" algn="l"/>
                <a:tab pos="4719320" algn="l"/>
                <a:tab pos="5101590" algn="l"/>
                <a:tab pos="5554345" algn="l"/>
                <a:tab pos="7322184" algn="l"/>
                <a:tab pos="7689215" algn="l"/>
                <a:tab pos="7983855" algn="l"/>
              </a:tabLst>
            </a:pPr>
            <a:r>
              <a:rPr sz="1950" spc="-10" dirty="0">
                <a:latin typeface="Verdana"/>
                <a:cs typeface="Verdana"/>
              </a:rPr>
              <a:t>Discuss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the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0" dirty="0">
                <a:latin typeface="Verdana"/>
                <a:cs typeface="Verdana"/>
              </a:rPr>
              <a:t>role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and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operation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of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an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"accelerator"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in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50" dirty="0">
                <a:latin typeface="Verdana"/>
                <a:cs typeface="Verdana"/>
              </a:rPr>
              <a:t>a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bimetallic thermostat.</a:t>
            </a:r>
            <a:endParaRPr sz="1950">
              <a:latin typeface="Verdana"/>
              <a:cs typeface="Verdana"/>
            </a:endParaRPr>
          </a:p>
          <a:p>
            <a:pPr marL="514984" marR="6985" indent="-502920">
              <a:lnSpc>
                <a:spcPct val="152300"/>
              </a:lnSpc>
              <a:buAutoNum type="arabicPeriod"/>
              <a:tabLst>
                <a:tab pos="514984" algn="l"/>
                <a:tab pos="1606550" algn="l"/>
                <a:tab pos="1913255" algn="l"/>
                <a:tab pos="3980179" algn="l"/>
                <a:tab pos="5147310" algn="l"/>
                <a:tab pos="5546725" algn="l"/>
                <a:tab pos="6915150" algn="l"/>
                <a:tab pos="8126730" algn="l"/>
              </a:tabLst>
            </a:pPr>
            <a:r>
              <a:rPr sz="1950" spc="-10" dirty="0">
                <a:latin typeface="Verdana"/>
                <a:cs typeface="Verdana"/>
              </a:rPr>
              <a:t>Provide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50" dirty="0">
                <a:latin typeface="Verdana"/>
                <a:cs typeface="Verdana"/>
              </a:rPr>
              <a:t>a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comprehensive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analysis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of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bimetallic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sensors,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covering </a:t>
            </a:r>
            <a:r>
              <a:rPr sz="1950" dirty="0">
                <a:latin typeface="Verdana"/>
                <a:cs typeface="Verdana"/>
              </a:rPr>
              <a:t>their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construction,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material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selection,</a:t>
            </a:r>
            <a:r>
              <a:rPr sz="1950" spc="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physical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variations.</a:t>
            </a:r>
            <a:endParaRPr sz="1950">
              <a:latin typeface="Verdana"/>
              <a:cs typeface="Verdana"/>
            </a:endParaRPr>
          </a:p>
          <a:p>
            <a:pPr marL="514984" marR="5080" indent="-502920">
              <a:lnSpc>
                <a:spcPct val="152300"/>
              </a:lnSpc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Evaluate</a:t>
            </a:r>
            <a:r>
              <a:rPr sz="1950" spc="2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2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limitations</a:t>
            </a:r>
            <a:r>
              <a:rPr sz="1950" spc="3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2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bimetallic</a:t>
            </a:r>
            <a:r>
              <a:rPr sz="1950" spc="2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thermostats</a:t>
            </a:r>
            <a:r>
              <a:rPr sz="1950" spc="3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2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29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methods </a:t>
            </a:r>
            <a:r>
              <a:rPr sz="1950" dirty="0">
                <a:latin typeface="Verdana"/>
                <a:cs typeface="Verdana"/>
              </a:rPr>
              <a:t>used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to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overcome</a:t>
            </a:r>
            <a:r>
              <a:rPr sz="1950" spc="30" dirty="0">
                <a:latin typeface="Verdana"/>
                <a:cs typeface="Verdana"/>
              </a:rPr>
              <a:t> </a:t>
            </a:r>
            <a:r>
              <a:rPr sz="1950" spc="-20" dirty="0">
                <a:latin typeface="Verdana"/>
                <a:cs typeface="Verdana"/>
              </a:rPr>
              <a:t>them.</a:t>
            </a:r>
            <a:endParaRPr sz="195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1220"/>
              </a:spcBef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State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two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primary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advantages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using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thermocouples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as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sensors.</a:t>
            </a:r>
            <a:endParaRPr sz="1950">
              <a:latin typeface="Verdana"/>
              <a:cs typeface="Verdana"/>
            </a:endParaRPr>
          </a:p>
          <a:p>
            <a:pPr marL="514984" indent="-502284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Define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Seebeck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Effect.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178" y="1377272"/>
            <a:ext cx="9213215" cy="4551680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351790" indent="-339090">
              <a:lnSpc>
                <a:spcPct val="100000"/>
              </a:lnSpc>
              <a:spcBef>
                <a:spcPts val="1315"/>
              </a:spcBef>
              <a:buAutoNum type="arabicPeriod" startAt="9"/>
              <a:tabLst>
                <a:tab pos="351790" algn="l"/>
              </a:tabLst>
            </a:pPr>
            <a:r>
              <a:rPr sz="1950" dirty="0">
                <a:latin typeface="Verdana"/>
                <a:cs typeface="Verdana"/>
              </a:rPr>
              <a:t>Why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is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DC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amplification</a:t>
            </a:r>
            <a:r>
              <a:rPr sz="1950" spc="10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usually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necessary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for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thermocouple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outputs?</a:t>
            </a:r>
            <a:endParaRPr sz="1950">
              <a:latin typeface="Verdana"/>
              <a:cs typeface="Verdana"/>
            </a:endParaRPr>
          </a:p>
          <a:p>
            <a:pPr marL="511175" marR="6350" indent="-499109">
              <a:lnSpc>
                <a:spcPct val="152300"/>
              </a:lnSpc>
              <a:buAutoNum type="arabicPeriod" startAt="9"/>
              <a:tabLst>
                <a:tab pos="514984" algn="l"/>
              </a:tabLst>
            </a:pPr>
            <a:r>
              <a:rPr sz="1950" dirty="0">
                <a:latin typeface="Verdana"/>
                <a:cs typeface="Verdana"/>
              </a:rPr>
              <a:t>Explain</a:t>
            </a:r>
            <a:r>
              <a:rPr sz="1950" spc="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construction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basic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working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thermocouple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with</a:t>
            </a:r>
            <a:r>
              <a:rPr sz="1950" spc="90" dirty="0">
                <a:latin typeface="Verdana"/>
                <a:cs typeface="Verdana"/>
              </a:rPr>
              <a:t> </a:t>
            </a:r>
            <a:r>
              <a:rPr sz="1950" spc="-50" dirty="0">
                <a:latin typeface="Verdana"/>
                <a:cs typeface="Verdana"/>
              </a:rPr>
              <a:t>a 	</a:t>
            </a:r>
            <a:r>
              <a:rPr sz="1950" spc="-10" dirty="0">
                <a:latin typeface="Verdana"/>
                <a:cs typeface="Verdana"/>
              </a:rPr>
              <a:t>diagram.</a:t>
            </a:r>
            <a:endParaRPr sz="1950">
              <a:latin typeface="Verdana"/>
              <a:cs typeface="Verdana"/>
            </a:endParaRPr>
          </a:p>
          <a:p>
            <a:pPr marL="514984" marR="7620" indent="-502920">
              <a:lnSpc>
                <a:spcPct val="152300"/>
              </a:lnSpc>
              <a:buAutoNum type="arabicPeriod" startAt="9"/>
              <a:tabLst>
                <a:tab pos="514984" algn="l"/>
                <a:tab pos="650875" algn="l"/>
                <a:tab pos="1825625" algn="l"/>
                <a:tab pos="2461260" algn="l"/>
                <a:tab pos="4367530" algn="l"/>
                <a:tab pos="5290185" algn="l"/>
                <a:tab pos="5758180" algn="l"/>
                <a:tab pos="6135370" algn="l"/>
                <a:tab pos="8091805" algn="l"/>
                <a:tab pos="8788400" algn="l"/>
              </a:tabLst>
            </a:pP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Discuss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the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characteristic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curve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of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50" dirty="0">
                <a:latin typeface="Verdana"/>
                <a:cs typeface="Verdana"/>
              </a:rPr>
              <a:t>a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thermocouple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and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the </a:t>
            </a:r>
            <a:r>
              <a:rPr sz="1950" dirty="0">
                <a:latin typeface="Verdana"/>
                <a:cs typeface="Verdana"/>
              </a:rPr>
              <a:t>significance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 "Transition</a:t>
            </a:r>
            <a:r>
              <a:rPr sz="1950" spc="2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Point."</a:t>
            </a:r>
            <a:endParaRPr sz="1950">
              <a:latin typeface="Verdana"/>
              <a:cs typeface="Verdana"/>
            </a:endParaRPr>
          </a:p>
          <a:p>
            <a:pPr marL="514984" marR="8255" indent="-502920">
              <a:lnSpc>
                <a:spcPct val="152300"/>
              </a:lnSpc>
              <a:buAutoNum type="arabicPeriod" startAt="9"/>
              <a:tabLst>
                <a:tab pos="514984" algn="l"/>
                <a:tab pos="518795" algn="l"/>
              </a:tabLst>
            </a:pPr>
            <a:r>
              <a:rPr sz="1950" dirty="0">
                <a:latin typeface="Verdana"/>
                <a:cs typeface="Verdana"/>
              </a:rPr>
              <a:t>	Provide</a:t>
            </a:r>
            <a:r>
              <a:rPr sz="1950" spc="1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114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comprehensive</a:t>
            </a:r>
            <a:r>
              <a:rPr sz="1950" spc="10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analysis</a:t>
            </a:r>
            <a:r>
              <a:rPr sz="1950" spc="1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1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thermocouple</a:t>
            </a:r>
            <a:r>
              <a:rPr sz="1950" spc="1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theory,</a:t>
            </a:r>
            <a:r>
              <a:rPr sz="1950" spc="10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including </a:t>
            </a:r>
            <a:r>
              <a:rPr sz="1950" dirty="0">
                <a:latin typeface="Verdana"/>
                <a:cs typeface="Verdana"/>
              </a:rPr>
              <a:t>mathematical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models</a:t>
            </a:r>
            <a:r>
              <a:rPr sz="1950" spc="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practical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circuitry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requirements.</a:t>
            </a:r>
            <a:endParaRPr sz="1950">
              <a:latin typeface="Verdana"/>
              <a:cs typeface="Verdana"/>
            </a:endParaRPr>
          </a:p>
          <a:p>
            <a:pPr marL="514984" marR="5080" indent="-502920">
              <a:lnSpc>
                <a:spcPct val="152300"/>
              </a:lnSpc>
              <a:buAutoNum type="arabicPeriod" startAt="9"/>
              <a:tabLst>
                <a:tab pos="514984" algn="l"/>
                <a:tab pos="678815" algn="l"/>
                <a:tab pos="2016760" algn="l"/>
                <a:tab pos="2680335" algn="l"/>
                <a:tab pos="3997960" algn="l"/>
                <a:tab pos="5619750" algn="l"/>
                <a:tab pos="6341745" algn="l"/>
                <a:tab pos="7709534" algn="l"/>
                <a:tab pos="8851265" algn="l"/>
              </a:tabLst>
            </a:pP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Evaluate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the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practical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application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and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selection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criteria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for </a:t>
            </a:r>
            <a:r>
              <a:rPr sz="1950" dirty="0">
                <a:latin typeface="Verdana"/>
                <a:cs typeface="Verdana"/>
              </a:rPr>
              <a:t>thermocouples</a:t>
            </a:r>
            <a:r>
              <a:rPr sz="1950" spc="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6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industrial</a:t>
            </a:r>
            <a:r>
              <a:rPr sz="1950" spc="10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environments.</a:t>
            </a:r>
            <a:endParaRPr sz="1950">
              <a:latin typeface="Verdana"/>
              <a:cs typeface="Verdana"/>
            </a:endParaRPr>
          </a:p>
          <a:p>
            <a:pPr marL="511809" indent="-499109">
              <a:lnSpc>
                <a:spcPct val="100000"/>
              </a:lnSpc>
              <a:spcBef>
                <a:spcPts val="1225"/>
              </a:spcBef>
              <a:buAutoNum type="arabicPeriod" startAt="9"/>
              <a:tabLst>
                <a:tab pos="511809" algn="l"/>
              </a:tabLst>
            </a:pPr>
            <a:r>
              <a:rPr sz="1950" dirty="0">
                <a:latin typeface="Verdana"/>
                <a:cs typeface="Verdana"/>
              </a:rPr>
              <a:t>What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is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purpose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2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</a:t>
            </a:r>
            <a:r>
              <a:rPr sz="1950" spc="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‘three-wire</a:t>
            </a:r>
            <a:r>
              <a:rPr sz="1950" spc="1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system’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RTD</a:t>
            </a:r>
            <a:r>
              <a:rPr sz="1950" spc="2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circuitry?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3178" y="5903529"/>
            <a:ext cx="7291070" cy="13836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14984" marR="5080" indent="-502920">
              <a:lnSpc>
                <a:spcPct val="152300"/>
              </a:lnSpc>
              <a:spcBef>
                <a:spcPts val="90"/>
              </a:spcBef>
              <a:buAutoNum type="arabicPeriod" startAt="15"/>
              <a:tabLst>
                <a:tab pos="514984" algn="l"/>
                <a:tab pos="628650" algn="l"/>
                <a:tab pos="1508760" algn="l"/>
                <a:tab pos="2122170" algn="l"/>
                <a:tab pos="3314065" algn="l"/>
                <a:tab pos="4838065" algn="l"/>
                <a:tab pos="5285105" algn="l"/>
                <a:tab pos="6167755" algn="l"/>
              </a:tabLst>
            </a:pP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State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the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primary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advantage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of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using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platinum thermometers.</a:t>
            </a:r>
            <a:endParaRPr sz="1950">
              <a:latin typeface="Verdana"/>
              <a:cs typeface="Verdana"/>
            </a:endParaRPr>
          </a:p>
          <a:p>
            <a:pPr marL="511809" indent="-499109">
              <a:lnSpc>
                <a:spcPct val="100000"/>
              </a:lnSpc>
              <a:spcBef>
                <a:spcPts val="1225"/>
              </a:spcBef>
              <a:buAutoNum type="arabicPeriod" startAt="15"/>
              <a:tabLst>
                <a:tab pos="511809" algn="l"/>
              </a:tabLst>
            </a:pPr>
            <a:r>
              <a:rPr sz="1950" dirty="0">
                <a:latin typeface="Verdana"/>
                <a:cs typeface="Verdana"/>
              </a:rPr>
              <a:t>Distinguish</a:t>
            </a:r>
            <a:r>
              <a:rPr sz="1950" spc="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between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NTC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PTC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thermistors.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96531" y="6054355"/>
            <a:ext cx="173736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45134" algn="l"/>
              </a:tabLst>
            </a:pPr>
            <a:r>
              <a:rPr sz="1950" spc="-25" dirty="0">
                <a:latin typeface="Verdana"/>
                <a:cs typeface="Verdana"/>
              </a:rPr>
              <a:t>in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resistance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203" y="1365311"/>
            <a:ext cx="9212580" cy="5583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984" marR="6985" indent="-502920">
              <a:lnSpc>
                <a:spcPct val="151900"/>
              </a:lnSpc>
              <a:spcBef>
                <a:spcPts val="95"/>
              </a:spcBef>
              <a:buAutoNum type="arabicPeriod" startAt="17"/>
              <a:tabLst>
                <a:tab pos="514984" algn="l"/>
                <a:tab pos="582930" algn="l"/>
                <a:tab pos="1840864" algn="l"/>
                <a:tab pos="2463165" algn="l"/>
                <a:tab pos="3618865" algn="l"/>
                <a:tab pos="4187190" algn="l"/>
                <a:tab pos="5123815" algn="l"/>
                <a:tab pos="5535295" algn="l"/>
                <a:tab pos="7532370" algn="l"/>
                <a:tab pos="8157209" algn="l"/>
              </a:tabLst>
            </a:pP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Compare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and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contrast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the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merits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of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Thermocouples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and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Platinum </a:t>
            </a:r>
            <a:r>
              <a:rPr sz="1850" dirty="0">
                <a:latin typeface="Verdana"/>
                <a:cs typeface="Verdana"/>
              </a:rPr>
              <a:t>Resistance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Thermometers.</a:t>
            </a:r>
            <a:endParaRPr sz="1850">
              <a:latin typeface="Verdana"/>
              <a:cs typeface="Verdana"/>
            </a:endParaRPr>
          </a:p>
          <a:p>
            <a:pPr marL="514984" marR="5715" indent="-502920">
              <a:lnSpc>
                <a:spcPts val="3370"/>
              </a:lnSpc>
              <a:spcBef>
                <a:spcPts val="295"/>
              </a:spcBef>
              <a:buAutoNum type="arabicPeriod" startAt="17"/>
              <a:tabLst>
                <a:tab pos="514984" algn="l"/>
                <a:tab pos="630555" algn="l"/>
                <a:tab pos="1890395" algn="l"/>
                <a:tab pos="2506345" algn="l"/>
                <a:tab pos="3683000" algn="l"/>
                <a:tab pos="4921885" algn="l"/>
                <a:tab pos="5594350" algn="l"/>
                <a:tab pos="6602730" algn="l"/>
                <a:tab pos="8249920" algn="l"/>
                <a:tab pos="8711565" algn="l"/>
              </a:tabLst>
            </a:pP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Describe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the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working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principle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and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typical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applications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of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NTC </a:t>
            </a:r>
            <a:r>
              <a:rPr sz="1850" spc="-10" dirty="0">
                <a:latin typeface="Verdana"/>
                <a:cs typeface="Verdana"/>
              </a:rPr>
              <a:t>thermistors.</a:t>
            </a:r>
            <a:endParaRPr sz="1850">
              <a:latin typeface="Verdana"/>
              <a:cs typeface="Verdana"/>
            </a:endParaRPr>
          </a:p>
          <a:p>
            <a:pPr marL="481965" indent="-469265">
              <a:lnSpc>
                <a:spcPct val="100000"/>
              </a:lnSpc>
              <a:spcBef>
                <a:spcPts val="835"/>
              </a:spcBef>
              <a:buAutoNum type="arabicPeriod" startAt="17"/>
              <a:tabLst>
                <a:tab pos="481965" algn="l"/>
              </a:tabLst>
            </a:pPr>
            <a:r>
              <a:rPr sz="1850" dirty="0">
                <a:latin typeface="Verdana"/>
                <a:cs typeface="Verdana"/>
              </a:rPr>
              <a:t>Why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</a:t>
            </a:r>
            <a:r>
              <a:rPr sz="1850" spc="4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stationary</a:t>
            </a:r>
            <a:r>
              <a:rPr sz="1850" spc="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(non-moving)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infrared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emitter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cannot</a:t>
            </a:r>
            <a:r>
              <a:rPr sz="1850" spc="3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be</a:t>
            </a:r>
            <a:r>
              <a:rPr sz="1850" spc="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detected</a:t>
            </a:r>
            <a:r>
              <a:rPr sz="1850" spc="1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by</a:t>
            </a:r>
            <a:r>
              <a:rPr sz="1850" spc="40" dirty="0">
                <a:latin typeface="Verdana"/>
                <a:cs typeface="Verdana"/>
              </a:rPr>
              <a:t> </a:t>
            </a:r>
            <a:r>
              <a:rPr sz="1850" spc="-50" dirty="0">
                <a:latin typeface="Verdana"/>
                <a:cs typeface="Verdana"/>
              </a:rPr>
              <a:t>a</a:t>
            </a:r>
            <a:endParaRPr sz="1850">
              <a:latin typeface="Verdana"/>
              <a:cs typeface="Verdana"/>
            </a:endParaRPr>
          </a:p>
          <a:p>
            <a:pPr marL="514984">
              <a:lnSpc>
                <a:spcPct val="100000"/>
              </a:lnSpc>
              <a:spcBef>
                <a:spcPts val="1155"/>
              </a:spcBef>
            </a:pPr>
            <a:r>
              <a:rPr sz="1850" dirty="0">
                <a:latin typeface="Verdana"/>
                <a:cs typeface="Verdana"/>
              </a:rPr>
              <a:t>PIR</a:t>
            </a:r>
            <a:r>
              <a:rPr sz="1850" spc="25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sensor?</a:t>
            </a:r>
            <a:endParaRPr sz="1850">
              <a:latin typeface="Verdana"/>
              <a:cs typeface="Verdana"/>
            </a:endParaRPr>
          </a:p>
          <a:p>
            <a:pPr marL="493395" marR="6350" indent="-481330">
              <a:lnSpc>
                <a:spcPts val="3370"/>
              </a:lnSpc>
              <a:spcBef>
                <a:spcPts val="290"/>
              </a:spcBef>
              <a:buAutoNum type="arabicPeriod" startAt="20"/>
              <a:tabLst>
                <a:tab pos="514984" algn="l"/>
              </a:tabLst>
            </a:pPr>
            <a:r>
              <a:rPr sz="1850" dirty="0">
                <a:latin typeface="Verdana"/>
                <a:cs typeface="Verdana"/>
              </a:rPr>
              <a:t>Describe</a:t>
            </a:r>
            <a:r>
              <a:rPr sz="1850" spc="114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114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internal</a:t>
            </a:r>
            <a:r>
              <a:rPr sz="1850" spc="10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construction</a:t>
            </a:r>
            <a:r>
              <a:rPr sz="1850" spc="1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and</a:t>
            </a:r>
            <a:r>
              <a:rPr sz="1850" spc="10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equivalent</a:t>
            </a:r>
            <a:r>
              <a:rPr sz="1850" spc="12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circuit</a:t>
            </a:r>
            <a:r>
              <a:rPr sz="1850" spc="114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10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</a:t>
            </a:r>
            <a:r>
              <a:rPr sz="1850" spc="13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typical</a:t>
            </a:r>
            <a:r>
              <a:rPr sz="1850" spc="114" dirty="0">
                <a:latin typeface="Verdana"/>
                <a:cs typeface="Verdana"/>
              </a:rPr>
              <a:t> </a:t>
            </a:r>
            <a:r>
              <a:rPr sz="1850" spc="-25" dirty="0">
                <a:latin typeface="Verdana"/>
                <a:cs typeface="Verdana"/>
              </a:rPr>
              <a:t>PIR 	</a:t>
            </a:r>
            <a:r>
              <a:rPr sz="1850" spc="-10" dirty="0">
                <a:latin typeface="Verdana"/>
                <a:cs typeface="Verdana"/>
              </a:rPr>
              <a:t>unit.</a:t>
            </a:r>
            <a:endParaRPr sz="1850">
              <a:latin typeface="Verdana"/>
              <a:cs typeface="Verdana"/>
            </a:endParaRPr>
          </a:p>
          <a:p>
            <a:pPr marL="512445" indent="-499745">
              <a:lnSpc>
                <a:spcPct val="100000"/>
              </a:lnSpc>
              <a:spcBef>
                <a:spcPts val="840"/>
              </a:spcBef>
              <a:buAutoNum type="arabicPeriod" startAt="20"/>
              <a:tabLst>
                <a:tab pos="512445" algn="l"/>
              </a:tabLst>
            </a:pPr>
            <a:r>
              <a:rPr sz="1850" dirty="0">
                <a:latin typeface="Verdana"/>
                <a:cs typeface="Verdana"/>
              </a:rPr>
              <a:t>Analyze</a:t>
            </a:r>
            <a:r>
              <a:rPr sz="1850" spc="26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the</a:t>
            </a:r>
            <a:r>
              <a:rPr sz="1850" spc="27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role</a:t>
            </a:r>
            <a:r>
              <a:rPr sz="1850" spc="27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of</a:t>
            </a:r>
            <a:r>
              <a:rPr sz="1850" spc="27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</a:t>
            </a:r>
            <a:r>
              <a:rPr sz="1850" spc="26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faceted</a:t>
            </a:r>
            <a:r>
              <a:rPr sz="1850" spc="2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(Fresnel)</a:t>
            </a:r>
            <a:r>
              <a:rPr sz="1850" spc="26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lens</a:t>
            </a:r>
            <a:r>
              <a:rPr sz="1850" spc="280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in</a:t>
            </a:r>
            <a:r>
              <a:rPr sz="1850" spc="2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a</a:t>
            </a:r>
            <a:r>
              <a:rPr sz="1850" spc="275" dirty="0">
                <a:latin typeface="Verdana"/>
                <a:cs typeface="Verdana"/>
              </a:rPr>
              <a:t> </a:t>
            </a:r>
            <a:r>
              <a:rPr sz="1850" dirty="0">
                <a:latin typeface="Verdana"/>
                <a:cs typeface="Verdana"/>
              </a:rPr>
              <a:t>pyroelectric</a:t>
            </a:r>
            <a:r>
              <a:rPr sz="1850" spc="26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detection</a:t>
            </a:r>
            <a:endParaRPr sz="1850">
              <a:latin typeface="Verdana"/>
              <a:cs typeface="Verdana"/>
            </a:endParaRPr>
          </a:p>
          <a:p>
            <a:pPr marL="514984">
              <a:lnSpc>
                <a:spcPct val="100000"/>
              </a:lnSpc>
              <a:spcBef>
                <a:spcPts val="1150"/>
              </a:spcBef>
            </a:pPr>
            <a:r>
              <a:rPr sz="1850" spc="-10" dirty="0">
                <a:latin typeface="Verdana"/>
                <a:cs typeface="Verdana"/>
              </a:rPr>
              <a:t>system.</a:t>
            </a:r>
            <a:endParaRPr sz="1850">
              <a:latin typeface="Verdana"/>
              <a:cs typeface="Verdana"/>
            </a:endParaRPr>
          </a:p>
          <a:p>
            <a:pPr marL="514984" indent="-502920">
              <a:lnSpc>
                <a:spcPct val="100000"/>
              </a:lnSpc>
              <a:spcBef>
                <a:spcPts val="1140"/>
              </a:spcBef>
              <a:buAutoNum type="arabicPeriod" startAt="22"/>
              <a:tabLst>
                <a:tab pos="514984" algn="l"/>
                <a:tab pos="568960" algn="l"/>
                <a:tab pos="1619250" algn="l"/>
                <a:tab pos="1931035" algn="l"/>
                <a:tab pos="3902075" algn="l"/>
                <a:tab pos="5452110" algn="l"/>
                <a:tab pos="5851525" algn="l"/>
                <a:tab pos="6405245" algn="l"/>
                <a:tab pos="7517765" algn="l"/>
                <a:tab pos="8780145" algn="l"/>
              </a:tabLst>
            </a:pP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Provide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50" dirty="0">
                <a:latin typeface="Verdana"/>
                <a:cs typeface="Verdana"/>
              </a:rPr>
              <a:t>a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comprehensive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explanation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of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the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working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principle,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key</a:t>
            </a:r>
            <a:endParaRPr sz="1850">
              <a:latin typeface="Verdana"/>
              <a:cs typeface="Verdana"/>
            </a:endParaRPr>
          </a:p>
          <a:p>
            <a:pPr marL="514984" marR="6350">
              <a:lnSpc>
                <a:spcPct val="151300"/>
              </a:lnSpc>
              <a:spcBef>
                <a:spcPts val="15"/>
              </a:spcBef>
              <a:tabLst>
                <a:tab pos="2214880" algn="l"/>
                <a:tab pos="3853179" algn="l"/>
                <a:tab pos="4483100" algn="l"/>
                <a:tab pos="5671820" algn="l"/>
                <a:tab pos="6584950" algn="l"/>
                <a:tab pos="8639175" algn="l"/>
                <a:tab pos="9055100" algn="l"/>
              </a:tabLst>
            </a:pPr>
            <a:r>
              <a:rPr sz="1850" spc="-10" dirty="0">
                <a:latin typeface="Verdana"/>
                <a:cs typeface="Verdana"/>
              </a:rPr>
              <a:t>performance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parameters,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and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practical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circuit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10" dirty="0">
                <a:latin typeface="Verdana"/>
                <a:cs typeface="Verdana"/>
              </a:rPr>
              <a:t>implementation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25" dirty="0">
                <a:latin typeface="Verdana"/>
                <a:cs typeface="Verdana"/>
              </a:rPr>
              <a:t>of</a:t>
            </a:r>
            <a:r>
              <a:rPr sz="1850" dirty="0">
                <a:latin typeface="Verdana"/>
                <a:cs typeface="Verdana"/>
              </a:rPr>
              <a:t>	</a:t>
            </a:r>
            <a:r>
              <a:rPr sz="1850" spc="-50" dirty="0">
                <a:latin typeface="Verdana"/>
                <a:cs typeface="Verdana"/>
              </a:rPr>
              <a:t>a </a:t>
            </a:r>
            <a:r>
              <a:rPr sz="1850" dirty="0">
                <a:latin typeface="Verdana"/>
                <a:cs typeface="Verdana"/>
              </a:rPr>
              <a:t>pyroelectric</a:t>
            </a:r>
            <a:r>
              <a:rPr sz="1850" spc="50" dirty="0">
                <a:latin typeface="Verdana"/>
                <a:cs typeface="Verdana"/>
              </a:rPr>
              <a:t> </a:t>
            </a:r>
            <a:r>
              <a:rPr sz="1850" spc="-10" dirty="0">
                <a:latin typeface="Verdana"/>
                <a:cs typeface="Verdana"/>
              </a:rPr>
              <a:t>detector.</a:t>
            </a:r>
            <a:endParaRPr sz="1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672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Textbook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0836" y="1760542"/>
            <a:ext cx="8875395" cy="170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2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Ian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Sinclair,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0" dirty="0">
                <a:latin typeface="Verdana"/>
                <a:cs typeface="Verdana"/>
              </a:rPr>
              <a:t> Transducers,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Third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20" dirty="0">
                <a:latin typeface="Verdana"/>
                <a:cs typeface="Verdana"/>
              </a:rPr>
              <a:t> 2001 </a:t>
            </a:r>
            <a:r>
              <a:rPr sz="2200" dirty="0">
                <a:latin typeface="Verdana"/>
                <a:cs typeface="Verdana"/>
              </a:rPr>
              <a:t>(Units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&amp;</a:t>
            </a:r>
            <a:r>
              <a:rPr sz="2200" spc="-20" dirty="0">
                <a:latin typeface="Verdana"/>
                <a:cs typeface="Verdana"/>
              </a:rPr>
              <a:t> II).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20000"/>
              </a:lnSpc>
              <a:spcBef>
                <a:spcPts val="525"/>
              </a:spcBef>
              <a:buFont typeface="Wingdings"/>
              <a:buChar char=""/>
              <a:tabLst>
                <a:tab pos="390525" algn="l"/>
                <a:tab pos="1527810" algn="l"/>
                <a:tab pos="3376929" algn="l"/>
                <a:tab pos="4191635" algn="l"/>
                <a:tab pos="4674235" algn="l"/>
                <a:tab pos="5494020" algn="l"/>
                <a:tab pos="6043295" algn="l"/>
                <a:tab pos="7317740" algn="l"/>
                <a:tab pos="8001000" algn="l"/>
              </a:tabLst>
            </a:pPr>
            <a:r>
              <a:rPr sz="2200" spc="-10" dirty="0">
                <a:latin typeface="Verdana"/>
                <a:cs typeface="Verdana"/>
              </a:rPr>
              <a:t>Ramon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PallásAreny,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John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G.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Webster,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Sensors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Signal </a:t>
            </a:r>
            <a:r>
              <a:rPr sz="2200" dirty="0">
                <a:latin typeface="Verdana"/>
                <a:cs typeface="Verdana"/>
              </a:rPr>
              <a:t>conditioning,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John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Wiley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Sons,</a:t>
            </a:r>
            <a:r>
              <a:rPr sz="2200" dirty="0">
                <a:latin typeface="Verdana"/>
                <a:cs typeface="Verdana"/>
              </a:rPr>
              <a:t>	Second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2000.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11" y="7368540"/>
            <a:ext cx="8139430" cy="289560"/>
            <a:chOff x="19811" y="7368540"/>
            <a:chExt cx="8139430" cy="289560"/>
          </a:xfrm>
        </p:grpSpPr>
        <p:sp>
          <p:nvSpPr>
            <p:cNvPr id="3" name="object 3"/>
            <p:cNvSpPr/>
            <p:nvPr/>
          </p:nvSpPr>
          <p:spPr>
            <a:xfrm>
              <a:off x="19811" y="7368540"/>
              <a:ext cx="8057515" cy="264160"/>
            </a:xfrm>
            <a:custGeom>
              <a:avLst/>
              <a:gdLst/>
              <a:ahLst/>
              <a:cxnLst/>
              <a:rect l="l" t="t" r="r" b="b"/>
              <a:pathLst>
                <a:path w="8057515" h="264159">
                  <a:moveTo>
                    <a:pt x="8057388" y="263651"/>
                  </a:moveTo>
                  <a:lnTo>
                    <a:pt x="0" y="263651"/>
                  </a:lnTo>
                  <a:lnTo>
                    <a:pt x="0" y="0"/>
                  </a:lnTo>
                  <a:lnTo>
                    <a:pt x="7906512" y="0"/>
                  </a:lnTo>
                  <a:lnTo>
                    <a:pt x="8057388" y="263651"/>
                  </a:lnTo>
                  <a:close/>
                </a:path>
              </a:pathLst>
            </a:custGeom>
            <a:solidFill>
              <a:srgbClr val="87B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812" y="7424928"/>
              <a:ext cx="8139430" cy="233679"/>
            </a:xfrm>
            <a:custGeom>
              <a:avLst/>
              <a:gdLst/>
              <a:ahLst/>
              <a:cxnLst/>
              <a:rect l="l" t="t" r="r" b="b"/>
              <a:pathLst>
                <a:path w="8139430" h="233679">
                  <a:moveTo>
                    <a:pt x="8139228" y="233172"/>
                  </a:moveTo>
                  <a:lnTo>
                    <a:pt x="0" y="233172"/>
                  </a:lnTo>
                  <a:lnTo>
                    <a:pt x="0" y="0"/>
                  </a:lnTo>
                  <a:lnTo>
                    <a:pt x="8001000" y="0"/>
                  </a:lnTo>
                  <a:lnTo>
                    <a:pt x="8139228" y="233172"/>
                  </a:lnTo>
                  <a:close/>
                </a:path>
              </a:pathLst>
            </a:custGeom>
            <a:solidFill>
              <a:srgbClr val="004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20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76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97" y="34290"/>
                </a:lnTo>
                <a:lnTo>
                  <a:pt x="61823" y="93141"/>
                </a:lnTo>
                <a:lnTo>
                  <a:pt x="56400" y="132588"/>
                </a:lnTo>
                <a:lnTo>
                  <a:pt x="60159" y="158711"/>
                </a:lnTo>
                <a:lnTo>
                  <a:pt x="72783" y="182702"/>
                </a:lnTo>
                <a:lnTo>
                  <a:pt x="96253" y="205244"/>
                </a:lnTo>
                <a:lnTo>
                  <a:pt x="132600" y="227088"/>
                </a:lnTo>
                <a:lnTo>
                  <a:pt x="207276" y="263664"/>
                </a:lnTo>
                <a:lnTo>
                  <a:pt x="221576" y="271678"/>
                </a:lnTo>
                <a:lnTo>
                  <a:pt x="233756" y="281000"/>
                </a:lnTo>
                <a:lnTo>
                  <a:pt x="242201" y="293446"/>
                </a:lnTo>
                <a:lnTo>
                  <a:pt x="245376" y="310908"/>
                </a:lnTo>
                <a:lnTo>
                  <a:pt x="240487" y="330504"/>
                </a:lnTo>
                <a:lnTo>
                  <a:pt x="226898" y="345389"/>
                </a:lnTo>
                <a:lnTo>
                  <a:pt x="206146" y="354838"/>
                </a:lnTo>
                <a:lnTo>
                  <a:pt x="179844" y="358152"/>
                </a:lnTo>
                <a:lnTo>
                  <a:pt x="158572" y="353402"/>
                </a:lnTo>
                <a:lnTo>
                  <a:pt x="140030" y="340817"/>
                </a:lnTo>
                <a:lnTo>
                  <a:pt x="126898" y="322783"/>
                </a:lnTo>
                <a:lnTo>
                  <a:pt x="121932" y="301764"/>
                </a:lnTo>
                <a:lnTo>
                  <a:pt x="121932" y="292620"/>
                </a:lnTo>
                <a:lnTo>
                  <a:pt x="0" y="292620"/>
                </a:lnTo>
                <a:lnTo>
                  <a:pt x="0" y="310908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44" y="425208"/>
                </a:lnTo>
                <a:lnTo>
                  <a:pt x="236842" y="420636"/>
                </a:lnTo>
                <a:lnTo>
                  <a:pt x="285394" y="407428"/>
                </a:lnTo>
                <a:lnTo>
                  <a:pt x="324624" y="386346"/>
                </a:lnTo>
                <a:lnTo>
                  <a:pt x="353682" y="358152"/>
                </a:lnTo>
                <a:lnTo>
                  <a:pt x="371754" y="323608"/>
                </a:lnTo>
                <a:lnTo>
                  <a:pt x="371881" y="322783"/>
                </a:lnTo>
                <a:lnTo>
                  <a:pt x="377964" y="283476"/>
                </a:lnTo>
                <a:lnTo>
                  <a:pt x="372694" y="256628"/>
                </a:lnTo>
                <a:lnTo>
                  <a:pt x="357581" y="233375"/>
                </a:lnTo>
                <a:lnTo>
                  <a:pt x="333590" y="213817"/>
                </a:lnTo>
                <a:lnTo>
                  <a:pt x="301764" y="198132"/>
                </a:lnTo>
                <a:lnTo>
                  <a:pt x="227088" y="160032"/>
                </a:lnTo>
                <a:lnTo>
                  <a:pt x="207479" y="151434"/>
                </a:lnTo>
                <a:lnTo>
                  <a:pt x="192608" y="139268"/>
                </a:lnTo>
                <a:lnTo>
                  <a:pt x="183146" y="123380"/>
                </a:lnTo>
                <a:lnTo>
                  <a:pt x="179844" y="103632"/>
                </a:lnTo>
                <a:lnTo>
                  <a:pt x="184581" y="89966"/>
                </a:lnTo>
                <a:lnTo>
                  <a:pt x="197180" y="77724"/>
                </a:lnTo>
                <a:lnTo>
                  <a:pt x="215201" y="68922"/>
                </a:lnTo>
                <a:lnTo>
                  <a:pt x="236232" y="65532"/>
                </a:lnTo>
                <a:lnTo>
                  <a:pt x="255828" y="69062"/>
                </a:lnTo>
                <a:lnTo>
                  <a:pt x="270713" y="78867"/>
                </a:lnTo>
                <a:lnTo>
                  <a:pt x="280162" y="93827"/>
                </a:lnTo>
                <a:lnTo>
                  <a:pt x="283476" y="112776"/>
                </a:lnTo>
                <a:lnTo>
                  <a:pt x="283476" y="123380"/>
                </a:lnTo>
                <a:lnTo>
                  <a:pt x="406920" y="123380"/>
                </a:lnTo>
                <a:lnTo>
                  <a:pt x="406920" y="103632"/>
                </a:lnTo>
                <a:close/>
              </a:path>
              <a:path w="1039495" h="425450">
                <a:moveTo>
                  <a:pt x="670572" y="103644"/>
                </a:moveTo>
                <a:lnTo>
                  <a:pt x="661504" y="65544"/>
                </a:lnTo>
                <a:lnTo>
                  <a:pt x="660209" y="60083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52" y="0"/>
                </a:lnTo>
                <a:lnTo>
                  <a:pt x="471538" y="1574"/>
                </a:lnTo>
                <a:lnTo>
                  <a:pt x="438531" y="5727"/>
                </a:lnTo>
                <a:lnTo>
                  <a:pt x="410679" y="11582"/>
                </a:lnTo>
                <a:lnTo>
                  <a:pt x="387096" y="18300"/>
                </a:lnTo>
                <a:lnTo>
                  <a:pt x="401408" y="34632"/>
                </a:lnTo>
                <a:lnTo>
                  <a:pt x="413575" y="54114"/>
                </a:lnTo>
                <a:lnTo>
                  <a:pt x="422033" y="77012"/>
                </a:lnTo>
                <a:lnTo>
                  <a:pt x="422122" y="77736"/>
                </a:lnTo>
                <a:lnTo>
                  <a:pt x="425196" y="103644"/>
                </a:lnTo>
                <a:lnTo>
                  <a:pt x="425196" y="112788"/>
                </a:lnTo>
                <a:lnTo>
                  <a:pt x="416115" y="123380"/>
                </a:lnTo>
                <a:lnTo>
                  <a:pt x="416052" y="132600"/>
                </a:lnTo>
                <a:lnTo>
                  <a:pt x="312420" y="132600"/>
                </a:lnTo>
                <a:lnTo>
                  <a:pt x="317449" y="158711"/>
                </a:lnTo>
                <a:lnTo>
                  <a:pt x="332041" y="182702"/>
                </a:lnTo>
                <a:lnTo>
                  <a:pt x="355498" y="205244"/>
                </a:lnTo>
                <a:lnTo>
                  <a:pt x="387096" y="227088"/>
                </a:lnTo>
                <a:lnTo>
                  <a:pt x="463296" y="263664"/>
                </a:lnTo>
                <a:lnTo>
                  <a:pt x="476973" y="271678"/>
                </a:lnTo>
                <a:lnTo>
                  <a:pt x="489204" y="281000"/>
                </a:lnTo>
                <a:lnTo>
                  <a:pt x="498017" y="293446"/>
                </a:lnTo>
                <a:lnTo>
                  <a:pt x="501396" y="310908"/>
                </a:lnTo>
                <a:lnTo>
                  <a:pt x="497713" y="330504"/>
                </a:lnTo>
                <a:lnTo>
                  <a:pt x="486727" y="345389"/>
                </a:lnTo>
                <a:lnTo>
                  <a:pt x="468617" y="354838"/>
                </a:lnTo>
                <a:lnTo>
                  <a:pt x="443484" y="358152"/>
                </a:lnTo>
                <a:lnTo>
                  <a:pt x="419252" y="353402"/>
                </a:lnTo>
                <a:lnTo>
                  <a:pt x="401574" y="340817"/>
                </a:lnTo>
                <a:lnTo>
                  <a:pt x="390766" y="322783"/>
                </a:lnTo>
                <a:lnTo>
                  <a:pt x="387096" y="301764"/>
                </a:lnTo>
                <a:lnTo>
                  <a:pt x="387096" y="292620"/>
                </a:lnTo>
                <a:lnTo>
                  <a:pt x="382358" y="321017"/>
                </a:lnTo>
                <a:lnTo>
                  <a:pt x="369760" y="348437"/>
                </a:lnTo>
                <a:lnTo>
                  <a:pt x="351739" y="373837"/>
                </a:lnTo>
                <a:lnTo>
                  <a:pt x="330708" y="396252"/>
                </a:lnTo>
                <a:lnTo>
                  <a:pt x="321564" y="396252"/>
                </a:lnTo>
                <a:lnTo>
                  <a:pt x="312420" y="405396"/>
                </a:lnTo>
                <a:lnTo>
                  <a:pt x="336410" y="412991"/>
                </a:lnTo>
                <a:lnTo>
                  <a:pt x="365950" y="419303"/>
                </a:lnTo>
                <a:lnTo>
                  <a:pt x="399224" y="423608"/>
                </a:lnTo>
                <a:lnTo>
                  <a:pt x="434340" y="425208"/>
                </a:lnTo>
                <a:lnTo>
                  <a:pt x="491998" y="420636"/>
                </a:lnTo>
                <a:lnTo>
                  <a:pt x="540969" y="407428"/>
                </a:lnTo>
                <a:lnTo>
                  <a:pt x="580466" y="386346"/>
                </a:lnTo>
                <a:lnTo>
                  <a:pt x="609663" y="358152"/>
                </a:lnTo>
                <a:lnTo>
                  <a:pt x="627773" y="323608"/>
                </a:lnTo>
                <a:lnTo>
                  <a:pt x="627900" y="322783"/>
                </a:lnTo>
                <a:lnTo>
                  <a:pt x="633996" y="283476"/>
                </a:lnTo>
                <a:lnTo>
                  <a:pt x="618185" y="233375"/>
                </a:lnTo>
                <a:lnTo>
                  <a:pt x="566940" y="198132"/>
                </a:lnTo>
                <a:lnTo>
                  <a:pt x="490728" y="160032"/>
                </a:lnTo>
                <a:lnTo>
                  <a:pt x="471779" y="151434"/>
                </a:lnTo>
                <a:lnTo>
                  <a:pt x="456819" y="139268"/>
                </a:lnTo>
                <a:lnTo>
                  <a:pt x="447014" y="123380"/>
                </a:lnTo>
                <a:lnTo>
                  <a:pt x="443484" y="103644"/>
                </a:lnTo>
                <a:lnTo>
                  <a:pt x="447014" y="89966"/>
                </a:lnTo>
                <a:lnTo>
                  <a:pt x="456819" y="77736"/>
                </a:lnTo>
                <a:lnTo>
                  <a:pt x="471779" y="68922"/>
                </a:lnTo>
                <a:lnTo>
                  <a:pt x="490728" y="65544"/>
                </a:lnTo>
                <a:lnTo>
                  <a:pt x="515861" y="69062"/>
                </a:lnTo>
                <a:lnTo>
                  <a:pt x="533984" y="78879"/>
                </a:lnTo>
                <a:lnTo>
                  <a:pt x="544957" y="93827"/>
                </a:lnTo>
                <a:lnTo>
                  <a:pt x="548652" y="112788"/>
                </a:lnTo>
                <a:lnTo>
                  <a:pt x="539559" y="123380"/>
                </a:lnTo>
                <a:lnTo>
                  <a:pt x="670572" y="123380"/>
                </a:lnTo>
                <a:lnTo>
                  <a:pt x="670572" y="103644"/>
                </a:lnTo>
                <a:close/>
              </a:path>
              <a:path w="1039495" h="425450">
                <a:moveTo>
                  <a:pt x="1039380" y="103632"/>
                </a:moveTo>
                <a:lnTo>
                  <a:pt x="1030973" y="59804"/>
                </a:lnTo>
                <a:lnTo>
                  <a:pt x="1007567" y="27241"/>
                </a:lnTo>
                <a:lnTo>
                  <a:pt x="971867" y="6985"/>
                </a:lnTo>
                <a:lnTo>
                  <a:pt x="926604" y="0"/>
                </a:lnTo>
                <a:lnTo>
                  <a:pt x="882789" y="5410"/>
                </a:lnTo>
                <a:lnTo>
                  <a:pt x="837831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60" y="85344"/>
                </a:lnTo>
                <a:lnTo>
                  <a:pt x="860856" y="87236"/>
                </a:lnTo>
                <a:lnTo>
                  <a:pt x="875741" y="93535"/>
                </a:lnTo>
                <a:lnTo>
                  <a:pt x="885190" y="105283"/>
                </a:lnTo>
                <a:lnTo>
                  <a:pt x="888504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61" y="142875"/>
                </a:lnTo>
                <a:lnTo>
                  <a:pt x="884643" y="155600"/>
                </a:lnTo>
                <a:lnTo>
                  <a:pt x="879360" y="169164"/>
                </a:lnTo>
                <a:lnTo>
                  <a:pt x="822972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60" y="405384"/>
                </a:lnTo>
                <a:lnTo>
                  <a:pt x="1021092" y="179832"/>
                </a:lnTo>
                <a:lnTo>
                  <a:pt x="1030236" y="141732"/>
                </a:lnTo>
                <a:lnTo>
                  <a:pt x="1035519" y="133210"/>
                </a:lnTo>
                <a:lnTo>
                  <a:pt x="1038237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80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89988" y="3371088"/>
            <a:ext cx="5741670" cy="1073150"/>
          </a:xfrm>
          <a:custGeom>
            <a:avLst/>
            <a:gdLst/>
            <a:ahLst/>
            <a:cxnLst/>
            <a:rect l="l" t="t" r="r" b="b"/>
            <a:pathLst>
              <a:path w="5741670" h="1073150">
                <a:moveTo>
                  <a:pt x="725709" y="848868"/>
                </a:moveTo>
                <a:lnTo>
                  <a:pt x="623316" y="848868"/>
                </a:lnTo>
                <a:lnTo>
                  <a:pt x="819340" y="0"/>
                </a:lnTo>
                <a:lnTo>
                  <a:pt x="921734" y="0"/>
                </a:lnTo>
                <a:lnTo>
                  <a:pt x="850868" y="307086"/>
                </a:lnTo>
                <a:lnTo>
                  <a:pt x="1220913" y="307086"/>
                </a:lnTo>
                <a:lnTo>
                  <a:pt x="1223343" y="311765"/>
                </a:lnTo>
                <a:lnTo>
                  <a:pt x="1224737" y="316992"/>
                </a:lnTo>
                <a:lnTo>
                  <a:pt x="1020127" y="316992"/>
                </a:lnTo>
                <a:lnTo>
                  <a:pt x="998803" y="318475"/>
                </a:lnTo>
                <a:lnTo>
                  <a:pt x="952940" y="329944"/>
                </a:lnTo>
                <a:lnTo>
                  <a:pt x="903526" y="352000"/>
                </a:lnTo>
                <a:lnTo>
                  <a:pt x="854597" y="379394"/>
                </a:lnTo>
                <a:lnTo>
                  <a:pt x="830580" y="394716"/>
                </a:lnTo>
                <a:lnTo>
                  <a:pt x="725709" y="848868"/>
                </a:lnTo>
                <a:close/>
              </a:path>
              <a:path w="5741670" h="1073150">
                <a:moveTo>
                  <a:pt x="687990" y="128016"/>
                </a:moveTo>
                <a:lnTo>
                  <a:pt x="0" y="128016"/>
                </a:lnTo>
                <a:lnTo>
                  <a:pt x="20669" y="36576"/>
                </a:lnTo>
                <a:lnTo>
                  <a:pt x="708660" y="36576"/>
                </a:lnTo>
                <a:lnTo>
                  <a:pt x="687990" y="128016"/>
                </a:lnTo>
                <a:close/>
              </a:path>
              <a:path w="5741670" h="1073150">
                <a:moveTo>
                  <a:pt x="232600" y="848868"/>
                </a:moveTo>
                <a:lnTo>
                  <a:pt x="123444" y="848868"/>
                </a:lnTo>
                <a:lnTo>
                  <a:pt x="290226" y="128016"/>
                </a:lnTo>
                <a:lnTo>
                  <a:pt x="399478" y="128016"/>
                </a:lnTo>
                <a:lnTo>
                  <a:pt x="232600" y="848868"/>
                </a:lnTo>
                <a:close/>
              </a:path>
              <a:path w="5741670" h="1073150">
                <a:moveTo>
                  <a:pt x="1220913" y="307086"/>
                </a:moveTo>
                <a:lnTo>
                  <a:pt x="850868" y="307086"/>
                </a:lnTo>
                <a:lnTo>
                  <a:pt x="879623" y="287849"/>
                </a:lnTo>
                <a:lnTo>
                  <a:pt x="934383" y="256521"/>
                </a:lnTo>
                <a:lnTo>
                  <a:pt x="986158" y="234893"/>
                </a:lnTo>
                <a:lnTo>
                  <a:pt x="1038736" y="223931"/>
                </a:lnTo>
                <a:lnTo>
                  <a:pt x="1065561" y="222504"/>
                </a:lnTo>
                <a:lnTo>
                  <a:pt x="1103282" y="225074"/>
                </a:lnTo>
                <a:lnTo>
                  <a:pt x="1165471" y="245180"/>
                </a:lnTo>
                <a:lnTo>
                  <a:pt x="1209445" y="285004"/>
                </a:lnTo>
                <a:lnTo>
                  <a:pt x="1220913" y="307086"/>
                </a:lnTo>
                <a:close/>
              </a:path>
              <a:path w="5741670" h="1073150">
                <a:moveTo>
                  <a:pt x="1133284" y="848868"/>
                </a:moveTo>
                <a:lnTo>
                  <a:pt x="1032224" y="848868"/>
                </a:lnTo>
                <a:lnTo>
                  <a:pt x="1111281" y="502348"/>
                </a:lnTo>
                <a:lnTo>
                  <a:pt x="1114316" y="488382"/>
                </a:lnTo>
                <a:lnTo>
                  <a:pt x="1122743" y="441339"/>
                </a:lnTo>
                <a:lnTo>
                  <a:pt x="1124610" y="414147"/>
                </a:lnTo>
                <a:lnTo>
                  <a:pt x="1124712" y="409098"/>
                </a:lnTo>
                <a:lnTo>
                  <a:pt x="1119056" y="369093"/>
                </a:lnTo>
                <a:lnTo>
                  <a:pt x="1088399" y="330105"/>
                </a:lnTo>
                <a:lnTo>
                  <a:pt x="1070013" y="322790"/>
                </a:lnTo>
                <a:lnTo>
                  <a:pt x="1069821" y="322790"/>
                </a:lnTo>
                <a:lnTo>
                  <a:pt x="1047339" y="318475"/>
                </a:lnTo>
                <a:lnTo>
                  <a:pt x="1020127" y="316992"/>
                </a:lnTo>
                <a:lnTo>
                  <a:pt x="1224737" y="316992"/>
                </a:lnTo>
                <a:lnTo>
                  <a:pt x="1231668" y="342972"/>
                </a:lnTo>
                <a:lnTo>
                  <a:pt x="1234440" y="378618"/>
                </a:lnTo>
                <a:lnTo>
                  <a:pt x="1234294" y="385777"/>
                </a:lnTo>
                <a:lnTo>
                  <a:pt x="1230624" y="425005"/>
                </a:lnTo>
                <a:lnTo>
                  <a:pt x="1225105" y="453294"/>
                </a:lnTo>
                <a:lnTo>
                  <a:pt x="1133284" y="848868"/>
                </a:lnTo>
                <a:close/>
              </a:path>
              <a:path w="5741670" h="1073150">
                <a:moveTo>
                  <a:pt x="1459325" y="356616"/>
                </a:moveTo>
                <a:lnTo>
                  <a:pt x="1453896" y="356616"/>
                </a:lnTo>
                <a:lnTo>
                  <a:pt x="1473993" y="254412"/>
                </a:lnTo>
                <a:lnTo>
                  <a:pt x="1512296" y="245780"/>
                </a:lnTo>
                <a:lnTo>
                  <a:pt x="1564957" y="235934"/>
                </a:lnTo>
                <a:lnTo>
                  <a:pt x="1623691" y="228207"/>
                </a:lnTo>
                <a:lnTo>
                  <a:pt x="1679924" y="225552"/>
                </a:lnTo>
                <a:lnTo>
                  <a:pt x="1733036" y="227821"/>
                </a:lnTo>
                <a:lnTo>
                  <a:pt x="1779067" y="234493"/>
                </a:lnTo>
                <a:lnTo>
                  <a:pt x="1818008" y="245576"/>
                </a:lnTo>
                <a:lnTo>
                  <a:pt x="1874658" y="281384"/>
                </a:lnTo>
                <a:lnTo>
                  <a:pt x="1893766" y="310896"/>
                </a:lnTo>
                <a:lnTo>
                  <a:pt x="1661636" y="310896"/>
                </a:lnTo>
                <a:lnTo>
                  <a:pt x="1638369" y="311884"/>
                </a:lnTo>
                <a:lnTo>
                  <a:pt x="1637930" y="311884"/>
                </a:lnTo>
                <a:lnTo>
                  <a:pt x="1612058" y="314825"/>
                </a:lnTo>
                <a:lnTo>
                  <a:pt x="1555908" y="326326"/>
                </a:lnTo>
                <a:lnTo>
                  <a:pt x="1502044" y="341614"/>
                </a:lnTo>
                <a:lnTo>
                  <a:pt x="1479292" y="349150"/>
                </a:lnTo>
                <a:lnTo>
                  <a:pt x="1459325" y="356616"/>
                </a:lnTo>
                <a:close/>
              </a:path>
              <a:path w="5741670" h="1073150">
                <a:moveTo>
                  <a:pt x="1484185" y="865632"/>
                </a:moveTo>
                <a:lnTo>
                  <a:pt x="1418546" y="855106"/>
                </a:lnTo>
                <a:lnTo>
                  <a:pt x="1366551" y="823436"/>
                </a:lnTo>
                <a:lnTo>
                  <a:pt x="1332642" y="774644"/>
                </a:lnTo>
                <a:lnTo>
                  <a:pt x="1321420" y="714136"/>
                </a:lnTo>
                <a:lnTo>
                  <a:pt x="1321339" y="712309"/>
                </a:lnTo>
                <a:lnTo>
                  <a:pt x="1323305" y="678041"/>
                </a:lnTo>
                <a:lnTo>
                  <a:pt x="1339229" y="616852"/>
                </a:lnTo>
                <a:lnTo>
                  <a:pt x="1370963" y="566648"/>
                </a:lnTo>
                <a:lnTo>
                  <a:pt x="1418111" y="525785"/>
                </a:lnTo>
                <a:lnTo>
                  <a:pt x="1479725" y="494353"/>
                </a:lnTo>
                <a:lnTo>
                  <a:pt x="1553838" y="471922"/>
                </a:lnTo>
                <a:lnTo>
                  <a:pt x="1595628" y="463867"/>
                </a:lnTo>
                <a:lnTo>
                  <a:pt x="1640507" y="457582"/>
                </a:lnTo>
                <a:lnTo>
                  <a:pt x="1688413" y="452592"/>
                </a:lnTo>
                <a:lnTo>
                  <a:pt x="1739337" y="448905"/>
                </a:lnTo>
                <a:lnTo>
                  <a:pt x="1793271" y="446532"/>
                </a:lnTo>
                <a:lnTo>
                  <a:pt x="1795041" y="439193"/>
                </a:lnTo>
                <a:lnTo>
                  <a:pt x="1796641" y="432327"/>
                </a:lnTo>
                <a:lnTo>
                  <a:pt x="1798080" y="425944"/>
                </a:lnTo>
                <a:lnTo>
                  <a:pt x="1799367" y="420052"/>
                </a:lnTo>
                <a:lnTo>
                  <a:pt x="1801032" y="412838"/>
                </a:lnTo>
                <a:lnTo>
                  <a:pt x="1801082" y="412623"/>
                </a:lnTo>
                <a:lnTo>
                  <a:pt x="1801844" y="404812"/>
                </a:lnTo>
                <a:lnTo>
                  <a:pt x="1801830" y="396457"/>
                </a:lnTo>
                <a:lnTo>
                  <a:pt x="1791462" y="354139"/>
                </a:lnTo>
                <a:lnTo>
                  <a:pt x="1762029" y="327850"/>
                </a:lnTo>
                <a:lnTo>
                  <a:pt x="1717548" y="314515"/>
                </a:lnTo>
                <a:lnTo>
                  <a:pt x="1676600" y="311180"/>
                </a:lnTo>
                <a:lnTo>
                  <a:pt x="1661636" y="310896"/>
                </a:lnTo>
                <a:lnTo>
                  <a:pt x="1893766" y="310896"/>
                </a:lnTo>
                <a:lnTo>
                  <a:pt x="1902986" y="337496"/>
                </a:lnTo>
                <a:lnTo>
                  <a:pt x="1906495" y="372999"/>
                </a:lnTo>
                <a:lnTo>
                  <a:pt x="1906524" y="373284"/>
                </a:lnTo>
                <a:lnTo>
                  <a:pt x="1902812" y="412623"/>
                </a:lnTo>
                <a:lnTo>
                  <a:pt x="1877021" y="528828"/>
                </a:lnTo>
                <a:lnTo>
                  <a:pt x="1774602" y="528828"/>
                </a:lnTo>
                <a:lnTo>
                  <a:pt x="1734029" y="530917"/>
                </a:lnTo>
                <a:lnTo>
                  <a:pt x="1695759" y="533757"/>
                </a:lnTo>
                <a:lnTo>
                  <a:pt x="1626203" y="541686"/>
                </a:lnTo>
                <a:lnTo>
                  <a:pt x="1566981" y="553319"/>
                </a:lnTo>
                <a:lnTo>
                  <a:pt x="1519047" y="569023"/>
                </a:lnTo>
                <a:lnTo>
                  <a:pt x="1480375" y="590216"/>
                </a:lnTo>
                <a:lnTo>
                  <a:pt x="1452276" y="617696"/>
                </a:lnTo>
                <a:lnTo>
                  <a:pt x="1435215" y="652117"/>
                </a:lnTo>
                <a:lnTo>
                  <a:pt x="1429512" y="693896"/>
                </a:lnTo>
                <a:lnTo>
                  <a:pt x="1431187" y="712309"/>
                </a:lnTo>
                <a:lnTo>
                  <a:pt x="1456182" y="753618"/>
                </a:lnTo>
                <a:lnTo>
                  <a:pt x="1512258" y="772871"/>
                </a:lnTo>
                <a:lnTo>
                  <a:pt x="1510908" y="772871"/>
                </a:lnTo>
                <a:lnTo>
                  <a:pt x="1538954" y="774192"/>
                </a:lnTo>
                <a:lnTo>
                  <a:pt x="1820773" y="774192"/>
                </a:lnTo>
                <a:lnTo>
                  <a:pt x="1818545" y="783907"/>
                </a:lnTo>
                <a:lnTo>
                  <a:pt x="1716786" y="783907"/>
                </a:lnTo>
                <a:lnTo>
                  <a:pt x="1699414" y="794551"/>
                </a:lnTo>
                <a:lnTo>
                  <a:pt x="1676685" y="808767"/>
                </a:lnTo>
                <a:lnTo>
                  <a:pt x="1663987" y="816536"/>
                </a:lnTo>
                <a:lnTo>
                  <a:pt x="1625250" y="836199"/>
                </a:lnTo>
                <a:lnTo>
                  <a:pt x="1579896" y="852782"/>
                </a:lnTo>
                <a:lnTo>
                  <a:pt x="1526274" y="863548"/>
                </a:lnTo>
                <a:lnTo>
                  <a:pt x="1505886" y="865112"/>
                </a:lnTo>
                <a:lnTo>
                  <a:pt x="1484185" y="865632"/>
                </a:lnTo>
                <a:close/>
              </a:path>
              <a:path w="5741670" h="1073150">
                <a:moveTo>
                  <a:pt x="1820773" y="774192"/>
                </a:moveTo>
                <a:lnTo>
                  <a:pt x="1538954" y="774192"/>
                </a:lnTo>
                <a:lnTo>
                  <a:pt x="1563851" y="772871"/>
                </a:lnTo>
                <a:lnTo>
                  <a:pt x="1588972" y="768774"/>
                </a:lnTo>
                <a:lnTo>
                  <a:pt x="1639919" y="752284"/>
                </a:lnTo>
                <a:lnTo>
                  <a:pt x="1689687" y="727995"/>
                </a:lnTo>
                <a:lnTo>
                  <a:pt x="1736026" y="699135"/>
                </a:lnTo>
                <a:lnTo>
                  <a:pt x="1774602" y="528828"/>
                </a:lnTo>
                <a:lnTo>
                  <a:pt x="1877021" y="528828"/>
                </a:lnTo>
                <a:lnTo>
                  <a:pt x="1820773" y="774192"/>
                </a:lnTo>
                <a:close/>
              </a:path>
              <a:path w="5741670" h="1073150">
                <a:moveTo>
                  <a:pt x="1803654" y="848868"/>
                </a:moveTo>
                <a:lnTo>
                  <a:pt x="1702022" y="848868"/>
                </a:lnTo>
                <a:lnTo>
                  <a:pt x="1716786" y="783907"/>
                </a:lnTo>
                <a:lnTo>
                  <a:pt x="1818545" y="783907"/>
                </a:lnTo>
                <a:lnTo>
                  <a:pt x="1803654" y="848868"/>
                </a:lnTo>
                <a:close/>
              </a:path>
              <a:path w="5741670" h="1073150">
                <a:moveTo>
                  <a:pt x="2598655" y="307276"/>
                </a:moveTo>
                <a:lnTo>
                  <a:pt x="2227802" y="307276"/>
                </a:lnTo>
                <a:lnTo>
                  <a:pt x="2256642" y="287915"/>
                </a:lnTo>
                <a:lnTo>
                  <a:pt x="2311571" y="256444"/>
                </a:lnTo>
                <a:lnTo>
                  <a:pt x="2363395" y="234813"/>
                </a:lnTo>
                <a:lnTo>
                  <a:pt x="2416077" y="223916"/>
                </a:lnTo>
                <a:lnTo>
                  <a:pt x="2442972" y="222504"/>
                </a:lnTo>
                <a:lnTo>
                  <a:pt x="2480762" y="225074"/>
                </a:lnTo>
                <a:lnTo>
                  <a:pt x="2543056" y="245180"/>
                </a:lnTo>
                <a:lnTo>
                  <a:pt x="2587061" y="285004"/>
                </a:lnTo>
                <a:lnTo>
                  <a:pt x="2598655" y="307276"/>
                </a:lnTo>
                <a:close/>
              </a:path>
              <a:path w="5741670" h="1073150">
                <a:moveTo>
                  <a:pt x="2103405" y="848868"/>
                </a:moveTo>
                <a:lnTo>
                  <a:pt x="2001012" y="848868"/>
                </a:lnTo>
                <a:lnTo>
                  <a:pt x="2141124" y="239268"/>
                </a:lnTo>
                <a:lnTo>
                  <a:pt x="2243518" y="239268"/>
                </a:lnTo>
                <a:lnTo>
                  <a:pt x="2227802" y="307276"/>
                </a:lnTo>
                <a:lnTo>
                  <a:pt x="2598655" y="307276"/>
                </a:lnTo>
                <a:lnTo>
                  <a:pt x="2600991" y="311765"/>
                </a:lnTo>
                <a:lnTo>
                  <a:pt x="2602391" y="316992"/>
                </a:lnTo>
                <a:lnTo>
                  <a:pt x="2397633" y="316992"/>
                </a:lnTo>
                <a:lnTo>
                  <a:pt x="2376252" y="318475"/>
                </a:lnTo>
                <a:lnTo>
                  <a:pt x="2330312" y="329944"/>
                </a:lnTo>
                <a:lnTo>
                  <a:pt x="2280731" y="352018"/>
                </a:lnTo>
                <a:lnTo>
                  <a:pt x="2231725" y="379554"/>
                </a:lnTo>
                <a:lnTo>
                  <a:pt x="2207704" y="395001"/>
                </a:lnTo>
                <a:lnTo>
                  <a:pt x="2103405" y="848868"/>
                </a:lnTo>
                <a:close/>
              </a:path>
              <a:path w="5741670" h="1073150">
                <a:moveTo>
                  <a:pt x="2512028" y="848868"/>
                </a:moveTo>
                <a:lnTo>
                  <a:pt x="2410968" y="848868"/>
                </a:lnTo>
                <a:lnTo>
                  <a:pt x="2489263" y="502348"/>
                </a:lnTo>
                <a:lnTo>
                  <a:pt x="2492283" y="488382"/>
                </a:lnTo>
                <a:lnTo>
                  <a:pt x="2500574" y="441339"/>
                </a:lnTo>
                <a:lnTo>
                  <a:pt x="2502402" y="414147"/>
                </a:lnTo>
                <a:lnTo>
                  <a:pt x="2502503" y="409098"/>
                </a:lnTo>
                <a:lnTo>
                  <a:pt x="2496835" y="369093"/>
                </a:lnTo>
                <a:lnTo>
                  <a:pt x="2466092" y="330105"/>
                </a:lnTo>
                <a:lnTo>
                  <a:pt x="2447685" y="322790"/>
                </a:lnTo>
                <a:lnTo>
                  <a:pt x="2447492" y="322790"/>
                </a:lnTo>
                <a:lnTo>
                  <a:pt x="2424955" y="318475"/>
                </a:lnTo>
                <a:lnTo>
                  <a:pt x="2397633" y="316992"/>
                </a:lnTo>
                <a:lnTo>
                  <a:pt x="2602391" y="316992"/>
                </a:lnTo>
                <a:lnTo>
                  <a:pt x="2609350" y="342972"/>
                </a:lnTo>
                <a:lnTo>
                  <a:pt x="2612136" y="378618"/>
                </a:lnTo>
                <a:lnTo>
                  <a:pt x="2612117" y="379554"/>
                </a:lnTo>
                <a:lnTo>
                  <a:pt x="2611991" y="385777"/>
                </a:lnTo>
                <a:lnTo>
                  <a:pt x="2608415" y="425005"/>
                </a:lnTo>
                <a:lnTo>
                  <a:pt x="2602896" y="453294"/>
                </a:lnTo>
                <a:lnTo>
                  <a:pt x="2512028" y="848868"/>
                </a:lnTo>
                <a:close/>
              </a:path>
              <a:path w="5741670" h="1073150">
                <a:moveTo>
                  <a:pt x="2815875" y="848868"/>
                </a:moveTo>
                <a:lnTo>
                  <a:pt x="2712720" y="848868"/>
                </a:lnTo>
                <a:lnTo>
                  <a:pt x="2908744" y="0"/>
                </a:lnTo>
                <a:lnTo>
                  <a:pt x="3011900" y="0"/>
                </a:lnTo>
                <a:lnTo>
                  <a:pt x="2886265" y="543972"/>
                </a:lnTo>
                <a:lnTo>
                  <a:pt x="3042354" y="543972"/>
                </a:lnTo>
                <a:lnTo>
                  <a:pt x="3069920" y="581310"/>
                </a:lnTo>
                <a:lnTo>
                  <a:pt x="2948273" y="581310"/>
                </a:lnTo>
                <a:lnTo>
                  <a:pt x="2860643" y="652653"/>
                </a:lnTo>
                <a:lnTo>
                  <a:pt x="2815875" y="848868"/>
                </a:lnTo>
                <a:close/>
              </a:path>
              <a:path w="5741670" h="1073150">
                <a:moveTo>
                  <a:pt x="3042354" y="543972"/>
                </a:moveTo>
                <a:lnTo>
                  <a:pt x="2886265" y="543972"/>
                </a:lnTo>
                <a:lnTo>
                  <a:pt x="3241167" y="239268"/>
                </a:lnTo>
                <a:lnTo>
                  <a:pt x="3377184" y="239268"/>
                </a:lnTo>
                <a:lnTo>
                  <a:pt x="3030188" y="527494"/>
                </a:lnTo>
                <a:lnTo>
                  <a:pt x="3042354" y="543972"/>
                </a:lnTo>
                <a:close/>
              </a:path>
              <a:path w="5741670" h="1073150">
                <a:moveTo>
                  <a:pt x="3267456" y="848868"/>
                </a:moveTo>
                <a:lnTo>
                  <a:pt x="3142392" y="848868"/>
                </a:lnTo>
                <a:lnTo>
                  <a:pt x="2948273" y="581310"/>
                </a:lnTo>
                <a:lnTo>
                  <a:pt x="3069920" y="581310"/>
                </a:lnTo>
                <a:lnTo>
                  <a:pt x="3267456" y="848868"/>
                </a:lnTo>
                <a:close/>
              </a:path>
              <a:path w="5741670" h="1073150">
                <a:moveTo>
                  <a:pt x="3866483" y="1072896"/>
                </a:moveTo>
                <a:lnTo>
                  <a:pt x="3752088" y="1072896"/>
                </a:lnTo>
                <a:lnTo>
                  <a:pt x="3930015" y="811434"/>
                </a:lnTo>
                <a:lnTo>
                  <a:pt x="3820668" y="239268"/>
                </a:lnTo>
                <a:lnTo>
                  <a:pt x="3924585" y="239268"/>
                </a:lnTo>
                <a:lnTo>
                  <a:pt x="4010310" y="693420"/>
                </a:lnTo>
                <a:lnTo>
                  <a:pt x="4116186" y="693420"/>
                </a:lnTo>
                <a:lnTo>
                  <a:pt x="3866483" y="1072896"/>
                </a:lnTo>
                <a:close/>
              </a:path>
              <a:path w="5741670" h="1073150">
                <a:moveTo>
                  <a:pt x="4116186" y="693420"/>
                </a:moveTo>
                <a:lnTo>
                  <a:pt x="4010310" y="693420"/>
                </a:lnTo>
                <a:lnTo>
                  <a:pt x="4301871" y="239268"/>
                </a:lnTo>
                <a:lnTo>
                  <a:pt x="4415028" y="239268"/>
                </a:lnTo>
                <a:lnTo>
                  <a:pt x="4116186" y="693420"/>
                </a:lnTo>
                <a:close/>
              </a:path>
              <a:path w="5741670" h="1073150">
                <a:moveTo>
                  <a:pt x="4664868" y="865632"/>
                </a:moveTo>
                <a:lnTo>
                  <a:pt x="4613628" y="861786"/>
                </a:lnTo>
                <a:lnTo>
                  <a:pt x="4568344" y="850225"/>
                </a:lnTo>
                <a:lnTo>
                  <a:pt x="4529008" y="830913"/>
                </a:lnTo>
                <a:lnTo>
                  <a:pt x="4495609" y="803814"/>
                </a:lnTo>
                <a:lnTo>
                  <a:pt x="4469036" y="769919"/>
                </a:lnTo>
                <a:lnTo>
                  <a:pt x="4450044" y="730103"/>
                </a:lnTo>
                <a:lnTo>
                  <a:pt x="4438642" y="684375"/>
                </a:lnTo>
                <a:lnTo>
                  <a:pt x="4434840" y="632745"/>
                </a:lnTo>
                <a:lnTo>
                  <a:pt x="4436356" y="593324"/>
                </a:lnTo>
                <a:lnTo>
                  <a:pt x="4441055" y="552926"/>
                </a:lnTo>
                <a:lnTo>
                  <a:pt x="4448824" y="514418"/>
                </a:lnTo>
                <a:lnTo>
                  <a:pt x="4459700" y="476821"/>
                </a:lnTo>
                <a:lnTo>
                  <a:pt x="4473490" y="440761"/>
                </a:lnTo>
                <a:lnTo>
                  <a:pt x="4509286" y="374714"/>
                </a:lnTo>
                <a:lnTo>
                  <a:pt x="4555243" y="318367"/>
                </a:lnTo>
                <a:lnTo>
                  <a:pt x="4610717" y="273933"/>
                </a:lnTo>
                <a:lnTo>
                  <a:pt x="4675908" y="241323"/>
                </a:lnTo>
                <a:lnTo>
                  <a:pt x="4747709" y="224645"/>
                </a:lnTo>
                <a:lnTo>
                  <a:pt x="4785931" y="222504"/>
                </a:lnTo>
                <a:lnTo>
                  <a:pt x="4835884" y="226309"/>
                </a:lnTo>
                <a:lnTo>
                  <a:pt x="4880443" y="237589"/>
                </a:lnTo>
                <a:lnTo>
                  <a:pt x="4919609" y="256351"/>
                </a:lnTo>
                <a:lnTo>
                  <a:pt x="4953381" y="282606"/>
                </a:lnTo>
                <a:lnTo>
                  <a:pt x="4974003" y="307848"/>
                </a:lnTo>
                <a:lnTo>
                  <a:pt x="4769453" y="307848"/>
                </a:lnTo>
                <a:lnTo>
                  <a:pt x="4743770" y="309492"/>
                </a:lnTo>
                <a:lnTo>
                  <a:pt x="4696439" y="322247"/>
                </a:lnTo>
                <a:lnTo>
                  <a:pt x="4654556" y="347266"/>
                </a:lnTo>
                <a:lnTo>
                  <a:pt x="4618370" y="382050"/>
                </a:lnTo>
                <a:lnTo>
                  <a:pt x="4588581" y="425463"/>
                </a:lnTo>
                <a:lnTo>
                  <a:pt x="4566045" y="476041"/>
                </a:lnTo>
                <a:lnTo>
                  <a:pt x="4550440" y="533316"/>
                </a:lnTo>
                <a:lnTo>
                  <a:pt x="4542611" y="592362"/>
                </a:lnTo>
                <a:lnTo>
                  <a:pt x="4542517" y="593324"/>
                </a:lnTo>
                <a:lnTo>
                  <a:pt x="4543804" y="659670"/>
                </a:lnTo>
                <a:lnTo>
                  <a:pt x="4562053" y="717638"/>
                </a:lnTo>
                <a:lnTo>
                  <a:pt x="4598126" y="757678"/>
                </a:lnTo>
                <a:lnTo>
                  <a:pt x="4649808" y="777823"/>
                </a:lnTo>
                <a:lnTo>
                  <a:pt x="4681347" y="780288"/>
                </a:lnTo>
                <a:lnTo>
                  <a:pt x="4883964" y="780288"/>
                </a:lnTo>
                <a:lnTo>
                  <a:pt x="4868382" y="794527"/>
                </a:lnTo>
                <a:lnTo>
                  <a:pt x="4809934" y="833247"/>
                </a:lnTo>
                <a:lnTo>
                  <a:pt x="4742580" y="857547"/>
                </a:lnTo>
                <a:lnTo>
                  <a:pt x="4705015" y="863612"/>
                </a:lnTo>
                <a:lnTo>
                  <a:pt x="4664868" y="865632"/>
                </a:lnTo>
                <a:close/>
              </a:path>
              <a:path w="5741670" h="1073150">
                <a:moveTo>
                  <a:pt x="4883964" y="780288"/>
                </a:moveTo>
                <a:lnTo>
                  <a:pt x="4681347" y="780288"/>
                </a:lnTo>
                <a:lnTo>
                  <a:pt x="4706869" y="778771"/>
                </a:lnTo>
                <a:lnTo>
                  <a:pt x="4731150" y="774084"/>
                </a:lnTo>
                <a:lnTo>
                  <a:pt x="4776025" y="755237"/>
                </a:lnTo>
                <a:lnTo>
                  <a:pt x="4815328" y="725245"/>
                </a:lnTo>
                <a:lnTo>
                  <a:pt x="4848415" y="685323"/>
                </a:lnTo>
                <a:lnTo>
                  <a:pt x="4874347" y="638305"/>
                </a:lnTo>
                <a:lnTo>
                  <a:pt x="4893278" y="584358"/>
                </a:lnTo>
                <a:lnTo>
                  <a:pt x="4904934" y="525363"/>
                </a:lnTo>
                <a:lnTo>
                  <a:pt x="4908804" y="463010"/>
                </a:lnTo>
                <a:lnTo>
                  <a:pt x="4906533" y="427166"/>
                </a:lnTo>
                <a:lnTo>
                  <a:pt x="4888310" y="369302"/>
                </a:lnTo>
                <a:lnTo>
                  <a:pt x="4852231" y="330082"/>
                </a:lnTo>
                <a:lnTo>
                  <a:pt x="4800796" y="310366"/>
                </a:lnTo>
                <a:lnTo>
                  <a:pt x="4769453" y="307848"/>
                </a:lnTo>
                <a:lnTo>
                  <a:pt x="4974003" y="307848"/>
                </a:lnTo>
                <a:lnTo>
                  <a:pt x="4980564" y="315878"/>
                </a:lnTo>
                <a:lnTo>
                  <a:pt x="4999970" y="355687"/>
                </a:lnTo>
                <a:lnTo>
                  <a:pt x="5011607" y="402032"/>
                </a:lnTo>
                <a:lnTo>
                  <a:pt x="5015484" y="454914"/>
                </a:lnTo>
                <a:lnTo>
                  <a:pt x="5013961" y="494602"/>
                </a:lnTo>
                <a:lnTo>
                  <a:pt x="5013927" y="495490"/>
                </a:lnTo>
                <a:lnTo>
                  <a:pt x="5009245" y="535209"/>
                </a:lnTo>
                <a:lnTo>
                  <a:pt x="5001419" y="574071"/>
                </a:lnTo>
                <a:lnTo>
                  <a:pt x="4990433" y="612076"/>
                </a:lnTo>
                <a:lnTo>
                  <a:pt x="4976573" y="648545"/>
                </a:lnTo>
                <a:lnTo>
                  <a:pt x="4941101" y="713982"/>
                </a:lnTo>
                <a:lnTo>
                  <a:pt x="4894896" y="770286"/>
                </a:lnTo>
                <a:lnTo>
                  <a:pt x="4883964" y="780288"/>
                </a:lnTo>
                <a:close/>
              </a:path>
              <a:path w="5741670" h="1073150">
                <a:moveTo>
                  <a:pt x="5297805" y="865632"/>
                </a:moveTo>
                <a:lnTo>
                  <a:pt x="5228034" y="855773"/>
                </a:lnTo>
                <a:lnTo>
                  <a:pt x="5175408" y="826198"/>
                </a:lnTo>
                <a:lnTo>
                  <a:pt x="5142357" y="777621"/>
                </a:lnTo>
                <a:lnTo>
                  <a:pt x="5131308" y="710755"/>
                </a:lnTo>
                <a:lnTo>
                  <a:pt x="5131343" y="708722"/>
                </a:lnTo>
                <a:lnTo>
                  <a:pt x="5131467" y="701593"/>
                </a:lnTo>
                <a:lnTo>
                  <a:pt x="5136701" y="656082"/>
                </a:lnTo>
                <a:lnTo>
                  <a:pt x="5232368" y="239268"/>
                </a:lnTo>
                <a:lnTo>
                  <a:pt x="5334857" y="239268"/>
                </a:lnTo>
                <a:lnTo>
                  <a:pt x="5254371" y="586073"/>
                </a:lnTo>
                <a:lnTo>
                  <a:pt x="5251963" y="597035"/>
                </a:lnTo>
                <a:lnTo>
                  <a:pt x="5243241" y="647374"/>
                </a:lnTo>
                <a:lnTo>
                  <a:pt x="5240750" y="677418"/>
                </a:lnTo>
                <a:lnTo>
                  <a:pt x="5242231" y="699440"/>
                </a:lnTo>
                <a:lnTo>
                  <a:pt x="5264372" y="747807"/>
                </a:lnTo>
                <a:lnTo>
                  <a:pt x="5318633" y="769734"/>
                </a:lnTo>
                <a:lnTo>
                  <a:pt x="5345049" y="771144"/>
                </a:lnTo>
                <a:lnTo>
                  <a:pt x="5617603" y="771144"/>
                </a:lnTo>
                <a:lnTo>
                  <a:pt x="5615193" y="781526"/>
                </a:lnTo>
                <a:lnTo>
                  <a:pt x="5512689" y="781526"/>
                </a:lnTo>
                <a:lnTo>
                  <a:pt x="5484097" y="800281"/>
                </a:lnTo>
                <a:lnTo>
                  <a:pt x="5456479" y="816840"/>
                </a:lnTo>
                <a:lnTo>
                  <a:pt x="5404199" y="843438"/>
                </a:lnTo>
                <a:lnTo>
                  <a:pt x="5352431" y="860107"/>
                </a:lnTo>
                <a:lnTo>
                  <a:pt x="5325466" y="864253"/>
                </a:lnTo>
                <a:lnTo>
                  <a:pt x="5297805" y="865632"/>
                </a:lnTo>
                <a:close/>
              </a:path>
              <a:path w="5741670" h="1073150">
                <a:moveTo>
                  <a:pt x="5617603" y="771144"/>
                </a:moveTo>
                <a:lnTo>
                  <a:pt x="5345049" y="771144"/>
                </a:lnTo>
                <a:lnTo>
                  <a:pt x="5365910" y="769734"/>
                </a:lnTo>
                <a:lnTo>
                  <a:pt x="5388209" y="765369"/>
                </a:lnTo>
                <a:lnTo>
                  <a:pt x="5437155" y="747807"/>
                </a:lnTo>
                <a:lnTo>
                  <a:pt x="5487031" y="722637"/>
                </a:lnTo>
                <a:lnTo>
                  <a:pt x="5532977" y="693896"/>
                </a:lnTo>
                <a:lnTo>
                  <a:pt x="5638609" y="239268"/>
                </a:lnTo>
                <a:lnTo>
                  <a:pt x="5741098" y="239268"/>
                </a:lnTo>
                <a:lnTo>
                  <a:pt x="5617603" y="771144"/>
                </a:lnTo>
                <a:close/>
              </a:path>
              <a:path w="5741670" h="1073150">
                <a:moveTo>
                  <a:pt x="5599557" y="848868"/>
                </a:moveTo>
                <a:lnTo>
                  <a:pt x="5497068" y="848868"/>
                </a:lnTo>
                <a:lnTo>
                  <a:pt x="5512689" y="781526"/>
                </a:lnTo>
                <a:lnTo>
                  <a:pt x="5615193" y="781526"/>
                </a:lnTo>
                <a:lnTo>
                  <a:pt x="5599557" y="848868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3936</Words>
  <Application>Microsoft Office PowerPoint</Application>
  <PresentationFormat>Custom</PresentationFormat>
  <Paragraphs>386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Calibri</vt:lpstr>
      <vt:lpstr>Times New Roman</vt:lpstr>
      <vt:lpstr>Verdana</vt:lpstr>
      <vt:lpstr>Wingdings</vt:lpstr>
      <vt:lpstr>Office Theme</vt:lpstr>
      <vt:lpstr>UEC3942: Introduction to Sensors and Actuators</vt:lpstr>
      <vt:lpstr>PowerPoint Presentation</vt:lpstr>
      <vt:lpstr>Introduction to Thermal Sensing</vt:lpstr>
      <vt:lpstr>Defining Heat and Temperature</vt:lpstr>
      <vt:lpstr>Construction of a Bimetallic Strip</vt:lpstr>
      <vt:lpstr>Working Principle</vt:lpstr>
      <vt:lpstr>Common Metal Expansivity Values</vt:lpstr>
      <vt:lpstr>Sensitivity and Physical Forms</vt:lpstr>
      <vt:lpstr>Characteristics – The Challenge of Hysteresis</vt:lpstr>
      <vt:lpstr>Improving Performance with Accelerators</vt:lpstr>
      <vt:lpstr>Bimetallic Discs for Overheating Protection</vt:lpstr>
      <vt:lpstr>Applications and Maintenance</vt:lpstr>
      <vt:lpstr>Introduction to Thermocouples</vt:lpstr>
      <vt:lpstr>Working Principle (The Seebeck Effect)</vt:lpstr>
      <vt:lpstr>Thermocouple Construction</vt:lpstr>
      <vt:lpstr>Mathematical Modeling of EMF</vt:lpstr>
      <vt:lpstr>Performance Characteristics</vt:lpstr>
      <vt:lpstr>Common Thermocouple Types (Standard Codes)</vt:lpstr>
      <vt:lpstr>Signal Conditioning and Amplification</vt:lpstr>
      <vt:lpstr>Advantages of Thermocouples</vt:lpstr>
      <vt:lpstr>Related Thermoelectric Effects</vt:lpstr>
      <vt:lpstr>Practical Applications &amp; Considerations</vt:lpstr>
      <vt:lpstr>Introduction to Resistance-Based Sensing</vt:lpstr>
      <vt:lpstr>Resistance Thermometers (RTDs) — Overview</vt:lpstr>
      <vt:lpstr>Working Principle of RTDs</vt:lpstr>
      <vt:lpstr>Sample Problem &amp; Solution</vt:lpstr>
      <vt:lpstr>Material Selection: Why Platinum?</vt:lpstr>
      <vt:lpstr>RTD Construction (Wire-Wound)</vt:lpstr>
      <vt:lpstr>RTD Construction (Thin-Film)</vt:lpstr>
      <vt:lpstr>RTD Circuitry — The Wheatstone Bridge</vt:lpstr>
      <vt:lpstr>Lead Resistance Compensation (2-wire vs. 3-wire)</vt:lpstr>
      <vt:lpstr>Lead Resistance Compensation (4-wire)</vt:lpstr>
      <vt:lpstr>Critical Factor: Self-Heating</vt:lpstr>
      <vt:lpstr>Comparison Table (Thermocouple vs RTD)</vt:lpstr>
      <vt:lpstr>Introduction to Thermistors</vt:lpstr>
      <vt:lpstr>Thermistor Types</vt:lpstr>
      <vt:lpstr>Working Principle of NTC Thermistors</vt:lpstr>
      <vt:lpstr>NTC Mathematical Modeling</vt:lpstr>
      <vt:lpstr>PTC Thermistors — Principle for overheat protection</vt:lpstr>
      <vt:lpstr>PTC Thermistors — Principle for overcurrent protection</vt:lpstr>
      <vt:lpstr>Industrial Applications of Thermistors</vt:lpstr>
      <vt:lpstr>Comparison Table (RTD vs. Thermistor)</vt:lpstr>
      <vt:lpstr>Introduction to Pyroelectric Materials</vt:lpstr>
      <vt:lpstr>Principle of Operation</vt:lpstr>
      <vt:lpstr>Construction and Internal Circuitry</vt:lpstr>
      <vt:lpstr>Construction and Internal Circuitry</vt:lpstr>
      <vt:lpstr>Key Performance Parameters</vt:lpstr>
      <vt:lpstr>Optical Components (The Fresnel Lens)</vt:lpstr>
      <vt:lpstr>Response Characteristics</vt:lpstr>
      <vt:lpstr>Practical Application Circuitry</vt:lpstr>
      <vt:lpstr>Practical Application Circuitry</vt:lpstr>
      <vt:lpstr>Major Use Cases</vt:lpstr>
      <vt:lpstr>Conclusion and Summary</vt:lpstr>
      <vt:lpstr>Test your understanding</vt:lpstr>
      <vt:lpstr>Test your understanding</vt:lpstr>
      <vt:lpstr>Test your understanding</vt:lpstr>
      <vt:lpstr>Textbook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Temperature Sensors</dc:title>
  <dc:creator>Annadurai C</dc:creator>
  <cp:lastModifiedBy>Annadurai C</cp:lastModifiedBy>
  <cp:revision>2</cp:revision>
  <dcterms:created xsi:type="dcterms:W3CDTF">2026-06-25T03:20:35Z</dcterms:created>
  <dcterms:modified xsi:type="dcterms:W3CDTF">2026-07-08T03:40:45Z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2026-01-06T00:00:00Z</vt:filetime>
  </property>
  <property fmtid="{D5CDD505-2E9C-101B-9397-08002B2CF9AE}" pid="3" name="LastSaved">
    <vt:filetime>2026-06-25T00:00:00Z</vt:filetime>
  </property>
  <property fmtid="{D5CDD505-2E9C-101B-9397-08002B2CF9AE}" pid="4" name="Producer">
    <vt:lpwstr>3-Heights(TM) PDF Security Shell 4.8.25.2 (http://www.pdf-tools.com)</vt:lpwstr>
  </property>
</Properties>
</file>