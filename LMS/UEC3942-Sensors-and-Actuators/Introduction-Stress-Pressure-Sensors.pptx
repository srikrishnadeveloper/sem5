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54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1"/>
                </a:moveTo>
                <a:lnTo>
                  <a:pt x="0" y="263651"/>
                </a:lnTo>
                <a:lnTo>
                  <a:pt x="0" y="0"/>
                </a:lnTo>
                <a:lnTo>
                  <a:pt x="7906512" y="0"/>
                </a:lnTo>
                <a:lnTo>
                  <a:pt x="8057388" y="263651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2"/>
                </a:moveTo>
                <a:lnTo>
                  <a:pt x="0" y="233172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82" y="1591274"/>
            <a:ext cx="9214435" cy="404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60982" y="2875359"/>
            <a:ext cx="7136130" cy="3363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86485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I:</a:t>
            </a:r>
            <a:r>
              <a:rPr sz="35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Introduction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(Stress</a:t>
            </a:r>
            <a:r>
              <a:rPr sz="350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Sensors)</a:t>
            </a:r>
            <a:endParaRPr sz="3500" dirty="0">
              <a:latin typeface="Verdana"/>
              <a:cs typeface="Verdana"/>
            </a:endParaRPr>
          </a:p>
          <a:p>
            <a:pPr marL="2234565" marR="2226310" algn="ctr">
              <a:lnSpc>
                <a:spcPct val="121600"/>
              </a:lnSpc>
              <a:spcBef>
                <a:spcPts val="3254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US" sz="2500" dirty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US" sz="2500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500" dirty="0">
              <a:latin typeface="Verdana"/>
              <a:cs typeface="Verdana"/>
            </a:endParaRPr>
          </a:p>
          <a:p>
            <a:pPr marL="902335" marR="892810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60"/>
                </a:moveTo>
                <a:lnTo>
                  <a:pt x="0" y="192786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60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650" dirty="0">
                <a:solidFill>
                  <a:srgbClr val="FF0000"/>
                </a:solidFill>
              </a:rPr>
              <a:t>UEC</a:t>
            </a:r>
            <a:r>
              <a:rPr lang="en-US" sz="2650" dirty="0">
                <a:solidFill>
                  <a:srgbClr val="FF0000"/>
                </a:solidFill>
              </a:rPr>
              <a:t>3942</a:t>
            </a:r>
            <a:r>
              <a:rPr sz="2650" dirty="0">
                <a:solidFill>
                  <a:srgbClr val="FF0000"/>
                </a:solidFill>
              </a:rPr>
              <a:t>:</a:t>
            </a:r>
            <a:r>
              <a:rPr sz="2650" spc="-7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Introduction</a:t>
            </a:r>
            <a:r>
              <a:rPr sz="2650" spc="-13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6"/>
            <a:ext cx="879030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At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end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session,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students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will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able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dirty="0">
                <a:solidFill>
                  <a:srgbClr val="FFFFFF"/>
                </a:solidFill>
                <a:latin typeface="Verdana"/>
                <a:cs typeface="Verdana"/>
              </a:rPr>
              <a:t>Learning</a:t>
            </a:r>
            <a:r>
              <a:rPr sz="395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950" b="1" spc="-10" dirty="0">
                <a:solidFill>
                  <a:srgbClr val="FFFFFF"/>
                </a:solidFill>
                <a:latin typeface="Verdana"/>
                <a:cs typeface="Verdana"/>
              </a:rPr>
              <a:t>Outcomes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87001" y="426127"/>
            <a:ext cx="80841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Stress</a:t>
            </a:r>
            <a:r>
              <a:rPr spc="-3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Pressure</a:t>
            </a:r>
            <a:r>
              <a:rPr spc="-3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704900"/>
            <a:ext cx="21272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755" indent="-31305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25755" algn="l"/>
                <a:tab pos="1533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Stress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7891" y="1704900"/>
            <a:ext cx="66567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12900" algn="l"/>
                <a:tab pos="3047365" algn="l"/>
                <a:tab pos="3724910" algn="l"/>
                <a:tab pos="4986020" algn="l"/>
                <a:tab pos="577215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devices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detect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202" y="2039569"/>
            <a:ext cx="898398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force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load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convert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measurable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signal.</a:t>
            </a:r>
            <a:endParaRPr sz="2200">
              <a:latin typeface="Verdana"/>
              <a:cs typeface="Verdana"/>
            </a:endParaRPr>
          </a:p>
          <a:p>
            <a:pPr marL="325120" marR="5080" indent="-313055" algn="just">
              <a:lnSpc>
                <a:spcPct val="150000"/>
              </a:lnSpc>
              <a:buFont typeface="Wingdings"/>
              <a:buChar char=""/>
              <a:tabLst>
                <a:tab pos="326390" algn="l"/>
              </a:tabLst>
            </a:pPr>
            <a:r>
              <a:rPr sz="2200" dirty="0">
                <a:latin typeface="Verdana"/>
                <a:cs typeface="Verdana"/>
              </a:rPr>
              <a:t>While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area,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typically 	</a:t>
            </a:r>
            <a:r>
              <a:rPr sz="2200" dirty="0">
                <a:latin typeface="Verdana"/>
                <a:cs typeface="Verdana"/>
              </a:rPr>
              <a:t>refers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  fluids  (liquids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gases)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acting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boundary, 	</a:t>
            </a:r>
            <a:r>
              <a:rPr sz="2200" dirty="0">
                <a:latin typeface="Verdana"/>
                <a:cs typeface="Verdana"/>
              </a:rPr>
              <a:t>whereas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refers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resisting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within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solid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body.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4942" y="426127"/>
            <a:ext cx="74707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 Types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42659"/>
            <a:ext cx="8985885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Strain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Gauges:</a:t>
            </a:r>
            <a:r>
              <a:rPr sz="22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 	</a:t>
            </a:r>
            <a:r>
              <a:rPr sz="2200" dirty="0">
                <a:latin typeface="Verdana"/>
                <a:cs typeface="Verdana"/>
              </a:rPr>
              <a:t>object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foil 	</a:t>
            </a:r>
            <a:r>
              <a:rPr sz="2200" dirty="0">
                <a:latin typeface="Verdana"/>
                <a:cs typeface="Verdana"/>
              </a:rPr>
              <a:t>pattern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deforms.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load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weight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structural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health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monitoring.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F0000"/>
              </a:buClr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Resonant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Sensors: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resonant 	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system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with 	</a:t>
            </a:r>
            <a:r>
              <a:rPr sz="2200" dirty="0">
                <a:latin typeface="Verdana"/>
                <a:cs typeface="Verdana"/>
              </a:rPr>
              <a:t>extremely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precision.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aerospace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laboratory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4942" y="426127"/>
            <a:ext cx="74707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 Types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455642"/>
            <a:ext cx="8986520" cy="555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3399"/>
                </a:solidFill>
                <a:latin typeface="Verdana"/>
                <a:cs typeface="Verdana"/>
              </a:rPr>
              <a:t>Piezoresistive</a:t>
            </a:r>
            <a:r>
              <a:rPr sz="2200" b="1" spc="105" dirty="0">
                <a:solidFill>
                  <a:srgbClr val="FF3399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3399"/>
                </a:solidFill>
                <a:latin typeface="Verdana"/>
                <a:cs typeface="Verdana"/>
              </a:rPr>
              <a:t>Sensors:</a:t>
            </a:r>
            <a:r>
              <a:rPr sz="2200" b="1" spc="85" dirty="0">
                <a:solidFill>
                  <a:srgbClr val="FF3399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electrical 	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stretched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compressed.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They 	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widely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static</a:t>
            </a:r>
            <a:r>
              <a:rPr sz="2200" spc="2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measurements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industrial 	</a:t>
            </a:r>
            <a:r>
              <a:rPr sz="2200" dirty="0">
                <a:latin typeface="Verdana"/>
                <a:cs typeface="Verdana"/>
              </a:rPr>
              <a:t>process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control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medical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blood</a:t>
            </a:r>
            <a:r>
              <a:rPr sz="2200" spc="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pressure 	monitors.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F3399"/>
              </a:buClr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3399"/>
                </a:solidFill>
                <a:latin typeface="Verdana"/>
                <a:cs typeface="Verdana"/>
              </a:rPr>
              <a:t>Piezoelectric</a:t>
            </a:r>
            <a:r>
              <a:rPr sz="2200" b="1" spc="305" dirty="0">
                <a:solidFill>
                  <a:srgbClr val="FF3399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3399"/>
                </a:solidFill>
                <a:latin typeface="Verdana"/>
                <a:cs typeface="Verdana"/>
              </a:rPr>
              <a:t>Sensors:</a:t>
            </a:r>
            <a:r>
              <a:rPr sz="2200" b="1" spc="295" dirty="0">
                <a:solidFill>
                  <a:srgbClr val="FF3399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generate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charge 	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stress.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high- 	</a:t>
            </a:r>
            <a:r>
              <a:rPr sz="2200" dirty="0">
                <a:latin typeface="Verdana"/>
                <a:cs typeface="Verdana"/>
              </a:rPr>
              <a:t>frequency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dynamic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measurements,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such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engine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combustion,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static 	loads.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4942" y="426127"/>
            <a:ext cx="74707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 Types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698174"/>
            <a:ext cx="9044940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9900FF"/>
                </a:solidFill>
                <a:latin typeface="Verdana"/>
                <a:cs typeface="Verdana"/>
              </a:rPr>
              <a:t>Capacitive</a:t>
            </a:r>
            <a:r>
              <a:rPr sz="2200" b="1" spc="470" dirty="0">
                <a:solidFill>
                  <a:srgbClr val="9900F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9900FF"/>
                </a:solidFill>
                <a:latin typeface="Verdana"/>
                <a:cs typeface="Verdana"/>
              </a:rPr>
              <a:t>Sensors:</a:t>
            </a:r>
            <a:r>
              <a:rPr sz="2200" b="1" spc="465" dirty="0">
                <a:solidFill>
                  <a:srgbClr val="9900F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4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electrical 	</a:t>
            </a:r>
            <a:r>
              <a:rPr sz="2200" dirty="0">
                <a:latin typeface="Verdana"/>
                <a:cs typeface="Verdana"/>
              </a:rPr>
              <a:t>capacitance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caused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movement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diaphragm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under 	</a:t>
            </a:r>
            <a:r>
              <a:rPr sz="2200" dirty="0">
                <a:latin typeface="Verdana"/>
                <a:cs typeface="Verdana"/>
              </a:rPr>
              <a:t>pressure.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known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stability, 	</a:t>
            </a:r>
            <a:r>
              <a:rPr sz="2200" dirty="0">
                <a:latin typeface="Verdana"/>
                <a:cs typeface="Verdana"/>
              </a:rPr>
              <a:t>especially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low-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applications.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9900FF"/>
                </a:solidFill>
                <a:latin typeface="Verdana"/>
                <a:cs typeface="Verdana"/>
              </a:rPr>
              <a:t>Optical/Fiber-</a:t>
            </a:r>
            <a:r>
              <a:rPr sz="2200" b="1" dirty="0">
                <a:solidFill>
                  <a:srgbClr val="9900FF"/>
                </a:solidFill>
                <a:latin typeface="Verdana"/>
                <a:cs typeface="Verdana"/>
              </a:rPr>
              <a:t>Optic</a:t>
            </a:r>
            <a:r>
              <a:rPr sz="2200" b="1" spc="215" dirty="0">
                <a:solidFill>
                  <a:srgbClr val="9900F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9900FF"/>
                </a:solidFill>
                <a:latin typeface="Verdana"/>
                <a:cs typeface="Verdana"/>
              </a:rPr>
              <a:t>Sensors:</a:t>
            </a:r>
            <a:r>
              <a:rPr sz="2200" b="1" spc="204" dirty="0">
                <a:solidFill>
                  <a:srgbClr val="9900F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intensity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wavelength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through 	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3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Bragg</a:t>
            </a:r>
            <a:r>
              <a:rPr sz="2200" spc="3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Grating</a:t>
            </a:r>
            <a:r>
              <a:rPr sz="2200" spc="4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(FBG).</a:t>
            </a:r>
            <a:r>
              <a:rPr sz="2200" spc="40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4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immune</a:t>
            </a:r>
            <a:r>
              <a:rPr sz="2200" spc="40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electromagnetic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interference,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suitable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harsh 	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electrically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9625" y="426127"/>
            <a:ext cx="47148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178" y="1703382"/>
            <a:ext cx="8960485" cy="509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120" marR="6985" indent="-313055" algn="just">
              <a:lnSpc>
                <a:spcPct val="122000"/>
              </a:lnSpc>
              <a:spcBef>
                <a:spcPts val="95"/>
              </a:spcBef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Medical:</a:t>
            </a:r>
            <a:r>
              <a:rPr sz="1950" b="1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Used  in</a:t>
            </a:r>
            <a:r>
              <a:rPr sz="1950" spc="-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ventilators</a:t>
            </a:r>
            <a:r>
              <a:rPr sz="1950" spc="-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airway</a:t>
            </a:r>
            <a:r>
              <a:rPr sz="1950" spc="-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-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control,</a:t>
            </a:r>
            <a:r>
              <a:rPr sz="1950" spc="-10" dirty="0">
                <a:latin typeface="Verdana"/>
                <a:cs typeface="Verdana"/>
              </a:rPr>
              <a:t>  blood 	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monitors,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infusion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pumps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regulate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fluid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flow.</a:t>
            </a:r>
            <a:endParaRPr sz="1950">
              <a:latin typeface="Verdana"/>
              <a:cs typeface="Verdana"/>
            </a:endParaRPr>
          </a:p>
          <a:p>
            <a:pPr marL="325120" marR="5080" indent="-313055" algn="just">
              <a:lnSpc>
                <a:spcPts val="2860"/>
              </a:lnSpc>
              <a:spcBef>
                <a:spcPts val="165"/>
              </a:spcBef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Automotive:</a:t>
            </a:r>
            <a:r>
              <a:rPr sz="1950" b="1" spc="1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Critical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11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Tire</a:t>
            </a:r>
            <a:r>
              <a:rPr sz="1950" spc="1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1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Monitoring</a:t>
            </a:r>
            <a:r>
              <a:rPr sz="1950" spc="1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Systems</a:t>
            </a:r>
            <a:r>
              <a:rPr sz="1950" spc="1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(TPMS), 	</a:t>
            </a:r>
            <a:r>
              <a:rPr sz="1950" dirty="0">
                <a:latin typeface="Verdana"/>
                <a:cs typeface="Verdana"/>
              </a:rPr>
              <a:t>engine</a:t>
            </a:r>
            <a:r>
              <a:rPr sz="1950" spc="3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management</a:t>
            </a:r>
            <a:r>
              <a:rPr sz="1950" spc="3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(oil</a:t>
            </a:r>
            <a:r>
              <a:rPr sz="1950" spc="3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manifold</a:t>
            </a:r>
            <a:r>
              <a:rPr sz="1950" spc="3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pressure),</a:t>
            </a:r>
            <a:r>
              <a:rPr sz="1950" spc="3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3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fuel</a:t>
            </a:r>
            <a:r>
              <a:rPr sz="1950" spc="36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system 	monitoring.</a:t>
            </a:r>
            <a:endParaRPr sz="1950">
              <a:latin typeface="Verdana"/>
              <a:cs typeface="Verdana"/>
            </a:endParaRPr>
          </a:p>
          <a:p>
            <a:pPr marL="325755" indent="-313055" algn="just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Industrial:</a:t>
            </a:r>
            <a:r>
              <a:rPr sz="1950" b="1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Monitoring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hydraulic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pneumatic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systems,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detecting</a:t>
            </a:r>
            <a:endParaRPr sz="1950">
              <a:latin typeface="Verdana"/>
              <a:cs typeface="Verdana"/>
            </a:endParaRPr>
          </a:p>
          <a:p>
            <a:pPr marL="326390" algn="just">
              <a:lnSpc>
                <a:spcPct val="100000"/>
              </a:lnSpc>
              <a:spcBef>
                <a:spcPts val="515"/>
              </a:spcBef>
            </a:pPr>
            <a:r>
              <a:rPr sz="1950" dirty="0">
                <a:latin typeface="Verdana"/>
                <a:cs typeface="Verdana"/>
              </a:rPr>
              <a:t>clogged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filters,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controlling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steam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processes.</a:t>
            </a:r>
            <a:endParaRPr sz="1950">
              <a:latin typeface="Verdana"/>
              <a:cs typeface="Verdana"/>
            </a:endParaRPr>
          </a:p>
          <a:p>
            <a:pPr marL="325120" marR="6985" indent="-313055" algn="just">
              <a:lnSpc>
                <a:spcPts val="2860"/>
              </a:lnSpc>
              <a:spcBef>
                <a:spcPts val="165"/>
              </a:spcBef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Consumer</a:t>
            </a:r>
            <a:r>
              <a:rPr sz="1950" b="1" spc="14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Electronics:</a:t>
            </a:r>
            <a:r>
              <a:rPr sz="1950" b="1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Altitude</a:t>
            </a:r>
            <a:r>
              <a:rPr sz="1950" spc="1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detection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1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smartphones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GPS 	</a:t>
            </a:r>
            <a:r>
              <a:rPr sz="1950" dirty="0">
                <a:latin typeface="Verdana"/>
                <a:cs typeface="Verdana"/>
              </a:rPr>
              <a:t>enhancement,</a:t>
            </a:r>
            <a:r>
              <a:rPr sz="1950" spc="-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touch</a:t>
            </a:r>
            <a:r>
              <a:rPr sz="1950" spc="-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sensitivity</a:t>
            </a:r>
            <a:r>
              <a:rPr sz="1950" spc="-2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-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displays,</a:t>
            </a:r>
            <a:r>
              <a:rPr sz="1950" spc="-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-3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fall</a:t>
            </a:r>
            <a:r>
              <a:rPr sz="1950" spc="-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detection</a:t>
            </a:r>
            <a:r>
              <a:rPr sz="1950" spc="-25" dirty="0">
                <a:latin typeface="Verdana"/>
                <a:cs typeface="Verdana"/>
              </a:rPr>
              <a:t>  in 	</a:t>
            </a:r>
            <a:r>
              <a:rPr sz="1950" dirty="0">
                <a:latin typeface="Verdana"/>
                <a:cs typeface="Verdana"/>
              </a:rPr>
              <a:t>assisted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living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devices.</a:t>
            </a:r>
            <a:endParaRPr sz="1950">
              <a:latin typeface="Verdana"/>
              <a:cs typeface="Verdana"/>
            </a:endParaRPr>
          </a:p>
          <a:p>
            <a:pPr marL="325755" indent="-313055" algn="just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Health</a:t>
            </a:r>
            <a:r>
              <a:rPr sz="1950" b="1" spc="48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&amp;</a:t>
            </a:r>
            <a:r>
              <a:rPr sz="1950" b="1" spc="484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Wellness:</a:t>
            </a:r>
            <a:r>
              <a:rPr sz="1950" b="1" spc="4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Wearable</a:t>
            </a:r>
            <a:r>
              <a:rPr sz="1950" spc="4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sensors</a:t>
            </a:r>
            <a:r>
              <a:rPr sz="1950" spc="4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track</a:t>
            </a:r>
            <a:r>
              <a:rPr sz="1950" spc="4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physiological</a:t>
            </a:r>
            <a:r>
              <a:rPr sz="1950" spc="4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stress</a:t>
            </a:r>
            <a:endParaRPr sz="1950">
              <a:latin typeface="Verdana"/>
              <a:cs typeface="Verdana"/>
            </a:endParaRPr>
          </a:p>
          <a:p>
            <a:pPr marL="326390" marR="6350" algn="just">
              <a:lnSpc>
                <a:spcPct val="121800"/>
              </a:lnSpc>
              <a:spcBef>
                <a:spcPts val="5"/>
              </a:spcBef>
            </a:pPr>
            <a:r>
              <a:rPr sz="1950" dirty="0">
                <a:latin typeface="Verdana"/>
                <a:cs typeface="Verdana"/>
              </a:rPr>
              <a:t>by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combining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signals</a:t>
            </a:r>
            <a:r>
              <a:rPr sz="1950" spc="4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like</a:t>
            </a:r>
            <a:r>
              <a:rPr sz="1950" spc="-9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Heart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Rate</a:t>
            </a:r>
            <a:r>
              <a:rPr sz="1950" spc="4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Variability</a:t>
            </a:r>
            <a:r>
              <a:rPr sz="1950" spc="4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(HRV)</a:t>
            </a:r>
            <a:r>
              <a:rPr sz="1950" spc="4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from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ECG </a:t>
            </a:r>
            <a:r>
              <a:rPr sz="1950" dirty="0">
                <a:latin typeface="Verdana"/>
                <a:cs typeface="Verdana"/>
              </a:rPr>
              <a:t>sensors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-5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Electrodermal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Activity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(EDA)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from</a:t>
            </a:r>
            <a:r>
              <a:rPr sz="1950" spc="-6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skin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conductance sensors.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3106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9317" y="1608160"/>
            <a:ext cx="9170035" cy="89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3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students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should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gained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knowledge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common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514984" indent="-501650">
              <a:lnSpc>
                <a:spcPct val="100000"/>
              </a:lnSpc>
              <a:spcBef>
                <a:spcPts val="1420"/>
              </a:spcBef>
              <a:buAutoNum type="arabicPeriod"/>
              <a:tabLst>
                <a:tab pos="515620" algn="l"/>
              </a:tabLst>
            </a:pPr>
            <a:r>
              <a:rPr dirty="0"/>
              <a:t>Distinguish</a:t>
            </a:r>
            <a:r>
              <a:rPr spc="-85" dirty="0"/>
              <a:t> </a:t>
            </a:r>
            <a:r>
              <a:rPr dirty="0"/>
              <a:t>between</a:t>
            </a:r>
            <a:r>
              <a:rPr spc="-55" dirty="0"/>
              <a:t> </a:t>
            </a:r>
            <a:r>
              <a:rPr spc="-10" dirty="0"/>
              <a:t>Piezoresistive</a:t>
            </a:r>
            <a:r>
              <a:rPr spc="-9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Piezoelectric</a:t>
            </a:r>
            <a:r>
              <a:rPr spc="-95" dirty="0"/>
              <a:t> </a:t>
            </a:r>
            <a:r>
              <a:rPr spc="-10" dirty="0"/>
              <a:t>sensors.</a:t>
            </a:r>
          </a:p>
          <a:p>
            <a:pPr marL="514984" indent="-50165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5620" algn="l"/>
              </a:tabLst>
            </a:pPr>
            <a:r>
              <a:rPr dirty="0"/>
              <a:t>Explain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working</a:t>
            </a:r>
            <a:r>
              <a:rPr spc="-45" dirty="0"/>
              <a:t> </a:t>
            </a:r>
            <a:r>
              <a:rPr dirty="0"/>
              <a:t>principle</a:t>
            </a:r>
            <a:r>
              <a:rPr spc="-7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Capacitive</a:t>
            </a:r>
            <a:r>
              <a:rPr spc="-50" dirty="0"/>
              <a:t> </a:t>
            </a:r>
            <a:r>
              <a:rPr dirty="0"/>
              <a:t>pressure</a:t>
            </a:r>
            <a:r>
              <a:rPr spc="-75" dirty="0"/>
              <a:t> </a:t>
            </a:r>
            <a:r>
              <a:rPr spc="-10" dirty="0"/>
              <a:t>sensor.</a:t>
            </a:r>
          </a:p>
          <a:p>
            <a:pPr marL="514984" indent="-50165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5620" algn="l"/>
              </a:tabLst>
            </a:pPr>
            <a:r>
              <a:rPr dirty="0"/>
              <a:t>Define</a:t>
            </a:r>
            <a:r>
              <a:rPr spc="-75" dirty="0"/>
              <a:t> </a:t>
            </a:r>
            <a:r>
              <a:rPr dirty="0"/>
              <a:t>"Gauge</a:t>
            </a:r>
            <a:r>
              <a:rPr spc="-50" dirty="0"/>
              <a:t> </a:t>
            </a:r>
            <a:r>
              <a:rPr spc="-10" dirty="0"/>
              <a:t>Factor"</a:t>
            </a:r>
            <a:r>
              <a:rPr spc="-5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context</a:t>
            </a:r>
            <a:r>
              <a:rPr spc="-4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strain</a:t>
            </a:r>
            <a:r>
              <a:rPr spc="-85" dirty="0"/>
              <a:t> </a:t>
            </a:r>
            <a:r>
              <a:rPr spc="-10" dirty="0"/>
              <a:t>gauges.</a:t>
            </a:r>
          </a:p>
          <a:p>
            <a:pPr marL="514984" indent="-50165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5620" algn="l"/>
              </a:tabLst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"Dummy"</a:t>
            </a:r>
            <a:r>
              <a:rPr spc="-30" dirty="0"/>
              <a:t> </a:t>
            </a:r>
            <a:r>
              <a:rPr dirty="0"/>
              <a:t>strain</a:t>
            </a:r>
            <a:r>
              <a:rPr spc="-55" dirty="0"/>
              <a:t> </a:t>
            </a:r>
            <a:r>
              <a:rPr dirty="0"/>
              <a:t>gauge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why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spc="-10" dirty="0"/>
              <a:t>used?</a:t>
            </a:r>
          </a:p>
          <a:p>
            <a:pPr marL="515620" marR="6985" indent="-502920">
              <a:lnSpc>
                <a:spcPct val="150000"/>
              </a:lnSpc>
              <a:buAutoNum type="arabicPeriod"/>
              <a:tabLst>
                <a:tab pos="516255" algn="l"/>
              </a:tabLst>
            </a:pPr>
            <a:r>
              <a:rPr dirty="0"/>
              <a:t>Describe</a:t>
            </a:r>
            <a:r>
              <a:rPr spc="40" dirty="0"/>
              <a:t> </a:t>
            </a:r>
            <a:r>
              <a:rPr dirty="0"/>
              <a:t>three</a:t>
            </a:r>
            <a:r>
              <a:rPr spc="65" dirty="0"/>
              <a:t> </a:t>
            </a:r>
            <a:r>
              <a:rPr dirty="0"/>
              <a:t>critical</a:t>
            </a:r>
            <a:r>
              <a:rPr spc="65" dirty="0"/>
              <a:t> </a:t>
            </a:r>
            <a:r>
              <a:rPr dirty="0"/>
              <a:t>applications</a:t>
            </a:r>
            <a:r>
              <a:rPr spc="55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pressure</a:t>
            </a:r>
            <a:r>
              <a:rPr spc="45" dirty="0"/>
              <a:t> </a:t>
            </a:r>
            <a:r>
              <a:rPr dirty="0"/>
              <a:t>sensors</a:t>
            </a:r>
            <a:r>
              <a:rPr spc="50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spc="-25" dirty="0"/>
              <a:t>the </a:t>
            </a:r>
            <a:r>
              <a:rPr dirty="0"/>
              <a:t>automotive</a:t>
            </a:r>
            <a:r>
              <a:rPr spc="-130" dirty="0"/>
              <a:t> </a:t>
            </a:r>
            <a:r>
              <a:rPr spc="-10" dirty="0"/>
              <a:t>industry.</a:t>
            </a:r>
          </a:p>
          <a:p>
            <a:pPr marL="515620" marR="5080" indent="-502920">
              <a:lnSpc>
                <a:spcPct val="150000"/>
              </a:lnSpc>
              <a:buAutoNum type="arabicPeriod"/>
              <a:tabLst>
                <a:tab pos="516255" algn="l"/>
                <a:tab pos="1926589" algn="l"/>
                <a:tab pos="2733040" algn="l"/>
                <a:tab pos="3544570" algn="l"/>
                <a:tab pos="5504815" algn="l"/>
                <a:tab pos="6071235" algn="l"/>
                <a:tab pos="7582534" algn="l"/>
                <a:tab pos="8946515" algn="l"/>
              </a:tabLst>
            </a:pPr>
            <a:r>
              <a:rPr spc="-10" dirty="0"/>
              <a:t>Mention</a:t>
            </a:r>
            <a:r>
              <a:rPr dirty="0"/>
              <a:t>	</a:t>
            </a:r>
            <a:r>
              <a:rPr spc="-25" dirty="0"/>
              <a:t>any</a:t>
            </a:r>
            <a:r>
              <a:rPr dirty="0"/>
              <a:t>	</a:t>
            </a:r>
            <a:r>
              <a:rPr spc="-25" dirty="0"/>
              <a:t>two</a:t>
            </a:r>
            <a:r>
              <a:rPr dirty="0"/>
              <a:t>	</a:t>
            </a:r>
            <a:r>
              <a:rPr spc="-10" dirty="0"/>
              <a:t>applications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pressure</a:t>
            </a:r>
            <a:r>
              <a:rPr dirty="0"/>
              <a:t>	</a:t>
            </a:r>
            <a:r>
              <a:rPr spc="-10" dirty="0"/>
              <a:t>sensors</a:t>
            </a:r>
            <a:r>
              <a:rPr dirty="0"/>
              <a:t>	</a:t>
            </a:r>
            <a:r>
              <a:rPr spc="-25" dirty="0"/>
              <a:t>in </a:t>
            </a:r>
            <a:r>
              <a:rPr dirty="0"/>
              <a:t>consumer</a:t>
            </a:r>
            <a:r>
              <a:rPr spc="-110" dirty="0"/>
              <a:t> </a:t>
            </a:r>
            <a:r>
              <a:rPr spc="-10" dirty="0"/>
              <a:t>electronics.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60542"/>
            <a:ext cx="887539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2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2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  <a:tab pos="1527810" algn="l"/>
                <a:tab pos="3376929" algn="l"/>
                <a:tab pos="4191635" algn="l"/>
                <a:tab pos="4674235" algn="l"/>
                <a:tab pos="5494020" algn="l"/>
                <a:tab pos="6043295" algn="l"/>
                <a:tab pos="7317740" algn="l"/>
                <a:tab pos="8001000" algn="l"/>
              </a:tabLst>
            </a:pPr>
            <a:r>
              <a:rPr sz="2200" spc="-10" dirty="0">
                <a:latin typeface="Verdana"/>
                <a:cs typeface="Verdana"/>
              </a:rPr>
              <a:t>Ramon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PallásAreny,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John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G.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Webster,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Signal </a:t>
            </a:r>
            <a:r>
              <a:rPr sz="2200" dirty="0">
                <a:latin typeface="Verdana"/>
                <a:cs typeface="Verdana"/>
              </a:rPr>
              <a:t>conditioning,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Wiley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Sons,</a:t>
            </a:r>
            <a:r>
              <a:rPr sz="2200" dirty="0">
                <a:latin typeface="Verdana"/>
                <a:cs typeface="Verdana"/>
              </a:rPr>
              <a:t>	Second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2000.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1"/>
                  </a:moveTo>
                  <a:lnTo>
                    <a:pt x="0" y="263651"/>
                  </a:lnTo>
                  <a:lnTo>
                    <a:pt x="0" y="0"/>
                  </a:lnTo>
                  <a:lnTo>
                    <a:pt x="7906512" y="0"/>
                  </a:lnTo>
                  <a:lnTo>
                    <a:pt x="8057388" y="263651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2"/>
                  </a:moveTo>
                  <a:lnTo>
                    <a:pt x="0" y="233172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2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8"/>
                </a:moveTo>
                <a:lnTo>
                  <a:pt x="623316" y="848868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6"/>
                </a:lnTo>
                <a:lnTo>
                  <a:pt x="1220913" y="307086"/>
                </a:lnTo>
                <a:lnTo>
                  <a:pt x="1223343" y="311765"/>
                </a:lnTo>
                <a:lnTo>
                  <a:pt x="1224737" y="316992"/>
                </a:lnTo>
                <a:lnTo>
                  <a:pt x="1020127" y="316992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6"/>
                </a:lnTo>
                <a:lnTo>
                  <a:pt x="725709" y="848868"/>
                </a:lnTo>
                <a:close/>
              </a:path>
              <a:path w="5741670" h="1073150">
                <a:moveTo>
                  <a:pt x="687990" y="128016"/>
                </a:moveTo>
                <a:lnTo>
                  <a:pt x="0" y="128016"/>
                </a:lnTo>
                <a:lnTo>
                  <a:pt x="20669" y="36576"/>
                </a:lnTo>
                <a:lnTo>
                  <a:pt x="708660" y="36576"/>
                </a:lnTo>
                <a:lnTo>
                  <a:pt x="687990" y="128016"/>
                </a:lnTo>
                <a:close/>
              </a:path>
              <a:path w="5741670" h="1073150">
                <a:moveTo>
                  <a:pt x="232600" y="848868"/>
                </a:moveTo>
                <a:lnTo>
                  <a:pt x="123444" y="848868"/>
                </a:lnTo>
                <a:lnTo>
                  <a:pt x="290226" y="128016"/>
                </a:lnTo>
                <a:lnTo>
                  <a:pt x="399478" y="128016"/>
                </a:lnTo>
                <a:lnTo>
                  <a:pt x="232600" y="848868"/>
                </a:lnTo>
                <a:close/>
              </a:path>
              <a:path w="5741670" h="1073150">
                <a:moveTo>
                  <a:pt x="1220913" y="307086"/>
                </a:moveTo>
                <a:lnTo>
                  <a:pt x="850868" y="307086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6" y="223931"/>
                </a:lnTo>
                <a:lnTo>
                  <a:pt x="1065561" y="222504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6"/>
                </a:lnTo>
                <a:close/>
              </a:path>
              <a:path w="5741670" h="1073150">
                <a:moveTo>
                  <a:pt x="1133284" y="848868"/>
                </a:moveTo>
                <a:lnTo>
                  <a:pt x="1032224" y="848868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610" y="414147"/>
                </a:lnTo>
                <a:lnTo>
                  <a:pt x="1124712" y="409098"/>
                </a:lnTo>
                <a:lnTo>
                  <a:pt x="1119056" y="369093"/>
                </a:lnTo>
                <a:lnTo>
                  <a:pt x="1088399" y="330105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39" y="318475"/>
                </a:lnTo>
                <a:lnTo>
                  <a:pt x="1020127" y="316992"/>
                </a:lnTo>
                <a:lnTo>
                  <a:pt x="1224737" y="316992"/>
                </a:lnTo>
                <a:lnTo>
                  <a:pt x="1231668" y="342972"/>
                </a:lnTo>
                <a:lnTo>
                  <a:pt x="1234440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8"/>
                </a:lnTo>
                <a:close/>
              </a:path>
              <a:path w="5741670" h="1073150">
                <a:moveTo>
                  <a:pt x="1459325" y="356616"/>
                </a:moveTo>
                <a:lnTo>
                  <a:pt x="1453896" y="356616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7"/>
                </a:lnTo>
                <a:lnTo>
                  <a:pt x="1679924" y="225552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6"/>
                </a:lnTo>
                <a:lnTo>
                  <a:pt x="1661636" y="310896"/>
                </a:lnTo>
                <a:lnTo>
                  <a:pt x="1638369" y="311884"/>
                </a:lnTo>
                <a:lnTo>
                  <a:pt x="1637930" y="311884"/>
                </a:lnTo>
                <a:lnTo>
                  <a:pt x="1612058" y="314825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6"/>
                </a:lnTo>
                <a:close/>
              </a:path>
              <a:path w="5741670" h="1073150">
                <a:moveTo>
                  <a:pt x="1484185" y="865632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29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2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2"/>
                </a:lnTo>
                <a:lnTo>
                  <a:pt x="1795056" y="439193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791462" y="354139"/>
                </a:lnTo>
                <a:lnTo>
                  <a:pt x="1762029" y="327850"/>
                </a:lnTo>
                <a:lnTo>
                  <a:pt x="1717548" y="314515"/>
                </a:lnTo>
                <a:lnTo>
                  <a:pt x="1676600" y="311180"/>
                </a:lnTo>
                <a:lnTo>
                  <a:pt x="1661636" y="310896"/>
                </a:lnTo>
                <a:lnTo>
                  <a:pt x="1893766" y="310896"/>
                </a:lnTo>
                <a:lnTo>
                  <a:pt x="1902986" y="337496"/>
                </a:lnTo>
                <a:lnTo>
                  <a:pt x="1906495" y="372999"/>
                </a:lnTo>
                <a:lnTo>
                  <a:pt x="1906524" y="373284"/>
                </a:lnTo>
                <a:lnTo>
                  <a:pt x="1902812" y="412623"/>
                </a:lnTo>
                <a:lnTo>
                  <a:pt x="1877021" y="528828"/>
                </a:lnTo>
                <a:lnTo>
                  <a:pt x="1774602" y="528828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2" y="753618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2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5"/>
                </a:lnTo>
                <a:lnTo>
                  <a:pt x="1774602" y="528828"/>
                </a:lnTo>
                <a:lnTo>
                  <a:pt x="1877021" y="528828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8"/>
                </a:moveTo>
                <a:lnTo>
                  <a:pt x="1702022" y="848868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8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4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8"/>
                </a:moveTo>
                <a:lnTo>
                  <a:pt x="2001012" y="848868"/>
                </a:lnTo>
                <a:lnTo>
                  <a:pt x="2141124" y="239268"/>
                </a:lnTo>
                <a:lnTo>
                  <a:pt x="2243613" y="239268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2"/>
                </a:lnTo>
                <a:lnTo>
                  <a:pt x="2397728" y="316992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8"/>
                </a:lnTo>
                <a:close/>
              </a:path>
              <a:path w="5741670" h="1073150">
                <a:moveTo>
                  <a:pt x="2512028" y="848868"/>
                </a:moveTo>
                <a:lnTo>
                  <a:pt x="2410968" y="848868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7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2"/>
                </a:lnTo>
                <a:lnTo>
                  <a:pt x="2602391" y="316992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11991" y="385777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8"/>
                </a:lnTo>
                <a:close/>
              </a:path>
              <a:path w="5741670" h="1073150">
                <a:moveTo>
                  <a:pt x="2815971" y="848868"/>
                </a:moveTo>
                <a:lnTo>
                  <a:pt x="2712720" y="848868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3"/>
                </a:lnTo>
                <a:lnTo>
                  <a:pt x="2815971" y="848868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8"/>
                </a:lnTo>
                <a:lnTo>
                  <a:pt x="3377184" y="239268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8"/>
                </a:moveTo>
                <a:lnTo>
                  <a:pt x="3142392" y="848868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8"/>
                </a:lnTo>
                <a:close/>
              </a:path>
              <a:path w="5741670" h="1073150">
                <a:moveTo>
                  <a:pt x="3866483" y="1072896"/>
                </a:moveTo>
                <a:lnTo>
                  <a:pt x="3752088" y="1072896"/>
                </a:lnTo>
                <a:lnTo>
                  <a:pt x="3930015" y="811434"/>
                </a:lnTo>
                <a:lnTo>
                  <a:pt x="3820668" y="239268"/>
                </a:lnTo>
                <a:lnTo>
                  <a:pt x="3924585" y="239268"/>
                </a:lnTo>
                <a:lnTo>
                  <a:pt x="4010310" y="693420"/>
                </a:lnTo>
                <a:lnTo>
                  <a:pt x="4116186" y="693420"/>
                </a:lnTo>
                <a:lnTo>
                  <a:pt x="3866483" y="1072896"/>
                </a:lnTo>
                <a:close/>
              </a:path>
              <a:path w="5741670" h="1073150">
                <a:moveTo>
                  <a:pt x="4116186" y="693420"/>
                </a:moveTo>
                <a:lnTo>
                  <a:pt x="4010310" y="693420"/>
                </a:lnTo>
                <a:lnTo>
                  <a:pt x="4301871" y="239268"/>
                </a:lnTo>
                <a:lnTo>
                  <a:pt x="4415028" y="239268"/>
                </a:lnTo>
                <a:lnTo>
                  <a:pt x="4116186" y="693420"/>
                </a:lnTo>
                <a:close/>
              </a:path>
              <a:path w="5741670" h="1073150">
                <a:moveTo>
                  <a:pt x="4664868" y="865632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6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6" y="374714"/>
                </a:lnTo>
                <a:lnTo>
                  <a:pt x="4555243" y="318367"/>
                </a:lnTo>
                <a:lnTo>
                  <a:pt x="4610717" y="273933"/>
                </a:lnTo>
                <a:lnTo>
                  <a:pt x="4675908" y="241323"/>
                </a:lnTo>
                <a:lnTo>
                  <a:pt x="4747709" y="224645"/>
                </a:lnTo>
                <a:lnTo>
                  <a:pt x="4785931" y="222504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8"/>
                </a:lnTo>
                <a:lnTo>
                  <a:pt x="4769453" y="307848"/>
                </a:lnTo>
                <a:lnTo>
                  <a:pt x="4743770" y="309492"/>
                </a:lnTo>
                <a:lnTo>
                  <a:pt x="4696439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0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8"/>
                </a:lnTo>
                <a:lnTo>
                  <a:pt x="4649808" y="777823"/>
                </a:lnTo>
                <a:lnTo>
                  <a:pt x="4681347" y="780288"/>
                </a:lnTo>
                <a:lnTo>
                  <a:pt x="4883964" y="780288"/>
                </a:lnTo>
                <a:lnTo>
                  <a:pt x="4868382" y="794527"/>
                </a:lnTo>
                <a:lnTo>
                  <a:pt x="4809934" y="833247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2"/>
                </a:lnTo>
                <a:close/>
              </a:path>
              <a:path w="5741670" h="1073150">
                <a:moveTo>
                  <a:pt x="4883964" y="780288"/>
                </a:moveTo>
                <a:lnTo>
                  <a:pt x="4681347" y="780288"/>
                </a:lnTo>
                <a:lnTo>
                  <a:pt x="4706869" y="778771"/>
                </a:lnTo>
                <a:lnTo>
                  <a:pt x="4731150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8"/>
                </a:lnTo>
                <a:lnTo>
                  <a:pt x="4974003" y="307848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4" y="454914"/>
                </a:lnTo>
                <a:lnTo>
                  <a:pt x="5013961" y="494602"/>
                </a:lnTo>
                <a:lnTo>
                  <a:pt x="5013927" y="495490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8"/>
                </a:lnTo>
                <a:close/>
              </a:path>
              <a:path w="5741670" h="1073150">
                <a:moveTo>
                  <a:pt x="5297805" y="865632"/>
                </a:moveTo>
                <a:lnTo>
                  <a:pt x="5228034" y="855773"/>
                </a:lnTo>
                <a:lnTo>
                  <a:pt x="5175408" y="826198"/>
                </a:lnTo>
                <a:lnTo>
                  <a:pt x="5142357" y="777621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1467" y="701593"/>
                </a:lnTo>
                <a:lnTo>
                  <a:pt x="5136701" y="656082"/>
                </a:lnTo>
                <a:lnTo>
                  <a:pt x="5232368" y="239268"/>
                </a:lnTo>
                <a:lnTo>
                  <a:pt x="5334857" y="239268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4"/>
                </a:lnTo>
                <a:lnTo>
                  <a:pt x="5240655" y="677418"/>
                </a:lnTo>
                <a:lnTo>
                  <a:pt x="5242137" y="699440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4"/>
                </a:lnTo>
                <a:lnTo>
                  <a:pt x="5617603" y="771144"/>
                </a:lnTo>
                <a:lnTo>
                  <a:pt x="5615193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2"/>
                </a:lnTo>
                <a:close/>
              </a:path>
              <a:path w="5741670" h="1073150">
                <a:moveTo>
                  <a:pt x="5617603" y="771144"/>
                </a:moveTo>
                <a:lnTo>
                  <a:pt x="5345049" y="771144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8"/>
                </a:lnTo>
                <a:lnTo>
                  <a:pt x="5741098" y="239268"/>
                </a:lnTo>
                <a:lnTo>
                  <a:pt x="5617603" y="771144"/>
                </a:lnTo>
                <a:close/>
              </a:path>
              <a:path w="5741670" h="1073150">
                <a:moveTo>
                  <a:pt x="5599557" y="848868"/>
                </a:moveTo>
                <a:lnTo>
                  <a:pt x="5497068" y="848868"/>
                </a:lnTo>
                <a:lnTo>
                  <a:pt x="5512689" y="781526"/>
                </a:lnTo>
                <a:lnTo>
                  <a:pt x="5615193" y="781526"/>
                </a:lnTo>
                <a:lnTo>
                  <a:pt x="5599557" y="84886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664</Words>
  <Application>Microsoft Office PowerPoint</Application>
  <PresentationFormat>Custom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Verdana</vt:lpstr>
      <vt:lpstr>Wingdings</vt:lpstr>
      <vt:lpstr>Office Theme</vt:lpstr>
      <vt:lpstr>UEC3942: Introduction to Sensors and Actuators</vt:lpstr>
      <vt:lpstr>PowerPoint Presentation</vt:lpstr>
      <vt:lpstr>Stress and Pressure Sensors</vt:lpstr>
      <vt:lpstr>Common Types of Sensors</vt:lpstr>
      <vt:lpstr>Common Types of Sensors</vt:lpstr>
      <vt:lpstr>Common Types of Sensors</vt:lpstr>
      <vt:lpstr>Key Applications</vt:lpstr>
      <vt:lpstr>Summary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Introduction - Stress &amp; Pressure Sensors</dc:title>
  <dc:creator>Karthie Alias Ayyadurai</dc:creator>
  <cp:lastModifiedBy>Annadurai C</cp:lastModifiedBy>
  <cp:revision>3</cp:revision>
  <dcterms:created xsi:type="dcterms:W3CDTF">2026-06-22T13:09:33Z</dcterms:created>
  <dcterms:modified xsi:type="dcterms:W3CDTF">2026-07-08T03:39:21Z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2026-01-02T00:00:00Z</vt:filetime>
  </property>
  <property fmtid="{D5CDD505-2E9C-101B-9397-08002B2CF9AE}" pid="3" name="LastSaved">
    <vt:filetime>2026-06-22T00:00:00Z</vt:filetime>
  </property>
  <property fmtid="{D5CDD505-2E9C-101B-9397-08002B2CF9AE}" pid="4" name="Producer">
    <vt:lpwstr>3-Heights(TM) PDF Security Shell 4.8.25.2 (http://www.pdf-tools.com)</vt:lpwstr>
  </property>
</Properties>
</file>