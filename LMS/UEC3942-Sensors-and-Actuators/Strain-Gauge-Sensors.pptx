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3" r:id="rId38"/>
    <p:sldId id="294" r:id="rId39"/>
    <p:sldId id="295" r:id="rId40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54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1"/>
                </a:moveTo>
                <a:lnTo>
                  <a:pt x="0" y="263651"/>
                </a:lnTo>
                <a:lnTo>
                  <a:pt x="0" y="0"/>
                </a:lnTo>
                <a:lnTo>
                  <a:pt x="7906512" y="0"/>
                </a:lnTo>
                <a:lnTo>
                  <a:pt x="8057388" y="263651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2"/>
                </a:moveTo>
                <a:lnTo>
                  <a:pt x="0" y="233172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20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76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97" y="34290"/>
                </a:lnTo>
                <a:lnTo>
                  <a:pt x="61823" y="93141"/>
                </a:lnTo>
                <a:lnTo>
                  <a:pt x="56400" y="132588"/>
                </a:lnTo>
                <a:lnTo>
                  <a:pt x="60159" y="158711"/>
                </a:lnTo>
                <a:lnTo>
                  <a:pt x="72783" y="182702"/>
                </a:lnTo>
                <a:lnTo>
                  <a:pt x="96253" y="205244"/>
                </a:lnTo>
                <a:lnTo>
                  <a:pt x="132600" y="227088"/>
                </a:lnTo>
                <a:lnTo>
                  <a:pt x="207276" y="263664"/>
                </a:lnTo>
                <a:lnTo>
                  <a:pt x="221576" y="271678"/>
                </a:lnTo>
                <a:lnTo>
                  <a:pt x="233756" y="281000"/>
                </a:lnTo>
                <a:lnTo>
                  <a:pt x="242201" y="293446"/>
                </a:lnTo>
                <a:lnTo>
                  <a:pt x="245376" y="310908"/>
                </a:lnTo>
                <a:lnTo>
                  <a:pt x="240271" y="330504"/>
                </a:lnTo>
                <a:lnTo>
                  <a:pt x="226326" y="345389"/>
                </a:lnTo>
                <a:lnTo>
                  <a:pt x="205511" y="354838"/>
                </a:lnTo>
                <a:lnTo>
                  <a:pt x="179844" y="358152"/>
                </a:lnTo>
                <a:lnTo>
                  <a:pt x="158572" y="353402"/>
                </a:lnTo>
                <a:lnTo>
                  <a:pt x="140030" y="340817"/>
                </a:lnTo>
                <a:lnTo>
                  <a:pt x="126898" y="322783"/>
                </a:lnTo>
                <a:lnTo>
                  <a:pt x="121932" y="301764"/>
                </a:lnTo>
                <a:lnTo>
                  <a:pt x="121932" y="292620"/>
                </a:lnTo>
                <a:lnTo>
                  <a:pt x="0" y="292620"/>
                </a:lnTo>
                <a:lnTo>
                  <a:pt x="0" y="310908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44" y="425208"/>
                </a:lnTo>
                <a:lnTo>
                  <a:pt x="236842" y="420636"/>
                </a:lnTo>
                <a:lnTo>
                  <a:pt x="285394" y="407428"/>
                </a:lnTo>
                <a:lnTo>
                  <a:pt x="324624" y="386346"/>
                </a:lnTo>
                <a:lnTo>
                  <a:pt x="353682" y="358152"/>
                </a:lnTo>
                <a:lnTo>
                  <a:pt x="371754" y="323608"/>
                </a:lnTo>
                <a:lnTo>
                  <a:pt x="371881" y="322783"/>
                </a:lnTo>
                <a:lnTo>
                  <a:pt x="377964" y="283476"/>
                </a:lnTo>
                <a:lnTo>
                  <a:pt x="372694" y="256628"/>
                </a:lnTo>
                <a:lnTo>
                  <a:pt x="357581" y="233375"/>
                </a:lnTo>
                <a:lnTo>
                  <a:pt x="333590" y="213817"/>
                </a:lnTo>
                <a:lnTo>
                  <a:pt x="301764" y="198132"/>
                </a:lnTo>
                <a:lnTo>
                  <a:pt x="227088" y="160032"/>
                </a:lnTo>
                <a:lnTo>
                  <a:pt x="207479" y="151434"/>
                </a:lnTo>
                <a:lnTo>
                  <a:pt x="192608" y="139268"/>
                </a:lnTo>
                <a:lnTo>
                  <a:pt x="183146" y="123380"/>
                </a:lnTo>
                <a:lnTo>
                  <a:pt x="179844" y="103632"/>
                </a:lnTo>
                <a:lnTo>
                  <a:pt x="184581" y="89966"/>
                </a:lnTo>
                <a:lnTo>
                  <a:pt x="197180" y="77724"/>
                </a:lnTo>
                <a:lnTo>
                  <a:pt x="215201" y="68922"/>
                </a:lnTo>
                <a:lnTo>
                  <a:pt x="236232" y="65532"/>
                </a:lnTo>
                <a:lnTo>
                  <a:pt x="255828" y="69062"/>
                </a:lnTo>
                <a:lnTo>
                  <a:pt x="270713" y="78867"/>
                </a:lnTo>
                <a:lnTo>
                  <a:pt x="280162" y="93827"/>
                </a:lnTo>
                <a:lnTo>
                  <a:pt x="283476" y="112776"/>
                </a:lnTo>
                <a:lnTo>
                  <a:pt x="283476" y="123380"/>
                </a:lnTo>
                <a:lnTo>
                  <a:pt x="406920" y="123380"/>
                </a:lnTo>
                <a:lnTo>
                  <a:pt x="406920" y="103632"/>
                </a:lnTo>
                <a:close/>
              </a:path>
              <a:path w="1039495" h="425450">
                <a:moveTo>
                  <a:pt x="670572" y="103644"/>
                </a:moveTo>
                <a:lnTo>
                  <a:pt x="661504" y="65544"/>
                </a:lnTo>
                <a:lnTo>
                  <a:pt x="660209" y="60083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52" y="0"/>
                </a:lnTo>
                <a:lnTo>
                  <a:pt x="471538" y="1574"/>
                </a:lnTo>
                <a:lnTo>
                  <a:pt x="438531" y="5727"/>
                </a:lnTo>
                <a:lnTo>
                  <a:pt x="410679" y="11582"/>
                </a:lnTo>
                <a:lnTo>
                  <a:pt x="387096" y="18300"/>
                </a:lnTo>
                <a:lnTo>
                  <a:pt x="401408" y="34632"/>
                </a:lnTo>
                <a:lnTo>
                  <a:pt x="413575" y="54114"/>
                </a:lnTo>
                <a:lnTo>
                  <a:pt x="422033" y="77012"/>
                </a:lnTo>
                <a:lnTo>
                  <a:pt x="422122" y="77736"/>
                </a:lnTo>
                <a:lnTo>
                  <a:pt x="425196" y="103644"/>
                </a:lnTo>
                <a:lnTo>
                  <a:pt x="425196" y="112788"/>
                </a:lnTo>
                <a:lnTo>
                  <a:pt x="416115" y="123380"/>
                </a:lnTo>
                <a:lnTo>
                  <a:pt x="416052" y="132600"/>
                </a:lnTo>
                <a:lnTo>
                  <a:pt x="312420" y="132600"/>
                </a:lnTo>
                <a:lnTo>
                  <a:pt x="317449" y="158711"/>
                </a:lnTo>
                <a:lnTo>
                  <a:pt x="332041" y="182702"/>
                </a:lnTo>
                <a:lnTo>
                  <a:pt x="355498" y="205244"/>
                </a:lnTo>
                <a:lnTo>
                  <a:pt x="387096" y="227088"/>
                </a:lnTo>
                <a:lnTo>
                  <a:pt x="463296" y="263664"/>
                </a:lnTo>
                <a:lnTo>
                  <a:pt x="476973" y="271678"/>
                </a:lnTo>
                <a:lnTo>
                  <a:pt x="489204" y="281000"/>
                </a:lnTo>
                <a:lnTo>
                  <a:pt x="498017" y="293446"/>
                </a:lnTo>
                <a:lnTo>
                  <a:pt x="501396" y="310908"/>
                </a:lnTo>
                <a:lnTo>
                  <a:pt x="497713" y="330504"/>
                </a:lnTo>
                <a:lnTo>
                  <a:pt x="486727" y="345389"/>
                </a:lnTo>
                <a:lnTo>
                  <a:pt x="468617" y="354838"/>
                </a:lnTo>
                <a:lnTo>
                  <a:pt x="443484" y="358152"/>
                </a:lnTo>
                <a:lnTo>
                  <a:pt x="419252" y="353402"/>
                </a:lnTo>
                <a:lnTo>
                  <a:pt x="401574" y="340817"/>
                </a:lnTo>
                <a:lnTo>
                  <a:pt x="390766" y="322783"/>
                </a:lnTo>
                <a:lnTo>
                  <a:pt x="387096" y="301764"/>
                </a:lnTo>
                <a:lnTo>
                  <a:pt x="387096" y="292620"/>
                </a:lnTo>
                <a:lnTo>
                  <a:pt x="382358" y="321017"/>
                </a:lnTo>
                <a:lnTo>
                  <a:pt x="369760" y="348437"/>
                </a:lnTo>
                <a:lnTo>
                  <a:pt x="351739" y="373837"/>
                </a:lnTo>
                <a:lnTo>
                  <a:pt x="330708" y="396252"/>
                </a:lnTo>
                <a:lnTo>
                  <a:pt x="321564" y="396252"/>
                </a:lnTo>
                <a:lnTo>
                  <a:pt x="312420" y="405396"/>
                </a:lnTo>
                <a:lnTo>
                  <a:pt x="336410" y="412991"/>
                </a:lnTo>
                <a:lnTo>
                  <a:pt x="365950" y="419303"/>
                </a:lnTo>
                <a:lnTo>
                  <a:pt x="399224" y="423608"/>
                </a:lnTo>
                <a:lnTo>
                  <a:pt x="434340" y="425208"/>
                </a:lnTo>
                <a:lnTo>
                  <a:pt x="491998" y="420636"/>
                </a:lnTo>
                <a:lnTo>
                  <a:pt x="540969" y="407428"/>
                </a:lnTo>
                <a:lnTo>
                  <a:pt x="580466" y="386346"/>
                </a:lnTo>
                <a:lnTo>
                  <a:pt x="609663" y="358152"/>
                </a:lnTo>
                <a:lnTo>
                  <a:pt x="627773" y="323608"/>
                </a:lnTo>
                <a:lnTo>
                  <a:pt x="627900" y="322783"/>
                </a:lnTo>
                <a:lnTo>
                  <a:pt x="633996" y="283476"/>
                </a:lnTo>
                <a:lnTo>
                  <a:pt x="618185" y="233375"/>
                </a:lnTo>
                <a:lnTo>
                  <a:pt x="566940" y="198132"/>
                </a:lnTo>
                <a:lnTo>
                  <a:pt x="490728" y="160032"/>
                </a:lnTo>
                <a:lnTo>
                  <a:pt x="471779" y="151434"/>
                </a:lnTo>
                <a:lnTo>
                  <a:pt x="456819" y="139268"/>
                </a:lnTo>
                <a:lnTo>
                  <a:pt x="447014" y="123380"/>
                </a:lnTo>
                <a:lnTo>
                  <a:pt x="443484" y="103644"/>
                </a:lnTo>
                <a:lnTo>
                  <a:pt x="447014" y="89966"/>
                </a:lnTo>
                <a:lnTo>
                  <a:pt x="456819" y="77736"/>
                </a:lnTo>
                <a:lnTo>
                  <a:pt x="471779" y="68922"/>
                </a:lnTo>
                <a:lnTo>
                  <a:pt x="490728" y="65544"/>
                </a:lnTo>
                <a:lnTo>
                  <a:pt x="515861" y="69062"/>
                </a:lnTo>
                <a:lnTo>
                  <a:pt x="533984" y="78879"/>
                </a:lnTo>
                <a:lnTo>
                  <a:pt x="544957" y="93827"/>
                </a:lnTo>
                <a:lnTo>
                  <a:pt x="548652" y="112788"/>
                </a:lnTo>
                <a:lnTo>
                  <a:pt x="538048" y="123380"/>
                </a:lnTo>
                <a:lnTo>
                  <a:pt x="670572" y="123380"/>
                </a:lnTo>
                <a:lnTo>
                  <a:pt x="670572" y="103644"/>
                </a:lnTo>
                <a:close/>
              </a:path>
              <a:path w="1039495" h="425450">
                <a:moveTo>
                  <a:pt x="1039380" y="103632"/>
                </a:moveTo>
                <a:lnTo>
                  <a:pt x="1030973" y="59804"/>
                </a:lnTo>
                <a:lnTo>
                  <a:pt x="1007567" y="27241"/>
                </a:lnTo>
                <a:lnTo>
                  <a:pt x="971867" y="6985"/>
                </a:lnTo>
                <a:lnTo>
                  <a:pt x="926604" y="0"/>
                </a:lnTo>
                <a:lnTo>
                  <a:pt x="882789" y="5410"/>
                </a:lnTo>
                <a:lnTo>
                  <a:pt x="837831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60" y="85344"/>
                </a:lnTo>
                <a:lnTo>
                  <a:pt x="860856" y="87236"/>
                </a:lnTo>
                <a:lnTo>
                  <a:pt x="875741" y="93535"/>
                </a:lnTo>
                <a:lnTo>
                  <a:pt x="885190" y="105283"/>
                </a:lnTo>
                <a:lnTo>
                  <a:pt x="888504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61" y="142875"/>
                </a:lnTo>
                <a:lnTo>
                  <a:pt x="884643" y="155600"/>
                </a:lnTo>
                <a:lnTo>
                  <a:pt x="879360" y="169164"/>
                </a:lnTo>
                <a:lnTo>
                  <a:pt x="822972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60" y="405384"/>
                </a:lnTo>
                <a:lnTo>
                  <a:pt x="1021092" y="179832"/>
                </a:lnTo>
                <a:lnTo>
                  <a:pt x="1030236" y="141732"/>
                </a:lnTo>
                <a:lnTo>
                  <a:pt x="1035519" y="133210"/>
                </a:lnTo>
                <a:lnTo>
                  <a:pt x="1038237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80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0823" y="426127"/>
            <a:ext cx="6956753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3211" y="1467715"/>
            <a:ext cx="8961755" cy="5255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75500" y="2875359"/>
            <a:ext cx="7908290" cy="3363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-3810" algn="ctr">
              <a:lnSpc>
                <a:spcPct val="100600"/>
              </a:lnSpc>
              <a:spcBef>
                <a:spcPts val="90"/>
              </a:spcBef>
            </a:pP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r>
              <a:rPr sz="35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I:</a:t>
            </a:r>
            <a:r>
              <a:rPr sz="35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Strain</a:t>
            </a:r>
            <a:r>
              <a:rPr sz="35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Gauge</a:t>
            </a:r>
            <a:r>
              <a:rPr sz="35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Sensors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(Piezoresistive</a:t>
            </a:r>
            <a:r>
              <a:rPr sz="3500" b="1" spc="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&amp;</a:t>
            </a:r>
            <a:r>
              <a:rPr sz="3500" b="1" spc="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Piezoelectric)</a:t>
            </a:r>
            <a:endParaRPr sz="3500" dirty="0">
              <a:latin typeface="Verdana"/>
              <a:cs typeface="Verdana"/>
            </a:endParaRPr>
          </a:p>
          <a:p>
            <a:pPr marL="2620010" marR="2613025" algn="ctr">
              <a:lnSpc>
                <a:spcPct val="121600"/>
              </a:lnSpc>
              <a:spcBef>
                <a:spcPts val="3254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500" spc="12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500" spc="-4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500" spc="-8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US" sz="2500" dirty="0">
                <a:solidFill>
                  <a:srgbClr val="808080"/>
                </a:solidFill>
                <a:latin typeface="Verdana"/>
                <a:cs typeface="Verdana"/>
              </a:rPr>
              <a:t>C. Annadurai</a:t>
            </a:r>
            <a:endParaRPr sz="2500" dirty="0">
              <a:latin typeface="Verdana"/>
              <a:cs typeface="Verdana"/>
            </a:endParaRPr>
          </a:p>
          <a:p>
            <a:pPr marL="1287780" marR="1280795" algn="ctr">
              <a:lnSpc>
                <a:spcPts val="3650"/>
              </a:lnSpc>
              <a:spcBef>
                <a:spcPts val="90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500" spc="11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500" spc="1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9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500" spc="3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500" spc="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60"/>
                </a:moveTo>
                <a:lnTo>
                  <a:pt x="0" y="192786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60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387" y="871727"/>
            <a:ext cx="9185275" cy="40894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2650" dirty="0">
                <a:solidFill>
                  <a:srgbClr val="FF0000"/>
                </a:solidFill>
              </a:rPr>
              <a:t>UEC</a:t>
            </a:r>
            <a:r>
              <a:rPr lang="en-US" sz="2650" dirty="0">
                <a:solidFill>
                  <a:srgbClr val="FF0000"/>
                </a:solidFill>
              </a:rPr>
              <a:t>3942</a:t>
            </a:r>
            <a:r>
              <a:rPr sz="2650" dirty="0">
                <a:solidFill>
                  <a:srgbClr val="FF0000"/>
                </a:solidFill>
              </a:rPr>
              <a:t>:</a:t>
            </a:r>
            <a:r>
              <a:rPr sz="2650" spc="-7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Introduction</a:t>
            </a:r>
            <a:r>
              <a:rPr sz="2650" spc="-13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to</a:t>
            </a:r>
            <a:r>
              <a:rPr sz="2650" spc="-12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Sensors</a:t>
            </a:r>
            <a:r>
              <a:rPr sz="2650" spc="-120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and</a:t>
            </a:r>
            <a:r>
              <a:rPr sz="2650" spc="-130" dirty="0">
                <a:solidFill>
                  <a:srgbClr val="FF0000"/>
                </a:solidFill>
              </a:rPr>
              <a:t> </a:t>
            </a:r>
            <a:r>
              <a:rPr sz="2650" spc="-10" dirty="0">
                <a:solidFill>
                  <a:srgbClr val="FF0000"/>
                </a:solidFill>
              </a:rPr>
              <a:t>Actuators</a:t>
            </a:r>
            <a:endParaRPr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6"/>
            <a:ext cx="750125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522605" algn="l"/>
                <a:tab pos="1186180" algn="l"/>
                <a:tab pos="1914525" algn="l"/>
                <a:tab pos="1958975" algn="l"/>
                <a:tab pos="2393950" algn="l"/>
                <a:tab pos="2773045" algn="l"/>
                <a:tab pos="3060700" algn="l"/>
                <a:tab pos="4243070" algn="l"/>
                <a:tab pos="4399280" algn="l"/>
                <a:tab pos="5060315" algn="l"/>
                <a:tab pos="6474460" algn="l"/>
                <a:tab pos="7148830" algn="l"/>
              </a:tabLst>
            </a:pPr>
            <a:r>
              <a:rPr sz="2200" spc="-25" dirty="0">
                <a:latin typeface="Verdana"/>
                <a:cs typeface="Verdana"/>
              </a:rPr>
              <a:t>At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end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session,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students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will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35" dirty="0">
                <a:latin typeface="Verdana"/>
                <a:cs typeface="Verdana"/>
              </a:rPr>
              <a:t>be </a:t>
            </a:r>
            <a:r>
              <a:rPr sz="2200" spc="-10" dirty="0">
                <a:latin typeface="Verdana"/>
                <a:cs typeface="Verdana"/>
              </a:rPr>
              <a:t>understand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working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principle,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79848" y="1843529"/>
            <a:ext cx="11010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0260" algn="l"/>
              </a:tabLst>
            </a:pPr>
            <a:r>
              <a:rPr sz="2200" spc="-20" dirty="0">
                <a:latin typeface="Verdana"/>
                <a:cs typeface="Verdana"/>
              </a:rPr>
              <a:t>able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to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9849" y="2346430"/>
            <a:ext cx="29102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79980" algn="l"/>
              </a:tabLst>
            </a:pPr>
            <a:r>
              <a:rPr sz="2200" spc="-10" dirty="0">
                <a:latin typeface="Verdana"/>
                <a:cs typeface="Verdana"/>
              </a:rPr>
              <a:t>characteristics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0836" y="2849332"/>
            <a:ext cx="51612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gauge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8528" y="426127"/>
            <a:ext cx="936117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Introduction</a:t>
            </a:r>
            <a:r>
              <a:rPr spc="-4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Stress</a:t>
            </a:r>
            <a:r>
              <a:rPr spc="-4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Strain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7488" y="1695770"/>
            <a:ext cx="8981440" cy="27412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25120" marR="5715" indent="-313055" algn="just">
              <a:lnSpc>
                <a:spcPct val="152300"/>
              </a:lnSpc>
              <a:spcBef>
                <a:spcPts val="90"/>
              </a:spcBef>
              <a:buFont typeface="Wingdings"/>
              <a:buChar char=""/>
              <a:tabLst>
                <a:tab pos="326390" algn="l"/>
              </a:tabLst>
            </a:pPr>
            <a:r>
              <a:rPr sz="1950" b="1" dirty="0">
                <a:latin typeface="Verdana"/>
                <a:cs typeface="Verdana"/>
              </a:rPr>
              <a:t>Confusion</a:t>
            </a:r>
            <a:r>
              <a:rPr sz="1950" b="1" spc="60" dirty="0">
                <a:latin typeface="Verdana"/>
                <a:cs typeface="Verdana"/>
              </a:rPr>
              <a:t>  </a:t>
            </a:r>
            <a:r>
              <a:rPr sz="1950" b="1" dirty="0">
                <a:latin typeface="Verdana"/>
                <a:cs typeface="Verdana"/>
              </a:rPr>
              <a:t>in</a:t>
            </a:r>
            <a:r>
              <a:rPr sz="1950" b="1" spc="55" dirty="0">
                <a:latin typeface="Verdana"/>
                <a:cs typeface="Verdana"/>
              </a:rPr>
              <a:t>  </a:t>
            </a:r>
            <a:r>
              <a:rPr sz="1950" b="1" dirty="0">
                <a:latin typeface="Verdana"/>
                <a:cs typeface="Verdana"/>
              </a:rPr>
              <a:t>Terms:</a:t>
            </a:r>
            <a:r>
              <a:rPr sz="1950" b="1" spc="5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Stress</a:t>
            </a:r>
            <a:r>
              <a:rPr sz="1950" spc="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4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strain</a:t>
            </a:r>
            <a:r>
              <a:rPr sz="1950" spc="4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are</a:t>
            </a:r>
            <a:r>
              <a:rPr sz="1950" spc="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often</a:t>
            </a:r>
            <a:r>
              <a:rPr sz="1950" spc="3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confused</a:t>
            </a:r>
            <a:r>
              <a:rPr sz="1950" spc="45" dirty="0">
                <a:latin typeface="Verdana"/>
                <a:cs typeface="Verdana"/>
              </a:rPr>
              <a:t>  </a:t>
            </a:r>
            <a:r>
              <a:rPr sz="1950" spc="-25" dirty="0">
                <a:latin typeface="Verdana"/>
                <a:cs typeface="Verdana"/>
              </a:rPr>
              <a:t>in 	</a:t>
            </a:r>
            <a:r>
              <a:rPr sz="1950" dirty="0">
                <a:latin typeface="Verdana"/>
                <a:cs typeface="Verdana"/>
              </a:rPr>
              <a:t>everyday</a:t>
            </a:r>
            <a:r>
              <a:rPr sz="1950" spc="155" dirty="0">
                <a:latin typeface="Verdana"/>
                <a:cs typeface="Verdana"/>
              </a:rPr>
              <a:t>   </a:t>
            </a:r>
            <a:r>
              <a:rPr sz="1950" dirty="0">
                <a:latin typeface="Verdana"/>
                <a:cs typeface="Verdana"/>
              </a:rPr>
              <a:t>language,</a:t>
            </a:r>
            <a:r>
              <a:rPr sz="1950" spc="160" dirty="0">
                <a:latin typeface="Verdana"/>
                <a:cs typeface="Verdana"/>
              </a:rPr>
              <a:t>   </a:t>
            </a:r>
            <a:r>
              <a:rPr sz="1950" dirty="0">
                <a:latin typeface="Verdana"/>
                <a:cs typeface="Verdana"/>
              </a:rPr>
              <a:t>but</a:t>
            </a:r>
            <a:r>
              <a:rPr sz="1950" spc="160" dirty="0">
                <a:latin typeface="Verdana"/>
                <a:cs typeface="Verdana"/>
              </a:rPr>
              <a:t>   </a:t>
            </a:r>
            <a:r>
              <a:rPr sz="1950" dirty="0">
                <a:latin typeface="Verdana"/>
                <a:cs typeface="Verdana"/>
              </a:rPr>
              <a:t>they</a:t>
            </a:r>
            <a:r>
              <a:rPr sz="1950" spc="160" dirty="0">
                <a:latin typeface="Verdana"/>
                <a:cs typeface="Verdana"/>
              </a:rPr>
              <a:t>   </a:t>
            </a:r>
            <a:r>
              <a:rPr sz="1950" dirty="0">
                <a:latin typeface="Verdana"/>
                <a:cs typeface="Verdana"/>
              </a:rPr>
              <a:t>have</a:t>
            </a:r>
            <a:r>
              <a:rPr sz="1950" spc="160" dirty="0">
                <a:latin typeface="Verdana"/>
                <a:cs typeface="Verdana"/>
              </a:rPr>
              <a:t>   </a:t>
            </a:r>
            <a:r>
              <a:rPr sz="1950" dirty="0">
                <a:latin typeface="Verdana"/>
                <a:cs typeface="Verdana"/>
              </a:rPr>
              <a:t>distinct</a:t>
            </a:r>
            <a:r>
              <a:rPr sz="1950" spc="165" dirty="0">
                <a:latin typeface="Verdana"/>
                <a:cs typeface="Verdana"/>
              </a:rPr>
              <a:t>   </a:t>
            </a:r>
            <a:r>
              <a:rPr sz="1950" dirty="0">
                <a:latin typeface="Verdana"/>
                <a:cs typeface="Verdana"/>
              </a:rPr>
              <a:t>definitions</a:t>
            </a:r>
            <a:r>
              <a:rPr sz="1950" spc="165" dirty="0">
                <a:latin typeface="Verdana"/>
                <a:cs typeface="Verdana"/>
              </a:rPr>
              <a:t>   </a:t>
            </a:r>
            <a:r>
              <a:rPr sz="1950" spc="-25" dirty="0">
                <a:latin typeface="Verdana"/>
                <a:cs typeface="Verdana"/>
              </a:rPr>
              <a:t>in 	</a:t>
            </a:r>
            <a:r>
              <a:rPr sz="1950" spc="-10" dirty="0">
                <a:latin typeface="Verdana"/>
                <a:cs typeface="Verdana"/>
              </a:rPr>
              <a:t>physics/engineering.</a:t>
            </a:r>
            <a:endParaRPr sz="1950">
              <a:latin typeface="Verdana"/>
              <a:cs typeface="Verdana"/>
            </a:endParaRPr>
          </a:p>
          <a:p>
            <a:pPr marL="325755" indent="-313055" algn="just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b="1" dirty="0">
                <a:latin typeface="Verdana"/>
                <a:cs typeface="Verdana"/>
              </a:rPr>
              <a:t>Defining</a:t>
            </a:r>
            <a:r>
              <a:rPr sz="1950" b="1" spc="55" dirty="0">
                <a:latin typeface="Verdana"/>
                <a:cs typeface="Verdana"/>
              </a:rPr>
              <a:t> </a:t>
            </a:r>
            <a:r>
              <a:rPr sz="1950" b="1" dirty="0">
                <a:latin typeface="Verdana"/>
                <a:cs typeface="Verdana"/>
              </a:rPr>
              <a:t>Strain:</a:t>
            </a:r>
            <a:r>
              <a:rPr sz="1950" b="1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Strain</a:t>
            </a:r>
            <a:r>
              <a:rPr sz="1950" spc="3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is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result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stress.</a:t>
            </a:r>
            <a:endParaRPr sz="1950">
              <a:latin typeface="Verdana"/>
              <a:cs typeface="Verdana"/>
            </a:endParaRPr>
          </a:p>
          <a:p>
            <a:pPr marL="325120" marR="5080" indent="-313055" algn="just">
              <a:lnSpc>
                <a:spcPct val="152300"/>
              </a:lnSpc>
              <a:buFont typeface="Wingdings"/>
              <a:buChar char=""/>
              <a:tabLst>
                <a:tab pos="326390" algn="l"/>
              </a:tabLst>
            </a:pPr>
            <a:r>
              <a:rPr sz="1950" b="1" dirty="0">
                <a:latin typeface="Verdana"/>
                <a:cs typeface="Verdana"/>
              </a:rPr>
              <a:t>Formula:</a:t>
            </a:r>
            <a:r>
              <a:rPr sz="1950" b="1" spc="3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It</a:t>
            </a:r>
            <a:r>
              <a:rPr sz="1950" spc="32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is</a:t>
            </a:r>
            <a:r>
              <a:rPr sz="1950" spc="30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defined</a:t>
            </a:r>
            <a:r>
              <a:rPr sz="1950" spc="32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as</a:t>
            </a:r>
            <a:r>
              <a:rPr sz="1950" spc="3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2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fractional</a:t>
            </a:r>
            <a:r>
              <a:rPr sz="1950" spc="3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change</a:t>
            </a:r>
            <a:r>
              <a:rPr sz="1950" spc="31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2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31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dimensions 	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3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</a:t>
            </a:r>
            <a:r>
              <a:rPr sz="1950" spc="3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object.</a:t>
            </a:r>
            <a:endParaRPr sz="195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7151" y="4545785"/>
            <a:ext cx="3424708" cy="5315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46813" y="124572"/>
            <a:ext cx="576516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165" marR="5080" indent="-800100">
              <a:lnSpc>
                <a:spcPct val="1002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Nature</a:t>
            </a:r>
            <a:r>
              <a:rPr spc="-2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Strain Measurements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0828" y="1789548"/>
            <a:ext cx="898652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635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Dimensionless</a:t>
            </a:r>
            <a:r>
              <a:rPr sz="2200" b="1" spc="140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Quantity:</a:t>
            </a:r>
            <a:r>
              <a:rPr sz="2200" b="1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pure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number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no </a:t>
            </a:r>
            <a:r>
              <a:rPr sz="2200" dirty="0">
                <a:latin typeface="Verdana"/>
                <a:cs typeface="Verdana"/>
              </a:rPr>
              <a:t>physical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dimensions.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2416810" algn="l"/>
                <a:tab pos="2815590" algn="l"/>
                <a:tab pos="4469765" algn="l"/>
                <a:tab pos="5150485" algn="l"/>
                <a:tab pos="6198870" algn="l"/>
                <a:tab pos="7375525" algn="l"/>
                <a:tab pos="7886065" algn="l"/>
              </a:tabLst>
            </a:pPr>
            <a:r>
              <a:rPr sz="2200" b="1" spc="-10" dirty="0">
                <a:latin typeface="Verdana"/>
                <a:cs typeface="Verdana"/>
              </a:rPr>
              <a:t>Calculation: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represents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one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length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divided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by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another (e.g.,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length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/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original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length).</a:t>
            </a:r>
            <a:endParaRPr sz="2200">
              <a:latin typeface="Verdana"/>
              <a:cs typeface="Verdana"/>
            </a:endParaRPr>
          </a:p>
          <a:p>
            <a:pPr marL="390525" marR="825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2546985" algn="l"/>
              </a:tabLst>
            </a:pPr>
            <a:r>
              <a:rPr sz="2200" b="1" spc="-10" dirty="0">
                <a:latin typeface="Verdana"/>
                <a:cs typeface="Verdana"/>
              </a:rPr>
              <a:t>Significance: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measurement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allows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calculation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stress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object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if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elastic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modulus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known.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88916" y="426127"/>
            <a:ext cx="428180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Types</a:t>
            </a:r>
            <a:r>
              <a:rPr spc="-6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spc="-10" dirty="0"/>
              <a:t>Strain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8555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Linear</a:t>
            </a:r>
            <a:r>
              <a:rPr sz="2200" b="1" spc="-40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Strain:</a:t>
            </a:r>
            <a:r>
              <a:rPr sz="2200" b="1" spc="5" dirty="0">
                <a:latin typeface="Verdana"/>
                <a:cs typeface="Verdana"/>
              </a:rPr>
              <a:t> </a:t>
            </a:r>
            <a:r>
              <a:rPr sz="2200" dirty="0"/>
              <a:t>Change</a:t>
            </a:r>
            <a:r>
              <a:rPr sz="2200" spc="-35" dirty="0"/>
              <a:t> </a:t>
            </a:r>
            <a:r>
              <a:rPr sz="2200" dirty="0"/>
              <a:t>in</a:t>
            </a:r>
            <a:r>
              <a:rPr sz="2200" spc="-55" dirty="0"/>
              <a:t> </a:t>
            </a:r>
            <a:r>
              <a:rPr sz="2200" dirty="0"/>
              <a:t>length</a:t>
            </a:r>
            <a:r>
              <a:rPr sz="2200" spc="-50" dirty="0"/>
              <a:t> </a:t>
            </a:r>
            <a:r>
              <a:rPr sz="2200" dirty="0"/>
              <a:t>divided</a:t>
            </a:r>
            <a:r>
              <a:rPr sz="2200" spc="-30" dirty="0"/>
              <a:t> </a:t>
            </a:r>
            <a:r>
              <a:rPr sz="2200" dirty="0"/>
              <a:t>by</a:t>
            </a:r>
            <a:r>
              <a:rPr sz="2200" spc="-50" dirty="0"/>
              <a:t> </a:t>
            </a:r>
            <a:r>
              <a:rPr sz="2200" dirty="0"/>
              <a:t>original</a:t>
            </a:r>
            <a:r>
              <a:rPr sz="2200" spc="-50" dirty="0"/>
              <a:t> </a:t>
            </a:r>
            <a:r>
              <a:rPr sz="2200" spc="-10" dirty="0"/>
              <a:t>length.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Area</a:t>
            </a:r>
            <a:r>
              <a:rPr sz="2200" b="1" spc="170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Strain:</a:t>
            </a:r>
            <a:r>
              <a:rPr sz="2200" b="1" spc="190" dirty="0">
                <a:latin typeface="Verdana"/>
                <a:cs typeface="Verdana"/>
              </a:rPr>
              <a:t> </a:t>
            </a:r>
            <a:r>
              <a:rPr sz="2200" dirty="0"/>
              <a:t>Defined</a:t>
            </a:r>
            <a:r>
              <a:rPr sz="2200" spc="140" dirty="0"/>
              <a:t> </a:t>
            </a:r>
            <a:r>
              <a:rPr sz="2200" dirty="0"/>
              <a:t>as</a:t>
            </a:r>
            <a:r>
              <a:rPr sz="2200" spc="150" dirty="0"/>
              <a:t> </a:t>
            </a:r>
            <a:r>
              <a:rPr sz="2200" dirty="0"/>
              <a:t>the</a:t>
            </a:r>
            <a:r>
              <a:rPr sz="2200" spc="155" dirty="0"/>
              <a:t> </a:t>
            </a:r>
            <a:r>
              <a:rPr sz="2200" dirty="0"/>
              <a:t>change</a:t>
            </a:r>
            <a:r>
              <a:rPr sz="2200" spc="160" dirty="0"/>
              <a:t> </a:t>
            </a:r>
            <a:r>
              <a:rPr sz="2200" dirty="0"/>
              <a:t>of</a:t>
            </a:r>
            <a:r>
              <a:rPr sz="2200" spc="165" dirty="0"/>
              <a:t> </a:t>
            </a:r>
            <a:r>
              <a:rPr sz="2200" dirty="0"/>
              <a:t>area</a:t>
            </a:r>
            <a:r>
              <a:rPr sz="2200" spc="170" dirty="0"/>
              <a:t> </a:t>
            </a:r>
            <a:r>
              <a:rPr sz="2200" dirty="0"/>
              <a:t>divided</a:t>
            </a:r>
            <a:r>
              <a:rPr sz="2200" spc="160" dirty="0"/>
              <a:t> </a:t>
            </a:r>
            <a:r>
              <a:rPr sz="2200" dirty="0"/>
              <a:t>by</a:t>
            </a:r>
            <a:r>
              <a:rPr sz="2200" spc="145" dirty="0"/>
              <a:t> </a:t>
            </a:r>
            <a:r>
              <a:rPr sz="2200" spc="-25" dirty="0"/>
              <a:t>the </a:t>
            </a:r>
            <a:r>
              <a:rPr sz="2200" dirty="0"/>
              <a:t>original</a:t>
            </a:r>
            <a:r>
              <a:rPr sz="2200" spc="-55" dirty="0"/>
              <a:t> </a:t>
            </a:r>
            <a:r>
              <a:rPr sz="2200" spc="-20" dirty="0"/>
              <a:t>area.</a:t>
            </a:r>
            <a:endParaRPr sz="2200">
              <a:latin typeface="Verdana"/>
              <a:cs typeface="Verdana"/>
            </a:endParaRPr>
          </a:p>
          <a:p>
            <a:pPr marL="390525" marR="825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1717675" algn="l"/>
                <a:tab pos="2922905" algn="l"/>
                <a:tab pos="4601845" algn="l"/>
                <a:tab pos="6765925" algn="l"/>
                <a:tab pos="7937500" algn="l"/>
              </a:tabLst>
            </a:pPr>
            <a:r>
              <a:rPr sz="2200" b="1" spc="-10" dirty="0">
                <a:latin typeface="Verdana"/>
                <a:cs typeface="Verdana"/>
              </a:rPr>
              <a:t>Volume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b="1" spc="-10" dirty="0">
                <a:latin typeface="Verdana"/>
                <a:cs typeface="Verdana"/>
              </a:rPr>
              <a:t>Strain: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dirty="0"/>
              <a:t>Defined</a:t>
            </a:r>
            <a:r>
              <a:rPr sz="2200" spc="300" dirty="0"/>
              <a:t> </a:t>
            </a:r>
            <a:r>
              <a:rPr sz="2200" spc="-25" dirty="0"/>
              <a:t>as</a:t>
            </a:r>
            <a:r>
              <a:rPr sz="2200" dirty="0"/>
              <a:t>	the</a:t>
            </a:r>
            <a:r>
              <a:rPr sz="2200" spc="325" dirty="0"/>
              <a:t> </a:t>
            </a:r>
            <a:r>
              <a:rPr sz="2200" dirty="0"/>
              <a:t>change</a:t>
            </a:r>
            <a:r>
              <a:rPr sz="2200" spc="325" dirty="0"/>
              <a:t> </a:t>
            </a:r>
            <a:r>
              <a:rPr sz="2200" spc="-25" dirty="0"/>
              <a:t>of</a:t>
            </a:r>
            <a:r>
              <a:rPr sz="2200" dirty="0"/>
              <a:t>	</a:t>
            </a:r>
            <a:r>
              <a:rPr sz="2200" spc="-10" dirty="0"/>
              <a:t>volume</a:t>
            </a:r>
            <a:r>
              <a:rPr sz="2200" dirty="0"/>
              <a:t>	</a:t>
            </a:r>
            <a:r>
              <a:rPr sz="2200" spc="-10" dirty="0"/>
              <a:t>divided </a:t>
            </a:r>
            <a:r>
              <a:rPr sz="2200" dirty="0"/>
              <a:t>by</a:t>
            </a:r>
            <a:r>
              <a:rPr sz="2200" spc="-20" dirty="0"/>
              <a:t> </a:t>
            </a:r>
            <a:r>
              <a:rPr sz="2200" dirty="0"/>
              <a:t>the</a:t>
            </a:r>
            <a:r>
              <a:rPr sz="2200" spc="-45" dirty="0"/>
              <a:t> </a:t>
            </a:r>
            <a:r>
              <a:rPr sz="2200" dirty="0"/>
              <a:t>original</a:t>
            </a:r>
            <a:r>
              <a:rPr sz="2200" spc="-40" dirty="0"/>
              <a:t> </a:t>
            </a:r>
            <a:r>
              <a:rPr sz="2200" spc="-10" dirty="0"/>
              <a:t>volume.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Applications:</a:t>
            </a:r>
            <a:r>
              <a:rPr sz="2200" b="1" spc="-55" dirty="0">
                <a:latin typeface="Verdana"/>
                <a:cs typeface="Verdana"/>
              </a:rPr>
              <a:t> </a:t>
            </a:r>
            <a:r>
              <a:rPr sz="2200" dirty="0"/>
              <a:t>Common</a:t>
            </a:r>
            <a:r>
              <a:rPr sz="2200" spc="-80" dirty="0"/>
              <a:t> </a:t>
            </a:r>
            <a:r>
              <a:rPr sz="2200" dirty="0"/>
              <a:t>strain</a:t>
            </a:r>
            <a:r>
              <a:rPr sz="2200" spc="-80" dirty="0"/>
              <a:t> </a:t>
            </a:r>
            <a:r>
              <a:rPr sz="2200" dirty="0"/>
              <a:t>transducers</a:t>
            </a:r>
            <a:r>
              <a:rPr sz="2200" spc="-95" dirty="0"/>
              <a:t> </a:t>
            </a:r>
            <a:r>
              <a:rPr sz="2200" dirty="0"/>
              <a:t>typically</a:t>
            </a:r>
            <a:r>
              <a:rPr sz="2200" spc="-100" dirty="0"/>
              <a:t> </a:t>
            </a:r>
            <a:r>
              <a:rPr sz="2200" dirty="0"/>
              <a:t>focus</a:t>
            </a:r>
            <a:r>
              <a:rPr sz="2200" spc="-80" dirty="0"/>
              <a:t> </a:t>
            </a:r>
            <a:r>
              <a:rPr sz="2200" spc="-25" dirty="0"/>
              <a:t>on </a:t>
            </a:r>
            <a:r>
              <a:rPr sz="2200" dirty="0"/>
              <a:t>tensile</a:t>
            </a:r>
            <a:r>
              <a:rPr sz="2200" spc="-95" dirty="0"/>
              <a:t> </a:t>
            </a:r>
            <a:r>
              <a:rPr sz="2200" dirty="0"/>
              <a:t>mechanical</a:t>
            </a:r>
            <a:r>
              <a:rPr sz="2200" spc="-75" dirty="0"/>
              <a:t> </a:t>
            </a:r>
            <a:r>
              <a:rPr sz="2200" spc="-10" dirty="0"/>
              <a:t>strain.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70005" y="426127"/>
            <a:ext cx="61175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Understanding</a:t>
            </a:r>
            <a:r>
              <a:rPr spc="-70" dirty="0"/>
              <a:t> </a:t>
            </a:r>
            <a:r>
              <a:rPr spc="-10" dirty="0"/>
              <a:t>Stress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8826" y="1530540"/>
            <a:ext cx="9068435" cy="254000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Definition:</a:t>
            </a:r>
            <a:r>
              <a:rPr sz="2200" b="1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Stress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defined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force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divided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area.</a:t>
            </a:r>
            <a:endParaRPr sz="2200">
              <a:latin typeface="Verdana"/>
              <a:cs typeface="Verdana"/>
            </a:endParaRPr>
          </a:p>
          <a:p>
            <a:pPr marL="390525" marR="698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Tensile</a:t>
            </a:r>
            <a:r>
              <a:rPr sz="2200" b="1" spc="6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Stress:</a:t>
            </a:r>
            <a:r>
              <a:rPr sz="2200" b="1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wire/bar,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applied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pulling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force </a:t>
            </a:r>
            <a:r>
              <a:rPr sz="2200" dirty="0">
                <a:latin typeface="Verdana"/>
                <a:cs typeface="Verdana"/>
              </a:rPr>
              <a:t>divided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cross-</a:t>
            </a:r>
            <a:r>
              <a:rPr sz="2200" dirty="0">
                <a:latin typeface="Verdana"/>
                <a:cs typeface="Verdana"/>
              </a:rPr>
              <a:t>sectional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area.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1229360" algn="l"/>
                <a:tab pos="2472055" algn="l"/>
              </a:tabLst>
            </a:pPr>
            <a:r>
              <a:rPr sz="2200" b="1" spc="-20" dirty="0">
                <a:latin typeface="Verdana"/>
                <a:cs typeface="Verdana"/>
              </a:rPr>
              <a:t>Bulk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b="1" spc="-10" dirty="0">
                <a:latin typeface="Verdana"/>
                <a:cs typeface="Verdana"/>
              </a:rPr>
              <a:t>Stress: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fluids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(liquids/gases),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bulk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stress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force </a:t>
            </a:r>
            <a:r>
              <a:rPr sz="2200" dirty="0">
                <a:latin typeface="Verdana"/>
                <a:cs typeface="Verdana"/>
              </a:rPr>
              <a:t>per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unit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area,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identical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applied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pressure.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42501" y="124572"/>
            <a:ext cx="617791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0" marR="5080" indent="-648335">
              <a:lnSpc>
                <a:spcPct val="100200"/>
              </a:lnSpc>
              <a:spcBef>
                <a:spcPts val="100"/>
              </a:spcBef>
            </a:pPr>
            <a:r>
              <a:rPr dirty="0"/>
              <a:t>Relationship</a:t>
            </a:r>
            <a:r>
              <a:rPr spc="-80" dirty="0"/>
              <a:t> </a:t>
            </a:r>
            <a:r>
              <a:rPr spc="-10" dirty="0"/>
              <a:t>Between </a:t>
            </a:r>
            <a:r>
              <a:rPr dirty="0"/>
              <a:t>Stress</a:t>
            </a:r>
            <a:r>
              <a:rPr spc="-4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Strain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6702" y="1778926"/>
            <a:ext cx="9093200" cy="354647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Elastic</a:t>
            </a:r>
            <a:r>
              <a:rPr sz="2200" b="1" spc="-30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Modulus:</a:t>
            </a:r>
            <a:r>
              <a:rPr sz="2200" b="1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Defined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ratio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Stress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Strain.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Linearity:</a:t>
            </a:r>
            <a:r>
              <a:rPr sz="2200" b="1" spc="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amounts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strain,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proportional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stress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(linear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region).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Common</a:t>
            </a:r>
            <a:r>
              <a:rPr sz="2200" b="1" spc="-70" dirty="0">
                <a:latin typeface="Verdana"/>
                <a:cs typeface="Verdana"/>
              </a:rPr>
              <a:t> </a:t>
            </a:r>
            <a:r>
              <a:rPr sz="2200" b="1" spc="-10" dirty="0">
                <a:latin typeface="Verdana"/>
                <a:cs typeface="Verdana"/>
              </a:rPr>
              <a:t>Moduli:</a:t>
            </a:r>
            <a:endParaRPr sz="2200">
              <a:latin typeface="Verdana"/>
              <a:cs typeface="Verdana"/>
            </a:endParaRPr>
          </a:p>
          <a:p>
            <a:pPr marL="89281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2810" algn="l"/>
              </a:tabLst>
            </a:pPr>
            <a:r>
              <a:rPr sz="2200" b="1" dirty="0">
                <a:latin typeface="Verdana"/>
                <a:cs typeface="Verdana"/>
              </a:rPr>
              <a:t>Young's</a:t>
            </a:r>
            <a:r>
              <a:rPr sz="2200" b="1" spc="-4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Modulus:</a:t>
            </a:r>
            <a:r>
              <a:rPr sz="2200" b="1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Linear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stress/strain.</a:t>
            </a:r>
            <a:endParaRPr sz="2200">
              <a:latin typeface="Verdana"/>
              <a:cs typeface="Verdana"/>
            </a:endParaRPr>
          </a:p>
          <a:p>
            <a:pPr marL="89281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2810" algn="l"/>
              </a:tabLst>
            </a:pPr>
            <a:r>
              <a:rPr sz="2200" b="1" dirty="0">
                <a:latin typeface="Verdana"/>
                <a:cs typeface="Verdana"/>
              </a:rPr>
              <a:t>Shear</a:t>
            </a:r>
            <a:r>
              <a:rPr sz="2200" b="1" spc="-70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Modulus:</a:t>
            </a:r>
            <a:r>
              <a:rPr sz="2200" b="1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Twisting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stress/strain.</a:t>
            </a:r>
            <a:endParaRPr sz="2200">
              <a:latin typeface="Verdana"/>
              <a:cs typeface="Verdana"/>
            </a:endParaRPr>
          </a:p>
          <a:p>
            <a:pPr marL="89281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2810" algn="l"/>
              </a:tabLst>
            </a:pPr>
            <a:r>
              <a:rPr sz="2200" b="1" dirty="0">
                <a:latin typeface="Verdana"/>
                <a:cs typeface="Verdana"/>
              </a:rPr>
              <a:t>Bulk</a:t>
            </a:r>
            <a:r>
              <a:rPr sz="2200" b="1" spc="-5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Modulus:</a:t>
            </a:r>
            <a:r>
              <a:rPr sz="2200" b="1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stress/strain.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5677" y="426127"/>
            <a:ext cx="92671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Classic</a:t>
            </a:r>
            <a:r>
              <a:rPr spc="-55" dirty="0"/>
              <a:t> </a:t>
            </a:r>
            <a:r>
              <a:rPr dirty="0"/>
              <a:t>Mechanical</a:t>
            </a:r>
            <a:r>
              <a:rPr spc="-55" dirty="0"/>
              <a:t> </a:t>
            </a:r>
            <a:r>
              <a:rPr spc="-10" dirty="0"/>
              <a:t>Measurement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8068" y="1579290"/>
            <a:ext cx="5394325" cy="505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Method:</a:t>
            </a:r>
            <a:r>
              <a:rPr sz="2200" b="1" spc="30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8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classic</a:t>
            </a:r>
            <a:r>
              <a:rPr sz="2200" spc="285" dirty="0">
                <a:latin typeface="Verdana"/>
                <a:cs typeface="Verdana"/>
              </a:rPr>
              <a:t>   </a:t>
            </a:r>
            <a:r>
              <a:rPr sz="2200" spc="-10" dirty="0">
                <a:latin typeface="Verdana"/>
                <a:cs typeface="Verdana"/>
              </a:rPr>
              <a:t>method 	</a:t>
            </a:r>
            <a:r>
              <a:rPr sz="2200" dirty="0">
                <a:latin typeface="Verdana"/>
                <a:cs typeface="Verdana"/>
              </a:rPr>
              <a:t>involves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pair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long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wires: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one 	</a:t>
            </a:r>
            <a:r>
              <a:rPr sz="2200" dirty="0">
                <a:latin typeface="Verdana"/>
                <a:cs typeface="Verdana"/>
              </a:rPr>
              <a:t>loaded</a:t>
            </a:r>
            <a:r>
              <a:rPr sz="2200" spc="3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(being</a:t>
            </a:r>
            <a:r>
              <a:rPr sz="2200" spc="3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tested)</a:t>
            </a:r>
            <a:r>
              <a:rPr sz="2200" spc="3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31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one 	</a:t>
            </a:r>
            <a:r>
              <a:rPr sz="2200" dirty="0">
                <a:latin typeface="Verdana"/>
                <a:cs typeface="Verdana"/>
              </a:rPr>
              <a:t>reference</a:t>
            </a:r>
            <a:r>
              <a:rPr sz="2200" spc="-15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wire.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Instrumentation:</a:t>
            </a:r>
            <a:r>
              <a:rPr sz="2200" b="1" spc="43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Uses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vernier 	</a:t>
            </a:r>
            <a:r>
              <a:rPr sz="2200" dirty="0">
                <a:latin typeface="Verdana"/>
                <a:cs typeface="Verdana"/>
              </a:rPr>
              <a:t>scale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measure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change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in 	</a:t>
            </a:r>
            <a:r>
              <a:rPr sz="2200" spc="-10" dirty="0">
                <a:latin typeface="Verdana"/>
                <a:cs typeface="Verdana"/>
              </a:rPr>
              <a:t>length.</a:t>
            </a:r>
            <a:endParaRPr sz="2200">
              <a:latin typeface="Verdana"/>
              <a:cs typeface="Verdana"/>
            </a:endParaRPr>
          </a:p>
          <a:p>
            <a:pPr marL="389255" marR="698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Current</a:t>
            </a:r>
            <a:r>
              <a:rPr sz="2200" b="1" spc="3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Usage:</a:t>
            </a:r>
            <a:r>
              <a:rPr sz="2200" b="1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Primarily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for 	</a:t>
            </a:r>
            <a:r>
              <a:rPr sz="2200" dirty="0">
                <a:latin typeface="Verdana"/>
                <a:cs typeface="Verdana"/>
              </a:rPr>
              <a:t>school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demonstrations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calculate 	</a:t>
            </a:r>
            <a:r>
              <a:rPr sz="2200" dirty="0">
                <a:latin typeface="Verdana"/>
                <a:cs typeface="Verdana"/>
              </a:rPr>
              <a:t>Young's</a:t>
            </a:r>
            <a:r>
              <a:rPr sz="2200" spc="-1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modulus.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5040" y="1769364"/>
            <a:ext cx="3729227" cy="49667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4614" y="426127"/>
            <a:ext cx="80733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Challenges</a:t>
            </a:r>
            <a:r>
              <a:rPr spc="-7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Sensing</a:t>
            </a:r>
            <a:r>
              <a:rPr spc="-5" dirty="0"/>
              <a:t> </a:t>
            </a:r>
            <a:r>
              <a:rPr spc="-10" dirty="0"/>
              <a:t>Strain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61043"/>
            <a:ext cx="9128125" cy="354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marR="5080" indent="-313055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26390" algn="l"/>
              </a:tabLst>
            </a:pPr>
            <a:r>
              <a:rPr sz="2200" b="1" dirty="0">
                <a:latin typeface="Verdana"/>
                <a:cs typeface="Verdana"/>
              </a:rPr>
              <a:t>Small</a:t>
            </a:r>
            <a:r>
              <a:rPr sz="2200" b="1" spc="-100" dirty="0">
                <a:latin typeface="Verdana"/>
                <a:cs typeface="Verdana"/>
              </a:rPr>
              <a:t>  </a:t>
            </a:r>
            <a:r>
              <a:rPr sz="2200" b="1" dirty="0">
                <a:latin typeface="Verdana"/>
                <a:cs typeface="Verdana"/>
              </a:rPr>
              <a:t>Changes:</a:t>
            </a:r>
            <a:r>
              <a:rPr sz="2200" b="1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5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tensile</a:t>
            </a:r>
            <a:r>
              <a:rPr sz="2200" spc="5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</a:t>
            </a:r>
            <a:r>
              <a:rPr sz="2200" spc="5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involves</a:t>
            </a:r>
            <a:r>
              <a:rPr sz="2200" spc="5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measuring 	</a:t>
            </a:r>
            <a:r>
              <a:rPr sz="2200" dirty="0">
                <a:latin typeface="Verdana"/>
                <a:cs typeface="Verdana"/>
              </a:rPr>
              <a:t>very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sample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length.</a:t>
            </a:r>
            <a:endParaRPr sz="2200">
              <a:latin typeface="Verdana"/>
              <a:cs typeface="Verdana"/>
            </a:endParaRPr>
          </a:p>
          <a:p>
            <a:pPr marL="325120" marR="6350" indent="-313055" algn="just">
              <a:lnSpc>
                <a:spcPct val="150000"/>
              </a:lnSpc>
              <a:buFont typeface="Wingdings"/>
              <a:buChar char=""/>
              <a:tabLst>
                <a:tab pos="326390" algn="l"/>
              </a:tabLst>
            </a:pPr>
            <a:r>
              <a:rPr sz="2200" b="1" dirty="0">
                <a:latin typeface="Verdana"/>
                <a:cs typeface="Verdana"/>
              </a:rPr>
              <a:t>Temperature</a:t>
            </a:r>
            <a:r>
              <a:rPr sz="2200" b="1" spc="-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Effects: </a:t>
            </a:r>
            <a:r>
              <a:rPr sz="2200" spc="-20" dirty="0">
                <a:latin typeface="Verdana"/>
                <a:cs typeface="Verdana"/>
              </a:rPr>
              <a:t>Temperature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(0–30°C)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cause 	</a:t>
            </a:r>
            <a:r>
              <a:rPr sz="2200" dirty="0">
                <a:latin typeface="Verdana"/>
                <a:cs typeface="Verdana"/>
              </a:rPr>
              <a:t>expansion</a:t>
            </a:r>
            <a:r>
              <a:rPr sz="2200" spc="4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4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contraction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comparable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caused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by 	</a:t>
            </a:r>
            <a:r>
              <a:rPr sz="2200" dirty="0">
                <a:latin typeface="Verdana"/>
                <a:cs typeface="Verdana"/>
              </a:rPr>
              <a:t>large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stress.</a:t>
            </a:r>
            <a:endParaRPr sz="2200">
              <a:latin typeface="Verdana"/>
              <a:cs typeface="Verdana"/>
            </a:endParaRPr>
          </a:p>
          <a:p>
            <a:pPr marL="325120" marR="7620" indent="-313055" algn="just">
              <a:lnSpc>
                <a:spcPct val="150000"/>
              </a:lnSpc>
              <a:buFont typeface="Wingdings"/>
              <a:buChar char=""/>
              <a:tabLst>
                <a:tab pos="326390" algn="l"/>
              </a:tabLst>
            </a:pPr>
            <a:r>
              <a:rPr sz="2200" b="1" dirty="0">
                <a:latin typeface="Verdana"/>
                <a:cs typeface="Verdana"/>
              </a:rPr>
              <a:t>Requirement:</a:t>
            </a:r>
            <a:r>
              <a:rPr sz="2200" b="1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must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designed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compensate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for 	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ensure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accuracy.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74343" y="426127"/>
            <a:ext cx="67113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Main</a:t>
            </a:r>
            <a:r>
              <a:rPr spc="-40" dirty="0"/>
              <a:t> </a:t>
            </a:r>
            <a:r>
              <a:rPr dirty="0"/>
              <a:t>Sensing</a:t>
            </a:r>
            <a:r>
              <a:rPr spc="-20" dirty="0"/>
              <a:t> </a:t>
            </a:r>
            <a:r>
              <a:rPr spc="-10" dirty="0"/>
              <a:t>Principles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717919"/>
            <a:ext cx="921321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Two</a:t>
            </a:r>
            <a:r>
              <a:rPr sz="2200" b="1" spc="28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Primary</a:t>
            </a:r>
            <a:r>
              <a:rPr sz="2200" b="1" spc="27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Methods:</a:t>
            </a:r>
            <a:r>
              <a:rPr sz="2200" b="1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principles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sense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linear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area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generally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Piezoresistive</a:t>
            </a:r>
            <a:r>
              <a:rPr sz="2200" b="1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b="1" spc="-10" dirty="0">
                <a:latin typeface="Verdana"/>
                <a:cs typeface="Verdana"/>
              </a:rPr>
              <a:t>Piezoelectric</a:t>
            </a:r>
            <a:r>
              <a:rPr sz="2200" spc="-10" dirty="0"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1489075" algn="l"/>
                <a:tab pos="3325495" algn="l"/>
                <a:tab pos="4187190" algn="l"/>
                <a:tab pos="5233035" algn="l"/>
                <a:tab pos="6786245" algn="l"/>
                <a:tab pos="7793355" algn="l"/>
                <a:tab pos="8406765" algn="l"/>
              </a:tabLst>
            </a:pPr>
            <a:r>
              <a:rPr sz="2200" b="1" spc="-20" dirty="0">
                <a:latin typeface="Verdana"/>
                <a:cs typeface="Verdana"/>
              </a:rPr>
              <a:t>Most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b="1" spc="-10" dirty="0">
                <a:latin typeface="Verdana"/>
                <a:cs typeface="Verdana"/>
              </a:rPr>
              <a:t>Common: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most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common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form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strain </a:t>
            </a:r>
            <a:r>
              <a:rPr sz="2200" dirty="0">
                <a:latin typeface="Verdana"/>
                <a:cs typeface="Verdana"/>
              </a:rPr>
              <a:t>measurement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uses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resistive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gauges.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45011" y="426127"/>
            <a:ext cx="63690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Piezoresistive</a:t>
            </a:r>
            <a:r>
              <a:rPr spc="-60" dirty="0"/>
              <a:t> </a:t>
            </a:r>
            <a:r>
              <a:rPr spc="-10" dirty="0"/>
              <a:t>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7090" y="2239804"/>
            <a:ext cx="51200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24000" algn="l"/>
                <a:tab pos="2946400" algn="l"/>
                <a:tab pos="4625340" algn="l"/>
              </a:tabLst>
            </a:pPr>
            <a:r>
              <a:rPr sz="2200" spc="-10" dirty="0">
                <a:latin typeface="Verdana"/>
                <a:cs typeface="Verdana"/>
              </a:rPr>
              <a:t>measure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physical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quantities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like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3202" y="1568669"/>
            <a:ext cx="7045325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25755" indent="-313055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25755" algn="l"/>
                <a:tab pos="2473960" algn="l"/>
                <a:tab pos="3795395" algn="l"/>
                <a:tab pos="4504055" algn="l"/>
                <a:tab pos="5605780" algn="l"/>
              </a:tabLst>
            </a:pPr>
            <a:r>
              <a:rPr sz="2200" spc="-10" dirty="0">
                <a:latin typeface="Verdana"/>
                <a:cs typeface="Verdana"/>
              </a:rPr>
              <a:t>Piezoresistive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sensors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highly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sensitive</a:t>
            </a:r>
            <a:endParaRPr sz="22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Verdana"/>
                <a:cs typeface="Verdana"/>
              </a:rPr>
              <a:t>pressure,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7397" y="1568669"/>
            <a:ext cx="188404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marR="5080" indent="-243204">
              <a:lnSpc>
                <a:spcPct val="150000"/>
              </a:lnSpc>
              <a:spcBef>
                <a:spcPts val="100"/>
              </a:spcBef>
              <a:tabLst>
                <a:tab pos="1309370" algn="l"/>
                <a:tab pos="1351280" algn="l"/>
              </a:tabLst>
            </a:pPr>
            <a:r>
              <a:rPr sz="2200" spc="-10" dirty="0">
                <a:latin typeface="Verdana"/>
                <a:cs typeface="Verdana"/>
              </a:rPr>
              <a:t>devices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that </a:t>
            </a:r>
            <a:r>
              <a:rPr sz="2200" spc="-10" dirty="0">
                <a:latin typeface="Verdana"/>
                <a:cs typeface="Verdana"/>
              </a:rPr>
              <a:t>force,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25" dirty="0">
                <a:latin typeface="Verdana"/>
                <a:cs typeface="Verdana"/>
              </a:rPr>
              <a:t>and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3202" y="2574472"/>
            <a:ext cx="8959215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marR="5080">
              <a:lnSpc>
                <a:spcPct val="150000"/>
              </a:lnSpc>
              <a:spcBef>
                <a:spcPts val="100"/>
              </a:spcBef>
              <a:tabLst>
                <a:tab pos="2214245" algn="l"/>
                <a:tab pos="2758440" algn="l"/>
                <a:tab pos="4261485" algn="l"/>
                <a:tab pos="5616575" algn="l"/>
                <a:tab pos="6074410" algn="l"/>
                <a:tab pos="7529830" algn="l"/>
              </a:tabLst>
            </a:pPr>
            <a:r>
              <a:rPr sz="2200" spc="-10" dirty="0">
                <a:latin typeface="Verdana"/>
                <a:cs typeface="Verdana"/>
              </a:rPr>
              <a:t>acceleration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by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detecting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changes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electrical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resistance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mechanically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deformed.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2200">
              <a:latin typeface="Verdana"/>
              <a:cs typeface="Verdana"/>
            </a:endParaRPr>
          </a:p>
          <a:p>
            <a:pPr marL="325120" marR="5715" indent="-313055" algn="just">
              <a:lnSpc>
                <a:spcPct val="150000"/>
              </a:lnSpc>
              <a:buFont typeface="Wingdings"/>
              <a:buChar char=""/>
              <a:tabLst>
                <a:tab pos="326390" algn="l"/>
              </a:tabLst>
            </a:pPr>
            <a:r>
              <a:rPr sz="2200" dirty="0">
                <a:latin typeface="Verdana"/>
                <a:cs typeface="Verdana"/>
              </a:rPr>
              <a:t>They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among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most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widely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43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modern 	</a:t>
            </a:r>
            <a:r>
              <a:rPr sz="2200" dirty="0">
                <a:latin typeface="Verdana"/>
                <a:cs typeface="Verdana"/>
              </a:rPr>
              <a:t>industry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due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their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simple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design,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reliability,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ability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to 	</a:t>
            </a:r>
            <a:r>
              <a:rPr sz="2200" dirty="0">
                <a:latin typeface="Verdana"/>
                <a:cs typeface="Verdana"/>
              </a:rPr>
              <a:t>measure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both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static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dynamic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pressures.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4386" y="426127"/>
            <a:ext cx="461073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How</a:t>
            </a:r>
            <a:r>
              <a:rPr spc="-35" dirty="0"/>
              <a:t> </a:t>
            </a:r>
            <a:r>
              <a:rPr dirty="0"/>
              <a:t>they</a:t>
            </a:r>
            <a:r>
              <a:rPr spc="-25" dirty="0"/>
              <a:t> </a:t>
            </a:r>
            <a:r>
              <a:rPr spc="-10" dirty="0"/>
              <a:t>work?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0340" y="1291938"/>
            <a:ext cx="8960485" cy="5909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52300"/>
              </a:lnSpc>
              <a:spcBef>
                <a:spcPts val="90"/>
              </a:spcBef>
            </a:pPr>
            <a:r>
              <a:rPr sz="1950" dirty="0">
                <a:latin typeface="Verdana"/>
                <a:cs typeface="Verdana"/>
              </a:rPr>
              <a:t>The</a:t>
            </a:r>
            <a:r>
              <a:rPr sz="1950" spc="21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sensor</a:t>
            </a:r>
            <a:r>
              <a:rPr sz="1950" spc="22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operates</a:t>
            </a:r>
            <a:r>
              <a:rPr sz="1950" spc="21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based</a:t>
            </a:r>
            <a:r>
              <a:rPr sz="1950" spc="22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on</a:t>
            </a:r>
            <a:r>
              <a:rPr sz="1950" spc="22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22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piezoresistive</a:t>
            </a:r>
            <a:r>
              <a:rPr sz="1950" spc="22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effect,</a:t>
            </a:r>
            <a:r>
              <a:rPr sz="1950" spc="210" dirty="0">
                <a:latin typeface="Verdana"/>
                <a:cs typeface="Verdana"/>
              </a:rPr>
              <a:t>  </a:t>
            </a:r>
            <a:r>
              <a:rPr sz="1950" spc="-10" dirty="0">
                <a:latin typeface="Verdana"/>
                <a:cs typeface="Verdana"/>
              </a:rPr>
              <a:t>where </a:t>
            </a:r>
            <a:r>
              <a:rPr sz="1950" dirty="0">
                <a:latin typeface="Verdana"/>
                <a:cs typeface="Verdana"/>
              </a:rPr>
              <a:t>mechanical</a:t>
            </a:r>
            <a:r>
              <a:rPr sz="1950" spc="12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stress</a:t>
            </a:r>
            <a:r>
              <a:rPr sz="1950" spc="1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alters</a:t>
            </a:r>
            <a:r>
              <a:rPr sz="1950" spc="1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14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electrical</a:t>
            </a:r>
            <a:r>
              <a:rPr sz="1950" spc="1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resistivity</a:t>
            </a:r>
            <a:r>
              <a:rPr sz="1950" spc="13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14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125" dirty="0">
                <a:latin typeface="Verdana"/>
                <a:cs typeface="Verdana"/>
              </a:rPr>
              <a:t>  </a:t>
            </a:r>
            <a:r>
              <a:rPr sz="1950" spc="-10" dirty="0">
                <a:latin typeface="Verdana"/>
                <a:cs typeface="Verdana"/>
              </a:rPr>
              <a:t>material— </a:t>
            </a:r>
            <a:r>
              <a:rPr sz="1950" dirty="0">
                <a:latin typeface="Verdana"/>
                <a:cs typeface="Verdana"/>
              </a:rPr>
              <a:t>typically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semiconductor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like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silicon.</a:t>
            </a:r>
            <a:endParaRPr sz="1950">
              <a:latin typeface="Verdana"/>
              <a:cs typeface="Verdana"/>
            </a:endParaRPr>
          </a:p>
          <a:p>
            <a:pPr marL="325120" marR="6985" indent="-313055" algn="just">
              <a:lnSpc>
                <a:spcPct val="152300"/>
              </a:lnSpc>
              <a:spcBef>
                <a:spcPts val="5"/>
              </a:spcBef>
              <a:buFont typeface="Wingdings"/>
              <a:buChar char=""/>
              <a:tabLst>
                <a:tab pos="326390" algn="l"/>
              </a:tabLst>
            </a:pPr>
            <a:r>
              <a:rPr sz="1950" b="1" dirty="0">
                <a:latin typeface="Verdana"/>
                <a:cs typeface="Verdana"/>
              </a:rPr>
              <a:t>Mechanical</a:t>
            </a:r>
            <a:r>
              <a:rPr sz="1950" b="1" spc="280" dirty="0">
                <a:latin typeface="Verdana"/>
                <a:cs typeface="Verdana"/>
              </a:rPr>
              <a:t> </a:t>
            </a:r>
            <a:r>
              <a:rPr sz="1950" b="1" dirty="0">
                <a:latin typeface="Verdana"/>
                <a:cs typeface="Verdana"/>
              </a:rPr>
              <a:t>Interaction:</a:t>
            </a:r>
            <a:r>
              <a:rPr sz="1950" b="1" spc="2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Pressure</a:t>
            </a:r>
            <a:r>
              <a:rPr sz="1950" spc="2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is</a:t>
            </a:r>
            <a:r>
              <a:rPr sz="1950" spc="2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applied</a:t>
            </a:r>
            <a:r>
              <a:rPr sz="1950" spc="3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to</a:t>
            </a:r>
            <a:r>
              <a:rPr sz="1950" spc="2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2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thin</a:t>
            </a:r>
            <a:r>
              <a:rPr sz="1950" spc="28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diaphragm 	</a:t>
            </a:r>
            <a:r>
              <a:rPr sz="1950" dirty="0">
                <a:latin typeface="Verdana"/>
                <a:cs typeface="Verdana"/>
              </a:rPr>
              <a:t>(often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silicon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or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metal)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containing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integrated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resistors.</a:t>
            </a:r>
            <a:endParaRPr sz="1950">
              <a:latin typeface="Verdana"/>
              <a:cs typeface="Verdana"/>
            </a:endParaRPr>
          </a:p>
          <a:p>
            <a:pPr marL="325120" marR="6350" indent="-313055" algn="just">
              <a:lnSpc>
                <a:spcPct val="152300"/>
              </a:lnSpc>
              <a:buFont typeface="Wingdings"/>
              <a:buChar char=""/>
              <a:tabLst>
                <a:tab pos="326390" algn="l"/>
              </a:tabLst>
            </a:pPr>
            <a:r>
              <a:rPr sz="1950" b="1" dirty="0">
                <a:latin typeface="Verdana"/>
                <a:cs typeface="Verdana"/>
              </a:rPr>
              <a:t>Deformation:</a:t>
            </a:r>
            <a:r>
              <a:rPr sz="1950" b="1" spc="2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2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diaphragm</a:t>
            </a:r>
            <a:r>
              <a:rPr sz="1950" spc="2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flexes,</a:t>
            </a:r>
            <a:r>
              <a:rPr sz="1950" spc="2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causing</a:t>
            </a:r>
            <a:r>
              <a:rPr sz="1950" spc="2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mechanical</a:t>
            </a:r>
            <a:r>
              <a:rPr sz="1950" spc="2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strain</a:t>
            </a:r>
            <a:r>
              <a:rPr sz="1950" spc="270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in 	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resistors.</a:t>
            </a:r>
            <a:endParaRPr sz="1950">
              <a:latin typeface="Verdana"/>
              <a:cs typeface="Verdana"/>
            </a:endParaRPr>
          </a:p>
          <a:p>
            <a:pPr marL="325120" marR="5080" indent="-313055" algn="just">
              <a:lnSpc>
                <a:spcPct val="152300"/>
              </a:lnSpc>
              <a:buFont typeface="Wingdings"/>
              <a:buChar char=""/>
              <a:tabLst>
                <a:tab pos="326390" algn="l"/>
              </a:tabLst>
            </a:pPr>
            <a:r>
              <a:rPr sz="1950" b="1" dirty="0">
                <a:latin typeface="Verdana"/>
                <a:cs typeface="Verdana"/>
              </a:rPr>
              <a:t>Resistance</a:t>
            </a:r>
            <a:r>
              <a:rPr sz="1950" b="1" spc="305" dirty="0">
                <a:latin typeface="Verdana"/>
                <a:cs typeface="Verdana"/>
              </a:rPr>
              <a:t> </a:t>
            </a:r>
            <a:r>
              <a:rPr sz="1950" b="1" dirty="0">
                <a:latin typeface="Verdana"/>
                <a:cs typeface="Verdana"/>
              </a:rPr>
              <a:t>Change:</a:t>
            </a:r>
            <a:r>
              <a:rPr sz="1950" b="1" spc="3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This</a:t>
            </a:r>
            <a:r>
              <a:rPr sz="1950" spc="2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strain</a:t>
            </a:r>
            <a:r>
              <a:rPr sz="1950" spc="2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changes</a:t>
            </a:r>
            <a:r>
              <a:rPr sz="1950" spc="2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2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atomic</a:t>
            </a:r>
            <a:r>
              <a:rPr sz="1950" spc="2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or</a:t>
            </a:r>
            <a:r>
              <a:rPr sz="1950" spc="28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electronic 	</a:t>
            </a:r>
            <a:r>
              <a:rPr sz="1950" dirty="0">
                <a:latin typeface="Verdana"/>
                <a:cs typeface="Verdana"/>
              </a:rPr>
              <a:t>band</a:t>
            </a:r>
            <a:r>
              <a:rPr sz="1950" spc="2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structure</a:t>
            </a:r>
            <a:r>
              <a:rPr sz="1950" spc="2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2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2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material,</a:t>
            </a:r>
            <a:r>
              <a:rPr sz="1950" spc="2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leading</a:t>
            </a:r>
            <a:r>
              <a:rPr sz="1950" spc="2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to</a:t>
            </a:r>
            <a:r>
              <a:rPr sz="1950" spc="2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2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measurable</a:t>
            </a:r>
            <a:r>
              <a:rPr sz="1950" spc="2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change</a:t>
            </a:r>
            <a:r>
              <a:rPr sz="1950" spc="285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in 	</a:t>
            </a:r>
            <a:r>
              <a:rPr sz="1950" spc="-10" dirty="0">
                <a:latin typeface="Verdana"/>
                <a:cs typeface="Verdana"/>
              </a:rPr>
              <a:t>resistance.</a:t>
            </a:r>
            <a:endParaRPr sz="1950">
              <a:latin typeface="Verdana"/>
              <a:cs typeface="Verdana"/>
            </a:endParaRPr>
          </a:p>
          <a:p>
            <a:pPr marL="325120" marR="6350" indent="-313055" algn="just">
              <a:lnSpc>
                <a:spcPct val="152300"/>
              </a:lnSpc>
              <a:buFont typeface="Wingdings"/>
              <a:buChar char=""/>
              <a:tabLst>
                <a:tab pos="326390" algn="l"/>
              </a:tabLst>
            </a:pPr>
            <a:r>
              <a:rPr sz="1950" b="1" dirty="0">
                <a:latin typeface="Verdana"/>
                <a:cs typeface="Verdana"/>
              </a:rPr>
              <a:t>Signal</a:t>
            </a:r>
            <a:r>
              <a:rPr sz="1950" b="1" spc="190" dirty="0">
                <a:latin typeface="Verdana"/>
                <a:cs typeface="Verdana"/>
              </a:rPr>
              <a:t> </a:t>
            </a:r>
            <a:r>
              <a:rPr sz="1950" b="1" dirty="0">
                <a:latin typeface="Verdana"/>
                <a:cs typeface="Verdana"/>
              </a:rPr>
              <a:t>Conversion:</a:t>
            </a:r>
            <a:r>
              <a:rPr sz="1950" b="1" spc="2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1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Wheatstone</a:t>
            </a:r>
            <a:r>
              <a:rPr sz="1950" spc="1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bridge</a:t>
            </a:r>
            <a:r>
              <a:rPr sz="1950" spc="1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circuit</a:t>
            </a:r>
            <a:r>
              <a:rPr sz="1950" spc="1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typically</a:t>
            </a:r>
            <a:r>
              <a:rPr sz="1950" spc="19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converts 	</a:t>
            </a:r>
            <a:r>
              <a:rPr sz="1950" dirty="0">
                <a:latin typeface="Verdana"/>
                <a:cs typeface="Verdana"/>
              </a:rPr>
              <a:t>this</a:t>
            </a:r>
            <a:r>
              <a:rPr sz="1950" spc="1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tiny</a:t>
            </a:r>
            <a:r>
              <a:rPr sz="1950" spc="1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resistance</a:t>
            </a:r>
            <a:r>
              <a:rPr sz="1950" spc="1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change</a:t>
            </a:r>
            <a:r>
              <a:rPr sz="1950" spc="1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into</a:t>
            </a:r>
            <a:r>
              <a:rPr sz="1950" spc="1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1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voltage</a:t>
            </a:r>
            <a:r>
              <a:rPr sz="1950" spc="1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signal</a:t>
            </a:r>
            <a:r>
              <a:rPr sz="1950" spc="1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proportional</a:t>
            </a:r>
            <a:r>
              <a:rPr sz="1950" spc="1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to</a:t>
            </a:r>
            <a:r>
              <a:rPr sz="1950" spc="155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the 	</a:t>
            </a:r>
            <a:r>
              <a:rPr sz="1950" dirty="0">
                <a:latin typeface="Verdana"/>
                <a:cs typeface="Verdana"/>
              </a:rPr>
              <a:t>applied</a:t>
            </a:r>
            <a:r>
              <a:rPr sz="1950" spc="9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pressure.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70031" y="124572"/>
            <a:ext cx="7122159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7680" marR="5080" indent="-1745614">
              <a:lnSpc>
                <a:spcPct val="100200"/>
              </a:lnSpc>
              <a:spcBef>
                <a:spcPts val="100"/>
              </a:spcBef>
            </a:pPr>
            <a:r>
              <a:rPr dirty="0"/>
              <a:t>Resistive</a:t>
            </a:r>
            <a:r>
              <a:rPr spc="-35" dirty="0"/>
              <a:t> </a:t>
            </a:r>
            <a:r>
              <a:rPr dirty="0"/>
              <a:t>Strain</a:t>
            </a:r>
            <a:r>
              <a:rPr spc="-30" dirty="0"/>
              <a:t> </a:t>
            </a:r>
            <a:r>
              <a:rPr dirty="0"/>
              <a:t>Gauges</a:t>
            </a:r>
            <a:r>
              <a:rPr spc="-30" dirty="0"/>
              <a:t> </a:t>
            </a:r>
            <a:r>
              <a:rPr spc="-50" dirty="0"/>
              <a:t>- </a:t>
            </a:r>
            <a:r>
              <a:rPr spc="-10" dirty="0"/>
              <a:t>Construction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4700" y="1774296"/>
            <a:ext cx="889635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944370" algn="l"/>
                <a:tab pos="3266440" algn="l"/>
                <a:tab pos="3693160" algn="l"/>
                <a:tab pos="4019550" algn="l"/>
                <a:tab pos="5704205" algn="l"/>
                <a:tab pos="7020559" algn="l"/>
                <a:tab pos="7843520" algn="l"/>
                <a:tab pos="8593455" algn="l"/>
              </a:tabLst>
            </a:pPr>
            <a:r>
              <a:rPr sz="2200" b="1" spc="-10" dirty="0">
                <a:latin typeface="Verdana"/>
                <a:cs typeface="Verdana"/>
              </a:rPr>
              <a:t>Material: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Consists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conducting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material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(thin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wire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or </a:t>
            </a:r>
            <a:r>
              <a:rPr sz="2200" spc="-10" dirty="0">
                <a:latin typeface="Verdana"/>
                <a:cs typeface="Verdana"/>
              </a:rPr>
              <a:t>strip).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Attachment: </a:t>
            </a:r>
            <a:r>
              <a:rPr sz="2200" dirty="0">
                <a:latin typeface="Verdana"/>
                <a:cs typeface="Verdana"/>
              </a:rPr>
              <a:t>Attached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firmly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strained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(e.g., </a:t>
            </a:r>
            <a:r>
              <a:rPr sz="2200" dirty="0">
                <a:latin typeface="Verdana"/>
                <a:cs typeface="Verdana"/>
              </a:rPr>
              <a:t>bridge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part,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turbine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blade)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using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epoxy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resins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like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'Araldite'.</a:t>
            </a:r>
            <a:endParaRPr sz="2200">
              <a:latin typeface="Verdana"/>
              <a:cs typeface="Verdana"/>
            </a:endParaRPr>
          </a:p>
          <a:p>
            <a:pPr marL="390525" marR="698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Insulation:</a:t>
            </a:r>
            <a:r>
              <a:rPr sz="2200" b="1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Resins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serve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insulators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while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being </a:t>
            </a:r>
            <a:r>
              <a:rPr sz="2200" dirty="0">
                <a:latin typeface="Verdana"/>
                <a:cs typeface="Verdana"/>
              </a:rPr>
              <a:t>extremely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strong.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545" y="5252659"/>
            <a:ext cx="5485619" cy="10970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500" y="5201411"/>
            <a:ext cx="3352800" cy="15087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29350" y="426127"/>
            <a:ext cx="66008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Piezoresistive</a:t>
            </a:r>
            <a:r>
              <a:rPr spc="-60" dirty="0"/>
              <a:t> </a:t>
            </a:r>
            <a:r>
              <a:rPr spc="-10" dirty="0"/>
              <a:t>Principle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690548"/>
            <a:ext cx="887603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marR="5715" indent="-313055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26390" algn="l"/>
                <a:tab pos="2016125" algn="l"/>
                <a:tab pos="2844800" algn="l"/>
                <a:tab pos="4161154" algn="l"/>
                <a:tab pos="4726940" algn="l"/>
                <a:tab pos="6456045" algn="l"/>
                <a:tab pos="6991984" algn="l"/>
                <a:tab pos="7817484" algn="l"/>
                <a:tab pos="8408670" algn="l"/>
              </a:tabLst>
            </a:pPr>
            <a:r>
              <a:rPr sz="2200" b="1" spc="-10" dirty="0">
                <a:latin typeface="Verdana"/>
                <a:cs typeface="Verdana"/>
              </a:rPr>
              <a:t>Concept: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change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resistance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due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deformation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structure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material.</a:t>
            </a:r>
            <a:endParaRPr sz="2200">
              <a:latin typeface="Verdana"/>
              <a:cs typeface="Verdana"/>
            </a:endParaRPr>
          </a:p>
          <a:p>
            <a:pPr marL="325120" marR="6350" indent="-313055">
              <a:lnSpc>
                <a:spcPct val="150000"/>
              </a:lnSpc>
              <a:buFont typeface="Wingdings"/>
              <a:buChar char=""/>
              <a:tabLst>
                <a:tab pos="326390" algn="l"/>
              </a:tabLst>
            </a:pPr>
            <a:r>
              <a:rPr sz="2200" b="1" dirty="0">
                <a:latin typeface="Verdana"/>
                <a:cs typeface="Verdana"/>
              </a:rPr>
              <a:t>Operation:</a:t>
            </a:r>
            <a:r>
              <a:rPr sz="2200" b="1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undergoes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strain,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its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electrical 	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proportionally.</a:t>
            </a:r>
            <a:endParaRPr sz="2200">
              <a:latin typeface="Verdana"/>
              <a:cs typeface="Verdana"/>
            </a:endParaRPr>
          </a:p>
          <a:p>
            <a:pPr marL="325120" marR="5080" indent="-313055">
              <a:lnSpc>
                <a:spcPct val="150000"/>
              </a:lnSpc>
              <a:buFont typeface="Wingdings"/>
              <a:buChar char=""/>
              <a:tabLst>
                <a:tab pos="326390" algn="l"/>
              </a:tabLst>
            </a:pPr>
            <a:r>
              <a:rPr sz="2200" b="1" dirty="0">
                <a:latin typeface="Verdana"/>
                <a:cs typeface="Verdana"/>
              </a:rPr>
              <a:t>Connection:</a:t>
            </a:r>
            <a:r>
              <a:rPr sz="2200" b="1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strip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connected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part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resistance 	</a:t>
            </a:r>
            <a:r>
              <a:rPr sz="2200" dirty="0">
                <a:latin typeface="Verdana"/>
                <a:cs typeface="Verdana"/>
              </a:rPr>
              <a:t>bridge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circuit.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9551" y="426127"/>
            <a:ext cx="942213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Circuitry:</a:t>
            </a:r>
            <a:r>
              <a:rPr spc="-8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Wheatstone</a:t>
            </a:r>
            <a:r>
              <a:rPr spc="5" dirty="0"/>
              <a:t> </a:t>
            </a:r>
            <a:r>
              <a:rPr spc="-10" dirty="0"/>
              <a:t>Bridge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4700" y="1529041"/>
            <a:ext cx="9211310" cy="203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Bridge</a:t>
            </a:r>
            <a:r>
              <a:rPr sz="2200" b="1" spc="-3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Circuit:</a:t>
            </a:r>
            <a:r>
              <a:rPr sz="2200" b="1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convert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into </a:t>
            </a:r>
            <a:r>
              <a:rPr sz="2200" dirty="0">
                <a:latin typeface="Verdana"/>
                <a:cs typeface="Verdana"/>
              </a:rPr>
              <a:t>measurable</a:t>
            </a:r>
            <a:r>
              <a:rPr sz="2200" spc="-1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voltage.</a:t>
            </a:r>
            <a:endParaRPr sz="2200">
              <a:latin typeface="Verdana"/>
              <a:cs typeface="Verdana"/>
            </a:endParaRPr>
          </a:p>
          <a:p>
            <a:pPr marL="390525" marR="635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2922905" algn="l"/>
                <a:tab pos="4395470" algn="l"/>
                <a:tab pos="5807075" algn="l"/>
                <a:tab pos="6428740" algn="l"/>
                <a:tab pos="7814945" algn="l"/>
              </a:tabLst>
            </a:pPr>
            <a:r>
              <a:rPr sz="2200" b="1" spc="-10" dirty="0">
                <a:latin typeface="Verdana"/>
                <a:cs typeface="Verdana"/>
              </a:rPr>
              <a:t>Configuration: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Typically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involves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"Active"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(strained) </a:t>
            </a:r>
            <a:r>
              <a:rPr sz="2200" dirty="0">
                <a:latin typeface="Verdana"/>
                <a:cs typeface="Verdana"/>
              </a:rPr>
              <a:t>gauge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"Passive"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(unstrained)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gauge.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9559" y="3880103"/>
            <a:ext cx="5958840" cy="30510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47" y="4304884"/>
            <a:ext cx="3757075" cy="23897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93823" y="426127"/>
            <a:ext cx="78676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Temperature</a:t>
            </a:r>
            <a:r>
              <a:rPr spc="-85" dirty="0"/>
              <a:t> </a:t>
            </a:r>
            <a:r>
              <a:rPr spc="-10" dirty="0"/>
              <a:t>Compensation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24412"/>
            <a:ext cx="912939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Problem:</a:t>
            </a:r>
            <a:r>
              <a:rPr sz="2200" b="1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due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variations 	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wire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itself.</a:t>
            </a:r>
            <a:endParaRPr sz="2200">
              <a:latin typeface="Verdana"/>
              <a:cs typeface="Verdana"/>
            </a:endParaRPr>
          </a:p>
          <a:p>
            <a:pPr marL="389255" marR="7620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Solution:</a:t>
            </a:r>
            <a:r>
              <a:rPr sz="2200" b="1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identical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unstrained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passive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gauge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bridge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circuit.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Mechanism:</a:t>
            </a:r>
            <a:r>
              <a:rPr sz="2200" b="1" spc="1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If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both</a:t>
            </a:r>
            <a:r>
              <a:rPr sz="2200" spc="1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gauges</a:t>
            </a:r>
            <a:r>
              <a:rPr sz="2200" spc="1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1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affected</a:t>
            </a:r>
            <a:r>
              <a:rPr sz="2200" spc="1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identically</a:t>
            </a:r>
            <a:r>
              <a:rPr sz="2200" spc="13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by 	</a:t>
            </a:r>
            <a:r>
              <a:rPr sz="2200" dirty="0">
                <a:latin typeface="Verdana"/>
                <a:cs typeface="Verdana"/>
              </a:rPr>
              <a:t>temperature,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effects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balance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out,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leaving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only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strain 	signal.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71340" y="426127"/>
            <a:ext cx="831723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Sensitivity:</a:t>
            </a:r>
            <a:r>
              <a:rPr spc="-7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Gauge</a:t>
            </a:r>
            <a:r>
              <a:rPr spc="-20" dirty="0"/>
              <a:t> </a:t>
            </a:r>
            <a:r>
              <a:rPr spc="-10" dirty="0"/>
              <a:t>Factor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30540"/>
            <a:ext cx="9130030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  <a:tab pos="2339340" algn="l"/>
                <a:tab pos="3533140" algn="l"/>
                <a:tab pos="4687570" algn="l"/>
                <a:tab pos="5203825" algn="l"/>
                <a:tab pos="5951220" algn="l"/>
                <a:tab pos="7548880" algn="l"/>
                <a:tab pos="8848725" algn="l"/>
              </a:tabLst>
            </a:pPr>
            <a:r>
              <a:rPr sz="2200" b="1" spc="-10" dirty="0">
                <a:latin typeface="Verdana"/>
                <a:cs typeface="Verdana"/>
              </a:rPr>
              <a:t>Definition: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Gauge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Factor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fractional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change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divided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strain.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Metal</a:t>
            </a:r>
            <a:r>
              <a:rPr sz="2200" b="1" spc="-50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Wire</a:t>
            </a:r>
            <a:r>
              <a:rPr sz="2200" b="1" spc="-5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Gauges:</a:t>
            </a:r>
            <a:r>
              <a:rPr sz="2200" b="1" spc="-3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Typical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Gauge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Factor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about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2.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Semiconductor</a:t>
            </a:r>
            <a:r>
              <a:rPr sz="2200" b="1" spc="-60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Gauges:</a:t>
            </a:r>
            <a:r>
              <a:rPr sz="2200" b="1" spc="-5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Typical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Gauge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Factor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about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100.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Significance:</a:t>
            </a:r>
            <a:r>
              <a:rPr sz="2200" b="1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Higher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gauge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factor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implies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higher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sensitivity.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31968" y="426127"/>
            <a:ext cx="71939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Metal</a:t>
            </a:r>
            <a:r>
              <a:rPr spc="-45" dirty="0"/>
              <a:t> </a:t>
            </a:r>
            <a:r>
              <a:rPr dirty="0"/>
              <a:t>Wire</a:t>
            </a:r>
            <a:r>
              <a:rPr spc="-40" dirty="0"/>
              <a:t> </a:t>
            </a:r>
            <a:r>
              <a:rPr dirty="0"/>
              <a:t>Strain</a:t>
            </a:r>
            <a:r>
              <a:rPr spc="-30" dirty="0"/>
              <a:t> </a:t>
            </a:r>
            <a:r>
              <a:rPr spc="-10" dirty="0"/>
              <a:t>Gauges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94542"/>
            <a:ext cx="9130030" cy="404876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 algn="just">
              <a:lnSpc>
                <a:spcPct val="100000"/>
              </a:lnSpc>
              <a:spcBef>
                <a:spcPts val="1420"/>
              </a:spcBef>
              <a:buFont typeface="Wingdings"/>
              <a:buChar char=""/>
              <a:tabLst>
                <a:tab pos="389890" algn="l"/>
              </a:tabLst>
            </a:pPr>
            <a:r>
              <a:rPr sz="2200" b="1" dirty="0">
                <a:latin typeface="Verdana"/>
                <a:cs typeface="Verdana"/>
              </a:rPr>
              <a:t>Material:</a:t>
            </a:r>
            <a:r>
              <a:rPr sz="2200" b="1" spc="-10" dirty="0">
                <a:latin typeface="Verdana"/>
                <a:cs typeface="Verdana"/>
              </a:rPr>
              <a:t> </a:t>
            </a:r>
            <a:r>
              <a:rPr sz="2200" spc="-40" dirty="0">
                <a:latin typeface="Verdana"/>
                <a:cs typeface="Verdana"/>
              </a:rPr>
              <a:t>Typically,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thin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Nichrome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wire.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89890" algn="l"/>
              </a:tabLst>
            </a:pPr>
            <a:r>
              <a:rPr sz="2200" b="1" dirty="0">
                <a:latin typeface="Verdana"/>
                <a:cs typeface="Verdana"/>
              </a:rPr>
              <a:t>Characteristics:</a:t>
            </a:r>
            <a:r>
              <a:rPr sz="2200" b="1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proportional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length.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89890" algn="l"/>
              </a:tabLst>
            </a:pPr>
            <a:r>
              <a:rPr sz="2200" b="1" spc="-10" dirty="0">
                <a:latin typeface="Verdana"/>
                <a:cs typeface="Verdana"/>
              </a:rPr>
              <a:t>Limitations:</a:t>
            </a:r>
            <a:endParaRPr sz="2200">
              <a:latin typeface="Verdana"/>
              <a:cs typeface="Verdana"/>
            </a:endParaRPr>
          </a:p>
          <a:p>
            <a:pPr marL="892175" marR="5080" lvl="1" indent="-377190" algn="just">
              <a:lnSpc>
                <a:spcPct val="150000"/>
              </a:lnSpc>
              <a:buFont typeface="Wingdings"/>
              <a:buChar char="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45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very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4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(often</a:t>
            </a:r>
            <a:r>
              <a:rPr sz="2200" spc="4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&lt;</a:t>
            </a:r>
            <a:r>
              <a:rPr sz="2200" spc="4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0.1%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change 	</a:t>
            </a:r>
            <a:r>
              <a:rPr sz="2200" dirty="0">
                <a:latin typeface="Verdana"/>
                <a:cs typeface="Verdana"/>
              </a:rPr>
              <a:t>needed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detected).</a:t>
            </a:r>
            <a:endParaRPr sz="2200">
              <a:latin typeface="Verdana"/>
              <a:cs typeface="Verdana"/>
            </a:endParaRPr>
          </a:p>
          <a:p>
            <a:pPr marL="892175" marR="5715" lvl="1" indent="-377190" algn="just">
              <a:lnSpc>
                <a:spcPct val="150000"/>
              </a:lnSpc>
              <a:buFont typeface="Wingdings"/>
              <a:buChar char="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Low</a:t>
            </a:r>
            <a:r>
              <a:rPr sz="2200" spc="2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base</a:t>
            </a:r>
            <a:r>
              <a:rPr sz="2200" spc="2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2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(&lt;</a:t>
            </a:r>
            <a:r>
              <a:rPr sz="2200" spc="2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1</a:t>
            </a:r>
            <a:r>
              <a:rPr sz="2200" spc="2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ohm)</a:t>
            </a:r>
            <a:r>
              <a:rPr sz="2200" spc="2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makes</a:t>
            </a:r>
            <a:r>
              <a:rPr sz="2200" spc="26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connection 	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54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significant,</a:t>
            </a:r>
            <a:r>
              <a:rPr sz="2200" spc="220" dirty="0">
                <a:latin typeface="Verdana"/>
                <a:cs typeface="Verdana"/>
              </a:rPr>
              <a:t>    </a:t>
            </a:r>
            <a:r>
              <a:rPr sz="2200" dirty="0">
                <a:latin typeface="Verdana"/>
                <a:cs typeface="Verdana"/>
              </a:rPr>
              <a:t>leading</a:t>
            </a:r>
            <a:r>
              <a:rPr sz="2200" spc="220" dirty="0">
                <a:latin typeface="Verdana"/>
                <a:cs typeface="Verdana"/>
              </a:rPr>
              <a:t>  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25" dirty="0">
                <a:latin typeface="Verdana"/>
                <a:cs typeface="Verdana"/>
              </a:rPr>
              <a:t>    </a:t>
            </a:r>
            <a:r>
              <a:rPr sz="2200" spc="-10" dirty="0">
                <a:latin typeface="Verdana"/>
                <a:cs typeface="Verdana"/>
              </a:rPr>
              <a:t>measurement 	uncertainty.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39170" y="426127"/>
            <a:ext cx="83756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Semiconductor</a:t>
            </a:r>
            <a:r>
              <a:rPr spc="-45" dirty="0"/>
              <a:t> </a:t>
            </a:r>
            <a:r>
              <a:rPr dirty="0"/>
              <a:t>Strain</a:t>
            </a:r>
            <a:r>
              <a:rPr spc="-45" dirty="0"/>
              <a:t> </a:t>
            </a:r>
            <a:r>
              <a:rPr spc="-10" dirty="0"/>
              <a:t>Gauges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5568" y="1556413"/>
            <a:ext cx="9295130" cy="30435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42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b="1" spc="-10" dirty="0">
                <a:latin typeface="Verdana"/>
                <a:cs typeface="Verdana"/>
              </a:rPr>
              <a:t>Advantages:</a:t>
            </a:r>
            <a:endParaRPr sz="2200">
              <a:latin typeface="Verdana"/>
              <a:cs typeface="Verdana"/>
            </a:endParaRPr>
          </a:p>
          <a:p>
            <a:pPr marL="893444" marR="5715" lvl="1" indent="-378460">
              <a:lnSpc>
                <a:spcPct val="150000"/>
              </a:lnSpc>
              <a:buFont typeface="Wingdings"/>
              <a:buChar char="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Higher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metal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wires,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making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measurement easier.</a:t>
            </a:r>
            <a:endParaRPr sz="2200">
              <a:latin typeface="Verdana"/>
              <a:cs typeface="Verdana"/>
            </a:endParaRPr>
          </a:p>
          <a:p>
            <a:pPr marL="89281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"/>
              <a:tabLst>
                <a:tab pos="892810" algn="l"/>
              </a:tabLst>
            </a:pPr>
            <a:r>
              <a:rPr sz="2200" dirty="0">
                <a:latin typeface="Verdana"/>
                <a:cs typeface="Verdana"/>
              </a:rPr>
              <a:t>Significantly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larger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same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strain.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"/>
              <a:tabLst>
                <a:tab pos="390525" algn="l"/>
                <a:tab pos="2467610" algn="l"/>
                <a:tab pos="4018279" algn="l"/>
                <a:tab pos="4662170" algn="l"/>
                <a:tab pos="5615940" algn="l"/>
                <a:tab pos="7534909" algn="l"/>
                <a:tab pos="8678545" algn="l"/>
              </a:tabLst>
            </a:pPr>
            <a:r>
              <a:rPr sz="2200" b="1" spc="-10" dirty="0">
                <a:latin typeface="Verdana"/>
                <a:cs typeface="Verdana"/>
              </a:rPr>
              <a:t>Preference: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Preferred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for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most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applications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unless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high </a:t>
            </a:r>
            <a:r>
              <a:rPr sz="2200" spc="-10" dirty="0">
                <a:latin typeface="Verdana"/>
                <a:cs typeface="Verdana"/>
              </a:rPr>
              <a:t>temperatures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involved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(e.g.,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gas-</a:t>
            </a:r>
            <a:r>
              <a:rPr sz="2200" dirty="0">
                <a:latin typeface="Verdana"/>
                <a:cs typeface="Verdana"/>
              </a:rPr>
              <a:t>turbine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blades).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98926" y="426127"/>
            <a:ext cx="76612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Semiconductor</a:t>
            </a:r>
            <a:r>
              <a:rPr spc="-50" dirty="0"/>
              <a:t> </a:t>
            </a:r>
            <a:r>
              <a:rPr spc="-10" dirty="0"/>
              <a:t>Passivation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0324" y="1690548"/>
            <a:ext cx="7157084" cy="203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64135" indent="-378460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  <a:tab pos="2464435" algn="l"/>
                <a:tab pos="4890770" algn="l"/>
                <a:tab pos="6383020" algn="l"/>
              </a:tabLst>
            </a:pPr>
            <a:r>
              <a:rPr sz="2200" b="1" spc="-10" dirty="0">
                <a:latin typeface="Verdana"/>
                <a:cs typeface="Verdana"/>
              </a:rPr>
              <a:t>Protection: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Semiconductor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material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must </a:t>
            </a:r>
            <a:r>
              <a:rPr sz="2200" dirty="0">
                <a:latin typeface="Verdana"/>
                <a:cs typeface="Verdana"/>
              </a:rPr>
              <a:t>passivated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(protected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oxidation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layer).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"/>
              <a:tabLst>
                <a:tab pos="390525" algn="l"/>
                <a:tab pos="1371600" algn="l"/>
                <a:tab pos="1790064" algn="l"/>
                <a:tab pos="2445385" algn="l"/>
                <a:tab pos="3399154" algn="l"/>
                <a:tab pos="4291330" algn="l"/>
                <a:tab pos="4715510" algn="l"/>
                <a:tab pos="6149340" algn="l"/>
                <a:tab pos="6690359" algn="l"/>
              </a:tabLst>
            </a:pPr>
            <a:r>
              <a:rPr sz="2200" b="1" spc="-10" dirty="0">
                <a:latin typeface="Verdana"/>
                <a:cs typeface="Verdana"/>
              </a:rPr>
              <a:t>Risk: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oxide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layer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removed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by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 </a:t>
            </a:r>
            <a:r>
              <a:rPr sz="2200" dirty="0">
                <a:latin typeface="Verdana"/>
                <a:cs typeface="Verdana"/>
              </a:rPr>
              <a:t>chemical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factors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will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affect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readings.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11138" y="1858780"/>
            <a:ext cx="1717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87070" algn="l"/>
              </a:tabLst>
            </a:pPr>
            <a:r>
              <a:rPr sz="2200" spc="-25" dirty="0">
                <a:latin typeface="Verdana"/>
                <a:cs typeface="Verdana"/>
              </a:rPr>
              <a:t>be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surface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33479" y="2864584"/>
            <a:ext cx="17951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Verdana"/>
                <a:cs typeface="Verdana"/>
              </a:rPr>
              <a:t>atmosphere,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324" y="3702154"/>
            <a:ext cx="912495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  <a:tab pos="1914525" algn="l"/>
                <a:tab pos="3429000" algn="l"/>
                <a:tab pos="5520055" algn="l"/>
                <a:tab pos="8019415" algn="l"/>
              </a:tabLst>
            </a:pPr>
            <a:r>
              <a:rPr sz="2200" b="1" spc="-10" dirty="0">
                <a:latin typeface="Verdana"/>
                <a:cs typeface="Verdana"/>
              </a:rPr>
              <a:t>Result: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Without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passivation,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measurements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become </a:t>
            </a:r>
            <a:r>
              <a:rPr sz="2200" dirty="0">
                <a:latin typeface="Verdana"/>
                <a:cs typeface="Verdana"/>
              </a:rPr>
              <a:t>unreliable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due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atmospheric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contamination.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44575" y="426127"/>
            <a:ext cx="65703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405255" algn="l"/>
              </a:tabLst>
            </a:pPr>
            <a:r>
              <a:rPr spc="-25" dirty="0"/>
              <a:t>Key</a:t>
            </a:r>
            <a:r>
              <a:rPr dirty="0"/>
              <a:t>	Types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Materials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9317" y="1615650"/>
            <a:ext cx="9128125" cy="505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Silicon</a:t>
            </a:r>
            <a:r>
              <a:rPr sz="2200" b="1" spc="13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(Doped):</a:t>
            </a:r>
            <a:r>
              <a:rPr sz="2200" b="1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most</a:t>
            </a:r>
            <a:r>
              <a:rPr sz="2200" spc="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common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MEMS 	</a:t>
            </a:r>
            <a:r>
              <a:rPr sz="2200" spc="-10" dirty="0">
                <a:latin typeface="Verdana"/>
                <a:cs typeface="Verdana"/>
              </a:rPr>
              <a:t>(Micro-Electro-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Systems)</a:t>
            </a:r>
            <a:r>
              <a:rPr sz="2200" spc="5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because</a:t>
            </a:r>
            <a:r>
              <a:rPr sz="2200" spc="5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5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its</a:t>
            </a:r>
            <a:r>
              <a:rPr sz="2200" spc="5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extreme 	</a:t>
            </a:r>
            <a:r>
              <a:rPr sz="2200" dirty="0">
                <a:latin typeface="Verdana"/>
                <a:cs typeface="Verdana"/>
              </a:rPr>
              <a:t>sensitivity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fast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response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times.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Metal</a:t>
            </a:r>
            <a:r>
              <a:rPr sz="2200" b="1" spc="330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Strain</a:t>
            </a:r>
            <a:r>
              <a:rPr sz="2200" b="1" spc="31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Gauges:</a:t>
            </a:r>
            <a:r>
              <a:rPr sz="2200" b="1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Often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their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robustness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ability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handle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higher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temperatures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(up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200°C)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than 	</a:t>
            </a:r>
            <a:r>
              <a:rPr sz="2200" dirty="0">
                <a:latin typeface="Verdana"/>
                <a:cs typeface="Verdana"/>
              </a:rPr>
              <a:t>standard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silicon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Advanced</a:t>
            </a:r>
            <a:r>
              <a:rPr sz="2200" b="1" spc="-70" dirty="0">
                <a:latin typeface="Verdana"/>
                <a:cs typeface="Verdana"/>
              </a:rPr>
              <a:t>  </a:t>
            </a:r>
            <a:r>
              <a:rPr sz="2200" b="1" dirty="0">
                <a:latin typeface="Verdana"/>
                <a:cs typeface="Verdana"/>
              </a:rPr>
              <a:t>Materials</a:t>
            </a:r>
            <a:r>
              <a:rPr sz="2200" b="1" spc="-75" dirty="0">
                <a:latin typeface="Verdana"/>
                <a:cs typeface="Verdana"/>
              </a:rPr>
              <a:t>  </a:t>
            </a:r>
            <a:r>
              <a:rPr sz="2200" b="1" dirty="0">
                <a:latin typeface="Verdana"/>
                <a:cs typeface="Verdana"/>
              </a:rPr>
              <a:t>(2025</a:t>
            </a:r>
            <a:r>
              <a:rPr sz="2200" b="1" spc="-70" dirty="0">
                <a:latin typeface="Verdana"/>
                <a:cs typeface="Verdana"/>
              </a:rPr>
              <a:t>  </a:t>
            </a:r>
            <a:r>
              <a:rPr sz="2200" b="1" dirty="0">
                <a:latin typeface="Verdana"/>
                <a:cs typeface="Verdana"/>
              </a:rPr>
              <a:t>Trends):</a:t>
            </a:r>
            <a:r>
              <a:rPr sz="2200" b="1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Recent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innovations 	</a:t>
            </a:r>
            <a:r>
              <a:rPr sz="2200" dirty="0">
                <a:latin typeface="Verdana"/>
                <a:cs typeface="Verdana"/>
              </a:rPr>
              <a:t>include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MXenes,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carbon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nanotubes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(CNTs),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graphene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to 	</a:t>
            </a:r>
            <a:r>
              <a:rPr sz="2200" dirty="0">
                <a:latin typeface="Verdana"/>
                <a:cs typeface="Verdana"/>
              </a:rPr>
              <a:t>create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flexible,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wearable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"electronic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skin"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(e-</a:t>
            </a:r>
            <a:r>
              <a:rPr sz="2200" dirty="0">
                <a:latin typeface="Verdana"/>
                <a:cs typeface="Verdana"/>
              </a:rPr>
              <a:t>skin)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health 	monitoring.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89187" y="426127"/>
            <a:ext cx="52781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Major</a:t>
            </a:r>
            <a:r>
              <a:rPr spc="-4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5826" y="1443658"/>
            <a:ext cx="9130030" cy="455168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dirty="0">
                <a:latin typeface="Verdana"/>
                <a:cs typeface="Verdana"/>
              </a:rPr>
              <a:t>Piezoresistive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find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across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various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fields:</a:t>
            </a:r>
            <a:endParaRPr sz="2200">
              <a:latin typeface="Verdana"/>
              <a:cs typeface="Verdana"/>
            </a:endParaRPr>
          </a:p>
          <a:p>
            <a:pPr marL="390525" marR="6985" indent="-378460">
              <a:lnSpc>
                <a:spcPct val="150000"/>
              </a:lnSpc>
              <a:buFont typeface="Wingdings"/>
              <a:buChar char=""/>
              <a:tabLst>
                <a:tab pos="390525" algn="l"/>
                <a:tab pos="2567940" algn="l"/>
                <a:tab pos="3505200" algn="l"/>
                <a:tab pos="4010025" algn="l"/>
                <a:tab pos="4732020" algn="l"/>
                <a:tab pos="6193790" algn="l"/>
                <a:tab pos="7964805" algn="l"/>
              </a:tabLst>
            </a:pPr>
            <a:r>
              <a:rPr sz="2200" b="1" spc="-10" dirty="0">
                <a:latin typeface="Verdana"/>
                <a:cs typeface="Verdana"/>
              </a:rPr>
              <a:t>Automotive: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Used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tire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pressure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monitoring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systems </a:t>
            </a:r>
            <a:r>
              <a:rPr sz="2200" dirty="0">
                <a:latin typeface="Verdana"/>
                <a:cs typeface="Verdana"/>
              </a:rPr>
              <a:t>(TPMS),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fuel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injection,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airbag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deployment.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Medical:</a:t>
            </a:r>
            <a:r>
              <a:rPr sz="2200" b="1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Found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blood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monitors,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ventilators,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</a:t>
            </a:r>
            <a:r>
              <a:rPr sz="2200" dirty="0">
                <a:latin typeface="Verdana"/>
                <a:cs typeface="Verdana"/>
              </a:rPr>
              <a:t>respiratory</a:t>
            </a:r>
            <a:r>
              <a:rPr sz="2200" spc="-1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devices.</a:t>
            </a:r>
            <a:endParaRPr sz="2200">
              <a:latin typeface="Verdana"/>
              <a:cs typeface="Verdana"/>
            </a:endParaRPr>
          </a:p>
          <a:p>
            <a:pPr marL="390525" marR="8890" indent="-378460">
              <a:lnSpc>
                <a:spcPct val="150000"/>
              </a:lnSpc>
              <a:buFont typeface="Wingdings"/>
              <a:buChar char=""/>
              <a:tabLst>
                <a:tab pos="390525" algn="l"/>
                <a:tab pos="2338070" algn="l"/>
                <a:tab pos="3855085" algn="l"/>
                <a:tab pos="4518660" algn="l"/>
                <a:tab pos="6317615" algn="l"/>
                <a:tab pos="7865745" algn="l"/>
              </a:tabLst>
            </a:pPr>
            <a:r>
              <a:rPr sz="2200" b="1" spc="-10" dirty="0">
                <a:latin typeface="Verdana"/>
                <a:cs typeface="Verdana"/>
              </a:rPr>
              <a:t>Industrial: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Essential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for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monitoring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hydraulic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systems, </a:t>
            </a:r>
            <a:r>
              <a:rPr sz="2200" dirty="0">
                <a:latin typeface="Verdana"/>
                <a:cs typeface="Verdana"/>
              </a:rPr>
              <a:t>pipelines,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pneumatic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controls.</a:t>
            </a:r>
            <a:endParaRPr sz="2200">
              <a:latin typeface="Verdana"/>
              <a:cs typeface="Verdana"/>
            </a:endParaRPr>
          </a:p>
          <a:p>
            <a:pPr marL="390525" marR="8890" indent="-378460">
              <a:lnSpc>
                <a:spcPct val="150000"/>
              </a:lnSpc>
              <a:buFont typeface="Wingdings"/>
              <a:buChar char=""/>
              <a:tabLst>
                <a:tab pos="390525" algn="l"/>
                <a:tab pos="2300605" algn="l"/>
                <a:tab pos="4465320" algn="l"/>
                <a:tab pos="6272530" algn="l"/>
                <a:tab pos="6917055" algn="l"/>
                <a:tab pos="8858250" algn="l"/>
              </a:tabLst>
            </a:pPr>
            <a:r>
              <a:rPr sz="2200" b="1" spc="-10" dirty="0">
                <a:latin typeface="Verdana"/>
                <a:cs typeface="Verdana"/>
              </a:rPr>
              <a:t>Consumer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b="1" spc="-10" dirty="0">
                <a:latin typeface="Verdana"/>
                <a:cs typeface="Verdana"/>
              </a:rPr>
              <a:t>Electronics: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Integrated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barometers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in </a:t>
            </a:r>
            <a:r>
              <a:rPr sz="2200" dirty="0">
                <a:latin typeface="Verdana"/>
                <a:cs typeface="Verdana"/>
              </a:rPr>
              <a:t>smartphones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wearables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altitude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activity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tracking.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09541" y="426127"/>
            <a:ext cx="60369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Piezoelectric</a:t>
            </a:r>
            <a:r>
              <a:rPr spc="-105" dirty="0"/>
              <a:t> </a:t>
            </a:r>
            <a:r>
              <a:rPr spc="-10" dirty="0"/>
              <a:t>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2077" y="1542659"/>
            <a:ext cx="929767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A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piezoelectric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device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uses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piezoelectric 	</a:t>
            </a:r>
            <a:r>
              <a:rPr sz="2200" dirty="0">
                <a:latin typeface="Verdana"/>
                <a:cs typeface="Verdana"/>
              </a:rPr>
              <a:t>effect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convert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(such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force,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pressure, 	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vibration)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measurable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charge,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vice 	</a:t>
            </a:r>
            <a:r>
              <a:rPr sz="2200" spc="-10" dirty="0">
                <a:latin typeface="Verdana"/>
                <a:cs typeface="Verdana"/>
              </a:rPr>
              <a:t>versa.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Font typeface="Wingdings"/>
              <a:buChar char=""/>
            </a:pPr>
            <a:endParaRPr sz="2200">
              <a:latin typeface="Verdana"/>
              <a:cs typeface="Verdana"/>
            </a:endParaRPr>
          </a:p>
          <a:p>
            <a:pPr marL="389255" marR="7620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They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known</a:t>
            </a:r>
            <a:r>
              <a:rPr sz="2200" spc="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their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sensitivity,</a:t>
            </a:r>
            <a:r>
              <a:rPr sz="2200" spc="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wide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frequency 	</a:t>
            </a:r>
            <a:r>
              <a:rPr sz="2200" dirty="0">
                <a:latin typeface="Verdana"/>
                <a:cs typeface="Verdana"/>
              </a:rPr>
              <a:t>range,</a:t>
            </a:r>
            <a:r>
              <a:rPr sz="2200" spc="5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4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robust</a:t>
            </a:r>
            <a:r>
              <a:rPr sz="2200" spc="5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construction,</a:t>
            </a:r>
            <a:r>
              <a:rPr sz="2200" spc="4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making</a:t>
            </a:r>
            <a:r>
              <a:rPr sz="2200" spc="5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them</a:t>
            </a:r>
            <a:r>
              <a:rPr sz="2200" spc="4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suitable</a:t>
            </a:r>
            <a:r>
              <a:rPr sz="2200" spc="4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49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a 	</a:t>
            </a:r>
            <a:r>
              <a:rPr sz="2200" dirty="0">
                <a:latin typeface="Verdana"/>
                <a:cs typeface="Verdana"/>
              </a:rPr>
              <a:t>variety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dynamic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measurement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applications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4386" y="426127"/>
            <a:ext cx="461073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How</a:t>
            </a:r>
            <a:r>
              <a:rPr spc="-35" dirty="0"/>
              <a:t> </a:t>
            </a:r>
            <a:r>
              <a:rPr dirty="0"/>
              <a:t>they</a:t>
            </a:r>
            <a:r>
              <a:rPr spc="-25" dirty="0"/>
              <a:t> </a:t>
            </a:r>
            <a:r>
              <a:rPr spc="-10" dirty="0"/>
              <a:t>work?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11" y="1368719"/>
            <a:ext cx="9212580" cy="5951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30600"/>
              </a:lnSpc>
              <a:spcBef>
                <a:spcPts val="90"/>
              </a:spcBef>
            </a:pPr>
            <a:r>
              <a:rPr sz="1750" dirty="0">
                <a:latin typeface="Verdana"/>
                <a:cs typeface="Verdana"/>
              </a:rPr>
              <a:t>The</a:t>
            </a:r>
            <a:r>
              <a:rPr sz="1750" spc="47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operation</a:t>
            </a:r>
            <a:r>
              <a:rPr sz="1750" spc="44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of</a:t>
            </a:r>
            <a:r>
              <a:rPr sz="1750" spc="44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</a:t>
            </a:r>
            <a:r>
              <a:rPr sz="1750" spc="45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piezoelectric</a:t>
            </a:r>
            <a:r>
              <a:rPr sz="1750" spc="46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sensor</a:t>
            </a:r>
            <a:r>
              <a:rPr sz="1750" spc="45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is</a:t>
            </a:r>
            <a:r>
              <a:rPr sz="1750" spc="47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based</a:t>
            </a:r>
            <a:r>
              <a:rPr sz="1750" spc="44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on</a:t>
            </a:r>
            <a:r>
              <a:rPr sz="1750" spc="44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459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inherent</a:t>
            </a:r>
            <a:r>
              <a:rPr sz="1750" spc="459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property</a:t>
            </a:r>
            <a:r>
              <a:rPr sz="1750" spc="445" dirty="0">
                <a:latin typeface="Verdana"/>
                <a:cs typeface="Verdana"/>
              </a:rPr>
              <a:t> </a:t>
            </a:r>
            <a:r>
              <a:rPr sz="1750" spc="-25" dirty="0">
                <a:latin typeface="Verdana"/>
                <a:cs typeface="Verdana"/>
              </a:rPr>
              <a:t>of </a:t>
            </a:r>
            <a:r>
              <a:rPr sz="1750" dirty="0">
                <a:latin typeface="Verdana"/>
                <a:cs typeface="Verdana"/>
              </a:rPr>
              <a:t>certain</a:t>
            </a:r>
            <a:r>
              <a:rPr sz="1750" spc="35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materials</a:t>
            </a:r>
            <a:r>
              <a:rPr sz="1750" spc="36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(like</a:t>
            </a:r>
            <a:r>
              <a:rPr sz="1750" spc="3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quartz</a:t>
            </a:r>
            <a:r>
              <a:rPr sz="1750" spc="35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or</a:t>
            </a:r>
            <a:r>
              <a:rPr sz="1750" spc="3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PZT</a:t>
            </a:r>
            <a:r>
              <a:rPr sz="1750" spc="3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ceramics)</a:t>
            </a:r>
            <a:r>
              <a:rPr sz="1750" spc="33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to</a:t>
            </a:r>
            <a:r>
              <a:rPr sz="1750" spc="35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generate</a:t>
            </a:r>
            <a:r>
              <a:rPr sz="1750" spc="35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</a:t>
            </a:r>
            <a:r>
              <a:rPr sz="1750" spc="33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electric</a:t>
            </a:r>
            <a:r>
              <a:rPr sz="1750" spc="340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charge </a:t>
            </a:r>
            <a:r>
              <a:rPr sz="1750" dirty="0">
                <a:latin typeface="Verdana"/>
                <a:cs typeface="Verdana"/>
              </a:rPr>
              <a:t>when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subjected</a:t>
            </a:r>
            <a:r>
              <a:rPr sz="1750" spc="-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to mechanical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stress.</a:t>
            </a:r>
            <a:endParaRPr sz="1750">
              <a:latin typeface="Verdana"/>
              <a:cs typeface="Verdana"/>
            </a:endParaRPr>
          </a:p>
          <a:p>
            <a:pPr marL="389255" marR="5080" indent="-377190" algn="just">
              <a:lnSpc>
                <a:spcPts val="2750"/>
              </a:lnSpc>
              <a:spcBef>
                <a:spcPts val="195"/>
              </a:spcBef>
              <a:buFont typeface="Wingdings"/>
              <a:buChar char=""/>
              <a:tabLst>
                <a:tab pos="390525" algn="l"/>
              </a:tabLst>
            </a:pPr>
            <a:r>
              <a:rPr sz="1750" b="1" dirty="0">
                <a:latin typeface="Verdana"/>
                <a:cs typeface="Verdana"/>
              </a:rPr>
              <a:t>Mechanical</a:t>
            </a:r>
            <a:r>
              <a:rPr sz="1750" b="1" spc="250" dirty="0">
                <a:latin typeface="Verdana"/>
                <a:cs typeface="Verdana"/>
              </a:rPr>
              <a:t> </a:t>
            </a:r>
            <a:r>
              <a:rPr sz="1750" b="1" dirty="0">
                <a:latin typeface="Verdana"/>
                <a:cs typeface="Verdana"/>
              </a:rPr>
              <a:t>Stress</a:t>
            </a:r>
            <a:r>
              <a:rPr sz="1750" b="1" spc="245" dirty="0">
                <a:latin typeface="Verdana"/>
                <a:cs typeface="Verdana"/>
              </a:rPr>
              <a:t> </a:t>
            </a:r>
            <a:r>
              <a:rPr sz="1750" b="1" dirty="0">
                <a:latin typeface="Verdana"/>
                <a:cs typeface="Verdana"/>
              </a:rPr>
              <a:t>Applied:</a:t>
            </a:r>
            <a:r>
              <a:rPr sz="1750" b="1" spc="24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When</a:t>
            </a:r>
            <a:r>
              <a:rPr sz="1750" spc="229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</a:t>
            </a:r>
            <a:r>
              <a:rPr sz="1750" spc="23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physical</a:t>
            </a:r>
            <a:r>
              <a:rPr sz="1750" spc="22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force</a:t>
            </a:r>
            <a:r>
              <a:rPr sz="1750" spc="22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(compression,</a:t>
            </a:r>
            <a:r>
              <a:rPr sz="1750" spc="22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tension, 	</a:t>
            </a:r>
            <a:r>
              <a:rPr sz="1750" dirty="0">
                <a:latin typeface="Verdana"/>
                <a:cs typeface="Verdana"/>
              </a:rPr>
              <a:t>etc.)</a:t>
            </a:r>
            <a:r>
              <a:rPr sz="1750" spc="5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is</a:t>
            </a:r>
            <a:r>
              <a:rPr sz="1750" spc="6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applied</a:t>
            </a:r>
            <a:r>
              <a:rPr sz="1750" spc="4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to</a:t>
            </a:r>
            <a:r>
              <a:rPr sz="1750" spc="5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4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piezoelectric</a:t>
            </a:r>
            <a:r>
              <a:rPr sz="1750" spc="4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crystal,</a:t>
            </a:r>
            <a:r>
              <a:rPr sz="1750" spc="4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its</a:t>
            </a:r>
            <a:r>
              <a:rPr sz="1750" spc="5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internal</a:t>
            </a:r>
            <a:r>
              <a:rPr sz="1750" spc="4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electric</a:t>
            </a:r>
            <a:r>
              <a:rPr sz="1750" spc="50" dirty="0">
                <a:latin typeface="Verdana"/>
                <a:cs typeface="Verdana"/>
              </a:rPr>
              <a:t>  </a:t>
            </a:r>
            <a:r>
              <a:rPr sz="1750" spc="-10" dirty="0">
                <a:latin typeface="Verdana"/>
                <a:cs typeface="Verdana"/>
              </a:rPr>
              <a:t>charges 	</a:t>
            </a:r>
            <a:r>
              <a:rPr sz="1750" dirty="0">
                <a:latin typeface="Verdana"/>
                <a:cs typeface="Verdana"/>
              </a:rPr>
              <a:t>become</a:t>
            </a:r>
            <a:r>
              <a:rPr sz="1750" spc="2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unbalanced.</a:t>
            </a:r>
            <a:endParaRPr sz="175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434"/>
              </a:spcBef>
              <a:buFont typeface="Wingdings"/>
              <a:buChar char=""/>
              <a:tabLst>
                <a:tab pos="389890" algn="l"/>
              </a:tabLst>
            </a:pPr>
            <a:r>
              <a:rPr sz="1750" b="1" dirty="0">
                <a:latin typeface="Verdana"/>
                <a:cs typeface="Verdana"/>
              </a:rPr>
              <a:t>Charge</a:t>
            </a:r>
            <a:r>
              <a:rPr sz="1750" b="1" spc="20" dirty="0">
                <a:latin typeface="Verdana"/>
                <a:cs typeface="Verdana"/>
              </a:rPr>
              <a:t> </a:t>
            </a:r>
            <a:r>
              <a:rPr sz="1750" b="1" dirty="0">
                <a:latin typeface="Verdana"/>
                <a:cs typeface="Verdana"/>
              </a:rPr>
              <a:t>Generation:</a:t>
            </a:r>
            <a:r>
              <a:rPr sz="1750" b="1" spc="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This</a:t>
            </a:r>
            <a:r>
              <a:rPr sz="1750" spc="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charge</a:t>
            </a:r>
            <a:r>
              <a:rPr sz="1750" spc="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imbalance causes net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positive</a:t>
            </a:r>
            <a:r>
              <a:rPr sz="1750" spc="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and</a:t>
            </a:r>
            <a:r>
              <a:rPr sz="1750" spc="2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negative</a:t>
            </a:r>
            <a:endParaRPr sz="1750">
              <a:latin typeface="Verdana"/>
              <a:cs typeface="Verdana"/>
            </a:endParaRPr>
          </a:p>
          <a:p>
            <a:pPr marL="390525" algn="just">
              <a:lnSpc>
                <a:spcPct val="100000"/>
              </a:lnSpc>
              <a:spcBef>
                <a:spcPts val="645"/>
              </a:spcBef>
            </a:pPr>
            <a:r>
              <a:rPr sz="1750" dirty="0">
                <a:latin typeface="Verdana"/>
                <a:cs typeface="Verdana"/>
              </a:rPr>
              <a:t>charges</a:t>
            </a:r>
            <a:r>
              <a:rPr sz="1750" spc="-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to appear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on</a:t>
            </a:r>
            <a:r>
              <a:rPr sz="1750" spc="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opposite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faces</a:t>
            </a:r>
            <a:r>
              <a:rPr sz="1750" spc="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of</a:t>
            </a:r>
            <a:r>
              <a:rPr sz="1750" spc="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-1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crystal.</a:t>
            </a:r>
            <a:endParaRPr sz="1750">
              <a:latin typeface="Verdana"/>
              <a:cs typeface="Verdana"/>
            </a:endParaRPr>
          </a:p>
          <a:p>
            <a:pPr marL="389255" marR="6985" indent="-377190" algn="just">
              <a:lnSpc>
                <a:spcPts val="2750"/>
              </a:lnSpc>
              <a:spcBef>
                <a:spcPts val="200"/>
              </a:spcBef>
              <a:buFont typeface="Wingdings"/>
              <a:buChar char=""/>
              <a:tabLst>
                <a:tab pos="390525" algn="l"/>
              </a:tabLst>
            </a:pPr>
            <a:r>
              <a:rPr sz="1750" b="1" dirty="0">
                <a:latin typeface="Verdana"/>
                <a:cs typeface="Verdana"/>
              </a:rPr>
              <a:t>Voltage</a:t>
            </a:r>
            <a:r>
              <a:rPr sz="1750" b="1" spc="145" dirty="0">
                <a:latin typeface="Verdana"/>
                <a:cs typeface="Verdana"/>
              </a:rPr>
              <a:t> </a:t>
            </a:r>
            <a:r>
              <a:rPr sz="1750" b="1" dirty="0">
                <a:latin typeface="Verdana"/>
                <a:cs typeface="Verdana"/>
              </a:rPr>
              <a:t>Output:</a:t>
            </a:r>
            <a:r>
              <a:rPr sz="1750" b="1" spc="15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1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metal</a:t>
            </a:r>
            <a:r>
              <a:rPr sz="1750" spc="1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plates</a:t>
            </a:r>
            <a:r>
              <a:rPr sz="1750" spc="14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on</a:t>
            </a:r>
            <a:r>
              <a:rPr sz="1750" spc="13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either</a:t>
            </a:r>
            <a:r>
              <a:rPr sz="1750" spc="14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side</a:t>
            </a:r>
            <a:r>
              <a:rPr sz="1750" spc="14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of</a:t>
            </a:r>
            <a:r>
              <a:rPr sz="1750" spc="14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1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crystal</a:t>
            </a:r>
            <a:r>
              <a:rPr sz="1750" spc="1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collect</a:t>
            </a:r>
            <a:r>
              <a:rPr sz="1750" spc="13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these 	</a:t>
            </a:r>
            <a:r>
              <a:rPr sz="1750" dirty="0">
                <a:latin typeface="Verdana"/>
                <a:cs typeface="Verdana"/>
              </a:rPr>
              <a:t>charges,</a:t>
            </a:r>
            <a:r>
              <a:rPr sz="1750" spc="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producing</a:t>
            </a:r>
            <a:r>
              <a:rPr sz="1750" spc="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an</a:t>
            </a:r>
            <a:r>
              <a:rPr sz="1750" spc="1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analog</a:t>
            </a:r>
            <a:r>
              <a:rPr sz="1750" spc="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voltage</a:t>
            </a:r>
            <a:r>
              <a:rPr sz="1750" spc="1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output</a:t>
            </a:r>
            <a:r>
              <a:rPr sz="1750" spc="-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that</a:t>
            </a:r>
            <a:r>
              <a:rPr sz="1750" spc="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is  proportional</a:t>
            </a:r>
            <a:r>
              <a:rPr sz="1750" spc="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to  </a:t>
            </a:r>
            <a:r>
              <a:rPr sz="1750" spc="-25" dirty="0">
                <a:latin typeface="Verdana"/>
                <a:cs typeface="Verdana"/>
              </a:rPr>
              <a:t>the 	</a:t>
            </a:r>
            <a:r>
              <a:rPr sz="1750" dirty="0">
                <a:latin typeface="Verdana"/>
                <a:cs typeface="Verdana"/>
              </a:rPr>
              <a:t>applied</a:t>
            </a:r>
            <a:r>
              <a:rPr sz="1750" spc="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force</a:t>
            </a:r>
            <a:r>
              <a:rPr sz="1750" spc="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or</a:t>
            </a:r>
            <a:r>
              <a:rPr sz="1750" spc="20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stress.</a:t>
            </a:r>
            <a:endParaRPr sz="175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430"/>
              </a:spcBef>
              <a:buFont typeface="Wingdings"/>
              <a:buChar char=""/>
              <a:tabLst>
                <a:tab pos="389890" algn="l"/>
              </a:tabLst>
            </a:pPr>
            <a:r>
              <a:rPr sz="1750" b="1" dirty="0">
                <a:latin typeface="Verdana"/>
                <a:cs typeface="Verdana"/>
              </a:rPr>
              <a:t>Signal</a:t>
            </a:r>
            <a:r>
              <a:rPr sz="1750" b="1" spc="55" dirty="0">
                <a:latin typeface="Verdana"/>
                <a:cs typeface="Verdana"/>
              </a:rPr>
              <a:t>  </a:t>
            </a:r>
            <a:r>
              <a:rPr sz="1750" b="1" dirty="0">
                <a:latin typeface="Verdana"/>
                <a:cs typeface="Verdana"/>
              </a:rPr>
              <a:t>Processing:</a:t>
            </a:r>
            <a:r>
              <a:rPr sz="1750" b="1" spc="5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3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generated</a:t>
            </a:r>
            <a:r>
              <a:rPr sz="1750" spc="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electrical</a:t>
            </a:r>
            <a:r>
              <a:rPr sz="1750" spc="5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charge</a:t>
            </a:r>
            <a:r>
              <a:rPr sz="1750" spc="3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is</a:t>
            </a:r>
            <a:r>
              <a:rPr sz="1750" spc="4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often</a:t>
            </a:r>
            <a:r>
              <a:rPr sz="1750" spc="4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small</a:t>
            </a:r>
            <a:r>
              <a:rPr sz="1750" spc="40" dirty="0">
                <a:latin typeface="Verdana"/>
                <a:cs typeface="Verdana"/>
              </a:rPr>
              <a:t>  </a:t>
            </a:r>
            <a:r>
              <a:rPr sz="1750" spc="-25" dirty="0">
                <a:latin typeface="Verdana"/>
                <a:cs typeface="Verdana"/>
              </a:rPr>
              <a:t>and</a:t>
            </a:r>
            <a:endParaRPr sz="1750">
              <a:latin typeface="Verdana"/>
              <a:cs typeface="Verdana"/>
            </a:endParaRPr>
          </a:p>
          <a:p>
            <a:pPr marL="390525" marR="6350" algn="just">
              <a:lnSpc>
                <a:spcPts val="2750"/>
              </a:lnSpc>
              <a:spcBef>
                <a:spcPts val="200"/>
              </a:spcBef>
            </a:pPr>
            <a:r>
              <a:rPr sz="1750" dirty="0">
                <a:latin typeface="Verdana"/>
                <a:cs typeface="Verdana"/>
              </a:rPr>
              <a:t>requires</a:t>
            </a:r>
            <a:r>
              <a:rPr sz="1750" spc="20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specialized</a:t>
            </a:r>
            <a:r>
              <a:rPr sz="1750" spc="2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electronics,</a:t>
            </a:r>
            <a:r>
              <a:rPr sz="1750" spc="2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such</a:t>
            </a:r>
            <a:r>
              <a:rPr sz="1750" spc="2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as</a:t>
            </a:r>
            <a:r>
              <a:rPr sz="1750" spc="24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</a:t>
            </a:r>
            <a:r>
              <a:rPr sz="1750" spc="2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charge</a:t>
            </a:r>
            <a:r>
              <a:rPr sz="1750" spc="2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amplifier,</a:t>
            </a:r>
            <a:r>
              <a:rPr sz="1750" spc="2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to</a:t>
            </a:r>
            <a:r>
              <a:rPr sz="1750" spc="2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be</a:t>
            </a:r>
            <a:r>
              <a:rPr sz="1750" spc="23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converted </a:t>
            </a:r>
            <a:r>
              <a:rPr sz="1750" dirty="0">
                <a:latin typeface="Verdana"/>
                <a:cs typeface="Verdana"/>
              </a:rPr>
              <a:t>into</a:t>
            </a:r>
            <a:r>
              <a:rPr sz="1750" spc="-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</a:t>
            </a:r>
            <a:r>
              <a:rPr sz="1750" spc="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usable signal for</a:t>
            </a:r>
            <a:r>
              <a:rPr sz="1750" spc="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processing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and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interpretation.</a:t>
            </a:r>
            <a:endParaRPr sz="175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445"/>
              </a:spcBef>
            </a:pP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Piezoelectric</a:t>
            </a:r>
            <a:r>
              <a:rPr sz="1750" b="1" spc="3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sensors</a:t>
            </a:r>
            <a:r>
              <a:rPr sz="1750" b="1" spc="3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are</a:t>
            </a:r>
            <a:r>
              <a:rPr sz="1750" b="1" spc="3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ideal</a:t>
            </a:r>
            <a:r>
              <a:rPr sz="1750" b="1" spc="3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for</a:t>
            </a:r>
            <a:r>
              <a:rPr sz="1750" b="1" spc="3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measuring</a:t>
            </a:r>
            <a:r>
              <a:rPr sz="1750" b="1" spc="3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dynamic</a:t>
            </a:r>
            <a:r>
              <a:rPr sz="1750" b="1" spc="3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changes</a:t>
            </a:r>
            <a:r>
              <a:rPr sz="1750" b="1" spc="3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but</a:t>
            </a:r>
            <a:r>
              <a:rPr sz="1750" spc="325" dirty="0">
                <a:latin typeface="Verdana"/>
                <a:cs typeface="Verdana"/>
              </a:rPr>
              <a:t> </a:t>
            </a:r>
            <a:r>
              <a:rPr sz="1750" spc="-25" dirty="0">
                <a:latin typeface="Verdana"/>
                <a:cs typeface="Verdana"/>
              </a:rPr>
              <a:t>are</a:t>
            </a:r>
            <a:endParaRPr sz="1750">
              <a:latin typeface="Verdana"/>
              <a:cs typeface="Verdana"/>
            </a:endParaRPr>
          </a:p>
          <a:p>
            <a:pPr marL="12700" marR="5080" algn="just">
              <a:lnSpc>
                <a:spcPct val="130300"/>
              </a:lnSpc>
              <a:spcBef>
                <a:spcPts val="10"/>
              </a:spcBef>
            </a:pPr>
            <a:r>
              <a:rPr sz="1750" dirty="0">
                <a:latin typeface="Verdana"/>
                <a:cs typeface="Verdana"/>
              </a:rPr>
              <a:t>generally</a:t>
            </a:r>
            <a:r>
              <a:rPr sz="1750" spc="-2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not</a:t>
            </a:r>
            <a:r>
              <a:rPr sz="1750" spc="-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suitable</a:t>
            </a:r>
            <a:r>
              <a:rPr sz="1750" spc="-2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for</a:t>
            </a:r>
            <a:r>
              <a:rPr sz="1750" spc="-2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measuring</a:t>
            </a:r>
            <a:r>
              <a:rPr sz="1750" spc="-2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static</a:t>
            </a:r>
            <a:r>
              <a:rPr sz="1750" spc="-2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pressure</a:t>
            </a:r>
            <a:r>
              <a:rPr sz="1750" spc="-2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or</a:t>
            </a:r>
            <a:r>
              <a:rPr sz="1750" spc="-2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force</a:t>
            </a:r>
            <a:r>
              <a:rPr sz="1750" spc="-2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due</a:t>
            </a:r>
            <a:r>
              <a:rPr sz="1750" spc="-2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to</a:t>
            </a:r>
            <a:r>
              <a:rPr sz="1750" spc="-20" dirty="0">
                <a:latin typeface="Verdana"/>
                <a:cs typeface="Verdana"/>
              </a:rPr>
              <a:t>  </a:t>
            </a:r>
            <a:r>
              <a:rPr sz="1750" spc="-10" dirty="0">
                <a:latin typeface="Verdana"/>
                <a:cs typeface="Verdana"/>
              </a:rPr>
              <a:t>charge </a:t>
            </a:r>
            <a:r>
              <a:rPr sz="1750" dirty="0">
                <a:latin typeface="Verdana"/>
                <a:cs typeface="Verdana"/>
              </a:rPr>
              <a:t>leakage</a:t>
            </a:r>
            <a:r>
              <a:rPr sz="1750" spc="-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over </a:t>
            </a:r>
            <a:r>
              <a:rPr sz="1750" spc="-20" dirty="0">
                <a:latin typeface="Verdana"/>
                <a:cs typeface="Verdana"/>
              </a:rPr>
              <a:t>time.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96770" y="124572"/>
            <a:ext cx="786638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0495" marR="5080" indent="-1408430">
              <a:lnSpc>
                <a:spcPct val="100200"/>
              </a:lnSpc>
              <a:spcBef>
                <a:spcPts val="100"/>
              </a:spcBef>
            </a:pPr>
            <a:r>
              <a:rPr dirty="0"/>
              <a:t>Piezoelectric</a:t>
            </a:r>
            <a:r>
              <a:rPr spc="-110" dirty="0"/>
              <a:t> </a:t>
            </a:r>
            <a:r>
              <a:rPr dirty="0"/>
              <a:t>Strain</a:t>
            </a:r>
            <a:r>
              <a:rPr spc="10" dirty="0"/>
              <a:t> </a:t>
            </a:r>
            <a:r>
              <a:rPr dirty="0"/>
              <a:t>Gauge</a:t>
            </a:r>
            <a:r>
              <a:rPr spc="-35" dirty="0"/>
              <a:t> </a:t>
            </a:r>
            <a:r>
              <a:rPr spc="-50" dirty="0"/>
              <a:t>- </a:t>
            </a:r>
            <a:r>
              <a:rPr dirty="0"/>
              <a:t>Working</a:t>
            </a:r>
            <a:r>
              <a:rPr spc="-55" dirty="0"/>
              <a:t> </a:t>
            </a:r>
            <a:r>
              <a:rPr spc="-10" dirty="0"/>
              <a:t>Principle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0842" y="1499153"/>
            <a:ext cx="471932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10"/>
              </a:spcBef>
              <a:buFont typeface="Wingdings"/>
              <a:buChar char=""/>
              <a:tabLst>
                <a:tab pos="390525" algn="l"/>
              </a:tabLst>
            </a:pPr>
            <a:r>
              <a:rPr sz="1750" b="1" dirty="0">
                <a:latin typeface="Verdana"/>
                <a:cs typeface="Verdana"/>
              </a:rPr>
              <a:t>Material:</a:t>
            </a:r>
            <a:r>
              <a:rPr sz="1750" b="1" spc="4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Uses</a:t>
            </a:r>
            <a:r>
              <a:rPr sz="1750" spc="-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</a:t>
            </a:r>
            <a:r>
              <a:rPr sz="1750" spc="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piezoelectric</a:t>
            </a:r>
            <a:r>
              <a:rPr sz="1750" spc="-10" dirty="0">
                <a:latin typeface="Verdana"/>
                <a:cs typeface="Verdana"/>
              </a:rPr>
              <a:t> crystal.</a:t>
            </a:r>
            <a:endParaRPr sz="175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325" y="1844039"/>
            <a:ext cx="6164994" cy="35996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0842" y="5625121"/>
            <a:ext cx="9295765" cy="1635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0525" marR="5080" indent="-378460">
              <a:lnSpc>
                <a:spcPct val="150900"/>
              </a:lnSpc>
              <a:spcBef>
                <a:spcPts val="95"/>
              </a:spcBef>
              <a:buFont typeface="Wingdings"/>
              <a:buChar char=""/>
              <a:tabLst>
                <a:tab pos="390525" algn="l"/>
                <a:tab pos="2097405" algn="l"/>
                <a:tab pos="2798445" algn="l"/>
                <a:tab pos="3210560" algn="l"/>
                <a:tab pos="3786504" algn="l"/>
                <a:tab pos="4742815" algn="l"/>
                <a:tab pos="5569585" algn="l"/>
                <a:tab pos="7484745" algn="l"/>
                <a:tab pos="8296275" algn="l"/>
              </a:tabLst>
            </a:pPr>
            <a:r>
              <a:rPr sz="1750" b="1" spc="-10" dirty="0">
                <a:latin typeface="Verdana"/>
                <a:cs typeface="Verdana"/>
              </a:rPr>
              <a:t>Mechanism:</a:t>
            </a:r>
            <a:r>
              <a:rPr sz="1750" b="1" dirty="0">
                <a:latin typeface="Verdana"/>
                <a:cs typeface="Verdana"/>
              </a:rPr>
              <a:t>	</a:t>
            </a:r>
            <a:r>
              <a:rPr sz="1750" spc="-20" dirty="0">
                <a:latin typeface="Verdana"/>
                <a:cs typeface="Verdana"/>
              </a:rPr>
              <a:t>Ions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in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the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crystal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0" dirty="0">
                <a:latin typeface="Verdana"/>
                <a:cs typeface="Verdana"/>
              </a:rPr>
              <a:t>move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asymmetrically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0" dirty="0">
                <a:latin typeface="Verdana"/>
                <a:cs typeface="Verdana"/>
              </a:rPr>
              <a:t>when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strained, </a:t>
            </a:r>
            <a:r>
              <a:rPr sz="1750" dirty="0">
                <a:latin typeface="Verdana"/>
                <a:cs typeface="Verdana"/>
              </a:rPr>
              <a:t>generating</a:t>
            </a:r>
            <a:r>
              <a:rPr sz="1750" spc="-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Electromotive</a:t>
            </a:r>
            <a:r>
              <a:rPr sz="1750" spc="-2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Force</a:t>
            </a:r>
            <a:r>
              <a:rPr sz="1750" spc="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(EMF)</a:t>
            </a:r>
            <a:r>
              <a:rPr sz="1750" spc="-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between</a:t>
            </a:r>
            <a:r>
              <a:rPr sz="1750" spc="-30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faces.</a:t>
            </a:r>
            <a:endParaRPr sz="1750">
              <a:latin typeface="Verdana"/>
              <a:cs typeface="Verdana"/>
            </a:endParaRPr>
          </a:p>
          <a:p>
            <a:pPr marL="390525" marR="5080" indent="-378460">
              <a:lnSpc>
                <a:spcPct val="150900"/>
              </a:lnSpc>
              <a:buFont typeface="Wingdings"/>
              <a:buChar char=""/>
              <a:tabLst>
                <a:tab pos="390525" algn="l"/>
              </a:tabLst>
            </a:pPr>
            <a:r>
              <a:rPr sz="1750" b="1" dirty="0">
                <a:latin typeface="Verdana"/>
                <a:cs typeface="Verdana"/>
              </a:rPr>
              <a:t>Orientation:</a:t>
            </a:r>
            <a:r>
              <a:rPr sz="1750" b="1" spc="28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Maximum</a:t>
            </a:r>
            <a:r>
              <a:rPr sz="1750" spc="27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electric</a:t>
            </a:r>
            <a:r>
              <a:rPr sz="1750" spc="26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effect</a:t>
            </a:r>
            <a:r>
              <a:rPr sz="1750" spc="254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occurs</a:t>
            </a:r>
            <a:r>
              <a:rPr sz="1750" spc="26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across</a:t>
            </a:r>
            <a:r>
              <a:rPr sz="1750" spc="26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faces</a:t>
            </a:r>
            <a:r>
              <a:rPr sz="1750" spc="28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at</a:t>
            </a:r>
            <a:r>
              <a:rPr sz="1750" spc="27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right</a:t>
            </a:r>
            <a:r>
              <a:rPr sz="1750" spc="27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angles</a:t>
            </a:r>
            <a:r>
              <a:rPr sz="1750" spc="265" dirty="0">
                <a:latin typeface="Verdana"/>
                <a:cs typeface="Verdana"/>
              </a:rPr>
              <a:t> </a:t>
            </a:r>
            <a:r>
              <a:rPr sz="1750" spc="-25" dirty="0">
                <a:latin typeface="Verdana"/>
                <a:cs typeface="Verdana"/>
              </a:rPr>
              <a:t>to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applied</a:t>
            </a:r>
            <a:r>
              <a:rPr sz="1750" spc="20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force.</a:t>
            </a:r>
            <a:endParaRPr sz="175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0880" y="2778664"/>
            <a:ext cx="2806917" cy="23434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25064" y="426127"/>
            <a:ext cx="801370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Piezoelectric</a:t>
            </a:r>
            <a:r>
              <a:rPr spc="-105" dirty="0"/>
              <a:t> </a:t>
            </a:r>
            <a:r>
              <a:rPr spc="-10" dirty="0"/>
              <a:t>Characteristics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4700" y="1701169"/>
            <a:ext cx="896048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  <a:tab pos="1800225" algn="l"/>
                <a:tab pos="2550160" algn="l"/>
                <a:tab pos="4003040" algn="l"/>
                <a:tab pos="4828540" algn="l"/>
                <a:tab pos="5743575" algn="l"/>
                <a:tab pos="6529705" algn="l"/>
                <a:tab pos="7865745" algn="l"/>
                <a:tab pos="8557260" algn="l"/>
              </a:tabLst>
            </a:pPr>
            <a:r>
              <a:rPr sz="2200" b="1" spc="-10" dirty="0">
                <a:latin typeface="Verdana"/>
                <a:cs typeface="Verdana"/>
              </a:rPr>
              <a:t>Output: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Can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generate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very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large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EMF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(several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kV)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for </a:t>
            </a:r>
            <a:r>
              <a:rPr sz="2200" dirty="0">
                <a:latin typeface="Verdana"/>
                <a:cs typeface="Verdana"/>
              </a:rPr>
              <a:t>heavily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strained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crystals.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Impedance:</a:t>
            </a:r>
            <a:r>
              <a:rPr sz="2200" b="1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output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impedance,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usually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capacitive.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2469" y="3664944"/>
            <a:ext cx="4521478" cy="279320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3508" y="124572"/>
            <a:ext cx="897191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2970" marR="5080" indent="-3430904">
              <a:lnSpc>
                <a:spcPct val="100200"/>
              </a:lnSpc>
              <a:spcBef>
                <a:spcPts val="100"/>
              </a:spcBef>
            </a:pPr>
            <a:r>
              <a:rPr dirty="0"/>
              <a:t>Electrical</a:t>
            </a:r>
            <a:r>
              <a:rPr spc="-55" dirty="0"/>
              <a:t> </a:t>
            </a:r>
            <a:r>
              <a:rPr dirty="0"/>
              <a:t>Model</a:t>
            </a:r>
            <a:r>
              <a:rPr spc="-4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Piezoelectric Gauges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7066" y="1347654"/>
            <a:ext cx="9126220" cy="153416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42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Equivalent</a:t>
            </a:r>
            <a:r>
              <a:rPr sz="2200" b="1" spc="-5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Circuit:</a:t>
            </a:r>
            <a:r>
              <a:rPr sz="2200" b="1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Corresponds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series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resonant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circuit.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Components: </a:t>
            </a:r>
            <a:r>
              <a:rPr sz="2200" dirty="0">
                <a:latin typeface="Verdana"/>
                <a:cs typeface="Verdana"/>
              </a:rPr>
              <a:t>Very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inductance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(L),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low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capacitance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(C),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negligible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(R).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542" y="3394636"/>
            <a:ext cx="2593330" cy="305895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6848" y="3482057"/>
            <a:ext cx="4987231" cy="255991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83700" y="124572"/>
            <a:ext cx="768921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2890" marR="5080" indent="-2790825">
              <a:lnSpc>
                <a:spcPct val="100200"/>
              </a:lnSpc>
              <a:spcBef>
                <a:spcPts val="100"/>
              </a:spcBef>
            </a:pPr>
            <a:r>
              <a:rPr dirty="0"/>
              <a:t>Limitations</a:t>
            </a:r>
            <a:r>
              <a:rPr spc="-55" dirty="0"/>
              <a:t> </a:t>
            </a:r>
            <a:r>
              <a:rPr dirty="0"/>
              <a:t>of </a:t>
            </a:r>
            <a:r>
              <a:rPr spc="-10" dirty="0"/>
              <a:t>Piezoelectric Gauges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52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  <a:tab pos="972819" algn="l"/>
                <a:tab pos="2741930" algn="l"/>
                <a:tab pos="3405504" algn="l"/>
                <a:tab pos="4838700" algn="l"/>
                <a:tab pos="6130290" algn="l"/>
              </a:tabLst>
            </a:pPr>
            <a:r>
              <a:rPr sz="2200" b="1" spc="-25" dirty="0">
                <a:latin typeface="Verdana"/>
                <a:cs typeface="Verdana"/>
              </a:rPr>
              <a:t>DC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b="1" spc="-10" dirty="0">
                <a:latin typeface="Verdana"/>
                <a:cs typeface="Verdana"/>
              </a:rPr>
              <a:t>Response: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25" dirty="0"/>
              <a:t>The</a:t>
            </a:r>
            <a:r>
              <a:rPr sz="2200" dirty="0"/>
              <a:t>	output</a:t>
            </a:r>
            <a:r>
              <a:rPr sz="2200" spc="340" dirty="0"/>
              <a:t> </a:t>
            </a:r>
            <a:r>
              <a:rPr sz="2200" spc="-25" dirty="0"/>
              <a:t>is</a:t>
            </a:r>
            <a:r>
              <a:rPr sz="2200" dirty="0"/>
              <a:t>	not</a:t>
            </a:r>
            <a:r>
              <a:rPr sz="2200" spc="385" dirty="0"/>
              <a:t> </a:t>
            </a:r>
            <a:r>
              <a:rPr sz="2200" spc="-25" dirty="0"/>
              <a:t>DC;</a:t>
            </a:r>
            <a:r>
              <a:rPr sz="2200" dirty="0"/>
              <a:t>	therefore,</a:t>
            </a:r>
            <a:r>
              <a:rPr sz="2200" spc="330" dirty="0"/>
              <a:t> </a:t>
            </a:r>
            <a:r>
              <a:rPr sz="2200" dirty="0"/>
              <a:t>it</a:t>
            </a:r>
            <a:r>
              <a:rPr sz="2200" spc="330" dirty="0"/>
              <a:t> </a:t>
            </a:r>
            <a:r>
              <a:rPr sz="2200" spc="-10" dirty="0"/>
              <a:t>cannot </a:t>
            </a:r>
            <a:r>
              <a:rPr sz="2200" dirty="0"/>
              <a:t>detect</a:t>
            </a:r>
            <a:r>
              <a:rPr sz="2200" spc="-40" dirty="0"/>
              <a:t> </a:t>
            </a:r>
            <a:r>
              <a:rPr sz="2200" dirty="0"/>
              <a:t>slow</a:t>
            </a:r>
            <a:r>
              <a:rPr sz="2200" spc="-45" dirty="0"/>
              <a:t> </a:t>
            </a:r>
            <a:r>
              <a:rPr sz="2200" dirty="0"/>
              <a:t>or</a:t>
            </a:r>
            <a:r>
              <a:rPr sz="2200" spc="-65" dirty="0"/>
              <a:t> </a:t>
            </a:r>
            <a:r>
              <a:rPr sz="2200" dirty="0"/>
              <a:t>static</a:t>
            </a:r>
            <a:r>
              <a:rPr sz="2200" spc="-50" dirty="0"/>
              <a:t> </a:t>
            </a:r>
            <a:r>
              <a:rPr sz="2200" spc="-10" dirty="0"/>
              <a:t>changes.</a:t>
            </a:r>
            <a:endParaRPr sz="2200">
              <a:latin typeface="Verdana"/>
              <a:cs typeface="Verdana"/>
            </a:endParaRPr>
          </a:p>
          <a:p>
            <a:pPr marL="390525" marR="5715" indent="-378460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Ideal</a:t>
            </a:r>
            <a:r>
              <a:rPr sz="2200" b="1" spc="150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Application:</a:t>
            </a:r>
            <a:r>
              <a:rPr sz="2200" b="1" spc="150" dirty="0">
                <a:latin typeface="Verdana"/>
                <a:cs typeface="Verdana"/>
              </a:rPr>
              <a:t> </a:t>
            </a:r>
            <a:r>
              <a:rPr sz="2200" dirty="0"/>
              <a:t>Useful</a:t>
            </a:r>
            <a:r>
              <a:rPr sz="2200" spc="145" dirty="0"/>
              <a:t> </a:t>
            </a:r>
            <a:r>
              <a:rPr sz="2200" dirty="0"/>
              <a:t>where</a:t>
            </a:r>
            <a:r>
              <a:rPr sz="2200" spc="125" dirty="0"/>
              <a:t> </a:t>
            </a:r>
            <a:r>
              <a:rPr sz="2200" dirty="0"/>
              <a:t>strain</a:t>
            </a:r>
            <a:r>
              <a:rPr sz="2200" spc="130" dirty="0"/>
              <a:t> </a:t>
            </a:r>
            <a:r>
              <a:rPr sz="2200" dirty="0"/>
              <a:t>is</a:t>
            </a:r>
            <a:r>
              <a:rPr sz="2200" spc="110" dirty="0"/>
              <a:t> </a:t>
            </a:r>
            <a:r>
              <a:rPr sz="2200" dirty="0"/>
              <a:t>of</a:t>
            </a:r>
            <a:r>
              <a:rPr sz="2200" spc="125" dirty="0"/>
              <a:t> </a:t>
            </a:r>
            <a:r>
              <a:rPr sz="2200" dirty="0"/>
              <a:t>short</a:t>
            </a:r>
            <a:r>
              <a:rPr sz="2200" spc="150" dirty="0"/>
              <a:t> </a:t>
            </a:r>
            <a:r>
              <a:rPr sz="2200" spc="-10" dirty="0"/>
              <a:t>duration </a:t>
            </a:r>
            <a:r>
              <a:rPr sz="2200" dirty="0"/>
              <a:t>or</a:t>
            </a:r>
            <a:r>
              <a:rPr sz="2200" spc="-70" dirty="0"/>
              <a:t> </a:t>
            </a:r>
            <a:r>
              <a:rPr sz="2200" dirty="0"/>
              <a:t>rapidly</a:t>
            </a:r>
            <a:r>
              <a:rPr sz="2200" spc="-60" dirty="0"/>
              <a:t> </a:t>
            </a:r>
            <a:r>
              <a:rPr sz="2200" spc="-10" dirty="0"/>
              <a:t>changing.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"/>
              <a:tabLst>
                <a:tab pos="390525" algn="l"/>
                <a:tab pos="1857375" algn="l"/>
                <a:tab pos="2657475" algn="l"/>
                <a:tab pos="3732529" algn="l"/>
                <a:tab pos="4610735" algn="l"/>
                <a:tab pos="6348095" algn="l"/>
                <a:tab pos="6791959" algn="l"/>
                <a:tab pos="7268845" algn="l"/>
              </a:tabLst>
            </a:pPr>
            <a:r>
              <a:rPr sz="2200" b="1" spc="-10" dirty="0">
                <a:latin typeface="Verdana"/>
                <a:cs typeface="Verdana"/>
              </a:rPr>
              <a:t>Primary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b="1" spc="-25" dirty="0">
                <a:latin typeface="Verdana"/>
                <a:cs typeface="Verdana"/>
              </a:rPr>
              <a:t>Use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b="1" spc="-20" dirty="0">
                <a:latin typeface="Verdana"/>
                <a:cs typeface="Verdana"/>
              </a:rPr>
              <a:t>Case: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20" dirty="0"/>
              <a:t>Main</a:t>
            </a:r>
            <a:r>
              <a:rPr sz="2200" dirty="0"/>
              <a:t>	</a:t>
            </a:r>
            <a:r>
              <a:rPr sz="2200" spc="-10" dirty="0"/>
              <a:t>application</a:t>
            </a:r>
            <a:r>
              <a:rPr sz="2200" dirty="0"/>
              <a:t>	</a:t>
            </a:r>
            <a:r>
              <a:rPr sz="2200" spc="-25" dirty="0"/>
              <a:t>is</a:t>
            </a:r>
            <a:r>
              <a:rPr sz="2200" dirty="0"/>
              <a:t>	</a:t>
            </a:r>
            <a:r>
              <a:rPr sz="2200" spc="-25" dirty="0"/>
              <a:t>in</a:t>
            </a:r>
            <a:r>
              <a:rPr sz="2200" dirty="0"/>
              <a:t>	</a:t>
            </a:r>
            <a:r>
              <a:rPr sz="2200" spc="-10" dirty="0"/>
              <a:t>acceleration </a:t>
            </a:r>
            <a:r>
              <a:rPr sz="2200" dirty="0"/>
              <a:t>sensing</a:t>
            </a:r>
            <a:r>
              <a:rPr sz="2200" spc="-65" dirty="0"/>
              <a:t> </a:t>
            </a:r>
            <a:r>
              <a:rPr sz="2200" dirty="0"/>
              <a:t>rather</a:t>
            </a:r>
            <a:r>
              <a:rPr sz="2200" spc="-70" dirty="0"/>
              <a:t> </a:t>
            </a:r>
            <a:r>
              <a:rPr sz="2200" dirty="0"/>
              <a:t>than</a:t>
            </a:r>
            <a:r>
              <a:rPr sz="2200" spc="-65" dirty="0"/>
              <a:t> </a:t>
            </a:r>
            <a:r>
              <a:rPr sz="2200" dirty="0"/>
              <a:t>static</a:t>
            </a:r>
            <a:r>
              <a:rPr sz="2200" spc="-75" dirty="0"/>
              <a:t> </a:t>
            </a:r>
            <a:r>
              <a:rPr sz="2200" spc="-10" dirty="0"/>
              <a:t>strain.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4604" y="426127"/>
            <a:ext cx="43275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Common</a:t>
            </a:r>
            <a:r>
              <a:rPr spc="-10" dirty="0"/>
              <a:t> Types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255" algn="just">
              <a:lnSpc>
                <a:spcPct val="150900"/>
              </a:lnSpc>
              <a:spcBef>
                <a:spcPts val="95"/>
              </a:spcBef>
            </a:pPr>
            <a:r>
              <a:rPr dirty="0"/>
              <a:t>Piezoelectric</a:t>
            </a:r>
            <a:r>
              <a:rPr spc="-5" dirty="0"/>
              <a:t> </a:t>
            </a:r>
            <a:r>
              <a:rPr dirty="0"/>
              <a:t>sensors</a:t>
            </a:r>
            <a:r>
              <a:rPr spc="30" dirty="0"/>
              <a:t> </a:t>
            </a:r>
            <a:r>
              <a:rPr dirty="0"/>
              <a:t>come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various</a:t>
            </a:r>
            <a:r>
              <a:rPr spc="15" dirty="0"/>
              <a:t> </a:t>
            </a:r>
            <a:r>
              <a:rPr dirty="0"/>
              <a:t>forms</a:t>
            </a:r>
            <a:r>
              <a:rPr spc="45" dirty="0"/>
              <a:t> </a:t>
            </a:r>
            <a:r>
              <a:rPr dirty="0"/>
              <a:t>designed</a:t>
            </a:r>
            <a:r>
              <a:rPr spc="30" dirty="0"/>
              <a:t> </a:t>
            </a:r>
            <a:r>
              <a:rPr dirty="0"/>
              <a:t>for</a:t>
            </a:r>
            <a:r>
              <a:rPr spc="20" dirty="0"/>
              <a:t> </a:t>
            </a:r>
            <a:r>
              <a:rPr dirty="0"/>
              <a:t>specific</a:t>
            </a:r>
            <a:r>
              <a:rPr spc="15" dirty="0"/>
              <a:t> </a:t>
            </a:r>
            <a:r>
              <a:rPr spc="-10" dirty="0"/>
              <a:t>measurement tasks.</a:t>
            </a:r>
          </a:p>
          <a:p>
            <a:pPr marL="389255" marR="5080" indent="-377190" algn="just">
              <a:lnSpc>
                <a:spcPct val="150900"/>
              </a:lnSpc>
              <a:buFont typeface="Wingdings"/>
              <a:buChar char=""/>
              <a:tabLst>
                <a:tab pos="390525" algn="l"/>
              </a:tabLst>
            </a:pPr>
            <a:r>
              <a:rPr b="1" dirty="0">
                <a:latin typeface="Verdana"/>
                <a:cs typeface="Verdana"/>
              </a:rPr>
              <a:t>Piezoelectric</a:t>
            </a:r>
            <a:r>
              <a:rPr b="1" spc="100" dirty="0">
                <a:latin typeface="Verdana"/>
                <a:cs typeface="Verdana"/>
              </a:rPr>
              <a:t> </a:t>
            </a:r>
            <a:r>
              <a:rPr b="1" dirty="0">
                <a:latin typeface="Verdana"/>
                <a:cs typeface="Verdana"/>
              </a:rPr>
              <a:t>Accelerometers:</a:t>
            </a:r>
            <a:r>
              <a:rPr b="1" spc="85" dirty="0">
                <a:latin typeface="Verdana"/>
                <a:cs typeface="Verdana"/>
              </a:rPr>
              <a:t> </a:t>
            </a:r>
            <a:r>
              <a:rPr dirty="0"/>
              <a:t>These</a:t>
            </a:r>
            <a:r>
              <a:rPr spc="70" dirty="0"/>
              <a:t> </a:t>
            </a:r>
            <a:r>
              <a:rPr dirty="0"/>
              <a:t>sensors</a:t>
            </a:r>
            <a:r>
              <a:rPr spc="75" dirty="0"/>
              <a:t> </a:t>
            </a:r>
            <a:r>
              <a:rPr dirty="0"/>
              <a:t>detect</a:t>
            </a:r>
            <a:r>
              <a:rPr spc="90" dirty="0"/>
              <a:t> </a:t>
            </a:r>
            <a:r>
              <a:rPr dirty="0"/>
              <a:t>acceleration,</a:t>
            </a:r>
            <a:r>
              <a:rPr spc="90" dirty="0"/>
              <a:t> </a:t>
            </a:r>
            <a:r>
              <a:rPr spc="-10" dirty="0"/>
              <a:t>shock, 	</a:t>
            </a:r>
            <a:r>
              <a:rPr dirty="0"/>
              <a:t>and</a:t>
            </a:r>
            <a:r>
              <a:rPr spc="-10" dirty="0"/>
              <a:t>  </a:t>
            </a:r>
            <a:r>
              <a:rPr dirty="0"/>
              <a:t>vibration</a:t>
            </a:r>
            <a:r>
              <a:rPr spc="-5" dirty="0"/>
              <a:t>  </a:t>
            </a:r>
            <a:r>
              <a:rPr dirty="0"/>
              <a:t>by</a:t>
            </a:r>
            <a:r>
              <a:rPr spc="-5" dirty="0"/>
              <a:t>  </a:t>
            </a:r>
            <a:r>
              <a:rPr dirty="0"/>
              <a:t>using</a:t>
            </a:r>
            <a:r>
              <a:rPr spc="-5" dirty="0"/>
              <a:t>  </a:t>
            </a:r>
            <a:r>
              <a:rPr dirty="0"/>
              <a:t>a</a:t>
            </a:r>
            <a:r>
              <a:rPr spc="-10" dirty="0"/>
              <a:t>  </a:t>
            </a:r>
            <a:r>
              <a:rPr dirty="0"/>
              <a:t>seismic</a:t>
            </a:r>
            <a:r>
              <a:rPr spc="-5" dirty="0"/>
              <a:t>  </a:t>
            </a:r>
            <a:r>
              <a:rPr dirty="0"/>
              <a:t>mass</a:t>
            </a:r>
            <a:r>
              <a:rPr spc="-15" dirty="0"/>
              <a:t>  </a:t>
            </a:r>
            <a:r>
              <a:rPr dirty="0"/>
              <a:t>attached</a:t>
            </a:r>
            <a:r>
              <a:rPr spc="-15" dirty="0"/>
              <a:t>  </a:t>
            </a:r>
            <a:r>
              <a:rPr dirty="0"/>
              <a:t>to</a:t>
            </a:r>
            <a:r>
              <a:rPr spc="-10" dirty="0"/>
              <a:t>  </a:t>
            </a:r>
            <a:r>
              <a:rPr dirty="0"/>
              <a:t>the</a:t>
            </a:r>
            <a:r>
              <a:rPr spc="-5" dirty="0"/>
              <a:t>  </a:t>
            </a:r>
            <a:r>
              <a:rPr dirty="0"/>
              <a:t>crystal,</a:t>
            </a:r>
            <a:r>
              <a:rPr spc="-15" dirty="0"/>
              <a:t>  </a:t>
            </a:r>
            <a:r>
              <a:rPr spc="-10" dirty="0"/>
              <a:t>which 	</a:t>
            </a:r>
            <a:r>
              <a:rPr dirty="0"/>
              <a:t>applies</a:t>
            </a:r>
            <a:r>
              <a:rPr spc="110" dirty="0"/>
              <a:t>  </a:t>
            </a:r>
            <a:r>
              <a:rPr dirty="0"/>
              <a:t>force</a:t>
            </a:r>
            <a:r>
              <a:rPr spc="120" dirty="0"/>
              <a:t>  </a:t>
            </a:r>
            <a:r>
              <a:rPr dirty="0"/>
              <a:t>during</a:t>
            </a:r>
            <a:r>
              <a:rPr spc="125" dirty="0"/>
              <a:t>  </a:t>
            </a:r>
            <a:r>
              <a:rPr dirty="0"/>
              <a:t>motion.</a:t>
            </a:r>
            <a:r>
              <a:rPr spc="110" dirty="0"/>
              <a:t>  </a:t>
            </a:r>
            <a:r>
              <a:rPr dirty="0"/>
              <a:t>They</a:t>
            </a:r>
            <a:r>
              <a:rPr spc="125" dirty="0"/>
              <a:t>  </a:t>
            </a:r>
            <a:r>
              <a:rPr dirty="0"/>
              <a:t>are</a:t>
            </a:r>
            <a:r>
              <a:rPr spc="120" dirty="0"/>
              <a:t>  </a:t>
            </a:r>
            <a:r>
              <a:rPr dirty="0"/>
              <a:t>common</a:t>
            </a:r>
            <a:r>
              <a:rPr spc="120" dirty="0"/>
              <a:t>  </a:t>
            </a:r>
            <a:r>
              <a:rPr dirty="0"/>
              <a:t>in</a:t>
            </a:r>
            <a:r>
              <a:rPr spc="114" dirty="0"/>
              <a:t>  </a:t>
            </a:r>
            <a:r>
              <a:rPr dirty="0"/>
              <a:t>machinery</a:t>
            </a:r>
            <a:r>
              <a:rPr spc="114" dirty="0"/>
              <a:t>  </a:t>
            </a:r>
            <a:r>
              <a:rPr spc="-10" dirty="0"/>
              <a:t>health 	</a:t>
            </a:r>
            <a:r>
              <a:rPr dirty="0"/>
              <a:t>monitoring and</a:t>
            </a:r>
            <a:r>
              <a:rPr spc="25" dirty="0"/>
              <a:t> </a:t>
            </a:r>
            <a:r>
              <a:rPr dirty="0"/>
              <a:t>aerospace</a:t>
            </a:r>
            <a:r>
              <a:rPr spc="-5" dirty="0"/>
              <a:t> </a:t>
            </a:r>
            <a:r>
              <a:rPr spc="-10" dirty="0"/>
              <a:t>systems.</a:t>
            </a:r>
          </a:p>
          <a:p>
            <a:pPr marL="389255" marR="8890" indent="-377190" algn="just">
              <a:lnSpc>
                <a:spcPct val="150900"/>
              </a:lnSpc>
              <a:buFont typeface="Wingdings"/>
              <a:buChar char=""/>
              <a:tabLst>
                <a:tab pos="390525" algn="l"/>
              </a:tabLst>
            </a:pPr>
            <a:r>
              <a:rPr b="1" dirty="0">
                <a:latin typeface="Verdana"/>
                <a:cs typeface="Verdana"/>
              </a:rPr>
              <a:t>Piezoelectric</a:t>
            </a:r>
            <a:r>
              <a:rPr b="1" spc="420" dirty="0">
                <a:latin typeface="Verdana"/>
                <a:cs typeface="Verdana"/>
              </a:rPr>
              <a:t> </a:t>
            </a:r>
            <a:r>
              <a:rPr b="1" dirty="0">
                <a:latin typeface="Verdana"/>
                <a:cs typeface="Verdana"/>
              </a:rPr>
              <a:t>Force</a:t>
            </a:r>
            <a:r>
              <a:rPr b="1" spc="409" dirty="0">
                <a:latin typeface="Verdana"/>
                <a:cs typeface="Verdana"/>
              </a:rPr>
              <a:t> </a:t>
            </a:r>
            <a:r>
              <a:rPr b="1" dirty="0">
                <a:latin typeface="Verdana"/>
                <a:cs typeface="Verdana"/>
              </a:rPr>
              <a:t>Sensors:</a:t>
            </a:r>
            <a:r>
              <a:rPr b="1" spc="430" dirty="0">
                <a:latin typeface="Verdana"/>
                <a:cs typeface="Verdana"/>
              </a:rPr>
              <a:t> </a:t>
            </a:r>
            <a:r>
              <a:rPr dirty="0"/>
              <a:t>Designed</a:t>
            </a:r>
            <a:r>
              <a:rPr spc="405" dirty="0"/>
              <a:t> </a:t>
            </a:r>
            <a:r>
              <a:rPr dirty="0"/>
              <a:t>to</a:t>
            </a:r>
            <a:r>
              <a:rPr spc="400" dirty="0"/>
              <a:t> </a:t>
            </a:r>
            <a:r>
              <a:rPr dirty="0"/>
              <a:t>quantify</a:t>
            </a:r>
            <a:r>
              <a:rPr spc="390" dirty="0"/>
              <a:t> </a:t>
            </a:r>
            <a:r>
              <a:rPr dirty="0"/>
              <a:t>force,</a:t>
            </a:r>
            <a:r>
              <a:rPr spc="390" dirty="0"/>
              <a:t> </a:t>
            </a:r>
            <a:r>
              <a:rPr dirty="0"/>
              <a:t>tension,</a:t>
            </a:r>
            <a:r>
              <a:rPr spc="390" dirty="0"/>
              <a:t> </a:t>
            </a:r>
            <a:r>
              <a:rPr spc="-25" dirty="0"/>
              <a:t>and 	</a:t>
            </a:r>
            <a:r>
              <a:rPr dirty="0"/>
              <a:t>compression</a:t>
            </a:r>
            <a:r>
              <a:rPr spc="10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dirty="0"/>
              <a:t>industrial</a:t>
            </a:r>
            <a:r>
              <a:rPr spc="10" dirty="0"/>
              <a:t> </a:t>
            </a:r>
            <a:r>
              <a:rPr dirty="0"/>
              <a:t>equipment,</a:t>
            </a:r>
            <a:r>
              <a:rPr spc="-10" dirty="0"/>
              <a:t> </a:t>
            </a:r>
            <a:r>
              <a:rPr dirty="0"/>
              <a:t>robotic</a:t>
            </a:r>
            <a:r>
              <a:rPr spc="15" dirty="0"/>
              <a:t> </a:t>
            </a:r>
            <a:r>
              <a:rPr dirty="0"/>
              <a:t>systems,</a:t>
            </a:r>
            <a:r>
              <a:rPr spc="-10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dirty="0"/>
              <a:t>medical</a:t>
            </a:r>
            <a:r>
              <a:rPr spc="5" dirty="0"/>
              <a:t> </a:t>
            </a:r>
            <a:r>
              <a:rPr spc="-10" dirty="0"/>
              <a:t>devices.</a:t>
            </a:r>
          </a:p>
          <a:p>
            <a:pPr marL="389255" marR="5715" indent="-377190" algn="just">
              <a:lnSpc>
                <a:spcPct val="150900"/>
              </a:lnSpc>
              <a:buFont typeface="Wingdings"/>
              <a:buChar char=""/>
              <a:tabLst>
                <a:tab pos="390525" algn="l"/>
              </a:tabLst>
            </a:pPr>
            <a:r>
              <a:rPr b="1" dirty="0">
                <a:latin typeface="Verdana"/>
                <a:cs typeface="Verdana"/>
              </a:rPr>
              <a:t>Piezoelectric</a:t>
            </a:r>
            <a:r>
              <a:rPr b="1" spc="190" dirty="0">
                <a:latin typeface="Verdana"/>
                <a:cs typeface="Verdana"/>
              </a:rPr>
              <a:t>  </a:t>
            </a:r>
            <a:r>
              <a:rPr b="1" dirty="0">
                <a:latin typeface="Verdana"/>
                <a:cs typeface="Verdana"/>
              </a:rPr>
              <a:t>Pressure</a:t>
            </a:r>
            <a:r>
              <a:rPr b="1" spc="190" dirty="0">
                <a:latin typeface="Verdana"/>
                <a:cs typeface="Verdana"/>
              </a:rPr>
              <a:t>  </a:t>
            </a:r>
            <a:r>
              <a:rPr b="1" dirty="0">
                <a:latin typeface="Verdana"/>
                <a:cs typeface="Verdana"/>
              </a:rPr>
              <a:t>Sensors:</a:t>
            </a:r>
            <a:r>
              <a:rPr b="1" spc="190" dirty="0">
                <a:latin typeface="Verdana"/>
                <a:cs typeface="Verdana"/>
              </a:rPr>
              <a:t>  </a:t>
            </a:r>
            <a:r>
              <a:rPr dirty="0"/>
              <a:t>These</a:t>
            </a:r>
            <a:r>
              <a:rPr spc="175" dirty="0"/>
              <a:t>  </a:t>
            </a:r>
            <a:r>
              <a:rPr dirty="0"/>
              <a:t>measure</a:t>
            </a:r>
            <a:r>
              <a:rPr spc="170" dirty="0"/>
              <a:t>  </a:t>
            </a:r>
            <a:r>
              <a:rPr dirty="0"/>
              <a:t>dynamic</a:t>
            </a:r>
            <a:r>
              <a:rPr spc="170" dirty="0"/>
              <a:t>  </a:t>
            </a:r>
            <a:r>
              <a:rPr spc="-10" dirty="0"/>
              <a:t>pressure 	</a:t>
            </a:r>
            <a:r>
              <a:rPr dirty="0"/>
              <a:t>changes</a:t>
            </a:r>
            <a:r>
              <a:rPr spc="330" dirty="0"/>
              <a:t> </a:t>
            </a:r>
            <a:r>
              <a:rPr dirty="0"/>
              <a:t>in</a:t>
            </a:r>
            <a:r>
              <a:rPr spc="330" dirty="0"/>
              <a:t> </a:t>
            </a:r>
            <a:r>
              <a:rPr dirty="0"/>
              <a:t>liquids</a:t>
            </a:r>
            <a:r>
              <a:rPr spc="330" dirty="0"/>
              <a:t> </a:t>
            </a:r>
            <a:r>
              <a:rPr dirty="0"/>
              <a:t>or</a:t>
            </a:r>
            <a:r>
              <a:rPr spc="340" dirty="0"/>
              <a:t> </a:t>
            </a:r>
            <a:r>
              <a:rPr dirty="0"/>
              <a:t>gases,</a:t>
            </a:r>
            <a:r>
              <a:rPr spc="325" dirty="0"/>
              <a:t> </a:t>
            </a:r>
            <a:r>
              <a:rPr dirty="0"/>
              <a:t>often</a:t>
            </a:r>
            <a:r>
              <a:rPr spc="345" dirty="0"/>
              <a:t> </a:t>
            </a:r>
            <a:r>
              <a:rPr dirty="0"/>
              <a:t>in</a:t>
            </a:r>
            <a:r>
              <a:rPr spc="325" dirty="0"/>
              <a:t> </a:t>
            </a:r>
            <a:r>
              <a:rPr dirty="0"/>
              <a:t>applications</a:t>
            </a:r>
            <a:r>
              <a:rPr spc="350" dirty="0"/>
              <a:t> </a:t>
            </a:r>
            <a:r>
              <a:rPr dirty="0"/>
              <a:t>like</a:t>
            </a:r>
            <a:r>
              <a:rPr spc="335" dirty="0"/>
              <a:t> </a:t>
            </a:r>
            <a:r>
              <a:rPr dirty="0"/>
              <a:t>engine</a:t>
            </a:r>
            <a:r>
              <a:rPr spc="340" dirty="0"/>
              <a:t> </a:t>
            </a:r>
            <a:r>
              <a:rPr spc="-10" dirty="0"/>
              <a:t>combustion 	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hydraulic</a:t>
            </a:r>
            <a:r>
              <a:rPr spc="-15" dirty="0"/>
              <a:t> </a:t>
            </a:r>
            <a:r>
              <a:rPr spc="-10" dirty="0"/>
              <a:t>systems.</a:t>
            </a:r>
          </a:p>
          <a:p>
            <a:pPr marL="389255" marR="5080" indent="-377190" algn="just">
              <a:lnSpc>
                <a:spcPct val="150900"/>
              </a:lnSpc>
              <a:buFont typeface="Wingdings"/>
              <a:buChar char=""/>
              <a:tabLst>
                <a:tab pos="390525" algn="l"/>
              </a:tabLst>
            </a:pPr>
            <a:r>
              <a:rPr b="1" dirty="0">
                <a:latin typeface="Verdana"/>
                <a:cs typeface="Verdana"/>
              </a:rPr>
              <a:t>Piezoelectric</a:t>
            </a:r>
            <a:r>
              <a:rPr b="1" spc="-15" dirty="0">
                <a:latin typeface="Verdana"/>
                <a:cs typeface="Verdana"/>
              </a:rPr>
              <a:t>  </a:t>
            </a:r>
            <a:r>
              <a:rPr b="1" dirty="0">
                <a:latin typeface="Verdana"/>
                <a:cs typeface="Verdana"/>
              </a:rPr>
              <a:t>Vibration</a:t>
            </a:r>
            <a:r>
              <a:rPr b="1" spc="-15" dirty="0">
                <a:latin typeface="Verdana"/>
                <a:cs typeface="Verdana"/>
              </a:rPr>
              <a:t>  </a:t>
            </a:r>
            <a:r>
              <a:rPr b="1" dirty="0">
                <a:latin typeface="Verdana"/>
                <a:cs typeface="Verdana"/>
              </a:rPr>
              <a:t>Sensors:</a:t>
            </a:r>
            <a:r>
              <a:rPr b="1" spc="-15" dirty="0">
                <a:latin typeface="Verdana"/>
                <a:cs typeface="Verdana"/>
              </a:rPr>
              <a:t>  </a:t>
            </a:r>
            <a:r>
              <a:rPr dirty="0"/>
              <a:t>Utilized</a:t>
            </a:r>
            <a:r>
              <a:rPr spc="-35" dirty="0"/>
              <a:t>  </a:t>
            </a:r>
            <a:r>
              <a:rPr dirty="0"/>
              <a:t>for</a:t>
            </a:r>
            <a:r>
              <a:rPr spc="-20" dirty="0"/>
              <a:t>  </a:t>
            </a:r>
            <a:r>
              <a:rPr dirty="0"/>
              <a:t>monitoring</a:t>
            </a:r>
            <a:r>
              <a:rPr spc="-30" dirty="0"/>
              <a:t>  </a:t>
            </a:r>
            <a:r>
              <a:rPr dirty="0"/>
              <a:t>vibrations</a:t>
            </a:r>
            <a:r>
              <a:rPr spc="-30" dirty="0"/>
              <a:t>  </a:t>
            </a:r>
            <a:r>
              <a:rPr spc="-25" dirty="0"/>
              <a:t>in 	</a:t>
            </a:r>
            <a:r>
              <a:rPr dirty="0"/>
              <a:t>machines</a:t>
            </a:r>
            <a:r>
              <a:rPr spc="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structures,</a:t>
            </a:r>
            <a:r>
              <a:rPr spc="-20" dirty="0"/>
              <a:t> </a:t>
            </a:r>
            <a:r>
              <a:rPr dirty="0"/>
              <a:t>providing</a:t>
            </a:r>
            <a:r>
              <a:rPr spc="5" dirty="0"/>
              <a:t> </a:t>
            </a:r>
            <a:r>
              <a:rPr dirty="0"/>
              <a:t>early warnings</a:t>
            </a:r>
            <a:r>
              <a:rPr spc="1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potential</a:t>
            </a:r>
            <a:r>
              <a:rPr spc="-20" dirty="0"/>
              <a:t> </a:t>
            </a:r>
            <a:r>
              <a:rPr spc="-10" dirty="0"/>
              <a:t>issues.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69625" y="426127"/>
            <a:ext cx="47148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Key</a:t>
            </a:r>
            <a:r>
              <a:rPr spc="-45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11" y="1556101"/>
            <a:ext cx="9213215" cy="4853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985">
              <a:lnSpc>
                <a:spcPct val="150900"/>
              </a:lnSpc>
              <a:spcBef>
                <a:spcPts val="95"/>
              </a:spcBef>
              <a:tabLst>
                <a:tab pos="592455" algn="l"/>
                <a:tab pos="1682750" algn="l"/>
                <a:tab pos="2372360" algn="l"/>
                <a:tab pos="2447290" algn="l"/>
                <a:tab pos="2706370" algn="l"/>
                <a:tab pos="3345815" algn="l"/>
                <a:tab pos="3591560" algn="l"/>
                <a:tab pos="3892550" algn="l"/>
                <a:tab pos="4384040" algn="l"/>
                <a:tab pos="4976495" algn="l"/>
                <a:tab pos="5457190" algn="l"/>
                <a:tab pos="5832475" algn="l"/>
                <a:tab pos="6297295" algn="l"/>
                <a:tab pos="6918959" algn="l"/>
                <a:tab pos="7370445" algn="l"/>
                <a:tab pos="7499350" algn="l"/>
                <a:tab pos="7919720" algn="l"/>
                <a:tab pos="8362950" algn="l"/>
              </a:tabLst>
            </a:pPr>
            <a:r>
              <a:rPr sz="1750" spc="-25" dirty="0">
                <a:latin typeface="Verdana"/>
                <a:cs typeface="Verdana"/>
              </a:rPr>
              <a:t>The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0" dirty="0">
                <a:latin typeface="Verdana"/>
                <a:cs typeface="Verdana"/>
              </a:rPr>
              <a:t>self-</a:t>
            </a:r>
            <a:r>
              <a:rPr sz="1750" spc="-10" dirty="0">
                <a:latin typeface="Verdana"/>
                <a:cs typeface="Verdana"/>
              </a:rPr>
              <a:t>generating</a:t>
            </a:r>
            <a:r>
              <a:rPr sz="1750" dirty="0">
                <a:latin typeface="Verdana"/>
                <a:cs typeface="Verdana"/>
              </a:rPr>
              <a:t>		</a:t>
            </a:r>
            <a:r>
              <a:rPr sz="1750" spc="-10" dirty="0">
                <a:latin typeface="Verdana"/>
                <a:cs typeface="Verdana"/>
              </a:rPr>
              <a:t>nature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(no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external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power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needed)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and</a:t>
            </a:r>
            <a:r>
              <a:rPr sz="1750" dirty="0">
                <a:latin typeface="Verdana"/>
                <a:cs typeface="Verdana"/>
              </a:rPr>
              <a:t>		</a:t>
            </a:r>
            <a:r>
              <a:rPr sz="1750" spc="-10" dirty="0">
                <a:latin typeface="Verdana"/>
                <a:cs typeface="Verdana"/>
              </a:rPr>
              <a:t>high-frequency </a:t>
            </a:r>
            <a:r>
              <a:rPr sz="1750" dirty="0">
                <a:latin typeface="Verdana"/>
                <a:cs typeface="Verdana"/>
              </a:rPr>
              <a:t>response</a:t>
            </a:r>
            <a:r>
              <a:rPr sz="1750" spc="-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of</a:t>
            </a:r>
            <a:r>
              <a:rPr sz="1750" spc="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piezoelectric</a:t>
            </a:r>
            <a:r>
              <a:rPr sz="1750" spc="-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sensors</a:t>
            </a:r>
            <a:r>
              <a:rPr sz="1750" spc="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make</a:t>
            </a:r>
            <a:r>
              <a:rPr sz="1750" spc="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them</a:t>
            </a:r>
            <a:r>
              <a:rPr sz="1750" spc="-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useful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across</a:t>
            </a:r>
            <a:r>
              <a:rPr sz="1750" spc="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numerous</a:t>
            </a:r>
            <a:r>
              <a:rPr sz="1750" spc="-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industries. </a:t>
            </a:r>
            <a:r>
              <a:rPr sz="1750" b="1" spc="-10" dirty="0">
                <a:latin typeface="Verdana"/>
                <a:cs typeface="Verdana"/>
              </a:rPr>
              <a:t>Automotive:</a:t>
            </a:r>
            <a:r>
              <a:rPr sz="1750" b="1" dirty="0">
                <a:latin typeface="Verdana"/>
                <a:cs typeface="Verdana"/>
              </a:rPr>
              <a:t>	</a:t>
            </a:r>
            <a:r>
              <a:rPr sz="1750" spc="-20" dirty="0">
                <a:latin typeface="Verdana"/>
                <a:cs typeface="Verdana"/>
              </a:rPr>
              <a:t>Used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in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engine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knock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sensors,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airbag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sensors,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and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for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general </a:t>
            </a:r>
            <a:r>
              <a:rPr sz="1750" dirty="0">
                <a:latin typeface="Verdana"/>
                <a:cs typeface="Verdana"/>
              </a:rPr>
              <a:t>vibration</a:t>
            </a:r>
            <a:r>
              <a:rPr sz="1750" spc="-3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analysis.</a:t>
            </a:r>
            <a:endParaRPr sz="1750">
              <a:latin typeface="Verdana"/>
              <a:cs typeface="Verdana"/>
            </a:endParaRPr>
          </a:p>
          <a:p>
            <a:pPr marL="12700" marR="5715">
              <a:lnSpc>
                <a:spcPct val="150900"/>
              </a:lnSpc>
              <a:tabLst>
                <a:tab pos="1330325" algn="l"/>
                <a:tab pos="2291715" algn="l"/>
                <a:tab pos="2771140" algn="l"/>
                <a:tab pos="4240530" algn="l"/>
                <a:tab pos="5410200" algn="l"/>
                <a:tab pos="6962775" algn="l"/>
                <a:tab pos="8783955" algn="l"/>
              </a:tabLst>
            </a:pPr>
            <a:r>
              <a:rPr sz="1750" b="1" spc="-10" dirty="0">
                <a:latin typeface="Verdana"/>
                <a:cs typeface="Verdana"/>
              </a:rPr>
              <a:t>Medical:</a:t>
            </a:r>
            <a:r>
              <a:rPr sz="1750" b="1" dirty="0">
                <a:latin typeface="Verdana"/>
                <a:cs typeface="Verdana"/>
              </a:rPr>
              <a:t>	</a:t>
            </a:r>
            <a:r>
              <a:rPr sz="1750" spc="-20" dirty="0">
                <a:latin typeface="Verdana"/>
                <a:cs typeface="Verdana"/>
              </a:rPr>
              <a:t>Found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in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ultrasound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imaging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equipment,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stethoscopes,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and </a:t>
            </a:r>
            <a:r>
              <a:rPr sz="1750" dirty="0">
                <a:latin typeface="Verdana"/>
                <a:cs typeface="Verdana"/>
              </a:rPr>
              <a:t>pacemakers</a:t>
            </a:r>
            <a:r>
              <a:rPr sz="1750" spc="-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for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heart</a:t>
            </a:r>
            <a:r>
              <a:rPr sz="1750" spc="-2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rate</a:t>
            </a:r>
            <a:r>
              <a:rPr sz="1750" spc="-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and</a:t>
            </a:r>
            <a:r>
              <a:rPr sz="1750" spc="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activity</a:t>
            </a:r>
            <a:r>
              <a:rPr sz="1750" spc="-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monitoring.</a:t>
            </a:r>
            <a:endParaRPr sz="1750">
              <a:latin typeface="Verdana"/>
              <a:cs typeface="Verdana"/>
            </a:endParaRPr>
          </a:p>
          <a:p>
            <a:pPr marL="12700" marR="5080">
              <a:lnSpc>
                <a:spcPct val="150900"/>
              </a:lnSpc>
            </a:pPr>
            <a:r>
              <a:rPr sz="1750" b="1" dirty="0">
                <a:latin typeface="Verdana"/>
                <a:cs typeface="Verdana"/>
              </a:rPr>
              <a:t>Consumer</a:t>
            </a:r>
            <a:r>
              <a:rPr sz="1750" b="1" spc="275" dirty="0">
                <a:latin typeface="Verdana"/>
                <a:cs typeface="Verdana"/>
              </a:rPr>
              <a:t> </a:t>
            </a:r>
            <a:r>
              <a:rPr sz="1750" b="1" dirty="0">
                <a:latin typeface="Verdana"/>
                <a:cs typeface="Verdana"/>
              </a:rPr>
              <a:t>Electronics:</a:t>
            </a:r>
            <a:r>
              <a:rPr sz="1750" b="1" spc="26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Integrated</a:t>
            </a:r>
            <a:r>
              <a:rPr sz="1750" spc="254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into</a:t>
            </a:r>
            <a:r>
              <a:rPr sz="1750" spc="26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microphones,</a:t>
            </a:r>
            <a:r>
              <a:rPr sz="1750" spc="254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touchscreens</a:t>
            </a:r>
            <a:r>
              <a:rPr sz="1750" spc="26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for</a:t>
            </a:r>
            <a:r>
              <a:rPr sz="1750" spc="26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impact </a:t>
            </a:r>
            <a:r>
              <a:rPr sz="1750" dirty="0">
                <a:latin typeface="Verdana"/>
                <a:cs typeface="Verdana"/>
              </a:rPr>
              <a:t>detection,</a:t>
            </a:r>
            <a:r>
              <a:rPr sz="1750" spc="-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and</a:t>
            </a:r>
            <a:r>
              <a:rPr sz="1750" spc="1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buzzers/speakers.</a:t>
            </a:r>
            <a:endParaRPr sz="1750">
              <a:latin typeface="Verdana"/>
              <a:cs typeface="Verdana"/>
            </a:endParaRPr>
          </a:p>
          <a:p>
            <a:pPr marL="12700" marR="5715">
              <a:lnSpc>
                <a:spcPct val="150900"/>
              </a:lnSpc>
              <a:tabLst>
                <a:tab pos="1496695" algn="l"/>
                <a:tab pos="2741930" algn="l"/>
                <a:tab pos="3091815" algn="l"/>
                <a:tab pos="5002530" algn="l"/>
                <a:tab pos="5999480" algn="l"/>
                <a:tab pos="6709409" algn="l"/>
                <a:tab pos="8076565" algn="l"/>
                <a:tab pos="8425815" algn="l"/>
              </a:tabLst>
            </a:pPr>
            <a:r>
              <a:rPr sz="1750" b="1" spc="-10" dirty="0">
                <a:latin typeface="Verdana"/>
                <a:cs typeface="Verdana"/>
              </a:rPr>
              <a:t>Industrial:</a:t>
            </a:r>
            <a:r>
              <a:rPr sz="1750" b="1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Employed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in</a:t>
            </a:r>
            <a:r>
              <a:rPr sz="1750" dirty="0">
                <a:latin typeface="Verdana"/>
                <a:cs typeface="Verdana"/>
              </a:rPr>
              <a:t>	non-</a:t>
            </a:r>
            <a:r>
              <a:rPr sz="1750" spc="-10" dirty="0">
                <a:latin typeface="Verdana"/>
                <a:cs typeface="Verdana"/>
              </a:rPr>
              <a:t>destructive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testing,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force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monitoring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in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robotic </a:t>
            </a:r>
            <a:r>
              <a:rPr sz="1750" dirty="0">
                <a:latin typeface="Verdana"/>
                <a:cs typeface="Verdana"/>
              </a:rPr>
              <a:t>systems,</a:t>
            </a:r>
            <a:r>
              <a:rPr sz="1750" spc="-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and</a:t>
            </a:r>
            <a:r>
              <a:rPr sz="1750" spc="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high-speed</a:t>
            </a:r>
            <a:r>
              <a:rPr sz="1750" spc="-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shock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wave </a:t>
            </a:r>
            <a:r>
              <a:rPr sz="1750" spc="-10" dirty="0">
                <a:latin typeface="Verdana"/>
                <a:cs typeface="Verdana"/>
              </a:rPr>
              <a:t>analysis.</a:t>
            </a:r>
            <a:endParaRPr sz="1750">
              <a:latin typeface="Verdana"/>
              <a:cs typeface="Verdana"/>
            </a:endParaRPr>
          </a:p>
          <a:p>
            <a:pPr marL="12700" marR="7620">
              <a:lnSpc>
                <a:spcPct val="150900"/>
              </a:lnSpc>
              <a:tabLst>
                <a:tab pos="1450340" algn="l"/>
                <a:tab pos="1775460" algn="l"/>
                <a:tab pos="3013075" algn="l"/>
                <a:tab pos="3700779" algn="l"/>
                <a:tab pos="4144645" algn="l"/>
                <a:tab pos="5495290" algn="l"/>
                <a:tab pos="5923280" algn="l"/>
                <a:tab pos="6805930" algn="l"/>
                <a:tab pos="8121015" algn="l"/>
              </a:tabLst>
            </a:pPr>
            <a:r>
              <a:rPr sz="1750" b="1" spc="-10" dirty="0">
                <a:latin typeface="Verdana"/>
                <a:cs typeface="Verdana"/>
              </a:rPr>
              <a:t>Aerospace</a:t>
            </a:r>
            <a:r>
              <a:rPr sz="1750" b="1" dirty="0">
                <a:latin typeface="Verdana"/>
                <a:cs typeface="Verdana"/>
              </a:rPr>
              <a:t>	</a:t>
            </a:r>
            <a:r>
              <a:rPr sz="1750" b="1" spc="-60" dirty="0">
                <a:latin typeface="Verdana"/>
                <a:cs typeface="Verdana"/>
              </a:rPr>
              <a:t>&amp;</a:t>
            </a:r>
            <a:r>
              <a:rPr sz="1750" b="1" dirty="0">
                <a:latin typeface="Verdana"/>
                <a:cs typeface="Verdana"/>
              </a:rPr>
              <a:t>	</a:t>
            </a:r>
            <a:r>
              <a:rPr sz="1750" b="1" spc="-10" dirty="0">
                <a:latin typeface="Verdana"/>
                <a:cs typeface="Verdana"/>
              </a:rPr>
              <a:t>Defense:</a:t>
            </a:r>
            <a:r>
              <a:rPr sz="1750" b="1" dirty="0">
                <a:latin typeface="Verdana"/>
                <a:cs typeface="Verdana"/>
              </a:rPr>
              <a:t>	</a:t>
            </a:r>
            <a:r>
              <a:rPr sz="1750" spc="-20" dirty="0">
                <a:latin typeface="Verdana"/>
                <a:cs typeface="Verdana"/>
              </a:rPr>
              <a:t>Used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for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monitoring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25" dirty="0">
                <a:latin typeface="Verdana"/>
                <a:cs typeface="Verdana"/>
              </a:rPr>
              <a:t>jet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engine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vibrations,</a:t>
            </a:r>
            <a:r>
              <a:rPr sz="1750" dirty="0">
                <a:latin typeface="Verdana"/>
                <a:cs typeface="Verdana"/>
              </a:rPr>
              <a:t>	</a:t>
            </a:r>
            <a:r>
              <a:rPr sz="1750" spc="-10" dirty="0">
                <a:latin typeface="Verdana"/>
                <a:cs typeface="Verdana"/>
              </a:rPr>
              <a:t>structural </a:t>
            </a:r>
            <a:r>
              <a:rPr sz="1750" dirty="0">
                <a:latin typeface="Verdana"/>
                <a:cs typeface="Verdana"/>
              </a:rPr>
              <a:t>health</a:t>
            </a:r>
            <a:r>
              <a:rPr sz="1750" spc="-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monitoring</a:t>
            </a:r>
            <a:r>
              <a:rPr sz="1750" spc="-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in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aircraft,</a:t>
            </a:r>
            <a:r>
              <a:rPr sz="1750" spc="-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and</a:t>
            </a:r>
            <a:r>
              <a:rPr sz="1750" spc="-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sonar</a:t>
            </a:r>
            <a:r>
              <a:rPr sz="1750" spc="2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equipment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22882" y="426127"/>
            <a:ext cx="7214234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Sensor</a:t>
            </a:r>
            <a:r>
              <a:rPr spc="-25" dirty="0"/>
              <a:t> </a:t>
            </a:r>
            <a:r>
              <a:rPr dirty="0"/>
              <a:t>Errors:</a:t>
            </a:r>
            <a:r>
              <a:rPr spc="-25" dirty="0"/>
              <a:t> </a:t>
            </a:r>
            <a:r>
              <a:rPr spc="-10" dirty="0"/>
              <a:t>Hysteresis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4065" y="2631449"/>
            <a:ext cx="5692140" cy="3946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0525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compared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increases.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spcBef>
                <a:spcPts val="515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Consequence:</a:t>
            </a:r>
            <a:r>
              <a:rPr sz="2200" b="1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Upon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overstretching,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gauge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may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show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permanently 	</a:t>
            </a:r>
            <a:r>
              <a:rPr sz="2200" dirty="0">
                <a:latin typeface="Verdana"/>
                <a:cs typeface="Verdana"/>
              </a:rPr>
              <a:t>changed</a:t>
            </a:r>
            <a:r>
              <a:rPr sz="2200" spc="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strain</a:t>
            </a:r>
            <a:r>
              <a:rPr sz="2200" spc="10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is 	</a:t>
            </a:r>
            <a:r>
              <a:rPr sz="2200" spc="-10" dirty="0">
                <a:latin typeface="Verdana"/>
                <a:cs typeface="Verdana"/>
              </a:rPr>
              <a:t>removed.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Magnitude:</a:t>
            </a:r>
            <a:r>
              <a:rPr sz="2200" b="1" spc="52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Should</a:t>
            </a:r>
            <a:r>
              <a:rPr sz="2200" spc="50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509" dirty="0">
                <a:latin typeface="Verdana"/>
                <a:cs typeface="Verdana"/>
              </a:rPr>
              <a:t>   </a:t>
            </a:r>
            <a:r>
              <a:rPr sz="2200" spc="-10" dirty="0">
                <a:latin typeface="Verdana"/>
                <a:cs typeface="Verdana"/>
              </a:rPr>
              <a:t>small 	</a:t>
            </a:r>
            <a:r>
              <a:rPr sz="2200" dirty="0">
                <a:latin typeface="Verdana"/>
                <a:cs typeface="Verdana"/>
              </a:rPr>
              <a:t>(~0.025%)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unless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gauge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over- 	stretched.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0403" y="3040379"/>
            <a:ext cx="3445763" cy="279389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4065" y="1457412"/>
            <a:ext cx="7420609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  <a:tab pos="1645285" algn="l"/>
                <a:tab pos="2287905" algn="l"/>
                <a:tab pos="2858770" algn="l"/>
                <a:tab pos="3046095" algn="l"/>
                <a:tab pos="3274060" algn="l"/>
                <a:tab pos="4095115" algn="l"/>
                <a:tab pos="4602480" algn="l"/>
                <a:tab pos="4707890" algn="l"/>
                <a:tab pos="5583555" algn="l"/>
                <a:tab pos="6264910" algn="l"/>
                <a:tab pos="6579234" algn="l"/>
              </a:tabLst>
            </a:pPr>
            <a:r>
              <a:rPr sz="2200" b="1" spc="-10" dirty="0">
                <a:latin typeface="Verdana"/>
                <a:cs typeface="Verdana"/>
              </a:rPr>
              <a:t>Definition: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10" dirty="0">
                <a:latin typeface="Verdana"/>
                <a:cs typeface="Verdana"/>
              </a:rPr>
              <a:t>graph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resistance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change change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follows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10" dirty="0">
                <a:latin typeface="Verdana"/>
                <a:cs typeface="Verdana"/>
              </a:rPr>
              <a:t>different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20" dirty="0">
                <a:latin typeface="Verdana"/>
                <a:cs typeface="Verdana"/>
              </a:rPr>
              <a:t>path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when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stress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23067" y="1457412"/>
            <a:ext cx="156464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 marR="5080" indent="-144145">
              <a:lnSpc>
                <a:spcPct val="150000"/>
              </a:lnSpc>
              <a:spcBef>
                <a:spcPts val="100"/>
              </a:spcBef>
              <a:tabLst>
                <a:tab pos="668020" algn="l"/>
              </a:tabLst>
            </a:pPr>
            <a:r>
              <a:rPr sz="2200" spc="-25" dirty="0">
                <a:latin typeface="Verdana"/>
                <a:cs typeface="Verdana"/>
              </a:rPr>
              <a:t>vs.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length decreases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85912" y="426127"/>
            <a:ext cx="58845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Sensor</a:t>
            </a:r>
            <a:r>
              <a:rPr spc="-25" dirty="0"/>
              <a:t> </a:t>
            </a:r>
            <a:r>
              <a:rPr dirty="0"/>
              <a:t>Errors:</a:t>
            </a:r>
            <a:r>
              <a:rPr spc="-25" dirty="0"/>
              <a:t> </a:t>
            </a:r>
            <a:r>
              <a:rPr spc="-10" dirty="0"/>
              <a:t>Creep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9199" y="1445156"/>
            <a:ext cx="8961120" cy="5557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Definition:</a:t>
            </a:r>
            <a:r>
              <a:rPr sz="2200" b="1" spc="5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5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gradual</a:t>
            </a:r>
            <a:r>
              <a:rPr sz="2200" spc="5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</a:t>
            </a:r>
            <a:r>
              <a:rPr sz="2200" spc="4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5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length</a:t>
            </a:r>
            <a:r>
              <a:rPr sz="2200" spc="5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8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gauge 	</a:t>
            </a:r>
            <a:r>
              <a:rPr sz="2200" dirty="0">
                <a:latin typeface="Verdana"/>
                <a:cs typeface="Verdana"/>
              </a:rPr>
              <a:t>element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does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not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correspond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in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material.</a:t>
            </a:r>
            <a:endParaRPr sz="2200">
              <a:latin typeface="Verdana"/>
              <a:cs typeface="Verdana"/>
            </a:endParaRPr>
          </a:p>
          <a:p>
            <a:pPr marL="389255" marR="6985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Magnitude:</a:t>
            </a:r>
            <a:r>
              <a:rPr sz="2200" b="1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Like</a:t>
            </a:r>
            <a:r>
              <a:rPr sz="2200" spc="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hysteresis,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should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very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small 	(~0.025%).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Temperature</a:t>
            </a:r>
            <a:r>
              <a:rPr sz="2200" b="1" spc="135" dirty="0">
                <a:latin typeface="Verdana"/>
                <a:cs typeface="Verdana"/>
              </a:rPr>
              <a:t>  </a:t>
            </a:r>
            <a:r>
              <a:rPr sz="2200" b="1" dirty="0">
                <a:latin typeface="Verdana"/>
                <a:cs typeface="Verdana"/>
              </a:rPr>
              <a:t>dependency:</a:t>
            </a:r>
            <a:r>
              <a:rPr sz="2200" b="1" spc="1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Both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creep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hysteresis 	</a:t>
            </a:r>
            <a:r>
              <a:rPr sz="2200" dirty="0">
                <a:latin typeface="Verdana"/>
                <a:cs typeface="Verdana"/>
              </a:rPr>
              <a:t>increase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operating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rises.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Proper</a:t>
            </a:r>
            <a:r>
              <a:rPr sz="2200" b="1" spc="13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choice</a:t>
            </a:r>
            <a:r>
              <a:rPr sz="2200" b="1" spc="150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of</a:t>
            </a:r>
            <a:r>
              <a:rPr sz="2200" b="1" spc="150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material:</a:t>
            </a:r>
            <a:r>
              <a:rPr sz="2200" b="1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Both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hysteresis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creep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are 	</a:t>
            </a:r>
            <a:r>
              <a:rPr sz="2200" spc="-10" dirty="0">
                <a:latin typeface="Verdana"/>
                <a:cs typeface="Verdana"/>
              </a:rPr>
              <a:t>non-</a:t>
            </a:r>
            <a:r>
              <a:rPr sz="2200" dirty="0">
                <a:latin typeface="Verdana"/>
                <a:cs typeface="Verdana"/>
              </a:rPr>
              <a:t>linear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effects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which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never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eliminated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but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be 	</a:t>
            </a:r>
            <a:r>
              <a:rPr sz="2200" dirty="0">
                <a:latin typeface="Verdana"/>
                <a:cs typeface="Verdana"/>
              </a:rPr>
              <a:t>reduced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careful</a:t>
            </a:r>
            <a:r>
              <a:rPr sz="2200" spc="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choice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strain</a:t>
            </a:r>
            <a:r>
              <a:rPr sz="2200" spc="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gauge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element 	material.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11615" y="426127"/>
            <a:ext cx="643445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Application:</a:t>
            </a:r>
            <a:r>
              <a:rPr spc="-50" dirty="0"/>
              <a:t> </a:t>
            </a:r>
            <a:r>
              <a:rPr dirty="0"/>
              <a:t>Load</a:t>
            </a:r>
            <a:r>
              <a:rPr spc="-30" dirty="0"/>
              <a:t> </a:t>
            </a:r>
            <a:r>
              <a:rPr spc="-10" dirty="0"/>
              <a:t>Cells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35033"/>
            <a:ext cx="904557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  <a:tab pos="2042160" algn="l"/>
                <a:tab pos="2413000" algn="l"/>
                <a:tab pos="3294379" algn="l"/>
                <a:tab pos="4970780" algn="l"/>
                <a:tab pos="5812790" algn="l"/>
                <a:tab pos="6250940" algn="l"/>
                <a:tab pos="7781925" algn="l"/>
              </a:tabLst>
            </a:pPr>
            <a:r>
              <a:rPr sz="2200" b="1" spc="-10" dirty="0">
                <a:latin typeface="Verdana"/>
                <a:cs typeface="Verdana"/>
              </a:rPr>
              <a:t>Function: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force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transducer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used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electronic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weighing systems.</a:t>
            </a:r>
            <a:endParaRPr sz="2200">
              <a:latin typeface="Verdana"/>
              <a:cs typeface="Verdana"/>
            </a:endParaRPr>
          </a:p>
          <a:p>
            <a:pPr marL="390525" marR="6985" indent="-378460">
              <a:lnSpc>
                <a:spcPct val="150000"/>
              </a:lnSpc>
              <a:buFont typeface="Wingdings"/>
              <a:buChar char=""/>
              <a:tabLst>
                <a:tab pos="390525" algn="l"/>
                <a:tab pos="2673350" algn="l"/>
                <a:tab pos="3498850" algn="l"/>
                <a:tab pos="3833495" algn="l"/>
                <a:tab pos="4418965" algn="l"/>
                <a:tab pos="4853940" algn="l"/>
                <a:tab pos="5810885" algn="l"/>
                <a:tab pos="7082790" algn="l"/>
                <a:tab pos="8407400" algn="l"/>
              </a:tabLst>
            </a:pPr>
            <a:r>
              <a:rPr sz="2200" b="1" spc="-10" dirty="0">
                <a:latin typeface="Verdana"/>
                <a:cs typeface="Verdana"/>
              </a:rPr>
              <a:t>Construction: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Uses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set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strain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gauges,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typically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80" dirty="0">
                <a:latin typeface="Verdana"/>
                <a:cs typeface="Verdana"/>
              </a:rPr>
              <a:t>four, </a:t>
            </a:r>
            <a:r>
              <a:rPr sz="2200" dirty="0">
                <a:latin typeface="Verdana"/>
                <a:cs typeface="Verdana"/>
              </a:rPr>
              <a:t>connected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Wheatstone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bridge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circuit.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"/>
              <a:tabLst>
                <a:tab pos="390525" algn="l"/>
                <a:tab pos="1985645" algn="l"/>
                <a:tab pos="3810000" algn="l"/>
                <a:tab pos="4375785" algn="l"/>
                <a:tab pos="5800725" algn="l"/>
                <a:tab pos="7901305" algn="l"/>
                <a:tab pos="8578850" algn="l"/>
              </a:tabLst>
            </a:pPr>
            <a:r>
              <a:rPr sz="2200" b="1" spc="-10" dirty="0">
                <a:latin typeface="Verdana"/>
                <a:cs typeface="Verdana"/>
              </a:rPr>
              <a:t>Output: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Generates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voltage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proportional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 </a:t>
            </a:r>
            <a:r>
              <a:rPr sz="2200" dirty="0">
                <a:latin typeface="Verdana"/>
                <a:cs typeface="Verdana"/>
              </a:rPr>
              <a:t>force/weight</a:t>
            </a:r>
            <a:r>
              <a:rPr sz="2200" spc="-1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applied.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Processing:</a:t>
            </a:r>
            <a:r>
              <a:rPr sz="2200" b="1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Output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processed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directly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digitized.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76114" y="124572"/>
            <a:ext cx="871029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61590">
              <a:lnSpc>
                <a:spcPct val="100200"/>
              </a:lnSpc>
              <a:spcBef>
                <a:spcPts val="100"/>
              </a:spcBef>
            </a:pPr>
            <a:r>
              <a:rPr spc="-10" dirty="0"/>
              <a:t>Comparison: </a:t>
            </a:r>
            <a:r>
              <a:rPr dirty="0"/>
              <a:t>Piezoresistive</a:t>
            </a:r>
            <a:r>
              <a:rPr spc="-55" dirty="0"/>
              <a:t> </a:t>
            </a:r>
            <a:r>
              <a:rPr dirty="0"/>
              <a:t>vs.</a:t>
            </a:r>
            <a:r>
              <a:rPr spc="-30" dirty="0"/>
              <a:t> </a:t>
            </a:r>
            <a:r>
              <a:rPr spc="-10" dirty="0"/>
              <a:t>Piezoelectric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763" y="2113942"/>
            <a:ext cx="9110749" cy="288098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46429" y="426127"/>
            <a:ext cx="7963534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Future</a:t>
            </a:r>
            <a:r>
              <a:rPr spc="-5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Advanced</a:t>
            </a:r>
            <a:r>
              <a:rPr spc="-20" dirty="0"/>
              <a:t> </a:t>
            </a:r>
            <a:r>
              <a:rPr spc="-10" dirty="0"/>
              <a:t>Methods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67035"/>
            <a:ext cx="9128760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71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Laser</a:t>
            </a:r>
            <a:r>
              <a:rPr sz="2200" b="1" spc="-80" dirty="0">
                <a:latin typeface="Verdana"/>
                <a:cs typeface="Verdana"/>
              </a:rPr>
              <a:t>  </a:t>
            </a:r>
            <a:r>
              <a:rPr sz="2200" b="1" dirty="0">
                <a:latin typeface="Verdana"/>
                <a:cs typeface="Verdana"/>
              </a:rPr>
              <a:t>Interferometry:</a:t>
            </a:r>
            <a:r>
              <a:rPr sz="2200" b="1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method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presenting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considerable 	</a:t>
            </a:r>
            <a:r>
              <a:rPr sz="2200" dirty="0">
                <a:latin typeface="Verdana"/>
                <a:cs typeface="Verdana"/>
              </a:rPr>
              <a:t>advantages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sensitivity.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History:</a:t>
            </a:r>
            <a:r>
              <a:rPr sz="2200" b="1" spc="-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Principles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ancient,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but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practical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required 	</a:t>
            </a:r>
            <a:r>
              <a:rPr sz="2200" dirty="0">
                <a:latin typeface="Verdana"/>
                <a:cs typeface="Verdana"/>
              </a:rPr>
              <a:t>modern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lasers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electronics.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b="1" dirty="0">
                <a:latin typeface="Verdana"/>
                <a:cs typeface="Verdana"/>
              </a:rPr>
              <a:t>Summary:</a:t>
            </a:r>
            <a:r>
              <a:rPr sz="2200" b="1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simple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wires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piezo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crystals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laser 	</a:t>
            </a:r>
            <a:r>
              <a:rPr sz="2200" dirty="0">
                <a:latin typeface="Verdana"/>
                <a:cs typeface="Verdana"/>
              </a:rPr>
              <a:t>optics,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measurement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critical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monitoring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structural 	</a:t>
            </a:r>
            <a:r>
              <a:rPr sz="2200" dirty="0">
                <a:latin typeface="Verdana"/>
                <a:cs typeface="Verdana"/>
              </a:rPr>
              <a:t>health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forces.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3106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Summary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9711" y="1608160"/>
            <a:ext cx="8958580" cy="1333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3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students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should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have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gained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knowledge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working 	</a:t>
            </a:r>
            <a:r>
              <a:rPr sz="2200" dirty="0">
                <a:latin typeface="Verdana"/>
                <a:cs typeface="Verdana"/>
              </a:rPr>
              <a:t>principle,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characteristics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strain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gauge 	sensors.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178" y="1398513"/>
            <a:ext cx="9210040" cy="587502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465"/>
              </a:spcBef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Differentiate</a:t>
            </a:r>
            <a:r>
              <a:rPr sz="1950" spc="10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between</a:t>
            </a:r>
            <a:r>
              <a:rPr sz="1950" spc="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Stress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9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Strain.</a:t>
            </a:r>
            <a:endParaRPr sz="1950">
              <a:latin typeface="Verdana"/>
              <a:cs typeface="Verdana"/>
            </a:endParaRPr>
          </a:p>
          <a:p>
            <a:pPr marL="514984" marR="5080" indent="-502920">
              <a:lnSpc>
                <a:spcPct val="115900"/>
              </a:lnSpc>
              <a:buAutoNum type="arabicPeriod"/>
              <a:tabLst>
                <a:tab pos="514984" algn="l"/>
                <a:tab pos="1310005" algn="l"/>
                <a:tab pos="1646555" algn="l"/>
                <a:tab pos="2195195" algn="l"/>
                <a:tab pos="3213100" algn="l"/>
                <a:tab pos="4189095" algn="l"/>
                <a:tab pos="4794885" algn="l"/>
                <a:tab pos="5546725" algn="l"/>
                <a:tab pos="6092825" algn="l"/>
                <a:tab pos="7055484" algn="l"/>
                <a:tab pos="7998459" algn="l"/>
                <a:tab pos="8481695" algn="l"/>
              </a:tabLst>
            </a:pPr>
            <a:r>
              <a:rPr sz="1950" spc="-20" dirty="0">
                <a:latin typeface="Verdana"/>
                <a:cs typeface="Verdana"/>
              </a:rPr>
              <a:t>What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is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the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'Gauge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Factor'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and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0" dirty="0">
                <a:latin typeface="Verdana"/>
                <a:cs typeface="Verdana"/>
              </a:rPr>
              <a:t>what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are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typical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values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for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metal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semiconductor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gauges?</a:t>
            </a:r>
            <a:endParaRPr sz="1950">
              <a:latin typeface="Verdana"/>
              <a:cs typeface="Verdana"/>
            </a:endParaRPr>
          </a:p>
          <a:p>
            <a:pPr marL="514984" marR="5080" indent="-502920">
              <a:lnSpc>
                <a:spcPts val="2710"/>
              </a:lnSpc>
              <a:spcBef>
                <a:spcPts val="140"/>
              </a:spcBef>
              <a:buAutoNum type="arabicPeriod"/>
              <a:tabLst>
                <a:tab pos="514984" algn="l"/>
                <a:tab pos="1468120" algn="l"/>
                <a:tab pos="2072005" algn="l"/>
                <a:tab pos="4040504" algn="l"/>
                <a:tab pos="6195695" algn="l"/>
                <a:tab pos="7858125" algn="l"/>
                <a:tab pos="8486775" algn="l"/>
              </a:tabLst>
            </a:pPr>
            <a:r>
              <a:rPr sz="1950" spc="-25" dirty="0">
                <a:latin typeface="Verdana"/>
                <a:cs typeface="Verdana"/>
              </a:rPr>
              <a:t>Why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is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temperature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compensation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necessary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in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strain measurement?</a:t>
            </a:r>
            <a:endParaRPr sz="195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225"/>
              </a:spcBef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Define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Hysteresis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context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strain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gauges.</a:t>
            </a:r>
            <a:endParaRPr sz="195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370"/>
              </a:spcBef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What</a:t>
            </a:r>
            <a:r>
              <a:rPr sz="1950" spc="2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is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3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Load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spc="-20" dirty="0">
                <a:latin typeface="Verdana"/>
                <a:cs typeface="Verdana"/>
              </a:rPr>
              <a:t>Cell?</a:t>
            </a:r>
            <a:endParaRPr sz="1950">
              <a:latin typeface="Verdana"/>
              <a:cs typeface="Verdana"/>
            </a:endParaRPr>
          </a:p>
          <a:p>
            <a:pPr marL="514984" marR="5080" indent="-502920">
              <a:lnSpc>
                <a:spcPts val="2710"/>
              </a:lnSpc>
              <a:spcBef>
                <a:spcPts val="140"/>
              </a:spcBef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Explain</a:t>
            </a:r>
            <a:r>
              <a:rPr sz="1950" spc="229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2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working</a:t>
            </a:r>
            <a:r>
              <a:rPr sz="1950" spc="2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principle</a:t>
            </a:r>
            <a:r>
              <a:rPr sz="1950" spc="204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21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1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resistive</a:t>
            </a:r>
            <a:r>
              <a:rPr sz="1950" spc="204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strain</a:t>
            </a:r>
            <a:r>
              <a:rPr sz="1950" spc="21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gauge</a:t>
            </a:r>
            <a:r>
              <a:rPr sz="1950" spc="204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2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how</a:t>
            </a:r>
            <a:r>
              <a:rPr sz="1950" spc="220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it </a:t>
            </a:r>
            <a:r>
              <a:rPr sz="1950" dirty="0">
                <a:latin typeface="Verdana"/>
                <a:cs typeface="Verdana"/>
              </a:rPr>
              <a:t>is</a:t>
            </a:r>
            <a:r>
              <a:rPr sz="1950" spc="3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constructed.</a:t>
            </a:r>
            <a:endParaRPr sz="1950">
              <a:latin typeface="Verdana"/>
              <a:cs typeface="Verdana"/>
            </a:endParaRPr>
          </a:p>
          <a:p>
            <a:pPr marL="514984" marR="5715" indent="-502920">
              <a:lnSpc>
                <a:spcPts val="2710"/>
              </a:lnSpc>
              <a:spcBef>
                <a:spcPts val="5"/>
              </a:spcBef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Describe</a:t>
            </a:r>
            <a:r>
              <a:rPr sz="1950" spc="3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3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principle</a:t>
            </a:r>
            <a:r>
              <a:rPr sz="1950" spc="3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3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electrical</a:t>
            </a:r>
            <a:r>
              <a:rPr sz="1950" spc="3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characteristics</a:t>
            </a:r>
            <a:r>
              <a:rPr sz="1950" spc="3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37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Piezoelectric </a:t>
            </a:r>
            <a:r>
              <a:rPr sz="1950" dirty="0">
                <a:latin typeface="Verdana"/>
                <a:cs typeface="Verdana"/>
              </a:rPr>
              <a:t>Strain</a:t>
            </a:r>
            <a:r>
              <a:rPr sz="1950" spc="2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Gauges.</a:t>
            </a:r>
            <a:endParaRPr sz="195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210"/>
              </a:spcBef>
              <a:buAutoNum type="arabicPeriod"/>
              <a:tabLst>
                <a:tab pos="514984" algn="l"/>
                <a:tab pos="1711960" algn="l"/>
                <a:tab pos="2403475" algn="l"/>
                <a:tab pos="3668395" algn="l"/>
                <a:tab pos="4194175" algn="l"/>
                <a:tab pos="6047105" algn="l"/>
                <a:tab pos="8086725" algn="l"/>
                <a:tab pos="9044940" algn="l"/>
              </a:tabLst>
            </a:pPr>
            <a:r>
              <a:rPr sz="1950" spc="-10" dirty="0">
                <a:latin typeface="Verdana"/>
                <a:cs typeface="Verdana"/>
              </a:rPr>
              <a:t>Explain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the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concept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of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temperature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compensation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using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50" dirty="0">
                <a:latin typeface="Verdana"/>
                <a:cs typeface="Verdana"/>
              </a:rPr>
              <a:t>a</a:t>
            </a:r>
            <a:endParaRPr sz="1950">
              <a:latin typeface="Verdana"/>
              <a:cs typeface="Verdana"/>
            </a:endParaRPr>
          </a:p>
          <a:p>
            <a:pPr marL="514984">
              <a:lnSpc>
                <a:spcPct val="100000"/>
              </a:lnSpc>
              <a:spcBef>
                <a:spcPts val="375"/>
              </a:spcBef>
            </a:pPr>
            <a:r>
              <a:rPr sz="1950" dirty="0">
                <a:latin typeface="Verdana"/>
                <a:cs typeface="Verdana"/>
              </a:rPr>
              <a:t>Wheatstone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bridge</a:t>
            </a:r>
            <a:r>
              <a:rPr sz="1950" spc="10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circuit.</a:t>
            </a:r>
            <a:endParaRPr sz="1950">
              <a:latin typeface="Verdana"/>
              <a:cs typeface="Verdana"/>
            </a:endParaRPr>
          </a:p>
          <a:p>
            <a:pPr marL="514984" marR="5715" indent="-502920">
              <a:lnSpc>
                <a:spcPct val="115900"/>
              </a:lnSpc>
              <a:buAutoNum type="arabicPeriod" startAt="9"/>
              <a:tabLst>
                <a:tab pos="514984" algn="l"/>
                <a:tab pos="1835150" algn="l"/>
                <a:tab pos="2617470" algn="l"/>
                <a:tab pos="4634230" algn="l"/>
                <a:tab pos="6290945" algn="l"/>
                <a:tab pos="7131050" algn="l"/>
                <a:tab pos="8954135" algn="l"/>
              </a:tabLst>
            </a:pPr>
            <a:r>
              <a:rPr sz="1950" spc="-10" dirty="0">
                <a:latin typeface="Verdana"/>
                <a:cs typeface="Verdana"/>
              </a:rPr>
              <a:t>Discuss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the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construction,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operation,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and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advantages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of </a:t>
            </a:r>
            <a:r>
              <a:rPr sz="1950" dirty="0">
                <a:latin typeface="Verdana"/>
                <a:cs typeface="Verdana"/>
              </a:rPr>
              <a:t>Semiconductor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Strain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Gauges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compared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to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Metal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Wire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Gauges.</a:t>
            </a:r>
            <a:endParaRPr sz="1950">
              <a:latin typeface="Verdana"/>
              <a:cs typeface="Verdana"/>
            </a:endParaRPr>
          </a:p>
          <a:p>
            <a:pPr marL="513715" marR="5715" indent="-501650">
              <a:lnSpc>
                <a:spcPts val="2710"/>
              </a:lnSpc>
              <a:spcBef>
                <a:spcPts val="95"/>
              </a:spcBef>
              <a:buAutoNum type="arabicPeriod" startAt="9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Detailed</a:t>
            </a:r>
            <a:r>
              <a:rPr sz="1950" spc="2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2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common</a:t>
            </a:r>
            <a:r>
              <a:rPr sz="1950" spc="2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sources</a:t>
            </a:r>
            <a:r>
              <a:rPr sz="1950" spc="2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2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error</a:t>
            </a:r>
            <a:r>
              <a:rPr sz="1950" spc="2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2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strain</a:t>
            </a:r>
            <a:r>
              <a:rPr sz="1950" spc="2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gauges</a:t>
            </a:r>
            <a:r>
              <a:rPr sz="1950" spc="29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(Hysteresis 	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Creep)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explain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operation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Load</a:t>
            </a:r>
            <a:r>
              <a:rPr sz="1950" spc="2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Cells.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Textbook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0836" y="1760542"/>
            <a:ext cx="8875395" cy="170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2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Ian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Sinclair,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0" dirty="0">
                <a:latin typeface="Verdana"/>
                <a:cs typeface="Verdana"/>
              </a:rPr>
              <a:t> Transducers,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Third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20" dirty="0">
                <a:latin typeface="Verdana"/>
                <a:cs typeface="Verdana"/>
              </a:rPr>
              <a:t> 2001 </a:t>
            </a:r>
            <a:r>
              <a:rPr sz="2200" dirty="0">
                <a:latin typeface="Verdana"/>
                <a:cs typeface="Verdana"/>
              </a:rPr>
              <a:t>(Units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&amp;</a:t>
            </a:r>
            <a:r>
              <a:rPr sz="2200" spc="-20" dirty="0">
                <a:latin typeface="Verdana"/>
                <a:cs typeface="Verdana"/>
              </a:rPr>
              <a:t> II).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20000"/>
              </a:lnSpc>
              <a:spcBef>
                <a:spcPts val="525"/>
              </a:spcBef>
              <a:buFont typeface="Wingdings"/>
              <a:buChar char=""/>
              <a:tabLst>
                <a:tab pos="390525" algn="l"/>
                <a:tab pos="1527810" algn="l"/>
                <a:tab pos="3376929" algn="l"/>
                <a:tab pos="4191635" algn="l"/>
                <a:tab pos="4674235" algn="l"/>
                <a:tab pos="5494020" algn="l"/>
                <a:tab pos="6043295" algn="l"/>
                <a:tab pos="7317740" algn="l"/>
                <a:tab pos="8001000" algn="l"/>
              </a:tabLst>
            </a:pPr>
            <a:r>
              <a:rPr sz="2200" spc="-10" dirty="0">
                <a:latin typeface="Verdana"/>
                <a:cs typeface="Verdana"/>
              </a:rPr>
              <a:t>Ramon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PallásAreny,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John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G.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Webster,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Sensors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Signal </a:t>
            </a:r>
            <a:r>
              <a:rPr sz="2200" dirty="0">
                <a:latin typeface="Verdana"/>
                <a:cs typeface="Verdana"/>
              </a:rPr>
              <a:t>conditioning,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John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Wiley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Sons,</a:t>
            </a:r>
            <a:r>
              <a:rPr sz="2200" dirty="0">
                <a:latin typeface="Verdana"/>
                <a:cs typeface="Verdana"/>
              </a:rPr>
              <a:t>	Second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2000.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11" y="7368540"/>
            <a:ext cx="8139430" cy="289560"/>
            <a:chOff x="19811" y="7368540"/>
            <a:chExt cx="8139430" cy="289560"/>
          </a:xfrm>
        </p:grpSpPr>
        <p:sp>
          <p:nvSpPr>
            <p:cNvPr id="3" name="object 3"/>
            <p:cNvSpPr/>
            <p:nvPr/>
          </p:nvSpPr>
          <p:spPr>
            <a:xfrm>
              <a:off x="19811" y="7368540"/>
              <a:ext cx="8057515" cy="264160"/>
            </a:xfrm>
            <a:custGeom>
              <a:avLst/>
              <a:gdLst/>
              <a:ahLst/>
              <a:cxnLst/>
              <a:rect l="l" t="t" r="r" b="b"/>
              <a:pathLst>
                <a:path w="8057515" h="264159">
                  <a:moveTo>
                    <a:pt x="8057388" y="263651"/>
                  </a:moveTo>
                  <a:lnTo>
                    <a:pt x="0" y="263651"/>
                  </a:lnTo>
                  <a:lnTo>
                    <a:pt x="0" y="0"/>
                  </a:lnTo>
                  <a:lnTo>
                    <a:pt x="7906512" y="0"/>
                  </a:lnTo>
                  <a:lnTo>
                    <a:pt x="8057388" y="263651"/>
                  </a:lnTo>
                  <a:close/>
                </a:path>
              </a:pathLst>
            </a:custGeom>
            <a:solidFill>
              <a:srgbClr val="87B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812" y="7424928"/>
              <a:ext cx="8139430" cy="233679"/>
            </a:xfrm>
            <a:custGeom>
              <a:avLst/>
              <a:gdLst/>
              <a:ahLst/>
              <a:cxnLst/>
              <a:rect l="l" t="t" r="r" b="b"/>
              <a:pathLst>
                <a:path w="8139430" h="233679">
                  <a:moveTo>
                    <a:pt x="8139228" y="233172"/>
                  </a:moveTo>
                  <a:lnTo>
                    <a:pt x="0" y="233172"/>
                  </a:lnTo>
                  <a:lnTo>
                    <a:pt x="0" y="0"/>
                  </a:lnTo>
                  <a:lnTo>
                    <a:pt x="8001000" y="0"/>
                  </a:lnTo>
                  <a:lnTo>
                    <a:pt x="8139228" y="233172"/>
                  </a:lnTo>
                  <a:close/>
                </a:path>
              </a:pathLst>
            </a:custGeom>
            <a:solidFill>
              <a:srgbClr val="004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20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76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97" y="34290"/>
                </a:lnTo>
                <a:lnTo>
                  <a:pt x="61823" y="93141"/>
                </a:lnTo>
                <a:lnTo>
                  <a:pt x="56400" y="132588"/>
                </a:lnTo>
                <a:lnTo>
                  <a:pt x="60159" y="158711"/>
                </a:lnTo>
                <a:lnTo>
                  <a:pt x="72783" y="182702"/>
                </a:lnTo>
                <a:lnTo>
                  <a:pt x="96253" y="205244"/>
                </a:lnTo>
                <a:lnTo>
                  <a:pt x="132600" y="227088"/>
                </a:lnTo>
                <a:lnTo>
                  <a:pt x="207276" y="263664"/>
                </a:lnTo>
                <a:lnTo>
                  <a:pt x="221576" y="271678"/>
                </a:lnTo>
                <a:lnTo>
                  <a:pt x="233756" y="281000"/>
                </a:lnTo>
                <a:lnTo>
                  <a:pt x="242201" y="293446"/>
                </a:lnTo>
                <a:lnTo>
                  <a:pt x="245376" y="310908"/>
                </a:lnTo>
                <a:lnTo>
                  <a:pt x="240271" y="330504"/>
                </a:lnTo>
                <a:lnTo>
                  <a:pt x="226326" y="345389"/>
                </a:lnTo>
                <a:lnTo>
                  <a:pt x="205511" y="354838"/>
                </a:lnTo>
                <a:lnTo>
                  <a:pt x="179844" y="358152"/>
                </a:lnTo>
                <a:lnTo>
                  <a:pt x="158572" y="353402"/>
                </a:lnTo>
                <a:lnTo>
                  <a:pt x="140030" y="340817"/>
                </a:lnTo>
                <a:lnTo>
                  <a:pt x="126898" y="322783"/>
                </a:lnTo>
                <a:lnTo>
                  <a:pt x="121932" y="301764"/>
                </a:lnTo>
                <a:lnTo>
                  <a:pt x="121932" y="292620"/>
                </a:lnTo>
                <a:lnTo>
                  <a:pt x="0" y="292620"/>
                </a:lnTo>
                <a:lnTo>
                  <a:pt x="0" y="310908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44" y="425208"/>
                </a:lnTo>
                <a:lnTo>
                  <a:pt x="236842" y="420636"/>
                </a:lnTo>
                <a:lnTo>
                  <a:pt x="285394" y="407428"/>
                </a:lnTo>
                <a:lnTo>
                  <a:pt x="324624" y="386346"/>
                </a:lnTo>
                <a:lnTo>
                  <a:pt x="353682" y="358152"/>
                </a:lnTo>
                <a:lnTo>
                  <a:pt x="371754" y="323608"/>
                </a:lnTo>
                <a:lnTo>
                  <a:pt x="371881" y="322783"/>
                </a:lnTo>
                <a:lnTo>
                  <a:pt x="377964" y="283476"/>
                </a:lnTo>
                <a:lnTo>
                  <a:pt x="372694" y="256628"/>
                </a:lnTo>
                <a:lnTo>
                  <a:pt x="357581" y="233375"/>
                </a:lnTo>
                <a:lnTo>
                  <a:pt x="333590" y="213817"/>
                </a:lnTo>
                <a:lnTo>
                  <a:pt x="301764" y="198132"/>
                </a:lnTo>
                <a:lnTo>
                  <a:pt x="227088" y="160032"/>
                </a:lnTo>
                <a:lnTo>
                  <a:pt x="207479" y="151434"/>
                </a:lnTo>
                <a:lnTo>
                  <a:pt x="192608" y="139268"/>
                </a:lnTo>
                <a:lnTo>
                  <a:pt x="183146" y="123380"/>
                </a:lnTo>
                <a:lnTo>
                  <a:pt x="179844" y="103632"/>
                </a:lnTo>
                <a:lnTo>
                  <a:pt x="184581" y="89966"/>
                </a:lnTo>
                <a:lnTo>
                  <a:pt x="197180" y="77724"/>
                </a:lnTo>
                <a:lnTo>
                  <a:pt x="215201" y="68922"/>
                </a:lnTo>
                <a:lnTo>
                  <a:pt x="236232" y="65532"/>
                </a:lnTo>
                <a:lnTo>
                  <a:pt x="255828" y="69062"/>
                </a:lnTo>
                <a:lnTo>
                  <a:pt x="270713" y="78867"/>
                </a:lnTo>
                <a:lnTo>
                  <a:pt x="280162" y="93827"/>
                </a:lnTo>
                <a:lnTo>
                  <a:pt x="283476" y="112776"/>
                </a:lnTo>
                <a:lnTo>
                  <a:pt x="283476" y="123380"/>
                </a:lnTo>
                <a:lnTo>
                  <a:pt x="406920" y="123380"/>
                </a:lnTo>
                <a:lnTo>
                  <a:pt x="406920" y="103632"/>
                </a:lnTo>
                <a:close/>
              </a:path>
              <a:path w="1039495" h="425450">
                <a:moveTo>
                  <a:pt x="670572" y="103644"/>
                </a:moveTo>
                <a:lnTo>
                  <a:pt x="661504" y="65544"/>
                </a:lnTo>
                <a:lnTo>
                  <a:pt x="660209" y="60083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52" y="0"/>
                </a:lnTo>
                <a:lnTo>
                  <a:pt x="471538" y="1574"/>
                </a:lnTo>
                <a:lnTo>
                  <a:pt x="438531" y="5727"/>
                </a:lnTo>
                <a:lnTo>
                  <a:pt x="410679" y="11582"/>
                </a:lnTo>
                <a:lnTo>
                  <a:pt x="387096" y="18300"/>
                </a:lnTo>
                <a:lnTo>
                  <a:pt x="401408" y="34632"/>
                </a:lnTo>
                <a:lnTo>
                  <a:pt x="413575" y="54114"/>
                </a:lnTo>
                <a:lnTo>
                  <a:pt x="422033" y="77012"/>
                </a:lnTo>
                <a:lnTo>
                  <a:pt x="422122" y="77736"/>
                </a:lnTo>
                <a:lnTo>
                  <a:pt x="425196" y="103644"/>
                </a:lnTo>
                <a:lnTo>
                  <a:pt x="425196" y="112788"/>
                </a:lnTo>
                <a:lnTo>
                  <a:pt x="416115" y="123380"/>
                </a:lnTo>
                <a:lnTo>
                  <a:pt x="416052" y="132600"/>
                </a:lnTo>
                <a:lnTo>
                  <a:pt x="312420" y="132600"/>
                </a:lnTo>
                <a:lnTo>
                  <a:pt x="317449" y="158711"/>
                </a:lnTo>
                <a:lnTo>
                  <a:pt x="332041" y="182702"/>
                </a:lnTo>
                <a:lnTo>
                  <a:pt x="355498" y="205244"/>
                </a:lnTo>
                <a:lnTo>
                  <a:pt x="387096" y="227088"/>
                </a:lnTo>
                <a:lnTo>
                  <a:pt x="463296" y="263664"/>
                </a:lnTo>
                <a:lnTo>
                  <a:pt x="476973" y="271678"/>
                </a:lnTo>
                <a:lnTo>
                  <a:pt x="489204" y="281000"/>
                </a:lnTo>
                <a:lnTo>
                  <a:pt x="498017" y="293446"/>
                </a:lnTo>
                <a:lnTo>
                  <a:pt x="501396" y="310908"/>
                </a:lnTo>
                <a:lnTo>
                  <a:pt x="497713" y="330504"/>
                </a:lnTo>
                <a:lnTo>
                  <a:pt x="486727" y="345389"/>
                </a:lnTo>
                <a:lnTo>
                  <a:pt x="468617" y="354838"/>
                </a:lnTo>
                <a:lnTo>
                  <a:pt x="443484" y="358152"/>
                </a:lnTo>
                <a:lnTo>
                  <a:pt x="419252" y="353402"/>
                </a:lnTo>
                <a:lnTo>
                  <a:pt x="401574" y="340817"/>
                </a:lnTo>
                <a:lnTo>
                  <a:pt x="390766" y="322783"/>
                </a:lnTo>
                <a:lnTo>
                  <a:pt x="387096" y="301764"/>
                </a:lnTo>
                <a:lnTo>
                  <a:pt x="387096" y="292620"/>
                </a:lnTo>
                <a:lnTo>
                  <a:pt x="382358" y="321017"/>
                </a:lnTo>
                <a:lnTo>
                  <a:pt x="369760" y="348437"/>
                </a:lnTo>
                <a:lnTo>
                  <a:pt x="351739" y="373837"/>
                </a:lnTo>
                <a:lnTo>
                  <a:pt x="330708" y="396252"/>
                </a:lnTo>
                <a:lnTo>
                  <a:pt x="321564" y="396252"/>
                </a:lnTo>
                <a:lnTo>
                  <a:pt x="312420" y="405396"/>
                </a:lnTo>
                <a:lnTo>
                  <a:pt x="336410" y="412991"/>
                </a:lnTo>
                <a:lnTo>
                  <a:pt x="365950" y="419303"/>
                </a:lnTo>
                <a:lnTo>
                  <a:pt x="399224" y="423608"/>
                </a:lnTo>
                <a:lnTo>
                  <a:pt x="434340" y="425208"/>
                </a:lnTo>
                <a:lnTo>
                  <a:pt x="491998" y="420636"/>
                </a:lnTo>
                <a:lnTo>
                  <a:pt x="540969" y="407428"/>
                </a:lnTo>
                <a:lnTo>
                  <a:pt x="580466" y="386346"/>
                </a:lnTo>
                <a:lnTo>
                  <a:pt x="609663" y="358152"/>
                </a:lnTo>
                <a:lnTo>
                  <a:pt x="627773" y="323608"/>
                </a:lnTo>
                <a:lnTo>
                  <a:pt x="627900" y="322783"/>
                </a:lnTo>
                <a:lnTo>
                  <a:pt x="633996" y="283476"/>
                </a:lnTo>
                <a:lnTo>
                  <a:pt x="618185" y="233375"/>
                </a:lnTo>
                <a:lnTo>
                  <a:pt x="566940" y="198132"/>
                </a:lnTo>
                <a:lnTo>
                  <a:pt x="490728" y="160032"/>
                </a:lnTo>
                <a:lnTo>
                  <a:pt x="471779" y="151434"/>
                </a:lnTo>
                <a:lnTo>
                  <a:pt x="456819" y="139268"/>
                </a:lnTo>
                <a:lnTo>
                  <a:pt x="447014" y="123380"/>
                </a:lnTo>
                <a:lnTo>
                  <a:pt x="443484" y="103644"/>
                </a:lnTo>
                <a:lnTo>
                  <a:pt x="447014" y="89966"/>
                </a:lnTo>
                <a:lnTo>
                  <a:pt x="456819" y="77736"/>
                </a:lnTo>
                <a:lnTo>
                  <a:pt x="471779" y="68922"/>
                </a:lnTo>
                <a:lnTo>
                  <a:pt x="490728" y="65544"/>
                </a:lnTo>
                <a:lnTo>
                  <a:pt x="515861" y="69062"/>
                </a:lnTo>
                <a:lnTo>
                  <a:pt x="533984" y="78879"/>
                </a:lnTo>
                <a:lnTo>
                  <a:pt x="544957" y="93827"/>
                </a:lnTo>
                <a:lnTo>
                  <a:pt x="548652" y="112788"/>
                </a:lnTo>
                <a:lnTo>
                  <a:pt x="538048" y="123380"/>
                </a:lnTo>
                <a:lnTo>
                  <a:pt x="670572" y="123380"/>
                </a:lnTo>
                <a:lnTo>
                  <a:pt x="670572" y="103644"/>
                </a:lnTo>
                <a:close/>
              </a:path>
              <a:path w="1039495" h="425450">
                <a:moveTo>
                  <a:pt x="1039380" y="103632"/>
                </a:moveTo>
                <a:lnTo>
                  <a:pt x="1030973" y="59804"/>
                </a:lnTo>
                <a:lnTo>
                  <a:pt x="1007567" y="27241"/>
                </a:lnTo>
                <a:lnTo>
                  <a:pt x="971867" y="6985"/>
                </a:lnTo>
                <a:lnTo>
                  <a:pt x="926604" y="0"/>
                </a:lnTo>
                <a:lnTo>
                  <a:pt x="882789" y="5410"/>
                </a:lnTo>
                <a:lnTo>
                  <a:pt x="837831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60" y="85344"/>
                </a:lnTo>
                <a:lnTo>
                  <a:pt x="860856" y="87236"/>
                </a:lnTo>
                <a:lnTo>
                  <a:pt x="875741" y="93535"/>
                </a:lnTo>
                <a:lnTo>
                  <a:pt x="885190" y="105283"/>
                </a:lnTo>
                <a:lnTo>
                  <a:pt x="888504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61" y="142875"/>
                </a:lnTo>
                <a:lnTo>
                  <a:pt x="884643" y="155600"/>
                </a:lnTo>
                <a:lnTo>
                  <a:pt x="879360" y="169164"/>
                </a:lnTo>
                <a:lnTo>
                  <a:pt x="822972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60" y="405384"/>
                </a:lnTo>
                <a:lnTo>
                  <a:pt x="1021092" y="179832"/>
                </a:lnTo>
                <a:lnTo>
                  <a:pt x="1030236" y="141732"/>
                </a:lnTo>
                <a:lnTo>
                  <a:pt x="1035519" y="133210"/>
                </a:lnTo>
                <a:lnTo>
                  <a:pt x="1038237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80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8"/>
                </a:moveTo>
                <a:lnTo>
                  <a:pt x="623316" y="848868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6"/>
                </a:lnTo>
                <a:lnTo>
                  <a:pt x="1220913" y="307086"/>
                </a:lnTo>
                <a:lnTo>
                  <a:pt x="1223343" y="311765"/>
                </a:lnTo>
                <a:lnTo>
                  <a:pt x="1224737" y="316992"/>
                </a:lnTo>
                <a:lnTo>
                  <a:pt x="1020127" y="316992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41" y="352000"/>
                </a:lnTo>
                <a:lnTo>
                  <a:pt x="854678" y="379394"/>
                </a:lnTo>
                <a:lnTo>
                  <a:pt x="830675" y="394716"/>
                </a:lnTo>
                <a:lnTo>
                  <a:pt x="725709" y="848868"/>
                </a:lnTo>
                <a:close/>
              </a:path>
              <a:path w="5741670" h="1073150">
                <a:moveTo>
                  <a:pt x="687990" y="128016"/>
                </a:moveTo>
                <a:lnTo>
                  <a:pt x="0" y="128016"/>
                </a:lnTo>
                <a:lnTo>
                  <a:pt x="20669" y="36576"/>
                </a:lnTo>
                <a:lnTo>
                  <a:pt x="708660" y="36576"/>
                </a:lnTo>
                <a:lnTo>
                  <a:pt x="687990" y="128016"/>
                </a:lnTo>
                <a:close/>
              </a:path>
              <a:path w="5741670" h="1073150">
                <a:moveTo>
                  <a:pt x="232600" y="848868"/>
                </a:moveTo>
                <a:lnTo>
                  <a:pt x="123444" y="848868"/>
                </a:lnTo>
                <a:lnTo>
                  <a:pt x="290226" y="128016"/>
                </a:lnTo>
                <a:lnTo>
                  <a:pt x="399478" y="128016"/>
                </a:lnTo>
                <a:lnTo>
                  <a:pt x="232600" y="848868"/>
                </a:lnTo>
                <a:close/>
              </a:path>
              <a:path w="5741670" h="1073150">
                <a:moveTo>
                  <a:pt x="1220913" y="307086"/>
                </a:moveTo>
                <a:lnTo>
                  <a:pt x="850868" y="307086"/>
                </a:lnTo>
                <a:lnTo>
                  <a:pt x="879676" y="287849"/>
                </a:lnTo>
                <a:lnTo>
                  <a:pt x="934436" y="256521"/>
                </a:lnTo>
                <a:lnTo>
                  <a:pt x="986158" y="234893"/>
                </a:lnTo>
                <a:lnTo>
                  <a:pt x="1038736" y="223931"/>
                </a:lnTo>
                <a:lnTo>
                  <a:pt x="1065561" y="222504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6"/>
                </a:lnTo>
                <a:close/>
              </a:path>
              <a:path w="5741670" h="1073150">
                <a:moveTo>
                  <a:pt x="1133284" y="848868"/>
                </a:moveTo>
                <a:lnTo>
                  <a:pt x="1032224" y="848868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610" y="414147"/>
                </a:lnTo>
                <a:lnTo>
                  <a:pt x="1124712" y="409098"/>
                </a:lnTo>
                <a:lnTo>
                  <a:pt x="1119056" y="369093"/>
                </a:lnTo>
                <a:lnTo>
                  <a:pt x="1088399" y="330105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39" y="318475"/>
                </a:lnTo>
                <a:lnTo>
                  <a:pt x="1020127" y="316992"/>
                </a:lnTo>
                <a:lnTo>
                  <a:pt x="1224737" y="316992"/>
                </a:lnTo>
                <a:lnTo>
                  <a:pt x="1231668" y="342972"/>
                </a:lnTo>
                <a:lnTo>
                  <a:pt x="1234440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8"/>
                </a:lnTo>
                <a:close/>
              </a:path>
              <a:path w="5741670" h="1073150">
                <a:moveTo>
                  <a:pt x="1459325" y="356616"/>
                </a:moveTo>
                <a:lnTo>
                  <a:pt x="1453896" y="356616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7"/>
                </a:lnTo>
                <a:lnTo>
                  <a:pt x="1679924" y="225552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6"/>
                </a:lnTo>
                <a:lnTo>
                  <a:pt x="1661636" y="310896"/>
                </a:lnTo>
                <a:lnTo>
                  <a:pt x="1638369" y="311884"/>
                </a:lnTo>
                <a:lnTo>
                  <a:pt x="1637930" y="311884"/>
                </a:lnTo>
                <a:lnTo>
                  <a:pt x="1612058" y="314825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6"/>
                </a:lnTo>
                <a:close/>
              </a:path>
              <a:path w="5741670" h="1073150">
                <a:moveTo>
                  <a:pt x="1484185" y="865632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29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2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2"/>
                </a:lnTo>
                <a:lnTo>
                  <a:pt x="1795056" y="439193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791462" y="354139"/>
                </a:lnTo>
                <a:lnTo>
                  <a:pt x="1762029" y="327850"/>
                </a:lnTo>
                <a:lnTo>
                  <a:pt x="1717548" y="314515"/>
                </a:lnTo>
                <a:lnTo>
                  <a:pt x="1676600" y="311180"/>
                </a:lnTo>
                <a:lnTo>
                  <a:pt x="1661636" y="310896"/>
                </a:lnTo>
                <a:lnTo>
                  <a:pt x="1893766" y="310896"/>
                </a:lnTo>
                <a:lnTo>
                  <a:pt x="1902986" y="337496"/>
                </a:lnTo>
                <a:lnTo>
                  <a:pt x="1906495" y="372999"/>
                </a:lnTo>
                <a:lnTo>
                  <a:pt x="1906524" y="373284"/>
                </a:lnTo>
                <a:lnTo>
                  <a:pt x="1902812" y="412623"/>
                </a:lnTo>
                <a:lnTo>
                  <a:pt x="1877021" y="528828"/>
                </a:lnTo>
                <a:lnTo>
                  <a:pt x="1774602" y="528828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2" y="753618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2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5"/>
                </a:lnTo>
                <a:lnTo>
                  <a:pt x="1774602" y="528828"/>
                </a:lnTo>
                <a:lnTo>
                  <a:pt x="1877021" y="528828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8"/>
                </a:moveTo>
                <a:lnTo>
                  <a:pt x="1702022" y="848868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8"/>
                </a:lnTo>
                <a:close/>
              </a:path>
              <a:path w="5741670" h="1073150">
                <a:moveTo>
                  <a:pt x="2598605" y="307181"/>
                </a:moveTo>
                <a:lnTo>
                  <a:pt x="2227992" y="307181"/>
                </a:lnTo>
                <a:lnTo>
                  <a:pt x="2256817" y="287875"/>
                </a:lnTo>
                <a:lnTo>
                  <a:pt x="2311681" y="256442"/>
                </a:lnTo>
                <a:lnTo>
                  <a:pt x="2363490" y="234813"/>
                </a:lnTo>
                <a:lnTo>
                  <a:pt x="2416172" y="223916"/>
                </a:lnTo>
                <a:lnTo>
                  <a:pt x="2443067" y="222504"/>
                </a:lnTo>
                <a:lnTo>
                  <a:pt x="2480802" y="225074"/>
                </a:lnTo>
                <a:lnTo>
                  <a:pt x="2543057" y="245180"/>
                </a:lnTo>
                <a:lnTo>
                  <a:pt x="2587061" y="285004"/>
                </a:lnTo>
                <a:lnTo>
                  <a:pt x="2598605" y="307181"/>
                </a:lnTo>
                <a:close/>
              </a:path>
              <a:path w="5741670" h="1073150">
                <a:moveTo>
                  <a:pt x="2103405" y="848868"/>
                </a:moveTo>
                <a:lnTo>
                  <a:pt x="2001012" y="848868"/>
                </a:lnTo>
                <a:lnTo>
                  <a:pt x="2141124" y="239268"/>
                </a:lnTo>
                <a:lnTo>
                  <a:pt x="2243613" y="239268"/>
                </a:lnTo>
                <a:lnTo>
                  <a:pt x="2227992" y="307181"/>
                </a:lnTo>
                <a:lnTo>
                  <a:pt x="2598605" y="307181"/>
                </a:lnTo>
                <a:lnTo>
                  <a:pt x="2600991" y="311765"/>
                </a:lnTo>
                <a:lnTo>
                  <a:pt x="2602391" y="316992"/>
                </a:lnTo>
                <a:lnTo>
                  <a:pt x="2397728" y="316992"/>
                </a:lnTo>
                <a:lnTo>
                  <a:pt x="2376347" y="318475"/>
                </a:lnTo>
                <a:lnTo>
                  <a:pt x="2330407" y="329944"/>
                </a:lnTo>
                <a:lnTo>
                  <a:pt x="2280826" y="352018"/>
                </a:lnTo>
                <a:lnTo>
                  <a:pt x="2231820" y="379554"/>
                </a:lnTo>
                <a:lnTo>
                  <a:pt x="2207799" y="395001"/>
                </a:lnTo>
                <a:lnTo>
                  <a:pt x="2103405" y="848868"/>
                </a:lnTo>
                <a:close/>
              </a:path>
              <a:path w="5741670" h="1073150">
                <a:moveTo>
                  <a:pt x="2512028" y="848868"/>
                </a:moveTo>
                <a:lnTo>
                  <a:pt x="2410968" y="848868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7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4" y="330105"/>
                </a:lnTo>
                <a:lnTo>
                  <a:pt x="2447697" y="322790"/>
                </a:lnTo>
                <a:lnTo>
                  <a:pt x="2447504" y="322790"/>
                </a:lnTo>
                <a:lnTo>
                  <a:pt x="2424995" y="318475"/>
                </a:lnTo>
                <a:lnTo>
                  <a:pt x="2397728" y="316992"/>
                </a:lnTo>
                <a:lnTo>
                  <a:pt x="2602391" y="316992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11991" y="385777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8"/>
                </a:lnTo>
                <a:close/>
              </a:path>
              <a:path w="5741670" h="1073150">
                <a:moveTo>
                  <a:pt x="2815971" y="848868"/>
                </a:moveTo>
                <a:lnTo>
                  <a:pt x="2712720" y="848868"/>
                </a:lnTo>
                <a:lnTo>
                  <a:pt x="2908744" y="0"/>
                </a:lnTo>
                <a:lnTo>
                  <a:pt x="3011995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738" y="652653"/>
                </a:lnTo>
                <a:lnTo>
                  <a:pt x="2815971" y="848868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262" y="239268"/>
                </a:lnTo>
                <a:lnTo>
                  <a:pt x="3377184" y="239268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8"/>
                </a:moveTo>
                <a:lnTo>
                  <a:pt x="3142392" y="848868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8"/>
                </a:lnTo>
                <a:close/>
              </a:path>
              <a:path w="5741670" h="1073150">
                <a:moveTo>
                  <a:pt x="3866483" y="1072896"/>
                </a:moveTo>
                <a:lnTo>
                  <a:pt x="3752088" y="1072896"/>
                </a:lnTo>
                <a:lnTo>
                  <a:pt x="3930015" y="811434"/>
                </a:lnTo>
                <a:lnTo>
                  <a:pt x="3820668" y="239268"/>
                </a:lnTo>
                <a:lnTo>
                  <a:pt x="3924585" y="239268"/>
                </a:lnTo>
                <a:lnTo>
                  <a:pt x="4010310" y="693420"/>
                </a:lnTo>
                <a:lnTo>
                  <a:pt x="4116186" y="693420"/>
                </a:lnTo>
                <a:lnTo>
                  <a:pt x="3866483" y="1072896"/>
                </a:lnTo>
                <a:close/>
              </a:path>
              <a:path w="5741670" h="1073150">
                <a:moveTo>
                  <a:pt x="4116186" y="693420"/>
                </a:moveTo>
                <a:lnTo>
                  <a:pt x="4010310" y="693420"/>
                </a:lnTo>
                <a:lnTo>
                  <a:pt x="4301871" y="239268"/>
                </a:lnTo>
                <a:lnTo>
                  <a:pt x="4415028" y="239268"/>
                </a:lnTo>
                <a:lnTo>
                  <a:pt x="4116186" y="693420"/>
                </a:lnTo>
                <a:close/>
              </a:path>
              <a:path w="5741670" h="1073150">
                <a:moveTo>
                  <a:pt x="4664868" y="865632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6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6" y="374714"/>
                </a:lnTo>
                <a:lnTo>
                  <a:pt x="4555243" y="318367"/>
                </a:lnTo>
                <a:lnTo>
                  <a:pt x="4610717" y="273933"/>
                </a:lnTo>
                <a:lnTo>
                  <a:pt x="4675908" y="241323"/>
                </a:lnTo>
                <a:lnTo>
                  <a:pt x="4747709" y="224645"/>
                </a:lnTo>
                <a:lnTo>
                  <a:pt x="4785931" y="222504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8"/>
                </a:lnTo>
                <a:lnTo>
                  <a:pt x="4769453" y="307848"/>
                </a:lnTo>
                <a:lnTo>
                  <a:pt x="4743770" y="309492"/>
                </a:lnTo>
                <a:lnTo>
                  <a:pt x="4696439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0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8"/>
                </a:lnTo>
                <a:lnTo>
                  <a:pt x="4649808" y="777823"/>
                </a:lnTo>
                <a:lnTo>
                  <a:pt x="4681347" y="780288"/>
                </a:lnTo>
                <a:lnTo>
                  <a:pt x="4883964" y="780288"/>
                </a:lnTo>
                <a:lnTo>
                  <a:pt x="4868382" y="794527"/>
                </a:lnTo>
                <a:lnTo>
                  <a:pt x="4809934" y="833247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2"/>
                </a:lnTo>
                <a:close/>
              </a:path>
              <a:path w="5741670" h="1073150">
                <a:moveTo>
                  <a:pt x="4883964" y="780288"/>
                </a:moveTo>
                <a:lnTo>
                  <a:pt x="4681347" y="780288"/>
                </a:lnTo>
                <a:lnTo>
                  <a:pt x="4706869" y="778771"/>
                </a:lnTo>
                <a:lnTo>
                  <a:pt x="4731150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8"/>
                </a:lnTo>
                <a:lnTo>
                  <a:pt x="4974003" y="307848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4" y="454914"/>
                </a:lnTo>
                <a:lnTo>
                  <a:pt x="5013961" y="494602"/>
                </a:lnTo>
                <a:lnTo>
                  <a:pt x="5013927" y="495490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8"/>
                </a:lnTo>
                <a:close/>
              </a:path>
              <a:path w="5741670" h="1073150">
                <a:moveTo>
                  <a:pt x="5297805" y="865632"/>
                </a:moveTo>
                <a:lnTo>
                  <a:pt x="5228034" y="855773"/>
                </a:lnTo>
                <a:lnTo>
                  <a:pt x="5175408" y="826198"/>
                </a:lnTo>
                <a:lnTo>
                  <a:pt x="5142357" y="777621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1467" y="701593"/>
                </a:lnTo>
                <a:lnTo>
                  <a:pt x="5136701" y="656082"/>
                </a:lnTo>
                <a:lnTo>
                  <a:pt x="5232368" y="239268"/>
                </a:lnTo>
                <a:lnTo>
                  <a:pt x="5334857" y="239268"/>
                </a:lnTo>
                <a:lnTo>
                  <a:pt x="5254275" y="586073"/>
                </a:lnTo>
                <a:lnTo>
                  <a:pt x="5251881" y="597035"/>
                </a:lnTo>
                <a:lnTo>
                  <a:pt x="5243146" y="647374"/>
                </a:lnTo>
                <a:lnTo>
                  <a:pt x="5240655" y="677418"/>
                </a:lnTo>
                <a:lnTo>
                  <a:pt x="5242137" y="699440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4"/>
                </a:lnTo>
                <a:lnTo>
                  <a:pt x="5617603" y="771144"/>
                </a:lnTo>
                <a:lnTo>
                  <a:pt x="5615193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2"/>
                </a:lnTo>
                <a:close/>
              </a:path>
              <a:path w="5741670" h="1073150">
                <a:moveTo>
                  <a:pt x="5617603" y="771144"/>
                </a:moveTo>
                <a:lnTo>
                  <a:pt x="5345049" y="771144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114" y="722637"/>
                </a:lnTo>
                <a:lnTo>
                  <a:pt x="5533072" y="693896"/>
                </a:lnTo>
                <a:lnTo>
                  <a:pt x="5638609" y="239268"/>
                </a:lnTo>
                <a:lnTo>
                  <a:pt x="5741098" y="239268"/>
                </a:lnTo>
                <a:lnTo>
                  <a:pt x="5617603" y="771144"/>
                </a:lnTo>
                <a:close/>
              </a:path>
              <a:path w="5741670" h="1073150">
                <a:moveTo>
                  <a:pt x="5599557" y="848868"/>
                </a:moveTo>
                <a:lnTo>
                  <a:pt x="5497068" y="848868"/>
                </a:lnTo>
                <a:lnTo>
                  <a:pt x="5512689" y="781526"/>
                </a:lnTo>
                <a:lnTo>
                  <a:pt x="5615193" y="781526"/>
                </a:lnTo>
                <a:lnTo>
                  <a:pt x="5599557" y="848868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2697</Words>
  <Application>Microsoft Office PowerPoint</Application>
  <PresentationFormat>Custom</PresentationFormat>
  <Paragraphs>217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Verdana</vt:lpstr>
      <vt:lpstr>Wingdings</vt:lpstr>
      <vt:lpstr>Office Theme</vt:lpstr>
      <vt:lpstr>UEC3942: Introduction to Sensors and Actuators</vt:lpstr>
      <vt:lpstr>Learning Outcomes</vt:lpstr>
      <vt:lpstr>Introduction to Stress and Strain</vt:lpstr>
      <vt:lpstr>The Nature of Strain Measurements</vt:lpstr>
      <vt:lpstr>Types of Strain</vt:lpstr>
      <vt:lpstr>Understanding Stress</vt:lpstr>
      <vt:lpstr>Relationship Between Stress and Strain</vt:lpstr>
      <vt:lpstr>Classic Mechanical Measurement</vt:lpstr>
      <vt:lpstr>Challenges in Sensing Strain</vt:lpstr>
      <vt:lpstr>Main Sensing Principles</vt:lpstr>
      <vt:lpstr>Piezoresistive Sensors</vt:lpstr>
      <vt:lpstr>How they work?</vt:lpstr>
      <vt:lpstr>Resistive Strain Gauges - Construction</vt:lpstr>
      <vt:lpstr>Piezoresistive Principle</vt:lpstr>
      <vt:lpstr>Circuitry: The Wheatstone Bridge</vt:lpstr>
      <vt:lpstr>Temperature Compensation</vt:lpstr>
      <vt:lpstr>Sensitivity: The Gauge Factor</vt:lpstr>
      <vt:lpstr>Metal Wire Strain Gauges</vt:lpstr>
      <vt:lpstr>Semiconductor Strain Gauges</vt:lpstr>
      <vt:lpstr>Semiconductor Passivation</vt:lpstr>
      <vt:lpstr>Key Types of Materials</vt:lpstr>
      <vt:lpstr>Major Applications</vt:lpstr>
      <vt:lpstr>Piezoelectric Sensors</vt:lpstr>
      <vt:lpstr>How they work?</vt:lpstr>
      <vt:lpstr>Piezoelectric Strain Gauge - Working Principle</vt:lpstr>
      <vt:lpstr>Piezoelectric Characteristics</vt:lpstr>
      <vt:lpstr>Electrical Model of Piezoelectric Gauges</vt:lpstr>
      <vt:lpstr>Limitations of Piezoelectric Gauges</vt:lpstr>
      <vt:lpstr>Common Types</vt:lpstr>
      <vt:lpstr>Key Applications</vt:lpstr>
      <vt:lpstr>Sensor Errors: Hysteresis</vt:lpstr>
      <vt:lpstr>Sensor Errors: Creep</vt:lpstr>
      <vt:lpstr>Application: Load Cells</vt:lpstr>
      <vt:lpstr>Comparison: Piezoresistive vs. Piezoelectric</vt:lpstr>
      <vt:lpstr>Future &amp; Advanced Methods</vt:lpstr>
      <vt:lpstr>Summary</vt:lpstr>
      <vt:lpstr>Test your understanding</vt:lpstr>
      <vt:lpstr>Textbook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Strain Guage Sensors</dc:title>
  <dc:creator>Karthie Alias Ayyadurai</dc:creator>
  <cp:lastModifiedBy>Annadurai C</cp:lastModifiedBy>
  <cp:revision>2</cp:revision>
  <dcterms:created xsi:type="dcterms:W3CDTF">2026-06-22T13:21:03Z</dcterms:created>
  <dcterms:modified xsi:type="dcterms:W3CDTF">2026-07-08T03:39:50Z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2026-01-02T00:00:00Z</vt:filetime>
  </property>
  <property fmtid="{D5CDD505-2E9C-101B-9397-08002B2CF9AE}" pid="3" name="LastSaved">
    <vt:filetime>2026-06-22T00:00:00Z</vt:filetime>
  </property>
  <property fmtid="{D5CDD505-2E9C-101B-9397-08002B2CF9AE}" pid="4" name="Producer">
    <vt:lpwstr>3-Heights(TM) PDF Security Shell 4.8.25.2 (http://www.pdf-tools.com)</vt:lpwstr>
  </property>
</Properties>
</file>