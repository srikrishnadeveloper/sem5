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0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FF00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FF00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9811" y="7368540"/>
            <a:ext cx="8057515" cy="264160"/>
          </a:xfrm>
          <a:custGeom>
            <a:avLst/>
            <a:gdLst/>
            <a:ahLst/>
            <a:cxnLst/>
            <a:rect l="l" t="t" r="r" b="b"/>
            <a:pathLst>
              <a:path w="8057515" h="264159">
                <a:moveTo>
                  <a:pt x="8057388" y="263652"/>
                </a:moveTo>
                <a:lnTo>
                  <a:pt x="0" y="263652"/>
                </a:lnTo>
                <a:lnTo>
                  <a:pt x="0" y="0"/>
                </a:lnTo>
                <a:lnTo>
                  <a:pt x="7906511" y="0"/>
                </a:lnTo>
                <a:lnTo>
                  <a:pt x="8057388" y="263652"/>
                </a:lnTo>
                <a:close/>
              </a:path>
            </a:pathLst>
          </a:custGeom>
          <a:solidFill>
            <a:srgbClr val="87BC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9812" y="7424928"/>
            <a:ext cx="8139430" cy="233679"/>
          </a:xfrm>
          <a:custGeom>
            <a:avLst/>
            <a:gdLst/>
            <a:ahLst/>
            <a:cxnLst/>
            <a:rect l="l" t="t" r="r" b="b"/>
            <a:pathLst>
              <a:path w="8139430" h="233679">
                <a:moveTo>
                  <a:pt x="8139228" y="233171"/>
                </a:moveTo>
                <a:lnTo>
                  <a:pt x="0" y="233171"/>
                </a:lnTo>
                <a:lnTo>
                  <a:pt x="0" y="0"/>
                </a:lnTo>
                <a:lnTo>
                  <a:pt x="8001000" y="0"/>
                </a:lnTo>
                <a:lnTo>
                  <a:pt x="8139228" y="233171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616683" y="7094219"/>
            <a:ext cx="1039494" cy="425450"/>
          </a:xfrm>
          <a:custGeom>
            <a:avLst/>
            <a:gdLst/>
            <a:ahLst/>
            <a:cxnLst/>
            <a:rect l="l" t="t" r="r" b="b"/>
            <a:pathLst>
              <a:path w="1039495" h="425450">
                <a:moveTo>
                  <a:pt x="406908" y="103632"/>
                </a:moveTo>
                <a:lnTo>
                  <a:pt x="398614" y="65532"/>
                </a:lnTo>
                <a:lnTo>
                  <a:pt x="397433" y="60083"/>
                </a:lnTo>
                <a:lnTo>
                  <a:pt x="371995" y="30289"/>
                </a:lnTo>
                <a:lnTo>
                  <a:pt x="335153" y="11899"/>
                </a:lnTo>
                <a:lnTo>
                  <a:pt x="291426" y="2590"/>
                </a:lnTo>
                <a:lnTo>
                  <a:pt x="245364" y="0"/>
                </a:lnTo>
                <a:lnTo>
                  <a:pt x="188506" y="3898"/>
                </a:lnTo>
                <a:lnTo>
                  <a:pt x="141516" y="15417"/>
                </a:lnTo>
                <a:lnTo>
                  <a:pt x="104584" y="34290"/>
                </a:lnTo>
                <a:lnTo>
                  <a:pt x="61823" y="93141"/>
                </a:lnTo>
                <a:lnTo>
                  <a:pt x="56388" y="132588"/>
                </a:lnTo>
                <a:lnTo>
                  <a:pt x="60159" y="158711"/>
                </a:lnTo>
                <a:lnTo>
                  <a:pt x="72771" y="182689"/>
                </a:lnTo>
                <a:lnTo>
                  <a:pt x="96253" y="205244"/>
                </a:lnTo>
                <a:lnTo>
                  <a:pt x="132588" y="227076"/>
                </a:lnTo>
                <a:lnTo>
                  <a:pt x="207264" y="263652"/>
                </a:lnTo>
                <a:lnTo>
                  <a:pt x="221576" y="271678"/>
                </a:lnTo>
                <a:lnTo>
                  <a:pt x="233743" y="280987"/>
                </a:lnTo>
                <a:lnTo>
                  <a:pt x="242201" y="293446"/>
                </a:lnTo>
                <a:lnTo>
                  <a:pt x="245364" y="310896"/>
                </a:lnTo>
                <a:lnTo>
                  <a:pt x="240271" y="330504"/>
                </a:lnTo>
                <a:lnTo>
                  <a:pt x="226314" y="345376"/>
                </a:lnTo>
                <a:lnTo>
                  <a:pt x="205511" y="354838"/>
                </a:lnTo>
                <a:lnTo>
                  <a:pt x="179844" y="358140"/>
                </a:lnTo>
                <a:lnTo>
                  <a:pt x="158572" y="353402"/>
                </a:lnTo>
                <a:lnTo>
                  <a:pt x="140017" y="340804"/>
                </a:lnTo>
                <a:lnTo>
                  <a:pt x="126898" y="322783"/>
                </a:lnTo>
                <a:lnTo>
                  <a:pt x="121920" y="301752"/>
                </a:lnTo>
                <a:lnTo>
                  <a:pt x="121920" y="292608"/>
                </a:lnTo>
                <a:lnTo>
                  <a:pt x="0" y="292608"/>
                </a:lnTo>
                <a:lnTo>
                  <a:pt x="0" y="310896"/>
                </a:lnTo>
                <a:lnTo>
                  <a:pt x="1892" y="337743"/>
                </a:lnTo>
                <a:lnTo>
                  <a:pt x="19939" y="380555"/>
                </a:lnTo>
                <a:lnTo>
                  <a:pt x="62395" y="409130"/>
                </a:lnTo>
                <a:lnTo>
                  <a:pt x="133261" y="423468"/>
                </a:lnTo>
                <a:lnTo>
                  <a:pt x="179832" y="425196"/>
                </a:lnTo>
                <a:lnTo>
                  <a:pt x="236842" y="420624"/>
                </a:lnTo>
                <a:lnTo>
                  <a:pt x="285394" y="407416"/>
                </a:lnTo>
                <a:lnTo>
                  <a:pt x="324612" y="386334"/>
                </a:lnTo>
                <a:lnTo>
                  <a:pt x="353682" y="358140"/>
                </a:lnTo>
                <a:lnTo>
                  <a:pt x="371754" y="323596"/>
                </a:lnTo>
                <a:lnTo>
                  <a:pt x="377952" y="283464"/>
                </a:lnTo>
                <a:lnTo>
                  <a:pt x="372694" y="256628"/>
                </a:lnTo>
                <a:lnTo>
                  <a:pt x="357568" y="233362"/>
                </a:lnTo>
                <a:lnTo>
                  <a:pt x="333590" y="213817"/>
                </a:lnTo>
                <a:lnTo>
                  <a:pt x="301752" y="198120"/>
                </a:lnTo>
                <a:lnTo>
                  <a:pt x="227076" y="160020"/>
                </a:lnTo>
                <a:lnTo>
                  <a:pt x="207479" y="151434"/>
                </a:lnTo>
                <a:lnTo>
                  <a:pt x="192595" y="139255"/>
                </a:lnTo>
                <a:lnTo>
                  <a:pt x="183146" y="123380"/>
                </a:lnTo>
                <a:lnTo>
                  <a:pt x="179832" y="103632"/>
                </a:lnTo>
                <a:lnTo>
                  <a:pt x="184581" y="89966"/>
                </a:lnTo>
                <a:lnTo>
                  <a:pt x="197167" y="77724"/>
                </a:lnTo>
                <a:lnTo>
                  <a:pt x="215201" y="68922"/>
                </a:lnTo>
                <a:lnTo>
                  <a:pt x="236220" y="65532"/>
                </a:lnTo>
                <a:lnTo>
                  <a:pt x="255828" y="69062"/>
                </a:lnTo>
                <a:lnTo>
                  <a:pt x="270700" y="78867"/>
                </a:lnTo>
                <a:lnTo>
                  <a:pt x="280162" y="93827"/>
                </a:lnTo>
                <a:lnTo>
                  <a:pt x="283464" y="112776"/>
                </a:lnTo>
                <a:lnTo>
                  <a:pt x="283464" y="123380"/>
                </a:lnTo>
                <a:lnTo>
                  <a:pt x="406908" y="123380"/>
                </a:lnTo>
                <a:lnTo>
                  <a:pt x="406908" y="103632"/>
                </a:lnTo>
                <a:close/>
              </a:path>
              <a:path w="1039495" h="425450">
                <a:moveTo>
                  <a:pt x="670560" y="103632"/>
                </a:moveTo>
                <a:lnTo>
                  <a:pt x="661504" y="65532"/>
                </a:lnTo>
                <a:lnTo>
                  <a:pt x="633107" y="30289"/>
                </a:lnTo>
                <a:lnTo>
                  <a:pt x="595185" y="11899"/>
                </a:lnTo>
                <a:lnTo>
                  <a:pt x="552348" y="2590"/>
                </a:lnTo>
                <a:lnTo>
                  <a:pt x="510540" y="0"/>
                </a:lnTo>
                <a:lnTo>
                  <a:pt x="471538" y="1574"/>
                </a:lnTo>
                <a:lnTo>
                  <a:pt x="438531" y="5715"/>
                </a:lnTo>
                <a:lnTo>
                  <a:pt x="410679" y="11582"/>
                </a:lnTo>
                <a:lnTo>
                  <a:pt x="387096" y="18288"/>
                </a:lnTo>
                <a:lnTo>
                  <a:pt x="401408" y="34632"/>
                </a:lnTo>
                <a:lnTo>
                  <a:pt x="413575" y="54102"/>
                </a:lnTo>
                <a:lnTo>
                  <a:pt x="422033" y="77012"/>
                </a:lnTo>
                <a:lnTo>
                  <a:pt x="422122" y="77724"/>
                </a:lnTo>
                <a:lnTo>
                  <a:pt x="425196" y="103632"/>
                </a:lnTo>
                <a:lnTo>
                  <a:pt x="425196" y="112776"/>
                </a:lnTo>
                <a:lnTo>
                  <a:pt x="416115" y="123380"/>
                </a:lnTo>
                <a:lnTo>
                  <a:pt x="416052" y="132588"/>
                </a:lnTo>
                <a:lnTo>
                  <a:pt x="312420" y="132588"/>
                </a:lnTo>
                <a:lnTo>
                  <a:pt x="317449" y="158711"/>
                </a:lnTo>
                <a:lnTo>
                  <a:pt x="332041" y="182689"/>
                </a:lnTo>
                <a:lnTo>
                  <a:pt x="355498" y="205244"/>
                </a:lnTo>
                <a:lnTo>
                  <a:pt x="387096" y="227076"/>
                </a:lnTo>
                <a:lnTo>
                  <a:pt x="463296" y="263652"/>
                </a:lnTo>
                <a:lnTo>
                  <a:pt x="476973" y="271678"/>
                </a:lnTo>
                <a:lnTo>
                  <a:pt x="489204" y="280987"/>
                </a:lnTo>
                <a:lnTo>
                  <a:pt x="498017" y="293446"/>
                </a:lnTo>
                <a:lnTo>
                  <a:pt x="501396" y="310896"/>
                </a:lnTo>
                <a:lnTo>
                  <a:pt x="497713" y="330504"/>
                </a:lnTo>
                <a:lnTo>
                  <a:pt x="486727" y="345376"/>
                </a:lnTo>
                <a:lnTo>
                  <a:pt x="468617" y="354838"/>
                </a:lnTo>
                <a:lnTo>
                  <a:pt x="443484" y="358140"/>
                </a:lnTo>
                <a:lnTo>
                  <a:pt x="419252" y="353402"/>
                </a:lnTo>
                <a:lnTo>
                  <a:pt x="401574" y="340804"/>
                </a:lnTo>
                <a:lnTo>
                  <a:pt x="390766" y="322783"/>
                </a:lnTo>
                <a:lnTo>
                  <a:pt x="387096" y="301752"/>
                </a:lnTo>
                <a:lnTo>
                  <a:pt x="387096" y="292608"/>
                </a:lnTo>
                <a:lnTo>
                  <a:pt x="382358" y="321017"/>
                </a:lnTo>
                <a:lnTo>
                  <a:pt x="369760" y="348424"/>
                </a:lnTo>
                <a:lnTo>
                  <a:pt x="351739" y="373837"/>
                </a:lnTo>
                <a:lnTo>
                  <a:pt x="330708" y="396240"/>
                </a:lnTo>
                <a:lnTo>
                  <a:pt x="321564" y="396240"/>
                </a:lnTo>
                <a:lnTo>
                  <a:pt x="312420" y="405384"/>
                </a:lnTo>
                <a:lnTo>
                  <a:pt x="336410" y="412991"/>
                </a:lnTo>
                <a:lnTo>
                  <a:pt x="365950" y="419290"/>
                </a:lnTo>
                <a:lnTo>
                  <a:pt x="399224" y="423608"/>
                </a:lnTo>
                <a:lnTo>
                  <a:pt x="434340" y="425196"/>
                </a:lnTo>
                <a:lnTo>
                  <a:pt x="491998" y="420624"/>
                </a:lnTo>
                <a:lnTo>
                  <a:pt x="540969" y="407416"/>
                </a:lnTo>
                <a:lnTo>
                  <a:pt x="580453" y="386334"/>
                </a:lnTo>
                <a:lnTo>
                  <a:pt x="609663" y="358140"/>
                </a:lnTo>
                <a:lnTo>
                  <a:pt x="627773" y="323596"/>
                </a:lnTo>
                <a:lnTo>
                  <a:pt x="633984" y="283464"/>
                </a:lnTo>
                <a:lnTo>
                  <a:pt x="630161" y="256628"/>
                </a:lnTo>
                <a:lnTo>
                  <a:pt x="597344" y="213817"/>
                </a:lnTo>
                <a:lnTo>
                  <a:pt x="490728" y="160020"/>
                </a:lnTo>
                <a:lnTo>
                  <a:pt x="471779" y="151434"/>
                </a:lnTo>
                <a:lnTo>
                  <a:pt x="456819" y="139255"/>
                </a:lnTo>
                <a:lnTo>
                  <a:pt x="447014" y="123380"/>
                </a:lnTo>
                <a:lnTo>
                  <a:pt x="443484" y="103632"/>
                </a:lnTo>
                <a:lnTo>
                  <a:pt x="447014" y="89966"/>
                </a:lnTo>
                <a:lnTo>
                  <a:pt x="456819" y="77724"/>
                </a:lnTo>
                <a:lnTo>
                  <a:pt x="471779" y="68922"/>
                </a:lnTo>
                <a:lnTo>
                  <a:pt x="490728" y="65532"/>
                </a:lnTo>
                <a:lnTo>
                  <a:pt x="515861" y="69062"/>
                </a:lnTo>
                <a:lnTo>
                  <a:pt x="533971" y="78867"/>
                </a:lnTo>
                <a:lnTo>
                  <a:pt x="544957" y="93827"/>
                </a:lnTo>
                <a:lnTo>
                  <a:pt x="548640" y="112776"/>
                </a:lnTo>
                <a:lnTo>
                  <a:pt x="538048" y="123380"/>
                </a:lnTo>
                <a:lnTo>
                  <a:pt x="670560" y="123380"/>
                </a:lnTo>
                <a:lnTo>
                  <a:pt x="670560" y="103632"/>
                </a:lnTo>
                <a:close/>
              </a:path>
              <a:path w="1039495" h="425450">
                <a:moveTo>
                  <a:pt x="1039368" y="103632"/>
                </a:moveTo>
                <a:lnTo>
                  <a:pt x="1030973" y="59804"/>
                </a:lnTo>
                <a:lnTo>
                  <a:pt x="1007554" y="27241"/>
                </a:lnTo>
                <a:lnTo>
                  <a:pt x="971867" y="6985"/>
                </a:lnTo>
                <a:lnTo>
                  <a:pt x="926592" y="0"/>
                </a:lnTo>
                <a:lnTo>
                  <a:pt x="882777" y="5410"/>
                </a:lnTo>
                <a:lnTo>
                  <a:pt x="837819" y="21526"/>
                </a:lnTo>
                <a:lnTo>
                  <a:pt x="794575" y="48221"/>
                </a:lnTo>
                <a:lnTo>
                  <a:pt x="755904" y="85344"/>
                </a:lnTo>
                <a:lnTo>
                  <a:pt x="775716" y="9144"/>
                </a:lnTo>
                <a:lnTo>
                  <a:pt x="633984" y="9144"/>
                </a:lnTo>
                <a:lnTo>
                  <a:pt x="633984" y="18288"/>
                </a:lnTo>
                <a:lnTo>
                  <a:pt x="656805" y="34632"/>
                </a:lnTo>
                <a:lnTo>
                  <a:pt x="671322" y="54102"/>
                </a:lnTo>
                <a:lnTo>
                  <a:pt x="678992" y="77012"/>
                </a:lnTo>
                <a:lnTo>
                  <a:pt x="681228" y="103632"/>
                </a:lnTo>
                <a:lnTo>
                  <a:pt x="681228" y="132588"/>
                </a:lnTo>
                <a:lnTo>
                  <a:pt x="605028" y="132588"/>
                </a:lnTo>
                <a:lnTo>
                  <a:pt x="604964" y="133210"/>
                </a:lnTo>
                <a:lnTo>
                  <a:pt x="603465" y="146329"/>
                </a:lnTo>
                <a:lnTo>
                  <a:pt x="599313" y="160210"/>
                </a:lnTo>
                <a:lnTo>
                  <a:pt x="593458" y="174383"/>
                </a:lnTo>
                <a:lnTo>
                  <a:pt x="586740" y="188976"/>
                </a:lnTo>
                <a:lnTo>
                  <a:pt x="610984" y="209956"/>
                </a:lnTo>
                <a:lnTo>
                  <a:pt x="628650" y="232219"/>
                </a:lnTo>
                <a:lnTo>
                  <a:pt x="639470" y="256489"/>
                </a:lnTo>
                <a:lnTo>
                  <a:pt x="643128" y="283464"/>
                </a:lnTo>
                <a:lnTo>
                  <a:pt x="639470" y="317169"/>
                </a:lnTo>
                <a:lnTo>
                  <a:pt x="628650" y="347281"/>
                </a:lnTo>
                <a:lnTo>
                  <a:pt x="610984" y="373697"/>
                </a:lnTo>
                <a:lnTo>
                  <a:pt x="586740" y="396240"/>
                </a:lnTo>
                <a:lnTo>
                  <a:pt x="576072" y="405384"/>
                </a:lnTo>
                <a:lnTo>
                  <a:pt x="670560" y="405384"/>
                </a:lnTo>
                <a:lnTo>
                  <a:pt x="728472" y="198120"/>
                </a:lnTo>
                <a:lnTo>
                  <a:pt x="744601" y="156718"/>
                </a:lnTo>
                <a:lnTo>
                  <a:pt x="767143" y="120586"/>
                </a:lnTo>
                <a:lnTo>
                  <a:pt x="798563" y="95046"/>
                </a:lnTo>
                <a:lnTo>
                  <a:pt x="841248" y="85344"/>
                </a:lnTo>
                <a:lnTo>
                  <a:pt x="860856" y="87236"/>
                </a:lnTo>
                <a:lnTo>
                  <a:pt x="875728" y="93535"/>
                </a:lnTo>
                <a:lnTo>
                  <a:pt x="885190" y="105283"/>
                </a:lnTo>
                <a:lnTo>
                  <a:pt x="888492" y="123444"/>
                </a:lnTo>
                <a:lnTo>
                  <a:pt x="888352" y="131876"/>
                </a:lnTo>
                <a:lnTo>
                  <a:pt x="888238" y="133210"/>
                </a:lnTo>
                <a:lnTo>
                  <a:pt x="887349" y="142875"/>
                </a:lnTo>
                <a:lnTo>
                  <a:pt x="884643" y="155600"/>
                </a:lnTo>
                <a:lnTo>
                  <a:pt x="879348" y="169164"/>
                </a:lnTo>
                <a:lnTo>
                  <a:pt x="822960" y="358140"/>
                </a:lnTo>
                <a:lnTo>
                  <a:pt x="812292" y="387096"/>
                </a:lnTo>
                <a:lnTo>
                  <a:pt x="812292" y="405384"/>
                </a:lnTo>
                <a:lnTo>
                  <a:pt x="955548" y="405384"/>
                </a:lnTo>
                <a:lnTo>
                  <a:pt x="1021080" y="179832"/>
                </a:lnTo>
                <a:lnTo>
                  <a:pt x="1030224" y="141732"/>
                </a:lnTo>
                <a:lnTo>
                  <a:pt x="1035519" y="133210"/>
                </a:lnTo>
                <a:lnTo>
                  <a:pt x="1038225" y="122682"/>
                </a:lnTo>
                <a:lnTo>
                  <a:pt x="1039228" y="112166"/>
                </a:lnTo>
                <a:lnTo>
                  <a:pt x="1039342" y="105283"/>
                </a:lnTo>
                <a:lnTo>
                  <a:pt x="1039368" y="103632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50823" y="426127"/>
            <a:ext cx="6956753" cy="629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1085" y="1675295"/>
            <a:ext cx="8837295" cy="4551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FF00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21670"/>
            <a:ext cx="9505905" cy="113642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11493" rIns="0" bIns="0" rtlCol="0">
            <a:spAutoFit/>
          </a:bodyPr>
          <a:lstStyle/>
          <a:p>
            <a:pPr marL="12065" marR="5080" indent="-1270" algn="ctr">
              <a:lnSpc>
                <a:spcPct val="100600"/>
              </a:lnSpc>
              <a:spcBef>
                <a:spcPts val="90"/>
              </a:spcBef>
            </a:pPr>
            <a:r>
              <a:rPr sz="3500" dirty="0"/>
              <a:t>Unit</a:t>
            </a:r>
            <a:r>
              <a:rPr sz="3500" spc="-5" dirty="0"/>
              <a:t> </a:t>
            </a:r>
            <a:r>
              <a:rPr sz="3500" dirty="0"/>
              <a:t>II:</a:t>
            </a:r>
            <a:r>
              <a:rPr sz="3500" spc="20" dirty="0"/>
              <a:t> </a:t>
            </a:r>
            <a:r>
              <a:rPr sz="3500" spc="-10" dirty="0"/>
              <a:t>Photosensors: </a:t>
            </a:r>
            <a:r>
              <a:rPr sz="3500" dirty="0"/>
              <a:t>Photoemitters</a:t>
            </a:r>
            <a:r>
              <a:rPr sz="3500" spc="30" dirty="0"/>
              <a:t> </a:t>
            </a:r>
            <a:r>
              <a:rPr sz="3500" dirty="0"/>
              <a:t>&amp;</a:t>
            </a:r>
            <a:r>
              <a:rPr sz="3500" spc="20" dirty="0"/>
              <a:t> </a:t>
            </a:r>
            <a:r>
              <a:rPr sz="3500" spc="-10" dirty="0"/>
              <a:t>Photomultipliers</a:t>
            </a:r>
            <a:endParaRPr sz="3500" dirty="0"/>
          </a:p>
          <a:p>
            <a:pPr marL="2898775" marR="2892425" algn="ctr">
              <a:lnSpc>
                <a:spcPct val="121600"/>
              </a:lnSpc>
              <a:spcBef>
                <a:spcPts val="3254"/>
              </a:spcBef>
            </a:pPr>
            <a:r>
              <a:rPr sz="2500" b="0" dirty="0">
                <a:solidFill>
                  <a:srgbClr val="808080"/>
                </a:solidFill>
                <a:latin typeface="Verdana"/>
                <a:cs typeface="Verdana"/>
              </a:rPr>
              <a:t>Presentation</a:t>
            </a:r>
            <a:r>
              <a:rPr sz="2500" b="0" spc="12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b="0" spc="-25" dirty="0">
                <a:solidFill>
                  <a:srgbClr val="808080"/>
                </a:solidFill>
                <a:latin typeface="Verdana"/>
                <a:cs typeface="Verdana"/>
              </a:rPr>
              <a:t>by: </a:t>
            </a:r>
            <a:r>
              <a:rPr sz="2500" b="0" spc="-45" dirty="0">
                <a:solidFill>
                  <a:srgbClr val="808080"/>
                </a:solidFill>
                <a:latin typeface="Verdana"/>
                <a:cs typeface="Verdana"/>
              </a:rPr>
              <a:t>Dr.</a:t>
            </a:r>
            <a:r>
              <a:rPr sz="2500" b="0" spc="-8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lang="en-GB" sz="2500" b="0" dirty="0" smtClean="0">
                <a:solidFill>
                  <a:srgbClr val="808080"/>
                </a:solidFill>
                <a:latin typeface="Verdana"/>
                <a:cs typeface="Verdana"/>
              </a:rPr>
              <a:t>C. </a:t>
            </a:r>
            <a:r>
              <a:rPr lang="en-GB" sz="2500" b="0" smtClean="0">
                <a:solidFill>
                  <a:srgbClr val="808080"/>
                </a:solidFill>
                <a:latin typeface="Verdana"/>
                <a:cs typeface="Verdana"/>
              </a:rPr>
              <a:t>Annadurai</a:t>
            </a:r>
            <a:endParaRPr sz="2500" dirty="0">
              <a:latin typeface="Verdana"/>
              <a:cs typeface="Verdana"/>
            </a:endParaRPr>
          </a:p>
          <a:p>
            <a:pPr marL="1566545" marR="1558925" algn="ctr">
              <a:lnSpc>
                <a:spcPts val="3650"/>
              </a:lnSpc>
              <a:spcBef>
                <a:spcPts val="90"/>
              </a:spcBef>
            </a:pPr>
            <a:r>
              <a:rPr sz="2500" b="0" dirty="0">
                <a:solidFill>
                  <a:srgbClr val="808080"/>
                </a:solidFill>
                <a:latin typeface="Verdana"/>
                <a:cs typeface="Verdana"/>
              </a:rPr>
              <a:t>Associate</a:t>
            </a:r>
            <a:r>
              <a:rPr sz="2500" b="0" spc="11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b="0" dirty="0">
                <a:solidFill>
                  <a:srgbClr val="808080"/>
                </a:solidFill>
                <a:latin typeface="Verdana"/>
                <a:cs typeface="Verdana"/>
              </a:rPr>
              <a:t>Professor/Dept.</a:t>
            </a:r>
            <a:r>
              <a:rPr sz="2500" b="0" spc="14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b="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500" b="0" spc="9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b="0" spc="-25" dirty="0">
                <a:solidFill>
                  <a:srgbClr val="808080"/>
                </a:solidFill>
                <a:latin typeface="Verdana"/>
                <a:cs typeface="Verdana"/>
              </a:rPr>
              <a:t>ECE </a:t>
            </a:r>
            <a:r>
              <a:rPr sz="2500" b="0" dirty="0">
                <a:solidFill>
                  <a:srgbClr val="808080"/>
                </a:solidFill>
                <a:latin typeface="Verdana"/>
                <a:cs typeface="Verdana"/>
              </a:rPr>
              <a:t>SSN</a:t>
            </a:r>
            <a:r>
              <a:rPr sz="2500" b="0" spc="3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b="0" dirty="0">
                <a:solidFill>
                  <a:srgbClr val="808080"/>
                </a:solidFill>
                <a:latin typeface="Verdana"/>
                <a:cs typeface="Verdana"/>
              </a:rPr>
              <a:t>College</a:t>
            </a:r>
            <a:r>
              <a:rPr sz="2500" b="0" spc="7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b="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500" b="0" spc="3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b="0" spc="-10" dirty="0">
                <a:solidFill>
                  <a:srgbClr val="808080"/>
                </a:solidFill>
                <a:latin typeface="Verdana"/>
                <a:cs typeface="Verdana"/>
              </a:rPr>
              <a:t>Engineering</a:t>
            </a:r>
            <a:endParaRPr sz="2500" dirty="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14300"/>
            <a:ext cx="10058400" cy="1927860"/>
          </a:xfrm>
          <a:custGeom>
            <a:avLst/>
            <a:gdLst/>
            <a:ahLst/>
            <a:cxnLst/>
            <a:rect l="l" t="t" r="r" b="b"/>
            <a:pathLst>
              <a:path w="10058400" h="1927860">
                <a:moveTo>
                  <a:pt x="10058400" y="1927859"/>
                </a:moveTo>
                <a:lnTo>
                  <a:pt x="0" y="1927859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927859"/>
                </a:lnTo>
                <a:close/>
              </a:path>
            </a:pathLst>
          </a:custGeom>
          <a:solidFill>
            <a:srgbClr val="3352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37387" y="871727"/>
            <a:ext cx="9392413" cy="409086"/>
          </a:xfrm>
          <a:prstGeom prst="rect">
            <a:avLst/>
          </a:prstGeom>
          <a:solidFill>
            <a:srgbClr val="00FF00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lang="en-IN" sz="2650" dirty="0">
                <a:solidFill>
                  <a:srgbClr val="FF0000"/>
                </a:solidFill>
              </a:rPr>
              <a:t>UEC3942:</a:t>
            </a:r>
            <a:r>
              <a:rPr lang="en-IN" sz="2650" spc="-75" dirty="0">
                <a:solidFill>
                  <a:srgbClr val="FF0000"/>
                </a:solidFill>
              </a:rPr>
              <a:t> </a:t>
            </a:r>
            <a:r>
              <a:rPr sz="2650" dirty="0" smtClean="0">
                <a:solidFill>
                  <a:srgbClr val="FF0000"/>
                </a:solidFill>
              </a:rPr>
              <a:t>Introduction</a:t>
            </a:r>
            <a:r>
              <a:rPr sz="2650" spc="-135" dirty="0" smtClean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to</a:t>
            </a:r>
            <a:r>
              <a:rPr sz="2650" spc="-125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Sensors</a:t>
            </a:r>
            <a:r>
              <a:rPr sz="2650" spc="-120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and</a:t>
            </a:r>
            <a:r>
              <a:rPr sz="2650" spc="-130" dirty="0">
                <a:solidFill>
                  <a:srgbClr val="FF0000"/>
                </a:solidFill>
              </a:rPr>
              <a:t> </a:t>
            </a:r>
            <a:r>
              <a:rPr sz="2650" spc="-10" dirty="0">
                <a:solidFill>
                  <a:srgbClr val="FF0000"/>
                </a:solidFill>
              </a:rPr>
              <a:t>Actuators</a:t>
            </a:r>
            <a:endParaRPr sz="2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7832" y="400909"/>
            <a:ext cx="2964180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Overview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0836" y="1675295"/>
            <a:ext cx="8792845" cy="153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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Focus</a:t>
            </a:r>
            <a:r>
              <a:rPr sz="2200" spc="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principles,</a:t>
            </a:r>
            <a:r>
              <a:rPr sz="2200" spc="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characteristics,</a:t>
            </a:r>
            <a:r>
              <a:rPr sz="2200" spc="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applications</a:t>
            </a:r>
            <a:r>
              <a:rPr sz="2200" spc="6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of 	</a:t>
            </a:r>
            <a:r>
              <a:rPr sz="2200" dirty="0">
                <a:latin typeface="Verdana"/>
                <a:cs typeface="Verdana"/>
              </a:rPr>
              <a:t>photosensors</a:t>
            </a:r>
            <a:r>
              <a:rPr sz="2200" spc="420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such</a:t>
            </a:r>
            <a:r>
              <a:rPr sz="2200" spc="415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420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photoemissive</a:t>
            </a:r>
            <a:r>
              <a:rPr sz="2200" spc="425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cells,</a:t>
            </a:r>
            <a:r>
              <a:rPr sz="2200" spc="420" dirty="0">
                <a:latin typeface="Verdana"/>
                <a:cs typeface="Verdana"/>
              </a:rPr>
              <a:t>   </a:t>
            </a:r>
            <a:r>
              <a:rPr sz="2200" spc="-25" dirty="0">
                <a:latin typeface="Verdana"/>
                <a:cs typeface="Verdana"/>
              </a:rPr>
              <a:t>and 	</a:t>
            </a:r>
            <a:r>
              <a:rPr sz="2200" spc="-10" dirty="0">
                <a:latin typeface="Verdana"/>
                <a:cs typeface="Verdana"/>
              </a:rPr>
              <a:t>photomultipliers.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280892" y="426127"/>
            <a:ext cx="54940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Learning</a:t>
            </a:r>
            <a:r>
              <a:rPr spc="-40" dirty="0"/>
              <a:t> </a:t>
            </a:r>
            <a:r>
              <a:rPr spc="-10" dirty="0"/>
              <a:t>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60535" y="426127"/>
            <a:ext cx="833564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Introduction</a:t>
            </a:r>
            <a:r>
              <a:rPr spc="-5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spc="-10" dirty="0"/>
              <a:t>Photosensors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31039" y="1895276"/>
            <a:ext cx="11506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Verdana"/>
                <a:cs typeface="Verdana"/>
              </a:rPr>
              <a:t>physical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4585" y="1726907"/>
            <a:ext cx="6176645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245745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2292350" algn="l"/>
                <a:tab pos="4883150" algn="l"/>
                <a:tab pos="5468620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Definition: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dirty="0">
                <a:latin typeface="Verdana"/>
                <a:cs typeface="Verdana"/>
              </a:rPr>
              <a:t>Devices</a:t>
            </a:r>
            <a:r>
              <a:rPr sz="2200" spc="14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classed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by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affected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by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light.</a:t>
            </a:r>
            <a:endParaRPr sz="2200">
              <a:latin typeface="Verdana"/>
              <a:cs typeface="Verdana"/>
            </a:endParaRP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Main</a:t>
            </a:r>
            <a:r>
              <a:rPr sz="2200" b="1" spc="-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Classes:</a:t>
            </a:r>
            <a:endParaRPr sz="2200">
              <a:latin typeface="Verdana"/>
              <a:cs typeface="Verdana"/>
            </a:endParaRPr>
          </a:p>
          <a:p>
            <a:pPr marL="1396365" lvl="1" indent="-378460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1396365" algn="l"/>
              </a:tabLst>
            </a:pPr>
            <a:r>
              <a:rPr sz="2200" dirty="0">
                <a:latin typeface="Verdana"/>
                <a:cs typeface="Verdana"/>
              </a:rPr>
              <a:t>Photoresistors</a:t>
            </a:r>
            <a:r>
              <a:rPr sz="2200" spc="-1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(photoconductors).</a:t>
            </a:r>
            <a:endParaRPr sz="2200">
              <a:latin typeface="Verdana"/>
              <a:cs typeface="Verdana"/>
            </a:endParaRPr>
          </a:p>
          <a:p>
            <a:pPr marL="1396365" lvl="1" indent="-378460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1396365" algn="l"/>
              </a:tabLst>
            </a:pPr>
            <a:r>
              <a:rPr sz="2200" dirty="0">
                <a:latin typeface="Verdana"/>
                <a:cs typeface="Verdana"/>
              </a:rPr>
              <a:t>Photovoltaic</a:t>
            </a:r>
            <a:r>
              <a:rPr sz="2200" spc="-1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materials.</a:t>
            </a:r>
            <a:endParaRPr sz="2200">
              <a:latin typeface="Verdana"/>
              <a:cs typeface="Verdana"/>
            </a:endParaRPr>
          </a:p>
          <a:p>
            <a:pPr marL="1396365" lvl="1" indent="-378460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1396365" algn="l"/>
              </a:tabLst>
            </a:pPr>
            <a:r>
              <a:rPr sz="2200" spc="-10" dirty="0">
                <a:latin typeface="Verdana"/>
                <a:cs typeface="Verdana"/>
              </a:rPr>
              <a:t>Photoemitters.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03180" y="1895276"/>
            <a:ext cx="11811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Verdana"/>
                <a:cs typeface="Verdana"/>
              </a:rPr>
              <a:t>quantity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4585" y="4744589"/>
            <a:ext cx="8709025" cy="153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Historical</a:t>
            </a:r>
            <a:r>
              <a:rPr sz="2200" b="1" spc="295" dirty="0">
                <a:solidFill>
                  <a:srgbClr val="FF0000"/>
                </a:solidFill>
                <a:latin typeface="Verdana"/>
                <a:cs typeface="Verdana"/>
              </a:rPr>
              <a:t> 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Note:</a:t>
            </a:r>
            <a:r>
              <a:rPr sz="2200" b="1" spc="280" dirty="0">
                <a:solidFill>
                  <a:srgbClr val="FF0000"/>
                </a:solidFill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Photoemitters</a:t>
            </a:r>
            <a:r>
              <a:rPr sz="2200" spc="260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were</a:t>
            </a:r>
            <a:r>
              <a:rPr sz="2200" spc="265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crucial</a:t>
            </a:r>
            <a:r>
              <a:rPr sz="2200" spc="270" dirty="0">
                <a:latin typeface="Verdana"/>
                <a:cs typeface="Verdana"/>
              </a:rPr>
              <a:t>   </a:t>
            </a:r>
            <a:r>
              <a:rPr sz="2200" spc="-25" dirty="0">
                <a:latin typeface="Verdana"/>
                <a:cs typeface="Verdana"/>
              </a:rPr>
              <a:t>for 	</a:t>
            </a:r>
            <a:r>
              <a:rPr sz="2200" dirty="0">
                <a:latin typeface="Verdana"/>
                <a:cs typeface="Verdana"/>
              </a:rPr>
              <a:t>theoretical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understanding,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while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photovoltaic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materials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like 	</a:t>
            </a:r>
            <a:r>
              <a:rPr sz="2200" dirty="0">
                <a:latin typeface="Verdana"/>
                <a:cs typeface="Verdana"/>
              </a:rPr>
              <a:t>selenium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were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early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on.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067495" y="426127"/>
            <a:ext cx="592455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Measuring</a:t>
            </a:r>
            <a:r>
              <a:rPr spc="-55" dirty="0"/>
              <a:t> </a:t>
            </a:r>
            <a:r>
              <a:rPr dirty="0"/>
              <a:t>Light</a:t>
            </a:r>
            <a:r>
              <a:rPr spc="-35" dirty="0"/>
              <a:t> </a:t>
            </a:r>
            <a:r>
              <a:rPr spc="-20" dirty="0"/>
              <a:t>Flux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453390" indent="-377190" algn="just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453390" algn="l"/>
              </a:tabLst>
            </a:pPr>
            <a:r>
              <a:rPr dirty="0"/>
              <a:t>Sensitivity</a:t>
            </a:r>
            <a:r>
              <a:rPr spc="-30" dirty="0"/>
              <a:t> </a:t>
            </a:r>
            <a:r>
              <a:rPr spc="-10" dirty="0"/>
              <a:t>Units:</a:t>
            </a:r>
          </a:p>
          <a:p>
            <a:pPr marL="955675" marR="68580" lvl="1" indent="-377190" algn="just">
              <a:lnSpc>
                <a:spcPct val="150000"/>
              </a:lnSpc>
              <a:buFont typeface="Wingdings"/>
              <a:buChar char=""/>
              <a:tabLst>
                <a:tab pos="956944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Illumination</a:t>
            </a:r>
            <a:r>
              <a:rPr sz="2200" b="1" spc="-1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(Lux):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Common</a:t>
            </a:r>
            <a:r>
              <a:rPr sz="2200" spc="-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photometers;</a:t>
            </a:r>
            <a:r>
              <a:rPr sz="2200" spc="-3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50 	</a:t>
            </a:r>
            <a:r>
              <a:rPr sz="2200" dirty="0">
                <a:latin typeface="Verdana"/>
                <a:cs typeface="Verdana"/>
              </a:rPr>
              <a:t>lux</a:t>
            </a:r>
            <a:r>
              <a:rPr sz="2200" spc="345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(normal</a:t>
            </a:r>
            <a:r>
              <a:rPr sz="2200" spc="350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reading</a:t>
            </a:r>
            <a:r>
              <a:rPr sz="2200" spc="355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light),</a:t>
            </a:r>
            <a:r>
              <a:rPr sz="2200" spc="350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1000</a:t>
            </a:r>
            <a:r>
              <a:rPr sz="2200" spc="350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lux</a:t>
            </a:r>
            <a:r>
              <a:rPr sz="2200" spc="350" dirty="0">
                <a:latin typeface="Verdana"/>
                <a:cs typeface="Verdana"/>
              </a:rPr>
              <a:t>   </a:t>
            </a:r>
            <a:r>
              <a:rPr sz="2200" spc="-10" dirty="0">
                <a:latin typeface="Verdana"/>
                <a:cs typeface="Verdana"/>
              </a:rPr>
              <a:t>(fine 	</a:t>
            </a:r>
            <a:r>
              <a:rPr sz="2200" dirty="0">
                <a:latin typeface="Verdana"/>
                <a:cs typeface="Verdana"/>
              </a:rPr>
              <a:t>print/inspection),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100,000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lux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(direct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sunlight).</a:t>
            </a:r>
            <a:endParaRPr sz="2200">
              <a:latin typeface="Verdana"/>
              <a:cs typeface="Verdana"/>
            </a:endParaRPr>
          </a:p>
          <a:p>
            <a:pPr marL="955675" marR="69215" lvl="1" indent="-377190" algn="just">
              <a:lnSpc>
                <a:spcPct val="150000"/>
              </a:lnSpc>
              <a:buFont typeface="Wingdings"/>
              <a:buChar char=""/>
              <a:tabLst>
                <a:tab pos="956944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Irradiance</a:t>
            </a:r>
            <a:r>
              <a:rPr sz="2200" b="1" spc="2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(mW/cm</a:t>
            </a:r>
            <a:r>
              <a:rPr sz="2175" b="1" baseline="24904" dirty="0">
                <a:solidFill>
                  <a:srgbClr val="FF0000"/>
                </a:solidFill>
                <a:latin typeface="Verdana"/>
                <a:cs typeface="Verdana"/>
              </a:rPr>
              <a:t>2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):</a:t>
            </a:r>
            <a:r>
              <a:rPr sz="2200" b="1" spc="2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Power</a:t>
            </a:r>
            <a:r>
              <a:rPr sz="2200" spc="2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falling</a:t>
            </a:r>
            <a:r>
              <a:rPr sz="2200" spc="2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20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cell</a:t>
            </a:r>
            <a:r>
              <a:rPr sz="2200" spc="22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per 	</a:t>
            </a:r>
            <a:r>
              <a:rPr sz="2200" dirty="0">
                <a:latin typeface="Verdana"/>
                <a:cs typeface="Verdana"/>
              </a:rPr>
              <a:t>unit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area.</a:t>
            </a:r>
            <a:endParaRPr sz="2200">
              <a:latin typeface="Verdana"/>
              <a:cs typeface="Verdana"/>
            </a:endParaRPr>
          </a:p>
          <a:p>
            <a:pPr marL="452755" marR="68580" indent="-377190" algn="just">
              <a:lnSpc>
                <a:spcPct val="150000"/>
              </a:lnSpc>
              <a:buFont typeface="Wingdings"/>
              <a:buChar char=""/>
              <a:tabLst>
                <a:tab pos="454025" algn="l"/>
              </a:tabLst>
            </a:pPr>
            <a:r>
              <a:rPr dirty="0"/>
              <a:t>Conversion:</a:t>
            </a:r>
            <a:r>
              <a:rPr spc="-20" dirty="0"/>
              <a:t>  </a:t>
            </a:r>
            <a:r>
              <a:rPr b="0" dirty="0">
                <a:solidFill>
                  <a:srgbClr val="000000"/>
                </a:solidFill>
                <a:latin typeface="Verdana"/>
                <a:cs typeface="Verdana"/>
              </a:rPr>
              <a:t>No</a:t>
            </a:r>
            <a:r>
              <a:rPr b="0" spc="-45" dirty="0">
                <a:solidFill>
                  <a:srgbClr val="000000"/>
                </a:solidFill>
                <a:latin typeface="Verdana"/>
                <a:cs typeface="Verdana"/>
              </a:rPr>
              <a:t>  </a:t>
            </a:r>
            <a:r>
              <a:rPr b="0" dirty="0">
                <a:solidFill>
                  <a:srgbClr val="000000"/>
                </a:solidFill>
                <a:latin typeface="Verdana"/>
                <a:cs typeface="Verdana"/>
              </a:rPr>
              <a:t>simple</a:t>
            </a:r>
            <a:r>
              <a:rPr b="0" spc="-45" dirty="0">
                <a:solidFill>
                  <a:srgbClr val="000000"/>
                </a:solidFill>
                <a:latin typeface="Verdana"/>
                <a:cs typeface="Verdana"/>
              </a:rPr>
              <a:t>  </a:t>
            </a:r>
            <a:r>
              <a:rPr b="0" dirty="0">
                <a:solidFill>
                  <a:srgbClr val="000000"/>
                </a:solidFill>
                <a:latin typeface="Verdana"/>
                <a:cs typeface="Verdana"/>
              </a:rPr>
              <a:t>direct</a:t>
            </a:r>
            <a:r>
              <a:rPr b="0" spc="-45" dirty="0">
                <a:solidFill>
                  <a:srgbClr val="000000"/>
                </a:solidFill>
                <a:latin typeface="Verdana"/>
                <a:cs typeface="Verdana"/>
              </a:rPr>
              <a:t>  </a:t>
            </a:r>
            <a:r>
              <a:rPr b="0" dirty="0">
                <a:solidFill>
                  <a:srgbClr val="000000"/>
                </a:solidFill>
                <a:latin typeface="Verdana"/>
                <a:cs typeface="Verdana"/>
              </a:rPr>
              <a:t>conversion</a:t>
            </a:r>
            <a:r>
              <a:rPr b="0" spc="-50" dirty="0">
                <a:solidFill>
                  <a:srgbClr val="000000"/>
                </a:solidFill>
                <a:latin typeface="Verdana"/>
                <a:cs typeface="Verdana"/>
              </a:rPr>
              <a:t>  </a:t>
            </a:r>
            <a:r>
              <a:rPr b="0" dirty="0">
                <a:solidFill>
                  <a:srgbClr val="000000"/>
                </a:solidFill>
                <a:latin typeface="Verdana"/>
                <a:cs typeface="Verdana"/>
              </a:rPr>
              <a:t>exists</a:t>
            </a:r>
            <a:r>
              <a:rPr b="0" spc="-50" dirty="0">
                <a:solidFill>
                  <a:srgbClr val="000000"/>
                </a:solidFill>
                <a:latin typeface="Verdana"/>
                <a:cs typeface="Verdana"/>
              </a:rPr>
              <a:t>  </a:t>
            </a:r>
            <a:r>
              <a:rPr b="0" spc="-10" dirty="0">
                <a:solidFill>
                  <a:srgbClr val="000000"/>
                </a:solidFill>
                <a:latin typeface="Verdana"/>
                <a:cs typeface="Verdana"/>
              </a:rPr>
              <a:t>unless 	</a:t>
            </a:r>
            <a:r>
              <a:rPr b="0" dirty="0">
                <a:solidFill>
                  <a:srgbClr val="000000"/>
                </a:solidFill>
                <a:latin typeface="Verdana"/>
                <a:cs typeface="Verdana"/>
              </a:rPr>
              <a:t>spectral</a:t>
            </a:r>
            <a:r>
              <a:rPr b="0" spc="405" dirty="0">
                <a:solidFill>
                  <a:srgbClr val="000000"/>
                </a:solidFill>
                <a:latin typeface="Verdana"/>
                <a:cs typeface="Verdana"/>
              </a:rPr>
              <a:t>  </a:t>
            </a:r>
            <a:r>
              <a:rPr b="0" dirty="0">
                <a:solidFill>
                  <a:srgbClr val="000000"/>
                </a:solidFill>
                <a:latin typeface="Verdana"/>
                <a:cs typeface="Verdana"/>
              </a:rPr>
              <a:t>composition</a:t>
            </a:r>
            <a:r>
              <a:rPr b="0" spc="395" dirty="0">
                <a:solidFill>
                  <a:srgbClr val="000000"/>
                </a:solidFill>
                <a:latin typeface="Verdana"/>
                <a:cs typeface="Verdana"/>
              </a:rPr>
              <a:t>  </a:t>
            </a:r>
            <a:r>
              <a:rPr b="0" dirty="0">
                <a:solidFill>
                  <a:srgbClr val="000000"/>
                </a:solidFill>
                <a:latin typeface="Verdana"/>
                <a:cs typeface="Verdana"/>
              </a:rPr>
              <a:t>is</a:t>
            </a:r>
            <a:r>
              <a:rPr b="0" spc="395" dirty="0">
                <a:solidFill>
                  <a:srgbClr val="000000"/>
                </a:solidFill>
                <a:latin typeface="Verdana"/>
                <a:cs typeface="Verdana"/>
              </a:rPr>
              <a:t>  </a:t>
            </a:r>
            <a:r>
              <a:rPr b="0" dirty="0">
                <a:solidFill>
                  <a:srgbClr val="000000"/>
                </a:solidFill>
                <a:latin typeface="Verdana"/>
                <a:cs typeface="Verdana"/>
              </a:rPr>
              <a:t>constant,</a:t>
            </a:r>
            <a:r>
              <a:rPr b="0" spc="400" dirty="0">
                <a:solidFill>
                  <a:srgbClr val="000000"/>
                </a:solidFill>
                <a:latin typeface="Verdana"/>
                <a:cs typeface="Verdana"/>
              </a:rPr>
              <a:t>  </a:t>
            </a:r>
            <a:r>
              <a:rPr b="0" dirty="0">
                <a:solidFill>
                  <a:srgbClr val="000000"/>
                </a:solidFill>
                <a:latin typeface="Verdana"/>
                <a:cs typeface="Verdana"/>
              </a:rPr>
              <a:t>but</a:t>
            </a:r>
            <a:r>
              <a:rPr b="0" spc="395" dirty="0">
                <a:solidFill>
                  <a:srgbClr val="000000"/>
                </a:solidFill>
                <a:latin typeface="Verdana"/>
                <a:cs typeface="Verdana"/>
              </a:rPr>
              <a:t>  </a:t>
            </a:r>
            <a:r>
              <a:rPr b="0" spc="-10" dirty="0">
                <a:solidFill>
                  <a:srgbClr val="000000"/>
                </a:solidFill>
                <a:latin typeface="Verdana"/>
                <a:cs typeface="Verdana"/>
              </a:rPr>
              <a:t>approximately 	</a:t>
            </a:r>
            <a:r>
              <a:rPr b="0" dirty="0">
                <a:solidFill>
                  <a:srgbClr val="000000"/>
                </a:solidFill>
                <a:latin typeface="Verdana"/>
                <a:cs typeface="Verdana"/>
              </a:rPr>
              <a:t>1mW/cm</a:t>
            </a:r>
            <a:r>
              <a:rPr sz="2175" b="0" baseline="24904" dirty="0">
                <a:solidFill>
                  <a:srgbClr val="000000"/>
                </a:solidFill>
                <a:latin typeface="Verdana"/>
                <a:cs typeface="Verdana"/>
              </a:rPr>
              <a:t>2</a:t>
            </a:r>
            <a:r>
              <a:rPr sz="2175" b="0" spc="330" baseline="24904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Verdana"/>
                <a:cs typeface="Verdana"/>
              </a:rPr>
              <a:t>≈</a:t>
            </a:r>
            <a:r>
              <a:rPr sz="2200" b="0" spc="-7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200" b="0" dirty="0">
                <a:solidFill>
                  <a:srgbClr val="000000"/>
                </a:solidFill>
                <a:latin typeface="Verdana"/>
                <a:cs typeface="Verdana"/>
              </a:rPr>
              <a:t>200</a:t>
            </a:r>
            <a:r>
              <a:rPr sz="2200" b="0" spc="-3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200" b="0" spc="-20" dirty="0">
                <a:solidFill>
                  <a:srgbClr val="000000"/>
                </a:solidFill>
                <a:latin typeface="Verdana"/>
                <a:cs typeface="Verdana"/>
              </a:rPr>
              <a:t>lux.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280892" y="426127"/>
            <a:ext cx="549275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Spectral</a:t>
            </a:r>
            <a:r>
              <a:rPr spc="-55" dirty="0"/>
              <a:t> </a:t>
            </a:r>
            <a:r>
              <a:rPr spc="-10" dirty="0"/>
              <a:t>Sensitivity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553417"/>
            <a:ext cx="8961120" cy="404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715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1519555" algn="l"/>
                <a:tab pos="3672840" algn="l"/>
                <a:tab pos="5150485" algn="l"/>
                <a:tab pos="6235700" algn="l"/>
                <a:tab pos="7275830" algn="l"/>
                <a:tab pos="7922895" algn="l"/>
              </a:tabLst>
            </a:pPr>
            <a:r>
              <a:rPr sz="2200" b="1" spc="-20" dirty="0">
                <a:solidFill>
                  <a:srgbClr val="FF0000"/>
                </a:solidFill>
                <a:latin typeface="Verdana"/>
                <a:cs typeface="Verdana"/>
              </a:rPr>
              <a:t>Peak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Sensitivity</a:t>
            </a:r>
            <a:r>
              <a:rPr sz="2200" spc="-10" dirty="0">
                <a:latin typeface="Verdana"/>
                <a:cs typeface="Verdana"/>
              </a:rPr>
              <a:t>: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Sensors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often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peak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specific 	</a:t>
            </a:r>
            <a:r>
              <a:rPr sz="2200" dirty="0">
                <a:latin typeface="Verdana"/>
                <a:cs typeface="Verdana"/>
              </a:rPr>
              <a:t>wavelengths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(red,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violet,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IR,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UV).</a:t>
            </a:r>
            <a:endParaRPr sz="2200">
              <a:latin typeface="Verdana"/>
              <a:cs typeface="Verdana"/>
            </a:endParaRPr>
          </a:p>
          <a:p>
            <a:pPr marL="389255" marR="635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Human</a:t>
            </a:r>
            <a:r>
              <a:rPr sz="2200" b="1" spc="2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Eye</a:t>
            </a:r>
            <a:r>
              <a:rPr sz="2200" b="1" spc="2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Comparison:</a:t>
            </a:r>
            <a:r>
              <a:rPr sz="2200" b="1" spc="2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Few</a:t>
            </a:r>
            <a:r>
              <a:rPr sz="2200" spc="1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devices</a:t>
            </a:r>
            <a:r>
              <a:rPr sz="2200" spc="2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(e.g.,</a:t>
            </a:r>
            <a:r>
              <a:rPr sz="2200" spc="20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some</a:t>
            </a:r>
            <a:r>
              <a:rPr sz="2200" spc="204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silicon 	</a:t>
            </a:r>
            <a:r>
              <a:rPr sz="2200" dirty="0">
                <a:latin typeface="Verdana"/>
                <a:cs typeface="Verdana"/>
              </a:rPr>
              <a:t>photodiodes)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match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eye’s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peak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sensitivity.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2200" b="1" spc="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Challenge: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Even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if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peaks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match,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response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curve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at 	</a:t>
            </a:r>
            <a:r>
              <a:rPr sz="2200" dirty="0">
                <a:latin typeface="Verdana"/>
                <a:cs typeface="Verdana"/>
              </a:rPr>
              <a:t>other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colors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often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differs.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Correction:</a:t>
            </a:r>
            <a:r>
              <a:rPr sz="2200" b="1" spc="4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Filters</a:t>
            </a:r>
            <a:r>
              <a:rPr sz="2200" spc="4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4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often</a:t>
            </a:r>
            <a:r>
              <a:rPr sz="2200" spc="4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required</a:t>
            </a:r>
            <a:r>
              <a:rPr sz="2200" spc="4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45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match</a:t>
            </a:r>
            <a:r>
              <a:rPr sz="2200" spc="4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4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eye's 	</a:t>
            </a:r>
            <a:r>
              <a:rPr sz="2200" dirty="0">
                <a:latin typeface="Verdana"/>
                <a:cs typeface="Verdana"/>
              </a:rPr>
              <a:t>response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curve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applications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like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color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matching.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64164" y="426127"/>
            <a:ext cx="812927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Photoemissive</a:t>
            </a:r>
            <a:r>
              <a:rPr spc="-40" dirty="0"/>
              <a:t> </a:t>
            </a:r>
            <a:r>
              <a:rPr dirty="0"/>
              <a:t>Cells</a:t>
            </a:r>
            <a:r>
              <a:rPr spc="-30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Basics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8151" y="3281593"/>
            <a:ext cx="2459546" cy="322546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29829" y="1477158"/>
            <a:ext cx="8709025" cy="565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Mechanism:</a:t>
            </a:r>
            <a:r>
              <a:rPr sz="2200" b="1" spc="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release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electrons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into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vacuum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when 	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material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struck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by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light.</a:t>
            </a:r>
            <a:endParaRPr sz="2200">
              <a:latin typeface="Verdana"/>
              <a:cs typeface="Verdana"/>
            </a:endParaRPr>
          </a:p>
          <a:p>
            <a:pPr marL="389890" indent="-377190" algn="just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Construction:</a:t>
            </a:r>
            <a:endParaRPr sz="2200">
              <a:latin typeface="Verdana"/>
              <a:cs typeface="Verdana"/>
            </a:endParaRPr>
          </a:p>
          <a:p>
            <a:pPr marL="943610" marR="2945765" lvl="1" indent="-377190" algn="just">
              <a:lnSpc>
                <a:spcPct val="150000"/>
              </a:lnSpc>
              <a:spcBef>
                <a:spcPts val="755"/>
              </a:spcBef>
              <a:buFont typeface="Wingdings"/>
              <a:buChar char=""/>
              <a:tabLst>
                <a:tab pos="94488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Vacuum</a:t>
            </a:r>
            <a:r>
              <a:rPr sz="2200" b="1" spc="365" dirty="0">
                <a:solidFill>
                  <a:srgbClr val="FF0000"/>
                </a:solidFill>
                <a:latin typeface="Verdana"/>
                <a:cs typeface="Verdana"/>
              </a:rPr>
              <a:t>  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Device:</a:t>
            </a:r>
            <a:r>
              <a:rPr sz="2200" b="1" spc="365" dirty="0">
                <a:solidFill>
                  <a:srgbClr val="FF0000"/>
                </a:solidFill>
                <a:latin typeface="Verdana"/>
                <a:cs typeface="Verdana"/>
              </a:rPr>
              <a:t>    </a:t>
            </a:r>
            <a:r>
              <a:rPr sz="2200" spc="-10" dirty="0">
                <a:latin typeface="Verdana"/>
                <a:cs typeface="Verdana"/>
              </a:rPr>
              <a:t>Required 	</a:t>
            </a:r>
            <a:r>
              <a:rPr sz="2200" dirty="0">
                <a:latin typeface="Verdana"/>
                <a:cs typeface="Verdana"/>
              </a:rPr>
              <a:t>because</a:t>
            </a:r>
            <a:r>
              <a:rPr sz="2200" spc="48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photoemissive</a:t>
            </a:r>
            <a:r>
              <a:rPr sz="2200" spc="50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materials 	</a:t>
            </a:r>
            <a:r>
              <a:rPr sz="2200" dirty="0">
                <a:latin typeface="Verdana"/>
                <a:cs typeface="Verdana"/>
              </a:rPr>
              <a:t>(like</a:t>
            </a:r>
            <a:r>
              <a:rPr sz="2200" spc="1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caesium)</a:t>
            </a:r>
            <a:r>
              <a:rPr sz="2200" spc="1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oxidize</a:t>
            </a:r>
            <a:r>
              <a:rPr sz="2200" spc="1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violently</a:t>
            </a:r>
            <a:r>
              <a:rPr sz="2200" spc="15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in 	</a:t>
            </a:r>
            <a:r>
              <a:rPr sz="2200" spc="-20" dirty="0">
                <a:latin typeface="Verdana"/>
                <a:cs typeface="Verdana"/>
              </a:rPr>
              <a:t>air.</a:t>
            </a:r>
            <a:endParaRPr sz="2200">
              <a:latin typeface="Verdana"/>
              <a:cs typeface="Verdana"/>
            </a:endParaRPr>
          </a:p>
          <a:p>
            <a:pPr marL="943610" marR="2945765" lvl="1" indent="-377190" algn="just">
              <a:lnSpc>
                <a:spcPct val="150000"/>
              </a:lnSpc>
              <a:buFont typeface="Wingdings"/>
              <a:buChar char=""/>
              <a:tabLst>
                <a:tab pos="94488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Components:</a:t>
            </a:r>
            <a:r>
              <a:rPr sz="2200" b="1" spc="484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47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photocathode 	</a:t>
            </a:r>
            <a:r>
              <a:rPr sz="2200" dirty="0">
                <a:latin typeface="Verdana"/>
                <a:cs typeface="Verdana"/>
              </a:rPr>
              <a:t>(emitting</a:t>
            </a:r>
            <a:r>
              <a:rPr sz="2200" spc="3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surface)</a:t>
            </a:r>
            <a:r>
              <a:rPr sz="2200" spc="3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3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3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positive 	</a:t>
            </a:r>
            <a:r>
              <a:rPr sz="2200" dirty="0">
                <a:latin typeface="Verdana"/>
                <a:cs typeface="Verdana"/>
              </a:rPr>
              <a:t>anode</a:t>
            </a:r>
            <a:r>
              <a:rPr sz="2200" spc="2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(nickel</a:t>
            </a:r>
            <a:r>
              <a:rPr sz="2200" spc="2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rod/wire)</a:t>
            </a:r>
            <a:r>
              <a:rPr sz="2200" spc="2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2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collect 	electrons.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456525" y="426127"/>
            <a:ext cx="7147559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The</a:t>
            </a:r>
            <a:r>
              <a:rPr spc="-15" dirty="0"/>
              <a:t> </a:t>
            </a:r>
            <a:r>
              <a:rPr dirty="0"/>
              <a:t>Threshold</a:t>
            </a:r>
            <a:r>
              <a:rPr spc="-60" dirty="0"/>
              <a:t> </a:t>
            </a:r>
            <a:r>
              <a:rPr spc="-10" dirty="0"/>
              <a:t>Frequency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726907"/>
            <a:ext cx="8710295" cy="404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8255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2200" b="1" spc="3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Threshold</a:t>
            </a:r>
            <a:r>
              <a:rPr sz="2200" b="1" spc="3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Effect:</a:t>
            </a:r>
            <a:r>
              <a:rPr sz="2200" b="1" spc="3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Electrons</a:t>
            </a:r>
            <a:r>
              <a:rPr sz="2200" spc="2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2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only</a:t>
            </a:r>
            <a:r>
              <a:rPr sz="2200" spc="2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emitted</a:t>
            </a:r>
            <a:r>
              <a:rPr sz="2200" spc="2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if</a:t>
            </a:r>
            <a:r>
              <a:rPr sz="2200" spc="27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frequency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above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specific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threshold.</a:t>
            </a:r>
            <a:endParaRPr sz="2200">
              <a:latin typeface="Verdana"/>
              <a:cs typeface="Verdana"/>
            </a:endParaRPr>
          </a:p>
          <a:p>
            <a:pPr marL="389255" marR="5715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Quantum Theory: </a:t>
            </a:r>
            <a:r>
              <a:rPr sz="2200" dirty="0">
                <a:latin typeface="Verdana"/>
                <a:cs typeface="Verdana"/>
              </a:rPr>
              <a:t>Based on Planck and Einstein's </a:t>
            </a:r>
            <a:r>
              <a:rPr sz="2200" spc="-10" dirty="0">
                <a:latin typeface="Verdana"/>
                <a:cs typeface="Verdana"/>
              </a:rPr>
              <a:t>work-	</a:t>
            </a:r>
            <a:r>
              <a:rPr sz="2200" dirty="0">
                <a:latin typeface="Verdana"/>
                <a:cs typeface="Verdana"/>
              </a:rPr>
              <a:t>energy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exists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units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called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"quanta".</a:t>
            </a:r>
            <a:endParaRPr sz="2200">
              <a:latin typeface="Verdana"/>
              <a:cs typeface="Verdana"/>
            </a:endParaRPr>
          </a:p>
          <a:p>
            <a:pPr marL="389890" indent="-377190" algn="just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Quantum</a:t>
            </a:r>
            <a:r>
              <a:rPr sz="2200" b="1" spc="-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Energy</a:t>
            </a:r>
            <a:r>
              <a:rPr sz="2200" dirty="0">
                <a:latin typeface="Verdana"/>
                <a:cs typeface="Verdana"/>
              </a:rPr>
              <a:t>: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i="1" dirty="0">
                <a:latin typeface="Verdana"/>
                <a:cs typeface="Verdana"/>
              </a:rPr>
              <a:t>E</a:t>
            </a:r>
            <a:r>
              <a:rPr sz="2200" i="1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=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frequency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×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Planck's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constant.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Condition:</a:t>
            </a:r>
            <a:r>
              <a:rPr sz="2200" b="1" spc="3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If</a:t>
            </a:r>
            <a:r>
              <a:rPr sz="2200" spc="3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3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single</a:t>
            </a:r>
            <a:r>
              <a:rPr sz="2200" spc="3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quantum</a:t>
            </a:r>
            <a:r>
              <a:rPr sz="2200" spc="3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carries</a:t>
            </a:r>
            <a:r>
              <a:rPr sz="2200" spc="3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less</a:t>
            </a:r>
            <a:r>
              <a:rPr sz="2200" spc="3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energy</a:t>
            </a:r>
            <a:r>
              <a:rPr sz="2200" spc="32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than 	</a:t>
            </a:r>
            <a:r>
              <a:rPr sz="2200" dirty="0">
                <a:latin typeface="Verdana"/>
                <a:cs typeface="Verdana"/>
              </a:rPr>
              <a:t>needed</a:t>
            </a:r>
            <a:r>
              <a:rPr sz="2200" spc="1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114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separate</a:t>
            </a:r>
            <a:r>
              <a:rPr sz="2200" spc="1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114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electron,</a:t>
            </a:r>
            <a:r>
              <a:rPr sz="2200" spc="1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no</a:t>
            </a:r>
            <a:r>
              <a:rPr sz="2200" spc="1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emission</a:t>
            </a:r>
            <a:r>
              <a:rPr sz="2200" spc="11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occurs, 	</a:t>
            </a:r>
            <a:r>
              <a:rPr sz="2200" dirty="0">
                <a:latin typeface="Verdana"/>
                <a:cs typeface="Verdana"/>
              </a:rPr>
              <a:t>regardless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intensity.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80452" y="426127"/>
            <a:ext cx="929640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Practical</a:t>
            </a:r>
            <a:r>
              <a:rPr spc="-65" dirty="0"/>
              <a:t> </a:t>
            </a:r>
            <a:r>
              <a:rPr dirty="0"/>
              <a:t>Limits</a:t>
            </a:r>
            <a:r>
              <a:rPr spc="-2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10" dirty="0"/>
              <a:t>Photoemitters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9711" y="1548787"/>
            <a:ext cx="8958580" cy="203708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Wavelength</a:t>
            </a:r>
            <a:r>
              <a:rPr sz="2200" b="1" spc="-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Range:</a:t>
            </a:r>
            <a:r>
              <a:rPr sz="2200" b="1" spc="-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Easily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UV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(high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frequency).</a:t>
            </a:r>
            <a:endParaRPr sz="2200">
              <a:latin typeface="Verdana"/>
              <a:cs typeface="Verdana"/>
            </a:endParaRPr>
          </a:p>
          <a:p>
            <a:pPr marL="1242695" lvl="1" indent="-224790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1242695" algn="l"/>
              </a:tabLst>
            </a:pPr>
            <a:r>
              <a:rPr sz="2200" dirty="0">
                <a:latin typeface="Verdana"/>
                <a:cs typeface="Verdana"/>
              </a:rPr>
              <a:t>Difficult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Infrared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(low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frequency/energy).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Bias:</a:t>
            </a:r>
            <a:r>
              <a:rPr sz="2200" b="1" spc="40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Most</a:t>
            </a:r>
            <a:r>
              <a:rPr sz="2200" spc="3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cells</a:t>
            </a:r>
            <a:r>
              <a:rPr sz="2200" spc="3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3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more</a:t>
            </a:r>
            <a:r>
              <a:rPr sz="2200" spc="3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sensitive</a:t>
            </a:r>
            <a:r>
              <a:rPr sz="2200" spc="3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3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blue/violet</a:t>
            </a:r>
            <a:r>
              <a:rPr sz="2200" spc="38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end 	</a:t>
            </a:r>
            <a:r>
              <a:rPr sz="2200" dirty="0">
                <a:latin typeface="Verdana"/>
                <a:cs typeface="Verdana"/>
              </a:rPr>
              <a:t>than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orange/red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end.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711" y="3560530"/>
            <a:ext cx="1965960" cy="103124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Materials:</a:t>
            </a:r>
            <a:endParaRPr sz="2200">
              <a:latin typeface="Verdana"/>
              <a:cs typeface="Verdana"/>
            </a:endParaRPr>
          </a:p>
          <a:p>
            <a:pPr marL="390525">
              <a:lnSpc>
                <a:spcPct val="100000"/>
              </a:lnSpc>
              <a:spcBef>
                <a:spcPts val="1320"/>
              </a:spcBef>
            </a:pPr>
            <a:r>
              <a:rPr sz="2200" spc="-10" dirty="0">
                <a:latin typeface="Verdana"/>
                <a:cs typeface="Verdana"/>
              </a:rPr>
              <a:t>(caesium,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47956" y="3560530"/>
            <a:ext cx="493839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80035">
              <a:lnSpc>
                <a:spcPct val="150000"/>
              </a:lnSpc>
              <a:spcBef>
                <a:spcPts val="100"/>
              </a:spcBef>
              <a:tabLst>
                <a:tab pos="1823720" algn="l"/>
                <a:tab pos="2428875" algn="l"/>
                <a:tab pos="4079875" algn="l"/>
              </a:tabLst>
            </a:pPr>
            <a:r>
              <a:rPr sz="2200" spc="-10" dirty="0">
                <a:latin typeface="Verdana"/>
                <a:cs typeface="Verdana"/>
              </a:rPr>
              <a:t>Mixtures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of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antimony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and </a:t>
            </a:r>
            <a:r>
              <a:rPr sz="2200" dirty="0">
                <a:latin typeface="Verdana"/>
                <a:cs typeface="Verdana"/>
              </a:rPr>
              <a:t>potassium,</a:t>
            </a:r>
            <a:r>
              <a:rPr sz="2200" spc="1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sodium)</a:t>
            </a:r>
            <a:r>
              <a:rPr sz="2200" spc="1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provide</a:t>
            </a:r>
            <a:r>
              <a:rPr sz="2200" spc="15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the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74405" y="3560530"/>
            <a:ext cx="951230" cy="103124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200" spc="-10" dirty="0">
                <a:latin typeface="Verdana"/>
                <a:cs typeface="Verdana"/>
              </a:rPr>
              <a:t>alkali</a:t>
            </a:r>
            <a:endParaRPr sz="2200">
              <a:latin typeface="Verdana"/>
              <a:cs typeface="Verdana"/>
            </a:endParaRPr>
          </a:p>
          <a:p>
            <a:pPr marL="240029">
              <a:lnSpc>
                <a:spcPct val="100000"/>
              </a:lnSpc>
              <a:spcBef>
                <a:spcPts val="1320"/>
              </a:spcBef>
            </a:pPr>
            <a:r>
              <a:rPr sz="2200" spc="-20" dirty="0">
                <a:latin typeface="Verdana"/>
                <a:cs typeface="Verdana"/>
              </a:rPr>
              <a:t>most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45345" y="3560530"/>
            <a:ext cx="963294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760" marR="5080" indent="-99695">
              <a:lnSpc>
                <a:spcPct val="150000"/>
              </a:lnSpc>
              <a:spcBef>
                <a:spcPts val="100"/>
              </a:spcBef>
            </a:pPr>
            <a:r>
              <a:rPr sz="2200" spc="-10" dirty="0">
                <a:latin typeface="Verdana"/>
                <a:cs typeface="Verdana"/>
              </a:rPr>
              <a:t>metals </a:t>
            </a:r>
            <a:r>
              <a:rPr sz="2200" spc="-20" dirty="0">
                <a:latin typeface="Verdana"/>
                <a:cs typeface="Verdana"/>
              </a:rPr>
              <a:t>stable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7602" y="4734567"/>
            <a:ext cx="27349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Verdana"/>
                <a:cs typeface="Verdana"/>
              </a:rPr>
              <a:t>visible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output.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666730" y="426127"/>
            <a:ext cx="673036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Photoemissive</a:t>
            </a:r>
            <a:r>
              <a:rPr spc="-45" dirty="0"/>
              <a:t> </a:t>
            </a:r>
            <a:r>
              <a:rPr spc="-10" dirty="0"/>
              <a:t>Circuitry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6820" y="1504666"/>
            <a:ext cx="6203315" cy="153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Basic</a:t>
            </a:r>
            <a:r>
              <a:rPr sz="2200" b="1" spc="7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Circuit:</a:t>
            </a:r>
            <a:r>
              <a:rPr sz="2200" b="1" spc="7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Uses</a:t>
            </a:r>
            <a:r>
              <a:rPr sz="2200" spc="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voltage</a:t>
            </a:r>
            <a:r>
              <a:rPr sz="2200" spc="4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supply 	</a:t>
            </a:r>
            <a:r>
              <a:rPr sz="2200" dirty="0">
                <a:latin typeface="Verdana"/>
                <a:cs typeface="Verdana"/>
              </a:rPr>
              <a:t>100V)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between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anode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cathode.</a:t>
            </a:r>
            <a:endParaRPr sz="2200">
              <a:latin typeface="Verdana"/>
              <a:cs typeface="Verdana"/>
            </a:endParaRP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Signal</a:t>
            </a:r>
            <a:r>
              <a:rPr sz="2200" b="1" spc="-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Conversion: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28768" y="1672899"/>
            <a:ext cx="25654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Verdana"/>
                <a:cs typeface="Verdana"/>
              </a:rPr>
              <a:t>(typically</a:t>
            </a:r>
            <a:r>
              <a:rPr sz="2200" spc="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25V</a:t>
            </a:r>
            <a:r>
              <a:rPr sz="2200" spc="5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to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9676" y="2767008"/>
            <a:ext cx="3004411" cy="292515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39858" y="3171881"/>
            <a:ext cx="5008880" cy="2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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A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load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resistor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series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converts 	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50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current</a:t>
            </a:r>
            <a:r>
              <a:rPr sz="2200" spc="5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5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5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voltage</a:t>
            </a:r>
            <a:r>
              <a:rPr sz="2200" spc="51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signal 	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amplifier.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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Commonly</a:t>
            </a:r>
            <a:r>
              <a:rPr sz="2200" spc="-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-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6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modulated 	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(e.g.,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cinema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soundtracks).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65637" y="124572"/>
            <a:ext cx="8129270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95170" marR="5080" indent="-1983105">
              <a:lnSpc>
                <a:spcPct val="100200"/>
              </a:lnSpc>
              <a:spcBef>
                <a:spcPts val="100"/>
              </a:spcBef>
            </a:pPr>
            <a:r>
              <a:rPr dirty="0"/>
              <a:t>Challenges</a:t>
            </a:r>
            <a:r>
              <a:rPr spc="-8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spc="-10" dirty="0"/>
              <a:t>Photoemission Measurements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90836" y="1518283"/>
            <a:ext cx="8710295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Low</a:t>
            </a:r>
            <a:r>
              <a:rPr sz="2200" b="1" spc="41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Current:</a:t>
            </a:r>
            <a:r>
              <a:rPr sz="2200" b="1" spc="43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Typical</a:t>
            </a:r>
            <a:r>
              <a:rPr sz="2200" spc="4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output</a:t>
            </a:r>
            <a:r>
              <a:rPr sz="2200" spc="40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4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40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4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microamp</a:t>
            </a:r>
            <a:r>
              <a:rPr sz="2200" spc="41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range, 	</a:t>
            </a:r>
            <a:r>
              <a:rPr sz="2200" dirty="0">
                <a:latin typeface="Verdana"/>
                <a:cs typeface="Verdana"/>
              </a:rPr>
              <a:t>requiring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high-</a:t>
            </a:r>
            <a:r>
              <a:rPr sz="2200" dirty="0">
                <a:latin typeface="Verdana"/>
                <a:cs typeface="Verdana"/>
              </a:rPr>
              <a:t>gain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amplification.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Noise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&amp;</a:t>
            </a:r>
            <a:r>
              <a:rPr sz="2200" b="1" spc="-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Response:</a:t>
            </a:r>
            <a:r>
              <a:rPr sz="2200" b="1" spc="-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Large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load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resistors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create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difficulties 	</a:t>
            </a:r>
            <a:r>
              <a:rPr sz="2200" dirty="0">
                <a:latin typeface="Verdana"/>
                <a:cs typeface="Verdana"/>
              </a:rPr>
              <a:t>with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frequency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response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noise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levels.</a:t>
            </a:r>
            <a:endParaRPr sz="2200">
              <a:latin typeface="Verdana"/>
              <a:cs typeface="Verdana"/>
            </a:endParaRPr>
          </a:p>
          <a:p>
            <a:pPr marL="389255" marR="5715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Calibration:</a:t>
            </a:r>
            <a:r>
              <a:rPr sz="2200" b="1" spc="-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High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precision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requires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tedious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calibration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for 	</a:t>
            </a:r>
            <a:r>
              <a:rPr sz="2200" dirty="0">
                <a:latin typeface="Verdana"/>
                <a:cs typeface="Verdana"/>
              </a:rPr>
              <a:t>every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specific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color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used.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97150" y="426127"/>
            <a:ext cx="926528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The</a:t>
            </a:r>
            <a:r>
              <a:rPr spc="-20" dirty="0"/>
              <a:t> </a:t>
            </a:r>
            <a:r>
              <a:rPr dirty="0"/>
              <a:t>Impact</a:t>
            </a:r>
            <a:r>
              <a:rPr spc="-2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Light</a:t>
            </a:r>
            <a:r>
              <a:rPr spc="-65" dirty="0"/>
              <a:t> </a:t>
            </a:r>
            <a:r>
              <a:rPr spc="-10" dirty="0"/>
              <a:t>Composition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726907"/>
            <a:ext cx="8709660" cy="404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715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White</a:t>
            </a:r>
            <a:r>
              <a:rPr sz="2200" b="1" spc="34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Light</a:t>
            </a:r>
            <a:r>
              <a:rPr sz="2200" b="1" spc="34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Complexity:</a:t>
            </a:r>
            <a:r>
              <a:rPr sz="2200" b="1" spc="33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3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mixture</a:t>
            </a:r>
            <a:r>
              <a:rPr sz="2200" spc="3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3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all</a:t>
            </a:r>
            <a:r>
              <a:rPr sz="2200" spc="32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visible 	</a:t>
            </a:r>
            <a:r>
              <a:rPr sz="2200" dirty="0">
                <a:latin typeface="Verdana"/>
                <a:cs typeface="Verdana"/>
              </a:rPr>
              <a:t>frequencies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some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UV.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Sensitivity</a:t>
            </a:r>
            <a:r>
              <a:rPr sz="2200" b="1" spc="-6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Issue:</a:t>
            </a:r>
            <a:r>
              <a:rPr sz="2200" b="1" spc="-6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Small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changes</a:t>
            </a:r>
            <a:r>
              <a:rPr sz="2200" spc="-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-9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composition, 	</a:t>
            </a:r>
            <a:r>
              <a:rPr sz="2200" dirty="0">
                <a:latin typeface="Verdana"/>
                <a:cs typeface="Verdana"/>
              </a:rPr>
              <a:t>invisible</a:t>
            </a:r>
            <a:r>
              <a:rPr sz="2200" spc="240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240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40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eye,</a:t>
            </a:r>
            <a:r>
              <a:rPr sz="2200" spc="245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can</a:t>
            </a:r>
            <a:r>
              <a:rPr sz="2200" spc="245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drastically</a:t>
            </a:r>
            <a:r>
              <a:rPr sz="2200" spc="245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change</a:t>
            </a:r>
            <a:r>
              <a:rPr sz="2200" spc="240" dirty="0">
                <a:latin typeface="Verdana"/>
                <a:cs typeface="Verdana"/>
              </a:rPr>
              <a:t>   </a:t>
            </a:r>
            <a:r>
              <a:rPr sz="2200" spc="-50" dirty="0">
                <a:latin typeface="Verdana"/>
                <a:cs typeface="Verdana"/>
              </a:rPr>
              <a:t>a 	</a:t>
            </a:r>
            <a:r>
              <a:rPr sz="2200" dirty="0">
                <a:latin typeface="Verdana"/>
                <a:cs typeface="Verdana"/>
              </a:rPr>
              <a:t>photoemitter's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output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even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if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total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energy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constant.</a:t>
            </a:r>
            <a:endParaRPr sz="2200">
              <a:latin typeface="Verdana"/>
              <a:cs typeface="Verdana"/>
            </a:endParaRPr>
          </a:p>
          <a:p>
            <a:pPr marL="389255" marR="635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Artificial</a:t>
            </a:r>
            <a:r>
              <a:rPr sz="2200" b="1" spc="-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vs.</a:t>
            </a:r>
            <a:r>
              <a:rPr sz="2200" b="1" spc="-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Natural:</a:t>
            </a:r>
            <a:r>
              <a:rPr sz="2200" b="1" spc="-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Fluorescent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tubes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more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stable; 	</a:t>
            </a:r>
            <a:r>
              <a:rPr sz="2200" dirty="0">
                <a:latin typeface="Verdana"/>
                <a:cs typeface="Verdana"/>
              </a:rPr>
              <a:t>filament</a:t>
            </a:r>
            <a:r>
              <a:rPr sz="2200" spc="2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lamps</a:t>
            </a:r>
            <a:r>
              <a:rPr sz="2200" spc="3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vary</a:t>
            </a:r>
            <a:r>
              <a:rPr sz="2200" spc="2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sharply</a:t>
            </a:r>
            <a:r>
              <a:rPr sz="2200" spc="2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with</a:t>
            </a:r>
            <a:r>
              <a:rPr sz="2200" spc="2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voltage</a:t>
            </a:r>
            <a:r>
              <a:rPr sz="2200" spc="3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(turning</a:t>
            </a:r>
            <a:r>
              <a:rPr sz="2200" spc="31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redder 	</a:t>
            </a:r>
            <a:r>
              <a:rPr sz="2200" dirty="0">
                <a:latin typeface="Verdana"/>
                <a:cs typeface="Verdana"/>
              </a:rPr>
              <a:t>when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undervoltage).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32266" y="426127"/>
            <a:ext cx="919543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Introduction</a:t>
            </a:r>
            <a:r>
              <a:rPr spc="-5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spc="-10" dirty="0"/>
              <a:t>Photomultipliers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6083" y="1518283"/>
            <a:ext cx="8710295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985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Purpose:</a:t>
            </a:r>
            <a:r>
              <a:rPr sz="2200" b="1" spc="32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3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achieve</a:t>
            </a:r>
            <a:r>
              <a:rPr sz="2200" spc="3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much</a:t>
            </a:r>
            <a:r>
              <a:rPr sz="2200" spc="3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greater</a:t>
            </a:r>
            <a:r>
              <a:rPr sz="2200" spc="3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sensitivity</a:t>
            </a:r>
            <a:r>
              <a:rPr sz="2200" spc="310" dirty="0">
                <a:latin typeface="Verdana"/>
                <a:cs typeface="Verdana"/>
              </a:rPr>
              <a:t>  </a:t>
            </a:r>
            <a:r>
              <a:rPr sz="2200" spc="-20" dirty="0">
                <a:latin typeface="Verdana"/>
                <a:cs typeface="Verdana"/>
              </a:rPr>
              <a:t>with 	</a:t>
            </a:r>
            <a:r>
              <a:rPr sz="2200" dirty="0">
                <a:latin typeface="Verdana"/>
                <a:cs typeface="Verdana"/>
              </a:rPr>
              <a:t>minimal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noise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time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delay.</a:t>
            </a:r>
            <a:endParaRPr sz="2200">
              <a:latin typeface="Verdana"/>
              <a:cs typeface="Verdana"/>
            </a:endParaRPr>
          </a:p>
          <a:p>
            <a:pPr marL="389890" indent="-377190" algn="just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Key</a:t>
            </a:r>
            <a:r>
              <a:rPr sz="2200" b="1" spc="-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Concept:</a:t>
            </a:r>
            <a:r>
              <a:rPr sz="2200" b="1" spc="-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Uses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Secondary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Emission.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Secondary</a:t>
            </a:r>
            <a:r>
              <a:rPr sz="2200" b="1" spc="21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Emission:</a:t>
            </a:r>
            <a:r>
              <a:rPr sz="2200" b="1" spc="229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When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2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material</a:t>
            </a:r>
            <a:r>
              <a:rPr sz="2200" spc="2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(like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caesium)</a:t>
            </a:r>
            <a:r>
              <a:rPr sz="2200" spc="21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is 	</a:t>
            </a:r>
            <a:r>
              <a:rPr sz="2200" dirty="0">
                <a:latin typeface="Verdana"/>
                <a:cs typeface="Verdana"/>
              </a:rPr>
              <a:t>struck</a:t>
            </a:r>
            <a:r>
              <a:rPr sz="2200" spc="-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by</a:t>
            </a:r>
            <a:r>
              <a:rPr sz="2200" spc="-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electrons,</a:t>
            </a:r>
            <a:r>
              <a:rPr sz="2200" spc="-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it</a:t>
            </a:r>
            <a:r>
              <a:rPr sz="2200" spc="-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releases</a:t>
            </a:r>
            <a:r>
              <a:rPr sz="2200" spc="-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more</a:t>
            </a:r>
            <a:r>
              <a:rPr sz="2200" spc="-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electrons</a:t>
            </a:r>
            <a:r>
              <a:rPr sz="2200" spc="-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than</a:t>
            </a:r>
            <a:r>
              <a:rPr sz="2200" spc="-3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it 	</a:t>
            </a:r>
            <a:r>
              <a:rPr sz="2200" spc="-10" dirty="0">
                <a:latin typeface="Verdana"/>
                <a:cs typeface="Verdana"/>
              </a:rPr>
              <a:t>received.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423" y="4849700"/>
            <a:ext cx="3852433" cy="20270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88279" y="4690872"/>
            <a:ext cx="4388712" cy="216197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468260" y="426127"/>
            <a:ext cx="512127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The</a:t>
            </a:r>
            <a:r>
              <a:rPr spc="-15" dirty="0"/>
              <a:t> </a:t>
            </a:r>
            <a:r>
              <a:rPr dirty="0"/>
              <a:t>Dynode</a:t>
            </a:r>
            <a:r>
              <a:rPr spc="-30" dirty="0"/>
              <a:t> </a:t>
            </a:r>
            <a:r>
              <a:rPr spc="-10" dirty="0"/>
              <a:t>Chain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3785" y="1518283"/>
            <a:ext cx="8809990" cy="455168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440690" indent="-377190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4406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Dynodes:</a:t>
            </a:r>
            <a:r>
              <a:rPr sz="2200" b="1" spc="-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Secondary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multiplying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electrodes.</a:t>
            </a:r>
            <a:endParaRPr sz="2200">
              <a:latin typeface="Verdana"/>
              <a:cs typeface="Verdana"/>
            </a:endParaRPr>
          </a:p>
          <a:p>
            <a:pPr marL="440055" marR="56515" indent="-377190">
              <a:lnSpc>
                <a:spcPct val="150000"/>
              </a:lnSpc>
              <a:buFont typeface="Wingdings"/>
              <a:buChar char=""/>
              <a:tabLst>
                <a:tab pos="4413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Multiplication</a:t>
            </a:r>
            <a:r>
              <a:rPr sz="2200" b="1" spc="1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Factor:</a:t>
            </a:r>
            <a:r>
              <a:rPr sz="2200" b="1" spc="1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Electrons</a:t>
            </a:r>
            <a:r>
              <a:rPr sz="2200" spc="1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accelerated</a:t>
            </a:r>
            <a:r>
              <a:rPr sz="2200" spc="1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by</a:t>
            </a:r>
            <a:r>
              <a:rPr sz="2200" spc="16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30-200V 	</a:t>
            </a:r>
            <a:r>
              <a:rPr sz="2200" dirty="0">
                <a:latin typeface="Verdana"/>
                <a:cs typeface="Verdana"/>
              </a:rPr>
              <a:t>can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result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multiplication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factor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3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7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per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stage.</a:t>
            </a:r>
            <a:endParaRPr sz="2200">
              <a:latin typeface="Verdana"/>
              <a:cs typeface="Verdana"/>
            </a:endParaRPr>
          </a:p>
          <a:p>
            <a:pPr marL="440055" marR="55244" indent="-377190">
              <a:lnSpc>
                <a:spcPct val="150000"/>
              </a:lnSpc>
              <a:buFont typeface="Wingdings"/>
              <a:buChar char=""/>
              <a:tabLst>
                <a:tab pos="4413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Cascading:</a:t>
            </a:r>
            <a:r>
              <a:rPr sz="2200" b="1" spc="16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By</a:t>
            </a:r>
            <a:r>
              <a:rPr sz="2200" spc="1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using</a:t>
            </a:r>
            <a:r>
              <a:rPr sz="2200" spc="1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multiple</a:t>
            </a:r>
            <a:r>
              <a:rPr sz="2200" spc="1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stages,</a:t>
            </a:r>
            <a:r>
              <a:rPr sz="2200" spc="1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current</a:t>
            </a:r>
            <a:r>
              <a:rPr sz="2200" spc="14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is 	</a:t>
            </a:r>
            <a:r>
              <a:rPr sz="2200" dirty="0">
                <a:latin typeface="Verdana"/>
                <a:cs typeface="Verdana"/>
              </a:rPr>
              <a:t>amplified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exponentially.</a:t>
            </a:r>
            <a:endParaRPr sz="2200">
              <a:latin typeface="Verdana"/>
              <a:cs typeface="Verdana"/>
            </a:endParaRPr>
          </a:p>
          <a:p>
            <a:pPr marL="440055" marR="55880" indent="-377190">
              <a:lnSpc>
                <a:spcPct val="150000"/>
              </a:lnSpc>
              <a:buFont typeface="Wingdings"/>
              <a:buChar char=""/>
              <a:tabLst>
                <a:tab pos="4413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Example:</a:t>
            </a:r>
            <a:r>
              <a:rPr sz="2200" b="1" spc="20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5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stages</a:t>
            </a:r>
            <a:r>
              <a:rPr sz="2200" spc="1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with</a:t>
            </a:r>
            <a:r>
              <a:rPr sz="2200" spc="1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2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factor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1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5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=</a:t>
            </a:r>
            <a:r>
              <a:rPr sz="2200" spc="20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5</a:t>
            </a:r>
            <a:r>
              <a:rPr sz="2175" baseline="24904" dirty="0">
                <a:latin typeface="Verdana"/>
                <a:cs typeface="Verdana"/>
              </a:rPr>
              <a:t>5</a:t>
            </a:r>
            <a:r>
              <a:rPr sz="2175" spc="682" baseline="2490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=</a:t>
            </a:r>
            <a:r>
              <a:rPr sz="2200" spc="20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3125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times 	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original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current.</a:t>
            </a:r>
            <a:endParaRPr sz="2200">
              <a:latin typeface="Verdana"/>
              <a:cs typeface="Verdana"/>
            </a:endParaRPr>
          </a:p>
          <a:p>
            <a:pPr marL="440055" marR="56515" indent="-377190">
              <a:lnSpc>
                <a:spcPct val="150000"/>
              </a:lnSpc>
              <a:buFont typeface="Wingdings"/>
              <a:buChar char=""/>
              <a:tabLst>
                <a:tab pos="441325" algn="l"/>
              </a:tabLst>
            </a:pPr>
            <a:r>
              <a:rPr sz="2200" dirty="0">
                <a:latin typeface="Verdana"/>
                <a:cs typeface="Verdana"/>
              </a:rPr>
              <a:t>Materials</a:t>
            </a:r>
            <a:r>
              <a:rPr sz="2200" spc="5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that</a:t>
            </a:r>
            <a:r>
              <a:rPr sz="2200" spc="-1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-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good</a:t>
            </a:r>
            <a:r>
              <a:rPr sz="2200" spc="-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photoemitters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-1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usually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spc="-20" dirty="0">
                <a:latin typeface="Verdana"/>
                <a:cs typeface="Verdana"/>
              </a:rPr>
              <a:t>good 	</a:t>
            </a:r>
            <a:r>
              <a:rPr sz="2200" dirty="0">
                <a:latin typeface="Verdana"/>
                <a:cs typeface="Verdana"/>
              </a:rPr>
              <a:t>secondary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emitters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well.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337671" y="426127"/>
            <a:ext cx="738441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Photomultiplier</a:t>
            </a:r>
            <a:r>
              <a:rPr spc="-85" dirty="0"/>
              <a:t> </a:t>
            </a:r>
            <a:r>
              <a:rPr spc="-10" dirty="0"/>
              <a:t>Operation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9178" y="3161196"/>
            <a:ext cx="4089077" cy="339172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36455" y="1445156"/>
            <a:ext cx="8709660" cy="5659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Voltage</a:t>
            </a:r>
            <a:r>
              <a:rPr sz="2200" b="1" spc="1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Arrangement:</a:t>
            </a:r>
            <a:r>
              <a:rPr sz="2200" b="1" spc="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Each</a:t>
            </a:r>
            <a:r>
              <a:rPr sz="2200" spc="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successive</a:t>
            </a:r>
            <a:r>
              <a:rPr sz="2200" spc="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dynode</a:t>
            </a:r>
            <a:r>
              <a:rPr sz="2200" spc="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must</a:t>
            </a:r>
            <a:r>
              <a:rPr sz="2200" spc="7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be 	</a:t>
            </a:r>
            <a:r>
              <a:rPr sz="2200" dirty="0">
                <a:latin typeface="Verdana"/>
                <a:cs typeface="Verdana"/>
              </a:rPr>
              <a:t>run</a:t>
            </a:r>
            <a:r>
              <a:rPr sz="2200" spc="-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at</a:t>
            </a:r>
            <a:r>
              <a:rPr sz="2200" spc="-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substantially</a:t>
            </a:r>
            <a:r>
              <a:rPr sz="2200" spc="-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higher</a:t>
            </a:r>
            <a:r>
              <a:rPr sz="2200" spc="-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voltage</a:t>
            </a:r>
            <a:r>
              <a:rPr sz="2200" spc="-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than</a:t>
            </a:r>
            <a:r>
              <a:rPr sz="2200" spc="-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10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previous 	</a:t>
            </a:r>
            <a:r>
              <a:rPr sz="2200" spc="-20" dirty="0">
                <a:latin typeface="Verdana"/>
                <a:cs typeface="Verdana"/>
              </a:rPr>
              <a:t>one.</a:t>
            </a:r>
            <a:endParaRPr sz="2200">
              <a:latin typeface="Verdana"/>
              <a:cs typeface="Verdana"/>
            </a:endParaRPr>
          </a:p>
          <a:p>
            <a:pPr marL="389255" marR="4194810" indent="-377190" algn="just">
              <a:lnSpc>
                <a:spcPct val="150000"/>
              </a:lnSpc>
              <a:spcBef>
                <a:spcPts val="805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Power</a:t>
            </a:r>
            <a:r>
              <a:rPr sz="2200" b="1" spc="440" dirty="0">
                <a:solidFill>
                  <a:srgbClr val="FF0000"/>
                </a:solidFill>
                <a:latin typeface="Verdana"/>
                <a:cs typeface="Verdana"/>
              </a:rPr>
              <a:t> 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Supply:</a:t>
            </a:r>
            <a:r>
              <a:rPr sz="2200" b="1" spc="445" dirty="0">
                <a:solidFill>
                  <a:srgbClr val="FF0000"/>
                </a:solidFill>
                <a:latin typeface="Verdana"/>
                <a:cs typeface="Verdana"/>
              </a:rPr>
              <a:t>   </a:t>
            </a:r>
            <a:r>
              <a:rPr sz="2200" spc="-10" dirty="0">
                <a:latin typeface="Verdana"/>
                <a:cs typeface="Verdana"/>
              </a:rPr>
              <a:t>Usually 	</a:t>
            </a:r>
            <a:r>
              <a:rPr sz="2200" dirty="0">
                <a:latin typeface="Verdana"/>
                <a:cs typeface="Verdana"/>
              </a:rPr>
              <a:t>involves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resistor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chain</a:t>
            </a:r>
            <a:r>
              <a:rPr sz="2200" spc="-8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to 	</a:t>
            </a:r>
            <a:r>
              <a:rPr sz="2200" dirty="0">
                <a:latin typeface="Verdana"/>
                <a:cs typeface="Verdana"/>
              </a:rPr>
              <a:t>divide</a:t>
            </a:r>
            <a:r>
              <a:rPr sz="2200" spc="4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455" dirty="0">
                <a:latin typeface="Verdana"/>
                <a:cs typeface="Verdana"/>
              </a:rPr>
              <a:t>  </a:t>
            </a:r>
            <a:r>
              <a:rPr sz="2200" spc="-20" dirty="0">
                <a:latin typeface="Verdana"/>
                <a:cs typeface="Verdana"/>
              </a:rPr>
              <a:t>high-</a:t>
            </a:r>
            <a:r>
              <a:rPr sz="2200" dirty="0">
                <a:latin typeface="Verdana"/>
                <a:cs typeface="Verdana"/>
              </a:rPr>
              <a:t>voltage</a:t>
            </a:r>
            <a:r>
              <a:rPr sz="2200" spc="45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DC 	</a:t>
            </a:r>
            <a:r>
              <a:rPr sz="2200" dirty="0">
                <a:latin typeface="Verdana"/>
                <a:cs typeface="Verdana"/>
              </a:rPr>
              <a:t>supply</a:t>
            </a:r>
            <a:r>
              <a:rPr sz="2200" spc="-11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(e.g.,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+300V).</a:t>
            </a:r>
            <a:endParaRPr sz="2200">
              <a:latin typeface="Verdana"/>
              <a:cs typeface="Verdana"/>
            </a:endParaRPr>
          </a:p>
          <a:p>
            <a:pPr marL="389255" marR="4195445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  <a:tab pos="3343910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Advantage: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Virtually 	</a:t>
            </a:r>
            <a:r>
              <a:rPr sz="2200" dirty="0">
                <a:latin typeface="Verdana"/>
                <a:cs typeface="Verdana"/>
              </a:rPr>
              <a:t>noiseless</a:t>
            </a:r>
            <a:r>
              <a:rPr sz="2200" spc="2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amplification,</a:t>
            </a:r>
            <a:r>
              <a:rPr sz="2200" spc="30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ideal 	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detecting</a:t>
            </a:r>
            <a:r>
              <a:rPr sz="2200" spc="-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very</a:t>
            </a:r>
            <a:r>
              <a:rPr sz="2200" spc="-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low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light 	levels.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197154" y="124572"/>
            <a:ext cx="5659755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3735" marR="5080" indent="-661670">
              <a:lnSpc>
                <a:spcPct val="100200"/>
              </a:lnSpc>
              <a:spcBef>
                <a:spcPts val="100"/>
              </a:spcBef>
            </a:pPr>
            <a:r>
              <a:rPr dirty="0"/>
              <a:t>Secondary</a:t>
            </a:r>
            <a:r>
              <a:rPr spc="-65" dirty="0"/>
              <a:t> </a:t>
            </a:r>
            <a:r>
              <a:rPr spc="-10" dirty="0"/>
              <a:t>emission characteristics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39357" y="1447141"/>
            <a:ext cx="9209405" cy="98234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90525" marR="5080" indent="-378460">
              <a:lnSpc>
                <a:spcPct val="153100"/>
              </a:lnSpc>
              <a:spcBef>
                <a:spcPts val="90"/>
              </a:spcBef>
              <a:buFont typeface="Wingdings"/>
              <a:buChar char=""/>
              <a:tabLst>
                <a:tab pos="390525" algn="l"/>
              </a:tabLst>
            </a:pPr>
            <a:r>
              <a:rPr sz="2050" dirty="0">
                <a:latin typeface="Verdana"/>
                <a:cs typeface="Verdana"/>
              </a:rPr>
              <a:t>Due</a:t>
            </a:r>
            <a:r>
              <a:rPr sz="2050" spc="27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to</a:t>
            </a:r>
            <a:r>
              <a:rPr sz="2050" spc="28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the</a:t>
            </a:r>
            <a:r>
              <a:rPr sz="2050" spc="270" dirty="0">
                <a:latin typeface="Verdana"/>
                <a:cs typeface="Verdana"/>
              </a:rPr>
              <a:t> </a:t>
            </a:r>
            <a:r>
              <a:rPr sz="2050" b="1" dirty="0">
                <a:latin typeface="Verdana"/>
                <a:cs typeface="Verdana"/>
              </a:rPr>
              <a:t>low</a:t>
            </a:r>
            <a:r>
              <a:rPr sz="2050" b="1" spc="315" dirty="0">
                <a:latin typeface="Verdana"/>
                <a:cs typeface="Verdana"/>
              </a:rPr>
              <a:t> </a:t>
            </a:r>
            <a:r>
              <a:rPr sz="2050" b="1" dirty="0">
                <a:latin typeface="Verdana"/>
                <a:cs typeface="Verdana"/>
              </a:rPr>
              <a:t>work</a:t>
            </a:r>
            <a:r>
              <a:rPr sz="2050" b="1" spc="310" dirty="0">
                <a:latin typeface="Verdana"/>
                <a:cs typeface="Verdana"/>
              </a:rPr>
              <a:t> </a:t>
            </a:r>
            <a:r>
              <a:rPr sz="2050" b="1" dirty="0">
                <a:latin typeface="Verdana"/>
                <a:cs typeface="Verdana"/>
              </a:rPr>
              <a:t>function</a:t>
            </a:r>
            <a:r>
              <a:rPr sz="2050" b="1" spc="29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of</a:t>
            </a:r>
            <a:r>
              <a:rPr sz="2050" spc="26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caesium,</a:t>
            </a:r>
            <a:r>
              <a:rPr sz="2050" spc="26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very</a:t>
            </a:r>
            <a:r>
              <a:rPr sz="2050" spc="26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little</a:t>
            </a:r>
            <a:r>
              <a:rPr sz="2050" spc="28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energy</a:t>
            </a:r>
            <a:r>
              <a:rPr sz="2050" spc="285" dirty="0">
                <a:latin typeface="Verdana"/>
                <a:cs typeface="Verdana"/>
              </a:rPr>
              <a:t> </a:t>
            </a:r>
            <a:r>
              <a:rPr sz="2050" spc="-25" dirty="0">
                <a:latin typeface="Verdana"/>
                <a:cs typeface="Verdana"/>
              </a:rPr>
              <a:t>is </a:t>
            </a:r>
            <a:r>
              <a:rPr sz="2050" dirty="0">
                <a:latin typeface="Verdana"/>
                <a:cs typeface="Verdana"/>
              </a:rPr>
              <a:t>enough</a:t>
            </a:r>
            <a:r>
              <a:rPr sz="2050" spc="5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to</a:t>
            </a:r>
            <a:r>
              <a:rPr sz="2050" spc="6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pull</a:t>
            </a:r>
            <a:r>
              <a:rPr sz="2050" spc="9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an</a:t>
            </a:r>
            <a:r>
              <a:rPr sz="2050" spc="5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electron</a:t>
            </a:r>
            <a:r>
              <a:rPr sz="2050" spc="5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away</a:t>
            </a:r>
            <a:r>
              <a:rPr sz="2050" spc="6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from</a:t>
            </a:r>
            <a:r>
              <a:rPr sz="2050" spc="5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a</a:t>
            </a:r>
            <a:r>
              <a:rPr sz="2050" spc="6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caesium</a:t>
            </a:r>
            <a:r>
              <a:rPr sz="2050" spc="30" dirty="0">
                <a:latin typeface="Verdana"/>
                <a:cs typeface="Verdana"/>
              </a:rPr>
              <a:t> </a:t>
            </a:r>
            <a:r>
              <a:rPr sz="2050" spc="-10" dirty="0">
                <a:latin typeface="Verdana"/>
                <a:cs typeface="Verdana"/>
              </a:rPr>
              <a:t>atom.</a:t>
            </a:r>
            <a:endParaRPr sz="20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66617" y="2402448"/>
            <a:ext cx="4085590" cy="9829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50165">
              <a:lnSpc>
                <a:spcPct val="153200"/>
              </a:lnSpc>
              <a:spcBef>
                <a:spcPts val="90"/>
              </a:spcBef>
              <a:tabLst>
                <a:tab pos="1375410" algn="l"/>
                <a:tab pos="2080895" algn="l"/>
                <a:tab pos="2499995" algn="l"/>
                <a:tab pos="3077845" algn="l"/>
              </a:tabLst>
            </a:pPr>
            <a:r>
              <a:rPr sz="2050" spc="-10" dirty="0">
                <a:latin typeface="Verdana"/>
                <a:cs typeface="Verdana"/>
              </a:rPr>
              <a:t>electron</a:t>
            </a:r>
            <a:r>
              <a:rPr sz="2050" dirty="0">
                <a:latin typeface="Verdana"/>
                <a:cs typeface="Verdana"/>
              </a:rPr>
              <a:t>	</a:t>
            </a:r>
            <a:r>
              <a:rPr sz="2050" spc="-25" dirty="0">
                <a:latin typeface="Verdana"/>
                <a:cs typeface="Verdana"/>
              </a:rPr>
              <a:t>can</a:t>
            </a:r>
            <a:r>
              <a:rPr sz="2050" dirty="0">
                <a:latin typeface="Verdana"/>
                <a:cs typeface="Verdana"/>
              </a:rPr>
              <a:t>	</a:t>
            </a:r>
            <a:r>
              <a:rPr sz="2050" spc="-10" dirty="0">
                <a:latin typeface="Verdana"/>
                <a:cs typeface="Verdana"/>
              </a:rPr>
              <a:t>easily</a:t>
            </a:r>
            <a:r>
              <a:rPr sz="2050" dirty="0">
                <a:latin typeface="Verdana"/>
                <a:cs typeface="Verdana"/>
              </a:rPr>
              <a:t>	</a:t>
            </a:r>
            <a:r>
              <a:rPr sz="2050" spc="-10" dirty="0">
                <a:latin typeface="Verdana"/>
                <a:cs typeface="Verdana"/>
              </a:rPr>
              <a:t>provide liberate</a:t>
            </a:r>
            <a:r>
              <a:rPr sz="2050" dirty="0">
                <a:latin typeface="Verdana"/>
                <a:cs typeface="Verdana"/>
              </a:rPr>
              <a:t>	</a:t>
            </a:r>
            <a:r>
              <a:rPr sz="2050" spc="-62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many	</a:t>
            </a:r>
            <a:r>
              <a:rPr sz="2050" spc="-10" dirty="0">
                <a:latin typeface="Verdana"/>
                <a:cs typeface="Verdana"/>
              </a:rPr>
              <a:t>secondaries</a:t>
            </a:r>
            <a:endParaRPr sz="20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9357" y="2402448"/>
            <a:ext cx="4962525" cy="1459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529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1172845" algn="l"/>
                <a:tab pos="1750695" algn="l"/>
                <a:tab pos="2188210" algn="l"/>
                <a:tab pos="3209290" algn="l"/>
                <a:tab pos="3909060" algn="l"/>
                <a:tab pos="4503420" algn="l"/>
              </a:tabLst>
            </a:pPr>
            <a:r>
              <a:rPr sz="2050" spc="-20" dirty="0">
                <a:latin typeface="Verdana"/>
                <a:cs typeface="Verdana"/>
              </a:rPr>
              <a:t>This</a:t>
            </a:r>
            <a:r>
              <a:rPr sz="2050" dirty="0">
                <a:latin typeface="Verdana"/>
                <a:cs typeface="Verdana"/>
              </a:rPr>
              <a:t>	</a:t>
            </a:r>
            <a:r>
              <a:rPr sz="2050" spc="-10" dirty="0">
                <a:latin typeface="Verdana"/>
                <a:cs typeface="Verdana"/>
              </a:rPr>
              <a:t>single</a:t>
            </a:r>
            <a:r>
              <a:rPr sz="2050" dirty="0">
                <a:latin typeface="Verdana"/>
                <a:cs typeface="Verdana"/>
              </a:rPr>
              <a:t>	high-</a:t>
            </a:r>
            <a:r>
              <a:rPr sz="2050" spc="-20" dirty="0">
                <a:latin typeface="Verdana"/>
                <a:cs typeface="Verdana"/>
              </a:rPr>
              <a:t>speed</a:t>
            </a:r>
            <a:r>
              <a:rPr sz="2050" dirty="0">
                <a:latin typeface="Verdana"/>
                <a:cs typeface="Verdana"/>
              </a:rPr>
              <a:t>	</a:t>
            </a:r>
            <a:r>
              <a:rPr sz="2050" spc="-10" dirty="0">
                <a:latin typeface="Verdana"/>
                <a:cs typeface="Verdana"/>
              </a:rPr>
              <a:t>primary enough</a:t>
            </a:r>
            <a:r>
              <a:rPr sz="2050" dirty="0">
                <a:latin typeface="Verdana"/>
                <a:cs typeface="Verdana"/>
              </a:rPr>
              <a:t>	</a:t>
            </a:r>
            <a:r>
              <a:rPr sz="2050" spc="-10" dirty="0">
                <a:latin typeface="Verdana"/>
                <a:cs typeface="Verdana"/>
              </a:rPr>
              <a:t>"splash"</a:t>
            </a:r>
            <a:r>
              <a:rPr sz="2050" dirty="0">
                <a:latin typeface="Verdana"/>
                <a:cs typeface="Verdana"/>
              </a:rPr>
              <a:t>	</a:t>
            </a:r>
            <a:r>
              <a:rPr sz="2050" spc="-10" dirty="0">
                <a:latin typeface="Verdana"/>
                <a:cs typeface="Verdana"/>
              </a:rPr>
              <a:t>energy</a:t>
            </a:r>
            <a:r>
              <a:rPr sz="2050" dirty="0">
                <a:latin typeface="Verdana"/>
                <a:cs typeface="Verdana"/>
              </a:rPr>
              <a:t>	</a:t>
            </a:r>
            <a:r>
              <a:rPr sz="2050" spc="-25" dirty="0">
                <a:latin typeface="Verdana"/>
                <a:cs typeface="Verdana"/>
              </a:rPr>
              <a:t>to </a:t>
            </a:r>
            <a:r>
              <a:rPr sz="2050" spc="-10" dirty="0">
                <a:latin typeface="Verdana"/>
                <a:cs typeface="Verdana"/>
              </a:rPr>
              <a:t>simultaneously.</a:t>
            </a:r>
            <a:endParaRPr sz="20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9357" y="3838129"/>
            <a:ext cx="9213215" cy="33693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9255" marR="8890" indent="-377190" algn="just">
              <a:lnSpc>
                <a:spcPct val="152700"/>
              </a:lnSpc>
              <a:spcBef>
                <a:spcPts val="90"/>
              </a:spcBef>
              <a:buFont typeface="Wingdings"/>
              <a:buChar char=""/>
              <a:tabLst>
                <a:tab pos="390525" algn="l"/>
              </a:tabLst>
            </a:pPr>
            <a:r>
              <a:rPr sz="2050" dirty="0">
                <a:latin typeface="Verdana"/>
                <a:cs typeface="Verdana"/>
              </a:rPr>
              <a:t>In</a:t>
            </a:r>
            <a:r>
              <a:rPr sz="2050" spc="25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a</a:t>
            </a:r>
            <a:r>
              <a:rPr sz="2050" spc="50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photomultiplier,</a:t>
            </a:r>
            <a:r>
              <a:rPr sz="2050" spc="45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this</a:t>
            </a:r>
            <a:r>
              <a:rPr sz="2050" spc="35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physics</a:t>
            </a:r>
            <a:r>
              <a:rPr sz="2050" spc="40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is</a:t>
            </a:r>
            <a:r>
              <a:rPr sz="2050" spc="35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repeated</a:t>
            </a:r>
            <a:r>
              <a:rPr sz="2050" spc="50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across</a:t>
            </a:r>
            <a:r>
              <a:rPr sz="2050" spc="45" dirty="0">
                <a:latin typeface="Verdana"/>
                <a:cs typeface="Verdana"/>
              </a:rPr>
              <a:t>  </a:t>
            </a:r>
            <a:r>
              <a:rPr sz="2050" spc="-10" dirty="0">
                <a:latin typeface="Verdana"/>
                <a:cs typeface="Verdana"/>
              </a:rPr>
              <a:t>multiple 	dynodes.</a:t>
            </a:r>
            <a:endParaRPr sz="205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2900"/>
              </a:lnSpc>
              <a:spcBef>
                <a:spcPts val="5"/>
              </a:spcBef>
              <a:buFont typeface="Wingdings"/>
              <a:buChar char=""/>
              <a:tabLst>
                <a:tab pos="390525" algn="l"/>
              </a:tabLst>
            </a:pPr>
            <a:r>
              <a:rPr sz="2050" dirty="0">
                <a:latin typeface="Verdana"/>
                <a:cs typeface="Verdana"/>
              </a:rPr>
              <a:t>Because</a:t>
            </a:r>
            <a:r>
              <a:rPr sz="2050" spc="-80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the</a:t>
            </a:r>
            <a:r>
              <a:rPr sz="2050" spc="-80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process</a:t>
            </a:r>
            <a:r>
              <a:rPr sz="2050" spc="-80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is</a:t>
            </a:r>
            <a:r>
              <a:rPr sz="2050" spc="-85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nearly</a:t>
            </a:r>
            <a:r>
              <a:rPr sz="2050" spc="-80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instantaneous</a:t>
            </a:r>
            <a:r>
              <a:rPr sz="2050" spc="-85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and</a:t>
            </a:r>
            <a:r>
              <a:rPr sz="2050" spc="-75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involves</a:t>
            </a:r>
            <a:r>
              <a:rPr sz="2050" spc="-85" dirty="0">
                <a:latin typeface="Verdana"/>
                <a:cs typeface="Verdana"/>
              </a:rPr>
              <a:t>  </a:t>
            </a:r>
            <a:r>
              <a:rPr sz="2050" spc="-20" dirty="0">
                <a:latin typeface="Verdana"/>
                <a:cs typeface="Verdana"/>
              </a:rPr>
              <a:t>only 	</a:t>
            </a:r>
            <a:r>
              <a:rPr sz="2050" dirty="0">
                <a:latin typeface="Verdana"/>
                <a:cs typeface="Verdana"/>
              </a:rPr>
              <a:t>the</a:t>
            </a:r>
            <a:r>
              <a:rPr sz="2050" spc="36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movement</a:t>
            </a:r>
            <a:r>
              <a:rPr sz="2050" spc="36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of</a:t>
            </a:r>
            <a:r>
              <a:rPr sz="2050" spc="37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electrons</a:t>
            </a:r>
            <a:r>
              <a:rPr sz="2050" spc="35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in</a:t>
            </a:r>
            <a:r>
              <a:rPr sz="2050" spc="35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a</a:t>
            </a:r>
            <a:r>
              <a:rPr sz="2050" spc="35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vacuum</a:t>
            </a:r>
            <a:r>
              <a:rPr sz="2050" spc="35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(rather</a:t>
            </a:r>
            <a:r>
              <a:rPr sz="2050" spc="36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than</a:t>
            </a:r>
            <a:r>
              <a:rPr sz="2050" spc="35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through</a:t>
            </a:r>
            <a:r>
              <a:rPr sz="2050" spc="345" dirty="0">
                <a:latin typeface="Verdana"/>
                <a:cs typeface="Verdana"/>
              </a:rPr>
              <a:t> </a:t>
            </a:r>
            <a:r>
              <a:rPr sz="2050" spc="-50" dirty="0">
                <a:latin typeface="Verdana"/>
                <a:cs typeface="Verdana"/>
              </a:rPr>
              <a:t>a 	</a:t>
            </a:r>
            <a:r>
              <a:rPr sz="2050" dirty="0">
                <a:latin typeface="Verdana"/>
                <a:cs typeface="Verdana"/>
              </a:rPr>
              <a:t>semiconductor</a:t>
            </a:r>
            <a:r>
              <a:rPr sz="2050" spc="23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or</a:t>
            </a:r>
            <a:r>
              <a:rPr sz="2050" spc="24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wire),</a:t>
            </a:r>
            <a:r>
              <a:rPr sz="2050" spc="25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the</a:t>
            </a:r>
            <a:r>
              <a:rPr sz="2050" spc="25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amplification</a:t>
            </a:r>
            <a:r>
              <a:rPr sz="2050" spc="26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is</a:t>
            </a:r>
            <a:r>
              <a:rPr sz="2050" spc="254" dirty="0">
                <a:latin typeface="Verdana"/>
                <a:cs typeface="Verdana"/>
              </a:rPr>
              <a:t> </a:t>
            </a:r>
            <a:r>
              <a:rPr sz="2050" b="1" dirty="0">
                <a:latin typeface="Verdana"/>
                <a:cs typeface="Verdana"/>
              </a:rPr>
              <a:t>extremely</a:t>
            </a:r>
            <a:r>
              <a:rPr sz="2050" b="1" spc="254" dirty="0">
                <a:latin typeface="Verdana"/>
                <a:cs typeface="Verdana"/>
              </a:rPr>
              <a:t> </a:t>
            </a:r>
            <a:r>
              <a:rPr sz="2050" b="1" dirty="0">
                <a:latin typeface="Verdana"/>
                <a:cs typeface="Verdana"/>
              </a:rPr>
              <a:t>fast</a:t>
            </a:r>
            <a:r>
              <a:rPr sz="2050" b="1" spc="270" dirty="0">
                <a:latin typeface="Verdana"/>
                <a:cs typeface="Verdana"/>
              </a:rPr>
              <a:t> </a:t>
            </a:r>
            <a:r>
              <a:rPr sz="2050" spc="-25" dirty="0">
                <a:latin typeface="Verdana"/>
                <a:cs typeface="Verdana"/>
              </a:rPr>
              <a:t>and 	</a:t>
            </a:r>
            <a:r>
              <a:rPr sz="2050" dirty="0">
                <a:latin typeface="Verdana"/>
                <a:cs typeface="Verdana"/>
              </a:rPr>
              <a:t>introduces</a:t>
            </a:r>
            <a:r>
              <a:rPr sz="2050" spc="455" dirty="0">
                <a:latin typeface="Verdana"/>
                <a:cs typeface="Verdana"/>
              </a:rPr>
              <a:t> </a:t>
            </a:r>
            <a:r>
              <a:rPr sz="2050" b="1" dirty="0">
                <a:latin typeface="Verdana"/>
                <a:cs typeface="Verdana"/>
              </a:rPr>
              <a:t>minimal</a:t>
            </a:r>
            <a:r>
              <a:rPr sz="2050" b="1" spc="480" dirty="0">
                <a:latin typeface="Verdana"/>
                <a:cs typeface="Verdana"/>
              </a:rPr>
              <a:t> </a:t>
            </a:r>
            <a:r>
              <a:rPr sz="2050" b="1" dirty="0">
                <a:latin typeface="Verdana"/>
                <a:cs typeface="Verdana"/>
              </a:rPr>
              <a:t>noise</a:t>
            </a:r>
            <a:r>
              <a:rPr sz="2050" dirty="0">
                <a:latin typeface="Verdana"/>
                <a:cs typeface="Verdana"/>
              </a:rPr>
              <a:t>,</a:t>
            </a:r>
            <a:r>
              <a:rPr sz="2050" spc="44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which</a:t>
            </a:r>
            <a:r>
              <a:rPr sz="2050" spc="44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is</a:t>
            </a:r>
            <a:r>
              <a:rPr sz="2050" spc="44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why</a:t>
            </a:r>
            <a:r>
              <a:rPr sz="2050" spc="44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it</a:t>
            </a:r>
            <a:r>
              <a:rPr sz="2050" spc="46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can</a:t>
            </a:r>
            <a:r>
              <a:rPr sz="2050" spc="434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detect</a:t>
            </a:r>
            <a:r>
              <a:rPr sz="2050" spc="44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a</a:t>
            </a:r>
            <a:r>
              <a:rPr sz="2050" spc="465" dirty="0">
                <a:latin typeface="Verdana"/>
                <a:cs typeface="Verdana"/>
              </a:rPr>
              <a:t> </a:t>
            </a:r>
            <a:r>
              <a:rPr sz="2050" spc="-10" dirty="0">
                <a:latin typeface="Verdana"/>
                <a:cs typeface="Verdana"/>
              </a:rPr>
              <a:t>single 	</a:t>
            </a:r>
            <a:r>
              <a:rPr sz="2050" dirty="0">
                <a:latin typeface="Verdana"/>
                <a:cs typeface="Verdana"/>
              </a:rPr>
              <a:t>photon</a:t>
            </a:r>
            <a:r>
              <a:rPr sz="2050" spc="2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of</a:t>
            </a:r>
            <a:r>
              <a:rPr sz="2050" spc="60" dirty="0">
                <a:latin typeface="Verdana"/>
                <a:cs typeface="Verdana"/>
              </a:rPr>
              <a:t> </a:t>
            </a:r>
            <a:r>
              <a:rPr sz="2050" spc="-10" dirty="0">
                <a:latin typeface="Verdana"/>
                <a:cs typeface="Verdana"/>
              </a:rPr>
              <a:t>light.</a:t>
            </a:r>
            <a:endParaRPr sz="2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264492" y="426127"/>
            <a:ext cx="753046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Applications</a:t>
            </a:r>
            <a:r>
              <a:rPr spc="-55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spc="-10" dirty="0"/>
              <a:t>Evolution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518283"/>
            <a:ext cx="8710295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762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Historical</a:t>
            </a:r>
            <a:r>
              <a:rPr sz="2200" b="1" spc="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Dominance:</a:t>
            </a:r>
            <a:r>
              <a:rPr sz="2200" b="1" spc="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Photoemissive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cells</a:t>
            </a:r>
            <a:r>
              <a:rPr sz="2200" spc="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were</a:t>
            </a:r>
            <a:r>
              <a:rPr sz="2200" spc="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vital</a:t>
            </a:r>
            <a:r>
              <a:rPr sz="2200" spc="3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for 	</a:t>
            </a:r>
            <a:r>
              <a:rPr sz="2200" dirty="0">
                <a:latin typeface="Verdana"/>
                <a:cs typeface="Verdana"/>
              </a:rPr>
              <a:t>cinema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sound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(optical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soundtracks).</a:t>
            </a:r>
            <a:endParaRPr sz="2200">
              <a:latin typeface="Verdana"/>
              <a:cs typeface="Verdana"/>
            </a:endParaRPr>
          </a:p>
          <a:p>
            <a:pPr marL="389255" marR="5715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Vacuum</a:t>
            </a:r>
            <a:r>
              <a:rPr sz="2200" b="1" spc="10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vs.</a:t>
            </a:r>
            <a:r>
              <a:rPr sz="2200" b="1" spc="9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Solid-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State:</a:t>
            </a:r>
            <a:r>
              <a:rPr sz="2200" b="1" spc="9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Vacuum</a:t>
            </a:r>
            <a:r>
              <a:rPr sz="2200" spc="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devices</a:t>
            </a:r>
            <a:r>
              <a:rPr sz="2200" spc="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7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faster 	</a:t>
            </a:r>
            <a:r>
              <a:rPr sz="2200" dirty="0">
                <a:latin typeface="Verdana"/>
                <a:cs typeface="Verdana"/>
              </a:rPr>
              <a:t>because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electrons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move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faster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vacuum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than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solids.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spc="-20" dirty="0">
                <a:latin typeface="Verdana"/>
                <a:cs typeface="Verdana"/>
              </a:rPr>
              <a:t>However,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vacuum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cells</a:t>
            </a:r>
            <a:r>
              <a:rPr sz="2200" spc="1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1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now</a:t>
            </a:r>
            <a:r>
              <a:rPr sz="2200" spc="1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mostly</a:t>
            </a:r>
            <a:r>
              <a:rPr sz="2200" spc="1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replaced</a:t>
            </a:r>
            <a:r>
              <a:rPr sz="2200" spc="1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by</a:t>
            </a:r>
            <a:r>
              <a:rPr sz="2200" spc="1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solid-	</a:t>
            </a:r>
            <a:r>
              <a:rPr sz="2200" dirty="0">
                <a:latin typeface="Verdana"/>
                <a:cs typeface="Verdana"/>
              </a:rPr>
              <a:t>state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devices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except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specialized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instruments.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481714" y="426127"/>
            <a:ext cx="309499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Conclusion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518283"/>
            <a:ext cx="8709025" cy="2540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Summary:</a:t>
            </a:r>
            <a:r>
              <a:rPr sz="2200" b="1" spc="-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Photosensors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vary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by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their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physical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reaction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to 	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(resistance,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voltage,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emission).</a:t>
            </a:r>
            <a:endParaRPr sz="2200">
              <a:latin typeface="Verdana"/>
              <a:cs typeface="Verdana"/>
            </a:endParaRPr>
          </a:p>
          <a:p>
            <a:pPr marL="893444" lvl="1" indent="-378460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893444" algn="l"/>
              </a:tabLst>
            </a:pPr>
            <a:r>
              <a:rPr sz="2200" dirty="0">
                <a:latin typeface="Verdana"/>
                <a:cs typeface="Verdana"/>
              </a:rPr>
              <a:t>Photoemission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governed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by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quantum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thresholds.</a:t>
            </a:r>
            <a:endParaRPr sz="2200">
              <a:latin typeface="Verdana"/>
              <a:cs typeface="Verdana"/>
            </a:endParaRPr>
          </a:p>
          <a:p>
            <a:pPr marL="893444" marR="5080" lvl="1" indent="-378460">
              <a:lnSpc>
                <a:spcPct val="150000"/>
              </a:lnSpc>
              <a:buFont typeface="Wingdings"/>
              <a:buChar char=""/>
              <a:tabLst>
                <a:tab pos="893444" algn="l"/>
              </a:tabLst>
            </a:pPr>
            <a:r>
              <a:rPr sz="2200" dirty="0">
                <a:latin typeface="Verdana"/>
                <a:cs typeface="Verdana"/>
              </a:rPr>
              <a:t>Photomultipliers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provide</a:t>
            </a:r>
            <a:r>
              <a:rPr sz="2200" spc="-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high-</a:t>
            </a:r>
            <a:r>
              <a:rPr sz="2200" dirty="0">
                <a:latin typeface="Verdana"/>
                <a:cs typeface="Verdana"/>
              </a:rPr>
              <a:t>sensitivity,</a:t>
            </a:r>
            <a:r>
              <a:rPr sz="2200" spc="-65" dirty="0">
                <a:latin typeface="Verdana"/>
                <a:cs typeface="Verdana"/>
              </a:rPr>
              <a:t>  </a:t>
            </a:r>
            <a:r>
              <a:rPr sz="2200" spc="-20" dirty="0">
                <a:latin typeface="Verdana"/>
                <a:cs typeface="Verdana"/>
              </a:rPr>
              <a:t>low-</a:t>
            </a:r>
            <a:r>
              <a:rPr sz="2200" spc="-10" dirty="0">
                <a:latin typeface="Verdana"/>
                <a:cs typeface="Verdana"/>
              </a:rPr>
              <a:t>noise </a:t>
            </a:r>
            <a:r>
              <a:rPr sz="2200" dirty="0">
                <a:latin typeface="Verdana"/>
                <a:cs typeface="Verdana"/>
              </a:rPr>
              <a:t>solution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weak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signals.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Test</a:t>
            </a:r>
            <a:r>
              <a:rPr spc="-25" dirty="0"/>
              <a:t> </a:t>
            </a:r>
            <a:r>
              <a:rPr dirty="0"/>
              <a:t>your</a:t>
            </a:r>
            <a:r>
              <a:rPr spc="-20" dirty="0"/>
              <a:t> </a:t>
            </a:r>
            <a:r>
              <a:rPr spc="-10" dirty="0"/>
              <a:t>understanding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3202" y="1423640"/>
            <a:ext cx="9211310" cy="55581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513715" indent="-501015">
              <a:lnSpc>
                <a:spcPct val="100000"/>
              </a:lnSpc>
              <a:spcBef>
                <a:spcPts val="1420"/>
              </a:spcBef>
              <a:buAutoNum type="arabicPeriod"/>
              <a:tabLst>
                <a:tab pos="513715" algn="l"/>
              </a:tabLst>
            </a:pPr>
            <a:r>
              <a:rPr sz="2200" dirty="0">
                <a:latin typeface="Verdana"/>
                <a:cs typeface="Verdana"/>
              </a:rPr>
              <a:t>Define</a:t>
            </a:r>
            <a:r>
              <a:rPr sz="2200" spc="-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photoelectric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effect.</a:t>
            </a:r>
            <a:endParaRPr sz="2200">
              <a:latin typeface="Verdana"/>
              <a:cs typeface="Verdana"/>
            </a:endParaRPr>
          </a:p>
          <a:p>
            <a:pPr marL="513080" marR="7620" indent="-501015">
              <a:lnSpc>
                <a:spcPct val="150000"/>
              </a:lnSpc>
              <a:buAutoNum type="arabicPeriod"/>
              <a:tabLst>
                <a:tab pos="514984" algn="l"/>
              </a:tabLst>
            </a:pPr>
            <a:r>
              <a:rPr sz="2200" dirty="0">
                <a:latin typeface="Verdana"/>
                <a:cs typeface="Verdana"/>
              </a:rPr>
              <a:t>Define</a:t>
            </a:r>
            <a:r>
              <a:rPr sz="2200" spc="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"threshold</a:t>
            </a:r>
            <a:r>
              <a:rPr sz="2200" spc="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frequency"</a:t>
            </a:r>
            <a:r>
              <a:rPr sz="2200" spc="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context</a:t>
            </a:r>
            <a:r>
              <a:rPr sz="2200" spc="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photoemissive 	sensors.</a:t>
            </a:r>
            <a:endParaRPr sz="2200">
              <a:latin typeface="Verdana"/>
              <a:cs typeface="Verdana"/>
            </a:endParaRPr>
          </a:p>
          <a:p>
            <a:pPr marL="513080" marR="5080" indent="-501015">
              <a:lnSpc>
                <a:spcPct val="150000"/>
              </a:lnSpc>
              <a:buAutoNum type="arabicPeriod"/>
              <a:tabLst>
                <a:tab pos="514984" algn="l"/>
              </a:tabLst>
            </a:pPr>
            <a:r>
              <a:rPr sz="2200" dirty="0">
                <a:latin typeface="Verdana"/>
                <a:cs typeface="Verdana"/>
              </a:rPr>
              <a:t>With</a:t>
            </a:r>
            <a:r>
              <a:rPr sz="2200" spc="1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1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suitable</a:t>
            </a:r>
            <a:r>
              <a:rPr sz="2200" spc="1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circuit,</a:t>
            </a:r>
            <a:r>
              <a:rPr sz="2200" spc="1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explain</a:t>
            </a:r>
            <a:r>
              <a:rPr sz="2200" spc="1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working</a:t>
            </a:r>
            <a:r>
              <a:rPr sz="2200" spc="1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1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photoemissive 	cell.</a:t>
            </a:r>
            <a:endParaRPr sz="2200">
              <a:latin typeface="Verdana"/>
              <a:cs typeface="Verdana"/>
            </a:endParaRPr>
          </a:p>
          <a:p>
            <a:pPr marL="513715" indent="-501015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513715" algn="l"/>
              </a:tabLst>
            </a:pPr>
            <a:r>
              <a:rPr sz="2200" dirty="0">
                <a:latin typeface="Verdana"/>
                <a:cs typeface="Verdana"/>
              </a:rPr>
              <a:t>Explain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principle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advantages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photomultiplier.</a:t>
            </a:r>
            <a:endParaRPr sz="2200">
              <a:latin typeface="Verdana"/>
              <a:cs typeface="Verdana"/>
            </a:endParaRPr>
          </a:p>
          <a:p>
            <a:pPr marL="513080" marR="5080" indent="-501015">
              <a:lnSpc>
                <a:spcPct val="150000"/>
              </a:lnSpc>
              <a:buAutoNum type="arabicPeriod"/>
              <a:tabLst>
                <a:tab pos="514984" algn="l"/>
              </a:tabLst>
            </a:pPr>
            <a:r>
              <a:rPr sz="2200" dirty="0">
                <a:latin typeface="Verdana"/>
                <a:cs typeface="Verdana"/>
              </a:rPr>
              <a:t>Describe</a:t>
            </a:r>
            <a:r>
              <a:rPr sz="2200" spc="1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operation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construction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1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photomultiplier 	</a:t>
            </a:r>
            <a:r>
              <a:rPr sz="2200" spc="-20" dirty="0">
                <a:latin typeface="Verdana"/>
                <a:cs typeface="Verdana"/>
              </a:rPr>
              <a:t>tube</a:t>
            </a:r>
            <a:endParaRPr sz="2200">
              <a:latin typeface="Verdana"/>
              <a:cs typeface="Verdana"/>
            </a:endParaRPr>
          </a:p>
          <a:p>
            <a:pPr marL="513080" marR="5715" indent="-501015">
              <a:lnSpc>
                <a:spcPct val="150000"/>
              </a:lnSpc>
              <a:buAutoNum type="arabicPeriod"/>
              <a:tabLst>
                <a:tab pos="514984" algn="l"/>
              </a:tabLst>
            </a:pPr>
            <a:r>
              <a:rPr sz="2200" dirty="0">
                <a:latin typeface="Verdana"/>
                <a:cs typeface="Verdana"/>
              </a:rPr>
              <a:t>Discuss</a:t>
            </a:r>
            <a:r>
              <a:rPr sz="2200" spc="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factors</a:t>
            </a:r>
            <a:r>
              <a:rPr sz="2200" spc="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affecting</a:t>
            </a:r>
            <a:r>
              <a:rPr sz="2200" spc="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sensitivity</a:t>
            </a:r>
            <a:r>
              <a:rPr sz="2200" spc="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3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practical 	</a:t>
            </a:r>
            <a:r>
              <a:rPr sz="2200" dirty="0">
                <a:latin typeface="Verdana"/>
                <a:cs typeface="Verdana"/>
              </a:rPr>
              <a:t>application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photoemissive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cells.</a:t>
            </a:r>
            <a:endParaRPr sz="2200">
              <a:latin typeface="Verdana"/>
              <a:cs typeface="Verdana"/>
            </a:endParaRPr>
          </a:p>
          <a:p>
            <a:pPr marL="513715" indent="-501015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513715" algn="l"/>
              </a:tabLst>
            </a:pPr>
            <a:r>
              <a:rPr sz="2200" dirty="0">
                <a:latin typeface="Verdana"/>
                <a:cs typeface="Verdana"/>
              </a:rPr>
              <a:t>Illustrate</a:t>
            </a:r>
            <a:r>
              <a:rPr sz="2200" spc="-1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secondary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characteristics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photomultipliers.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167255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Textbook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0836" y="1736303"/>
            <a:ext cx="887539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Ian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Sinclair, </a:t>
            </a: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20" dirty="0">
                <a:latin typeface="Verdana"/>
                <a:cs typeface="Verdana"/>
              </a:rPr>
              <a:t> Transducers,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Third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Edition,</a:t>
            </a:r>
            <a:r>
              <a:rPr sz="2200" spc="-20" dirty="0">
                <a:latin typeface="Verdana"/>
                <a:cs typeface="Verdana"/>
              </a:rPr>
              <a:t> 2001 	</a:t>
            </a:r>
            <a:r>
              <a:rPr sz="2200" dirty="0">
                <a:latin typeface="Verdana"/>
                <a:cs typeface="Verdana"/>
              </a:rPr>
              <a:t>(Units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&amp;</a:t>
            </a:r>
            <a:r>
              <a:rPr sz="2200" spc="-20" dirty="0">
                <a:latin typeface="Verdana"/>
                <a:cs typeface="Verdana"/>
              </a:rPr>
              <a:t> II).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811" y="7368540"/>
            <a:ext cx="8139430" cy="289560"/>
            <a:chOff x="19811" y="7368540"/>
            <a:chExt cx="8139430" cy="289560"/>
          </a:xfrm>
        </p:grpSpPr>
        <p:sp>
          <p:nvSpPr>
            <p:cNvPr id="3" name="object 3"/>
            <p:cNvSpPr/>
            <p:nvPr/>
          </p:nvSpPr>
          <p:spPr>
            <a:xfrm>
              <a:off x="19811" y="7368540"/>
              <a:ext cx="8057515" cy="264160"/>
            </a:xfrm>
            <a:custGeom>
              <a:avLst/>
              <a:gdLst/>
              <a:ahLst/>
              <a:cxnLst/>
              <a:rect l="l" t="t" r="r" b="b"/>
              <a:pathLst>
                <a:path w="8057515" h="264159">
                  <a:moveTo>
                    <a:pt x="8057388" y="263652"/>
                  </a:moveTo>
                  <a:lnTo>
                    <a:pt x="0" y="263652"/>
                  </a:lnTo>
                  <a:lnTo>
                    <a:pt x="0" y="0"/>
                  </a:lnTo>
                  <a:lnTo>
                    <a:pt x="7906511" y="0"/>
                  </a:lnTo>
                  <a:lnTo>
                    <a:pt x="8057388" y="263652"/>
                  </a:lnTo>
                  <a:close/>
                </a:path>
              </a:pathLst>
            </a:custGeom>
            <a:solidFill>
              <a:srgbClr val="87BC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9812" y="7424928"/>
              <a:ext cx="8139430" cy="233679"/>
            </a:xfrm>
            <a:custGeom>
              <a:avLst/>
              <a:gdLst/>
              <a:ahLst/>
              <a:cxnLst/>
              <a:rect l="l" t="t" r="r" b="b"/>
              <a:pathLst>
                <a:path w="8139430" h="233679">
                  <a:moveTo>
                    <a:pt x="8139228" y="233171"/>
                  </a:moveTo>
                  <a:lnTo>
                    <a:pt x="0" y="233171"/>
                  </a:lnTo>
                  <a:lnTo>
                    <a:pt x="0" y="0"/>
                  </a:lnTo>
                  <a:lnTo>
                    <a:pt x="8001000" y="0"/>
                  </a:lnTo>
                  <a:lnTo>
                    <a:pt x="8139228" y="233171"/>
                  </a:lnTo>
                  <a:close/>
                </a:path>
              </a:pathLst>
            </a:custGeom>
            <a:solidFill>
              <a:srgbClr val="0048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616683" y="7094219"/>
            <a:ext cx="1039494" cy="425450"/>
          </a:xfrm>
          <a:custGeom>
            <a:avLst/>
            <a:gdLst/>
            <a:ahLst/>
            <a:cxnLst/>
            <a:rect l="l" t="t" r="r" b="b"/>
            <a:pathLst>
              <a:path w="1039495" h="425450">
                <a:moveTo>
                  <a:pt x="406908" y="103632"/>
                </a:moveTo>
                <a:lnTo>
                  <a:pt x="398614" y="65532"/>
                </a:lnTo>
                <a:lnTo>
                  <a:pt x="397433" y="60083"/>
                </a:lnTo>
                <a:lnTo>
                  <a:pt x="371995" y="30289"/>
                </a:lnTo>
                <a:lnTo>
                  <a:pt x="335153" y="11899"/>
                </a:lnTo>
                <a:lnTo>
                  <a:pt x="291426" y="2590"/>
                </a:lnTo>
                <a:lnTo>
                  <a:pt x="245364" y="0"/>
                </a:lnTo>
                <a:lnTo>
                  <a:pt x="188506" y="3898"/>
                </a:lnTo>
                <a:lnTo>
                  <a:pt x="141516" y="15417"/>
                </a:lnTo>
                <a:lnTo>
                  <a:pt x="104584" y="34290"/>
                </a:lnTo>
                <a:lnTo>
                  <a:pt x="61823" y="93141"/>
                </a:lnTo>
                <a:lnTo>
                  <a:pt x="56388" y="132588"/>
                </a:lnTo>
                <a:lnTo>
                  <a:pt x="60159" y="158711"/>
                </a:lnTo>
                <a:lnTo>
                  <a:pt x="72771" y="182689"/>
                </a:lnTo>
                <a:lnTo>
                  <a:pt x="96253" y="205244"/>
                </a:lnTo>
                <a:lnTo>
                  <a:pt x="132588" y="227076"/>
                </a:lnTo>
                <a:lnTo>
                  <a:pt x="207264" y="263652"/>
                </a:lnTo>
                <a:lnTo>
                  <a:pt x="221576" y="271678"/>
                </a:lnTo>
                <a:lnTo>
                  <a:pt x="233743" y="280987"/>
                </a:lnTo>
                <a:lnTo>
                  <a:pt x="242201" y="293446"/>
                </a:lnTo>
                <a:lnTo>
                  <a:pt x="245364" y="310896"/>
                </a:lnTo>
                <a:lnTo>
                  <a:pt x="240271" y="330504"/>
                </a:lnTo>
                <a:lnTo>
                  <a:pt x="226314" y="345376"/>
                </a:lnTo>
                <a:lnTo>
                  <a:pt x="205511" y="354838"/>
                </a:lnTo>
                <a:lnTo>
                  <a:pt x="179844" y="358140"/>
                </a:lnTo>
                <a:lnTo>
                  <a:pt x="158572" y="353402"/>
                </a:lnTo>
                <a:lnTo>
                  <a:pt x="140017" y="340804"/>
                </a:lnTo>
                <a:lnTo>
                  <a:pt x="126898" y="322783"/>
                </a:lnTo>
                <a:lnTo>
                  <a:pt x="121920" y="301752"/>
                </a:lnTo>
                <a:lnTo>
                  <a:pt x="121920" y="292608"/>
                </a:lnTo>
                <a:lnTo>
                  <a:pt x="0" y="292608"/>
                </a:lnTo>
                <a:lnTo>
                  <a:pt x="0" y="310896"/>
                </a:lnTo>
                <a:lnTo>
                  <a:pt x="1892" y="337743"/>
                </a:lnTo>
                <a:lnTo>
                  <a:pt x="19939" y="380555"/>
                </a:lnTo>
                <a:lnTo>
                  <a:pt x="62395" y="409130"/>
                </a:lnTo>
                <a:lnTo>
                  <a:pt x="133261" y="423468"/>
                </a:lnTo>
                <a:lnTo>
                  <a:pt x="179832" y="425196"/>
                </a:lnTo>
                <a:lnTo>
                  <a:pt x="236842" y="420624"/>
                </a:lnTo>
                <a:lnTo>
                  <a:pt x="285394" y="407416"/>
                </a:lnTo>
                <a:lnTo>
                  <a:pt x="324612" y="386334"/>
                </a:lnTo>
                <a:lnTo>
                  <a:pt x="353682" y="358140"/>
                </a:lnTo>
                <a:lnTo>
                  <a:pt x="371754" y="323596"/>
                </a:lnTo>
                <a:lnTo>
                  <a:pt x="377952" y="283464"/>
                </a:lnTo>
                <a:lnTo>
                  <a:pt x="372694" y="256628"/>
                </a:lnTo>
                <a:lnTo>
                  <a:pt x="357568" y="233362"/>
                </a:lnTo>
                <a:lnTo>
                  <a:pt x="333590" y="213817"/>
                </a:lnTo>
                <a:lnTo>
                  <a:pt x="301752" y="198120"/>
                </a:lnTo>
                <a:lnTo>
                  <a:pt x="227076" y="160020"/>
                </a:lnTo>
                <a:lnTo>
                  <a:pt x="207479" y="151434"/>
                </a:lnTo>
                <a:lnTo>
                  <a:pt x="192595" y="139255"/>
                </a:lnTo>
                <a:lnTo>
                  <a:pt x="183146" y="123380"/>
                </a:lnTo>
                <a:lnTo>
                  <a:pt x="179832" y="103632"/>
                </a:lnTo>
                <a:lnTo>
                  <a:pt x="184581" y="89966"/>
                </a:lnTo>
                <a:lnTo>
                  <a:pt x="197167" y="77724"/>
                </a:lnTo>
                <a:lnTo>
                  <a:pt x="215201" y="68922"/>
                </a:lnTo>
                <a:lnTo>
                  <a:pt x="236220" y="65532"/>
                </a:lnTo>
                <a:lnTo>
                  <a:pt x="255828" y="69062"/>
                </a:lnTo>
                <a:lnTo>
                  <a:pt x="270700" y="78867"/>
                </a:lnTo>
                <a:lnTo>
                  <a:pt x="280162" y="93827"/>
                </a:lnTo>
                <a:lnTo>
                  <a:pt x="283464" y="112776"/>
                </a:lnTo>
                <a:lnTo>
                  <a:pt x="283464" y="123380"/>
                </a:lnTo>
                <a:lnTo>
                  <a:pt x="406908" y="123380"/>
                </a:lnTo>
                <a:lnTo>
                  <a:pt x="406908" y="103632"/>
                </a:lnTo>
                <a:close/>
              </a:path>
              <a:path w="1039495" h="425450">
                <a:moveTo>
                  <a:pt x="670560" y="103632"/>
                </a:moveTo>
                <a:lnTo>
                  <a:pt x="661504" y="65532"/>
                </a:lnTo>
                <a:lnTo>
                  <a:pt x="633107" y="30289"/>
                </a:lnTo>
                <a:lnTo>
                  <a:pt x="595185" y="11899"/>
                </a:lnTo>
                <a:lnTo>
                  <a:pt x="552348" y="2590"/>
                </a:lnTo>
                <a:lnTo>
                  <a:pt x="510540" y="0"/>
                </a:lnTo>
                <a:lnTo>
                  <a:pt x="471538" y="1574"/>
                </a:lnTo>
                <a:lnTo>
                  <a:pt x="438531" y="5715"/>
                </a:lnTo>
                <a:lnTo>
                  <a:pt x="410679" y="11582"/>
                </a:lnTo>
                <a:lnTo>
                  <a:pt x="387096" y="18288"/>
                </a:lnTo>
                <a:lnTo>
                  <a:pt x="401408" y="34632"/>
                </a:lnTo>
                <a:lnTo>
                  <a:pt x="413575" y="54102"/>
                </a:lnTo>
                <a:lnTo>
                  <a:pt x="422033" y="77012"/>
                </a:lnTo>
                <a:lnTo>
                  <a:pt x="422122" y="77724"/>
                </a:lnTo>
                <a:lnTo>
                  <a:pt x="425196" y="103632"/>
                </a:lnTo>
                <a:lnTo>
                  <a:pt x="425196" y="112776"/>
                </a:lnTo>
                <a:lnTo>
                  <a:pt x="416115" y="123380"/>
                </a:lnTo>
                <a:lnTo>
                  <a:pt x="416052" y="132588"/>
                </a:lnTo>
                <a:lnTo>
                  <a:pt x="312420" y="132588"/>
                </a:lnTo>
                <a:lnTo>
                  <a:pt x="317449" y="158711"/>
                </a:lnTo>
                <a:lnTo>
                  <a:pt x="332041" y="182689"/>
                </a:lnTo>
                <a:lnTo>
                  <a:pt x="355498" y="205244"/>
                </a:lnTo>
                <a:lnTo>
                  <a:pt x="387096" y="227076"/>
                </a:lnTo>
                <a:lnTo>
                  <a:pt x="463296" y="263652"/>
                </a:lnTo>
                <a:lnTo>
                  <a:pt x="476973" y="271678"/>
                </a:lnTo>
                <a:lnTo>
                  <a:pt x="489204" y="280987"/>
                </a:lnTo>
                <a:lnTo>
                  <a:pt x="498017" y="293446"/>
                </a:lnTo>
                <a:lnTo>
                  <a:pt x="501396" y="310896"/>
                </a:lnTo>
                <a:lnTo>
                  <a:pt x="497713" y="330504"/>
                </a:lnTo>
                <a:lnTo>
                  <a:pt x="486727" y="345376"/>
                </a:lnTo>
                <a:lnTo>
                  <a:pt x="468617" y="354838"/>
                </a:lnTo>
                <a:lnTo>
                  <a:pt x="443484" y="358140"/>
                </a:lnTo>
                <a:lnTo>
                  <a:pt x="419252" y="353402"/>
                </a:lnTo>
                <a:lnTo>
                  <a:pt x="401574" y="340804"/>
                </a:lnTo>
                <a:lnTo>
                  <a:pt x="390766" y="322783"/>
                </a:lnTo>
                <a:lnTo>
                  <a:pt x="387096" y="301752"/>
                </a:lnTo>
                <a:lnTo>
                  <a:pt x="387096" y="292608"/>
                </a:lnTo>
                <a:lnTo>
                  <a:pt x="382358" y="321017"/>
                </a:lnTo>
                <a:lnTo>
                  <a:pt x="369760" y="348424"/>
                </a:lnTo>
                <a:lnTo>
                  <a:pt x="351739" y="373837"/>
                </a:lnTo>
                <a:lnTo>
                  <a:pt x="330708" y="396240"/>
                </a:lnTo>
                <a:lnTo>
                  <a:pt x="321564" y="396240"/>
                </a:lnTo>
                <a:lnTo>
                  <a:pt x="312420" y="405384"/>
                </a:lnTo>
                <a:lnTo>
                  <a:pt x="336410" y="412991"/>
                </a:lnTo>
                <a:lnTo>
                  <a:pt x="365950" y="419290"/>
                </a:lnTo>
                <a:lnTo>
                  <a:pt x="399224" y="423608"/>
                </a:lnTo>
                <a:lnTo>
                  <a:pt x="434340" y="425196"/>
                </a:lnTo>
                <a:lnTo>
                  <a:pt x="491998" y="420624"/>
                </a:lnTo>
                <a:lnTo>
                  <a:pt x="540969" y="407416"/>
                </a:lnTo>
                <a:lnTo>
                  <a:pt x="580453" y="386334"/>
                </a:lnTo>
                <a:lnTo>
                  <a:pt x="609663" y="358140"/>
                </a:lnTo>
                <a:lnTo>
                  <a:pt x="627773" y="323596"/>
                </a:lnTo>
                <a:lnTo>
                  <a:pt x="633984" y="283464"/>
                </a:lnTo>
                <a:lnTo>
                  <a:pt x="630161" y="256628"/>
                </a:lnTo>
                <a:lnTo>
                  <a:pt x="597344" y="213817"/>
                </a:lnTo>
                <a:lnTo>
                  <a:pt x="490728" y="160020"/>
                </a:lnTo>
                <a:lnTo>
                  <a:pt x="471779" y="151434"/>
                </a:lnTo>
                <a:lnTo>
                  <a:pt x="456819" y="139255"/>
                </a:lnTo>
                <a:lnTo>
                  <a:pt x="447014" y="123380"/>
                </a:lnTo>
                <a:lnTo>
                  <a:pt x="443484" y="103632"/>
                </a:lnTo>
                <a:lnTo>
                  <a:pt x="447014" y="89966"/>
                </a:lnTo>
                <a:lnTo>
                  <a:pt x="456819" y="77724"/>
                </a:lnTo>
                <a:lnTo>
                  <a:pt x="471779" y="68922"/>
                </a:lnTo>
                <a:lnTo>
                  <a:pt x="490728" y="65532"/>
                </a:lnTo>
                <a:lnTo>
                  <a:pt x="515861" y="69062"/>
                </a:lnTo>
                <a:lnTo>
                  <a:pt x="533971" y="78867"/>
                </a:lnTo>
                <a:lnTo>
                  <a:pt x="544957" y="93827"/>
                </a:lnTo>
                <a:lnTo>
                  <a:pt x="548640" y="112776"/>
                </a:lnTo>
                <a:lnTo>
                  <a:pt x="538048" y="123380"/>
                </a:lnTo>
                <a:lnTo>
                  <a:pt x="670560" y="123380"/>
                </a:lnTo>
                <a:lnTo>
                  <a:pt x="670560" y="103632"/>
                </a:lnTo>
                <a:close/>
              </a:path>
              <a:path w="1039495" h="425450">
                <a:moveTo>
                  <a:pt x="1039368" y="103632"/>
                </a:moveTo>
                <a:lnTo>
                  <a:pt x="1030973" y="59804"/>
                </a:lnTo>
                <a:lnTo>
                  <a:pt x="1007554" y="27241"/>
                </a:lnTo>
                <a:lnTo>
                  <a:pt x="971867" y="6985"/>
                </a:lnTo>
                <a:lnTo>
                  <a:pt x="926592" y="0"/>
                </a:lnTo>
                <a:lnTo>
                  <a:pt x="882777" y="5410"/>
                </a:lnTo>
                <a:lnTo>
                  <a:pt x="837819" y="21526"/>
                </a:lnTo>
                <a:lnTo>
                  <a:pt x="794575" y="48221"/>
                </a:lnTo>
                <a:lnTo>
                  <a:pt x="755904" y="85344"/>
                </a:lnTo>
                <a:lnTo>
                  <a:pt x="775716" y="9144"/>
                </a:lnTo>
                <a:lnTo>
                  <a:pt x="633984" y="9144"/>
                </a:lnTo>
                <a:lnTo>
                  <a:pt x="633984" y="18288"/>
                </a:lnTo>
                <a:lnTo>
                  <a:pt x="656805" y="34632"/>
                </a:lnTo>
                <a:lnTo>
                  <a:pt x="671322" y="54102"/>
                </a:lnTo>
                <a:lnTo>
                  <a:pt x="678992" y="77012"/>
                </a:lnTo>
                <a:lnTo>
                  <a:pt x="681228" y="103632"/>
                </a:lnTo>
                <a:lnTo>
                  <a:pt x="681228" y="132588"/>
                </a:lnTo>
                <a:lnTo>
                  <a:pt x="605028" y="132588"/>
                </a:lnTo>
                <a:lnTo>
                  <a:pt x="604964" y="133210"/>
                </a:lnTo>
                <a:lnTo>
                  <a:pt x="603465" y="146329"/>
                </a:lnTo>
                <a:lnTo>
                  <a:pt x="599313" y="160210"/>
                </a:lnTo>
                <a:lnTo>
                  <a:pt x="593458" y="174383"/>
                </a:lnTo>
                <a:lnTo>
                  <a:pt x="586740" y="188976"/>
                </a:lnTo>
                <a:lnTo>
                  <a:pt x="610984" y="209956"/>
                </a:lnTo>
                <a:lnTo>
                  <a:pt x="628650" y="232219"/>
                </a:lnTo>
                <a:lnTo>
                  <a:pt x="639470" y="256489"/>
                </a:lnTo>
                <a:lnTo>
                  <a:pt x="643128" y="283464"/>
                </a:lnTo>
                <a:lnTo>
                  <a:pt x="639470" y="317169"/>
                </a:lnTo>
                <a:lnTo>
                  <a:pt x="628650" y="347281"/>
                </a:lnTo>
                <a:lnTo>
                  <a:pt x="610984" y="373697"/>
                </a:lnTo>
                <a:lnTo>
                  <a:pt x="586740" y="396240"/>
                </a:lnTo>
                <a:lnTo>
                  <a:pt x="576072" y="405384"/>
                </a:lnTo>
                <a:lnTo>
                  <a:pt x="670560" y="405384"/>
                </a:lnTo>
                <a:lnTo>
                  <a:pt x="728472" y="198120"/>
                </a:lnTo>
                <a:lnTo>
                  <a:pt x="744601" y="156718"/>
                </a:lnTo>
                <a:lnTo>
                  <a:pt x="767143" y="120586"/>
                </a:lnTo>
                <a:lnTo>
                  <a:pt x="798563" y="95046"/>
                </a:lnTo>
                <a:lnTo>
                  <a:pt x="841248" y="85344"/>
                </a:lnTo>
                <a:lnTo>
                  <a:pt x="860856" y="87236"/>
                </a:lnTo>
                <a:lnTo>
                  <a:pt x="875728" y="93535"/>
                </a:lnTo>
                <a:lnTo>
                  <a:pt x="885190" y="105283"/>
                </a:lnTo>
                <a:lnTo>
                  <a:pt x="888492" y="123444"/>
                </a:lnTo>
                <a:lnTo>
                  <a:pt x="888352" y="131876"/>
                </a:lnTo>
                <a:lnTo>
                  <a:pt x="888238" y="133210"/>
                </a:lnTo>
                <a:lnTo>
                  <a:pt x="887349" y="142875"/>
                </a:lnTo>
                <a:lnTo>
                  <a:pt x="884643" y="155600"/>
                </a:lnTo>
                <a:lnTo>
                  <a:pt x="879348" y="169164"/>
                </a:lnTo>
                <a:lnTo>
                  <a:pt x="822960" y="358140"/>
                </a:lnTo>
                <a:lnTo>
                  <a:pt x="812292" y="387096"/>
                </a:lnTo>
                <a:lnTo>
                  <a:pt x="812292" y="405384"/>
                </a:lnTo>
                <a:lnTo>
                  <a:pt x="955548" y="405384"/>
                </a:lnTo>
                <a:lnTo>
                  <a:pt x="1021080" y="179832"/>
                </a:lnTo>
                <a:lnTo>
                  <a:pt x="1030224" y="141732"/>
                </a:lnTo>
                <a:lnTo>
                  <a:pt x="1035519" y="133210"/>
                </a:lnTo>
                <a:lnTo>
                  <a:pt x="1038225" y="122682"/>
                </a:lnTo>
                <a:lnTo>
                  <a:pt x="1039228" y="112166"/>
                </a:lnTo>
                <a:lnTo>
                  <a:pt x="1039342" y="105283"/>
                </a:lnTo>
                <a:lnTo>
                  <a:pt x="1039368" y="103632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89988" y="3371088"/>
            <a:ext cx="5741670" cy="1073150"/>
          </a:xfrm>
          <a:custGeom>
            <a:avLst/>
            <a:gdLst/>
            <a:ahLst/>
            <a:cxnLst/>
            <a:rect l="l" t="t" r="r" b="b"/>
            <a:pathLst>
              <a:path w="5741670" h="1073150">
                <a:moveTo>
                  <a:pt x="725709" y="848867"/>
                </a:moveTo>
                <a:lnTo>
                  <a:pt x="623315" y="848867"/>
                </a:lnTo>
                <a:lnTo>
                  <a:pt x="819340" y="0"/>
                </a:lnTo>
                <a:lnTo>
                  <a:pt x="921734" y="0"/>
                </a:lnTo>
                <a:lnTo>
                  <a:pt x="850868" y="307085"/>
                </a:lnTo>
                <a:lnTo>
                  <a:pt x="1220913" y="307085"/>
                </a:lnTo>
                <a:lnTo>
                  <a:pt x="1223343" y="311765"/>
                </a:lnTo>
                <a:lnTo>
                  <a:pt x="1224737" y="316991"/>
                </a:lnTo>
                <a:lnTo>
                  <a:pt x="1020127" y="316991"/>
                </a:lnTo>
                <a:lnTo>
                  <a:pt x="998803" y="318475"/>
                </a:lnTo>
                <a:lnTo>
                  <a:pt x="952940" y="329944"/>
                </a:lnTo>
                <a:lnTo>
                  <a:pt x="903541" y="352000"/>
                </a:lnTo>
                <a:lnTo>
                  <a:pt x="854678" y="379394"/>
                </a:lnTo>
                <a:lnTo>
                  <a:pt x="830675" y="394715"/>
                </a:lnTo>
                <a:lnTo>
                  <a:pt x="725709" y="848867"/>
                </a:lnTo>
                <a:close/>
              </a:path>
              <a:path w="5741670" h="1073150">
                <a:moveTo>
                  <a:pt x="687990" y="128015"/>
                </a:moveTo>
                <a:lnTo>
                  <a:pt x="0" y="128015"/>
                </a:lnTo>
                <a:lnTo>
                  <a:pt x="20669" y="36575"/>
                </a:lnTo>
                <a:lnTo>
                  <a:pt x="708660" y="36575"/>
                </a:lnTo>
                <a:lnTo>
                  <a:pt x="687990" y="128015"/>
                </a:lnTo>
                <a:close/>
              </a:path>
              <a:path w="5741670" h="1073150">
                <a:moveTo>
                  <a:pt x="232600" y="848867"/>
                </a:moveTo>
                <a:lnTo>
                  <a:pt x="123444" y="848867"/>
                </a:lnTo>
                <a:lnTo>
                  <a:pt x="290226" y="128015"/>
                </a:lnTo>
                <a:lnTo>
                  <a:pt x="399478" y="128015"/>
                </a:lnTo>
                <a:lnTo>
                  <a:pt x="232600" y="848867"/>
                </a:lnTo>
                <a:close/>
              </a:path>
              <a:path w="5741670" h="1073150">
                <a:moveTo>
                  <a:pt x="1220913" y="307085"/>
                </a:moveTo>
                <a:lnTo>
                  <a:pt x="850868" y="307085"/>
                </a:lnTo>
                <a:lnTo>
                  <a:pt x="879676" y="287849"/>
                </a:lnTo>
                <a:lnTo>
                  <a:pt x="934436" y="256521"/>
                </a:lnTo>
                <a:lnTo>
                  <a:pt x="986158" y="234893"/>
                </a:lnTo>
                <a:lnTo>
                  <a:pt x="1038737" y="223931"/>
                </a:lnTo>
                <a:lnTo>
                  <a:pt x="1065561" y="222503"/>
                </a:lnTo>
                <a:lnTo>
                  <a:pt x="1103282" y="225074"/>
                </a:lnTo>
                <a:lnTo>
                  <a:pt x="1165471" y="245180"/>
                </a:lnTo>
                <a:lnTo>
                  <a:pt x="1209445" y="285004"/>
                </a:lnTo>
                <a:lnTo>
                  <a:pt x="1220913" y="307085"/>
                </a:lnTo>
                <a:close/>
              </a:path>
              <a:path w="5741670" h="1073150">
                <a:moveTo>
                  <a:pt x="1133284" y="848867"/>
                </a:moveTo>
                <a:lnTo>
                  <a:pt x="1032224" y="848867"/>
                </a:lnTo>
                <a:lnTo>
                  <a:pt x="1111281" y="502348"/>
                </a:lnTo>
                <a:lnTo>
                  <a:pt x="1114316" y="488382"/>
                </a:lnTo>
                <a:lnTo>
                  <a:pt x="1122743" y="441339"/>
                </a:lnTo>
                <a:lnTo>
                  <a:pt x="1124712" y="409098"/>
                </a:lnTo>
                <a:lnTo>
                  <a:pt x="1123299" y="387703"/>
                </a:lnTo>
                <a:lnTo>
                  <a:pt x="1102042" y="340233"/>
                </a:lnTo>
                <a:lnTo>
                  <a:pt x="1070013" y="322790"/>
                </a:lnTo>
                <a:lnTo>
                  <a:pt x="1069821" y="322790"/>
                </a:lnTo>
                <a:lnTo>
                  <a:pt x="1047340" y="318475"/>
                </a:lnTo>
                <a:lnTo>
                  <a:pt x="1020127" y="316991"/>
                </a:lnTo>
                <a:lnTo>
                  <a:pt x="1224737" y="316991"/>
                </a:lnTo>
                <a:lnTo>
                  <a:pt x="1231668" y="342972"/>
                </a:lnTo>
                <a:lnTo>
                  <a:pt x="1234439" y="378618"/>
                </a:lnTo>
                <a:lnTo>
                  <a:pt x="1234294" y="385777"/>
                </a:lnTo>
                <a:lnTo>
                  <a:pt x="1230624" y="425005"/>
                </a:lnTo>
                <a:lnTo>
                  <a:pt x="1225105" y="453294"/>
                </a:lnTo>
                <a:lnTo>
                  <a:pt x="1133284" y="848867"/>
                </a:lnTo>
                <a:close/>
              </a:path>
              <a:path w="5741670" h="1073150">
                <a:moveTo>
                  <a:pt x="1459325" y="356615"/>
                </a:moveTo>
                <a:lnTo>
                  <a:pt x="1453896" y="356615"/>
                </a:lnTo>
                <a:lnTo>
                  <a:pt x="1473993" y="254412"/>
                </a:lnTo>
                <a:lnTo>
                  <a:pt x="1512296" y="245780"/>
                </a:lnTo>
                <a:lnTo>
                  <a:pt x="1564957" y="235934"/>
                </a:lnTo>
                <a:lnTo>
                  <a:pt x="1623691" y="228206"/>
                </a:lnTo>
                <a:lnTo>
                  <a:pt x="1679924" y="225551"/>
                </a:lnTo>
                <a:lnTo>
                  <a:pt x="1733036" y="227821"/>
                </a:lnTo>
                <a:lnTo>
                  <a:pt x="1779067" y="234493"/>
                </a:lnTo>
                <a:lnTo>
                  <a:pt x="1818008" y="245576"/>
                </a:lnTo>
                <a:lnTo>
                  <a:pt x="1874658" y="281384"/>
                </a:lnTo>
                <a:lnTo>
                  <a:pt x="1893766" y="310895"/>
                </a:lnTo>
                <a:lnTo>
                  <a:pt x="1661636" y="310895"/>
                </a:lnTo>
                <a:lnTo>
                  <a:pt x="1638368" y="311884"/>
                </a:lnTo>
                <a:lnTo>
                  <a:pt x="1637930" y="311884"/>
                </a:lnTo>
                <a:lnTo>
                  <a:pt x="1612058" y="314824"/>
                </a:lnTo>
                <a:lnTo>
                  <a:pt x="1555908" y="326326"/>
                </a:lnTo>
                <a:lnTo>
                  <a:pt x="1502044" y="341614"/>
                </a:lnTo>
                <a:lnTo>
                  <a:pt x="1479292" y="349150"/>
                </a:lnTo>
                <a:lnTo>
                  <a:pt x="1459325" y="356615"/>
                </a:lnTo>
                <a:close/>
              </a:path>
              <a:path w="5741670" h="1073150">
                <a:moveTo>
                  <a:pt x="1484185" y="865631"/>
                </a:moveTo>
                <a:lnTo>
                  <a:pt x="1418546" y="855106"/>
                </a:lnTo>
                <a:lnTo>
                  <a:pt x="1366551" y="823436"/>
                </a:lnTo>
                <a:lnTo>
                  <a:pt x="1332642" y="774644"/>
                </a:lnTo>
                <a:lnTo>
                  <a:pt x="1321420" y="714136"/>
                </a:lnTo>
                <a:lnTo>
                  <a:pt x="1321339" y="712309"/>
                </a:lnTo>
                <a:lnTo>
                  <a:pt x="1323305" y="678041"/>
                </a:lnTo>
                <a:lnTo>
                  <a:pt x="1339230" y="616852"/>
                </a:lnTo>
                <a:lnTo>
                  <a:pt x="1370963" y="566648"/>
                </a:lnTo>
                <a:lnTo>
                  <a:pt x="1418111" y="525785"/>
                </a:lnTo>
                <a:lnTo>
                  <a:pt x="1479725" y="494353"/>
                </a:lnTo>
                <a:lnTo>
                  <a:pt x="1553838" y="471921"/>
                </a:lnTo>
                <a:lnTo>
                  <a:pt x="1595628" y="463867"/>
                </a:lnTo>
                <a:lnTo>
                  <a:pt x="1640507" y="457582"/>
                </a:lnTo>
                <a:lnTo>
                  <a:pt x="1688413" y="452592"/>
                </a:lnTo>
                <a:lnTo>
                  <a:pt x="1739337" y="448905"/>
                </a:lnTo>
                <a:lnTo>
                  <a:pt x="1793271" y="446531"/>
                </a:lnTo>
                <a:lnTo>
                  <a:pt x="1795056" y="439193"/>
                </a:lnTo>
                <a:lnTo>
                  <a:pt x="1796689" y="432327"/>
                </a:lnTo>
                <a:lnTo>
                  <a:pt x="1798160" y="425944"/>
                </a:lnTo>
                <a:lnTo>
                  <a:pt x="1801035" y="412838"/>
                </a:lnTo>
                <a:lnTo>
                  <a:pt x="1801082" y="412622"/>
                </a:lnTo>
                <a:lnTo>
                  <a:pt x="1801844" y="404812"/>
                </a:lnTo>
                <a:lnTo>
                  <a:pt x="1801830" y="396457"/>
                </a:lnTo>
                <a:lnTo>
                  <a:pt x="1801199" y="384250"/>
                </a:lnTo>
                <a:lnTo>
                  <a:pt x="1799309" y="373284"/>
                </a:lnTo>
                <a:lnTo>
                  <a:pt x="1799260" y="372998"/>
                </a:lnTo>
                <a:lnTo>
                  <a:pt x="1778960" y="339423"/>
                </a:lnTo>
                <a:lnTo>
                  <a:pt x="1741151" y="319629"/>
                </a:lnTo>
                <a:lnTo>
                  <a:pt x="1690913" y="311884"/>
                </a:lnTo>
                <a:lnTo>
                  <a:pt x="1661636" y="310895"/>
                </a:lnTo>
                <a:lnTo>
                  <a:pt x="1893766" y="310895"/>
                </a:lnTo>
                <a:lnTo>
                  <a:pt x="1902986" y="337495"/>
                </a:lnTo>
                <a:lnTo>
                  <a:pt x="1906495" y="372998"/>
                </a:lnTo>
                <a:lnTo>
                  <a:pt x="1906523" y="373284"/>
                </a:lnTo>
                <a:lnTo>
                  <a:pt x="1902812" y="412622"/>
                </a:lnTo>
                <a:lnTo>
                  <a:pt x="1877021" y="528827"/>
                </a:lnTo>
                <a:lnTo>
                  <a:pt x="1774602" y="528827"/>
                </a:lnTo>
                <a:lnTo>
                  <a:pt x="1734029" y="530917"/>
                </a:lnTo>
                <a:lnTo>
                  <a:pt x="1695759" y="533757"/>
                </a:lnTo>
                <a:lnTo>
                  <a:pt x="1626203" y="541686"/>
                </a:lnTo>
                <a:lnTo>
                  <a:pt x="1566981" y="553319"/>
                </a:lnTo>
                <a:lnTo>
                  <a:pt x="1519047" y="569023"/>
                </a:lnTo>
                <a:lnTo>
                  <a:pt x="1480375" y="590216"/>
                </a:lnTo>
                <a:lnTo>
                  <a:pt x="1452276" y="617696"/>
                </a:lnTo>
                <a:lnTo>
                  <a:pt x="1435215" y="652117"/>
                </a:lnTo>
                <a:lnTo>
                  <a:pt x="1429512" y="693896"/>
                </a:lnTo>
                <a:lnTo>
                  <a:pt x="1431187" y="712309"/>
                </a:lnTo>
                <a:lnTo>
                  <a:pt x="1456181" y="753617"/>
                </a:lnTo>
                <a:lnTo>
                  <a:pt x="1512258" y="772871"/>
                </a:lnTo>
                <a:lnTo>
                  <a:pt x="1510908" y="772871"/>
                </a:lnTo>
                <a:lnTo>
                  <a:pt x="1538954" y="774192"/>
                </a:lnTo>
                <a:lnTo>
                  <a:pt x="1820773" y="774192"/>
                </a:lnTo>
                <a:lnTo>
                  <a:pt x="1818545" y="783907"/>
                </a:lnTo>
                <a:lnTo>
                  <a:pt x="1716786" y="783907"/>
                </a:lnTo>
                <a:lnTo>
                  <a:pt x="1699414" y="794551"/>
                </a:lnTo>
                <a:lnTo>
                  <a:pt x="1676685" y="808767"/>
                </a:lnTo>
                <a:lnTo>
                  <a:pt x="1663987" y="816536"/>
                </a:lnTo>
                <a:lnTo>
                  <a:pt x="1625250" y="836199"/>
                </a:lnTo>
                <a:lnTo>
                  <a:pt x="1579896" y="852782"/>
                </a:lnTo>
                <a:lnTo>
                  <a:pt x="1526274" y="863548"/>
                </a:lnTo>
                <a:lnTo>
                  <a:pt x="1505886" y="865112"/>
                </a:lnTo>
                <a:lnTo>
                  <a:pt x="1484185" y="865631"/>
                </a:lnTo>
                <a:close/>
              </a:path>
              <a:path w="5741670" h="1073150">
                <a:moveTo>
                  <a:pt x="1820773" y="774192"/>
                </a:moveTo>
                <a:lnTo>
                  <a:pt x="1538954" y="774192"/>
                </a:lnTo>
                <a:lnTo>
                  <a:pt x="1563851" y="772871"/>
                </a:lnTo>
                <a:lnTo>
                  <a:pt x="1588972" y="768774"/>
                </a:lnTo>
                <a:lnTo>
                  <a:pt x="1639919" y="752284"/>
                </a:lnTo>
                <a:lnTo>
                  <a:pt x="1689687" y="727995"/>
                </a:lnTo>
                <a:lnTo>
                  <a:pt x="1736026" y="699134"/>
                </a:lnTo>
                <a:lnTo>
                  <a:pt x="1774602" y="528827"/>
                </a:lnTo>
                <a:lnTo>
                  <a:pt x="1877021" y="528827"/>
                </a:lnTo>
                <a:lnTo>
                  <a:pt x="1820773" y="774192"/>
                </a:lnTo>
                <a:close/>
              </a:path>
              <a:path w="5741670" h="1073150">
                <a:moveTo>
                  <a:pt x="1803654" y="848867"/>
                </a:moveTo>
                <a:lnTo>
                  <a:pt x="1702022" y="848867"/>
                </a:lnTo>
                <a:lnTo>
                  <a:pt x="1716786" y="783907"/>
                </a:lnTo>
                <a:lnTo>
                  <a:pt x="1818545" y="783907"/>
                </a:lnTo>
                <a:lnTo>
                  <a:pt x="1803654" y="848867"/>
                </a:lnTo>
                <a:close/>
              </a:path>
              <a:path w="5741670" h="1073150">
                <a:moveTo>
                  <a:pt x="2598605" y="307181"/>
                </a:moveTo>
                <a:lnTo>
                  <a:pt x="2227992" y="307181"/>
                </a:lnTo>
                <a:lnTo>
                  <a:pt x="2256817" y="287875"/>
                </a:lnTo>
                <a:lnTo>
                  <a:pt x="2311681" y="256442"/>
                </a:lnTo>
                <a:lnTo>
                  <a:pt x="2363490" y="234813"/>
                </a:lnTo>
                <a:lnTo>
                  <a:pt x="2416172" y="223916"/>
                </a:lnTo>
                <a:lnTo>
                  <a:pt x="2443067" y="222503"/>
                </a:lnTo>
                <a:lnTo>
                  <a:pt x="2480802" y="225074"/>
                </a:lnTo>
                <a:lnTo>
                  <a:pt x="2543057" y="245180"/>
                </a:lnTo>
                <a:lnTo>
                  <a:pt x="2587061" y="285004"/>
                </a:lnTo>
                <a:lnTo>
                  <a:pt x="2598605" y="307181"/>
                </a:lnTo>
                <a:close/>
              </a:path>
              <a:path w="5741670" h="1073150">
                <a:moveTo>
                  <a:pt x="2103405" y="848867"/>
                </a:moveTo>
                <a:lnTo>
                  <a:pt x="2001012" y="848867"/>
                </a:lnTo>
                <a:lnTo>
                  <a:pt x="2141124" y="239267"/>
                </a:lnTo>
                <a:lnTo>
                  <a:pt x="2243613" y="239267"/>
                </a:lnTo>
                <a:lnTo>
                  <a:pt x="2227992" y="307181"/>
                </a:lnTo>
                <a:lnTo>
                  <a:pt x="2598605" y="307181"/>
                </a:lnTo>
                <a:lnTo>
                  <a:pt x="2600991" y="311765"/>
                </a:lnTo>
                <a:lnTo>
                  <a:pt x="2602391" y="316991"/>
                </a:lnTo>
                <a:lnTo>
                  <a:pt x="2397728" y="316991"/>
                </a:lnTo>
                <a:lnTo>
                  <a:pt x="2376347" y="318475"/>
                </a:lnTo>
                <a:lnTo>
                  <a:pt x="2330407" y="329944"/>
                </a:lnTo>
                <a:lnTo>
                  <a:pt x="2280826" y="352018"/>
                </a:lnTo>
                <a:lnTo>
                  <a:pt x="2231820" y="379554"/>
                </a:lnTo>
                <a:lnTo>
                  <a:pt x="2207799" y="395001"/>
                </a:lnTo>
                <a:lnTo>
                  <a:pt x="2103405" y="848867"/>
                </a:lnTo>
                <a:close/>
              </a:path>
              <a:path w="5741670" h="1073150">
                <a:moveTo>
                  <a:pt x="2512028" y="848867"/>
                </a:moveTo>
                <a:lnTo>
                  <a:pt x="2410968" y="848867"/>
                </a:lnTo>
                <a:lnTo>
                  <a:pt x="2489263" y="502348"/>
                </a:lnTo>
                <a:lnTo>
                  <a:pt x="2492283" y="488382"/>
                </a:lnTo>
                <a:lnTo>
                  <a:pt x="2500574" y="441339"/>
                </a:lnTo>
                <a:lnTo>
                  <a:pt x="2502402" y="414146"/>
                </a:lnTo>
                <a:lnTo>
                  <a:pt x="2502503" y="409098"/>
                </a:lnTo>
                <a:lnTo>
                  <a:pt x="2496835" y="369093"/>
                </a:lnTo>
                <a:lnTo>
                  <a:pt x="2466094" y="330105"/>
                </a:lnTo>
                <a:lnTo>
                  <a:pt x="2447697" y="322790"/>
                </a:lnTo>
                <a:lnTo>
                  <a:pt x="2447504" y="322790"/>
                </a:lnTo>
                <a:lnTo>
                  <a:pt x="2424995" y="318475"/>
                </a:lnTo>
                <a:lnTo>
                  <a:pt x="2397728" y="316991"/>
                </a:lnTo>
                <a:lnTo>
                  <a:pt x="2602391" y="316991"/>
                </a:lnTo>
                <a:lnTo>
                  <a:pt x="2609350" y="342972"/>
                </a:lnTo>
                <a:lnTo>
                  <a:pt x="2612136" y="378618"/>
                </a:lnTo>
                <a:lnTo>
                  <a:pt x="2612117" y="379554"/>
                </a:lnTo>
                <a:lnTo>
                  <a:pt x="2608415" y="425005"/>
                </a:lnTo>
                <a:lnTo>
                  <a:pt x="2602896" y="453294"/>
                </a:lnTo>
                <a:lnTo>
                  <a:pt x="2512028" y="848867"/>
                </a:lnTo>
                <a:close/>
              </a:path>
              <a:path w="5741670" h="1073150">
                <a:moveTo>
                  <a:pt x="2815971" y="848867"/>
                </a:moveTo>
                <a:lnTo>
                  <a:pt x="2712719" y="848867"/>
                </a:lnTo>
                <a:lnTo>
                  <a:pt x="2908744" y="0"/>
                </a:lnTo>
                <a:lnTo>
                  <a:pt x="3011995" y="0"/>
                </a:lnTo>
                <a:lnTo>
                  <a:pt x="2886265" y="543972"/>
                </a:lnTo>
                <a:lnTo>
                  <a:pt x="3042354" y="543972"/>
                </a:lnTo>
                <a:lnTo>
                  <a:pt x="3069920" y="581310"/>
                </a:lnTo>
                <a:lnTo>
                  <a:pt x="2948273" y="581310"/>
                </a:lnTo>
                <a:lnTo>
                  <a:pt x="2860738" y="652652"/>
                </a:lnTo>
                <a:lnTo>
                  <a:pt x="2815971" y="848867"/>
                </a:lnTo>
                <a:close/>
              </a:path>
              <a:path w="5741670" h="1073150">
                <a:moveTo>
                  <a:pt x="3042354" y="543972"/>
                </a:moveTo>
                <a:lnTo>
                  <a:pt x="2886265" y="543972"/>
                </a:lnTo>
                <a:lnTo>
                  <a:pt x="3241262" y="239267"/>
                </a:lnTo>
                <a:lnTo>
                  <a:pt x="3377183" y="239267"/>
                </a:lnTo>
                <a:lnTo>
                  <a:pt x="3030188" y="527494"/>
                </a:lnTo>
                <a:lnTo>
                  <a:pt x="3042354" y="543972"/>
                </a:lnTo>
                <a:close/>
              </a:path>
              <a:path w="5741670" h="1073150">
                <a:moveTo>
                  <a:pt x="3267456" y="848867"/>
                </a:moveTo>
                <a:lnTo>
                  <a:pt x="3142393" y="848867"/>
                </a:lnTo>
                <a:lnTo>
                  <a:pt x="2948273" y="581310"/>
                </a:lnTo>
                <a:lnTo>
                  <a:pt x="3069920" y="581310"/>
                </a:lnTo>
                <a:lnTo>
                  <a:pt x="3267456" y="848867"/>
                </a:lnTo>
                <a:close/>
              </a:path>
              <a:path w="5741670" h="1073150">
                <a:moveTo>
                  <a:pt x="3866483" y="1072895"/>
                </a:moveTo>
                <a:lnTo>
                  <a:pt x="3752088" y="1072895"/>
                </a:lnTo>
                <a:lnTo>
                  <a:pt x="3930015" y="811434"/>
                </a:lnTo>
                <a:lnTo>
                  <a:pt x="3820667" y="239267"/>
                </a:lnTo>
                <a:lnTo>
                  <a:pt x="3924586" y="239267"/>
                </a:lnTo>
                <a:lnTo>
                  <a:pt x="4010311" y="693419"/>
                </a:lnTo>
                <a:lnTo>
                  <a:pt x="4116186" y="693419"/>
                </a:lnTo>
                <a:lnTo>
                  <a:pt x="3866483" y="1072895"/>
                </a:lnTo>
                <a:close/>
              </a:path>
              <a:path w="5741670" h="1073150">
                <a:moveTo>
                  <a:pt x="4116186" y="693419"/>
                </a:moveTo>
                <a:lnTo>
                  <a:pt x="4010311" y="693419"/>
                </a:lnTo>
                <a:lnTo>
                  <a:pt x="4301871" y="239267"/>
                </a:lnTo>
                <a:lnTo>
                  <a:pt x="4415028" y="239267"/>
                </a:lnTo>
                <a:lnTo>
                  <a:pt x="4116186" y="693419"/>
                </a:lnTo>
                <a:close/>
              </a:path>
              <a:path w="5741670" h="1073150">
                <a:moveTo>
                  <a:pt x="4664868" y="865631"/>
                </a:moveTo>
                <a:lnTo>
                  <a:pt x="4613628" y="861786"/>
                </a:lnTo>
                <a:lnTo>
                  <a:pt x="4568344" y="850225"/>
                </a:lnTo>
                <a:lnTo>
                  <a:pt x="4529008" y="830913"/>
                </a:lnTo>
                <a:lnTo>
                  <a:pt x="4495609" y="803814"/>
                </a:lnTo>
                <a:lnTo>
                  <a:pt x="4469036" y="769919"/>
                </a:lnTo>
                <a:lnTo>
                  <a:pt x="4450044" y="730103"/>
                </a:lnTo>
                <a:lnTo>
                  <a:pt x="4438642" y="684375"/>
                </a:lnTo>
                <a:lnTo>
                  <a:pt x="4434840" y="632745"/>
                </a:lnTo>
                <a:lnTo>
                  <a:pt x="4436357" y="593324"/>
                </a:lnTo>
                <a:lnTo>
                  <a:pt x="4441055" y="552926"/>
                </a:lnTo>
                <a:lnTo>
                  <a:pt x="4448824" y="514418"/>
                </a:lnTo>
                <a:lnTo>
                  <a:pt x="4459700" y="476821"/>
                </a:lnTo>
                <a:lnTo>
                  <a:pt x="4473490" y="440761"/>
                </a:lnTo>
                <a:lnTo>
                  <a:pt x="4509287" y="374714"/>
                </a:lnTo>
                <a:lnTo>
                  <a:pt x="4555243" y="318367"/>
                </a:lnTo>
                <a:lnTo>
                  <a:pt x="4610717" y="273932"/>
                </a:lnTo>
                <a:lnTo>
                  <a:pt x="4675909" y="241323"/>
                </a:lnTo>
                <a:lnTo>
                  <a:pt x="4747709" y="224645"/>
                </a:lnTo>
                <a:lnTo>
                  <a:pt x="4785931" y="222503"/>
                </a:lnTo>
                <a:lnTo>
                  <a:pt x="4835884" y="226309"/>
                </a:lnTo>
                <a:lnTo>
                  <a:pt x="4880443" y="237589"/>
                </a:lnTo>
                <a:lnTo>
                  <a:pt x="4919609" y="256351"/>
                </a:lnTo>
                <a:lnTo>
                  <a:pt x="4953381" y="282606"/>
                </a:lnTo>
                <a:lnTo>
                  <a:pt x="4974003" y="307847"/>
                </a:lnTo>
                <a:lnTo>
                  <a:pt x="4769453" y="307847"/>
                </a:lnTo>
                <a:lnTo>
                  <a:pt x="4743770" y="309492"/>
                </a:lnTo>
                <a:lnTo>
                  <a:pt x="4696440" y="322247"/>
                </a:lnTo>
                <a:lnTo>
                  <a:pt x="4654556" y="347266"/>
                </a:lnTo>
                <a:lnTo>
                  <a:pt x="4618370" y="382050"/>
                </a:lnTo>
                <a:lnTo>
                  <a:pt x="4588581" y="425463"/>
                </a:lnTo>
                <a:lnTo>
                  <a:pt x="4566045" y="476041"/>
                </a:lnTo>
                <a:lnTo>
                  <a:pt x="4550441" y="533316"/>
                </a:lnTo>
                <a:lnTo>
                  <a:pt x="4542611" y="592362"/>
                </a:lnTo>
                <a:lnTo>
                  <a:pt x="4542517" y="593324"/>
                </a:lnTo>
                <a:lnTo>
                  <a:pt x="4543804" y="659670"/>
                </a:lnTo>
                <a:lnTo>
                  <a:pt x="4562053" y="717638"/>
                </a:lnTo>
                <a:lnTo>
                  <a:pt x="4598126" y="757677"/>
                </a:lnTo>
                <a:lnTo>
                  <a:pt x="4649808" y="777823"/>
                </a:lnTo>
                <a:lnTo>
                  <a:pt x="4681347" y="780287"/>
                </a:lnTo>
                <a:lnTo>
                  <a:pt x="4883964" y="780287"/>
                </a:lnTo>
                <a:lnTo>
                  <a:pt x="4868382" y="794527"/>
                </a:lnTo>
                <a:lnTo>
                  <a:pt x="4809934" y="833246"/>
                </a:lnTo>
                <a:lnTo>
                  <a:pt x="4742580" y="857547"/>
                </a:lnTo>
                <a:lnTo>
                  <a:pt x="4705015" y="863612"/>
                </a:lnTo>
                <a:lnTo>
                  <a:pt x="4664868" y="865631"/>
                </a:lnTo>
                <a:close/>
              </a:path>
              <a:path w="5741670" h="1073150">
                <a:moveTo>
                  <a:pt x="4883964" y="780287"/>
                </a:moveTo>
                <a:lnTo>
                  <a:pt x="4681347" y="780287"/>
                </a:lnTo>
                <a:lnTo>
                  <a:pt x="4706869" y="778771"/>
                </a:lnTo>
                <a:lnTo>
                  <a:pt x="4731151" y="774084"/>
                </a:lnTo>
                <a:lnTo>
                  <a:pt x="4776025" y="755237"/>
                </a:lnTo>
                <a:lnTo>
                  <a:pt x="4815328" y="725245"/>
                </a:lnTo>
                <a:lnTo>
                  <a:pt x="4848415" y="685323"/>
                </a:lnTo>
                <a:lnTo>
                  <a:pt x="4874347" y="638305"/>
                </a:lnTo>
                <a:lnTo>
                  <a:pt x="4893278" y="584358"/>
                </a:lnTo>
                <a:lnTo>
                  <a:pt x="4904934" y="525363"/>
                </a:lnTo>
                <a:lnTo>
                  <a:pt x="4908804" y="463010"/>
                </a:lnTo>
                <a:lnTo>
                  <a:pt x="4906533" y="427166"/>
                </a:lnTo>
                <a:lnTo>
                  <a:pt x="4888310" y="369302"/>
                </a:lnTo>
                <a:lnTo>
                  <a:pt x="4852231" y="330082"/>
                </a:lnTo>
                <a:lnTo>
                  <a:pt x="4800796" y="310366"/>
                </a:lnTo>
                <a:lnTo>
                  <a:pt x="4769453" y="307847"/>
                </a:lnTo>
                <a:lnTo>
                  <a:pt x="4974003" y="307847"/>
                </a:lnTo>
                <a:lnTo>
                  <a:pt x="4980564" y="315878"/>
                </a:lnTo>
                <a:lnTo>
                  <a:pt x="4999970" y="355687"/>
                </a:lnTo>
                <a:lnTo>
                  <a:pt x="5011607" y="402032"/>
                </a:lnTo>
                <a:lnTo>
                  <a:pt x="5015483" y="454913"/>
                </a:lnTo>
                <a:lnTo>
                  <a:pt x="5013961" y="494601"/>
                </a:lnTo>
                <a:lnTo>
                  <a:pt x="5009245" y="535209"/>
                </a:lnTo>
                <a:lnTo>
                  <a:pt x="5001419" y="574071"/>
                </a:lnTo>
                <a:lnTo>
                  <a:pt x="4990433" y="612076"/>
                </a:lnTo>
                <a:lnTo>
                  <a:pt x="4976573" y="648545"/>
                </a:lnTo>
                <a:lnTo>
                  <a:pt x="4941101" y="713982"/>
                </a:lnTo>
                <a:lnTo>
                  <a:pt x="4894896" y="770286"/>
                </a:lnTo>
                <a:lnTo>
                  <a:pt x="4883964" y="780287"/>
                </a:lnTo>
                <a:close/>
              </a:path>
              <a:path w="5741670" h="1073150">
                <a:moveTo>
                  <a:pt x="5297805" y="865631"/>
                </a:moveTo>
                <a:lnTo>
                  <a:pt x="5228034" y="855773"/>
                </a:lnTo>
                <a:lnTo>
                  <a:pt x="5175409" y="826198"/>
                </a:lnTo>
                <a:lnTo>
                  <a:pt x="5142357" y="777620"/>
                </a:lnTo>
                <a:lnTo>
                  <a:pt x="5131308" y="710755"/>
                </a:lnTo>
                <a:lnTo>
                  <a:pt x="5131343" y="708722"/>
                </a:lnTo>
                <a:lnTo>
                  <a:pt x="5135122" y="665729"/>
                </a:lnTo>
                <a:lnTo>
                  <a:pt x="5232368" y="239267"/>
                </a:lnTo>
                <a:lnTo>
                  <a:pt x="5334857" y="239267"/>
                </a:lnTo>
                <a:lnTo>
                  <a:pt x="5254275" y="586073"/>
                </a:lnTo>
                <a:lnTo>
                  <a:pt x="5251881" y="597035"/>
                </a:lnTo>
                <a:lnTo>
                  <a:pt x="5243146" y="647373"/>
                </a:lnTo>
                <a:lnTo>
                  <a:pt x="5240655" y="677417"/>
                </a:lnTo>
                <a:lnTo>
                  <a:pt x="5242137" y="699439"/>
                </a:lnTo>
                <a:lnTo>
                  <a:pt x="5264372" y="747807"/>
                </a:lnTo>
                <a:lnTo>
                  <a:pt x="5318633" y="769734"/>
                </a:lnTo>
                <a:lnTo>
                  <a:pt x="5345049" y="771143"/>
                </a:lnTo>
                <a:lnTo>
                  <a:pt x="5617603" y="771143"/>
                </a:lnTo>
                <a:lnTo>
                  <a:pt x="5615192" y="781526"/>
                </a:lnTo>
                <a:lnTo>
                  <a:pt x="5512689" y="781526"/>
                </a:lnTo>
                <a:lnTo>
                  <a:pt x="5484097" y="800281"/>
                </a:lnTo>
                <a:lnTo>
                  <a:pt x="5456479" y="816840"/>
                </a:lnTo>
                <a:lnTo>
                  <a:pt x="5404199" y="843438"/>
                </a:lnTo>
                <a:lnTo>
                  <a:pt x="5352431" y="860107"/>
                </a:lnTo>
                <a:lnTo>
                  <a:pt x="5325466" y="864253"/>
                </a:lnTo>
                <a:lnTo>
                  <a:pt x="5297805" y="865631"/>
                </a:lnTo>
                <a:close/>
              </a:path>
              <a:path w="5741670" h="1073150">
                <a:moveTo>
                  <a:pt x="5617603" y="771143"/>
                </a:moveTo>
                <a:lnTo>
                  <a:pt x="5345049" y="771143"/>
                </a:lnTo>
                <a:lnTo>
                  <a:pt x="5365910" y="769734"/>
                </a:lnTo>
                <a:lnTo>
                  <a:pt x="5388209" y="765369"/>
                </a:lnTo>
                <a:lnTo>
                  <a:pt x="5437155" y="747807"/>
                </a:lnTo>
                <a:lnTo>
                  <a:pt x="5487114" y="722637"/>
                </a:lnTo>
                <a:lnTo>
                  <a:pt x="5533072" y="693896"/>
                </a:lnTo>
                <a:lnTo>
                  <a:pt x="5638609" y="239267"/>
                </a:lnTo>
                <a:lnTo>
                  <a:pt x="5741098" y="239267"/>
                </a:lnTo>
                <a:lnTo>
                  <a:pt x="5617603" y="771143"/>
                </a:lnTo>
                <a:close/>
              </a:path>
              <a:path w="5741670" h="1073150">
                <a:moveTo>
                  <a:pt x="5599557" y="848867"/>
                </a:moveTo>
                <a:lnTo>
                  <a:pt x="5497067" y="848867"/>
                </a:lnTo>
                <a:lnTo>
                  <a:pt x="5512689" y="781526"/>
                </a:lnTo>
                <a:lnTo>
                  <a:pt x="5615192" y="781526"/>
                </a:lnTo>
                <a:lnTo>
                  <a:pt x="5599557" y="848867"/>
                </a:lnTo>
                <a:close/>
              </a:path>
            </a:pathLst>
          </a:custGeom>
          <a:solidFill>
            <a:srgbClr val="0070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341</Words>
  <Application>Microsoft Office PowerPoint</Application>
  <PresentationFormat>Custom</PresentationFormat>
  <Paragraphs>114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Verdana</vt:lpstr>
      <vt:lpstr>Wingdings</vt:lpstr>
      <vt:lpstr>Office Theme</vt:lpstr>
      <vt:lpstr>UEC3942: Introduction to Sensors and Actuators</vt:lpstr>
      <vt:lpstr>Learning Outcomes</vt:lpstr>
      <vt:lpstr>Introduction to Photosensors</vt:lpstr>
      <vt:lpstr>Measuring Light Flux</vt:lpstr>
      <vt:lpstr>Spectral Sensitivity</vt:lpstr>
      <vt:lpstr>Photoemissive Cells – Basics</vt:lpstr>
      <vt:lpstr>The Threshold Frequency</vt:lpstr>
      <vt:lpstr>Practical Limits of Photoemitters</vt:lpstr>
      <vt:lpstr>Photoemissive Circuitry</vt:lpstr>
      <vt:lpstr>Challenges in Photoemission Measurements</vt:lpstr>
      <vt:lpstr>The Impact of Light Composition</vt:lpstr>
      <vt:lpstr>Introduction to Photomultipliers</vt:lpstr>
      <vt:lpstr>The Dynode Chain</vt:lpstr>
      <vt:lpstr>Photomultiplier Operation</vt:lpstr>
      <vt:lpstr>Secondary emission characteristics</vt:lpstr>
      <vt:lpstr>Applications and Evolution</vt:lpstr>
      <vt:lpstr>Conclusion</vt:lpstr>
      <vt:lpstr>Test your understanding</vt:lpstr>
      <vt:lpstr>Textbook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Photosensors</dc:title>
  <dc:creator>Karthie Alias Ayyadurai</dc:creator>
  <cp:lastModifiedBy>Microsoft account</cp:lastModifiedBy>
  <cp:revision>2</cp:revision>
  <dcterms:created xsi:type="dcterms:W3CDTF">2026-07-01T10:13:46Z</dcterms:created>
  <dcterms:modified xsi:type="dcterms:W3CDTF">2026-07-01T10:38:43Z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2026-01-27T00:00:00Z</vt:filetime>
  </property>
  <property fmtid="{D5CDD505-2E9C-101B-9397-08002B2CF9AE}" pid="4" name="LastSaved">
    <vt:filetime>2026-07-01T00:00:00Z</vt:filetime>
  </property>
  <property fmtid="{D5CDD505-2E9C-101B-9397-08002B2CF9AE}" pid="5" name="Producer">
    <vt:lpwstr>Microsoft: Print To PDF</vt:lpwstr>
  </property>
</Properties>
</file>