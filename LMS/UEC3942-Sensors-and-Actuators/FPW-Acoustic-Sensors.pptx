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288"/>
            <a:ext cx="7319645" cy="237490"/>
          </a:xfrm>
          <a:custGeom>
            <a:avLst/>
            <a:gdLst/>
            <a:ahLst/>
            <a:cxnLst/>
            <a:rect l="l" t="t" r="r" b="b"/>
            <a:pathLst>
              <a:path w="7319645" h="237490">
                <a:moveTo>
                  <a:pt x="7181905" y="0"/>
                </a:moveTo>
                <a:lnTo>
                  <a:pt x="0" y="0"/>
                </a:lnTo>
                <a:lnTo>
                  <a:pt x="0" y="237309"/>
                </a:lnTo>
                <a:lnTo>
                  <a:pt x="7319308" y="237309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1136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7" y="0"/>
                </a:moveTo>
                <a:lnTo>
                  <a:pt x="0" y="0"/>
                </a:lnTo>
                <a:lnTo>
                  <a:pt x="0" y="216862"/>
                </a:lnTo>
                <a:lnTo>
                  <a:pt x="7398039" y="216862"/>
                </a:lnTo>
                <a:lnTo>
                  <a:pt x="7267827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4500"/>
            <a:ext cx="945515" cy="381635"/>
          </a:xfrm>
          <a:custGeom>
            <a:avLst/>
            <a:gdLst/>
            <a:ahLst/>
            <a:cxnLst/>
            <a:rect l="l" t="t" r="r" b="b"/>
            <a:pathLst>
              <a:path w="945515" h="381634">
                <a:moveTo>
                  <a:pt x="369366" y="93243"/>
                </a:moveTo>
                <a:lnTo>
                  <a:pt x="356209" y="46494"/>
                </a:lnTo>
                <a:lnTo>
                  <a:pt x="322122" y="18021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12"/>
                </a:lnTo>
                <a:lnTo>
                  <a:pt x="79819" y="43942"/>
                </a:lnTo>
                <a:lnTo>
                  <a:pt x="58635" y="77038"/>
                </a:lnTo>
                <a:lnTo>
                  <a:pt x="51473" y="118668"/>
                </a:lnTo>
                <a:lnTo>
                  <a:pt x="54978" y="142633"/>
                </a:lnTo>
                <a:lnTo>
                  <a:pt x="66548" y="164223"/>
                </a:lnTo>
                <a:lnTo>
                  <a:pt x="87769" y="184213"/>
                </a:lnTo>
                <a:lnTo>
                  <a:pt x="120230" y="203428"/>
                </a:lnTo>
                <a:lnTo>
                  <a:pt x="189001" y="237312"/>
                </a:lnTo>
                <a:lnTo>
                  <a:pt x="201599" y="243941"/>
                </a:lnTo>
                <a:lnTo>
                  <a:pt x="212598" y="252145"/>
                </a:lnTo>
                <a:lnTo>
                  <a:pt x="220370" y="263537"/>
                </a:lnTo>
                <a:lnTo>
                  <a:pt x="223316" y="279704"/>
                </a:lnTo>
                <a:lnTo>
                  <a:pt x="218821" y="296786"/>
                </a:lnTo>
                <a:lnTo>
                  <a:pt x="218744" y="297040"/>
                </a:lnTo>
                <a:lnTo>
                  <a:pt x="206133" y="310413"/>
                </a:lnTo>
                <a:lnTo>
                  <a:pt x="187071" y="319024"/>
                </a:lnTo>
                <a:lnTo>
                  <a:pt x="163195" y="322072"/>
                </a:lnTo>
                <a:lnTo>
                  <a:pt x="144272" y="317703"/>
                </a:lnTo>
                <a:lnTo>
                  <a:pt x="127787" y="306184"/>
                </a:lnTo>
                <a:lnTo>
                  <a:pt x="116128" y="289890"/>
                </a:lnTo>
                <a:lnTo>
                  <a:pt x="111721" y="271221"/>
                </a:lnTo>
                <a:lnTo>
                  <a:pt x="111721" y="262750"/>
                </a:lnTo>
                <a:lnTo>
                  <a:pt x="0" y="262750"/>
                </a:lnTo>
                <a:lnTo>
                  <a:pt x="0" y="279704"/>
                </a:lnTo>
                <a:lnTo>
                  <a:pt x="1727" y="303530"/>
                </a:lnTo>
                <a:lnTo>
                  <a:pt x="18072" y="341680"/>
                </a:lnTo>
                <a:lnTo>
                  <a:pt x="56883" y="367093"/>
                </a:lnTo>
                <a:lnTo>
                  <a:pt x="121323" y="379806"/>
                </a:lnTo>
                <a:lnTo>
                  <a:pt x="163195" y="381393"/>
                </a:lnTo>
                <a:lnTo>
                  <a:pt x="224853" y="375500"/>
                </a:lnTo>
                <a:lnTo>
                  <a:pt x="274955" y="358622"/>
                </a:lnTo>
                <a:lnTo>
                  <a:pt x="312254" y="331978"/>
                </a:lnTo>
                <a:lnTo>
                  <a:pt x="318795" y="322072"/>
                </a:lnTo>
                <a:lnTo>
                  <a:pt x="335534" y="296786"/>
                </a:lnTo>
                <a:lnTo>
                  <a:pt x="343560" y="254266"/>
                </a:lnTo>
                <a:lnTo>
                  <a:pt x="338874" y="230428"/>
                </a:lnTo>
                <a:lnTo>
                  <a:pt x="325348" y="209778"/>
                </a:lnTo>
                <a:lnTo>
                  <a:pt x="303771" y="192290"/>
                </a:lnTo>
                <a:lnTo>
                  <a:pt x="206159" y="144081"/>
                </a:lnTo>
                <a:lnTo>
                  <a:pt x="188556" y="136144"/>
                </a:lnTo>
                <a:lnTo>
                  <a:pt x="175006" y="125018"/>
                </a:lnTo>
                <a:lnTo>
                  <a:pt x="166281" y="110718"/>
                </a:lnTo>
                <a:lnTo>
                  <a:pt x="163195" y="93243"/>
                </a:lnTo>
                <a:lnTo>
                  <a:pt x="167627" y="80784"/>
                </a:lnTo>
                <a:lnTo>
                  <a:pt x="179324" y="69926"/>
                </a:lnTo>
                <a:lnTo>
                  <a:pt x="195846" y="62255"/>
                </a:lnTo>
                <a:lnTo>
                  <a:pt x="214795" y="59347"/>
                </a:lnTo>
                <a:lnTo>
                  <a:pt x="232346" y="62382"/>
                </a:lnTo>
                <a:lnTo>
                  <a:pt x="245910" y="70993"/>
                </a:lnTo>
                <a:lnTo>
                  <a:pt x="254660" y="84366"/>
                </a:lnTo>
                <a:lnTo>
                  <a:pt x="257759" y="101714"/>
                </a:lnTo>
                <a:lnTo>
                  <a:pt x="257759" y="110185"/>
                </a:lnTo>
                <a:lnTo>
                  <a:pt x="369366" y="110185"/>
                </a:lnTo>
                <a:lnTo>
                  <a:pt x="369366" y="93243"/>
                </a:lnTo>
                <a:close/>
              </a:path>
              <a:path w="945515" h="381634">
                <a:moveTo>
                  <a:pt x="609968" y="93243"/>
                </a:moveTo>
                <a:lnTo>
                  <a:pt x="595604" y="46494"/>
                </a:lnTo>
                <a:lnTo>
                  <a:pt x="559498" y="18021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31"/>
                </a:lnTo>
                <a:lnTo>
                  <a:pt x="352196" y="16954"/>
                </a:lnTo>
                <a:lnTo>
                  <a:pt x="364807" y="31267"/>
                </a:lnTo>
                <a:lnTo>
                  <a:pt x="375793" y="48742"/>
                </a:lnTo>
                <a:lnTo>
                  <a:pt x="383578" y="69405"/>
                </a:lnTo>
                <a:lnTo>
                  <a:pt x="386524" y="93243"/>
                </a:lnTo>
                <a:lnTo>
                  <a:pt x="386524" y="101714"/>
                </a:lnTo>
                <a:lnTo>
                  <a:pt x="378002" y="110185"/>
                </a:lnTo>
                <a:lnTo>
                  <a:pt x="378002" y="118668"/>
                </a:lnTo>
                <a:lnTo>
                  <a:pt x="283438" y="118668"/>
                </a:lnTo>
                <a:lnTo>
                  <a:pt x="288137" y="142633"/>
                </a:lnTo>
                <a:lnTo>
                  <a:pt x="301713" y="164223"/>
                </a:lnTo>
                <a:lnTo>
                  <a:pt x="323329" y="184213"/>
                </a:lnTo>
                <a:lnTo>
                  <a:pt x="352196" y="203428"/>
                </a:lnTo>
                <a:lnTo>
                  <a:pt x="420966" y="237312"/>
                </a:lnTo>
                <a:lnTo>
                  <a:pt x="433565" y="243941"/>
                </a:lnTo>
                <a:lnTo>
                  <a:pt x="444563" y="252145"/>
                </a:lnTo>
                <a:lnTo>
                  <a:pt x="452335" y="263537"/>
                </a:lnTo>
                <a:lnTo>
                  <a:pt x="455282" y="279704"/>
                </a:lnTo>
                <a:lnTo>
                  <a:pt x="452120" y="296786"/>
                </a:lnTo>
                <a:lnTo>
                  <a:pt x="452069" y="297040"/>
                </a:lnTo>
                <a:lnTo>
                  <a:pt x="442417" y="310413"/>
                </a:lnTo>
                <a:lnTo>
                  <a:pt x="426326" y="319024"/>
                </a:lnTo>
                <a:lnTo>
                  <a:pt x="403809" y="322072"/>
                </a:lnTo>
                <a:lnTo>
                  <a:pt x="381215" y="317703"/>
                </a:lnTo>
                <a:lnTo>
                  <a:pt x="365086" y="306184"/>
                </a:lnTo>
                <a:lnTo>
                  <a:pt x="355422" y="289890"/>
                </a:lnTo>
                <a:lnTo>
                  <a:pt x="352196" y="271221"/>
                </a:lnTo>
                <a:lnTo>
                  <a:pt x="352196" y="262750"/>
                </a:lnTo>
                <a:lnTo>
                  <a:pt x="347764" y="288036"/>
                </a:lnTo>
                <a:lnTo>
                  <a:pt x="336080" y="312534"/>
                </a:lnTo>
                <a:lnTo>
                  <a:pt x="319544" y="335445"/>
                </a:lnTo>
                <a:lnTo>
                  <a:pt x="300596" y="355981"/>
                </a:lnTo>
                <a:lnTo>
                  <a:pt x="292074" y="355981"/>
                </a:lnTo>
                <a:lnTo>
                  <a:pt x="283438" y="364439"/>
                </a:lnTo>
                <a:lnTo>
                  <a:pt x="305739" y="370674"/>
                </a:lnTo>
                <a:lnTo>
                  <a:pt x="332867" y="376097"/>
                </a:lnTo>
                <a:lnTo>
                  <a:pt x="363207" y="379945"/>
                </a:lnTo>
                <a:lnTo>
                  <a:pt x="395160" y="381393"/>
                </a:lnTo>
                <a:lnTo>
                  <a:pt x="456819" y="375500"/>
                </a:lnTo>
                <a:lnTo>
                  <a:pt x="506920" y="358622"/>
                </a:lnTo>
                <a:lnTo>
                  <a:pt x="544220" y="331978"/>
                </a:lnTo>
                <a:lnTo>
                  <a:pt x="550760" y="322072"/>
                </a:lnTo>
                <a:lnTo>
                  <a:pt x="567499" y="296786"/>
                </a:lnTo>
                <a:lnTo>
                  <a:pt x="575525" y="254266"/>
                </a:lnTo>
                <a:lnTo>
                  <a:pt x="572173" y="230428"/>
                </a:lnTo>
                <a:lnTo>
                  <a:pt x="561581" y="209778"/>
                </a:lnTo>
                <a:lnTo>
                  <a:pt x="542925" y="192290"/>
                </a:lnTo>
                <a:lnTo>
                  <a:pt x="515404" y="177990"/>
                </a:lnTo>
                <a:lnTo>
                  <a:pt x="446646" y="144081"/>
                </a:lnTo>
                <a:lnTo>
                  <a:pt x="429120" y="136144"/>
                </a:lnTo>
                <a:lnTo>
                  <a:pt x="415594" y="125018"/>
                </a:lnTo>
                <a:lnTo>
                  <a:pt x="406882" y="110718"/>
                </a:lnTo>
                <a:lnTo>
                  <a:pt x="403809" y="93243"/>
                </a:lnTo>
                <a:lnTo>
                  <a:pt x="406882" y="80784"/>
                </a:lnTo>
                <a:lnTo>
                  <a:pt x="415594" y="69926"/>
                </a:lnTo>
                <a:lnTo>
                  <a:pt x="429120" y="62255"/>
                </a:lnTo>
                <a:lnTo>
                  <a:pt x="446646" y="59347"/>
                </a:lnTo>
                <a:lnTo>
                  <a:pt x="469239" y="62382"/>
                </a:lnTo>
                <a:lnTo>
                  <a:pt x="485355" y="70993"/>
                </a:lnTo>
                <a:lnTo>
                  <a:pt x="495020" y="84366"/>
                </a:lnTo>
                <a:lnTo>
                  <a:pt x="498246" y="101714"/>
                </a:lnTo>
                <a:lnTo>
                  <a:pt x="489610" y="110185"/>
                </a:lnTo>
                <a:lnTo>
                  <a:pt x="609968" y="110185"/>
                </a:lnTo>
                <a:lnTo>
                  <a:pt x="609968" y="93243"/>
                </a:lnTo>
                <a:close/>
              </a:path>
              <a:path w="945515" h="381634">
                <a:moveTo>
                  <a:pt x="945019" y="93243"/>
                </a:moveTo>
                <a:lnTo>
                  <a:pt x="937361" y="53644"/>
                </a:lnTo>
                <a:lnTo>
                  <a:pt x="916025" y="24371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075"/>
                </a:lnTo>
                <a:lnTo>
                  <a:pt x="722287" y="42913"/>
                </a:lnTo>
                <a:lnTo>
                  <a:pt x="687247" y="76288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54"/>
                </a:lnTo>
                <a:lnTo>
                  <a:pt x="596773" y="31267"/>
                </a:lnTo>
                <a:lnTo>
                  <a:pt x="609917" y="48742"/>
                </a:lnTo>
                <a:lnTo>
                  <a:pt x="616623" y="69405"/>
                </a:lnTo>
                <a:lnTo>
                  <a:pt x="618490" y="93243"/>
                </a:lnTo>
                <a:lnTo>
                  <a:pt x="618490" y="118668"/>
                </a:lnTo>
                <a:lnTo>
                  <a:pt x="549846" y="118668"/>
                </a:lnTo>
                <a:lnTo>
                  <a:pt x="548360" y="131381"/>
                </a:lnTo>
                <a:lnTo>
                  <a:pt x="544449" y="144094"/>
                </a:lnTo>
                <a:lnTo>
                  <a:pt x="538911" y="156806"/>
                </a:lnTo>
                <a:lnTo>
                  <a:pt x="532561" y="169519"/>
                </a:lnTo>
                <a:lnTo>
                  <a:pt x="555155" y="188722"/>
                </a:lnTo>
                <a:lnTo>
                  <a:pt x="571284" y="208711"/>
                </a:lnTo>
                <a:lnTo>
                  <a:pt x="580948" y="230301"/>
                </a:lnTo>
                <a:lnTo>
                  <a:pt x="584161" y="254266"/>
                </a:lnTo>
                <a:lnTo>
                  <a:pt x="580948" y="284467"/>
                </a:lnTo>
                <a:lnTo>
                  <a:pt x="571284" y="311480"/>
                </a:lnTo>
                <a:lnTo>
                  <a:pt x="555155" y="335318"/>
                </a:lnTo>
                <a:lnTo>
                  <a:pt x="532561" y="355981"/>
                </a:lnTo>
                <a:lnTo>
                  <a:pt x="524040" y="364439"/>
                </a:lnTo>
                <a:lnTo>
                  <a:pt x="609968" y="364439"/>
                </a:lnTo>
                <a:lnTo>
                  <a:pt x="661454" y="177990"/>
                </a:lnTo>
                <a:lnTo>
                  <a:pt x="676338" y="140652"/>
                </a:lnTo>
                <a:lnTo>
                  <a:pt x="696874" y="108064"/>
                </a:lnTo>
                <a:lnTo>
                  <a:pt x="725474" y="85026"/>
                </a:lnTo>
                <a:lnTo>
                  <a:pt x="764527" y="76288"/>
                </a:lnTo>
                <a:lnTo>
                  <a:pt x="782129" y="78003"/>
                </a:lnTo>
                <a:lnTo>
                  <a:pt x="795693" y="83705"/>
                </a:lnTo>
                <a:lnTo>
                  <a:pt x="804405" y="94170"/>
                </a:lnTo>
                <a:lnTo>
                  <a:pt x="807491" y="110185"/>
                </a:lnTo>
                <a:lnTo>
                  <a:pt x="807364" y="118008"/>
                </a:lnTo>
                <a:lnTo>
                  <a:pt x="806526" y="127139"/>
                </a:lnTo>
                <a:lnTo>
                  <a:pt x="806424" y="128206"/>
                </a:lnTo>
                <a:lnTo>
                  <a:pt x="803897" y="139992"/>
                </a:lnTo>
                <a:lnTo>
                  <a:pt x="798969" y="152565"/>
                </a:lnTo>
                <a:lnTo>
                  <a:pt x="747369" y="322072"/>
                </a:lnTo>
                <a:lnTo>
                  <a:pt x="738733" y="347497"/>
                </a:lnTo>
                <a:lnTo>
                  <a:pt x="738733" y="364439"/>
                </a:lnTo>
                <a:lnTo>
                  <a:pt x="867613" y="364439"/>
                </a:lnTo>
                <a:lnTo>
                  <a:pt x="927735" y="161036"/>
                </a:lnTo>
                <a:lnTo>
                  <a:pt x="936371" y="127139"/>
                </a:lnTo>
                <a:lnTo>
                  <a:pt x="941374" y="119456"/>
                </a:lnTo>
                <a:lnTo>
                  <a:pt x="943940" y="110185"/>
                </a:lnTo>
                <a:lnTo>
                  <a:pt x="944880" y="100914"/>
                </a:lnTo>
                <a:lnTo>
                  <a:pt x="944994" y="94170"/>
                </a:lnTo>
                <a:lnTo>
                  <a:pt x="945019" y="93243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7667" y="281685"/>
            <a:ext cx="632866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289405"/>
            <a:ext cx="8455025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stry.plantautomation-technology.com/whitepapers/1485944904-acoustic-wave-technology-sensors.pdf" TargetMode="External"/><Relationship Id="rId2" Type="http://schemas.openxmlformats.org/officeDocument/2006/relationships/hyperlink" Target="https://pmc.ncbi.nlm.nih.gov/articles/PMC6833005/pdf/sensors-19-04395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24654"/>
            <a:ext cx="8641732" cy="10333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53134" y="2508631"/>
            <a:ext cx="6637020" cy="306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III:</a:t>
            </a:r>
            <a:r>
              <a:rPr sz="3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Flexural</a:t>
            </a:r>
            <a:r>
              <a:rPr sz="3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Plate</a:t>
            </a:r>
            <a:r>
              <a:rPr sz="3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Verdana"/>
                <a:cs typeface="Verdana"/>
              </a:rPr>
              <a:t>Wave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(FPW)</a:t>
            </a:r>
            <a:r>
              <a:rPr sz="3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3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200" dirty="0">
              <a:latin typeface="Verdana"/>
              <a:cs typeface="Verdana"/>
            </a:endParaRPr>
          </a:p>
          <a:p>
            <a:pPr marL="2103755" marR="2095500" algn="ctr">
              <a:lnSpc>
                <a:spcPct val="120000"/>
              </a:lnSpc>
              <a:spcBef>
                <a:spcPts val="2970"/>
              </a:spcBef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300" spc="-6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30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300" dirty="0">
              <a:latin typeface="Verdana"/>
              <a:cs typeface="Verdana"/>
            </a:endParaRPr>
          </a:p>
          <a:p>
            <a:pPr marL="895350" marR="883285" algn="ctr">
              <a:lnSpc>
                <a:spcPts val="3310"/>
              </a:lnSpc>
              <a:spcBef>
                <a:spcPts val="105"/>
              </a:spcBef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300" spc="-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300" spc="-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900" y="688848"/>
            <a:ext cx="8362950" cy="37253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IN" sz="2400" dirty="0">
                <a:solidFill>
                  <a:srgbClr val="FF0000"/>
                </a:solidFill>
              </a:rPr>
              <a:t>UEC3942:</a:t>
            </a:r>
            <a:r>
              <a:rPr lang="en-IN" sz="2400" spc="-75" dirty="0">
                <a:solidFill>
                  <a:srgbClr val="FF0000"/>
                </a:solidFill>
              </a:rPr>
              <a:t> </a:t>
            </a:r>
            <a:r>
              <a:rPr sz="2400" dirty="0" smtClean="0">
                <a:solidFill>
                  <a:srgbClr val="FF0000"/>
                </a:solidFill>
              </a:rPr>
              <a:t>Introduction</a:t>
            </a:r>
            <a:r>
              <a:rPr sz="2400" spc="-30" dirty="0" smtClean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Sensors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and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Actuators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8459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understand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working</a:t>
            </a:r>
            <a:r>
              <a:rPr sz="2000" spc="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principle,</a:t>
            </a:r>
            <a:r>
              <a:rPr sz="2000" spc="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types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surface </a:t>
            </a:r>
            <a:r>
              <a:rPr sz="2000" dirty="0">
                <a:latin typeface="Verdana"/>
                <a:cs typeface="Verdana"/>
              </a:rPr>
              <a:t>waves,</a:t>
            </a:r>
            <a:r>
              <a:rPr sz="2000" spc="46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advantages,</a:t>
            </a:r>
            <a:r>
              <a:rPr sz="2000" spc="459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fabrication,</a:t>
            </a:r>
            <a:r>
              <a:rPr sz="2000" spc="4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4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applications</a:t>
            </a:r>
            <a:r>
              <a:rPr sz="2000" spc="47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of </a:t>
            </a:r>
            <a:r>
              <a:rPr sz="2000" dirty="0">
                <a:latin typeface="Verdana"/>
                <a:cs typeface="Verdana"/>
              </a:rPr>
              <a:t>Flexural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Plate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(FPW)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acoustic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sensors.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73020" y="281685"/>
            <a:ext cx="5001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6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909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Expanding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our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acoustic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series,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Flexural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Plate</a:t>
            </a:r>
            <a:r>
              <a:rPr sz="2000" b="1" spc="28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Wave</a:t>
            </a:r>
            <a:r>
              <a:rPr sz="2000" b="1" spc="28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(FPW)</a:t>
            </a:r>
            <a:r>
              <a:rPr sz="2000" b="1" spc="29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sensor</a:t>
            </a:r>
            <a:r>
              <a:rPr sz="2000" b="1" spc="29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represents</a:t>
            </a:r>
            <a:r>
              <a:rPr sz="2000" spc="2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significant</a:t>
            </a:r>
            <a:r>
              <a:rPr sz="2000" spc="2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shift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design.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9882" y="2790142"/>
            <a:ext cx="281114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latin typeface="Verdana"/>
                <a:cs typeface="Verdana"/>
              </a:rPr>
              <a:t>or</a:t>
            </a:r>
            <a:r>
              <a:rPr sz="2000" spc="6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SAW,</a:t>
            </a:r>
            <a:r>
              <a:rPr sz="2000" spc="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6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use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751205" algn="l"/>
                <a:tab pos="1713230" algn="l"/>
              </a:tabLst>
            </a:pP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b="1" spc="-25" dirty="0">
                <a:solidFill>
                  <a:srgbClr val="006FC0"/>
                </a:solidFill>
                <a:latin typeface="Verdana"/>
                <a:cs typeface="Verdana"/>
              </a:rPr>
              <a:t>FPW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	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sensor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1080" y="2790142"/>
            <a:ext cx="293433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latin typeface="Verdana"/>
                <a:cs typeface="Verdana"/>
              </a:rPr>
              <a:t>thick</a:t>
            </a:r>
            <a:r>
              <a:rPr sz="2000" spc="1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140" dirty="0">
                <a:latin typeface="Verdana"/>
                <a:cs typeface="Verdana"/>
              </a:rPr>
              <a:t>  </a:t>
            </a:r>
            <a:r>
              <a:rPr sz="2000" spc="-20" dirty="0">
                <a:latin typeface="Verdana"/>
                <a:cs typeface="Verdana"/>
              </a:rPr>
              <a:t>semi-</a:t>
            </a:r>
            <a:r>
              <a:rPr sz="2000" spc="-10" dirty="0">
                <a:latin typeface="Verdana"/>
                <a:cs typeface="Verdana"/>
              </a:rPr>
              <a:t>infinite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92505" algn="l"/>
                <a:tab pos="1670685" algn="l"/>
              </a:tabLst>
            </a:pPr>
            <a:r>
              <a:rPr sz="2000" b="1" spc="-20" dirty="0">
                <a:solidFill>
                  <a:srgbClr val="006FC0"/>
                </a:solidFill>
                <a:latin typeface="Verdana"/>
                <a:cs typeface="Verdana"/>
              </a:rPr>
              <a:t>uses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	</a:t>
            </a:r>
            <a:r>
              <a:rPr sz="2000" b="1" spc="-25" dirty="0">
                <a:solidFill>
                  <a:srgbClr val="006FC0"/>
                </a:solidFill>
                <a:latin typeface="Verdana"/>
                <a:cs typeface="Verdana"/>
              </a:rPr>
              <a:t>an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	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ultrathin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790142"/>
            <a:ext cx="199453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Unlike</a:t>
            </a:r>
            <a:r>
              <a:rPr sz="2000" spc="10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QCM </a:t>
            </a:r>
            <a:r>
              <a:rPr sz="2000" spc="-10" dirty="0">
                <a:latin typeface="Verdana"/>
                <a:cs typeface="Verdana"/>
              </a:rPr>
              <a:t>substrates,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membrane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114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allows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1595" y="4313301"/>
            <a:ext cx="5930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even</a:t>
            </a:r>
            <a:r>
              <a:rPr sz="2000" spc="105" dirty="0"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higher</a:t>
            </a:r>
            <a:r>
              <a:rPr sz="2000" b="1" spc="114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sensitivity</a:t>
            </a:r>
            <a:r>
              <a:rPr sz="2000" b="1" spc="120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and</a:t>
            </a:r>
            <a:r>
              <a:rPr sz="2000" b="1" spc="125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unique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44" y="4770196"/>
            <a:ext cx="3583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interactions</a:t>
            </a:r>
            <a:r>
              <a:rPr sz="2000" b="1" spc="-5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with</a:t>
            </a:r>
            <a:r>
              <a:rPr sz="2000" b="1" spc="-3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liquids.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937510" y="281685"/>
            <a:ext cx="326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8459" cy="322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acoustic</a:t>
            </a:r>
            <a:r>
              <a:rPr sz="2000" spc="-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where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propagates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through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thin</a:t>
            </a:r>
            <a:r>
              <a:rPr sz="2000" spc="20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membrane</a:t>
            </a:r>
            <a:r>
              <a:rPr sz="2000" spc="204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(plate)</a:t>
            </a:r>
            <a:r>
              <a:rPr sz="2000" spc="2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thickness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less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acoustic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wavelength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(λ).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000" b="1" spc="4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Characteristic:</a:t>
            </a:r>
            <a:r>
              <a:rPr sz="2000" b="1" spc="4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4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"flexes"</a:t>
            </a:r>
            <a:r>
              <a:rPr sz="2000" spc="4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3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entire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thickness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membrane,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rather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just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surface.</a:t>
            </a:r>
            <a:endParaRPr sz="2000">
              <a:latin typeface="Verdana"/>
              <a:cs typeface="Verdana"/>
            </a:endParaRPr>
          </a:p>
          <a:p>
            <a:pPr marL="355600" marR="6350" indent="-343535" algn="just">
              <a:lnSpc>
                <a:spcPct val="15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000" b="1" spc="3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Often</a:t>
            </a:r>
            <a:r>
              <a:rPr sz="2000" spc="3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significantly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higher</a:t>
            </a:r>
            <a:r>
              <a:rPr sz="2000" spc="3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3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QCM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3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SAW </a:t>
            </a:r>
            <a:r>
              <a:rPr sz="2000" dirty="0">
                <a:latin typeface="Verdana"/>
                <a:cs typeface="Verdana"/>
              </a:rPr>
              <a:t>due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extremely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membrane.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43608" y="281685"/>
            <a:ext cx="6256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FPW</a:t>
            </a:r>
            <a:r>
              <a:rPr spc="-25" dirty="0"/>
              <a:t> </a:t>
            </a:r>
            <a:r>
              <a:rPr spc="-10" dirty="0"/>
              <a:t>Sensor?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66469" y="281685"/>
            <a:ext cx="6210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Geometry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6740" y="1465554"/>
            <a:ext cx="797179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3020" indent="-34353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810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Substrate:</a:t>
            </a:r>
            <a:r>
              <a:rPr sz="2000" b="1" spc="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Usually,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wafer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micromachined cavity.</a:t>
            </a:r>
            <a:endParaRPr sz="2000">
              <a:latin typeface="Verdana"/>
              <a:cs typeface="Verdana"/>
            </a:endParaRPr>
          </a:p>
          <a:p>
            <a:pPr marL="381000" indent="-3435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10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Membrane:</a:t>
            </a:r>
            <a:r>
              <a:rPr sz="20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Typically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made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Nitride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(Si</a:t>
            </a:r>
            <a:r>
              <a:rPr sz="1950" spc="-15" baseline="-21367" dirty="0">
                <a:latin typeface="Verdana"/>
                <a:cs typeface="Verdana"/>
              </a:rPr>
              <a:t>3</a:t>
            </a:r>
            <a:r>
              <a:rPr sz="2000" spc="-10" dirty="0">
                <a:latin typeface="Verdana"/>
                <a:cs typeface="Verdana"/>
              </a:rPr>
              <a:t>N</a:t>
            </a:r>
            <a:r>
              <a:rPr sz="1950" spc="-15" baseline="-21367" dirty="0">
                <a:latin typeface="Verdana"/>
                <a:cs typeface="Verdana"/>
              </a:rPr>
              <a:t>4</a:t>
            </a:r>
            <a:r>
              <a:rPr sz="2000" spc="-1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381000" marR="31115" algn="just">
              <a:lnSpc>
                <a:spcPct val="150000"/>
              </a:lnSpc>
            </a:pPr>
            <a:r>
              <a:rPr sz="2000" dirty="0">
                <a:latin typeface="Verdana"/>
                <a:cs typeface="Verdana"/>
              </a:rPr>
              <a:t>or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Carbide</a:t>
            </a:r>
            <a:r>
              <a:rPr sz="2000" spc="25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(SiC),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often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less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2-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micrometers thick.</a:t>
            </a:r>
            <a:endParaRPr sz="2000">
              <a:latin typeface="Verdana"/>
              <a:cs typeface="Verdana"/>
            </a:endParaRPr>
          </a:p>
          <a:p>
            <a:pPr marL="381000" marR="30480" indent="-343535" algn="just">
              <a:lnSpc>
                <a:spcPct val="150000"/>
              </a:lnSpc>
              <a:buFont typeface="Wingdings"/>
              <a:buChar char=""/>
              <a:tabLst>
                <a:tab pos="3810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Transduction:</a:t>
            </a:r>
            <a:r>
              <a:rPr sz="20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Piezoelectric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layer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(like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Zinc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Oxide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AlN) </a:t>
            </a:r>
            <a:r>
              <a:rPr sz="2000" dirty="0">
                <a:latin typeface="Verdana"/>
                <a:cs typeface="Verdana"/>
              </a:rPr>
              <a:t>deposited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membrane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Interdigital</a:t>
            </a:r>
            <a:r>
              <a:rPr sz="2000" spc="25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Transducers (IDTs).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74570" y="281685"/>
            <a:ext cx="4592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5440" y="1311249"/>
            <a:ext cx="845439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1910" indent="-342900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937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2000" b="1" spc="-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Generation:</a:t>
            </a:r>
            <a:r>
              <a:rPr sz="20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Similar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SAW,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voltage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input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IDT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wave.</a:t>
            </a:r>
            <a:endParaRPr sz="2000">
              <a:latin typeface="Verdana"/>
              <a:cs typeface="Verdana"/>
            </a:endParaRPr>
          </a:p>
          <a:p>
            <a:pPr marL="393700" marR="41910" indent="-342900">
              <a:lnSpc>
                <a:spcPct val="150000"/>
              </a:lnSpc>
              <a:buFont typeface="Wingdings"/>
              <a:buChar char=""/>
              <a:tabLst>
                <a:tab pos="3937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"Flex":</a:t>
            </a:r>
            <a:r>
              <a:rPr sz="2000" b="1" spc="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travels</a:t>
            </a:r>
            <a:r>
              <a:rPr sz="2000" spc="-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  "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Lamb</a:t>
            </a:r>
            <a:r>
              <a:rPr sz="2000" spc="10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dirty="0">
                <a:solidFill>
                  <a:srgbClr val="006FC0"/>
                </a:solidFill>
                <a:latin typeface="Verdana"/>
                <a:cs typeface="Verdana"/>
              </a:rPr>
              <a:t>wave</a:t>
            </a:r>
            <a:r>
              <a:rPr sz="2000" dirty="0">
                <a:latin typeface="Verdana"/>
                <a:cs typeface="Verdana"/>
              </a:rPr>
              <a:t>"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20" dirty="0">
                <a:latin typeface="Verdana"/>
                <a:cs typeface="Verdana"/>
              </a:rPr>
              <a:t>lowest-</a:t>
            </a:r>
            <a:r>
              <a:rPr sz="2000" dirty="0">
                <a:latin typeface="Verdana"/>
                <a:cs typeface="Verdana"/>
              </a:rPr>
              <a:t>order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antisymmetric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 </a:t>
            </a:r>
            <a:r>
              <a:rPr sz="2000" spc="-10" dirty="0">
                <a:latin typeface="Verdana"/>
                <a:cs typeface="Verdana"/>
              </a:rPr>
              <a:t>(</a:t>
            </a:r>
            <a:r>
              <a:rPr sz="2000" i="1" spc="-10" dirty="0">
                <a:latin typeface="Verdana"/>
                <a:cs typeface="Verdana"/>
              </a:rPr>
              <a:t>A</a:t>
            </a:r>
            <a:r>
              <a:rPr sz="1950" spc="-15" baseline="-21367" dirty="0">
                <a:latin typeface="Verdana"/>
                <a:cs typeface="Verdana"/>
              </a:rPr>
              <a:t>0</a:t>
            </a:r>
            <a:r>
              <a:rPr sz="2000" spc="-10" dirty="0">
                <a:latin typeface="Verdana"/>
                <a:cs typeface="Verdana"/>
              </a:rPr>
              <a:t>).</a:t>
            </a:r>
            <a:endParaRPr sz="2000">
              <a:latin typeface="Verdana"/>
              <a:cs typeface="Verdana"/>
            </a:endParaRPr>
          </a:p>
          <a:p>
            <a:pPr marL="3930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930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Phase</a:t>
            </a:r>
            <a:r>
              <a:rPr sz="2000" b="1" spc="-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Velocity:</a:t>
            </a:r>
            <a:r>
              <a:rPr sz="2000" b="1" spc="-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speed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much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lower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93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speed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sound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liquids,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critical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advantage.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4519676"/>
            <a:ext cx="2258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r>
              <a:rPr sz="20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𝜈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03322" y="4416932"/>
            <a:ext cx="354330" cy="567690"/>
          </a:xfrm>
          <a:custGeom>
            <a:avLst/>
            <a:gdLst/>
            <a:ahLst/>
            <a:cxnLst/>
            <a:rect l="l" t="t" r="r" b="b"/>
            <a:pathLst>
              <a:path w="354330" h="567689">
                <a:moveTo>
                  <a:pt x="353822" y="288290"/>
                </a:moveTo>
                <a:lnTo>
                  <a:pt x="186182" y="288290"/>
                </a:lnTo>
                <a:lnTo>
                  <a:pt x="186182" y="305054"/>
                </a:lnTo>
                <a:lnTo>
                  <a:pt x="353822" y="305054"/>
                </a:lnTo>
                <a:lnTo>
                  <a:pt x="353822" y="288290"/>
                </a:lnTo>
                <a:close/>
              </a:path>
              <a:path w="354330" h="567689">
                <a:moveTo>
                  <a:pt x="353822" y="254"/>
                </a:moveTo>
                <a:lnTo>
                  <a:pt x="195961" y="254"/>
                </a:lnTo>
                <a:lnTo>
                  <a:pt x="195961" y="0"/>
                </a:lnTo>
                <a:lnTo>
                  <a:pt x="157226" y="0"/>
                </a:lnTo>
                <a:lnTo>
                  <a:pt x="105537" y="522605"/>
                </a:lnTo>
                <a:lnTo>
                  <a:pt x="43180" y="407162"/>
                </a:lnTo>
                <a:lnTo>
                  <a:pt x="0" y="429895"/>
                </a:lnTo>
                <a:lnTo>
                  <a:pt x="4826" y="438658"/>
                </a:lnTo>
                <a:lnTo>
                  <a:pt x="27559" y="426720"/>
                </a:lnTo>
                <a:lnTo>
                  <a:pt x="104267" y="567690"/>
                </a:lnTo>
                <a:lnTo>
                  <a:pt x="115824" y="567690"/>
                </a:lnTo>
                <a:lnTo>
                  <a:pt x="171196" y="16510"/>
                </a:lnTo>
                <a:lnTo>
                  <a:pt x="186182" y="16510"/>
                </a:lnTo>
                <a:lnTo>
                  <a:pt x="186182" y="17018"/>
                </a:lnTo>
                <a:lnTo>
                  <a:pt x="353822" y="17018"/>
                </a:lnTo>
                <a:lnTo>
                  <a:pt x="353822" y="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77439" y="4384649"/>
            <a:ext cx="189230" cy="5803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540"/>
              </a:spcBef>
            </a:pPr>
            <a:r>
              <a:rPr sz="1450" spc="-50" dirty="0">
                <a:latin typeface="Cambria Math"/>
                <a:cs typeface="Cambria Math"/>
              </a:rPr>
              <a:t>𝐵</a:t>
            </a:r>
            <a:endParaRPr sz="14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50" spc="-50" dirty="0">
                <a:latin typeface="Cambria Math"/>
                <a:cs typeface="Cambria Math"/>
              </a:rPr>
              <a:t>𝑀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6142" y="4519676"/>
            <a:ext cx="5586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where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B</a:t>
            </a:r>
            <a:r>
              <a:rPr sz="2000" i="1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bending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stiffness</a:t>
            </a:r>
            <a:r>
              <a:rPr sz="2000" spc="2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M</a:t>
            </a:r>
            <a:r>
              <a:rPr sz="2000" i="1" spc="30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440" y="5138673"/>
            <a:ext cx="3020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area.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89429" y="281685"/>
            <a:ext cx="4569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Schematic</a:t>
            </a:r>
            <a:r>
              <a:rPr spc="-25" dirty="0"/>
              <a:t> </a:t>
            </a:r>
            <a:r>
              <a:rPr spc="-10" dirty="0"/>
              <a:t>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6394" y="5589523"/>
            <a:ext cx="4365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Flexural</a:t>
            </a:r>
            <a:r>
              <a:rPr sz="14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Plate</a:t>
            </a:r>
            <a:r>
              <a:rPr sz="14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Wave</a:t>
            </a:r>
            <a:r>
              <a:rPr sz="14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(FPW)</a:t>
            </a:r>
            <a:r>
              <a:rPr sz="14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sz="14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Sensor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6152" y="1267967"/>
            <a:ext cx="4017263" cy="39014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68" y="2517648"/>
            <a:ext cx="4623816" cy="1744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83742" y="281685"/>
            <a:ext cx="7573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6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Liquid</a:t>
            </a:r>
            <a:r>
              <a:rPr spc="-70" dirty="0"/>
              <a:t> </a:t>
            </a:r>
            <a:r>
              <a:rPr spc="-10" dirty="0"/>
              <a:t>Sensing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74120"/>
            <a:ext cx="8074025" cy="4142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5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 Liquid Problem: </a:t>
            </a:r>
            <a:r>
              <a:rPr sz="2000" dirty="0">
                <a:latin typeface="Verdana"/>
                <a:cs typeface="Verdana"/>
              </a:rPr>
              <a:t>Most acoustic sensors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(like </a:t>
            </a:r>
            <a:r>
              <a:rPr sz="2000" spc="-10" dirty="0">
                <a:latin typeface="Verdana"/>
                <a:cs typeface="Verdana"/>
              </a:rPr>
              <a:t>Rayleigh-</a:t>
            </a:r>
            <a:r>
              <a:rPr sz="2000" dirty="0">
                <a:latin typeface="Verdana"/>
                <a:cs typeface="Verdana"/>
              </a:rPr>
              <a:t>SAW)</a:t>
            </a:r>
            <a:r>
              <a:rPr sz="2000" spc="2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lose</a:t>
            </a:r>
            <a:r>
              <a:rPr sz="2000" spc="2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energy</a:t>
            </a:r>
            <a:r>
              <a:rPr sz="2000" spc="2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(attenuation)</a:t>
            </a:r>
            <a:r>
              <a:rPr sz="2000" spc="2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229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touching</a:t>
            </a:r>
            <a:r>
              <a:rPr sz="2000" spc="229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liquid </a:t>
            </a:r>
            <a:r>
              <a:rPr sz="2000" dirty="0">
                <a:latin typeface="Verdana"/>
                <a:cs typeface="Verdana"/>
              </a:rPr>
              <a:t>because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"leaks"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fluid.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FPW</a:t>
            </a:r>
            <a:r>
              <a:rPr sz="20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Solution:</a:t>
            </a:r>
            <a:r>
              <a:rPr sz="2000"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Because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phase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velocity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FPW</a:t>
            </a:r>
            <a:endParaRPr sz="2000">
              <a:latin typeface="Verdana"/>
              <a:cs typeface="Verdana"/>
            </a:endParaRPr>
          </a:p>
          <a:p>
            <a:pPr marL="355600" marR="5080" algn="just">
              <a:lnSpc>
                <a:spcPct val="150000"/>
              </a:lnSpc>
            </a:pP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typically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lower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speed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sound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water </a:t>
            </a:r>
            <a:r>
              <a:rPr sz="2000" dirty="0">
                <a:latin typeface="Verdana"/>
                <a:cs typeface="Verdana"/>
              </a:rPr>
              <a:t>(&lt;1500</a:t>
            </a:r>
            <a:r>
              <a:rPr sz="2000" spc="3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m/s),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3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does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3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radiate</a:t>
            </a:r>
            <a:r>
              <a:rPr sz="2000" spc="3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energy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liquid.</a:t>
            </a:r>
            <a:endParaRPr sz="2000">
              <a:latin typeface="Verdana"/>
              <a:cs typeface="Verdana"/>
            </a:endParaRPr>
          </a:p>
          <a:p>
            <a:pPr marL="355600" marR="6985" indent="-342900" algn="just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Result:</a:t>
            </a:r>
            <a:r>
              <a:rPr sz="2000" b="1" spc="2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Excellent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performance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biosensing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chemical </a:t>
            </a:r>
            <a:r>
              <a:rPr sz="2000" dirty="0">
                <a:latin typeface="Verdana"/>
                <a:cs typeface="Verdana"/>
              </a:rPr>
              <a:t>analysis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aqueous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environments.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96236" y="281685"/>
            <a:ext cx="5351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Sensing</a:t>
            </a:r>
            <a:r>
              <a:rPr spc="-60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426286"/>
            <a:ext cx="25781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1330960" algn="l"/>
              </a:tabLst>
            </a:pP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Mass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Loading: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5954" y="1426286"/>
            <a:ext cx="5109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34135" algn="l"/>
                <a:tab pos="2534920" algn="l"/>
                <a:tab pos="3050540" algn="l"/>
                <a:tab pos="3722370" algn="l"/>
              </a:tabLst>
            </a:pPr>
            <a:r>
              <a:rPr sz="2000" spc="-10" dirty="0">
                <a:latin typeface="Verdana"/>
                <a:cs typeface="Verdana"/>
              </a:rPr>
              <a:t>Particles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binding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to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membrane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1732254"/>
            <a:ext cx="7923530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890">
              <a:lnSpc>
                <a:spcPct val="150000"/>
              </a:lnSpc>
              <a:spcBef>
                <a:spcPts val="100"/>
              </a:spcBef>
              <a:tabLst>
                <a:tab pos="1682750" algn="l"/>
                <a:tab pos="2366010" algn="l"/>
                <a:tab pos="3298825" algn="l"/>
                <a:tab pos="3987800" algn="l"/>
                <a:tab pos="4748530" algn="l"/>
                <a:tab pos="5583555" algn="l"/>
                <a:tab pos="6393180" algn="l"/>
              </a:tabLst>
            </a:pPr>
            <a:r>
              <a:rPr sz="2000" spc="-10" dirty="0">
                <a:latin typeface="Verdana"/>
                <a:cs typeface="Verdana"/>
              </a:rPr>
              <a:t>increase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mass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per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unit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area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(</a:t>
            </a:r>
            <a:r>
              <a:rPr sz="2000" i="1" spc="-20" dirty="0">
                <a:latin typeface="Verdana"/>
                <a:cs typeface="Verdana"/>
              </a:rPr>
              <a:t>M</a:t>
            </a:r>
            <a:r>
              <a:rPr sz="2000" spc="-20" dirty="0">
                <a:latin typeface="Verdana"/>
                <a:cs typeface="Verdana"/>
              </a:rPr>
              <a:t>),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significantly </a:t>
            </a:r>
            <a:r>
              <a:rPr sz="2000" dirty="0">
                <a:latin typeface="Verdana"/>
                <a:cs typeface="Verdana"/>
              </a:rPr>
              <a:t>decreasing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velocity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frequency.</a:t>
            </a:r>
            <a:endParaRPr sz="2000">
              <a:latin typeface="Verdana"/>
              <a:cs typeface="Verdana"/>
            </a:endParaRPr>
          </a:p>
          <a:p>
            <a:pPr marL="355600" marR="8890" indent="-342900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Viscosity:</a:t>
            </a:r>
            <a:r>
              <a:rPr sz="2000" b="1" spc="-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liquid's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thickness/drag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affect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wave's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damping.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36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Internal</a:t>
            </a:r>
            <a:r>
              <a:rPr sz="2000" b="1" spc="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Stress:</a:t>
            </a:r>
            <a:r>
              <a:rPr sz="2000" b="1" spc="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membrane's</a:t>
            </a:r>
            <a:r>
              <a:rPr sz="2000" spc="3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tension </a:t>
            </a:r>
            <a:r>
              <a:rPr sz="2000" dirty="0">
                <a:latin typeface="Verdana"/>
                <a:cs typeface="Verdana"/>
              </a:rPr>
              <a:t>(e.g.,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thermal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expansion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thin-</a:t>
            </a:r>
            <a:r>
              <a:rPr sz="2000" dirty="0">
                <a:latin typeface="Verdana"/>
                <a:cs typeface="Verdana"/>
              </a:rPr>
              <a:t>film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stress)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885"/>
              </a:spcBef>
            </a:pPr>
            <a:r>
              <a:rPr sz="2000" spc="-10" dirty="0">
                <a:latin typeface="Verdana"/>
                <a:cs typeface="Verdana"/>
              </a:rPr>
              <a:t>frequency.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0141" y="296925"/>
            <a:ext cx="850328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Comparison:</a:t>
            </a:r>
            <a:r>
              <a:rPr sz="3400" spc="-90" dirty="0"/>
              <a:t> </a:t>
            </a:r>
            <a:r>
              <a:rPr sz="3400" dirty="0"/>
              <a:t>FPW</a:t>
            </a:r>
            <a:r>
              <a:rPr sz="3400" spc="-110" dirty="0"/>
              <a:t> </a:t>
            </a:r>
            <a:r>
              <a:rPr sz="3400" dirty="0"/>
              <a:t>vs.</a:t>
            </a:r>
            <a:r>
              <a:rPr sz="3400" spc="-114" dirty="0"/>
              <a:t> </a:t>
            </a:r>
            <a:r>
              <a:rPr sz="3400" dirty="0"/>
              <a:t>SAW</a:t>
            </a:r>
            <a:r>
              <a:rPr sz="3400" spc="-105" dirty="0"/>
              <a:t> </a:t>
            </a:r>
            <a:r>
              <a:rPr sz="3400" dirty="0"/>
              <a:t>vs.</a:t>
            </a:r>
            <a:r>
              <a:rPr sz="3400" spc="-114" dirty="0"/>
              <a:t> </a:t>
            </a:r>
            <a:r>
              <a:rPr sz="3400" spc="-25" dirty="0"/>
              <a:t>QCM</a:t>
            </a:r>
            <a:endParaRPr sz="34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39750" y="2129819"/>
          <a:ext cx="7818755" cy="274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195"/>
                <a:gridCol w="2072005"/>
                <a:gridCol w="1952625"/>
                <a:gridCol w="1904365"/>
              </a:tblGrid>
              <a:tr h="382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u="sng" spc="-10" dirty="0">
                          <a:solidFill>
                            <a:srgbClr val="006FC0"/>
                          </a:solidFill>
                          <a:uFill>
                            <a:solidFill>
                              <a:srgbClr val="006FC0"/>
                            </a:solidFill>
                          </a:uFill>
                          <a:latin typeface="Verdana"/>
                          <a:cs typeface="Verdana"/>
                        </a:rPr>
                        <a:t>Feature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u="sng" spc="-25" dirty="0">
                          <a:solidFill>
                            <a:srgbClr val="006FC0"/>
                          </a:solidFill>
                          <a:uFill>
                            <a:solidFill>
                              <a:srgbClr val="006FC0"/>
                            </a:solidFill>
                          </a:uFill>
                          <a:latin typeface="Verdana"/>
                          <a:cs typeface="Verdana"/>
                        </a:rPr>
                        <a:t>QCM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u="sng" spc="-25" dirty="0">
                          <a:solidFill>
                            <a:srgbClr val="006FC0"/>
                          </a:solidFill>
                          <a:uFill>
                            <a:solidFill>
                              <a:srgbClr val="006FC0"/>
                            </a:solidFill>
                          </a:uFill>
                          <a:latin typeface="Verdana"/>
                          <a:cs typeface="Verdana"/>
                        </a:rPr>
                        <a:t>SAW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b="1" u="sng" spc="-25" dirty="0">
                          <a:solidFill>
                            <a:srgbClr val="006FC0"/>
                          </a:solidFill>
                          <a:uFill>
                            <a:solidFill>
                              <a:srgbClr val="006FC0"/>
                            </a:solidFill>
                          </a:uFill>
                          <a:latin typeface="Verdana"/>
                          <a:cs typeface="Verdana"/>
                        </a:rPr>
                        <a:t>FPW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1905" marB="0"/>
                </a:tc>
              </a:tr>
              <a:tr h="7613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Substrate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27965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Bulk</a:t>
                      </a:r>
                      <a:r>
                        <a:rPr sz="20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Crystal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27965" marB="0"/>
                </a:tc>
                <a:tc>
                  <a:txBody>
                    <a:bodyPr/>
                    <a:lstStyle/>
                    <a:p>
                      <a:pPr marL="260985" marR="4470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Thick Substrate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67030" marR="2413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2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Thin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Membrane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</a:tr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Frequency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5-</a:t>
                      </a:r>
                      <a:r>
                        <a:rPr sz="20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30 </a:t>
                      </a:r>
                      <a:r>
                        <a:rPr sz="20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MHz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100+</a:t>
                      </a:r>
                      <a:r>
                        <a:rPr sz="2000" spc="-1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MHz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2-</a:t>
                      </a:r>
                      <a:r>
                        <a:rPr sz="20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20 </a:t>
                      </a:r>
                      <a:r>
                        <a:rPr sz="20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MHz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</a:tr>
              <a:tr h="762000">
                <a:tc>
                  <a:txBody>
                    <a:bodyPr/>
                    <a:lstStyle/>
                    <a:p>
                      <a:pPr marL="31750" marR="35496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Liquid Operation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Good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27965" marB="0"/>
                </a:tc>
                <a:tc>
                  <a:txBody>
                    <a:bodyPr/>
                    <a:lstStyle/>
                    <a:p>
                      <a:pPr marL="260985" marR="36766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Poor </a:t>
                      </a: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(Rayleigh)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Excellent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27965" marB="0"/>
                </a:tc>
              </a:tr>
              <a:tr h="382905">
                <a:tc>
                  <a:txBody>
                    <a:bodyPr/>
                    <a:lstStyle/>
                    <a:p>
                      <a:pPr marL="31750">
                        <a:lnSpc>
                          <a:spcPts val="232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Sensitivity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ts val="232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Moderate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ts val="2320"/>
                        </a:lnSpc>
                        <a:spcBef>
                          <a:spcPts val="595"/>
                        </a:spcBef>
                      </a:pPr>
                      <a:r>
                        <a:rPr sz="20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High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ts val="2320"/>
                        </a:lnSpc>
                        <a:spcBef>
                          <a:spcPts val="595"/>
                        </a:spcBef>
                      </a:pPr>
                      <a:r>
                        <a:rPr sz="2000" b="1" spc="-2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Ultra-High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66622" y="281685"/>
            <a:ext cx="7206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Fabrication</a:t>
            </a:r>
            <a:r>
              <a:rPr spc="-150" dirty="0"/>
              <a:t> </a:t>
            </a:r>
            <a:r>
              <a:rPr dirty="0"/>
              <a:t>(MEMS</a:t>
            </a:r>
            <a:r>
              <a:rPr spc="-110" dirty="0"/>
              <a:t> </a:t>
            </a:r>
            <a:r>
              <a:rPr spc="-10" dirty="0"/>
              <a:t>Process)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9405"/>
            <a:ext cx="845629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Bulk</a:t>
            </a:r>
            <a:r>
              <a:rPr sz="20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Micromachining:</a:t>
            </a:r>
            <a:r>
              <a:rPr sz="20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anisotropic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etching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(like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KOH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dirty="0">
                <a:latin typeface="Verdana"/>
                <a:cs typeface="Verdana"/>
              </a:rPr>
              <a:t>Bosch</a:t>
            </a:r>
            <a:r>
              <a:rPr sz="2000" spc="1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process)</a:t>
            </a:r>
            <a:r>
              <a:rPr sz="2000" spc="1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0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10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0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"well"</a:t>
            </a:r>
            <a:r>
              <a:rPr sz="2000" spc="1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1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cavity</a:t>
            </a:r>
            <a:r>
              <a:rPr sz="2000" spc="114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under</a:t>
            </a:r>
            <a:r>
              <a:rPr sz="2000" spc="114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membrane.</a:t>
            </a:r>
            <a:endParaRPr sz="2000">
              <a:latin typeface="Verdana"/>
              <a:cs typeface="Verdana"/>
            </a:endParaRPr>
          </a:p>
          <a:p>
            <a:pPr marL="355600" marR="7620" indent="-342900" algn="just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Thin</a:t>
            </a:r>
            <a:r>
              <a:rPr sz="20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Film</a:t>
            </a:r>
            <a:r>
              <a:rPr sz="20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Deposition:</a:t>
            </a:r>
            <a:r>
              <a:rPr sz="20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Sputtering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piezoelectric</a:t>
            </a:r>
            <a:r>
              <a:rPr sz="2000" spc="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layer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gold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electrodes.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Scalability:</a:t>
            </a:r>
            <a:r>
              <a:rPr sz="2000" b="1" spc="3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Since</a:t>
            </a:r>
            <a:r>
              <a:rPr sz="2000" spc="3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3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uses</a:t>
            </a:r>
            <a:r>
              <a:rPr sz="2000" spc="3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standard</a:t>
            </a:r>
            <a:r>
              <a:rPr sz="2000" spc="3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37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processing,</a:t>
            </a:r>
            <a:endParaRPr sz="2000">
              <a:latin typeface="Verdana"/>
              <a:cs typeface="Verdana"/>
            </a:endParaRPr>
          </a:p>
          <a:p>
            <a:pPr marL="355600" marR="7620" algn="just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thousands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sensors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made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single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wafer,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lowering costs.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26970" y="281685"/>
            <a:ext cx="4291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Biosensors: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pc="-25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detection</a:t>
            </a:r>
            <a:r>
              <a:rPr spc="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bacteria,</a:t>
            </a:r>
            <a:r>
              <a:rPr spc="-15" dirty="0"/>
              <a:t> </a:t>
            </a:r>
            <a:r>
              <a:rPr dirty="0"/>
              <a:t>viruses,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cells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blood</a:t>
            </a:r>
            <a:r>
              <a:rPr spc="-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spc="-10" dirty="0"/>
              <a:t>buffer.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Chemical</a:t>
            </a:r>
            <a:r>
              <a:rPr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Sensing:</a:t>
            </a:r>
            <a:r>
              <a:rPr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Detecting</a:t>
            </a:r>
            <a:r>
              <a:rPr spc="165" dirty="0"/>
              <a:t> </a:t>
            </a:r>
            <a:r>
              <a:rPr dirty="0"/>
              <a:t>low</a:t>
            </a:r>
            <a:r>
              <a:rPr spc="170" dirty="0"/>
              <a:t> </a:t>
            </a:r>
            <a:r>
              <a:rPr dirty="0"/>
              <a:t>concentrations</a:t>
            </a:r>
            <a:r>
              <a:rPr spc="185" dirty="0"/>
              <a:t> </a:t>
            </a:r>
            <a:r>
              <a:rPr dirty="0"/>
              <a:t>of</a:t>
            </a:r>
            <a:r>
              <a:rPr spc="175" dirty="0"/>
              <a:t> </a:t>
            </a:r>
            <a:r>
              <a:rPr dirty="0"/>
              <a:t>gases</a:t>
            </a:r>
            <a:r>
              <a:rPr spc="170" dirty="0"/>
              <a:t> </a:t>
            </a:r>
            <a:r>
              <a:rPr spc="-25" dirty="0"/>
              <a:t>or</a:t>
            </a: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/>
              <a:t>vapors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environment.</a:t>
            </a: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Microfluidics:</a:t>
            </a:r>
            <a:r>
              <a:rPr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Integrated</a:t>
            </a:r>
            <a:r>
              <a:rPr spc="85" dirty="0"/>
              <a:t> </a:t>
            </a:r>
            <a:r>
              <a:rPr spc="-10" dirty="0"/>
              <a:t>"Lab-</a:t>
            </a:r>
            <a:r>
              <a:rPr spc="-25" dirty="0"/>
              <a:t>on-</a:t>
            </a:r>
            <a:r>
              <a:rPr spc="-10" dirty="0"/>
              <a:t>a-</a:t>
            </a:r>
            <a:r>
              <a:rPr dirty="0"/>
              <a:t>Chip"</a:t>
            </a:r>
            <a:r>
              <a:rPr spc="85" dirty="0"/>
              <a:t> </a:t>
            </a:r>
            <a:r>
              <a:rPr dirty="0"/>
              <a:t>systems</a:t>
            </a:r>
            <a:r>
              <a:rPr spc="85" dirty="0"/>
              <a:t> </a:t>
            </a:r>
            <a:r>
              <a:rPr dirty="0"/>
              <a:t>where</a:t>
            </a:r>
            <a:r>
              <a:rPr spc="80" dirty="0"/>
              <a:t> </a:t>
            </a:r>
            <a:r>
              <a:rPr spc="-25" dirty="0"/>
              <a:t>the </a:t>
            </a:r>
            <a:r>
              <a:rPr dirty="0"/>
              <a:t>sensor</a:t>
            </a:r>
            <a:r>
              <a:rPr spc="-55" dirty="0"/>
              <a:t> </a:t>
            </a:r>
            <a:r>
              <a:rPr dirty="0"/>
              <a:t>also acts</a:t>
            </a:r>
            <a:r>
              <a:rPr spc="-3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micro-</a:t>
            </a:r>
            <a:r>
              <a:rPr dirty="0"/>
              <a:t>pump</a:t>
            </a:r>
            <a:r>
              <a:rPr spc="-10" dirty="0"/>
              <a:t> </a:t>
            </a:r>
            <a:r>
              <a:rPr dirty="0"/>
              <a:t>(acoustic</a:t>
            </a:r>
            <a:r>
              <a:rPr spc="-30" dirty="0"/>
              <a:t> </a:t>
            </a:r>
            <a:r>
              <a:rPr spc="-10" dirty="0"/>
              <a:t>streaming).</a:t>
            </a:r>
          </a:p>
          <a:p>
            <a:pPr marL="355600" marR="6350" indent="-3429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  <a:tab pos="439610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Viscosity/Density</a:t>
            </a:r>
            <a:r>
              <a:rPr b="1" spc="1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Meters: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dirty="0"/>
              <a:t>Industrial</a:t>
            </a:r>
            <a:r>
              <a:rPr spc="140" dirty="0"/>
              <a:t>  </a:t>
            </a:r>
            <a:r>
              <a:rPr dirty="0"/>
              <a:t>monitoring</a:t>
            </a:r>
            <a:r>
              <a:rPr spc="130" dirty="0"/>
              <a:t>  </a:t>
            </a:r>
            <a:r>
              <a:rPr dirty="0"/>
              <a:t>of</a:t>
            </a:r>
            <a:r>
              <a:rPr spc="130" dirty="0"/>
              <a:t>  </a:t>
            </a:r>
            <a:r>
              <a:rPr spc="-10" dirty="0"/>
              <a:t>fluid properties.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64585" y="281685"/>
            <a:ext cx="2814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Summary:</a:t>
            </a:r>
            <a:r>
              <a:rPr b="1" spc="4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FPW</a:t>
            </a:r>
            <a:r>
              <a:rPr spc="385" dirty="0"/>
              <a:t> </a:t>
            </a:r>
            <a:r>
              <a:rPr dirty="0"/>
              <a:t>sensors</a:t>
            </a:r>
            <a:r>
              <a:rPr spc="405" dirty="0"/>
              <a:t> </a:t>
            </a:r>
            <a:r>
              <a:rPr dirty="0"/>
              <a:t>offer</a:t>
            </a:r>
            <a:r>
              <a:rPr spc="385" dirty="0"/>
              <a:t> </a:t>
            </a:r>
            <a:r>
              <a:rPr dirty="0"/>
              <a:t>a</a:t>
            </a:r>
            <a:r>
              <a:rPr spc="380" dirty="0"/>
              <a:t> </a:t>
            </a:r>
            <a:r>
              <a:rPr dirty="0"/>
              <a:t>unique</a:t>
            </a:r>
            <a:r>
              <a:rPr spc="385" dirty="0"/>
              <a:t> </a:t>
            </a:r>
            <a:r>
              <a:rPr dirty="0"/>
              <a:t>combination</a:t>
            </a:r>
            <a:r>
              <a:rPr spc="400" dirty="0"/>
              <a:t> </a:t>
            </a:r>
            <a:r>
              <a:rPr dirty="0"/>
              <a:t>of</a:t>
            </a:r>
            <a:r>
              <a:rPr spc="390" dirty="0"/>
              <a:t> </a:t>
            </a:r>
            <a:r>
              <a:rPr spc="-20" dirty="0"/>
              <a:t>high </a:t>
            </a:r>
            <a:r>
              <a:rPr dirty="0"/>
              <a:t>mass</a:t>
            </a:r>
            <a:r>
              <a:rPr spc="-35" dirty="0"/>
              <a:t> </a:t>
            </a:r>
            <a:r>
              <a:rPr dirty="0"/>
              <a:t>sensitivity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low</a:t>
            </a:r>
            <a:r>
              <a:rPr spc="-30" dirty="0"/>
              <a:t> </a:t>
            </a:r>
            <a:r>
              <a:rPr dirty="0"/>
              <a:t>energy</a:t>
            </a:r>
            <a:r>
              <a:rPr spc="-35" dirty="0"/>
              <a:t> </a:t>
            </a:r>
            <a:r>
              <a:rPr dirty="0"/>
              <a:t>loss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liquids.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  <a:tab pos="1624965" algn="l"/>
                <a:tab pos="2760980" algn="l"/>
                <a:tab pos="3869054" algn="l"/>
                <a:tab pos="6283325" algn="l"/>
                <a:tab pos="7063740" algn="l"/>
                <a:tab pos="8087995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Future: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pc="-10" dirty="0"/>
              <a:t>Moving</a:t>
            </a:r>
            <a:r>
              <a:rPr dirty="0"/>
              <a:t>	</a:t>
            </a:r>
            <a:r>
              <a:rPr spc="-10" dirty="0"/>
              <a:t>toward</a:t>
            </a:r>
            <a:r>
              <a:rPr dirty="0"/>
              <a:t>	</a:t>
            </a:r>
            <a:r>
              <a:rPr spc="-10" dirty="0"/>
              <a:t>CMOS-integrated</a:t>
            </a:r>
            <a:r>
              <a:rPr dirty="0"/>
              <a:t>	</a:t>
            </a:r>
            <a:r>
              <a:rPr spc="-25" dirty="0"/>
              <a:t>FPW</a:t>
            </a:r>
            <a:r>
              <a:rPr dirty="0"/>
              <a:t>	</a:t>
            </a:r>
            <a:r>
              <a:rPr spc="-10" dirty="0"/>
              <a:t>arrays</a:t>
            </a:r>
            <a:r>
              <a:rPr dirty="0"/>
              <a:t>	</a:t>
            </a:r>
            <a:r>
              <a:rPr spc="-25" dirty="0"/>
              <a:t>for</a:t>
            </a: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pc="-10" dirty="0"/>
              <a:t>multi-</a:t>
            </a:r>
            <a:r>
              <a:rPr dirty="0"/>
              <a:t>analyte</a:t>
            </a:r>
            <a:r>
              <a:rPr spc="-5" dirty="0"/>
              <a:t> </a:t>
            </a:r>
            <a:r>
              <a:rPr spc="-10" dirty="0"/>
              <a:t>detection.</a:t>
            </a: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Challenges:</a:t>
            </a:r>
            <a:r>
              <a:rPr b="1" spc="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Improving</a:t>
            </a:r>
            <a:r>
              <a:rPr spc="90" dirty="0"/>
              <a:t>  </a:t>
            </a:r>
            <a:r>
              <a:rPr dirty="0"/>
              <a:t>the</a:t>
            </a:r>
            <a:r>
              <a:rPr spc="85" dirty="0"/>
              <a:t>  </a:t>
            </a:r>
            <a:r>
              <a:rPr dirty="0"/>
              <a:t>mechanical</a:t>
            </a:r>
            <a:r>
              <a:rPr spc="80" dirty="0"/>
              <a:t>  </a:t>
            </a:r>
            <a:r>
              <a:rPr dirty="0"/>
              <a:t>robustness</a:t>
            </a:r>
            <a:r>
              <a:rPr spc="90" dirty="0"/>
              <a:t>  </a:t>
            </a:r>
            <a:r>
              <a:rPr dirty="0"/>
              <a:t>of</a:t>
            </a:r>
            <a:r>
              <a:rPr spc="85" dirty="0"/>
              <a:t>  </a:t>
            </a:r>
            <a:r>
              <a:rPr spc="-25" dirty="0"/>
              <a:t>the </a:t>
            </a:r>
            <a:r>
              <a:rPr dirty="0"/>
              <a:t>ultrathin</a:t>
            </a:r>
            <a:r>
              <a:rPr spc="-75" dirty="0"/>
              <a:t> </a:t>
            </a:r>
            <a:r>
              <a:rPr dirty="0"/>
              <a:t>membranes</a:t>
            </a:r>
            <a:r>
              <a:rPr spc="-4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harsh</a:t>
            </a:r>
            <a:r>
              <a:rPr spc="-60" dirty="0"/>
              <a:t> </a:t>
            </a:r>
            <a:r>
              <a:rPr dirty="0"/>
              <a:t>industrial</a:t>
            </a:r>
            <a:r>
              <a:rPr spc="-55" dirty="0"/>
              <a:t> </a:t>
            </a:r>
            <a:r>
              <a:rPr spc="-20" dirty="0"/>
              <a:t>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272773"/>
            <a:ext cx="8381365" cy="496379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"Flexural"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nature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wave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FPW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sensor.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Mention</a:t>
            </a:r>
            <a:r>
              <a:rPr sz="1800" spc="8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8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disadvantage</a:t>
            </a:r>
            <a:r>
              <a:rPr sz="1800" spc="9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8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9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8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ultrathin</a:t>
            </a:r>
            <a:r>
              <a:rPr sz="1800" spc="8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membrane</a:t>
            </a:r>
            <a:r>
              <a:rPr sz="1800" spc="80" dirty="0">
                <a:latin typeface="Verdana"/>
                <a:cs typeface="Verdana"/>
              </a:rPr>
              <a:t>  </a:t>
            </a:r>
            <a:r>
              <a:rPr sz="1800" spc="-25" dirty="0">
                <a:latin typeface="Verdana"/>
                <a:cs typeface="Verdana"/>
              </a:rPr>
              <a:t>in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Verdana"/>
                <a:cs typeface="Verdana"/>
              </a:rPr>
              <a:t>industrial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sensor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design.</a:t>
            </a:r>
            <a:endParaRPr sz="1800">
              <a:latin typeface="Verdana"/>
              <a:cs typeface="Verdana"/>
            </a:endParaRPr>
          </a:p>
          <a:p>
            <a:pPr marL="469900" marR="5080" indent="-457834">
              <a:lnSpc>
                <a:spcPct val="150000"/>
              </a:lnSpc>
              <a:buAutoNum type="arabicPeriod" startAt="3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Explain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why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"Acoustic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Streaming"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occurs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FPW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devices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how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it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microfluidic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applications.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AutoNum type="arabicPeriod" startAt="3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Evaluate</a:t>
            </a:r>
            <a:r>
              <a:rPr sz="1800" spc="3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3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performance</a:t>
            </a:r>
            <a:r>
              <a:rPr sz="1800" spc="3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3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FPW</a:t>
            </a:r>
            <a:r>
              <a:rPr sz="1800" spc="3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sensors</a:t>
            </a:r>
            <a:r>
              <a:rPr sz="1800" spc="3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against</a:t>
            </a:r>
            <a:r>
              <a:rPr sz="1800" spc="3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QCM</a:t>
            </a:r>
            <a:r>
              <a:rPr sz="1800" spc="3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3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SAW</a:t>
            </a:r>
            <a:endParaRPr sz="1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Verdana"/>
                <a:cs typeface="Verdana"/>
              </a:rPr>
              <a:t>sensors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"Lab-on-a-</a:t>
            </a:r>
            <a:r>
              <a:rPr sz="1800" dirty="0">
                <a:latin typeface="Verdana"/>
                <a:cs typeface="Verdana"/>
              </a:rPr>
              <a:t>Chip"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biosensing.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AutoNum type="arabicPeriod" startAt="5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Describe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typical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layers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make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up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FPW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"stack".</a:t>
            </a:r>
            <a:endParaRPr sz="1800">
              <a:latin typeface="Verdana"/>
              <a:cs typeface="Verdana"/>
            </a:endParaRPr>
          </a:p>
          <a:p>
            <a:pPr marL="469900" indent="-457834" algn="just">
              <a:lnSpc>
                <a:spcPct val="100000"/>
              </a:lnSpc>
              <a:spcBef>
                <a:spcPts val="1080"/>
              </a:spcBef>
              <a:buAutoNum type="arabicPeriod" startAt="5"/>
              <a:tabLst>
                <a:tab pos="469900" algn="l"/>
              </a:tabLst>
            </a:pPr>
            <a:r>
              <a:rPr sz="1800" dirty="0">
                <a:latin typeface="Verdana"/>
                <a:cs typeface="Verdana"/>
              </a:rPr>
              <a:t>Discuss</a:t>
            </a:r>
            <a:r>
              <a:rPr sz="1800" spc="4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43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three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primary</a:t>
            </a:r>
            <a:r>
              <a:rPr sz="1800" spc="4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ways</a:t>
            </a:r>
            <a:r>
              <a:rPr sz="1800" spc="4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FPW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sensor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detects</a:t>
            </a:r>
            <a:r>
              <a:rPr sz="1800" spc="4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target</a:t>
            </a:r>
            <a:endParaRPr sz="1800">
              <a:latin typeface="Verdana"/>
              <a:cs typeface="Verdana"/>
            </a:endParaRPr>
          </a:p>
          <a:p>
            <a:pPr marL="469900" marR="8890" algn="just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analyte:</a:t>
            </a:r>
            <a:r>
              <a:rPr sz="1800" spc="16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Mass</a:t>
            </a:r>
            <a:r>
              <a:rPr sz="1800" spc="16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Loading,</a:t>
            </a:r>
            <a:r>
              <a:rPr sz="1800" spc="15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Viscous</a:t>
            </a:r>
            <a:r>
              <a:rPr sz="1800" spc="16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Loading,</a:t>
            </a:r>
            <a:r>
              <a:rPr sz="1800" spc="16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5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Internal</a:t>
            </a:r>
            <a:r>
              <a:rPr sz="1800" spc="175" dirty="0">
                <a:latin typeface="Verdana"/>
                <a:cs typeface="Verdana"/>
              </a:rPr>
              <a:t>  </a:t>
            </a:r>
            <a:r>
              <a:rPr sz="1800" spc="-10" dirty="0">
                <a:latin typeface="Verdana"/>
                <a:cs typeface="Verdana"/>
              </a:rPr>
              <a:t>Stress. </a:t>
            </a:r>
            <a:r>
              <a:rPr sz="1800" dirty="0">
                <a:latin typeface="Verdana"/>
                <a:cs typeface="Verdana"/>
              </a:rPr>
              <a:t>Explain</a:t>
            </a:r>
            <a:r>
              <a:rPr sz="1800" spc="-4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how</a:t>
            </a:r>
            <a:r>
              <a:rPr sz="1800" spc="-4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each</a:t>
            </a:r>
            <a:r>
              <a:rPr sz="1800" spc="-4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4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these</a:t>
            </a:r>
            <a:r>
              <a:rPr sz="1800" spc="-3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physical</a:t>
            </a:r>
            <a:r>
              <a:rPr sz="1800" spc="-35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changes</a:t>
            </a:r>
            <a:r>
              <a:rPr sz="1800" spc="-4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alters</a:t>
            </a:r>
            <a:r>
              <a:rPr sz="1800" spc="-40" dirty="0">
                <a:latin typeface="Verdana"/>
                <a:cs typeface="Verdana"/>
              </a:rPr>
              <a:t> 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45" dirty="0">
                <a:latin typeface="Verdana"/>
                <a:cs typeface="Verdana"/>
              </a:rPr>
              <a:t>  </a:t>
            </a:r>
            <a:r>
              <a:rPr sz="1800" spc="-10" dirty="0">
                <a:latin typeface="Verdana"/>
                <a:cs typeface="Verdana"/>
              </a:rPr>
              <a:t>sensor's </a:t>
            </a:r>
            <a:r>
              <a:rPr sz="1800" dirty="0">
                <a:latin typeface="Verdana"/>
                <a:cs typeface="Verdana"/>
              </a:rPr>
              <a:t>output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signal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(frequency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phase).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1364"/>
            <a:ext cx="8073390" cy="4780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9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D.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S.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Ballantine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et.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al.,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Acoustic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Sensors: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Theory, </a:t>
            </a:r>
            <a:r>
              <a:rPr sz="2000" dirty="0">
                <a:latin typeface="Verdana"/>
                <a:cs typeface="Verdana"/>
              </a:rPr>
              <a:t>Design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Physico-</a:t>
            </a:r>
            <a:r>
              <a:rPr sz="2000" dirty="0">
                <a:latin typeface="Verdana"/>
                <a:cs typeface="Verdana"/>
              </a:rPr>
              <a:t>Chemical</a:t>
            </a:r>
            <a:r>
              <a:rPr sz="2000" spc="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Applications,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Academic</a:t>
            </a:r>
            <a:r>
              <a:rPr sz="2000" spc="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Press, 1997.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Vinod</a:t>
            </a:r>
            <a:r>
              <a:rPr sz="2000" spc="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Kumar</a:t>
            </a:r>
            <a:r>
              <a:rPr sz="2000" spc="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Khanna,</a:t>
            </a:r>
            <a:r>
              <a:rPr sz="2000" spc="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Nanosensors:</a:t>
            </a:r>
            <a:r>
              <a:rPr sz="2000" spc="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Physical,</a:t>
            </a:r>
            <a:r>
              <a:rPr sz="2000" spc="6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Chemical,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Biological,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CRC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Second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Edition,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2021.</a:t>
            </a:r>
            <a:endParaRPr sz="2000">
              <a:latin typeface="Verdana"/>
              <a:cs typeface="Verdana"/>
            </a:endParaRPr>
          </a:p>
          <a:p>
            <a:pPr marL="355600" marR="46990" indent="-343535">
              <a:lnSpc>
                <a:spcPct val="150000"/>
              </a:lnSpc>
              <a:spcBef>
                <a:spcPts val="484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https://pmc.ncbi.nlm.nih.gov/articles/PMC6833005/pdf/sen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sors-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19-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2"/>
              </a:rPr>
              <a:t>04395.pdf</a:t>
            </a:r>
            <a:endParaRPr sz="2000">
              <a:latin typeface="Verdana"/>
              <a:cs typeface="Verdana"/>
            </a:endParaRPr>
          </a:p>
          <a:p>
            <a:pPr marL="354330" marR="875030" indent="-342265">
              <a:lnSpc>
                <a:spcPct val="150000"/>
              </a:lnSpc>
              <a:spcBef>
                <a:spcPts val="4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https://industry.plantautomation-technology.com/</a:t>
            </a:r>
            <a:r>
              <a:rPr sz="2000" spc="-10" dirty="0">
                <a:latin typeface="Verdana"/>
                <a:cs typeface="Verdana"/>
              </a:rPr>
              <a:t> 	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whitepapers/1485944904-acoustic-wave-technology-	sensors.pdf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41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1029" y="2704033"/>
            <a:ext cx="53638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0" i="1" dirty="0">
                <a:solidFill>
                  <a:srgbClr val="006FC0"/>
                </a:solidFill>
                <a:latin typeface="Verdana"/>
                <a:cs typeface="Verdana"/>
              </a:rPr>
              <a:t>Thank</a:t>
            </a:r>
            <a:r>
              <a:rPr sz="8000" b="0" i="1" spc="-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8000" b="0" i="1" spc="-25" dirty="0">
                <a:solidFill>
                  <a:srgbClr val="006FC0"/>
                </a:solidFill>
                <a:latin typeface="Verdana"/>
                <a:cs typeface="Verdana"/>
              </a:rPr>
              <a:t>you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809</Words>
  <Application>Microsoft Office PowerPoint</Application>
  <PresentationFormat>On-screen Show (4:3)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Cambria Math</vt:lpstr>
      <vt:lpstr>Verdana</vt:lpstr>
      <vt:lpstr>Wingdings</vt:lpstr>
      <vt:lpstr>Office Theme</vt:lpstr>
      <vt:lpstr>UEC3942: Introduction to Sensors and Actuators</vt:lpstr>
      <vt:lpstr>Learning Outcomes</vt:lpstr>
      <vt:lpstr>Introduction</vt:lpstr>
      <vt:lpstr>What is an FPW Sensor?</vt:lpstr>
      <vt:lpstr>Structure and Geometry</vt:lpstr>
      <vt:lpstr>Working Principle</vt:lpstr>
      <vt:lpstr>Schematic Layout</vt:lpstr>
      <vt:lpstr>Advantages in Liquid Sensing</vt:lpstr>
      <vt:lpstr>Sensing Mechanisms</vt:lpstr>
      <vt:lpstr>Comparison: FPW vs. SAW vs. QCM</vt:lpstr>
      <vt:lpstr>Fabrication (MEMS Process)</vt:lpstr>
      <vt:lpstr>Key Applications</vt:lpstr>
      <vt:lpstr>Conclusion</vt:lpstr>
      <vt:lpstr>Test your understanding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Microsoft account</cp:lastModifiedBy>
  <cp:revision>1</cp:revision>
  <dcterms:created xsi:type="dcterms:W3CDTF">2026-07-01T10:31:13Z</dcterms:created>
  <dcterms:modified xsi:type="dcterms:W3CDTF">2026-07-01T10:31:48Z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2026-07-01T00:00:00Z</vt:filetime>
  </property>
  <property fmtid="{D5CDD505-2E9C-101B-9397-08002B2CF9AE}" pid="6" name="Producer">
    <vt:lpwstr>Microsoft® PowerPoint® for Microsoft 365</vt:lpwstr>
  </property>
</Properties>
</file>