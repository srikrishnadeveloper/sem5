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585" y="1518283"/>
            <a:ext cx="8709025" cy="505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48028" y="3143539"/>
            <a:ext cx="7962265" cy="30949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II:</a:t>
            </a:r>
            <a:r>
              <a:rPr sz="3500" b="1" spc="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Solid-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State</a:t>
            </a:r>
            <a:r>
              <a:rPr sz="3500" b="1" spc="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transducers</a:t>
            </a:r>
            <a:endParaRPr sz="35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3500" dirty="0">
              <a:latin typeface="Verdana"/>
              <a:cs typeface="Verdana"/>
            </a:endParaRPr>
          </a:p>
          <a:p>
            <a:pPr marL="2647315" marR="2639060" algn="ctr">
              <a:lnSpc>
                <a:spcPct val="121600"/>
              </a:lnSpc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500" dirty="0" smtClean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500" dirty="0">
              <a:latin typeface="Verdana"/>
              <a:cs typeface="Verdana"/>
            </a:endParaRPr>
          </a:p>
          <a:p>
            <a:pPr marL="1315085" marR="1305560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6"/>
            <a:ext cx="9468613" cy="423674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lang="en-IN" sz="2650" dirty="0" smtClean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28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principles,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construction,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of </a:t>
            </a:r>
            <a:r>
              <a:rPr sz="2200" dirty="0">
                <a:latin typeface="Verdana"/>
                <a:cs typeface="Verdana"/>
              </a:rPr>
              <a:t>LEDs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Displays.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14151" y="124572"/>
            <a:ext cx="7626984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7085" marR="5080" indent="-2065020">
              <a:lnSpc>
                <a:spcPct val="1002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spc="-10" dirty="0"/>
              <a:t>Solid-State Transducers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88963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Developed</a:t>
            </a:r>
            <a:r>
              <a:rPr spc="-35" dirty="0"/>
              <a:t> </a:t>
            </a:r>
            <a:r>
              <a:rPr dirty="0"/>
              <a:t>following</a:t>
            </a:r>
            <a:r>
              <a:rPr spc="-7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invention</a:t>
            </a:r>
            <a:r>
              <a:rPr spc="-7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10" dirty="0"/>
              <a:t>transistor.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Utilize</a:t>
            </a:r>
            <a:r>
              <a:rPr spc="-50" dirty="0"/>
              <a:t> </a:t>
            </a:r>
            <a:r>
              <a:rPr dirty="0"/>
              <a:t>current</a:t>
            </a:r>
            <a:r>
              <a:rPr spc="-65" dirty="0"/>
              <a:t> </a:t>
            </a:r>
            <a:r>
              <a:rPr dirty="0"/>
              <a:t>flow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solid</a:t>
            </a:r>
            <a:r>
              <a:rPr spc="-45" dirty="0"/>
              <a:t> </a:t>
            </a:r>
            <a:r>
              <a:rPr spc="-10" dirty="0"/>
              <a:t>semiconductors.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Primary</a:t>
            </a:r>
            <a:r>
              <a:rPr b="1" spc="4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Example:</a:t>
            </a:r>
            <a:r>
              <a:rPr b="1" spc="4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Light</a:t>
            </a:r>
            <a:r>
              <a:rPr spc="405" dirty="0"/>
              <a:t> </a:t>
            </a:r>
            <a:r>
              <a:rPr dirty="0"/>
              <a:t>Emitting</a:t>
            </a:r>
            <a:r>
              <a:rPr spc="405" dirty="0"/>
              <a:t> </a:t>
            </a:r>
            <a:r>
              <a:rPr dirty="0"/>
              <a:t>Diodes</a:t>
            </a:r>
            <a:r>
              <a:rPr spc="395" dirty="0"/>
              <a:t> </a:t>
            </a:r>
            <a:r>
              <a:rPr dirty="0"/>
              <a:t>(LEDs),</a:t>
            </a:r>
            <a:r>
              <a:rPr spc="405" dirty="0"/>
              <a:t> </a:t>
            </a:r>
            <a:r>
              <a:rPr spc="-10" dirty="0"/>
              <a:t>which 	</a:t>
            </a:r>
            <a:r>
              <a:rPr dirty="0"/>
              <a:t>function</a:t>
            </a:r>
            <a:r>
              <a:rPr spc="-25" dirty="0"/>
              <a:t> </a:t>
            </a:r>
            <a:r>
              <a:rPr dirty="0"/>
              <a:t>as</a:t>
            </a:r>
            <a:r>
              <a:rPr spc="25" dirty="0"/>
              <a:t> </a:t>
            </a:r>
            <a:r>
              <a:rPr spc="-25" dirty="0"/>
              <a:t>current-</a:t>
            </a:r>
            <a:r>
              <a:rPr spc="-20" dirty="0"/>
              <a:t>to-</a:t>
            </a:r>
            <a:r>
              <a:rPr dirty="0"/>
              <a:t>light</a:t>
            </a:r>
            <a:r>
              <a:rPr spc="20" dirty="0"/>
              <a:t> </a:t>
            </a:r>
            <a:r>
              <a:rPr spc="-10" dirty="0"/>
              <a:t>transducers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051972" y="426127"/>
            <a:ext cx="39554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LEDs</a:t>
            </a:r>
            <a:r>
              <a:rPr spc="5" dirty="0"/>
              <a:t> </a:t>
            </a:r>
            <a:r>
              <a:rPr dirty="0"/>
              <a:t>vs.</a:t>
            </a:r>
            <a:r>
              <a:rPr spc="-20" dirty="0"/>
              <a:t> LCDs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7352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LED:</a:t>
            </a:r>
            <a:r>
              <a:rPr b="1" spc="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true</a:t>
            </a:r>
            <a:r>
              <a:rPr spc="-15" dirty="0"/>
              <a:t> </a:t>
            </a:r>
            <a:r>
              <a:rPr spc="-25" dirty="0"/>
              <a:t>current-</a:t>
            </a:r>
            <a:r>
              <a:rPr spc="-20" dirty="0"/>
              <a:t>to-</a:t>
            </a:r>
            <a:r>
              <a:rPr dirty="0"/>
              <a:t>light</a:t>
            </a:r>
            <a:r>
              <a:rPr spc="10" dirty="0"/>
              <a:t> </a:t>
            </a:r>
            <a:r>
              <a:rPr spc="-10" dirty="0"/>
              <a:t>transducer.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LCD</a:t>
            </a:r>
            <a:r>
              <a:rPr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(Liquid</a:t>
            </a:r>
            <a:r>
              <a:rPr b="1" spc="2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Crystal</a:t>
            </a:r>
            <a:r>
              <a:rPr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Display):</a:t>
            </a:r>
            <a:r>
              <a:rPr b="1" spc="25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Strictly</a:t>
            </a:r>
            <a:r>
              <a:rPr spc="225" dirty="0"/>
              <a:t> </a:t>
            </a:r>
            <a:r>
              <a:rPr dirty="0"/>
              <a:t>speaking,</a:t>
            </a:r>
            <a:r>
              <a:rPr spc="235" dirty="0"/>
              <a:t> </a:t>
            </a:r>
            <a:r>
              <a:rPr dirty="0"/>
              <a:t>a</a:t>
            </a:r>
            <a:r>
              <a:rPr spc="220" dirty="0"/>
              <a:t> </a:t>
            </a:r>
            <a:r>
              <a:rPr spc="-10" dirty="0"/>
              <a:t>light 	</a:t>
            </a:r>
            <a:r>
              <a:rPr dirty="0"/>
              <a:t>modulator</a:t>
            </a:r>
            <a:r>
              <a:rPr spc="-55" dirty="0"/>
              <a:t> </a:t>
            </a:r>
            <a:r>
              <a:rPr dirty="0"/>
              <a:t>rather</a:t>
            </a:r>
            <a:r>
              <a:rPr spc="-55" dirty="0"/>
              <a:t> </a:t>
            </a:r>
            <a:r>
              <a:rPr dirty="0"/>
              <a:t>than</a:t>
            </a:r>
            <a:r>
              <a:rPr spc="-8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sensor</a:t>
            </a:r>
            <a:r>
              <a:rPr spc="-55" dirty="0"/>
              <a:t> </a:t>
            </a:r>
            <a:r>
              <a:rPr dirty="0"/>
              <a:t>or</a:t>
            </a:r>
            <a:r>
              <a:rPr spc="-70" dirty="0"/>
              <a:t> </a:t>
            </a:r>
            <a:r>
              <a:rPr spc="-10" dirty="0"/>
              <a:t>transducer.</a:t>
            </a: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LCDs</a:t>
            </a:r>
            <a:r>
              <a:rPr spc="15" dirty="0"/>
              <a:t>  </a:t>
            </a:r>
            <a:r>
              <a:rPr dirty="0"/>
              <a:t>have</a:t>
            </a:r>
            <a:r>
              <a:rPr spc="20" dirty="0"/>
              <a:t>  </a:t>
            </a:r>
            <a:r>
              <a:rPr dirty="0"/>
              <a:t>recently</a:t>
            </a:r>
            <a:r>
              <a:rPr spc="10" dirty="0"/>
              <a:t>  </a:t>
            </a:r>
            <a:r>
              <a:rPr dirty="0"/>
              <a:t>taken</a:t>
            </a:r>
            <a:r>
              <a:rPr spc="15" dirty="0"/>
              <a:t>  </a:t>
            </a:r>
            <a:r>
              <a:rPr dirty="0"/>
              <a:t>the</a:t>
            </a:r>
            <a:r>
              <a:rPr spc="20" dirty="0"/>
              <a:t>  </a:t>
            </a:r>
            <a:r>
              <a:rPr dirty="0"/>
              <a:t>place</a:t>
            </a:r>
            <a:r>
              <a:rPr spc="20" dirty="0"/>
              <a:t>  </a:t>
            </a:r>
            <a:r>
              <a:rPr dirty="0"/>
              <a:t>of</a:t>
            </a:r>
            <a:r>
              <a:rPr spc="15" dirty="0"/>
              <a:t>  </a:t>
            </a:r>
            <a:r>
              <a:rPr dirty="0"/>
              <a:t>LEDs</a:t>
            </a:r>
            <a:r>
              <a:rPr spc="25" dirty="0"/>
              <a:t>  </a:t>
            </a:r>
            <a:r>
              <a:rPr dirty="0"/>
              <a:t>in</a:t>
            </a:r>
            <a:r>
              <a:rPr spc="20" dirty="0"/>
              <a:t>  </a:t>
            </a:r>
            <a:r>
              <a:rPr spc="-20" dirty="0"/>
              <a:t>some 	</a:t>
            </a:r>
            <a:r>
              <a:rPr dirty="0"/>
              <a:t>specific</a:t>
            </a:r>
            <a:r>
              <a:rPr spc="-100" dirty="0"/>
              <a:t> </a:t>
            </a:r>
            <a:r>
              <a:rPr spc="-10" dirty="0"/>
              <a:t>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03376" y="426127"/>
            <a:ext cx="50514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Basic</a:t>
            </a:r>
            <a:r>
              <a:rPr spc="-30" dirty="0"/>
              <a:t> </a:t>
            </a:r>
            <a:r>
              <a:rPr dirty="0"/>
              <a:t>LED</a:t>
            </a:r>
            <a:r>
              <a:rPr spc="-20" dirty="0"/>
              <a:t> </a:t>
            </a:r>
            <a:r>
              <a:rPr spc="-10" dirty="0"/>
              <a:t>Physics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4892040" cy="15341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LEDs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semiconductor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diodes.</a:t>
            </a:r>
            <a:endParaRPr sz="2200">
              <a:latin typeface="Verdana"/>
              <a:cs typeface="Verdana"/>
            </a:endParaRPr>
          </a:p>
          <a:p>
            <a:pPr marL="389255" marR="444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They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feature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comparatively 	conduction.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1354" y="2224552"/>
            <a:ext cx="7270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large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3326" y="2224552"/>
            <a:ext cx="10534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voltage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1600" y="2224552"/>
            <a:ext cx="6623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Verdana"/>
                <a:cs typeface="Verdana"/>
              </a:rPr>
              <a:t>drop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59427" y="2224552"/>
            <a:ext cx="92201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during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202" y="3062122"/>
            <a:ext cx="896048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1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Process:</a:t>
            </a:r>
            <a:r>
              <a:rPr sz="2200" b="1" spc="1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electron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meets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hole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junction,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combine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release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energy.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73876" y="426127"/>
            <a:ext cx="95072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Radiation</a:t>
            </a:r>
            <a:r>
              <a:rPr spc="-5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Material</a:t>
            </a:r>
            <a:r>
              <a:rPr spc="-35" dirty="0"/>
              <a:t> </a:t>
            </a:r>
            <a:r>
              <a:rPr spc="-10" dirty="0"/>
              <a:t>Properties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8331" y="1477158"/>
            <a:ext cx="870902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642745" algn="l"/>
                <a:tab pos="2141855" algn="l"/>
                <a:tab pos="3569335" algn="l"/>
                <a:tab pos="4021454" algn="l"/>
                <a:tab pos="4749165" algn="l"/>
                <a:tab pos="7069455" algn="l"/>
                <a:tab pos="8472170" algn="l"/>
              </a:tabLst>
            </a:pPr>
            <a:r>
              <a:rPr sz="2200" spc="-10" dirty="0">
                <a:latin typeface="Verdana"/>
                <a:cs typeface="Verdana"/>
              </a:rPr>
              <a:t>Energy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radiated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semiconductor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junction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spc="-10" dirty="0">
                <a:latin typeface="Verdana"/>
                <a:cs typeface="Verdana"/>
              </a:rPr>
              <a:t>transparent.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Silicon/Germanium:</a:t>
            </a:r>
            <a:r>
              <a:rPr sz="2200" b="1" spc="3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Release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amounts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infrared 	</a:t>
            </a:r>
            <a:r>
              <a:rPr sz="2200" dirty="0">
                <a:latin typeface="Verdana"/>
                <a:cs typeface="Verdana"/>
              </a:rPr>
              <a:t>energy;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non-</a:t>
            </a:r>
            <a:r>
              <a:rPr sz="2200" dirty="0">
                <a:latin typeface="Verdana"/>
                <a:cs typeface="Verdana"/>
              </a:rPr>
              <a:t>transparent,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absorbed.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Compound</a:t>
            </a:r>
            <a:r>
              <a:rPr sz="2200" b="1" spc="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Semiconductors:</a:t>
            </a:r>
            <a:r>
              <a:rPr sz="22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Transparent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that 	</a:t>
            </a:r>
            <a:r>
              <a:rPr sz="2200" dirty="0">
                <a:latin typeface="Verdana"/>
                <a:cs typeface="Verdana"/>
              </a:rPr>
              <a:t>allow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visible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escape.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62747" y="426127"/>
            <a:ext cx="65303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Common</a:t>
            </a:r>
            <a:r>
              <a:rPr spc="-40" dirty="0"/>
              <a:t> </a:t>
            </a:r>
            <a:r>
              <a:rPr dirty="0"/>
              <a:t>LED</a:t>
            </a:r>
            <a:r>
              <a:rPr spc="20" dirty="0"/>
              <a:t> </a:t>
            </a:r>
            <a:r>
              <a:rPr spc="-10" dirty="0"/>
              <a:t>Materials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616585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540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985645" algn="l"/>
                <a:tab pos="3764915" algn="l"/>
                <a:tab pos="537654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Gallium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Arsenide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(GaAs):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semiconductor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visible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radiation.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Gallium</a:t>
            </a:r>
            <a:r>
              <a:rPr sz="2200" b="1" spc="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Phosphide:</a:t>
            </a:r>
            <a:r>
              <a:rPr sz="2200" b="1" spc="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Frequently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used 	</a:t>
            </a:r>
            <a:r>
              <a:rPr sz="2200" spc="-10" dirty="0">
                <a:latin typeface="Verdana"/>
                <a:cs typeface="Verdana"/>
              </a:rPr>
              <a:t>construction.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0978" y="1895276"/>
            <a:ext cx="5759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first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99206" y="1895276"/>
            <a:ext cx="14820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compound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6896" y="2901216"/>
            <a:ext cx="23463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in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modern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LED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4585" y="3738786"/>
            <a:ext cx="871093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859914" algn="l"/>
                <a:tab pos="3514090" algn="l"/>
                <a:tab pos="5534025" algn="l"/>
                <a:tab pos="691451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Gallium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Arsenide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Phosphide: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Another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predominant 	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manufacturing.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23565" y="426127"/>
            <a:ext cx="700785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Electrical</a:t>
            </a:r>
            <a:r>
              <a:rPr spc="-80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8960485" cy="203708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Forward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Voltage: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typically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around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2.0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V.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Peak</a:t>
            </a:r>
            <a:r>
              <a:rPr sz="2200" b="1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Reverse</a:t>
            </a:r>
            <a:r>
              <a:rPr sz="2200" b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Voltage:</a:t>
            </a:r>
            <a:r>
              <a:rPr sz="2200" b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small,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approximately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3.0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V.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Caution:</a:t>
            </a:r>
            <a:r>
              <a:rPr sz="2200" b="1" spc="3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Correct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polarity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vital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avoid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burning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spc="-10" dirty="0">
                <a:latin typeface="Verdana"/>
                <a:cs typeface="Verdana"/>
              </a:rPr>
              <a:t>device.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2730" y="426127"/>
            <a:ext cx="92760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Physical</a:t>
            </a:r>
            <a:r>
              <a:rPr spc="-95" dirty="0"/>
              <a:t> </a:t>
            </a:r>
            <a:r>
              <a:rPr dirty="0"/>
              <a:t>Identification</a:t>
            </a:r>
            <a:r>
              <a:rPr spc="-50" dirty="0"/>
              <a:t> </a:t>
            </a:r>
            <a:r>
              <a:rPr spc="-10" dirty="0"/>
              <a:t>(Polarity)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048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Modern</a:t>
            </a:r>
            <a:r>
              <a:rPr sz="2200" b="1" spc="4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Method:</a:t>
            </a:r>
            <a:r>
              <a:rPr sz="2200" b="1" spc="4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Identifying</a:t>
            </a:r>
            <a:r>
              <a:rPr sz="2200" spc="4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cathode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(negative)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lead 	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making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shorter.</a:t>
            </a:r>
            <a:endParaRPr sz="2200">
              <a:latin typeface="Verdana"/>
              <a:cs typeface="Verdana"/>
            </a:endParaRPr>
          </a:p>
          <a:p>
            <a:pPr marL="893444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3444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Risk: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Identification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lost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once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leads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fitting.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1486535" algn="l"/>
                <a:tab pos="300545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Older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Method: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flat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1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1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diode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body 	</a:t>
            </a:r>
            <a:r>
              <a:rPr sz="2200" dirty="0">
                <a:latin typeface="Verdana"/>
                <a:cs typeface="Verdana"/>
              </a:rPr>
              <a:t>identified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cathode.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12760" y="426127"/>
            <a:ext cx="70294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Illumination</a:t>
            </a:r>
            <a:r>
              <a:rPr spc="-7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Current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836" y="1518283"/>
            <a:ext cx="8710295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Intensity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illumination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depends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fairly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linearly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forward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current.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Current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Range: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latin typeface="Verdana"/>
                <a:cs typeface="Verdana"/>
              </a:rPr>
              <a:t>Typically,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30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mA.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Factors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affecting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include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size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required 	brightness.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Power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Dissipation</a:t>
            </a:r>
            <a:endParaRPr sz="2200">
              <a:latin typeface="Verdana"/>
              <a:cs typeface="Verdana"/>
            </a:endParaRPr>
          </a:p>
          <a:p>
            <a:pPr marL="883919" marR="5715" lvl="1" indent="-368935">
              <a:lnSpc>
                <a:spcPct val="150000"/>
              </a:lnSpc>
              <a:buFont typeface="Wingdings"/>
              <a:buChar char=""/>
              <a:tabLst>
                <a:tab pos="883919" algn="l"/>
                <a:tab pos="1935480" algn="l"/>
                <a:tab pos="3023235" algn="l"/>
                <a:tab pos="3904615" algn="l"/>
                <a:tab pos="5293360" algn="l"/>
                <a:tab pos="6542405" algn="l"/>
                <a:tab pos="8427720" algn="l"/>
              </a:tabLst>
            </a:pPr>
            <a:r>
              <a:rPr sz="2200" spc="-20" dirty="0">
                <a:latin typeface="Verdana"/>
                <a:cs typeface="Verdana"/>
              </a:rPr>
              <a:t>Most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LEDs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can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sustain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power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dissipation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 </a:t>
            </a:r>
            <a:r>
              <a:rPr sz="2200" dirty="0">
                <a:latin typeface="Verdana"/>
                <a:cs typeface="Verdana"/>
              </a:rPr>
              <a:t>approximately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100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mW.</a:t>
            </a:r>
            <a:endParaRPr sz="2200">
              <a:latin typeface="Verdana"/>
              <a:cs typeface="Verdana"/>
            </a:endParaRPr>
          </a:p>
          <a:p>
            <a:pPr marL="883919" marR="6985" lvl="1" indent="-368935">
              <a:lnSpc>
                <a:spcPct val="150000"/>
              </a:lnSpc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Exception: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Low-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LEDs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designed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specifically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battery-</a:t>
            </a:r>
            <a:r>
              <a:rPr sz="2200" dirty="0">
                <a:latin typeface="Verdana"/>
                <a:cs typeface="Verdana"/>
              </a:rPr>
              <a:t>operated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equipment.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92134" y="426127"/>
            <a:ext cx="52724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Circuit</a:t>
            </a:r>
            <a:r>
              <a:rPr spc="-70" dirty="0"/>
              <a:t> </a:t>
            </a:r>
            <a:r>
              <a:rPr spc="-10" dirty="0"/>
              <a:t>Integration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88963" rIns="0" bIns="0" rtlCol="0">
            <a:spAutoFit/>
          </a:bodyPr>
          <a:lstStyle/>
          <a:p>
            <a:pPr marL="389890" indent="-377190" algn="just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Current</a:t>
            </a:r>
            <a:r>
              <a:rPr spc="-6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governed</a:t>
            </a:r>
            <a:r>
              <a:rPr spc="-45" dirty="0"/>
              <a:t> </a:t>
            </a:r>
            <a:r>
              <a:rPr dirty="0"/>
              <a:t>by</a:t>
            </a:r>
            <a:r>
              <a:rPr spc="-40" dirty="0"/>
              <a:t> </a:t>
            </a: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resistor</a:t>
            </a:r>
            <a:r>
              <a:rPr spc="-5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series.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IC</a:t>
            </a:r>
            <a:r>
              <a:rPr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Control:</a:t>
            </a:r>
            <a:r>
              <a:rPr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When</a:t>
            </a:r>
            <a:r>
              <a:rPr spc="-60" dirty="0"/>
              <a:t> </a:t>
            </a:r>
            <a:r>
              <a:rPr dirty="0"/>
              <a:t>controlled</a:t>
            </a:r>
            <a:r>
              <a:rPr spc="-65" dirty="0"/>
              <a:t> </a:t>
            </a:r>
            <a:r>
              <a:rPr dirty="0"/>
              <a:t>by</a:t>
            </a:r>
            <a:r>
              <a:rPr spc="-55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dirty="0"/>
              <a:t>Integrated</a:t>
            </a:r>
            <a:r>
              <a:rPr spc="-40" dirty="0"/>
              <a:t> </a:t>
            </a:r>
            <a:r>
              <a:rPr dirty="0"/>
              <a:t>Circuit</a:t>
            </a:r>
            <a:r>
              <a:rPr spc="-45" dirty="0"/>
              <a:t> </a:t>
            </a:r>
            <a:r>
              <a:rPr spc="-10" dirty="0"/>
              <a:t>(IC), 	</a:t>
            </a:r>
            <a:r>
              <a:rPr dirty="0"/>
              <a:t>the</a:t>
            </a:r>
            <a:r>
              <a:rPr spc="160" dirty="0"/>
              <a:t>  </a:t>
            </a:r>
            <a:r>
              <a:rPr dirty="0"/>
              <a:t>resistor</a:t>
            </a:r>
            <a:r>
              <a:rPr spc="145" dirty="0"/>
              <a:t>  </a:t>
            </a:r>
            <a:r>
              <a:rPr dirty="0"/>
              <a:t>is</a:t>
            </a:r>
            <a:r>
              <a:rPr spc="165" dirty="0"/>
              <a:t>  </a:t>
            </a:r>
            <a:r>
              <a:rPr dirty="0"/>
              <a:t>often</a:t>
            </a:r>
            <a:r>
              <a:rPr spc="155" dirty="0"/>
              <a:t>  </a:t>
            </a:r>
            <a:r>
              <a:rPr spc="-20" dirty="0"/>
              <a:t>built-</a:t>
            </a:r>
            <a:r>
              <a:rPr dirty="0"/>
              <a:t>in,</a:t>
            </a:r>
            <a:r>
              <a:rPr spc="150" dirty="0"/>
              <a:t>  </a:t>
            </a:r>
            <a:r>
              <a:rPr dirty="0"/>
              <a:t>removing</a:t>
            </a:r>
            <a:r>
              <a:rPr spc="160" dirty="0"/>
              <a:t>  </a:t>
            </a:r>
            <a:r>
              <a:rPr dirty="0"/>
              <a:t>the</a:t>
            </a:r>
            <a:r>
              <a:rPr spc="160" dirty="0"/>
              <a:t>  </a:t>
            </a:r>
            <a:r>
              <a:rPr dirty="0"/>
              <a:t>need</a:t>
            </a:r>
            <a:r>
              <a:rPr spc="165" dirty="0"/>
              <a:t>  </a:t>
            </a:r>
            <a:r>
              <a:rPr spc="-25" dirty="0"/>
              <a:t>for 	</a:t>
            </a:r>
            <a:r>
              <a:rPr dirty="0"/>
              <a:t>separate</a:t>
            </a:r>
            <a:r>
              <a:rPr spc="-155" dirty="0"/>
              <a:t> </a:t>
            </a:r>
            <a:r>
              <a:rPr spc="-10" dirty="0"/>
              <a:t>wiring.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33061" y="426127"/>
            <a:ext cx="57905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LED</a:t>
            </a:r>
            <a:r>
              <a:rPr spc="-5" dirty="0"/>
              <a:t> </a:t>
            </a:r>
            <a:r>
              <a:rPr dirty="0"/>
              <a:t>Colour</a:t>
            </a:r>
            <a:r>
              <a:rPr spc="-25" dirty="0"/>
              <a:t> </a:t>
            </a:r>
            <a:r>
              <a:rPr spc="-10" dirty="0"/>
              <a:t>Varieties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7747634" cy="2037714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Color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determined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semiconductor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material.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Predominant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Colors: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Green.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1689735" algn="l"/>
                <a:tab pos="2859405" algn="l"/>
                <a:tab pos="4105910" algn="l"/>
                <a:tab pos="4825365" algn="l"/>
                <a:tab pos="5606415" algn="l"/>
                <a:tab pos="666877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Mixing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Light: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Placing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red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green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sources 	</a:t>
            </a:r>
            <a:r>
              <a:rPr sz="2200" dirty="0">
                <a:latin typeface="Verdana"/>
                <a:cs typeface="Verdana"/>
              </a:rPr>
              <a:t>together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produces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yellow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58666" y="2692320"/>
            <a:ext cx="7245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close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04356" y="426127"/>
            <a:ext cx="68472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Advanced</a:t>
            </a:r>
            <a:r>
              <a:rPr spc="-45" dirty="0"/>
              <a:t> </a:t>
            </a:r>
            <a:r>
              <a:rPr dirty="0"/>
              <a:t>LED</a:t>
            </a:r>
            <a:r>
              <a:rPr spc="-30" dirty="0"/>
              <a:t> </a:t>
            </a:r>
            <a:r>
              <a:rPr spc="-10" dirty="0"/>
              <a:t>Packages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102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Twin</a:t>
            </a:r>
            <a:r>
              <a:rPr sz="2200"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Diodes: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Allows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single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package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switch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between 	</a:t>
            </a:r>
            <a:r>
              <a:rPr sz="2200" dirty="0">
                <a:latin typeface="Verdana"/>
                <a:cs typeface="Verdana"/>
              </a:rPr>
              <a:t>red,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green,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yellow.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4585" y="2523951"/>
            <a:ext cx="4833620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Flashing</a:t>
            </a:r>
            <a:r>
              <a:rPr sz="2200" b="1" spc="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LEDs:</a:t>
            </a:r>
            <a:r>
              <a:rPr sz="2200" b="1" spc="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Obtained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dirty="0">
                <a:latin typeface="Verdana"/>
                <a:cs typeface="Verdana"/>
              </a:rPr>
              <a:t>digital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units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package.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Standard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Physical</a:t>
            </a:r>
            <a:r>
              <a:rPr sz="22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Forms: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1210" y="2692320"/>
            <a:ext cx="36925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combining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LEDs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IC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7487" y="4032929"/>
            <a:ext cx="5927090" cy="203708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1000" indent="-368300">
              <a:lnSpc>
                <a:spcPct val="100000"/>
              </a:lnSpc>
              <a:spcBef>
                <a:spcPts val="1420"/>
              </a:spcBef>
              <a:buFont typeface="Wingdings"/>
              <a:buChar char=""/>
              <a:tabLst>
                <a:tab pos="381000" algn="l"/>
              </a:tabLst>
            </a:pPr>
            <a:r>
              <a:rPr sz="2200" dirty="0">
                <a:latin typeface="Arial MT"/>
                <a:cs typeface="Arial MT"/>
              </a:rPr>
              <a:t>Single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LEDs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available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various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shapes.</a:t>
            </a:r>
            <a:endParaRPr sz="2200">
              <a:latin typeface="Arial MT"/>
              <a:cs typeface="Arial MT"/>
            </a:endParaRPr>
          </a:p>
          <a:p>
            <a:pPr marL="381000" indent="-36830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81000" algn="l"/>
              </a:tabLst>
            </a:pPr>
            <a:r>
              <a:rPr sz="2200" b="1" dirty="0">
                <a:solidFill>
                  <a:srgbClr val="009900"/>
                </a:solidFill>
                <a:latin typeface="Arial"/>
                <a:cs typeface="Arial"/>
              </a:rPr>
              <a:t>Predominant</a:t>
            </a:r>
            <a:r>
              <a:rPr sz="2200" b="1" spc="-100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9900"/>
                </a:solidFill>
                <a:latin typeface="Arial"/>
                <a:cs typeface="Arial"/>
              </a:rPr>
              <a:t>types:</a:t>
            </a:r>
            <a:endParaRPr sz="2200">
              <a:latin typeface="Arial"/>
              <a:cs typeface="Arial"/>
            </a:endParaRPr>
          </a:p>
          <a:p>
            <a:pPr marL="1327150" lvl="1" indent="-30861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1327150" algn="l"/>
              </a:tabLst>
            </a:pPr>
            <a:r>
              <a:rPr sz="2200" dirty="0">
                <a:latin typeface="Arial MT"/>
                <a:cs typeface="Arial MT"/>
              </a:rPr>
              <a:t>Dot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types</a:t>
            </a:r>
            <a:endParaRPr sz="2200">
              <a:latin typeface="Arial MT"/>
              <a:cs typeface="Arial MT"/>
            </a:endParaRPr>
          </a:p>
          <a:p>
            <a:pPr marL="1327150" lvl="1" indent="-30861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1327150" algn="l"/>
              </a:tabLst>
            </a:pPr>
            <a:r>
              <a:rPr sz="2200" dirty="0">
                <a:latin typeface="Arial MT"/>
                <a:cs typeface="Arial MT"/>
              </a:rPr>
              <a:t>Bar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types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91724" y="426127"/>
            <a:ext cx="64750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Alphanumeric</a:t>
            </a:r>
            <a:r>
              <a:rPr spc="-90" dirty="0"/>
              <a:t> </a:t>
            </a:r>
            <a:r>
              <a:rPr spc="-10" dirty="0"/>
              <a:t>Displays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4957" y="1445156"/>
            <a:ext cx="8709025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LEDs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 often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supplied as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preformed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patterns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rather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than 	</a:t>
            </a:r>
            <a:r>
              <a:rPr sz="2200" dirty="0">
                <a:latin typeface="Verdana"/>
                <a:cs typeface="Verdana"/>
              </a:rPr>
              <a:t>single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units.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Bar-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graph modules: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Range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5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30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segments.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Alphanumeric</a:t>
            </a:r>
            <a:r>
              <a:rPr sz="2200" b="1" spc="-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displays:</a:t>
            </a:r>
            <a:r>
              <a:rPr sz="2200" b="1" spc="5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preformed 	type.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67793" y="426127"/>
            <a:ext cx="792225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Seven-</a:t>
            </a:r>
            <a:r>
              <a:rPr dirty="0"/>
              <a:t>Segment</a:t>
            </a:r>
            <a:r>
              <a:rPr spc="-5" dirty="0"/>
              <a:t> </a:t>
            </a:r>
            <a:r>
              <a:rPr spc="-10" dirty="0"/>
              <a:t>Display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0815" y="1445156"/>
            <a:ext cx="9211310" cy="25406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alphanumeric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format.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Uses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seven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bar-</a:t>
            </a:r>
            <a:r>
              <a:rPr sz="2200" dirty="0">
                <a:latin typeface="Verdana"/>
                <a:cs typeface="Verdana"/>
              </a:rPr>
              <a:t>shaped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segments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display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numbers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few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letters.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Usually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includes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8th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segment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decimal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point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(left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or 	</a:t>
            </a:r>
            <a:r>
              <a:rPr sz="2200" spc="-10" dirty="0">
                <a:latin typeface="Verdana"/>
                <a:cs typeface="Verdana"/>
              </a:rPr>
              <a:t>right).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0141" y="3946631"/>
            <a:ext cx="1958136" cy="22952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0902" y="426127"/>
            <a:ext cx="92360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Driving</a:t>
            </a:r>
            <a:r>
              <a:rPr spc="-30" dirty="0"/>
              <a:t> </a:t>
            </a:r>
            <a:r>
              <a:rPr spc="-10" dirty="0"/>
              <a:t>Seven-</a:t>
            </a:r>
            <a:r>
              <a:rPr dirty="0"/>
              <a:t>Segment</a:t>
            </a:r>
            <a:r>
              <a:rPr spc="-5" dirty="0"/>
              <a:t> </a:t>
            </a:r>
            <a:r>
              <a:rPr spc="-10" dirty="0"/>
              <a:t>Displays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10930" cy="15341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Requires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decoder-</a:t>
            </a:r>
            <a:r>
              <a:rPr sz="2200" dirty="0">
                <a:latin typeface="Verdana"/>
                <a:cs typeface="Verdana"/>
              </a:rPr>
              <a:t>driver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IC.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Function:</a:t>
            </a:r>
            <a:r>
              <a:rPr sz="2200" b="1" spc="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binary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representation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specific 	</a:t>
            </a:r>
            <a:r>
              <a:rPr sz="2200" dirty="0">
                <a:latin typeface="Verdana"/>
                <a:cs typeface="Verdana"/>
              </a:rPr>
              <a:t>pattern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bars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each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number.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52598" y="426127"/>
            <a:ext cx="53511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Intensity</a:t>
            </a:r>
            <a:r>
              <a:rPr spc="-55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LEDs</a:t>
            </a:r>
            <a:r>
              <a:rPr spc="-55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dirty="0"/>
              <a:t>available</a:t>
            </a:r>
            <a:r>
              <a:rPr spc="-6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20" dirty="0"/>
              <a:t>intensity-</a:t>
            </a:r>
            <a:r>
              <a:rPr dirty="0"/>
              <a:t>matched</a:t>
            </a:r>
            <a:r>
              <a:rPr spc="-35" dirty="0"/>
              <a:t> </a:t>
            </a:r>
            <a:r>
              <a:rPr spc="-10" dirty="0"/>
              <a:t>forms.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Necessary</a:t>
            </a:r>
            <a:r>
              <a:rPr spc="-6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"column</a:t>
            </a:r>
            <a:r>
              <a:rPr spc="-85" dirty="0"/>
              <a:t> </a:t>
            </a:r>
            <a:r>
              <a:rPr dirty="0"/>
              <a:t>displays"</a:t>
            </a:r>
            <a:r>
              <a:rPr spc="-70" dirty="0"/>
              <a:t> </a:t>
            </a:r>
            <a:r>
              <a:rPr dirty="0"/>
              <a:t>where</a:t>
            </a:r>
            <a:r>
              <a:rPr spc="-70" dirty="0"/>
              <a:t> </a:t>
            </a:r>
            <a:r>
              <a:rPr dirty="0"/>
              <a:t>units</a:t>
            </a:r>
            <a:r>
              <a:rPr spc="-100" dirty="0"/>
              <a:t> </a:t>
            </a:r>
            <a:r>
              <a:rPr dirty="0"/>
              <a:t>are</a:t>
            </a:r>
            <a:r>
              <a:rPr spc="-85" dirty="0"/>
              <a:t> </a:t>
            </a:r>
            <a:r>
              <a:rPr spc="-10" dirty="0"/>
              <a:t>stacked.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i="1" dirty="0">
                <a:solidFill>
                  <a:srgbClr val="FF0000"/>
                </a:solidFill>
                <a:latin typeface="Verdana"/>
                <a:cs typeface="Verdana"/>
              </a:rPr>
              <a:t>Why?</a:t>
            </a:r>
            <a:r>
              <a:rPr b="1" i="1" spc="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A</a:t>
            </a:r>
            <a:r>
              <a:rPr spc="-5" dirty="0"/>
              <a:t>  </a:t>
            </a:r>
            <a:r>
              <a:rPr dirty="0"/>
              <a:t>diode</a:t>
            </a:r>
            <a:r>
              <a:rPr spc="-5" dirty="0"/>
              <a:t>  </a:t>
            </a:r>
            <a:r>
              <a:rPr dirty="0"/>
              <a:t>with</a:t>
            </a:r>
            <a:r>
              <a:rPr spc="-5" dirty="0"/>
              <a:t>  </a:t>
            </a:r>
            <a:r>
              <a:rPr dirty="0"/>
              <a:t>higher</a:t>
            </a:r>
            <a:r>
              <a:rPr spc="-10" dirty="0"/>
              <a:t>  </a:t>
            </a:r>
            <a:r>
              <a:rPr dirty="0"/>
              <a:t>or</a:t>
            </a:r>
            <a:r>
              <a:rPr spc="-10" dirty="0"/>
              <a:t>  </a:t>
            </a:r>
            <a:r>
              <a:rPr dirty="0"/>
              <a:t>lower</a:t>
            </a:r>
            <a:r>
              <a:rPr spc="-10" dirty="0"/>
              <a:t>  </a:t>
            </a:r>
            <a:r>
              <a:rPr dirty="0"/>
              <a:t>intensity</a:t>
            </a:r>
            <a:r>
              <a:rPr spc="-15" dirty="0"/>
              <a:t>  </a:t>
            </a:r>
            <a:r>
              <a:rPr dirty="0"/>
              <a:t>than</a:t>
            </a:r>
            <a:r>
              <a:rPr spc="-5" dirty="0"/>
              <a:t>  </a:t>
            </a:r>
            <a:r>
              <a:rPr spc="-25" dirty="0"/>
              <a:t>its 	</a:t>
            </a:r>
            <a:r>
              <a:rPr dirty="0"/>
              <a:t>neighbors</a:t>
            </a:r>
            <a:r>
              <a:rPr spc="-6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very</a:t>
            </a:r>
            <a:r>
              <a:rPr spc="-40" dirty="0"/>
              <a:t> </a:t>
            </a:r>
            <a:r>
              <a:rPr dirty="0"/>
              <a:t>obvious</a:t>
            </a:r>
            <a:r>
              <a:rPr spc="-6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20" dirty="0"/>
              <a:t>eye.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62720" y="426127"/>
            <a:ext cx="55340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Dot</a:t>
            </a:r>
            <a:r>
              <a:rPr spc="-45" dirty="0"/>
              <a:t> </a:t>
            </a:r>
            <a:r>
              <a:rPr dirty="0"/>
              <a:t>Matrix</a:t>
            </a:r>
            <a:r>
              <a:rPr spc="-5" dirty="0"/>
              <a:t> </a:t>
            </a:r>
            <a:r>
              <a:rPr spc="-10" dirty="0"/>
              <a:t>Displays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7382509" cy="2037714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An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alternative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seven-</a:t>
            </a:r>
            <a:r>
              <a:rPr sz="2200" dirty="0">
                <a:latin typeface="Verdana"/>
                <a:cs typeface="Verdana"/>
              </a:rPr>
              <a:t>segment</a:t>
            </a:r>
            <a:r>
              <a:rPr sz="2200" spc="-10" dirty="0">
                <a:latin typeface="Verdana"/>
                <a:cs typeface="Verdana"/>
              </a:rPr>
              <a:t> display.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Used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numbers,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letters,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various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alphabets.</a:t>
            </a:r>
            <a:endParaRPr sz="2200">
              <a:latin typeface="Verdana"/>
              <a:cs typeface="Verdana"/>
            </a:endParaRPr>
          </a:p>
          <a:p>
            <a:pPr marL="389255" marR="18542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1891030" algn="l"/>
                <a:tab pos="2348230" algn="l"/>
                <a:tab pos="3907154" algn="l"/>
                <a:tab pos="5281930" algn="l"/>
                <a:tab pos="5840095" algn="l"/>
                <a:tab pos="6729730" algn="l"/>
              </a:tabLst>
            </a:pPr>
            <a:r>
              <a:rPr sz="2200" spc="-10" dirty="0">
                <a:latin typeface="Verdana"/>
                <a:cs typeface="Verdana"/>
              </a:rPr>
              <a:t>Requires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sufficient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number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dots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per 	</a:t>
            </a:r>
            <a:r>
              <a:rPr sz="2200" spc="-10" dirty="0">
                <a:latin typeface="Verdana"/>
                <a:cs typeface="Verdana"/>
              </a:rPr>
              <a:t>versatility.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42010" y="2692320"/>
            <a:ext cx="1240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0740" algn="l"/>
              </a:tabLst>
            </a:pPr>
            <a:r>
              <a:rPr sz="2200" spc="-20" dirty="0">
                <a:latin typeface="Verdana"/>
                <a:cs typeface="Verdana"/>
              </a:rPr>
              <a:t>unit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48969" y="426127"/>
            <a:ext cx="55594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Dot</a:t>
            </a:r>
            <a:r>
              <a:rPr spc="-45" dirty="0"/>
              <a:t> </a:t>
            </a:r>
            <a:r>
              <a:rPr dirty="0"/>
              <a:t>Matrix</a:t>
            </a:r>
            <a:r>
              <a:rPr spc="-5" dirty="0"/>
              <a:t> </a:t>
            </a:r>
            <a:r>
              <a:rPr spc="-10" dirty="0"/>
              <a:t>Patterns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8390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4</a:t>
            </a:r>
            <a:r>
              <a:rPr sz="2200"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x</a:t>
            </a:r>
            <a:r>
              <a:rPr sz="2200" b="1" spc="-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7</a:t>
            </a:r>
            <a:r>
              <a:rPr sz="2200" b="1" spc="-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Pattern:</a:t>
            </a:r>
            <a:r>
              <a:rPr sz="2200"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Sufficient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5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digits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English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capital 	letters.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5</a:t>
            </a:r>
            <a:r>
              <a:rPr sz="2200" b="1" spc="2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x</a:t>
            </a:r>
            <a:r>
              <a:rPr sz="2200"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7</a:t>
            </a:r>
            <a:r>
              <a:rPr sz="2200"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Pattern:</a:t>
            </a:r>
            <a:r>
              <a:rPr sz="2200"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Allows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greater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versatility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character 	representation.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Usually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sold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controlling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circuits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built-</a:t>
            </a:r>
            <a:r>
              <a:rPr sz="2200" spc="-25" dirty="0">
                <a:latin typeface="Verdana"/>
                <a:cs typeface="Verdana"/>
              </a:rPr>
              <a:t>in.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97180" y="426127"/>
            <a:ext cx="66687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Multi-</a:t>
            </a:r>
            <a:r>
              <a:rPr dirty="0"/>
              <a:t>Digit</a:t>
            </a:r>
            <a:r>
              <a:rPr spc="-15" dirty="0"/>
              <a:t> </a:t>
            </a:r>
            <a:r>
              <a:rPr spc="-10" dirty="0"/>
              <a:t>Multiplexing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6083" y="1518283"/>
            <a:ext cx="870712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675764" algn="l"/>
                <a:tab pos="3089910" algn="l"/>
                <a:tab pos="3592195" algn="l"/>
                <a:tab pos="4858385" algn="l"/>
                <a:tab pos="6573520" algn="l"/>
                <a:tab pos="7242809" algn="l"/>
              </a:tabLst>
            </a:pPr>
            <a:r>
              <a:rPr sz="2200" spc="-10" dirty="0">
                <a:latin typeface="Verdana"/>
                <a:cs typeface="Verdana"/>
              </a:rPr>
              <a:t>Driving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circuitry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usually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integrated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multi-digit 	displays.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Multiplexed</a:t>
            </a:r>
            <a:r>
              <a:rPr sz="2200" b="1" spc="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Basis:</a:t>
            </a:r>
            <a:r>
              <a:rPr sz="2200" b="1" spc="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Display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bars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identical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positions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on 	</a:t>
            </a:r>
            <a:r>
              <a:rPr sz="2200" dirty="0">
                <a:latin typeface="Verdana"/>
                <a:cs typeface="Verdana"/>
              </a:rPr>
              <a:t>different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units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connected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parallel.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1551" y="3581400"/>
            <a:ext cx="5356860" cy="36621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78326" y="426127"/>
            <a:ext cx="69024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30" dirty="0"/>
              <a:t> </a:t>
            </a:r>
            <a:r>
              <a:rPr dirty="0"/>
              <a:t>Multiplexing</a:t>
            </a:r>
            <a:r>
              <a:rPr spc="-60" dirty="0"/>
              <a:t> </a:t>
            </a:r>
            <a:r>
              <a:rPr spc="-10" dirty="0"/>
              <a:t>Works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dirty="0"/>
              <a:t>Multiplexing</a:t>
            </a:r>
            <a:r>
              <a:rPr spc="-60" dirty="0"/>
              <a:t>  </a:t>
            </a:r>
            <a:r>
              <a:rPr dirty="0"/>
              <a:t>switches</a:t>
            </a:r>
            <a:r>
              <a:rPr spc="-65" dirty="0"/>
              <a:t>  </a:t>
            </a:r>
            <a:r>
              <a:rPr dirty="0"/>
              <a:t>isolate</a:t>
            </a:r>
            <a:r>
              <a:rPr spc="-60" dirty="0"/>
              <a:t>  </a:t>
            </a:r>
            <a:r>
              <a:rPr dirty="0"/>
              <a:t>the</a:t>
            </a:r>
            <a:r>
              <a:rPr spc="-60" dirty="0"/>
              <a:t>  </a:t>
            </a:r>
            <a:r>
              <a:rPr dirty="0"/>
              <a:t>cathodes</a:t>
            </a:r>
            <a:r>
              <a:rPr spc="-65" dirty="0"/>
              <a:t>  </a:t>
            </a:r>
            <a:r>
              <a:rPr dirty="0"/>
              <a:t>of</a:t>
            </a:r>
            <a:r>
              <a:rPr spc="-65" dirty="0"/>
              <a:t>  </a:t>
            </a:r>
            <a:r>
              <a:rPr dirty="0"/>
              <a:t>all</a:t>
            </a:r>
            <a:r>
              <a:rPr spc="-70" dirty="0"/>
              <a:t>  </a:t>
            </a:r>
            <a:r>
              <a:rPr spc="-10" dirty="0"/>
              <a:t>diodes 	</a:t>
            </a:r>
            <a:r>
              <a:rPr dirty="0"/>
              <a:t>except</a:t>
            </a:r>
            <a:r>
              <a:rPr spc="-1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one</a:t>
            </a:r>
            <a:r>
              <a:rPr spc="-55" dirty="0"/>
              <a:t> </a:t>
            </a:r>
            <a:r>
              <a:rPr dirty="0"/>
              <a:t>unit</a:t>
            </a:r>
            <a:r>
              <a:rPr spc="-50" dirty="0"/>
              <a:t> </a:t>
            </a:r>
            <a:r>
              <a:rPr dirty="0"/>
              <a:t>at</a:t>
            </a:r>
            <a:r>
              <a:rPr spc="-3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time.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Digits</a:t>
            </a:r>
            <a:r>
              <a:rPr spc="-55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dirty="0"/>
              <a:t>displayed</a:t>
            </a:r>
            <a:r>
              <a:rPr spc="-40" dirty="0"/>
              <a:t> </a:t>
            </a:r>
            <a:r>
              <a:rPr dirty="0"/>
              <a:t>one</a:t>
            </a:r>
            <a:r>
              <a:rPr spc="-60" dirty="0"/>
              <a:t> </a:t>
            </a:r>
            <a:r>
              <a:rPr dirty="0"/>
              <a:t>at</a:t>
            </a:r>
            <a:r>
              <a:rPr spc="-4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time</a:t>
            </a:r>
            <a:r>
              <a:rPr spc="-6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rapid</a:t>
            </a:r>
            <a:r>
              <a:rPr spc="-35" dirty="0"/>
              <a:t> </a:t>
            </a:r>
            <a:r>
              <a:rPr spc="-10" dirty="0"/>
              <a:t>succession.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Input</a:t>
            </a:r>
            <a:r>
              <a:rPr spc="-8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must</a:t>
            </a:r>
            <a:r>
              <a:rPr spc="-40" dirty="0"/>
              <a:t> </a:t>
            </a:r>
            <a:r>
              <a:rPr dirty="0"/>
              <a:t>be</a:t>
            </a:r>
            <a:r>
              <a:rPr spc="-45" dirty="0"/>
              <a:t> </a:t>
            </a:r>
            <a:r>
              <a:rPr dirty="0"/>
              <a:t>synchronized</a:t>
            </a:r>
            <a:r>
              <a:rPr spc="-3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switching</a:t>
            </a:r>
            <a:r>
              <a:rPr spc="-55" dirty="0"/>
              <a:t> </a:t>
            </a:r>
            <a:r>
              <a:rPr spc="-10" dirty="0"/>
              <a:t>rate.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b="1" dirty="0">
                <a:solidFill>
                  <a:srgbClr val="009900"/>
                </a:solidFill>
                <a:latin typeface="Verdana"/>
                <a:cs typeface="Verdana"/>
              </a:rPr>
              <a:t>Disadvantage:</a:t>
            </a:r>
            <a:r>
              <a:rPr b="1" spc="-6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009900"/>
                </a:solidFill>
                <a:latin typeface="Verdana"/>
                <a:cs typeface="Verdana"/>
              </a:rPr>
              <a:t>Power</a:t>
            </a:r>
            <a:r>
              <a:rPr b="1" spc="-85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b="1" spc="-10" dirty="0">
                <a:solidFill>
                  <a:srgbClr val="009900"/>
                </a:solidFill>
                <a:latin typeface="Verdana"/>
                <a:cs typeface="Verdana"/>
              </a:rPr>
              <a:t>Consumption</a:t>
            </a:r>
          </a:p>
          <a:p>
            <a:pPr marL="893444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LEDs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consume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significant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quantity.</a:t>
            </a:r>
            <a:endParaRPr sz="2200">
              <a:latin typeface="Verdana"/>
              <a:cs typeface="Verdana"/>
            </a:endParaRPr>
          </a:p>
          <a:p>
            <a:pPr marL="893444" marR="508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seven-</a:t>
            </a:r>
            <a:r>
              <a:rPr sz="2200" dirty="0">
                <a:latin typeface="Verdana"/>
                <a:cs typeface="Verdana"/>
              </a:rPr>
              <a:t>segment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display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15–</a:t>
            </a:r>
            <a:r>
              <a:rPr sz="2200" dirty="0">
                <a:latin typeface="Verdana"/>
                <a:cs typeface="Verdana"/>
              </a:rPr>
              <a:t>20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per </a:t>
            </a:r>
            <a:r>
              <a:rPr sz="2200" spc="-10" dirty="0">
                <a:latin typeface="Verdana"/>
                <a:cs typeface="Verdana"/>
              </a:rPr>
              <a:t>segment.</a:t>
            </a:r>
            <a:endParaRPr sz="2200">
              <a:latin typeface="Verdana"/>
              <a:cs typeface="Verdana"/>
            </a:endParaRPr>
          </a:p>
          <a:p>
            <a:pPr marL="893444" marR="5715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spc="-45" dirty="0">
                <a:latin typeface="Verdana"/>
                <a:cs typeface="Verdana"/>
              </a:rPr>
              <a:t>Worst-</a:t>
            </a:r>
            <a:r>
              <a:rPr sz="2200" dirty="0">
                <a:latin typeface="Verdana"/>
                <a:cs typeface="Verdana"/>
              </a:rPr>
              <a:t>case: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four-</a:t>
            </a:r>
            <a:r>
              <a:rPr sz="2200" dirty="0">
                <a:latin typeface="Verdana"/>
                <a:cs typeface="Verdana"/>
              </a:rPr>
              <a:t>digit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display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showing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"8888"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can </a:t>
            </a:r>
            <a:r>
              <a:rPr sz="2200" dirty="0">
                <a:latin typeface="Verdana"/>
                <a:cs typeface="Verdana"/>
              </a:rPr>
              <a:t>draw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least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420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mA.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04737" y="426127"/>
            <a:ext cx="82448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Suitability</a:t>
            </a:r>
            <a:r>
              <a:rPr spc="-65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Power</a:t>
            </a:r>
            <a:r>
              <a:rPr spc="-10" dirty="0"/>
              <a:t> Sources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7120" cy="25406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Mains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Power: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levels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reasonable.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Battery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Power: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Generally,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question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standard 	LEDs.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Exceptions: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displays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(secondary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cells)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specialized 	</a:t>
            </a:r>
            <a:r>
              <a:rPr sz="2200" spc="-25" dirty="0">
                <a:latin typeface="Verdana"/>
                <a:cs typeface="Verdana"/>
              </a:rPr>
              <a:t>low-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LEDs.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9525" y="426127"/>
            <a:ext cx="84194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spc="-8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Shift</a:t>
            </a:r>
            <a:r>
              <a:rPr spc="3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spc="-25" dirty="0"/>
              <a:t>LCD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8390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power  needs,  LCDs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  preferred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portable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(calculators,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laptops).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Transition:</a:t>
            </a:r>
            <a:r>
              <a:rPr sz="2200" b="1" spc="475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LEDs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excellent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transducers,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LCDs 	</a:t>
            </a:r>
            <a:r>
              <a:rPr sz="2200" dirty="0">
                <a:latin typeface="Verdana"/>
                <a:cs typeface="Verdana"/>
              </a:rPr>
              <a:t>serve as more efficient light modulators for </a:t>
            </a:r>
            <a:r>
              <a:rPr sz="2200" spc="-10" dirty="0">
                <a:latin typeface="Verdana"/>
                <a:cs typeface="Verdana"/>
              </a:rPr>
              <a:t>battery-	</a:t>
            </a:r>
            <a:r>
              <a:rPr sz="2200" dirty="0">
                <a:latin typeface="Verdana"/>
                <a:cs typeface="Verdana"/>
              </a:rPr>
              <a:t>operated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gear.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3" y="1375991"/>
            <a:ext cx="9210040" cy="558355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516255" indent="-50355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Why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is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correct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polarity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essential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when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connecting</a:t>
            </a:r>
            <a:r>
              <a:rPr sz="1850" spc="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spc="-20" dirty="0">
                <a:latin typeface="Verdana"/>
                <a:cs typeface="Verdana"/>
              </a:rPr>
              <a:t>LED?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How</a:t>
            </a:r>
            <a:r>
              <a:rPr sz="1850" spc="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is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yellow</a:t>
            </a:r>
            <a:r>
              <a:rPr sz="1850" spc="-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light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typically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produced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using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LED</a:t>
            </a:r>
            <a:r>
              <a:rPr sz="1850" spc="1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sources?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What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is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purpose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"intensity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matching"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LED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column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displays?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Explain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physical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process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by</a:t>
            </a:r>
            <a:r>
              <a:rPr sz="1850" spc="-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which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LED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generates</a:t>
            </a:r>
            <a:r>
              <a:rPr sz="1850" spc="1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light.</a:t>
            </a:r>
            <a:endParaRPr sz="1850">
              <a:latin typeface="Verdana"/>
              <a:cs typeface="Verdana"/>
            </a:endParaRPr>
          </a:p>
          <a:p>
            <a:pPr marL="514984" marR="5080" indent="-502920">
              <a:lnSpc>
                <a:spcPts val="3370"/>
              </a:lnSpc>
              <a:spcBef>
                <a:spcPts val="295"/>
              </a:spcBef>
              <a:buAutoNum type="arabicPeriod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Compare</a:t>
            </a:r>
            <a:r>
              <a:rPr sz="1850" spc="1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advantages</a:t>
            </a:r>
            <a:r>
              <a:rPr sz="1850" spc="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limitations</a:t>
            </a:r>
            <a:r>
              <a:rPr sz="1850" spc="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seven-segment</a:t>
            </a:r>
            <a:r>
              <a:rPr sz="1850" spc="5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displays </a:t>
            </a:r>
            <a:r>
              <a:rPr sz="1850" dirty="0">
                <a:latin typeface="Verdana"/>
                <a:cs typeface="Verdana"/>
              </a:rPr>
              <a:t>versus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dot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matrix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displays.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835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Discuss</a:t>
            </a:r>
            <a:r>
              <a:rPr sz="1850" spc="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power</a:t>
            </a:r>
            <a:r>
              <a:rPr sz="1850" spc="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consumption</a:t>
            </a:r>
            <a:r>
              <a:rPr sz="1850" spc="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challenges</a:t>
            </a:r>
            <a:r>
              <a:rPr sz="1850" spc="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associated</a:t>
            </a:r>
            <a:r>
              <a:rPr sz="1850" spc="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with</a:t>
            </a:r>
            <a:r>
              <a:rPr sz="1850" spc="9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LED</a:t>
            </a:r>
            <a:r>
              <a:rPr sz="1850" spc="8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displays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5"/>
              </a:spcBef>
            </a:pPr>
            <a:r>
              <a:rPr sz="1850" dirty="0">
                <a:latin typeface="Verdana"/>
                <a:cs typeface="Verdana"/>
              </a:rPr>
              <a:t>in</a:t>
            </a:r>
            <a:r>
              <a:rPr sz="1850" spc="5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battery-</a:t>
            </a:r>
            <a:r>
              <a:rPr sz="1850" dirty="0">
                <a:latin typeface="Verdana"/>
                <a:cs typeface="Verdana"/>
              </a:rPr>
              <a:t>operated</a:t>
            </a:r>
            <a:r>
              <a:rPr sz="1850" spc="8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equipment.</a:t>
            </a:r>
            <a:endParaRPr sz="1850">
              <a:latin typeface="Verdana"/>
              <a:cs typeface="Verdana"/>
            </a:endParaRPr>
          </a:p>
          <a:p>
            <a:pPr marL="514984" marR="5080" indent="-502920">
              <a:lnSpc>
                <a:spcPts val="3370"/>
              </a:lnSpc>
              <a:spcBef>
                <a:spcPts val="295"/>
              </a:spcBef>
              <a:buAutoNum type="arabicPeriod" startAt="7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Describe</a:t>
            </a:r>
            <a:r>
              <a:rPr sz="1850" spc="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construction,</a:t>
            </a:r>
            <a:r>
              <a:rPr sz="1850" spc="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identification,</a:t>
            </a:r>
            <a:r>
              <a:rPr sz="1850" spc="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5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electrical</a:t>
            </a:r>
            <a:r>
              <a:rPr sz="1850" spc="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control</a:t>
            </a:r>
            <a:r>
              <a:rPr sz="1850" spc="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60" dirty="0">
                <a:latin typeface="Verdana"/>
                <a:cs typeface="Verdana"/>
              </a:rPr>
              <a:t>  </a:t>
            </a:r>
            <a:r>
              <a:rPr sz="1850" spc="-50" dirty="0">
                <a:latin typeface="Verdana"/>
                <a:cs typeface="Verdana"/>
              </a:rPr>
              <a:t>a </a:t>
            </a:r>
            <a:r>
              <a:rPr sz="1850" dirty="0">
                <a:latin typeface="Verdana"/>
                <a:cs typeface="Verdana"/>
              </a:rPr>
              <a:t>single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LED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spc="-20" dirty="0">
                <a:latin typeface="Verdana"/>
                <a:cs typeface="Verdana"/>
              </a:rPr>
              <a:t>unit.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835"/>
              </a:spcBef>
              <a:buAutoNum type="arabicPeriod" startAt="7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Explain</a:t>
            </a:r>
            <a:r>
              <a:rPr sz="1850" spc="2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principle</a:t>
            </a:r>
            <a:r>
              <a:rPr sz="1850" spc="2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2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necessity</a:t>
            </a:r>
            <a:r>
              <a:rPr sz="1850" spc="2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2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"multiplexing"</a:t>
            </a:r>
            <a:r>
              <a:rPr sz="1850" spc="3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2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multi-digit</a:t>
            </a:r>
            <a:r>
              <a:rPr sz="1850" spc="280" dirty="0">
                <a:latin typeface="Verdana"/>
                <a:cs typeface="Verdana"/>
              </a:rPr>
              <a:t> </a:t>
            </a:r>
            <a:r>
              <a:rPr sz="1850" spc="-25" dirty="0">
                <a:latin typeface="Verdana"/>
                <a:cs typeface="Verdana"/>
              </a:rPr>
              <a:t>LED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5"/>
              </a:spcBef>
            </a:pPr>
            <a:r>
              <a:rPr sz="1850" spc="-10" dirty="0">
                <a:latin typeface="Verdana"/>
                <a:cs typeface="Verdana"/>
              </a:rPr>
              <a:t>displays.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40"/>
              </a:spcBef>
              <a:buAutoNum type="arabicPeriod" startAt="9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What</a:t>
            </a:r>
            <a:r>
              <a:rPr sz="1850" spc="-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is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"multiplexing"</a:t>
            </a:r>
            <a:r>
              <a:rPr sz="1850" spc="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context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digital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displays?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36303"/>
            <a:ext cx="88753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	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526</Words>
  <Application>Microsoft Office PowerPoint</Application>
  <PresentationFormat>Custom</PresentationFormat>
  <Paragraphs>144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MT</vt:lpstr>
      <vt:lpstr>Verdana</vt:lpstr>
      <vt:lpstr>Wingdings</vt:lpstr>
      <vt:lpstr>Office Theme</vt:lpstr>
      <vt:lpstr>UEC3942:  Introduction to Sensors and Actuators</vt:lpstr>
      <vt:lpstr>Learning Outcomes</vt:lpstr>
      <vt:lpstr>Introduction to Solid-State Transducers</vt:lpstr>
      <vt:lpstr>LEDs vs. LCDs</vt:lpstr>
      <vt:lpstr>Basic LED Physics</vt:lpstr>
      <vt:lpstr>Radiation and Material Properties</vt:lpstr>
      <vt:lpstr>Common LED Materials</vt:lpstr>
      <vt:lpstr>Electrical Characteristics</vt:lpstr>
      <vt:lpstr>Physical Identification (Polarity)</vt:lpstr>
      <vt:lpstr>Illumination and Current</vt:lpstr>
      <vt:lpstr>Circuit Integration</vt:lpstr>
      <vt:lpstr>LED Colour Varieties</vt:lpstr>
      <vt:lpstr>Advanced LED Packages</vt:lpstr>
      <vt:lpstr>Alphanumeric Displays</vt:lpstr>
      <vt:lpstr>The Seven-Segment Display</vt:lpstr>
      <vt:lpstr>Driving Seven-Segment Displays</vt:lpstr>
      <vt:lpstr>Intensity Matching</vt:lpstr>
      <vt:lpstr>Dot Matrix Displays</vt:lpstr>
      <vt:lpstr>Dot Matrix Patterns</vt:lpstr>
      <vt:lpstr>Multi-Digit Multiplexing</vt:lpstr>
      <vt:lpstr>How Multiplexing Works</vt:lpstr>
      <vt:lpstr>Suitability for Power Sources</vt:lpstr>
      <vt:lpstr>Conclusion &amp; The Shift to LCD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Solid-state transducers</dc:title>
  <dc:creator>Karthie Alias Ayyadurai</dc:creator>
  <cp:lastModifiedBy>Microsoft account</cp:lastModifiedBy>
  <cp:revision>2</cp:revision>
  <dcterms:created xsi:type="dcterms:W3CDTF">2026-07-01T10:25:14Z</dcterms:created>
  <dcterms:modified xsi:type="dcterms:W3CDTF">2026-07-01T10:39:10Z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2026-01-27T00:00:00Z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