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9" r:id="rId34"/>
    <p:sldId id="290" r:id="rId35"/>
    <p:sldId id="291" r:id="rId36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0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9811" y="7368540"/>
            <a:ext cx="8057515" cy="264160"/>
          </a:xfrm>
          <a:custGeom>
            <a:avLst/>
            <a:gdLst/>
            <a:ahLst/>
            <a:cxnLst/>
            <a:rect l="l" t="t" r="r" b="b"/>
            <a:pathLst>
              <a:path w="8057515" h="264159">
                <a:moveTo>
                  <a:pt x="8057388" y="263652"/>
                </a:moveTo>
                <a:lnTo>
                  <a:pt x="0" y="263652"/>
                </a:lnTo>
                <a:lnTo>
                  <a:pt x="0" y="0"/>
                </a:lnTo>
                <a:lnTo>
                  <a:pt x="7906511" y="0"/>
                </a:lnTo>
                <a:lnTo>
                  <a:pt x="8057388" y="263652"/>
                </a:lnTo>
                <a:close/>
              </a:path>
            </a:pathLst>
          </a:custGeom>
          <a:solidFill>
            <a:srgbClr val="87BCD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9812" y="7424928"/>
            <a:ext cx="8139430" cy="233679"/>
          </a:xfrm>
          <a:custGeom>
            <a:avLst/>
            <a:gdLst/>
            <a:ahLst/>
            <a:cxnLst/>
            <a:rect l="l" t="t" r="r" b="b"/>
            <a:pathLst>
              <a:path w="8139430" h="233679">
                <a:moveTo>
                  <a:pt x="8139228" y="233171"/>
                </a:moveTo>
                <a:lnTo>
                  <a:pt x="0" y="233171"/>
                </a:lnTo>
                <a:lnTo>
                  <a:pt x="0" y="0"/>
                </a:lnTo>
                <a:lnTo>
                  <a:pt x="8001000" y="0"/>
                </a:lnTo>
                <a:lnTo>
                  <a:pt x="8139228" y="233171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616683" y="7094219"/>
            <a:ext cx="1039494" cy="425450"/>
          </a:xfrm>
          <a:custGeom>
            <a:avLst/>
            <a:gdLst/>
            <a:ahLst/>
            <a:cxnLst/>
            <a:rect l="l" t="t" r="r" b="b"/>
            <a:pathLst>
              <a:path w="1039495" h="425450">
                <a:moveTo>
                  <a:pt x="406908" y="103632"/>
                </a:moveTo>
                <a:lnTo>
                  <a:pt x="398614" y="65532"/>
                </a:lnTo>
                <a:lnTo>
                  <a:pt x="397433" y="60083"/>
                </a:lnTo>
                <a:lnTo>
                  <a:pt x="371995" y="30289"/>
                </a:lnTo>
                <a:lnTo>
                  <a:pt x="335153" y="11899"/>
                </a:lnTo>
                <a:lnTo>
                  <a:pt x="291426" y="2590"/>
                </a:lnTo>
                <a:lnTo>
                  <a:pt x="245364" y="0"/>
                </a:lnTo>
                <a:lnTo>
                  <a:pt x="188506" y="3898"/>
                </a:lnTo>
                <a:lnTo>
                  <a:pt x="141516" y="15417"/>
                </a:lnTo>
                <a:lnTo>
                  <a:pt x="104584" y="34290"/>
                </a:lnTo>
                <a:lnTo>
                  <a:pt x="61823" y="93141"/>
                </a:lnTo>
                <a:lnTo>
                  <a:pt x="56388" y="132588"/>
                </a:lnTo>
                <a:lnTo>
                  <a:pt x="60159" y="158711"/>
                </a:lnTo>
                <a:lnTo>
                  <a:pt x="72771" y="182689"/>
                </a:lnTo>
                <a:lnTo>
                  <a:pt x="96253" y="205244"/>
                </a:lnTo>
                <a:lnTo>
                  <a:pt x="132588" y="227076"/>
                </a:lnTo>
                <a:lnTo>
                  <a:pt x="207264" y="263652"/>
                </a:lnTo>
                <a:lnTo>
                  <a:pt x="221576" y="271678"/>
                </a:lnTo>
                <a:lnTo>
                  <a:pt x="233743" y="280987"/>
                </a:lnTo>
                <a:lnTo>
                  <a:pt x="242201" y="293446"/>
                </a:lnTo>
                <a:lnTo>
                  <a:pt x="245364" y="310896"/>
                </a:lnTo>
                <a:lnTo>
                  <a:pt x="240271" y="330504"/>
                </a:lnTo>
                <a:lnTo>
                  <a:pt x="226314" y="345376"/>
                </a:lnTo>
                <a:lnTo>
                  <a:pt x="205511" y="354838"/>
                </a:lnTo>
                <a:lnTo>
                  <a:pt x="179844" y="358140"/>
                </a:lnTo>
                <a:lnTo>
                  <a:pt x="158572" y="353402"/>
                </a:lnTo>
                <a:lnTo>
                  <a:pt x="140017" y="340804"/>
                </a:lnTo>
                <a:lnTo>
                  <a:pt x="126898" y="322783"/>
                </a:lnTo>
                <a:lnTo>
                  <a:pt x="121920" y="301752"/>
                </a:lnTo>
                <a:lnTo>
                  <a:pt x="121920" y="292608"/>
                </a:lnTo>
                <a:lnTo>
                  <a:pt x="0" y="292608"/>
                </a:lnTo>
                <a:lnTo>
                  <a:pt x="0" y="310896"/>
                </a:lnTo>
                <a:lnTo>
                  <a:pt x="1892" y="337743"/>
                </a:lnTo>
                <a:lnTo>
                  <a:pt x="19939" y="380555"/>
                </a:lnTo>
                <a:lnTo>
                  <a:pt x="62395" y="409130"/>
                </a:lnTo>
                <a:lnTo>
                  <a:pt x="133261" y="423468"/>
                </a:lnTo>
                <a:lnTo>
                  <a:pt x="179832" y="425196"/>
                </a:lnTo>
                <a:lnTo>
                  <a:pt x="236842" y="420624"/>
                </a:lnTo>
                <a:lnTo>
                  <a:pt x="285394" y="407416"/>
                </a:lnTo>
                <a:lnTo>
                  <a:pt x="324612" y="386334"/>
                </a:lnTo>
                <a:lnTo>
                  <a:pt x="353682" y="358140"/>
                </a:lnTo>
                <a:lnTo>
                  <a:pt x="371754" y="323596"/>
                </a:lnTo>
                <a:lnTo>
                  <a:pt x="377952" y="283464"/>
                </a:lnTo>
                <a:lnTo>
                  <a:pt x="372694" y="256628"/>
                </a:lnTo>
                <a:lnTo>
                  <a:pt x="357568" y="233362"/>
                </a:lnTo>
                <a:lnTo>
                  <a:pt x="333590" y="213817"/>
                </a:lnTo>
                <a:lnTo>
                  <a:pt x="301752" y="198120"/>
                </a:lnTo>
                <a:lnTo>
                  <a:pt x="227076" y="160020"/>
                </a:lnTo>
                <a:lnTo>
                  <a:pt x="207479" y="151434"/>
                </a:lnTo>
                <a:lnTo>
                  <a:pt x="192595" y="139255"/>
                </a:lnTo>
                <a:lnTo>
                  <a:pt x="183146" y="123380"/>
                </a:lnTo>
                <a:lnTo>
                  <a:pt x="179832" y="103632"/>
                </a:lnTo>
                <a:lnTo>
                  <a:pt x="184581" y="89966"/>
                </a:lnTo>
                <a:lnTo>
                  <a:pt x="197167" y="77724"/>
                </a:lnTo>
                <a:lnTo>
                  <a:pt x="215201" y="68922"/>
                </a:lnTo>
                <a:lnTo>
                  <a:pt x="236220" y="65532"/>
                </a:lnTo>
                <a:lnTo>
                  <a:pt x="255828" y="69062"/>
                </a:lnTo>
                <a:lnTo>
                  <a:pt x="270700" y="78867"/>
                </a:lnTo>
                <a:lnTo>
                  <a:pt x="280162" y="93827"/>
                </a:lnTo>
                <a:lnTo>
                  <a:pt x="283464" y="112776"/>
                </a:lnTo>
                <a:lnTo>
                  <a:pt x="283464" y="123380"/>
                </a:lnTo>
                <a:lnTo>
                  <a:pt x="406908" y="123380"/>
                </a:lnTo>
                <a:lnTo>
                  <a:pt x="406908" y="103632"/>
                </a:lnTo>
                <a:close/>
              </a:path>
              <a:path w="1039495" h="425450">
                <a:moveTo>
                  <a:pt x="670560" y="103632"/>
                </a:moveTo>
                <a:lnTo>
                  <a:pt x="661504" y="65532"/>
                </a:lnTo>
                <a:lnTo>
                  <a:pt x="633107" y="30289"/>
                </a:lnTo>
                <a:lnTo>
                  <a:pt x="595185" y="11899"/>
                </a:lnTo>
                <a:lnTo>
                  <a:pt x="552348" y="2590"/>
                </a:lnTo>
                <a:lnTo>
                  <a:pt x="510540" y="0"/>
                </a:lnTo>
                <a:lnTo>
                  <a:pt x="471538" y="1574"/>
                </a:lnTo>
                <a:lnTo>
                  <a:pt x="438531" y="5715"/>
                </a:lnTo>
                <a:lnTo>
                  <a:pt x="410679" y="11582"/>
                </a:lnTo>
                <a:lnTo>
                  <a:pt x="387096" y="18288"/>
                </a:lnTo>
                <a:lnTo>
                  <a:pt x="401408" y="34632"/>
                </a:lnTo>
                <a:lnTo>
                  <a:pt x="413575" y="54102"/>
                </a:lnTo>
                <a:lnTo>
                  <a:pt x="422033" y="77012"/>
                </a:lnTo>
                <a:lnTo>
                  <a:pt x="422122" y="77724"/>
                </a:lnTo>
                <a:lnTo>
                  <a:pt x="425196" y="103632"/>
                </a:lnTo>
                <a:lnTo>
                  <a:pt x="425196" y="112776"/>
                </a:lnTo>
                <a:lnTo>
                  <a:pt x="416115" y="123380"/>
                </a:lnTo>
                <a:lnTo>
                  <a:pt x="416052" y="132588"/>
                </a:lnTo>
                <a:lnTo>
                  <a:pt x="312420" y="132588"/>
                </a:lnTo>
                <a:lnTo>
                  <a:pt x="317449" y="158711"/>
                </a:lnTo>
                <a:lnTo>
                  <a:pt x="332041" y="182689"/>
                </a:lnTo>
                <a:lnTo>
                  <a:pt x="355498" y="205244"/>
                </a:lnTo>
                <a:lnTo>
                  <a:pt x="387096" y="227076"/>
                </a:lnTo>
                <a:lnTo>
                  <a:pt x="463296" y="263652"/>
                </a:lnTo>
                <a:lnTo>
                  <a:pt x="476973" y="271678"/>
                </a:lnTo>
                <a:lnTo>
                  <a:pt x="489204" y="280987"/>
                </a:lnTo>
                <a:lnTo>
                  <a:pt x="498017" y="293446"/>
                </a:lnTo>
                <a:lnTo>
                  <a:pt x="501396" y="310896"/>
                </a:lnTo>
                <a:lnTo>
                  <a:pt x="497713" y="330504"/>
                </a:lnTo>
                <a:lnTo>
                  <a:pt x="486727" y="345376"/>
                </a:lnTo>
                <a:lnTo>
                  <a:pt x="468617" y="354838"/>
                </a:lnTo>
                <a:lnTo>
                  <a:pt x="443484" y="358140"/>
                </a:lnTo>
                <a:lnTo>
                  <a:pt x="419252" y="353402"/>
                </a:lnTo>
                <a:lnTo>
                  <a:pt x="401574" y="340804"/>
                </a:lnTo>
                <a:lnTo>
                  <a:pt x="390766" y="322783"/>
                </a:lnTo>
                <a:lnTo>
                  <a:pt x="387096" y="301752"/>
                </a:lnTo>
                <a:lnTo>
                  <a:pt x="387096" y="292608"/>
                </a:lnTo>
                <a:lnTo>
                  <a:pt x="382358" y="321017"/>
                </a:lnTo>
                <a:lnTo>
                  <a:pt x="369760" y="348424"/>
                </a:lnTo>
                <a:lnTo>
                  <a:pt x="351739" y="373837"/>
                </a:lnTo>
                <a:lnTo>
                  <a:pt x="330708" y="396240"/>
                </a:lnTo>
                <a:lnTo>
                  <a:pt x="321564" y="396240"/>
                </a:lnTo>
                <a:lnTo>
                  <a:pt x="312420" y="405384"/>
                </a:lnTo>
                <a:lnTo>
                  <a:pt x="336410" y="412991"/>
                </a:lnTo>
                <a:lnTo>
                  <a:pt x="365950" y="419290"/>
                </a:lnTo>
                <a:lnTo>
                  <a:pt x="399224" y="423608"/>
                </a:lnTo>
                <a:lnTo>
                  <a:pt x="434340" y="425196"/>
                </a:lnTo>
                <a:lnTo>
                  <a:pt x="491998" y="420624"/>
                </a:lnTo>
                <a:lnTo>
                  <a:pt x="540969" y="407416"/>
                </a:lnTo>
                <a:lnTo>
                  <a:pt x="580453" y="386334"/>
                </a:lnTo>
                <a:lnTo>
                  <a:pt x="609663" y="358140"/>
                </a:lnTo>
                <a:lnTo>
                  <a:pt x="627773" y="323596"/>
                </a:lnTo>
                <a:lnTo>
                  <a:pt x="633984" y="283464"/>
                </a:lnTo>
                <a:lnTo>
                  <a:pt x="630161" y="256628"/>
                </a:lnTo>
                <a:lnTo>
                  <a:pt x="597344" y="213817"/>
                </a:lnTo>
                <a:lnTo>
                  <a:pt x="490728" y="160020"/>
                </a:lnTo>
                <a:lnTo>
                  <a:pt x="471779" y="151434"/>
                </a:lnTo>
                <a:lnTo>
                  <a:pt x="456819" y="139255"/>
                </a:lnTo>
                <a:lnTo>
                  <a:pt x="447014" y="123380"/>
                </a:lnTo>
                <a:lnTo>
                  <a:pt x="443484" y="103632"/>
                </a:lnTo>
                <a:lnTo>
                  <a:pt x="447014" y="89966"/>
                </a:lnTo>
                <a:lnTo>
                  <a:pt x="456819" y="77724"/>
                </a:lnTo>
                <a:lnTo>
                  <a:pt x="471779" y="68922"/>
                </a:lnTo>
                <a:lnTo>
                  <a:pt x="490728" y="65532"/>
                </a:lnTo>
                <a:lnTo>
                  <a:pt x="515861" y="69062"/>
                </a:lnTo>
                <a:lnTo>
                  <a:pt x="533971" y="78867"/>
                </a:lnTo>
                <a:lnTo>
                  <a:pt x="544957" y="93827"/>
                </a:lnTo>
                <a:lnTo>
                  <a:pt x="548640" y="112776"/>
                </a:lnTo>
                <a:lnTo>
                  <a:pt x="538048" y="123380"/>
                </a:lnTo>
                <a:lnTo>
                  <a:pt x="670560" y="123380"/>
                </a:lnTo>
                <a:lnTo>
                  <a:pt x="670560" y="103632"/>
                </a:lnTo>
                <a:close/>
              </a:path>
              <a:path w="1039495" h="425450">
                <a:moveTo>
                  <a:pt x="1039368" y="103632"/>
                </a:moveTo>
                <a:lnTo>
                  <a:pt x="1030973" y="59804"/>
                </a:lnTo>
                <a:lnTo>
                  <a:pt x="1007554" y="27241"/>
                </a:lnTo>
                <a:lnTo>
                  <a:pt x="971867" y="6985"/>
                </a:lnTo>
                <a:lnTo>
                  <a:pt x="926592" y="0"/>
                </a:lnTo>
                <a:lnTo>
                  <a:pt x="882777" y="5410"/>
                </a:lnTo>
                <a:lnTo>
                  <a:pt x="837819" y="21526"/>
                </a:lnTo>
                <a:lnTo>
                  <a:pt x="794575" y="48221"/>
                </a:lnTo>
                <a:lnTo>
                  <a:pt x="755904" y="85344"/>
                </a:lnTo>
                <a:lnTo>
                  <a:pt x="775716" y="9144"/>
                </a:lnTo>
                <a:lnTo>
                  <a:pt x="633984" y="9144"/>
                </a:lnTo>
                <a:lnTo>
                  <a:pt x="633984" y="18288"/>
                </a:lnTo>
                <a:lnTo>
                  <a:pt x="656805" y="34632"/>
                </a:lnTo>
                <a:lnTo>
                  <a:pt x="671322" y="54102"/>
                </a:lnTo>
                <a:lnTo>
                  <a:pt x="678992" y="77012"/>
                </a:lnTo>
                <a:lnTo>
                  <a:pt x="681228" y="103632"/>
                </a:lnTo>
                <a:lnTo>
                  <a:pt x="681228" y="132588"/>
                </a:lnTo>
                <a:lnTo>
                  <a:pt x="605028" y="132588"/>
                </a:lnTo>
                <a:lnTo>
                  <a:pt x="604964" y="133210"/>
                </a:lnTo>
                <a:lnTo>
                  <a:pt x="603465" y="146329"/>
                </a:lnTo>
                <a:lnTo>
                  <a:pt x="599313" y="160210"/>
                </a:lnTo>
                <a:lnTo>
                  <a:pt x="593458" y="174383"/>
                </a:lnTo>
                <a:lnTo>
                  <a:pt x="586740" y="188976"/>
                </a:lnTo>
                <a:lnTo>
                  <a:pt x="610984" y="209956"/>
                </a:lnTo>
                <a:lnTo>
                  <a:pt x="628650" y="232219"/>
                </a:lnTo>
                <a:lnTo>
                  <a:pt x="639470" y="256489"/>
                </a:lnTo>
                <a:lnTo>
                  <a:pt x="643128" y="283464"/>
                </a:lnTo>
                <a:lnTo>
                  <a:pt x="639470" y="317169"/>
                </a:lnTo>
                <a:lnTo>
                  <a:pt x="628650" y="347281"/>
                </a:lnTo>
                <a:lnTo>
                  <a:pt x="610984" y="373697"/>
                </a:lnTo>
                <a:lnTo>
                  <a:pt x="586740" y="396240"/>
                </a:lnTo>
                <a:lnTo>
                  <a:pt x="576072" y="405384"/>
                </a:lnTo>
                <a:lnTo>
                  <a:pt x="670560" y="405384"/>
                </a:lnTo>
                <a:lnTo>
                  <a:pt x="728472" y="198120"/>
                </a:lnTo>
                <a:lnTo>
                  <a:pt x="744601" y="156718"/>
                </a:lnTo>
                <a:lnTo>
                  <a:pt x="767143" y="120586"/>
                </a:lnTo>
                <a:lnTo>
                  <a:pt x="798563" y="95046"/>
                </a:lnTo>
                <a:lnTo>
                  <a:pt x="841248" y="85344"/>
                </a:lnTo>
                <a:lnTo>
                  <a:pt x="860856" y="87236"/>
                </a:lnTo>
                <a:lnTo>
                  <a:pt x="875728" y="93535"/>
                </a:lnTo>
                <a:lnTo>
                  <a:pt x="885190" y="105283"/>
                </a:lnTo>
                <a:lnTo>
                  <a:pt x="888492" y="123444"/>
                </a:lnTo>
                <a:lnTo>
                  <a:pt x="888352" y="131876"/>
                </a:lnTo>
                <a:lnTo>
                  <a:pt x="888238" y="133210"/>
                </a:lnTo>
                <a:lnTo>
                  <a:pt x="887349" y="142875"/>
                </a:lnTo>
                <a:lnTo>
                  <a:pt x="884643" y="155600"/>
                </a:lnTo>
                <a:lnTo>
                  <a:pt x="879348" y="169164"/>
                </a:lnTo>
                <a:lnTo>
                  <a:pt x="822960" y="358140"/>
                </a:lnTo>
                <a:lnTo>
                  <a:pt x="812292" y="387096"/>
                </a:lnTo>
                <a:lnTo>
                  <a:pt x="812292" y="405384"/>
                </a:lnTo>
                <a:lnTo>
                  <a:pt x="955548" y="405384"/>
                </a:lnTo>
                <a:lnTo>
                  <a:pt x="1021080" y="179832"/>
                </a:lnTo>
                <a:lnTo>
                  <a:pt x="1030224" y="141732"/>
                </a:lnTo>
                <a:lnTo>
                  <a:pt x="1035519" y="133210"/>
                </a:lnTo>
                <a:lnTo>
                  <a:pt x="1038225" y="122682"/>
                </a:lnTo>
                <a:lnTo>
                  <a:pt x="1039228" y="112166"/>
                </a:lnTo>
                <a:lnTo>
                  <a:pt x="1039342" y="105283"/>
                </a:lnTo>
                <a:lnTo>
                  <a:pt x="1039368" y="103632"/>
                </a:lnTo>
                <a:close/>
              </a:path>
            </a:pathLst>
          </a:custGeom>
          <a:solidFill>
            <a:srgbClr val="0048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69327" y="426127"/>
            <a:ext cx="2719745" cy="629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74585" y="1518283"/>
            <a:ext cx="8709660" cy="505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521670"/>
            <a:ext cx="9505905" cy="113642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674585" y="1518283"/>
            <a:ext cx="8709660" cy="4784421"/>
          </a:xfrm>
          <a:prstGeom prst="rect">
            <a:avLst/>
          </a:prstGeom>
        </p:spPr>
        <p:txBody>
          <a:bodyPr vert="horz" wrap="square" lIns="0" tIns="1100108" rIns="0" bIns="0" rtlCol="0">
            <a:spAutoFit/>
          </a:bodyPr>
          <a:lstStyle/>
          <a:p>
            <a:pPr marL="11430" marR="5080" indent="-1270" algn="ctr">
              <a:lnSpc>
                <a:spcPct val="100600"/>
              </a:lnSpc>
              <a:spcBef>
                <a:spcPts val="90"/>
              </a:spcBef>
            </a:pP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Unit</a:t>
            </a:r>
            <a:r>
              <a:rPr sz="35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II:</a:t>
            </a:r>
            <a:r>
              <a:rPr sz="35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Photodiodes,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Phototransistors</a:t>
            </a:r>
            <a:r>
              <a:rPr sz="3500" b="1" spc="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dirty="0">
                <a:solidFill>
                  <a:srgbClr val="FF0000"/>
                </a:solidFill>
                <a:latin typeface="Verdana"/>
                <a:cs typeface="Verdana"/>
              </a:rPr>
              <a:t>and</a:t>
            </a:r>
            <a:r>
              <a:rPr sz="3500"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500" b="1" spc="-10" dirty="0">
                <a:solidFill>
                  <a:srgbClr val="FF0000"/>
                </a:solidFill>
                <a:latin typeface="Verdana"/>
                <a:cs typeface="Verdana"/>
              </a:rPr>
              <a:t>Photovoltaic devices</a:t>
            </a:r>
            <a:endParaRPr sz="3500" dirty="0">
              <a:latin typeface="Verdana"/>
              <a:cs typeface="Verdana"/>
            </a:endParaRPr>
          </a:p>
          <a:p>
            <a:pPr marL="2955290" marR="2948305" algn="ctr">
              <a:lnSpc>
                <a:spcPct val="121600"/>
              </a:lnSpc>
              <a:spcBef>
                <a:spcPts val="1145"/>
              </a:spcBef>
            </a:pPr>
            <a:r>
              <a:rPr sz="2500" dirty="0">
                <a:solidFill>
                  <a:srgbClr val="808080"/>
                </a:solidFill>
              </a:rPr>
              <a:t>Presentation</a:t>
            </a:r>
            <a:r>
              <a:rPr sz="2500" spc="120" dirty="0">
                <a:solidFill>
                  <a:srgbClr val="808080"/>
                </a:solidFill>
              </a:rPr>
              <a:t> </a:t>
            </a:r>
            <a:r>
              <a:rPr sz="2500" spc="-25" dirty="0">
                <a:solidFill>
                  <a:srgbClr val="808080"/>
                </a:solidFill>
              </a:rPr>
              <a:t>by: </a:t>
            </a:r>
            <a:r>
              <a:rPr sz="2500" spc="-45" dirty="0">
                <a:solidFill>
                  <a:srgbClr val="808080"/>
                </a:solidFill>
              </a:rPr>
              <a:t>Dr.</a:t>
            </a:r>
            <a:r>
              <a:rPr sz="2500" spc="-85" dirty="0">
                <a:solidFill>
                  <a:srgbClr val="808080"/>
                </a:solidFill>
              </a:rPr>
              <a:t> </a:t>
            </a:r>
            <a:r>
              <a:rPr lang="en-GB" sz="2500" dirty="0" smtClean="0">
                <a:solidFill>
                  <a:srgbClr val="808080"/>
                </a:solidFill>
              </a:rPr>
              <a:t>C. </a:t>
            </a:r>
            <a:r>
              <a:rPr lang="en-GB" sz="2500" smtClean="0">
                <a:solidFill>
                  <a:srgbClr val="808080"/>
                </a:solidFill>
              </a:rPr>
              <a:t>Annadurai</a:t>
            </a:r>
            <a:endParaRPr sz="2500" dirty="0"/>
          </a:p>
          <a:p>
            <a:pPr marL="1623695" marR="1614805" algn="ctr">
              <a:lnSpc>
                <a:spcPts val="3650"/>
              </a:lnSpc>
              <a:spcBef>
                <a:spcPts val="90"/>
              </a:spcBef>
            </a:pPr>
            <a:r>
              <a:rPr sz="2500" dirty="0">
                <a:solidFill>
                  <a:srgbClr val="808080"/>
                </a:solidFill>
              </a:rPr>
              <a:t>Associate</a:t>
            </a:r>
            <a:r>
              <a:rPr sz="2500" spc="110" dirty="0">
                <a:solidFill>
                  <a:srgbClr val="808080"/>
                </a:solidFill>
              </a:rPr>
              <a:t> </a:t>
            </a:r>
            <a:r>
              <a:rPr sz="2500" dirty="0">
                <a:solidFill>
                  <a:srgbClr val="808080"/>
                </a:solidFill>
              </a:rPr>
              <a:t>Professor/Dept.</a:t>
            </a:r>
            <a:r>
              <a:rPr sz="2500" spc="145" dirty="0">
                <a:solidFill>
                  <a:srgbClr val="808080"/>
                </a:solidFill>
              </a:rPr>
              <a:t> </a:t>
            </a:r>
            <a:r>
              <a:rPr sz="2500" dirty="0">
                <a:solidFill>
                  <a:srgbClr val="808080"/>
                </a:solidFill>
              </a:rPr>
              <a:t>of</a:t>
            </a:r>
            <a:r>
              <a:rPr sz="2500" spc="95" dirty="0">
                <a:solidFill>
                  <a:srgbClr val="808080"/>
                </a:solidFill>
              </a:rPr>
              <a:t> </a:t>
            </a:r>
            <a:r>
              <a:rPr sz="2500" spc="-25" dirty="0">
                <a:solidFill>
                  <a:srgbClr val="808080"/>
                </a:solidFill>
              </a:rPr>
              <a:t>ECE </a:t>
            </a:r>
            <a:r>
              <a:rPr sz="2500" dirty="0">
                <a:solidFill>
                  <a:srgbClr val="808080"/>
                </a:solidFill>
              </a:rPr>
              <a:t>SSN</a:t>
            </a:r>
            <a:r>
              <a:rPr sz="2500" spc="35" dirty="0">
                <a:solidFill>
                  <a:srgbClr val="808080"/>
                </a:solidFill>
              </a:rPr>
              <a:t> </a:t>
            </a:r>
            <a:r>
              <a:rPr sz="2500" dirty="0">
                <a:solidFill>
                  <a:srgbClr val="808080"/>
                </a:solidFill>
              </a:rPr>
              <a:t>College</a:t>
            </a:r>
            <a:r>
              <a:rPr sz="2500" spc="70" dirty="0">
                <a:solidFill>
                  <a:srgbClr val="808080"/>
                </a:solidFill>
              </a:rPr>
              <a:t> </a:t>
            </a:r>
            <a:r>
              <a:rPr sz="2500" dirty="0">
                <a:solidFill>
                  <a:srgbClr val="808080"/>
                </a:solidFill>
              </a:rPr>
              <a:t>of</a:t>
            </a:r>
            <a:r>
              <a:rPr sz="2500" spc="30" dirty="0">
                <a:solidFill>
                  <a:srgbClr val="808080"/>
                </a:solidFill>
              </a:rPr>
              <a:t> </a:t>
            </a:r>
            <a:r>
              <a:rPr sz="2500" spc="-10" dirty="0">
                <a:solidFill>
                  <a:srgbClr val="808080"/>
                </a:solidFill>
              </a:rPr>
              <a:t>Engineering</a:t>
            </a:r>
            <a:endParaRPr sz="2500" dirty="0"/>
          </a:p>
        </p:txBody>
      </p:sp>
      <p:sp>
        <p:nvSpPr>
          <p:cNvPr id="4" name="object 4"/>
          <p:cNvSpPr/>
          <p:nvPr/>
        </p:nvSpPr>
        <p:spPr>
          <a:xfrm>
            <a:off x="0" y="114300"/>
            <a:ext cx="10058400" cy="1927860"/>
          </a:xfrm>
          <a:custGeom>
            <a:avLst/>
            <a:gdLst/>
            <a:ahLst/>
            <a:cxnLst/>
            <a:rect l="l" t="t" r="r" b="b"/>
            <a:pathLst>
              <a:path w="10058400" h="1927860">
                <a:moveTo>
                  <a:pt x="10058400" y="1927859"/>
                </a:moveTo>
                <a:lnTo>
                  <a:pt x="0" y="1927859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927859"/>
                </a:lnTo>
                <a:close/>
              </a:path>
            </a:pathLst>
          </a:custGeom>
          <a:solidFill>
            <a:srgbClr val="33529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7387" y="871727"/>
            <a:ext cx="9185275" cy="408940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12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r>
              <a:rPr lang="en-IN" sz="2650" dirty="0">
                <a:solidFill>
                  <a:srgbClr val="FF0000"/>
                </a:solidFill>
              </a:rPr>
              <a:t>UEC3942:</a:t>
            </a:r>
            <a:r>
              <a:rPr lang="en-IN" sz="2650" spc="-75" dirty="0">
                <a:solidFill>
                  <a:srgbClr val="FF0000"/>
                </a:solidFill>
              </a:rPr>
              <a:t> </a:t>
            </a:r>
            <a:r>
              <a:rPr sz="2650" dirty="0" smtClean="0">
                <a:solidFill>
                  <a:srgbClr val="FF0000"/>
                </a:solidFill>
              </a:rPr>
              <a:t>Introduction</a:t>
            </a:r>
            <a:r>
              <a:rPr sz="2650" spc="-135" dirty="0" smtClean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to</a:t>
            </a:r>
            <a:r>
              <a:rPr sz="2650" spc="-125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Sensors</a:t>
            </a:r>
            <a:r>
              <a:rPr sz="2650" spc="-120" dirty="0">
                <a:solidFill>
                  <a:srgbClr val="FF0000"/>
                </a:solidFill>
              </a:rPr>
              <a:t> </a:t>
            </a:r>
            <a:r>
              <a:rPr sz="2650" dirty="0">
                <a:solidFill>
                  <a:srgbClr val="FF0000"/>
                </a:solidFill>
              </a:rPr>
              <a:t>and</a:t>
            </a:r>
            <a:r>
              <a:rPr sz="2650" spc="-130" dirty="0">
                <a:solidFill>
                  <a:srgbClr val="FF0000"/>
                </a:solidFill>
              </a:rPr>
              <a:t> </a:t>
            </a:r>
            <a:r>
              <a:rPr sz="2650" spc="-10" dirty="0">
                <a:solidFill>
                  <a:srgbClr val="FF0000"/>
                </a:solidFill>
              </a:rPr>
              <a:t>Actuators</a:t>
            </a:r>
            <a:endParaRPr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47832" y="400909"/>
            <a:ext cx="2964180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Overview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0836" y="1675295"/>
            <a:ext cx="8790940" cy="10312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420"/>
              </a:spcBef>
              <a:buFont typeface="Times New Roman"/>
              <a:buChar char="▪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Focus</a:t>
            </a:r>
            <a:r>
              <a:rPr sz="2200" spc="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operating</a:t>
            </a:r>
            <a:r>
              <a:rPr sz="2200" spc="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principles,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characteristics,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and</a:t>
            </a:r>
            <a:endParaRPr sz="22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320"/>
              </a:spcBef>
            </a:pPr>
            <a:r>
              <a:rPr sz="2200" spc="-25" dirty="0">
                <a:latin typeface="Verdana"/>
                <a:cs typeface="Verdana"/>
              </a:rPr>
              <a:t>and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8727" y="2178197"/>
            <a:ext cx="7433309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2137410" algn="l"/>
                <a:tab pos="2870835" algn="l"/>
                <a:tab pos="5140960" algn="l"/>
              </a:tabLst>
            </a:pPr>
            <a:r>
              <a:rPr sz="2200" spc="-10" dirty="0">
                <a:latin typeface="Verdana"/>
                <a:cs typeface="Verdana"/>
              </a:rPr>
              <a:t>applications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photodiodes,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phototransistors </a:t>
            </a:r>
            <a:r>
              <a:rPr sz="2200" dirty="0">
                <a:latin typeface="Verdana"/>
                <a:cs typeface="Verdana"/>
              </a:rPr>
              <a:t>photovoltaic</a:t>
            </a:r>
            <a:r>
              <a:rPr sz="2200" spc="-1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devices.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280892" y="426127"/>
            <a:ext cx="54940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Learning</a:t>
            </a:r>
            <a:r>
              <a:rPr spc="-40" dirty="0"/>
              <a:t> </a:t>
            </a:r>
            <a:r>
              <a:rPr spc="-10" dirty="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25064" y="426127"/>
            <a:ext cx="800862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Introduction</a:t>
            </a:r>
            <a:r>
              <a:rPr spc="-5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Photodiodes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726907"/>
            <a:ext cx="8709025" cy="3546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715" indent="-377190" algn="just">
              <a:lnSpc>
                <a:spcPct val="150000"/>
              </a:lnSpc>
              <a:spcBef>
                <a:spcPts val="100"/>
              </a:spcBef>
              <a:buFont typeface="Times New Roman"/>
              <a:buChar char="➢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Construction:</a:t>
            </a:r>
            <a:r>
              <a:rPr sz="2200" b="1" spc="27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Built</a:t>
            </a:r>
            <a:r>
              <a:rPr sz="2200" spc="2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like</a:t>
            </a:r>
            <a:r>
              <a:rPr sz="2200" spc="2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standard</a:t>
            </a:r>
            <a:r>
              <a:rPr sz="2200" spc="2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silicon</a:t>
            </a:r>
            <a:r>
              <a:rPr sz="2200" spc="25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diodes</a:t>
            </a:r>
            <a:r>
              <a:rPr sz="2200" spc="25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but 	</a:t>
            </a:r>
            <a:r>
              <a:rPr sz="2200" dirty="0">
                <a:latin typeface="Verdana"/>
                <a:cs typeface="Verdana"/>
              </a:rPr>
              <a:t>without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opaque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coating.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Mechanism:</a:t>
            </a:r>
            <a:r>
              <a:rPr sz="2200" b="1" spc="1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falls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10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1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semiconductor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junction, 	</a:t>
            </a:r>
            <a:r>
              <a:rPr sz="2200" dirty="0">
                <a:latin typeface="Verdana"/>
                <a:cs typeface="Verdana"/>
              </a:rPr>
              <a:t>creating</a:t>
            </a:r>
            <a:r>
              <a:rPr sz="2200" spc="50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electron-</a:t>
            </a:r>
            <a:r>
              <a:rPr sz="2200" dirty="0">
                <a:latin typeface="Verdana"/>
                <a:cs typeface="Verdana"/>
              </a:rPr>
              <a:t>hole</a:t>
            </a:r>
            <a:r>
              <a:rPr sz="2200" spc="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pairs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allow</a:t>
            </a:r>
            <a:r>
              <a:rPr sz="2200" spc="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junction</a:t>
            </a:r>
            <a:r>
              <a:rPr sz="2200" spc="55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to 	</a:t>
            </a:r>
            <a:r>
              <a:rPr sz="2200" dirty="0">
                <a:latin typeface="Verdana"/>
                <a:cs typeface="Verdana"/>
              </a:rPr>
              <a:t>conduct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while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reverse-</a:t>
            </a:r>
            <a:r>
              <a:rPr sz="2200" spc="-10" dirty="0">
                <a:latin typeface="Verdana"/>
                <a:cs typeface="Verdana"/>
              </a:rPr>
              <a:t>biased.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Transparency:</a:t>
            </a:r>
            <a:r>
              <a:rPr sz="2200" b="1" spc="3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absence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3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coating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allows</a:t>
            </a:r>
            <a:r>
              <a:rPr sz="2200" spc="3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to 	</a:t>
            </a:r>
            <a:r>
              <a:rPr sz="2200" dirty="0">
                <a:latin typeface="Verdana"/>
                <a:cs typeface="Verdana"/>
              </a:rPr>
              <a:t>reach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affect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junction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conductivity.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854097" y="426127"/>
            <a:ext cx="634555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What</a:t>
            </a:r>
            <a:r>
              <a:rPr spc="-3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Photodiode?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9712" rIns="0" bIns="0" rtlCol="0">
            <a:spAutoFit/>
          </a:bodyPr>
          <a:lstStyle/>
          <a:p>
            <a:pPr marL="389255" marR="6985" indent="-377190">
              <a:lnSpc>
                <a:spcPct val="150000"/>
              </a:lnSpc>
              <a:spcBef>
                <a:spcPts val="100"/>
              </a:spcBef>
              <a:buFont typeface="Times New Roman"/>
              <a:buChar char="➢"/>
              <a:tabLst>
                <a:tab pos="390525" algn="l"/>
              </a:tabLst>
            </a:pPr>
            <a:r>
              <a:rPr dirty="0"/>
              <a:t>A</a:t>
            </a:r>
            <a:r>
              <a:rPr spc="330" dirty="0"/>
              <a:t> </a:t>
            </a:r>
            <a:r>
              <a:rPr dirty="0"/>
              <a:t>semiconductor</a:t>
            </a:r>
            <a:r>
              <a:rPr spc="325" dirty="0"/>
              <a:t> </a:t>
            </a:r>
            <a:r>
              <a:rPr dirty="0"/>
              <a:t>device</a:t>
            </a:r>
            <a:r>
              <a:rPr spc="330" dirty="0"/>
              <a:t> </a:t>
            </a:r>
            <a:r>
              <a:rPr dirty="0"/>
              <a:t>that</a:t>
            </a:r>
            <a:r>
              <a:rPr spc="305" dirty="0"/>
              <a:t> </a:t>
            </a:r>
            <a:r>
              <a:rPr dirty="0"/>
              <a:t>converts</a:t>
            </a:r>
            <a:r>
              <a:rPr spc="320" dirty="0"/>
              <a:t> </a:t>
            </a:r>
            <a:r>
              <a:rPr dirty="0"/>
              <a:t>light</a:t>
            </a:r>
            <a:r>
              <a:rPr spc="305" dirty="0"/>
              <a:t> </a:t>
            </a:r>
            <a:r>
              <a:rPr dirty="0"/>
              <a:t>into</a:t>
            </a:r>
            <a:r>
              <a:rPr spc="325" dirty="0"/>
              <a:t> </a:t>
            </a:r>
            <a:r>
              <a:rPr spc="-10" dirty="0"/>
              <a:t>electrical 	current.</a:t>
            </a:r>
          </a:p>
          <a:p>
            <a:pPr marL="389255" marR="5080" indent="-377190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dirty="0"/>
              <a:t>Symbol:</a:t>
            </a:r>
            <a:r>
              <a:rPr spc="170" dirty="0"/>
              <a:t> </a:t>
            </a:r>
            <a:r>
              <a:rPr dirty="0"/>
              <a:t>Standard</a:t>
            </a:r>
            <a:r>
              <a:rPr spc="190" dirty="0"/>
              <a:t> </a:t>
            </a:r>
            <a:r>
              <a:rPr dirty="0"/>
              <a:t>diode</a:t>
            </a:r>
            <a:r>
              <a:rPr spc="190" dirty="0"/>
              <a:t> </a:t>
            </a:r>
            <a:r>
              <a:rPr dirty="0"/>
              <a:t>symbol</a:t>
            </a:r>
            <a:r>
              <a:rPr spc="190" dirty="0"/>
              <a:t> </a:t>
            </a:r>
            <a:r>
              <a:rPr dirty="0"/>
              <a:t>with</a:t>
            </a:r>
            <a:r>
              <a:rPr spc="175" dirty="0"/>
              <a:t> </a:t>
            </a:r>
            <a:r>
              <a:rPr dirty="0"/>
              <a:t>two</a:t>
            </a:r>
            <a:r>
              <a:rPr spc="185" dirty="0"/>
              <a:t> </a:t>
            </a:r>
            <a:r>
              <a:rPr dirty="0"/>
              <a:t>arrows</a:t>
            </a:r>
            <a:r>
              <a:rPr spc="195" dirty="0"/>
              <a:t> </a:t>
            </a:r>
            <a:r>
              <a:rPr spc="-10" dirty="0"/>
              <a:t>pointing 	inward.</a:t>
            </a: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Times New Roman"/>
              <a:buChar char="➢"/>
              <a:tabLst>
                <a:tab pos="389890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Key</a:t>
            </a:r>
            <a:r>
              <a:rPr b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Fact:</a:t>
            </a:r>
            <a:r>
              <a:rPr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Usually</a:t>
            </a:r>
            <a:r>
              <a:rPr spc="-65" dirty="0"/>
              <a:t> </a:t>
            </a:r>
            <a:r>
              <a:rPr dirty="0"/>
              <a:t>operated</a:t>
            </a:r>
            <a:r>
              <a:rPr spc="-45" dirty="0"/>
              <a:t> </a:t>
            </a:r>
            <a:r>
              <a:rPr dirty="0"/>
              <a:t>in</a:t>
            </a:r>
            <a:r>
              <a:rPr spc="-85" dirty="0"/>
              <a:t> </a:t>
            </a:r>
            <a:r>
              <a:rPr b="1" dirty="0">
                <a:latin typeface="Verdana"/>
                <a:cs typeface="Verdana"/>
              </a:rPr>
              <a:t>Reverse</a:t>
            </a:r>
            <a:r>
              <a:rPr b="1" spc="-45" dirty="0">
                <a:latin typeface="Verdana"/>
                <a:cs typeface="Verdana"/>
              </a:rPr>
              <a:t> </a:t>
            </a:r>
            <a:r>
              <a:rPr b="1" dirty="0">
                <a:latin typeface="Verdana"/>
                <a:cs typeface="Verdana"/>
              </a:rPr>
              <a:t>Bias</a:t>
            </a:r>
            <a:r>
              <a:rPr b="1" spc="-35" dirty="0">
                <a:latin typeface="Verdana"/>
                <a:cs typeface="Verdana"/>
              </a:rPr>
              <a:t> </a:t>
            </a:r>
            <a:r>
              <a:rPr spc="-10" dirty="0"/>
              <a:t>mode.</a:t>
            </a: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6320" y="4514088"/>
            <a:ext cx="3227070" cy="24454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28995" y="426127"/>
            <a:ext cx="619760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Principle</a:t>
            </a:r>
            <a:r>
              <a:rPr spc="-45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553417"/>
            <a:ext cx="5080635" cy="153416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20"/>
              </a:spcBef>
              <a:buFont typeface="Times New Roman"/>
              <a:buChar char="➢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Internal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Photoelectric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Effect.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Creation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12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electron-</a:t>
            </a:r>
            <a:r>
              <a:rPr sz="2200" dirty="0">
                <a:latin typeface="Verdana"/>
                <a:cs typeface="Verdana"/>
              </a:rPr>
              <a:t>hole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pairs 	region.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09567" y="2224552"/>
            <a:ext cx="36741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Verdana"/>
                <a:cs typeface="Verdana"/>
              </a:rPr>
              <a:t>(EHPs)</a:t>
            </a:r>
            <a:r>
              <a:rPr sz="2200" spc="1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3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depletion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5102" y="3075234"/>
            <a:ext cx="9048750" cy="3249930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427990" indent="-377190">
              <a:lnSpc>
                <a:spcPct val="100000"/>
              </a:lnSpc>
              <a:spcBef>
                <a:spcPts val="1315"/>
              </a:spcBef>
              <a:buFont typeface="Times New Roman"/>
              <a:buChar char="➢"/>
              <a:tabLst>
                <a:tab pos="427990" algn="l"/>
              </a:tabLst>
            </a:pPr>
            <a:r>
              <a:rPr sz="2200" dirty="0">
                <a:latin typeface="Verdana"/>
                <a:cs typeface="Verdana"/>
              </a:rPr>
              <a:t>Formula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energy:</a:t>
            </a:r>
            <a:endParaRPr sz="2200">
              <a:latin typeface="Verdana"/>
              <a:cs typeface="Verdana"/>
            </a:endParaRPr>
          </a:p>
          <a:p>
            <a:pPr marR="14604" algn="ctr">
              <a:lnSpc>
                <a:spcPct val="100000"/>
              </a:lnSpc>
              <a:spcBef>
                <a:spcPts val="1460"/>
              </a:spcBef>
            </a:pPr>
            <a:r>
              <a:rPr sz="2650" i="1" spc="-560" dirty="0">
                <a:latin typeface="Times New Roman"/>
                <a:cs typeface="Times New Roman"/>
              </a:rPr>
              <a:t>𝐸</a:t>
            </a:r>
            <a:r>
              <a:rPr sz="2650" i="1" spc="170" dirty="0">
                <a:latin typeface="Times New Roman"/>
                <a:cs typeface="Times New Roman"/>
              </a:rPr>
              <a:t> </a:t>
            </a:r>
            <a:r>
              <a:rPr sz="2650" i="1" spc="175" dirty="0">
                <a:latin typeface="Times New Roman"/>
                <a:cs typeface="Times New Roman"/>
              </a:rPr>
              <a:t>=</a:t>
            </a:r>
            <a:r>
              <a:rPr sz="2650" i="1" spc="70" dirty="0">
                <a:latin typeface="Times New Roman"/>
                <a:cs typeface="Times New Roman"/>
              </a:rPr>
              <a:t> </a:t>
            </a:r>
            <a:r>
              <a:rPr sz="2650" i="1" spc="-25" dirty="0">
                <a:latin typeface="Times New Roman"/>
                <a:cs typeface="Times New Roman"/>
              </a:rPr>
              <a:t>ℎP</a:t>
            </a:r>
            <a:endParaRPr sz="2650">
              <a:latin typeface="Times New Roman"/>
              <a:cs typeface="Times New Roman"/>
            </a:endParaRPr>
          </a:p>
          <a:p>
            <a:pPr marL="441959">
              <a:lnSpc>
                <a:spcPct val="100000"/>
              </a:lnSpc>
              <a:spcBef>
                <a:spcPts val="1435"/>
              </a:spcBef>
            </a:pPr>
            <a:r>
              <a:rPr sz="2200" dirty="0">
                <a:latin typeface="Verdana"/>
                <a:cs typeface="Verdana"/>
              </a:rPr>
              <a:t>where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i="1" dirty="0">
                <a:latin typeface="Verdana"/>
                <a:cs typeface="Verdana"/>
              </a:rPr>
              <a:t>E</a:t>
            </a:r>
            <a:r>
              <a:rPr sz="2200" i="1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must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greater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bandgap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i="1" spc="-25" dirty="0">
                <a:latin typeface="Verdana"/>
                <a:cs typeface="Verdana"/>
              </a:rPr>
              <a:t>E</a:t>
            </a:r>
            <a:r>
              <a:rPr sz="2175" i="1" spc="-37" baseline="-21072" dirty="0">
                <a:latin typeface="Verdana"/>
                <a:cs typeface="Verdana"/>
              </a:rPr>
              <a:t>g</a:t>
            </a:r>
            <a:r>
              <a:rPr sz="2200" spc="-25" dirty="0"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  <a:p>
            <a:pPr marL="427355" marR="55880" indent="-377190">
              <a:lnSpc>
                <a:spcPct val="150000"/>
              </a:lnSpc>
              <a:buFont typeface="Times New Roman"/>
              <a:buChar char="➢"/>
              <a:tabLst>
                <a:tab pos="42862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photon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must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possess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enough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bridge</a:t>
            </a:r>
            <a:r>
              <a:rPr sz="2200" spc="1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forbidden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gap</a:t>
            </a:r>
            <a:r>
              <a:rPr sz="2200" spc="-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semiconductor</a:t>
            </a:r>
            <a:r>
              <a:rPr sz="2200" spc="-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material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create</a:t>
            </a:r>
            <a:r>
              <a:rPr sz="2200" spc="-85" dirty="0">
                <a:latin typeface="Verdana"/>
                <a:cs typeface="Verdana"/>
              </a:rPr>
              <a:t>  </a:t>
            </a:r>
            <a:r>
              <a:rPr sz="2200" spc="-50" dirty="0">
                <a:latin typeface="Verdana"/>
                <a:cs typeface="Verdana"/>
              </a:rPr>
              <a:t>a</a:t>
            </a:r>
            <a:endParaRPr sz="2200">
              <a:latin typeface="Verdana"/>
              <a:cs typeface="Verdana"/>
            </a:endParaRPr>
          </a:p>
          <a:p>
            <a:pPr marL="428625">
              <a:lnSpc>
                <a:spcPct val="100000"/>
              </a:lnSpc>
              <a:spcBef>
                <a:spcPts val="1720"/>
              </a:spcBef>
            </a:pPr>
            <a:r>
              <a:rPr sz="2200" dirty="0">
                <a:latin typeface="Verdana"/>
                <a:cs typeface="Verdana"/>
              </a:rPr>
              <a:t>charge</a:t>
            </a:r>
            <a:r>
              <a:rPr sz="2200" spc="-1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carrier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i.e.,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650" i="1" spc="-560" dirty="0">
                <a:latin typeface="Times New Roman"/>
                <a:cs typeface="Times New Roman"/>
              </a:rPr>
              <a:t>𝐸</a:t>
            </a:r>
            <a:r>
              <a:rPr sz="2650" i="1" spc="180" dirty="0">
                <a:latin typeface="Times New Roman"/>
                <a:cs typeface="Times New Roman"/>
              </a:rPr>
              <a:t> </a:t>
            </a:r>
            <a:r>
              <a:rPr sz="2650" i="1" spc="520" dirty="0">
                <a:latin typeface="Times New Roman"/>
                <a:cs typeface="Times New Roman"/>
              </a:rPr>
              <a:t>≥</a:t>
            </a:r>
            <a:r>
              <a:rPr sz="2650" i="1" spc="10" dirty="0">
                <a:latin typeface="Times New Roman"/>
                <a:cs typeface="Times New Roman"/>
              </a:rPr>
              <a:t> </a:t>
            </a:r>
            <a:r>
              <a:rPr sz="2650" i="1" spc="-25" dirty="0">
                <a:latin typeface="Times New Roman"/>
                <a:cs typeface="Times New Roman"/>
              </a:rPr>
              <a:t>𝐸</a:t>
            </a:r>
            <a:r>
              <a:rPr sz="2850" i="1" spc="-37" baseline="-16081" dirty="0">
                <a:latin typeface="Times New Roman"/>
                <a:cs typeface="Times New Roman"/>
              </a:rPr>
              <a:t>g</a:t>
            </a:r>
            <a:endParaRPr sz="2850" baseline="-16081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42363" y="426127"/>
            <a:ext cx="837565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How</a:t>
            </a:r>
            <a:r>
              <a:rPr spc="-35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Works</a:t>
            </a:r>
            <a:r>
              <a:rPr spc="-5" dirty="0"/>
              <a:t> </a:t>
            </a:r>
            <a:r>
              <a:rPr dirty="0"/>
              <a:t>(Reverse</a:t>
            </a:r>
            <a:r>
              <a:rPr spc="-35" dirty="0"/>
              <a:t> </a:t>
            </a:r>
            <a:r>
              <a:rPr spc="-10" dirty="0"/>
              <a:t>Bias):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3459" y="1506164"/>
            <a:ext cx="8790940" cy="555752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 algn="just">
              <a:lnSpc>
                <a:spcPct val="100000"/>
              </a:lnSpc>
              <a:spcBef>
                <a:spcPts val="1420"/>
              </a:spcBef>
              <a:buFont typeface="Times New Roman"/>
              <a:buChar char="➢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No</a:t>
            </a:r>
            <a:r>
              <a:rPr sz="22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Light:</a:t>
            </a:r>
            <a:r>
              <a:rPr sz="22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dark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flows.</a:t>
            </a:r>
            <a:endParaRPr sz="2200">
              <a:latin typeface="Verdana"/>
              <a:cs typeface="Verdana"/>
            </a:endParaRPr>
          </a:p>
          <a:p>
            <a:pPr marL="389255" marR="5715" indent="-377190" algn="just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Light</a:t>
            </a:r>
            <a:r>
              <a:rPr sz="2200" b="1" spc="4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Strikes:</a:t>
            </a:r>
            <a:r>
              <a:rPr sz="2200" b="1" spc="4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Photons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absorbed</a:t>
            </a:r>
            <a:r>
              <a:rPr sz="2200" spc="4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40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depletion</a:t>
            </a:r>
            <a:r>
              <a:rPr sz="2200" spc="41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region 	</a:t>
            </a:r>
            <a:r>
              <a:rPr sz="2200" dirty="0">
                <a:latin typeface="Verdana"/>
                <a:cs typeface="Verdana"/>
              </a:rPr>
              <a:t>create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electron-</a:t>
            </a:r>
            <a:r>
              <a:rPr sz="2200" dirty="0">
                <a:latin typeface="Verdana"/>
                <a:cs typeface="Verdana"/>
              </a:rPr>
              <a:t>hole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pairs.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Current</a:t>
            </a:r>
            <a:r>
              <a:rPr sz="2200" b="1" spc="9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Flow:</a:t>
            </a:r>
            <a:r>
              <a:rPr sz="2200" b="1" spc="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strong</a:t>
            </a:r>
            <a:r>
              <a:rPr sz="2200" spc="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electric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field</a:t>
            </a:r>
            <a:r>
              <a:rPr sz="2200" spc="7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sweeps</a:t>
            </a:r>
            <a:r>
              <a:rPr sz="2200" spc="7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these 	</a:t>
            </a:r>
            <a:r>
              <a:rPr sz="2200" dirty="0">
                <a:latin typeface="Verdana"/>
                <a:cs typeface="Verdana"/>
              </a:rPr>
              <a:t>carriers</a:t>
            </a:r>
            <a:r>
              <a:rPr sz="2200" spc="3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across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junction,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generating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photocurrent</a:t>
            </a:r>
            <a:r>
              <a:rPr sz="2200" spc="30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in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external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circuit.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Intensity</a:t>
            </a:r>
            <a:r>
              <a:rPr sz="2200" b="1" spc="-5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Matters:</a:t>
            </a:r>
            <a:r>
              <a:rPr sz="2200" b="1" spc="-5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means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-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pairs,</a:t>
            </a:r>
            <a:r>
              <a:rPr sz="2200" spc="-65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thus 	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current.</a:t>
            </a:r>
            <a:endParaRPr sz="2200">
              <a:latin typeface="Verdana"/>
              <a:cs typeface="Verdana"/>
            </a:endParaRPr>
          </a:p>
          <a:p>
            <a:pPr marL="12700" marR="6985" algn="just">
              <a:lnSpc>
                <a:spcPct val="150000"/>
              </a:lnSpc>
            </a:pPr>
            <a:r>
              <a:rPr sz="2200" dirty="0">
                <a:latin typeface="Verdana"/>
                <a:cs typeface="Verdana"/>
              </a:rPr>
              <a:t>In</a:t>
            </a:r>
            <a:r>
              <a:rPr sz="2200" spc="-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essence,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photodiode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translates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energy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into</a:t>
            </a:r>
            <a:r>
              <a:rPr sz="2200" spc="-25" dirty="0">
                <a:latin typeface="Verdana"/>
                <a:cs typeface="Verdana"/>
              </a:rPr>
              <a:t>  </a:t>
            </a:r>
            <a:r>
              <a:rPr sz="2200" spc="-50" dirty="0">
                <a:latin typeface="Verdana"/>
                <a:cs typeface="Verdana"/>
              </a:rPr>
              <a:t>a </a:t>
            </a:r>
            <a:r>
              <a:rPr sz="2200" dirty="0">
                <a:latin typeface="Verdana"/>
                <a:cs typeface="Verdana"/>
              </a:rPr>
              <a:t>measurable</a:t>
            </a:r>
            <a:r>
              <a:rPr sz="2200" spc="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electrical current,</a:t>
            </a:r>
            <a:r>
              <a:rPr sz="2200" spc="-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 it’s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V-</a:t>
            </a:r>
            <a:r>
              <a:rPr sz="2200" dirty="0">
                <a:latin typeface="Verdana"/>
                <a:cs typeface="Verdana"/>
              </a:rPr>
              <a:t>I</a:t>
            </a:r>
            <a:r>
              <a:rPr sz="2200" spc="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curve</a:t>
            </a:r>
            <a:r>
              <a:rPr sz="2200" spc="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mapping</a:t>
            </a:r>
            <a:r>
              <a:rPr sz="2200" spc="2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this light-</a:t>
            </a:r>
            <a:r>
              <a:rPr sz="2200" dirty="0">
                <a:latin typeface="Verdana"/>
                <a:cs typeface="Verdana"/>
              </a:rPr>
              <a:t>dependent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behavior.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27985" y="426127"/>
            <a:ext cx="700278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Construction</a:t>
            </a:r>
            <a:r>
              <a:rPr spc="-45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spc="-10" dirty="0"/>
              <a:t>Materials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8331" y="1477158"/>
            <a:ext cx="8710295" cy="354647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 algn="just">
              <a:lnSpc>
                <a:spcPct val="100000"/>
              </a:lnSpc>
              <a:spcBef>
                <a:spcPts val="1420"/>
              </a:spcBef>
              <a:buFont typeface="Times New Roman"/>
              <a:buChar char="➢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PN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Junction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structure.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Common</a:t>
            </a:r>
            <a:r>
              <a:rPr sz="2200" spc="18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materials:</a:t>
            </a:r>
            <a:r>
              <a:rPr sz="2200" spc="17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Silicon</a:t>
            </a:r>
            <a:r>
              <a:rPr sz="2200" spc="17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(Si)</a:t>
            </a:r>
            <a:r>
              <a:rPr sz="2200" spc="170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175" dirty="0">
                <a:latin typeface="Verdana"/>
                <a:cs typeface="Verdana"/>
              </a:rPr>
              <a:t>   </a:t>
            </a:r>
            <a:r>
              <a:rPr sz="2200" dirty="0">
                <a:latin typeface="Verdana"/>
                <a:cs typeface="Verdana"/>
              </a:rPr>
              <a:t>visible</a:t>
            </a:r>
            <a:r>
              <a:rPr sz="2200" spc="175" dirty="0">
                <a:latin typeface="Verdana"/>
                <a:cs typeface="Verdana"/>
              </a:rPr>
              <a:t>   </a:t>
            </a:r>
            <a:r>
              <a:rPr sz="2200" spc="-10" dirty="0">
                <a:latin typeface="Verdana"/>
                <a:cs typeface="Verdana"/>
              </a:rPr>
              <a:t>light, 	</a:t>
            </a:r>
            <a:r>
              <a:rPr sz="2200" dirty="0">
                <a:latin typeface="Verdana"/>
                <a:cs typeface="Verdana"/>
              </a:rPr>
              <a:t>Germanium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(Ge)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InGaAs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Infrared.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Times New Roman"/>
              <a:buChar char="➢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Importance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"Window"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lens.</a:t>
            </a:r>
            <a:endParaRPr sz="2200">
              <a:latin typeface="Verdana"/>
              <a:cs typeface="Verdana"/>
            </a:endParaRPr>
          </a:p>
          <a:p>
            <a:pPr marL="389255" marR="7620" indent="-377190" algn="just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Silicon's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bandgap</a:t>
            </a:r>
            <a:r>
              <a:rPr sz="2200" b="1" spc="5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approximately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1.1</a:t>
            </a:r>
            <a:r>
              <a:rPr sz="2200" b="1" spc="-15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eV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makes</a:t>
            </a:r>
            <a:r>
              <a:rPr sz="2200" spc="-3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it 	</a:t>
            </a:r>
            <a:r>
              <a:rPr sz="2200" dirty="0">
                <a:latin typeface="Verdana"/>
                <a:cs typeface="Verdana"/>
              </a:rPr>
              <a:t>ideal for detecting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light across the visible and 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near-	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infrared</a:t>
            </a:r>
            <a:r>
              <a:rPr sz="2200" b="1" spc="-3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spc="-10" dirty="0">
                <a:solidFill>
                  <a:srgbClr val="0070BF"/>
                </a:solidFill>
                <a:latin typeface="Verdana"/>
                <a:cs typeface="Verdana"/>
              </a:rPr>
              <a:t>range.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61001" y="426127"/>
            <a:ext cx="553910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Modes</a:t>
            </a:r>
            <a:r>
              <a:rPr spc="-30" dirty="0"/>
              <a:t> </a:t>
            </a:r>
            <a:r>
              <a:rPr dirty="0"/>
              <a:t>of</a:t>
            </a:r>
            <a:r>
              <a:rPr spc="-10" dirty="0"/>
              <a:t> Operation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6083" y="1726907"/>
            <a:ext cx="870902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Times New Roman"/>
              <a:buChar char="➢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Photovoltaic</a:t>
            </a:r>
            <a:r>
              <a:rPr sz="2200" b="1" spc="20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Mode</a:t>
            </a:r>
            <a:r>
              <a:rPr sz="2200" b="1" spc="2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(Zero</a:t>
            </a:r>
            <a:r>
              <a:rPr sz="2200" b="1" spc="2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Bias):</a:t>
            </a:r>
            <a:r>
              <a:rPr sz="2200" b="1" spc="2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solar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cells;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no 	</a:t>
            </a:r>
            <a:r>
              <a:rPr sz="2200" dirty="0">
                <a:latin typeface="Verdana"/>
                <a:cs typeface="Verdana"/>
              </a:rPr>
              <a:t>external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power.</a:t>
            </a:r>
            <a:endParaRPr sz="2200">
              <a:latin typeface="Verdana"/>
              <a:cs typeface="Verdana"/>
            </a:endParaRPr>
          </a:p>
          <a:p>
            <a:pPr marL="389255" marR="6350" indent="-377190">
              <a:lnSpc>
                <a:spcPct val="150000"/>
              </a:lnSpc>
              <a:buFont typeface="Times New Roman"/>
              <a:buChar char="➢"/>
              <a:tabLst>
                <a:tab pos="390525" algn="l"/>
                <a:tab pos="3424554" algn="l"/>
                <a:tab pos="4676775" algn="l"/>
                <a:tab pos="6503670" algn="l"/>
                <a:tab pos="7840980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Photoconductive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20" dirty="0">
                <a:solidFill>
                  <a:srgbClr val="FF0000"/>
                </a:solidFill>
                <a:latin typeface="Verdana"/>
                <a:cs typeface="Verdana"/>
              </a:rPr>
              <a:t>Mode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(Reverse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Bias):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35" dirty="0">
                <a:latin typeface="Verdana"/>
                <a:cs typeface="Verdana"/>
              </a:rPr>
              <a:t>Faster 	</a:t>
            </a:r>
            <a:r>
              <a:rPr sz="2200" dirty="0">
                <a:latin typeface="Verdana"/>
                <a:cs typeface="Verdana"/>
              </a:rPr>
              <a:t>response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time;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high-</a:t>
            </a:r>
            <a:r>
              <a:rPr sz="2200" dirty="0">
                <a:latin typeface="Verdana"/>
                <a:cs typeface="Verdana"/>
              </a:rPr>
              <a:t>speed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data.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4811" y="3913357"/>
            <a:ext cx="4190284" cy="322560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794996" y="6269228"/>
            <a:ext cx="2295525" cy="49466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85"/>
              </a:spcBef>
            </a:pP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Si</a:t>
            </a:r>
            <a:r>
              <a:rPr sz="1500" b="1" spc="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Photodiode</a:t>
            </a:r>
            <a:r>
              <a:rPr sz="1500" b="1" spc="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spc="-10" dirty="0">
                <a:solidFill>
                  <a:srgbClr val="FF0000"/>
                </a:solidFill>
                <a:latin typeface="Verdana"/>
                <a:cs typeface="Verdana"/>
              </a:rPr>
              <a:t>circuit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under</a:t>
            </a:r>
            <a:r>
              <a:rPr sz="1500" b="1" spc="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dirty="0">
                <a:solidFill>
                  <a:srgbClr val="FF0000"/>
                </a:solidFill>
                <a:latin typeface="Verdana"/>
                <a:cs typeface="Verdana"/>
              </a:rPr>
              <a:t>reverse</a:t>
            </a:r>
            <a:r>
              <a:rPr sz="1500" b="1" spc="1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500" b="1" spc="-20" dirty="0">
                <a:solidFill>
                  <a:srgbClr val="FF0000"/>
                </a:solidFill>
                <a:latin typeface="Verdana"/>
                <a:cs typeface="Verdana"/>
              </a:rPr>
              <a:t>bias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373962" y="426127"/>
            <a:ext cx="53130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V-</a:t>
            </a:r>
            <a:r>
              <a:rPr dirty="0"/>
              <a:t>I</a:t>
            </a:r>
            <a:r>
              <a:rPr spc="-10" dirty="0"/>
              <a:t> Characteristics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1611" y="1548787"/>
            <a:ext cx="9036685" cy="404876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427990" indent="-377190">
              <a:lnSpc>
                <a:spcPct val="100000"/>
              </a:lnSpc>
              <a:spcBef>
                <a:spcPts val="1420"/>
              </a:spcBef>
              <a:buFont typeface="Times New Roman"/>
              <a:buChar char="➢"/>
              <a:tabLst>
                <a:tab pos="427990" algn="l"/>
              </a:tabLst>
            </a:pPr>
            <a:r>
              <a:rPr sz="2200" dirty="0">
                <a:latin typeface="Verdana"/>
                <a:cs typeface="Verdana"/>
              </a:rPr>
              <a:t>Graph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showing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"Dark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Current"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(current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zero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light).</a:t>
            </a:r>
            <a:endParaRPr sz="2200">
              <a:latin typeface="Verdana"/>
              <a:cs typeface="Verdana"/>
            </a:endParaRPr>
          </a:p>
          <a:p>
            <a:pPr marL="427355" marR="45085" indent="-377190">
              <a:lnSpc>
                <a:spcPct val="150000"/>
              </a:lnSpc>
              <a:buFont typeface="Times New Roman"/>
              <a:buChar char="➢"/>
              <a:tabLst>
                <a:tab pos="428625" algn="l"/>
              </a:tabLst>
            </a:pPr>
            <a:r>
              <a:rPr sz="2200" dirty="0">
                <a:latin typeface="Verdana"/>
                <a:cs typeface="Verdana"/>
              </a:rPr>
              <a:t>Linear</a:t>
            </a:r>
            <a:r>
              <a:rPr sz="2200" spc="1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relationship</a:t>
            </a:r>
            <a:r>
              <a:rPr sz="2200" spc="1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between</a:t>
            </a:r>
            <a:r>
              <a:rPr sz="2200" spc="1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incident</a:t>
            </a:r>
            <a:r>
              <a:rPr sz="2200" spc="14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13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intensity</a:t>
            </a:r>
            <a:r>
              <a:rPr sz="2200" spc="14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and 	</a:t>
            </a:r>
            <a:r>
              <a:rPr sz="2200" dirty="0">
                <a:latin typeface="Verdana"/>
                <a:cs typeface="Verdana"/>
              </a:rPr>
              <a:t>output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(I</a:t>
            </a:r>
            <a:r>
              <a:rPr sz="2175" spc="-30" baseline="-21072" dirty="0">
                <a:latin typeface="Verdana"/>
                <a:cs typeface="Verdana"/>
              </a:rPr>
              <a:t>λ</a:t>
            </a:r>
            <a:r>
              <a:rPr sz="2200" spc="-20" dirty="0">
                <a:latin typeface="Verdana"/>
                <a:cs typeface="Verdana"/>
              </a:rPr>
              <a:t>).</a:t>
            </a:r>
            <a:endParaRPr sz="2200">
              <a:latin typeface="Verdana"/>
              <a:cs typeface="Verdana"/>
            </a:endParaRPr>
          </a:p>
          <a:p>
            <a:pPr marL="427355" marR="45085" indent="-377190">
              <a:lnSpc>
                <a:spcPct val="150000"/>
              </a:lnSpc>
              <a:buFont typeface="Times New Roman"/>
              <a:buChar char="➢"/>
              <a:tabLst>
                <a:tab pos="428625" algn="l"/>
              </a:tabLst>
            </a:pPr>
            <a:r>
              <a:rPr sz="2200" dirty="0">
                <a:latin typeface="Verdana"/>
                <a:cs typeface="Verdana"/>
              </a:rPr>
              <a:t>Effect</a:t>
            </a:r>
            <a:r>
              <a:rPr sz="2200" spc="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increasing</a:t>
            </a:r>
            <a:r>
              <a:rPr sz="2200" spc="8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illumination</a:t>
            </a:r>
            <a:r>
              <a:rPr sz="2200" spc="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on</a:t>
            </a:r>
            <a:r>
              <a:rPr sz="2200" spc="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reverse</a:t>
            </a:r>
            <a:r>
              <a:rPr sz="2200" spc="85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current 	curve.</a:t>
            </a:r>
            <a:endParaRPr sz="2200">
              <a:latin typeface="Verdana"/>
              <a:cs typeface="Verdana"/>
            </a:endParaRPr>
          </a:p>
          <a:p>
            <a:pPr marL="427355" marR="43180" indent="-377190">
              <a:lnSpc>
                <a:spcPct val="150000"/>
              </a:lnSpc>
              <a:buFont typeface="Times New Roman"/>
              <a:buChar char="➢"/>
              <a:tabLst>
                <a:tab pos="428625" algn="l"/>
              </a:tabLst>
            </a:pPr>
            <a:r>
              <a:rPr sz="2200" dirty="0">
                <a:latin typeface="Verdana"/>
                <a:cs typeface="Verdana"/>
              </a:rPr>
              <a:t>For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typical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photodiode,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peak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spectral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response</a:t>
            </a:r>
            <a:r>
              <a:rPr sz="2200" spc="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2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at 	</a:t>
            </a:r>
            <a:r>
              <a:rPr sz="2200" dirty="0">
                <a:latin typeface="Verdana"/>
                <a:cs typeface="Verdana"/>
              </a:rPr>
              <a:t>750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nm,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which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near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infrared,</a:t>
            </a:r>
            <a:r>
              <a:rPr sz="2200" spc="1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1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11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sensitivity</a:t>
            </a:r>
            <a:r>
              <a:rPr sz="2200" spc="13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is</a:t>
            </a:r>
            <a:endParaRPr sz="2200">
              <a:latin typeface="Verdana"/>
              <a:cs typeface="Verdana"/>
            </a:endParaRPr>
          </a:p>
          <a:p>
            <a:pPr marL="428625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Verdana"/>
                <a:cs typeface="Verdana"/>
              </a:rPr>
              <a:t>0.7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µA/mW/cm</a:t>
            </a:r>
            <a:r>
              <a:rPr sz="2175" spc="-15" baseline="24904" dirty="0">
                <a:latin typeface="Verdana"/>
                <a:cs typeface="Verdana"/>
              </a:rPr>
              <a:t>2</a:t>
            </a:r>
            <a:r>
              <a:rPr sz="2200" spc="-10" dirty="0"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373962" y="426127"/>
            <a:ext cx="53130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V-</a:t>
            </a:r>
            <a:r>
              <a:rPr dirty="0"/>
              <a:t>I</a:t>
            </a:r>
            <a:r>
              <a:rPr spc="-10" dirty="0"/>
              <a:t> Characteristics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73480" y="1706880"/>
            <a:ext cx="7444739" cy="52928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30058" y="426127"/>
            <a:ext cx="74002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Sensitivity</a:t>
            </a:r>
            <a:r>
              <a:rPr spc="-40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10" dirty="0"/>
              <a:t>Photodiodes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6020" y="1504666"/>
            <a:ext cx="9048115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055" marR="43180" indent="-377190">
              <a:lnSpc>
                <a:spcPct val="150000"/>
              </a:lnSpc>
              <a:spcBef>
                <a:spcPts val="100"/>
              </a:spcBef>
              <a:buFont typeface="Times New Roman"/>
              <a:buChar char="➢"/>
              <a:tabLst>
                <a:tab pos="441325" algn="l"/>
                <a:tab pos="4523740" algn="l"/>
                <a:tab pos="872871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Sensitivity:</a:t>
            </a:r>
            <a:r>
              <a:rPr sz="2200" b="1" spc="-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Measured</a:t>
            </a:r>
            <a:r>
              <a:rPr sz="2200" spc="52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in</a:t>
            </a:r>
            <a:r>
              <a:rPr sz="2200" dirty="0">
                <a:latin typeface="Verdana"/>
                <a:cs typeface="Verdana"/>
              </a:rPr>
              <a:t>	µA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9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per</a:t>
            </a:r>
            <a:r>
              <a:rPr sz="2200" spc="-10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mW/cm</a:t>
            </a:r>
            <a:r>
              <a:rPr sz="2175" spc="-15" baseline="24904" dirty="0">
                <a:latin typeface="Verdana"/>
                <a:cs typeface="Verdana"/>
              </a:rPr>
              <a:t>2</a:t>
            </a:r>
            <a:r>
              <a:rPr sz="2175" baseline="24904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 	</a:t>
            </a:r>
            <a:r>
              <a:rPr sz="2200" dirty="0">
                <a:latin typeface="Verdana"/>
                <a:cs typeface="Verdana"/>
              </a:rPr>
              <a:t>incident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power.</a:t>
            </a:r>
            <a:endParaRPr sz="2200">
              <a:latin typeface="Verdana"/>
              <a:cs typeface="Verdana"/>
            </a:endParaRPr>
          </a:p>
          <a:p>
            <a:pPr marL="440055" marR="43815" indent="-377190">
              <a:lnSpc>
                <a:spcPct val="150000"/>
              </a:lnSpc>
              <a:buFont typeface="Times New Roman"/>
              <a:buChar char="➢"/>
              <a:tabLst>
                <a:tab pos="4413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Dark</a:t>
            </a:r>
            <a:r>
              <a:rPr sz="2200" b="1" spc="2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Current:</a:t>
            </a:r>
            <a:r>
              <a:rPr sz="2200" b="1" spc="2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small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amount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(e.g.,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1.4</a:t>
            </a:r>
            <a:r>
              <a:rPr sz="2200" spc="21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nA) 	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flows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1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present.</a:t>
            </a:r>
            <a:endParaRPr sz="2200">
              <a:latin typeface="Verdana"/>
              <a:cs typeface="Verdana"/>
            </a:endParaRPr>
          </a:p>
          <a:p>
            <a:pPr marL="440055" marR="42545" indent="-377190">
              <a:lnSpc>
                <a:spcPct val="150000"/>
              </a:lnSpc>
              <a:buFont typeface="Times New Roman"/>
              <a:buChar char="➢"/>
              <a:tabLst>
                <a:tab pos="4413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Temperature</a:t>
            </a:r>
            <a:r>
              <a:rPr sz="2200" b="1" spc="2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Sensitivity:</a:t>
            </a:r>
            <a:r>
              <a:rPr sz="2200" b="1" spc="2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Dark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doubles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every 	</a:t>
            </a:r>
            <a:r>
              <a:rPr sz="2200" dirty="0">
                <a:latin typeface="Verdana"/>
                <a:cs typeface="Verdana"/>
              </a:rPr>
              <a:t>10°C</a:t>
            </a:r>
            <a:r>
              <a:rPr sz="2200" spc="-1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rise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temperature.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59144" y="124572"/>
            <a:ext cx="773684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40305" marR="5080" indent="-2428240">
              <a:lnSpc>
                <a:spcPct val="100200"/>
              </a:lnSpc>
              <a:spcBef>
                <a:spcPts val="100"/>
              </a:spcBef>
            </a:pPr>
            <a:r>
              <a:rPr dirty="0"/>
              <a:t>Advantages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Photodiodes </a:t>
            </a:r>
            <a:r>
              <a:rPr dirty="0"/>
              <a:t>over</a:t>
            </a:r>
            <a:r>
              <a:rPr spc="-5" dirty="0"/>
              <a:t> </a:t>
            </a:r>
            <a:r>
              <a:rPr spc="-20" dirty="0"/>
              <a:t>LDRs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820" y="1504666"/>
            <a:ext cx="8961120" cy="254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Times New Roman"/>
              <a:buChar char="➢"/>
              <a:tabLst>
                <a:tab pos="390525" algn="l"/>
                <a:tab pos="2170430" algn="l"/>
                <a:tab pos="2965450" algn="l"/>
                <a:tab pos="4256405" algn="l"/>
                <a:tab pos="5514340" algn="l"/>
                <a:tab pos="6811009" algn="l"/>
                <a:tab pos="872426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Linearity: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current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plotted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against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illumination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is 	</a:t>
            </a:r>
            <a:r>
              <a:rPr sz="2200" dirty="0">
                <a:latin typeface="Verdana"/>
                <a:cs typeface="Verdana"/>
              </a:rPr>
              <a:t>reasonably</a:t>
            </a:r>
            <a:r>
              <a:rPr sz="2200" spc="-1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linear.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Times New Roman"/>
              <a:buChar char="➢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Speed:</a:t>
            </a:r>
            <a:r>
              <a:rPr sz="2200" b="1" spc="-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Response</a:t>
            </a:r>
            <a:r>
              <a:rPr sz="2200" spc="-1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times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are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approximately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250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ns.</a:t>
            </a:r>
            <a:endParaRPr sz="2200">
              <a:latin typeface="Verdana"/>
              <a:cs typeface="Verdana"/>
            </a:endParaRPr>
          </a:p>
          <a:p>
            <a:pPr marL="389255" marR="6985" indent="-377190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High-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Frequency</a:t>
            </a:r>
            <a:r>
              <a:rPr sz="2200" b="1" spc="2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Use:</a:t>
            </a:r>
            <a:r>
              <a:rPr sz="2200" b="1" spc="2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Suitable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modulated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beams 	</a:t>
            </a:r>
            <a:r>
              <a:rPr sz="2200" dirty="0">
                <a:latin typeface="Verdana"/>
                <a:cs typeface="Verdana"/>
              </a:rPr>
              <a:t>carrying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video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signals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due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speed.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99306" y="124572"/>
            <a:ext cx="905954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4895" marR="5080" indent="-2322830">
              <a:lnSpc>
                <a:spcPct val="100200"/>
              </a:lnSpc>
              <a:spcBef>
                <a:spcPts val="100"/>
              </a:spcBef>
            </a:pPr>
            <a:r>
              <a:rPr dirty="0"/>
              <a:t>PIN</a:t>
            </a:r>
            <a:r>
              <a:rPr spc="-2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dirty="0"/>
              <a:t>Avalanche</a:t>
            </a:r>
            <a:r>
              <a:rPr spc="-10" dirty="0"/>
              <a:t> Photodiodes </a:t>
            </a:r>
            <a:r>
              <a:rPr dirty="0"/>
              <a:t>(Special</a:t>
            </a:r>
            <a:r>
              <a:rPr spc="-65" dirty="0"/>
              <a:t> </a:t>
            </a:r>
            <a:r>
              <a:rPr spc="-10" dirty="0"/>
              <a:t>Types)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820" y="1504666"/>
            <a:ext cx="8960485" cy="203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Times New Roman"/>
              <a:buChar char="➢"/>
              <a:tabLst>
                <a:tab pos="390525" algn="l"/>
                <a:tab pos="1288415" algn="l"/>
                <a:tab pos="2606040" algn="l"/>
                <a:tab pos="4112260" algn="l"/>
                <a:tab pos="4761865" algn="l"/>
                <a:tab pos="6209665" algn="l"/>
                <a:tab pos="7202170" algn="l"/>
                <a:tab pos="7788275" algn="l"/>
              </a:tabLst>
            </a:pPr>
            <a:r>
              <a:rPr sz="2200" b="1" spc="-25" dirty="0">
                <a:solidFill>
                  <a:srgbClr val="FF0000"/>
                </a:solidFill>
                <a:latin typeface="Verdana"/>
                <a:cs typeface="Verdana"/>
              </a:rPr>
              <a:t>PIN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Diode: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Features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Intrinsic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layer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increase 	</a:t>
            </a:r>
            <a:r>
              <a:rPr sz="2200" spc="-10" dirty="0">
                <a:latin typeface="Verdana"/>
                <a:cs typeface="Verdana"/>
              </a:rPr>
              <a:t>sensitivity.</a:t>
            </a:r>
            <a:endParaRPr sz="2200">
              <a:latin typeface="Verdana"/>
              <a:cs typeface="Verdana"/>
            </a:endParaRPr>
          </a:p>
          <a:p>
            <a:pPr marL="389255" marR="8890" indent="-377190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Avalanche</a:t>
            </a:r>
            <a:r>
              <a:rPr sz="2200" b="1" spc="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Photodiode</a:t>
            </a:r>
            <a:r>
              <a:rPr sz="2200" b="1" spc="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(APD):</a:t>
            </a:r>
            <a:r>
              <a:rPr sz="2200" b="1" spc="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Uses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internal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gain</a:t>
            </a:r>
            <a:r>
              <a:rPr sz="2200" spc="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(impact 	</a:t>
            </a:r>
            <a:r>
              <a:rPr sz="2200" dirty="0">
                <a:latin typeface="Verdana"/>
                <a:cs typeface="Verdana"/>
              </a:rPr>
              <a:t>ionization)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20" dirty="0">
                <a:latin typeface="Verdana"/>
                <a:cs typeface="Verdana"/>
              </a:rPr>
              <a:t> low-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detection.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99362" y="426127"/>
            <a:ext cx="745998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Summary</a:t>
            </a:r>
            <a:r>
              <a:rPr spc="-40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spc="-10" dirty="0"/>
              <a:t>Comparison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6820" y="1504666"/>
            <a:ext cx="8961755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7620" indent="-377190">
              <a:lnSpc>
                <a:spcPct val="150000"/>
              </a:lnSpc>
              <a:spcBef>
                <a:spcPts val="100"/>
              </a:spcBef>
              <a:buFont typeface="Times New Roman"/>
              <a:buChar char="➢"/>
              <a:tabLst>
                <a:tab pos="390525" algn="l"/>
                <a:tab pos="3718560" algn="l"/>
                <a:tab pos="5743575" algn="l"/>
                <a:tab pos="767905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Photomultipliers: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Extremely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sensitive,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noiseless 	</a:t>
            </a:r>
            <a:r>
              <a:rPr sz="2200" dirty="0">
                <a:latin typeface="Verdana"/>
                <a:cs typeface="Verdana"/>
              </a:rPr>
              <a:t>amplification,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used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low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light.</a:t>
            </a:r>
            <a:endParaRPr sz="2200">
              <a:latin typeface="Verdana"/>
              <a:cs typeface="Verdana"/>
            </a:endParaRPr>
          </a:p>
          <a:p>
            <a:pPr marL="389255" marR="6350" indent="-377190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Photoresistors</a:t>
            </a:r>
            <a:r>
              <a:rPr sz="2200" b="1" spc="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(LDRs):</a:t>
            </a:r>
            <a:r>
              <a:rPr sz="2200" b="1" spc="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Rugged,</a:t>
            </a:r>
            <a:r>
              <a:rPr sz="2200" spc="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voltage/AC</a:t>
            </a:r>
            <a:r>
              <a:rPr sz="2200" spc="8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capable, 	</a:t>
            </a:r>
            <a:r>
              <a:rPr sz="2200" dirty="0">
                <a:latin typeface="Verdana"/>
                <a:cs typeface="Verdana"/>
              </a:rPr>
              <a:t>but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slow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response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times.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Times New Roman"/>
              <a:buChar char="➢"/>
              <a:tabLst>
                <a:tab pos="390525" algn="l"/>
                <a:tab pos="2735580" algn="l"/>
                <a:tab pos="3592195" algn="l"/>
                <a:tab pos="5240020" algn="l"/>
                <a:tab pos="6308090" algn="l"/>
                <a:tab pos="7613650" algn="l"/>
                <a:tab pos="856170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Photodiodes: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Fast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response,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linear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output,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ideal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for 	</a:t>
            </a:r>
            <a:r>
              <a:rPr sz="2200" dirty="0">
                <a:latin typeface="Verdana"/>
                <a:cs typeface="Verdana"/>
              </a:rPr>
              <a:t>data/modulated</a:t>
            </a:r>
            <a:r>
              <a:rPr sz="2200" spc="-1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signals.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20234" y="426127"/>
            <a:ext cx="921575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Introduction</a:t>
            </a:r>
            <a:r>
              <a:rPr spc="-5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Phototransistors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3459" y="1506164"/>
            <a:ext cx="8792210" cy="404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6350" indent="-377190" algn="just">
              <a:lnSpc>
                <a:spcPct val="150000"/>
              </a:lnSpc>
              <a:spcBef>
                <a:spcPts val="100"/>
              </a:spcBef>
              <a:buFont typeface="Times New Roman"/>
              <a:buChar char="➢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What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it?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bipolar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transistor</a:t>
            </a:r>
            <a:r>
              <a:rPr sz="2200" spc="3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uses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instead</a:t>
            </a:r>
            <a:r>
              <a:rPr sz="2200" spc="38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of 	</a:t>
            </a:r>
            <a:r>
              <a:rPr sz="2200" dirty="0">
                <a:latin typeface="Verdana"/>
                <a:cs typeface="Verdana"/>
              </a:rPr>
              <a:t>base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current.</a:t>
            </a:r>
            <a:endParaRPr sz="2200">
              <a:latin typeface="Verdana"/>
              <a:cs typeface="Verdana"/>
            </a:endParaRPr>
          </a:p>
          <a:p>
            <a:pPr marL="389255" marR="8890" indent="-377190" algn="just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Symbol:</a:t>
            </a:r>
            <a:r>
              <a:rPr sz="2200" spc="1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Transistor</a:t>
            </a:r>
            <a:r>
              <a:rPr sz="2200" spc="16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symbol</a:t>
            </a:r>
            <a:r>
              <a:rPr sz="2200" spc="17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1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inward</a:t>
            </a:r>
            <a:r>
              <a:rPr sz="2200" spc="16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arrows</a:t>
            </a:r>
            <a:r>
              <a:rPr sz="2200" spc="15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(often 	</a:t>
            </a:r>
            <a:r>
              <a:rPr sz="2200" dirty="0">
                <a:latin typeface="Verdana"/>
                <a:cs typeface="Verdana"/>
              </a:rPr>
              <a:t>missing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base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lead).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Core</a:t>
            </a:r>
            <a:r>
              <a:rPr sz="2200" b="1" spc="2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Advantage:</a:t>
            </a:r>
            <a:r>
              <a:rPr sz="2200" b="1" spc="2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Built-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2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gain/amplification</a:t>
            </a:r>
            <a:r>
              <a:rPr sz="2200" spc="225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i.e.,</a:t>
            </a:r>
            <a:r>
              <a:rPr sz="2200" spc="24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phototransistor</a:t>
            </a:r>
            <a:r>
              <a:rPr sz="2200" spc="2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provides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internal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gain</a:t>
            </a:r>
            <a:r>
              <a:rPr sz="2200" spc="2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</a:t>
            </a:r>
            <a:r>
              <a:rPr sz="2200" i="1" dirty="0">
                <a:latin typeface="Verdana"/>
                <a:cs typeface="Verdana"/>
              </a:rPr>
              <a:t>β</a:t>
            </a:r>
            <a:r>
              <a:rPr sz="2200" dirty="0">
                <a:latin typeface="Verdana"/>
                <a:cs typeface="Verdana"/>
              </a:rPr>
              <a:t>),</a:t>
            </a:r>
            <a:r>
              <a:rPr sz="2200" spc="254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making 	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much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more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sensitive</a:t>
            </a:r>
            <a:r>
              <a:rPr sz="2200" spc="1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204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low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21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levels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1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standard 	photodiode.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9945" y="5182906"/>
            <a:ext cx="3595516" cy="21130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77889" y="426127"/>
            <a:ext cx="709739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Construction</a:t>
            </a:r>
            <a:r>
              <a:rPr spc="-4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spc="-10" dirty="0"/>
              <a:t>Symbol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3459" y="1506164"/>
            <a:ext cx="8792210" cy="2037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8255" indent="-377190">
              <a:lnSpc>
                <a:spcPct val="150000"/>
              </a:lnSpc>
              <a:spcBef>
                <a:spcPts val="100"/>
              </a:spcBef>
              <a:buFont typeface="Times New Roman"/>
              <a:buChar char="➢"/>
              <a:tabLst>
                <a:tab pos="390525" algn="l"/>
                <a:tab pos="2063750" algn="l"/>
                <a:tab pos="4002404" algn="l"/>
                <a:tab pos="5162550" algn="l"/>
                <a:tab pos="7499350" algn="l"/>
                <a:tab pos="849820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Physical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structure: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Large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base-</a:t>
            </a:r>
            <a:r>
              <a:rPr sz="2200" spc="-10" dirty="0">
                <a:latin typeface="Verdana"/>
                <a:cs typeface="Verdana"/>
              </a:rPr>
              <a:t>collector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area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to 	</a:t>
            </a:r>
            <a:r>
              <a:rPr sz="2200" dirty="0">
                <a:latin typeface="Verdana"/>
                <a:cs typeface="Verdana"/>
              </a:rPr>
              <a:t>maximize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absorption.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Comparison:</a:t>
            </a:r>
            <a:r>
              <a:rPr sz="2200" b="1" spc="3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It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acts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like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photodiode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integrated</a:t>
            </a:r>
            <a:r>
              <a:rPr sz="2200" spc="3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a 	</a:t>
            </a:r>
            <a:r>
              <a:rPr sz="2200" dirty="0">
                <a:latin typeface="Verdana"/>
                <a:cs typeface="Verdana"/>
              </a:rPr>
              <a:t>standard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BJT.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9510" y="3892121"/>
            <a:ext cx="4715491" cy="27707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960621" y="426127"/>
            <a:ext cx="41332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How it</a:t>
            </a:r>
            <a:r>
              <a:rPr spc="-25" dirty="0"/>
              <a:t> </a:t>
            </a:r>
            <a:r>
              <a:rPr spc="-10" dirty="0"/>
              <a:t>Works?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03536" y="3215640"/>
            <a:ext cx="2616819" cy="374141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87289" y="1506164"/>
            <a:ext cx="8876030" cy="4142104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435609" indent="-377190" algn="just">
              <a:lnSpc>
                <a:spcPct val="100000"/>
              </a:lnSpc>
              <a:spcBef>
                <a:spcPts val="1420"/>
              </a:spcBef>
              <a:buFont typeface="Times New Roman"/>
              <a:buChar char="➢"/>
              <a:tabLst>
                <a:tab pos="435609" algn="l"/>
              </a:tabLst>
            </a:pP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hits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base-</a:t>
            </a:r>
            <a:r>
              <a:rPr sz="2200" dirty="0">
                <a:latin typeface="Verdana"/>
                <a:cs typeface="Verdana"/>
              </a:rPr>
              <a:t>collector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junction.</a:t>
            </a:r>
            <a:endParaRPr sz="2200">
              <a:latin typeface="Verdana"/>
              <a:cs typeface="Verdana"/>
            </a:endParaRPr>
          </a:p>
          <a:p>
            <a:pPr marL="435609" marR="43180" indent="-377190" algn="just">
              <a:lnSpc>
                <a:spcPct val="150000"/>
              </a:lnSpc>
              <a:buFont typeface="Times New Roman"/>
              <a:buChar char="➢"/>
              <a:tabLst>
                <a:tab pos="436880" algn="l"/>
              </a:tabLst>
            </a:pPr>
            <a:r>
              <a:rPr sz="2200" dirty="0">
                <a:latin typeface="Verdana"/>
                <a:cs typeface="Verdana"/>
              </a:rPr>
              <a:t>This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junction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usually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reverse-</a:t>
            </a:r>
            <a:r>
              <a:rPr sz="2200" dirty="0">
                <a:latin typeface="Verdana"/>
                <a:cs typeface="Verdana"/>
              </a:rPr>
              <a:t>biased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4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large</a:t>
            </a:r>
            <a:r>
              <a:rPr sz="2200" spc="3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area, 	</a:t>
            </a:r>
            <a:r>
              <a:rPr sz="2200" dirty="0">
                <a:latin typeface="Verdana"/>
                <a:cs typeface="Verdana"/>
              </a:rPr>
              <a:t>acting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like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3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photodiode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provides</a:t>
            </a:r>
            <a:r>
              <a:rPr sz="2200" spc="2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2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for</a:t>
            </a:r>
            <a:r>
              <a:rPr sz="2200" spc="28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spc="-10" dirty="0">
                <a:latin typeface="Verdana"/>
                <a:cs typeface="Verdana"/>
              </a:rPr>
              <a:t>transistor.</a:t>
            </a:r>
            <a:endParaRPr sz="2200">
              <a:latin typeface="Verdana"/>
              <a:cs typeface="Verdana"/>
            </a:endParaRPr>
          </a:p>
          <a:p>
            <a:pPr marL="440055" marR="3977640" indent="-377190" algn="just">
              <a:lnSpc>
                <a:spcPct val="150000"/>
              </a:lnSpc>
              <a:spcBef>
                <a:spcPts val="730"/>
              </a:spcBef>
              <a:buFont typeface="Times New Roman"/>
              <a:buChar char="➢"/>
              <a:tabLst>
                <a:tab pos="441325" algn="l"/>
              </a:tabLst>
            </a:pPr>
            <a:r>
              <a:rPr sz="2200" dirty="0">
                <a:latin typeface="Verdana"/>
                <a:cs typeface="Verdana"/>
              </a:rPr>
              <a:t>This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generated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acts</a:t>
            </a:r>
            <a:r>
              <a:rPr sz="2200" spc="28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as 	</a:t>
            </a:r>
            <a:r>
              <a:rPr sz="2200" dirty="0">
                <a:latin typeface="Verdana"/>
                <a:cs typeface="Verdana"/>
              </a:rPr>
              <a:t>the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base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(</a:t>
            </a:r>
            <a:r>
              <a:rPr sz="2200" i="1" spc="-20" dirty="0">
                <a:latin typeface="Verdana"/>
                <a:cs typeface="Verdana"/>
              </a:rPr>
              <a:t>I</a:t>
            </a:r>
            <a:r>
              <a:rPr sz="2175" i="1" spc="-30" baseline="-21072" dirty="0">
                <a:latin typeface="Verdana"/>
                <a:cs typeface="Verdana"/>
              </a:rPr>
              <a:t>B</a:t>
            </a:r>
            <a:r>
              <a:rPr sz="2200" spc="-20" dirty="0">
                <a:latin typeface="Verdana"/>
                <a:cs typeface="Verdana"/>
              </a:rPr>
              <a:t>).</a:t>
            </a:r>
            <a:endParaRPr sz="2200">
              <a:latin typeface="Verdana"/>
              <a:cs typeface="Verdana"/>
            </a:endParaRPr>
          </a:p>
          <a:p>
            <a:pPr marL="440055" marR="3975100" indent="-377190" algn="just">
              <a:lnSpc>
                <a:spcPct val="150000"/>
              </a:lnSpc>
              <a:buFont typeface="Times New Roman"/>
              <a:buChar char="➢"/>
              <a:tabLst>
                <a:tab pos="441325" algn="l"/>
              </a:tabLst>
            </a:pPr>
            <a:r>
              <a:rPr sz="2200" dirty="0">
                <a:latin typeface="Verdana"/>
                <a:cs typeface="Verdana"/>
              </a:rPr>
              <a:t>The</a:t>
            </a:r>
            <a:r>
              <a:rPr sz="2200" spc="2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transistor</a:t>
            </a:r>
            <a:r>
              <a:rPr sz="2200" spc="2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amplifies</a:t>
            </a:r>
            <a:r>
              <a:rPr sz="2200" spc="285" dirty="0">
                <a:latin typeface="Verdana"/>
                <a:cs typeface="Verdana"/>
              </a:rPr>
              <a:t>  </a:t>
            </a:r>
            <a:r>
              <a:rPr sz="2200" spc="-20" dirty="0">
                <a:latin typeface="Verdana"/>
                <a:cs typeface="Verdana"/>
              </a:rPr>
              <a:t>this 	</a:t>
            </a:r>
            <a:r>
              <a:rPr sz="2200" spc="-125" dirty="0">
                <a:latin typeface="Verdana"/>
                <a:cs typeface="Verdana"/>
              </a:rPr>
              <a:t>current:</a:t>
            </a:r>
            <a:r>
              <a:rPr sz="2200" i="1" spc="-125" dirty="0">
                <a:latin typeface="Times New Roman"/>
                <a:cs typeface="Times New Roman"/>
              </a:rPr>
              <a:t>𝐼</a:t>
            </a:r>
            <a:r>
              <a:rPr sz="2400" i="1" spc="-187" baseline="-15625" dirty="0">
                <a:latin typeface="Times New Roman"/>
                <a:cs typeface="Times New Roman"/>
              </a:rPr>
              <a:t>C</a:t>
            </a:r>
            <a:r>
              <a:rPr sz="2400" i="1" spc="405" baseline="-15625" dirty="0">
                <a:latin typeface="Times New Roman"/>
                <a:cs typeface="Times New Roman"/>
              </a:rPr>
              <a:t> </a:t>
            </a:r>
            <a:r>
              <a:rPr sz="2200" i="1" spc="400" dirty="0">
                <a:latin typeface="Times New Roman"/>
                <a:cs typeface="Times New Roman"/>
              </a:rPr>
              <a:t>≈</a:t>
            </a:r>
            <a:r>
              <a:rPr sz="2200" i="1" spc="15" dirty="0">
                <a:latin typeface="Times New Roman"/>
                <a:cs typeface="Times New Roman"/>
              </a:rPr>
              <a:t> </a:t>
            </a:r>
            <a:r>
              <a:rPr sz="2200" i="1" spc="-509" dirty="0">
                <a:latin typeface="Times New Roman"/>
                <a:cs typeface="Times New Roman"/>
              </a:rPr>
              <a:t>𝛽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65" dirty="0">
                <a:latin typeface="Times New Roman"/>
                <a:cs typeface="Times New Roman"/>
              </a:rPr>
              <a:t>·</a:t>
            </a:r>
            <a:r>
              <a:rPr sz="2200" i="1" spc="-110" dirty="0">
                <a:latin typeface="Times New Roman"/>
                <a:cs typeface="Times New Roman"/>
              </a:rPr>
              <a:t> </a:t>
            </a:r>
            <a:r>
              <a:rPr sz="2200" i="1" spc="-710" dirty="0">
                <a:latin typeface="Times New Roman"/>
                <a:cs typeface="Times New Roman"/>
              </a:rPr>
              <a:t>𝐼</a:t>
            </a:r>
            <a:r>
              <a:rPr sz="2400" i="1" spc="-179" baseline="-15625" dirty="0">
                <a:latin typeface="Times New Roman"/>
                <a:cs typeface="Times New Roman"/>
              </a:rPr>
              <a:t>λ</a:t>
            </a:r>
            <a:r>
              <a:rPr sz="2200" spc="-250" dirty="0">
                <a:latin typeface="Verdana"/>
                <a:cs typeface="Verdana"/>
              </a:rPr>
              <a:t>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373962" y="426127"/>
            <a:ext cx="53130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0" dirty="0"/>
              <a:t>I-</a:t>
            </a:r>
            <a:r>
              <a:rPr dirty="0"/>
              <a:t>V</a:t>
            </a:r>
            <a:r>
              <a:rPr spc="25" dirty="0"/>
              <a:t> </a:t>
            </a:r>
            <a:r>
              <a:rPr spc="-10" dirty="0"/>
              <a:t>Characteristics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60" y="2042160"/>
            <a:ext cx="4715256" cy="418185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15939" y="2553020"/>
            <a:ext cx="3942793" cy="317721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019579" y="5761756"/>
            <a:ext cx="191643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650" dirty="0">
                <a:solidFill>
                  <a:srgbClr val="001F60"/>
                </a:solidFill>
                <a:latin typeface="Arial MT"/>
                <a:cs typeface="Arial MT"/>
              </a:rPr>
              <a:t>Irradiance,</a:t>
            </a:r>
            <a:r>
              <a:rPr sz="1650" spc="-45" dirty="0">
                <a:solidFill>
                  <a:srgbClr val="001F60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001F60"/>
                </a:solidFill>
                <a:latin typeface="Arial MT"/>
                <a:cs typeface="Arial MT"/>
              </a:rPr>
              <a:t>mW/cm</a:t>
            </a:r>
            <a:r>
              <a:rPr sz="1650" spc="-15" baseline="25252" dirty="0">
                <a:solidFill>
                  <a:srgbClr val="001F60"/>
                </a:solidFill>
                <a:latin typeface="Arial MT"/>
                <a:cs typeface="Arial MT"/>
              </a:rPr>
              <a:t>2</a:t>
            </a:r>
            <a:endParaRPr sz="1650" baseline="25252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4505" y="426127"/>
            <a:ext cx="802894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Performance</a:t>
            </a:r>
            <a:r>
              <a:rPr spc="-45" dirty="0"/>
              <a:t> </a:t>
            </a:r>
            <a:r>
              <a:rPr spc="-10" dirty="0"/>
              <a:t>Characteristics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3459" y="1506164"/>
            <a:ext cx="8778875" cy="316801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89890" indent="-377190" algn="just">
              <a:lnSpc>
                <a:spcPct val="100000"/>
              </a:lnSpc>
              <a:spcBef>
                <a:spcPts val="1420"/>
              </a:spcBef>
              <a:buFont typeface="Times New Roman"/>
              <a:buChar char="➢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Higher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sensitivity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compared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photodiodes.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Times New Roman"/>
              <a:buChar char="➢"/>
              <a:tabLst>
                <a:tab pos="389890" algn="l"/>
              </a:tabLst>
            </a:pPr>
            <a:r>
              <a:rPr sz="2200" spc="-65" dirty="0">
                <a:latin typeface="Verdana"/>
                <a:cs typeface="Verdana"/>
              </a:rPr>
              <a:t>Trade-</a:t>
            </a:r>
            <a:r>
              <a:rPr sz="2200" dirty="0">
                <a:latin typeface="Verdana"/>
                <a:cs typeface="Verdana"/>
              </a:rPr>
              <a:t>off: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Slower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switching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speeds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(higher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capacitance).</a:t>
            </a:r>
            <a:endParaRPr sz="2200">
              <a:latin typeface="Verdana"/>
              <a:cs typeface="Verdana"/>
            </a:endParaRPr>
          </a:p>
          <a:p>
            <a:pPr marL="389890" indent="-377190" algn="just">
              <a:lnSpc>
                <a:spcPct val="100000"/>
              </a:lnSpc>
              <a:spcBef>
                <a:spcPts val="1320"/>
              </a:spcBef>
              <a:buFont typeface="Times New Roman"/>
              <a:buChar char="➢"/>
              <a:tabLst>
                <a:tab pos="389890" algn="l"/>
              </a:tabLst>
            </a:pPr>
            <a:r>
              <a:rPr sz="2200" dirty="0">
                <a:latin typeface="Verdana"/>
                <a:cs typeface="Verdana"/>
              </a:rPr>
              <a:t>Relationship: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Collector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vs.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Illumination</a:t>
            </a:r>
            <a:r>
              <a:rPr sz="2200" spc="-10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level.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spcBef>
                <a:spcPts val="985"/>
              </a:spcBef>
              <a:buFont typeface="Times New Roman"/>
              <a:buChar char="❑"/>
              <a:tabLst>
                <a:tab pos="390525" algn="l"/>
              </a:tabLst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Sensitivity:</a:t>
            </a:r>
            <a:r>
              <a:rPr sz="2200" b="1" spc="19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Since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typically</a:t>
            </a:r>
            <a:r>
              <a:rPr sz="2200" spc="1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ranges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from</a:t>
            </a:r>
            <a:r>
              <a:rPr sz="2200" spc="1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100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to</a:t>
            </a:r>
            <a:r>
              <a:rPr sz="2200" spc="1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1000,</a:t>
            </a:r>
            <a:r>
              <a:rPr sz="2200" spc="170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the 	</a:t>
            </a:r>
            <a:r>
              <a:rPr sz="2200" dirty="0">
                <a:latin typeface="Verdana"/>
                <a:cs typeface="Verdana"/>
              </a:rPr>
              <a:t>output</a:t>
            </a:r>
            <a:r>
              <a:rPr sz="2200" spc="45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current</a:t>
            </a:r>
            <a:r>
              <a:rPr sz="2200" spc="45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phototransistor</a:t>
            </a:r>
            <a:r>
              <a:rPr sz="2200" spc="45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4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hundreds</a:t>
            </a:r>
            <a:r>
              <a:rPr sz="2200" spc="4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times 	</a:t>
            </a:r>
            <a:r>
              <a:rPr sz="2200" dirty="0">
                <a:latin typeface="Verdana"/>
                <a:cs typeface="Verdana"/>
              </a:rPr>
              <a:t>larger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that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of</a:t>
            </a:r>
            <a:r>
              <a:rPr sz="2200" spc="-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-2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standalone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photodiode.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1487" y="5319719"/>
            <a:ext cx="71024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78255" algn="l"/>
                <a:tab pos="2134870" algn="l"/>
                <a:tab pos="4140200" algn="l"/>
                <a:tab pos="4918075" algn="l"/>
                <a:tab pos="6192520" algn="l"/>
              </a:tabLst>
            </a:pPr>
            <a:r>
              <a:rPr sz="2200" spc="-10" dirty="0">
                <a:latin typeface="Verdana"/>
                <a:cs typeface="Verdana"/>
              </a:rPr>
              <a:t>slightly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with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temperature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and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current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levels,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2659" y="4648584"/>
            <a:ext cx="8853170" cy="103124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440690" indent="-377190">
              <a:lnSpc>
                <a:spcPct val="100000"/>
              </a:lnSpc>
              <a:spcBef>
                <a:spcPts val="1420"/>
              </a:spcBef>
              <a:buFont typeface="Times New Roman"/>
              <a:buChar char="❑"/>
              <a:tabLst>
                <a:tab pos="440690" algn="l"/>
                <a:tab pos="4290695" algn="l"/>
                <a:tab pos="7558405" algn="l"/>
              </a:tabLst>
            </a:pP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Linearity</a:t>
            </a:r>
            <a:r>
              <a:rPr sz="2200" b="1" spc="39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Note:</a:t>
            </a:r>
            <a:r>
              <a:rPr sz="2200" b="1" spc="39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While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i="1" spc="-585" dirty="0">
                <a:latin typeface="Times New Roman"/>
                <a:cs typeface="Times New Roman"/>
              </a:rPr>
              <a:t>𝐼</a:t>
            </a:r>
            <a:r>
              <a:rPr sz="2400" i="1" spc="-877" baseline="-15625" dirty="0">
                <a:latin typeface="Times New Roman"/>
                <a:cs typeface="Times New Roman"/>
              </a:rPr>
              <a:t>λ</a:t>
            </a:r>
            <a:r>
              <a:rPr sz="2400" i="1" baseline="-15625" dirty="0">
                <a:latin typeface="Times New Roman"/>
                <a:cs typeface="Times New Roman"/>
              </a:rPr>
              <a:t>	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linear</a:t>
            </a:r>
            <a:r>
              <a:rPr sz="2200" spc="40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</a:t>
            </a:r>
            <a:r>
              <a:rPr sz="2200" spc="40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light,</a:t>
            </a:r>
            <a:r>
              <a:rPr sz="2200" spc="405" dirty="0">
                <a:latin typeface="Verdana"/>
                <a:cs typeface="Verdana"/>
              </a:rPr>
              <a:t> </a:t>
            </a:r>
            <a:r>
              <a:rPr sz="2200" i="1" spc="-560" dirty="0">
                <a:latin typeface="Times New Roman"/>
                <a:cs typeface="Times New Roman"/>
              </a:rPr>
              <a:t>𝛽</a:t>
            </a:r>
            <a:r>
              <a:rPr sz="2200" i="1" dirty="0">
                <a:latin typeface="Times New Roman"/>
                <a:cs typeface="Times New Roman"/>
              </a:rPr>
              <a:t>	</a:t>
            </a:r>
            <a:r>
              <a:rPr sz="2200" dirty="0">
                <a:latin typeface="Verdana"/>
                <a:cs typeface="Verdana"/>
              </a:rPr>
              <a:t>can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vary</a:t>
            </a:r>
            <a:endParaRPr sz="2200">
              <a:latin typeface="Verdana"/>
              <a:cs typeface="Verdana"/>
            </a:endParaRPr>
          </a:p>
          <a:p>
            <a:pPr marR="30480" algn="r">
              <a:lnSpc>
                <a:spcPct val="100000"/>
              </a:lnSpc>
              <a:spcBef>
                <a:spcPts val="1320"/>
              </a:spcBef>
            </a:pPr>
            <a:r>
              <a:rPr sz="2200" spc="-10" dirty="0">
                <a:latin typeface="Verdana"/>
                <a:cs typeface="Verdana"/>
              </a:rPr>
              <a:t>making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1487" y="5654387"/>
            <a:ext cx="839978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2200" dirty="0">
                <a:latin typeface="Verdana"/>
                <a:cs typeface="Verdana"/>
              </a:rPr>
              <a:t>phototransistors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less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linear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than</a:t>
            </a:r>
            <a:r>
              <a:rPr sz="2200" spc="4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photodiodes</a:t>
            </a:r>
            <a:r>
              <a:rPr sz="2200" spc="4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at</a:t>
            </a:r>
            <a:r>
              <a:rPr sz="2200" spc="4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extreme ranges.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11995" y="426127"/>
            <a:ext cx="78320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Comparison</a:t>
            </a:r>
            <a:r>
              <a:rPr spc="-70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Conclusion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57627" y="2055397"/>
            <a:ext cx="2968625" cy="2997835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sz="2650" b="1" spc="-10" dirty="0">
                <a:solidFill>
                  <a:srgbClr val="0070BF"/>
                </a:solidFill>
                <a:latin typeface="Verdana"/>
                <a:cs typeface="Verdana"/>
              </a:rPr>
              <a:t>Phototransistor</a:t>
            </a:r>
            <a:endParaRPr sz="2650">
              <a:latin typeface="Verdana"/>
              <a:cs typeface="Verdana"/>
            </a:endParaRPr>
          </a:p>
          <a:p>
            <a:pPr marL="12700" marR="490855">
              <a:lnSpc>
                <a:spcPts val="3170"/>
              </a:lnSpc>
              <a:spcBef>
                <a:spcPts val="975"/>
              </a:spcBef>
            </a:pPr>
            <a:r>
              <a:rPr sz="2650" dirty="0">
                <a:solidFill>
                  <a:srgbClr val="1F1F1F"/>
                </a:solidFill>
                <a:latin typeface="Verdana"/>
                <a:cs typeface="Verdana"/>
              </a:rPr>
              <a:t>Higher</a:t>
            </a:r>
            <a:r>
              <a:rPr sz="2650" spc="-6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650" dirty="0">
                <a:solidFill>
                  <a:srgbClr val="1F1F1F"/>
                </a:solidFill>
                <a:latin typeface="Verdana"/>
                <a:cs typeface="Verdana"/>
              </a:rPr>
              <a:t>(due</a:t>
            </a:r>
            <a:r>
              <a:rPr sz="2650" spc="-9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650" spc="-25" dirty="0">
                <a:solidFill>
                  <a:srgbClr val="1F1F1F"/>
                </a:solidFill>
                <a:latin typeface="Verdana"/>
                <a:cs typeface="Verdana"/>
              </a:rPr>
              <a:t>to </a:t>
            </a:r>
            <a:r>
              <a:rPr sz="2650" spc="-10" dirty="0">
                <a:solidFill>
                  <a:srgbClr val="1F1F1F"/>
                </a:solidFill>
                <a:latin typeface="Verdana"/>
                <a:cs typeface="Verdana"/>
              </a:rPr>
              <a:t>gain)</a:t>
            </a:r>
            <a:endParaRPr sz="2650">
              <a:latin typeface="Verdana"/>
              <a:cs typeface="Verdana"/>
            </a:endParaRPr>
          </a:p>
          <a:p>
            <a:pPr marL="12700" marR="568960">
              <a:lnSpc>
                <a:spcPts val="4060"/>
              </a:lnSpc>
              <a:spcBef>
                <a:spcPts val="160"/>
              </a:spcBef>
            </a:pPr>
            <a:r>
              <a:rPr sz="2650" dirty="0">
                <a:solidFill>
                  <a:srgbClr val="1F1F1F"/>
                </a:solidFill>
                <a:latin typeface="Verdana"/>
                <a:cs typeface="Verdana"/>
              </a:rPr>
              <a:t>Moderate</a:t>
            </a:r>
            <a:r>
              <a:rPr sz="2650" spc="-18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650" spc="-20" dirty="0">
                <a:solidFill>
                  <a:srgbClr val="1F1F1F"/>
                </a:solidFill>
                <a:latin typeface="Verdana"/>
                <a:cs typeface="Verdana"/>
              </a:rPr>
              <a:t>(µs) Fair</a:t>
            </a:r>
            <a:endParaRPr sz="2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650" spc="-10" dirty="0">
                <a:solidFill>
                  <a:srgbClr val="1F1F1F"/>
                </a:solidFill>
                <a:latin typeface="Verdana"/>
                <a:cs typeface="Verdana"/>
              </a:rPr>
              <a:t>Higher</a:t>
            </a:r>
            <a:endParaRPr sz="26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18112" y="2166622"/>
            <a:ext cx="2390775" cy="28860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10" dirty="0">
                <a:solidFill>
                  <a:srgbClr val="0070BF"/>
                </a:solidFill>
                <a:latin typeface="Verdana"/>
                <a:cs typeface="Verdana"/>
              </a:rPr>
              <a:t>Photodiode</a:t>
            </a:r>
            <a:endParaRPr sz="2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45"/>
              </a:spcBef>
            </a:pPr>
            <a:r>
              <a:rPr sz="2650" spc="-10" dirty="0">
                <a:solidFill>
                  <a:srgbClr val="1F1F1F"/>
                </a:solidFill>
                <a:latin typeface="Verdana"/>
                <a:cs typeface="Verdana"/>
              </a:rPr>
              <a:t>Lower</a:t>
            </a:r>
            <a:endParaRPr sz="2650">
              <a:latin typeface="Verdana"/>
              <a:cs typeface="Verdana"/>
            </a:endParaRPr>
          </a:p>
          <a:p>
            <a:pPr marL="12700" marR="5080">
              <a:lnSpc>
                <a:spcPct val="127400"/>
              </a:lnSpc>
              <a:spcBef>
                <a:spcPts val="1580"/>
              </a:spcBef>
            </a:pPr>
            <a:r>
              <a:rPr sz="2650" dirty="0">
                <a:solidFill>
                  <a:srgbClr val="1F1F1F"/>
                </a:solidFill>
                <a:latin typeface="Verdana"/>
                <a:cs typeface="Verdana"/>
              </a:rPr>
              <a:t>Very</a:t>
            </a:r>
            <a:r>
              <a:rPr sz="2650" spc="-18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650" dirty="0">
                <a:solidFill>
                  <a:srgbClr val="1F1F1F"/>
                </a:solidFill>
                <a:latin typeface="Verdana"/>
                <a:cs typeface="Verdana"/>
              </a:rPr>
              <a:t>Fast</a:t>
            </a:r>
            <a:r>
              <a:rPr sz="2650" spc="-18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650" spc="-20" dirty="0">
                <a:solidFill>
                  <a:srgbClr val="1F1F1F"/>
                </a:solidFill>
                <a:latin typeface="Verdana"/>
                <a:cs typeface="Verdana"/>
              </a:rPr>
              <a:t>(ns) </a:t>
            </a:r>
            <a:r>
              <a:rPr sz="2650" spc="-10" dirty="0">
                <a:solidFill>
                  <a:srgbClr val="1F1F1F"/>
                </a:solidFill>
                <a:latin typeface="Verdana"/>
                <a:cs typeface="Verdana"/>
              </a:rPr>
              <a:t>Excellent </a:t>
            </a:r>
            <a:r>
              <a:rPr sz="2650" dirty="0">
                <a:solidFill>
                  <a:srgbClr val="1F1F1F"/>
                </a:solidFill>
                <a:latin typeface="Verdana"/>
                <a:cs typeface="Verdana"/>
              </a:rPr>
              <a:t>Very</a:t>
            </a:r>
            <a:r>
              <a:rPr sz="2650" spc="-19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2650" spc="-25" dirty="0">
                <a:solidFill>
                  <a:srgbClr val="1F1F1F"/>
                </a:solidFill>
                <a:latin typeface="Verdana"/>
                <a:cs typeface="Verdana"/>
              </a:rPr>
              <a:t>Low</a:t>
            </a:r>
            <a:endParaRPr sz="26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0589" y="2166622"/>
            <a:ext cx="2461895" cy="28860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650" b="1" spc="-10" dirty="0">
                <a:solidFill>
                  <a:srgbClr val="0070BF"/>
                </a:solidFill>
                <a:latin typeface="Verdana"/>
                <a:cs typeface="Verdana"/>
              </a:rPr>
              <a:t>Feature</a:t>
            </a:r>
            <a:endParaRPr sz="26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445"/>
              </a:spcBef>
            </a:pPr>
            <a:r>
              <a:rPr sz="2650" b="1" spc="-10" dirty="0">
                <a:solidFill>
                  <a:srgbClr val="00AF50"/>
                </a:solidFill>
                <a:latin typeface="Verdana"/>
                <a:cs typeface="Verdana"/>
              </a:rPr>
              <a:t>Sensitivity</a:t>
            </a:r>
            <a:endParaRPr sz="2650">
              <a:latin typeface="Verdana"/>
              <a:cs typeface="Verdana"/>
            </a:endParaRPr>
          </a:p>
          <a:p>
            <a:pPr marL="12700" marR="5080">
              <a:lnSpc>
                <a:spcPct val="127400"/>
              </a:lnSpc>
              <a:spcBef>
                <a:spcPts val="1580"/>
              </a:spcBef>
            </a:pPr>
            <a:r>
              <a:rPr sz="2650" b="1" spc="-10" dirty="0">
                <a:solidFill>
                  <a:srgbClr val="00AF50"/>
                </a:solidFill>
                <a:latin typeface="Verdana"/>
                <a:cs typeface="Verdana"/>
              </a:rPr>
              <a:t>Speed Linearity </a:t>
            </a:r>
            <a:r>
              <a:rPr sz="2650" b="1" dirty="0">
                <a:solidFill>
                  <a:srgbClr val="00AF50"/>
                </a:solidFill>
                <a:latin typeface="Verdana"/>
                <a:cs typeface="Verdana"/>
              </a:rPr>
              <a:t>Dark</a:t>
            </a:r>
            <a:r>
              <a:rPr sz="2650" b="1" spc="-11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2650" b="1" spc="-10" dirty="0">
                <a:solidFill>
                  <a:srgbClr val="00AF50"/>
                </a:solidFill>
                <a:latin typeface="Verdana"/>
                <a:cs typeface="Verdana"/>
              </a:rPr>
              <a:t>Current</a:t>
            </a:r>
            <a:endParaRPr sz="26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70005" y="426127"/>
            <a:ext cx="61175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Practical</a:t>
            </a:r>
            <a:r>
              <a:rPr spc="-85" dirty="0"/>
              <a:t> </a:t>
            </a:r>
            <a:r>
              <a:rPr spc="-10" dirty="0"/>
              <a:t>Applications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23202" y="1843528"/>
            <a:ext cx="43097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95"/>
              </a:spcBef>
              <a:buFont typeface="Times New Roman"/>
              <a:buChar char="➢"/>
              <a:tabLst>
                <a:tab pos="389890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Photodiodes:</a:t>
            </a:r>
            <a:r>
              <a:rPr sz="2200" b="1" spc="1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Fiber</a:t>
            </a:r>
            <a:r>
              <a:rPr sz="2200" spc="114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optic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43974" y="1843528"/>
            <a:ext cx="13906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Verdana"/>
                <a:cs typeface="Verdana"/>
              </a:rPr>
              <a:t>receivers,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47595" y="1843528"/>
            <a:ext cx="9391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Verdana"/>
                <a:cs typeface="Verdana"/>
              </a:rPr>
              <a:t>smoke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99412" y="1843528"/>
            <a:ext cx="14325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Verdana"/>
                <a:cs typeface="Verdana"/>
              </a:rPr>
              <a:t>detectors,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3202" y="2178197"/>
            <a:ext cx="8707755" cy="153416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90525">
              <a:lnSpc>
                <a:spcPct val="100000"/>
              </a:lnSpc>
              <a:spcBef>
                <a:spcPts val="1420"/>
              </a:spcBef>
            </a:pPr>
            <a:r>
              <a:rPr sz="2200" dirty="0">
                <a:latin typeface="Verdana"/>
                <a:cs typeface="Verdana"/>
              </a:rPr>
              <a:t>medical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imaging.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Phototransistors:</a:t>
            </a:r>
            <a:r>
              <a:rPr sz="2200" b="1" spc="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Light-</a:t>
            </a:r>
            <a:r>
              <a:rPr sz="2200" dirty="0">
                <a:latin typeface="Verdana"/>
                <a:cs typeface="Verdana"/>
              </a:rPr>
              <a:t>activated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relays,</a:t>
            </a:r>
            <a:r>
              <a:rPr sz="2200" spc="2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optoisolators, 	</a:t>
            </a:r>
            <a:r>
              <a:rPr sz="2200" dirty="0">
                <a:latin typeface="Verdana"/>
                <a:cs typeface="Verdana"/>
              </a:rPr>
              <a:t>"Object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present"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in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assembly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lines.</a:t>
            </a:r>
            <a:endParaRPr sz="220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1619" y="3718559"/>
            <a:ext cx="4258066" cy="355817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878952" y="426127"/>
            <a:ext cx="8300084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Summary</a:t>
            </a:r>
            <a:r>
              <a:rPr spc="-4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dirty="0"/>
              <a:t>Core</a:t>
            </a:r>
            <a:r>
              <a:rPr spc="-40" dirty="0"/>
              <a:t> </a:t>
            </a:r>
            <a:r>
              <a:rPr spc="-10" dirty="0"/>
              <a:t>Differences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609087" y="1721554"/>
            <a:ext cx="2724785" cy="5220970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950" b="1" spc="-10" dirty="0">
                <a:solidFill>
                  <a:srgbClr val="0070BF"/>
                </a:solidFill>
                <a:latin typeface="Verdana"/>
                <a:cs typeface="Verdana"/>
              </a:rPr>
              <a:t>Phototransistor</a:t>
            </a:r>
            <a:endParaRPr sz="1950">
              <a:latin typeface="Verdana"/>
              <a:cs typeface="Verdana"/>
            </a:endParaRPr>
          </a:p>
          <a:p>
            <a:pPr marL="12700" marR="5080">
              <a:lnSpc>
                <a:spcPct val="101499"/>
              </a:lnSpc>
              <a:spcBef>
                <a:spcPts val="875"/>
              </a:spcBef>
            </a:pP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Light-to-</a:t>
            </a:r>
            <a:r>
              <a:rPr sz="1950" spc="-10" dirty="0">
                <a:solidFill>
                  <a:srgbClr val="1F1F1F"/>
                </a:solidFill>
                <a:latin typeface="Verdana"/>
                <a:cs typeface="Verdana"/>
              </a:rPr>
              <a:t>current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converter</a:t>
            </a:r>
            <a:r>
              <a:rPr sz="1950" spc="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b="1" dirty="0">
                <a:solidFill>
                  <a:srgbClr val="1F1F1F"/>
                </a:solidFill>
                <a:latin typeface="Verdana"/>
                <a:cs typeface="Verdana"/>
              </a:rPr>
              <a:t>with</a:t>
            </a:r>
            <a:r>
              <a:rPr sz="1950" b="1" spc="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b="1" spc="-20" dirty="0">
                <a:solidFill>
                  <a:srgbClr val="1F1F1F"/>
                </a:solidFill>
                <a:latin typeface="Verdana"/>
                <a:cs typeface="Verdana"/>
              </a:rPr>
              <a:t>gain</a:t>
            </a:r>
            <a:r>
              <a:rPr sz="1950" spc="-20" dirty="0">
                <a:solidFill>
                  <a:srgbClr val="1F1F1F"/>
                </a:solidFill>
                <a:latin typeface="Verdana"/>
                <a:cs typeface="Verdana"/>
              </a:rPr>
              <a:t>.</a:t>
            </a:r>
            <a:endParaRPr sz="1950">
              <a:latin typeface="Verdana"/>
              <a:cs typeface="Verdana"/>
            </a:endParaRPr>
          </a:p>
          <a:p>
            <a:pPr marL="12700" marR="321945" algn="just">
              <a:lnSpc>
                <a:spcPct val="101499"/>
              </a:lnSpc>
              <a:spcBef>
                <a:spcPts val="880"/>
              </a:spcBef>
            </a:pPr>
            <a:r>
              <a:rPr sz="1950" b="1" dirty="0">
                <a:solidFill>
                  <a:srgbClr val="1F1F1F"/>
                </a:solidFill>
                <a:latin typeface="Verdana"/>
                <a:cs typeface="Verdana"/>
              </a:rPr>
              <a:t>Moderate</a:t>
            </a:r>
            <a:r>
              <a:rPr sz="1950" b="1" spc="9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b="1" spc="-10" dirty="0">
                <a:solidFill>
                  <a:srgbClr val="1F1F1F"/>
                </a:solidFill>
                <a:latin typeface="Verdana"/>
                <a:cs typeface="Verdana"/>
              </a:rPr>
              <a:t>Speed: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Limited</a:t>
            </a:r>
            <a:r>
              <a:rPr sz="1950" spc="8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by</a:t>
            </a:r>
            <a:r>
              <a:rPr sz="1950" spc="4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1F1F1F"/>
                </a:solidFill>
                <a:latin typeface="Verdana"/>
                <a:cs typeface="Verdana"/>
              </a:rPr>
              <a:t>internal capacitance.</a:t>
            </a:r>
            <a:endParaRPr sz="1950">
              <a:latin typeface="Verdana"/>
              <a:cs typeface="Verdana"/>
            </a:endParaRPr>
          </a:p>
          <a:p>
            <a:pPr marL="12700" marR="333375">
              <a:lnSpc>
                <a:spcPct val="101600"/>
              </a:lnSpc>
              <a:spcBef>
                <a:spcPts val="885"/>
              </a:spcBef>
            </a:pPr>
            <a:r>
              <a:rPr sz="1950" b="1" dirty="0">
                <a:solidFill>
                  <a:srgbClr val="1F1F1F"/>
                </a:solidFill>
                <a:latin typeface="Verdana"/>
                <a:cs typeface="Verdana"/>
              </a:rPr>
              <a:t>Higher:</a:t>
            </a:r>
            <a:r>
              <a:rPr sz="1950" b="1" spc="12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1F1F1F"/>
                </a:solidFill>
                <a:latin typeface="Verdana"/>
                <a:cs typeface="Verdana"/>
              </a:rPr>
              <a:t>Internal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amplification</a:t>
            </a:r>
            <a:r>
              <a:rPr sz="1950" spc="10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(</a:t>
            </a:r>
            <a:r>
              <a:rPr sz="1950" i="1" dirty="0">
                <a:solidFill>
                  <a:srgbClr val="1F1F1F"/>
                </a:solidFill>
                <a:latin typeface="Verdana"/>
                <a:cs typeface="Verdana"/>
              </a:rPr>
              <a:t>β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)</a:t>
            </a:r>
            <a:r>
              <a:rPr sz="1950" spc="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spc="-25" dirty="0">
                <a:solidFill>
                  <a:srgbClr val="1F1F1F"/>
                </a:solidFill>
                <a:latin typeface="Verdana"/>
                <a:cs typeface="Verdana"/>
              </a:rPr>
              <a:t>is </a:t>
            </a:r>
            <a:r>
              <a:rPr sz="1950" spc="-10" dirty="0">
                <a:solidFill>
                  <a:srgbClr val="1F1F1F"/>
                </a:solidFill>
                <a:latin typeface="Verdana"/>
                <a:cs typeface="Verdana"/>
              </a:rPr>
              <a:t>built-</a:t>
            </a:r>
            <a:r>
              <a:rPr sz="1950" spc="-25" dirty="0">
                <a:solidFill>
                  <a:srgbClr val="1F1F1F"/>
                </a:solidFill>
                <a:latin typeface="Verdana"/>
                <a:cs typeface="Verdana"/>
              </a:rPr>
              <a:t>in.</a:t>
            </a:r>
            <a:endParaRPr sz="1950">
              <a:latin typeface="Verdana"/>
              <a:cs typeface="Verdana"/>
            </a:endParaRPr>
          </a:p>
          <a:p>
            <a:pPr marL="12700" marR="42545">
              <a:lnSpc>
                <a:spcPct val="101499"/>
              </a:lnSpc>
              <a:spcBef>
                <a:spcPts val="875"/>
              </a:spcBef>
            </a:pPr>
            <a:r>
              <a:rPr sz="1950" b="1" dirty="0">
                <a:solidFill>
                  <a:srgbClr val="1F1F1F"/>
                </a:solidFill>
                <a:latin typeface="Verdana"/>
                <a:cs typeface="Verdana"/>
              </a:rPr>
              <a:t>Non-</a:t>
            </a:r>
            <a:r>
              <a:rPr sz="1950" b="1" spc="-10" dirty="0">
                <a:solidFill>
                  <a:srgbClr val="1F1F1F"/>
                </a:solidFill>
                <a:latin typeface="Verdana"/>
                <a:cs typeface="Verdana"/>
              </a:rPr>
              <a:t>Linear: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Response</a:t>
            </a:r>
            <a:r>
              <a:rPr sz="1950" spc="2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varies</a:t>
            </a:r>
            <a:r>
              <a:rPr sz="1950" spc="1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1F1F1F"/>
                </a:solidFill>
                <a:latin typeface="Verdana"/>
                <a:cs typeface="Verdana"/>
              </a:rPr>
              <a:t>with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bias</a:t>
            </a:r>
            <a:r>
              <a:rPr sz="1950" spc="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and</a:t>
            </a:r>
            <a:r>
              <a:rPr sz="1950" spc="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1F1F1F"/>
                </a:solidFill>
                <a:latin typeface="Verdana"/>
                <a:cs typeface="Verdana"/>
              </a:rPr>
              <a:t>gain.</a:t>
            </a:r>
            <a:endParaRPr sz="1950">
              <a:latin typeface="Verdana"/>
              <a:cs typeface="Verdana"/>
            </a:endParaRPr>
          </a:p>
          <a:p>
            <a:pPr marL="12700" marR="560705">
              <a:lnSpc>
                <a:spcPct val="101499"/>
              </a:lnSpc>
              <a:spcBef>
                <a:spcPts val="880"/>
              </a:spcBef>
            </a:pP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Remote</a:t>
            </a:r>
            <a:r>
              <a:rPr sz="1950" spc="3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1F1F1F"/>
                </a:solidFill>
                <a:latin typeface="Verdana"/>
                <a:cs typeface="Verdana"/>
              </a:rPr>
              <a:t>controls,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object</a:t>
            </a:r>
            <a:r>
              <a:rPr sz="1950" spc="6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1F1F1F"/>
                </a:solidFill>
                <a:latin typeface="Verdana"/>
                <a:cs typeface="Verdana"/>
              </a:rPr>
              <a:t>counters, relays.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91582" y="1721554"/>
            <a:ext cx="2453005" cy="2169795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950" b="1" spc="-10" dirty="0">
                <a:solidFill>
                  <a:srgbClr val="0070BF"/>
                </a:solidFill>
                <a:latin typeface="Verdana"/>
                <a:cs typeface="Verdana"/>
              </a:rPr>
              <a:t>Photodiode</a:t>
            </a:r>
            <a:endParaRPr sz="1950">
              <a:latin typeface="Verdana"/>
              <a:cs typeface="Verdana"/>
            </a:endParaRPr>
          </a:p>
          <a:p>
            <a:pPr marL="12700" marR="424815">
              <a:lnSpc>
                <a:spcPct val="101499"/>
              </a:lnSpc>
              <a:spcBef>
                <a:spcPts val="875"/>
              </a:spcBef>
            </a:pP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Light-to-</a:t>
            </a:r>
            <a:r>
              <a:rPr sz="1950" spc="-10" dirty="0">
                <a:solidFill>
                  <a:srgbClr val="1F1F1F"/>
                </a:solidFill>
                <a:latin typeface="Verdana"/>
                <a:cs typeface="Verdana"/>
              </a:rPr>
              <a:t>current converter.</a:t>
            </a:r>
            <a:endParaRPr sz="1950">
              <a:latin typeface="Verdana"/>
              <a:cs typeface="Verdana"/>
            </a:endParaRPr>
          </a:p>
          <a:p>
            <a:pPr marL="12700" marR="5080">
              <a:lnSpc>
                <a:spcPct val="101499"/>
              </a:lnSpc>
              <a:spcBef>
                <a:spcPts val="880"/>
              </a:spcBef>
            </a:pPr>
            <a:r>
              <a:rPr sz="1950" b="1" dirty="0">
                <a:solidFill>
                  <a:srgbClr val="1F1F1F"/>
                </a:solidFill>
                <a:latin typeface="Verdana"/>
                <a:cs typeface="Verdana"/>
              </a:rPr>
              <a:t>High</a:t>
            </a:r>
            <a:r>
              <a:rPr sz="1950" b="1" spc="9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b="1" dirty="0">
                <a:solidFill>
                  <a:srgbClr val="1F1F1F"/>
                </a:solidFill>
                <a:latin typeface="Verdana"/>
                <a:cs typeface="Verdana"/>
              </a:rPr>
              <a:t>Speed:</a:t>
            </a:r>
            <a:r>
              <a:rPr sz="1950" b="1" spc="9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1F1F1F"/>
                </a:solidFill>
                <a:latin typeface="Verdana"/>
                <a:cs typeface="Verdana"/>
              </a:rPr>
              <a:t>Ideal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for</a:t>
            </a:r>
            <a:r>
              <a:rPr sz="1950" spc="4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MHz/GHz</a:t>
            </a:r>
            <a:r>
              <a:rPr sz="1950" spc="5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spc="-20" dirty="0">
                <a:solidFill>
                  <a:srgbClr val="1F1F1F"/>
                </a:solidFill>
                <a:latin typeface="Verdana"/>
                <a:cs typeface="Verdana"/>
              </a:rPr>
              <a:t>data </a:t>
            </a:r>
            <a:r>
              <a:rPr sz="1950" spc="-10" dirty="0">
                <a:solidFill>
                  <a:srgbClr val="1F1F1F"/>
                </a:solidFill>
                <a:latin typeface="Verdana"/>
                <a:cs typeface="Verdana"/>
              </a:rPr>
              <a:t>rates.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4077" y="1832845"/>
            <a:ext cx="111061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10" dirty="0">
                <a:solidFill>
                  <a:srgbClr val="0070BF"/>
                </a:solidFill>
                <a:latin typeface="Verdana"/>
                <a:cs typeface="Verdana"/>
              </a:rPr>
              <a:t>Feature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4077" y="2396785"/>
            <a:ext cx="245300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dirty="0">
                <a:solidFill>
                  <a:srgbClr val="00AF50"/>
                </a:solidFill>
                <a:latin typeface="Verdana"/>
                <a:cs typeface="Verdana"/>
              </a:rPr>
              <a:t>Primary</a:t>
            </a:r>
            <a:r>
              <a:rPr sz="1950" b="1" spc="65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950" b="1" spc="-10" dirty="0">
                <a:solidFill>
                  <a:srgbClr val="00AF50"/>
                </a:solidFill>
                <a:latin typeface="Verdana"/>
                <a:cs typeface="Verdana"/>
              </a:rPr>
              <a:t>Function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4077" y="3262402"/>
            <a:ext cx="233362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dirty="0">
                <a:solidFill>
                  <a:srgbClr val="00AF50"/>
                </a:solidFill>
                <a:latin typeface="Verdana"/>
                <a:cs typeface="Verdana"/>
              </a:rPr>
              <a:t>Response</a:t>
            </a:r>
            <a:r>
              <a:rPr sz="1950" b="1" spc="125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950" b="1" spc="-20" dirty="0">
                <a:solidFill>
                  <a:srgbClr val="00AF50"/>
                </a:solidFill>
                <a:latin typeface="Verdana"/>
                <a:cs typeface="Verdana"/>
              </a:rPr>
              <a:t>Speed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91582" y="4129493"/>
            <a:ext cx="2845435" cy="26625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90"/>
              </a:spcBef>
            </a:pPr>
            <a:r>
              <a:rPr sz="1950" b="1" dirty="0">
                <a:solidFill>
                  <a:srgbClr val="1F1F1F"/>
                </a:solidFill>
                <a:latin typeface="Verdana"/>
                <a:cs typeface="Verdana"/>
              </a:rPr>
              <a:t>Lower:</a:t>
            </a:r>
            <a:r>
              <a:rPr sz="1950" b="1" spc="11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1F1F1F"/>
                </a:solidFill>
                <a:latin typeface="Verdana"/>
                <a:cs typeface="Verdana"/>
              </a:rPr>
              <a:t>Requires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external</a:t>
            </a:r>
            <a:r>
              <a:rPr sz="1950" spc="7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1F1F1F"/>
                </a:solidFill>
                <a:latin typeface="Verdana"/>
                <a:cs typeface="Verdana"/>
              </a:rPr>
              <a:t>amplification.</a:t>
            </a:r>
            <a:endParaRPr sz="1950">
              <a:latin typeface="Verdana"/>
              <a:cs typeface="Verdana"/>
            </a:endParaRPr>
          </a:p>
          <a:p>
            <a:pPr marL="12700" marR="220979">
              <a:lnSpc>
                <a:spcPct val="101499"/>
              </a:lnSpc>
              <a:spcBef>
                <a:spcPts val="2065"/>
              </a:spcBef>
            </a:pPr>
            <a:r>
              <a:rPr sz="1950" b="1" dirty="0">
                <a:solidFill>
                  <a:srgbClr val="1F1F1F"/>
                </a:solidFill>
                <a:latin typeface="Verdana"/>
                <a:cs typeface="Verdana"/>
              </a:rPr>
              <a:t>Highly</a:t>
            </a:r>
            <a:r>
              <a:rPr sz="1950" b="1" spc="9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b="1" spc="-10" dirty="0">
                <a:solidFill>
                  <a:srgbClr val="1F1F1F"/>
                </a:solidFill>
                <a:latin typeface="Verdana"/>
                <a:cs typeface="Verdana"/>
              </a:rPr>
              <a:t>Linear: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Current</a:t>
            </a:r>
            <a:r>
              <a:rPr sz="1950" spc="5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spc="-25" dirty="0">
                <a:solidFill>
                  <a:srgbClr val="1F1F1F"/>
                </a:solidFill>
                <a:latin typeface="Verdana"/>
                <a:cs typeface="Verdana"/>
              </a:rPr>
              <a:t>is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proportional</a:t>
            </a:r>
            <a:r>
              <a:rPr sz="1950" spc="6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to</a:t>
            </a:r>
            <a:r>
              <a:rPr sz="1950" spc="6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1F1F1F"/>
                </a:solidFill>
                <a:latin typeface="Verdana"/>
                <a:cs typeface="Verdana"/>
              </a:rPr>
              <a:t>light.</a:t>
            </a:r>
            <a:endParaRPr sz="1950">
              <a:latin typeface="Verdana"/>
              <a:cs typeface="Verdana"/>
            </a:endParaRPr>
          </a:p>
          <a:p>
            <a:pPr marL="12700" marR="62865">
              <a:lnSpc>
                <a:spcPct val="101600"/>
              </a:lnSpc>
              <a:spcBef>
                <a:spcPts val="2065"/>
              </a:spcBef>
            </a:pP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Fiber</a:t>
            </a:r>
            <a:r>
              <a:rPr sz="1950" spc="5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optics,</a:t>
            </a:r>
            <a:r>
              <a:rPr sz="1950" spc="80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1F1F1F"/>
                </a:solidFill>
                <a:latin typeface="Verdana"/>
                <a:cs typeface="Verdana"/>
              </a:rPr>
              <a:t>precision </a:t>
            </a:r>
            <a:r>
              <a:rPr sz="1950" dirty="0">
                <a:solidFill>
                  <a:srgbClr val="1F1F1F"/>
                </a:solidFill>
                <a:latin typeface="Verdana"/>
                <a:cs typeface="Verdana"/>
              </a:rPr>
              <a:t>light</a:t>
            </a:r>
            <a:r>
              <a:rPr sz="1950" spc="65" dirty="0">
                <a:solidFill>
                  <a:srgbClr val="1F1F1F"/>
                </a:solidFill>
                <a:latin typeface="Verdana"/>
                <a:cs typeface="Verdana"/>
              </a:rPr>
              <a:t> </a:t>
            </a:r>
            <a:r>
              <a:rPr sz="1950" spc="-10" dirty="0">
                <a:solidFill>
                  <a:srgbClr val="1F1F1F"/>
                </a:solidFill>
                <a:latin typeface="Verdana"/>
                <a:cs typeface="Verdana"/>
              </a:rPr>
              <a:t>measurement.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4077" y="4280392"/>
            <a:ext cx="151193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10" dirty="0">
                <a:solidFill>
                  <a:srgbClr val="00AF50"/>
                </a:solidFill>
                <a:latin typeface="Verdana"/>
                <a:cs typeface="Verdana"/>
              </a:rPr>
              <a:t>Sensitivity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4077" y="5296910"/>
            <a:ext cx="1273175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-10" dirty="0">
                <a:solidFill>
                  <a:srgbClr val="00AF50"/>
                </a:solidFill>
                <a:latin typeface="Verdana"/>
                <a:cs typeface="Verdana"/>
              </a:rPr>
              <a:t>Linearity</a:t>
            </a:r>
            <a:endParaRPr sz="195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4077" y="6313427"/>
            <a:ext cx="197866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dirty="0">
                <a:solidFill>
                  <a:srgbClr val="00AF50"/>
                </a:solidFill>
                <a:latin typeface="Verdana"/>
                <a:cs typeface="Verdana"/>
              </a:rPr>
              <a:t>Best</a:t>
            </a:r>
            <a:r>
              <a:rPr sz="1950" b="1" spc="6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950" b="1" dirty="0">
                <a:solidFill>
                  <a:srgbClr val="00AF50"/>
                </a:solidFill>
                <a:latin typeface="Verdana"/>
                <a:cs typeface="Verdana"/>
              </a:rPr>
              <a:t>Used</a:t>
            </a:r>
            <a:r>
              <a:rPr sz="1950" b="1" spc="50" dirty="0">
                <a:solidFill>
                  <a:srgbClr val="00AF50"/>
                </a:solidFill>
                <a:latin typeface="Verdana"/>
                <a:cs typeface="Verdana"/>
              </a:rPr>
              <a:t> </a:t>
            </a:r>
            <a:r>
              <a:rPr sz="1950" b="1" spc="-25" dirty="0">
                <a:solidFill>
                  <a:srgbClr val="00AF50"/>
                </a:solidFill>
                <a:latin typeface="Verdana"/>
                <a:cs typeface="Verdana"/>
              </a:rPr>
              <a:t>For</a:t>
            </a:r>
            <a:endParaRPr sz="19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28693" y="426127"/>
            <a:ext cx="7801609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Phototransistors:</a:t>
            </a:r>
            <a:r>
              <a:rPr spc="-55" dirty="0"/>
              <a:t> </a:t>
            </a:r>
            <a:r>
              <a:rPr spc="-10" dirty="0"/>
              <a:t>Summary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585" y="1518283"/>
            <a:ext cx="4454525" cy="153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Times New Roman"/>
              <a:buChar char="➢"/>
              <a:tabLst>
                <a:tab pos="390525" algn="l"/>
                <a:tab pos="1921510" algn="l"/>
                <a:tab pos="2680335" algn="l"/>
              </a:tabLst>
            </a:pPr>
            <a:r>
              <a:rPr sz="2200" spc="-10" dirty="0">
                <a:latin typeface="Verdana"/>
                <a:cs typeface="Verdana"/>
              </a:rPr>
              <a:t>Explored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the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fundamental 	</a:t>
            </a:r>
            <a:r>
              <a:rPr sz="2200" dirty="0">
                <a:latin typeface="Verdana"/>
                <a:cs typeface="Verdana"/>
              </a:rPr>
              <a:t>optoelectronic</a:t>
            </a:r>
            <a:r>
              <a:rPr sz="2200" spc="-14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sensors.</a:t>
            </a:r>
            <a:endParaRPr sz="2200">
              <a:latin typeface="Verdana"/>
              <a:cs typeface="Verdana"/>
            </a:endParaRPr>
          </a:p>
          <a:p>
            <a:pPr marL="389890" indent="-377190">
              <a:lnSpc>
                <a:spcPct val="100000"/>
              </a:lnSpc>
              <a:spcBef>
                <a:spcPts val="1320"/>
              </a:spcBef>
              <a:buFont typeface="Times New Roman"/>
              <a:buChar char="➢"/>
              <a:tabLst>
                <a:tab pos="389890" algn="l"/>
                <a:tab pos="1414145" algn="l"/>
                <a:tab pos="2292350" algn="l"/>
                <a:tab pos="3586479" algn="l"/>
              </a:tabLst>
            </a:pPr>
            <a:r>
              <a:rPr sz="2200" spc="-10" dirty="0">
                <a:latin typeface="Verdana"/>
                <a:cs typeface="Verdana"/>
              </a:rPr>
              <a:t>While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0" dirty="0">
                <a:latin typeface="Verdana"/>
                <a:cs typeface="Verdana"/>
              </a:rPr>
              <a:t>both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convert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light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11672" y="1686516"/>
            <a:ext cx="3970654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49730" algn="l"/>
                <a:tab pos="2223770" algn="l"/>
                <a:tab pos="3041015" algn="l"/>
              </a:tabLst>
            </a:pPr>
            <a:r>
              <a:rPr sz="2200" spc="-10" dirty="0">
                <a:latin typeface="Verdana"/>
                <a:cs typeface="Verdana"/>
              </a:rPr>
              <a:t>principles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of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25" dirty="0">
                <a:latin typeface="Verdana"/>
                <a:cs typeface="Verdana"/>
              </a:rPr>
              <a:t>two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critical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16048" y="2692320"/>
            <a:ext cx="42665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3115" algn="l"/>
                <a:tab pos="2293620" algn="l"/>
                <a:tab pos="3604260" algn="l"/>
              </a:tabLst>
            </a:pPr>
            <a:r>
              <a:rPr sz="2200" spc="-20" dirty="0">
                <a:latin typeface="Verdana"/>
                <a:cs typeface="Verdana"/>
              </a:rPr>
              <a:t>into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electrical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signals,</a:t>
            </a:r>
            <a:r>
              <a:rPr sz="2200" dirty="0">
                <a:latin typeface="Verdana"/>
                <a:cs typeface="Verdana"/>
              </a:rPr>
              <a:t>	</a:t>
            </a:r>
            <a:r>
              <a:rPr sz="2200" spc="-10" dirty="0">
                <a:latin typeface="Verdana"/>
                <a:cs typeface="Verdana"/>
              </a:rPr>
              <a:t>their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4585" y="3027125"/>
            <a:ext cx="8710930" cy="4048760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90525" algn="just">
              <a:lnSpc>
                <a:spcPct val="100000"/>
              </a:lnSpc>
              <a:spcBef>
                <a:spcPts val="1420"/>
              </a:spcBef>
            </a:pPr>
            <a:r>
              <a:rPr sz="2200" dirty="0">
                <a:latin typeface="Verdana"/>
                <a:cs typeface="Verdana"/>
              </a:rPr>
              <a:t>internal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mechanisms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define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their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ideal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use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cases.</a:t>
            </a:r>
            <a:endParaRPr sz="2200">
              <a:latin typeface="Verdana"/>
              <a:cs typeface="Verdana"/>
            </a:endParaRPr>
          </a:p>
          <a:p>
            <a:pPr marL="389255" marR="7620" indent="-377190" algn="just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Choose</a:t>
            </a:r>
            <a:r>
              <a:rPr sz="2200" b="1" spc="5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2200" b="1" spc="-9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Photodiode</a:t>
            </a:r>
            <a:r>
              <a:rPr sz="2200" b="1" spc="-1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5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your</a:t>
            </a:r>
            <a:r>
              <a:rPr sz="2200" spc="5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application</a:t>
            </a:r>
            <a:r>
              <a:rPr sz="2200" spc="5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demands 	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high</a:t>
            </a:r>
            <a:r>
              <a:rPr sz="2200" b="1" spc="110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speed</a:t>
            </a:r>
            <a:r>
              <a:rPr sz="2200" b="1" spc="114" dirty="0">
                <a:solidFill>
                  <a:srgbClr val="0070BF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(e.g.,</a:t>
            </a:r>
            <a:r>
              <a:rPr sz="2200" spc="9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high-</a:t>
            </a:r>
            <a:r>
              <a:rPr sz="2200" dirty="0">
                <a:latin typeface="Verdana"/>
                <a:cs typeface="Verdana"/>
              </a:rPr>
              <a:t>speed</a:t>
            </a:r>
            <a:r>
              <a:rPr sz="2200" spc="9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telecommunications)</a:t>
            </a:r>
            <a:r>
              <a:rPr sz="2200" spc="90" dirty="0">
                <a:latin typeface="Verdana"/>
                <a:cs typeface="Verdana"/>
              </a:rPr>
              <a:t>  </a:t>
            </a:r>
            <a:r>
              <a:rPr sz="2200" spc="-25" dirty="0">
                <a:latin typeface="Verdana"/>
                <a:cs typeface="Verdana"/>
              </a:rPr>
              <a:t>or 	</a:t>
            </a:r>
            <a:r>
              <a:rPr sz="2200" dirty="0">
                <a:latin typeface="Verdana"/>
                <a:cs typeface="Verdana"/>
              </a:rPr>
              <a:t>precision</a:t>
            </a:r>
            <a:r>
              <a:rPr sz="2200" spc="-9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measurement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where</a:t>
            </a:r>
            <a:r>
              <a:rPr sz="2200" spc="-9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linearity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critical.</a:t>
            </a:r>
            <a:endParaRPr sz="2200">
              <a:latin typeface="Verdana"/>
              <a:cs typeface="Verdana"/>
            </a:endParaRPr>
          </a:p>
          <a:p>
            <a:pPr marL="389255" marR="5080" indent="-377190" algn="just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Choose</a:t>
            </a:r>
            <a:r>
              <a:rPr sz="2200" b="1" spc="509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2200" b="1" spc="509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Phototransistor</a:t>
            </a:r>
            <a:r>
              <a:rPr sz="2200" b="1" spc="5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when</a:t>
            </a:r>
            <a:r>
              <a:rPr sz="2200" spc="484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your</a:t>
            </a:r>
            <a:r>
              <a:rPr sz="2200" spc="490" dirty="0">
                <a:latin typeface="Verdana"/>
                <a:cs typeface="Verdana"/>
              </a:rPr>
              <a:t>  </a:t>
            </a:r>
            <a:r>
              <a:rPr sz="2200" spc="-10" dirty="0">
                <a:latin typeface="Verdana"/>
                <a:cs typeface="Verdana"/>
              </a:rPr>
              <a:t>application 	</a:t>
            </a:r>
            <a:r>
              <a:rPr sz="2200" dirty="0">
                <a:latin typeface="Verdana"/>
                <a:cs typeface="Verdana"/>
              </a:rPr>
              <a:t>requires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40" dirty="0"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stronger</a:t>
            </a:r>
            <a:r>
              <a:rPr sz="2200" b="1" spc="7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output</a:t>
            </a:r>
            <a:r>
              <a:rPr sz="2200" b="1" spc="50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70BF"/>
                </a:solidFill>
                <a:latin typeface="Verdana"/>
                <a:cs typeface="Verdana"/>
              </a:rPr>
              <a:t>signal</a:t>
            </a:r>
            <a:r>
              <a:rPr sz="2200" b="1" spc="7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without</a:t>
            </a:r>
            <a:r>
              <a:rPr sz="2200" spc="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extra</a:t>
            </a:r>
            <a:r>
              <a:rPr sz="2200" spc="6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circuitry 	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high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switching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speed</a:t>
            </a:r>
            <a:r>
              <a:rPr sz="2200" spc="24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is</a:t>
            </a:r>
            <a:r>
              <a:rPr sz="2200" spc="229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not</a:t>
            </a:r>
            <a:r>
              <a:rPr sz="2200" spc="2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priority</a:t>
            </a:r>
            <a:r>
              <a:rPr sz="2200" spc="25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(e.g.,</a:t>
            </a:r>
            <a:r>
              <a:rPr sz="2200" spc="2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</a:t>
            </a:r>
            <a:r>
              <a:rPr sz="2200" spc="22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simple 	</a:t>
            </a:r>
            <a:r>
              <a:rPr sz="2200" dirty="0">
                <a:latin typeface="Verdana"/>
                <a:cs typeface="Verdana"/>
              </a:rPr>
              <a:t>light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detector).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13032" y="124572"/>
            <a:ext cx="803148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6080" marR="5080" indent="-2914015">
              <a:lnSpc>
                <a:spcPct val="100200"/>
              </a:lnSpc>
              <a:spcBef>
                <a:spcPts val="100"/>
              </a:spcBef>
            </a:pPr>
            <a:r>
              <a:rPr dirty="0"/>
              <a:t>Introduction</a:t>
            </a:r>
            <a:r>
              <a:rPr spc="-5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10" dirty="0"/>
              <a:t>Photovoltaic Devices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715" indent="-377190" algn="just">
              <a:lnSpc>
                <a:spcPct val="150000"/>
              </a:lnSpc>
              <a:spcBef>
                <a:spcPts val="100"/>
              </a:spcBef>
              <a:buFont typeface="Times New Roman"/>
              <a:buChar char="➢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Definition:</a:t>
            </a:r>
            <a:r>
              <a:rPr b="1" spc="20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A</a:t>
            </a:r>
            <a:r>
              <a:rPr spc="185" dirty="0"/>
              <a:t> </a:t>
            </a:r>
            <a:r>
              <a:rPr dirty="0"/>
              <a:t>Photovoltaic</a:t>
            </a:r>
            <a:r>
              <a:rPr spc="170" dirty="0"/>
              <a:t> </a:t>
            </a:r>
            <a:r>
              <a:rPr dirty="0"/>
              <a:t>(PV)</a:t>
            </a:r>
            <a:r>
              <a:rPr spc="185" dirty="0"/>
              <a:t> </a:t>
            </a:r>
            <a:r>
              <a:rPr dirty="0"/>
              <a:t>cell,</a:t>
            </a:r>
            <a:r>
              <a:rPr spc="185" dirty="0"/>
              <a:t> </a:t>
            </a:r>
            <a:r>
              <a:rPr dirty="0"/>
              <a:t>commonly</a:t>
            </a:r>
            <a:r>
              <a:rPr spc="190" dirty="0"/>
              <a:t> </a:t>
            </a:r>
            <a:r>
              <a:rPr dirty="0"/>
              <a:t>known</a:t>
            </a:r>
            <a:r>
              <a:rPr spc="185" dirty="0"/>
              <a:t> </a:t>
            </a:r>
            <a:r>
              <a:rPr spc="-25" dirty="0"/>
              <a:t>as 	</a:t>
            </a:r>
            <a:r>
              <a:rPr dirty="0"/>
              <a:t>a</a:t>
            </a:r>
            <a:r>
              <a:rPr spc="-45" dirty="0"/>
              <a:t>  </a:t>
            </a:r>
            <a:r>
              <a:rPr dirty="0"/>
              <a:t>solar</a:t>
            </a:r>
            <a:r>
              <a:rPr spc="-35" dirty="0"/>
              <a:t>  </a:t>
            </a:r>
            <a:r>
              <a:rPr dirty="0"/>
              <a:t>cell,</a:t>
            </a:r>
            <a:r>
              <a:rPr spc="-45" dirty="0"/>
              <a:t>  </a:t>
            </a:r>
            <a:r>
              <a:rPr dirty="0"/>
              <a:t>is</a:t>
            </a:r>
            <a:r>
              <a:rPr spc="-45" dirty="0"/>
              <a:t>  </a:t>
            </a:r>
            <a:r>
              <a:rPr dirty="0"/>
              <a:t>a</a:t>
            </a:r>
            <a:r>
              <a:rPr spc="-40" dirty="0"/>
              <a:t>  </a:t>
            </a:r>
            <a:r>
              <a:rPr spc="-20" dirty="0"/>
              <a:t>solid-</a:t>
            </a:r>
            <a:r>
              <a:rPr dirty="0"/>
              <a:t>state</a:t>
            </a:r>
            <a:r>
              <a:rPr spc="-45" dirty="0"/>
              <a:t>  </a:t>
            </a:r>
            <a:r>
              <a:rPr dirty="0"/>
              <a:t>semiconductor</a:t>
            </a:r>
            <a:r>
              <a:rPr spc="-40" dirty="0"/>
              <a:t>  </a:t>
            </a:r>
            <a:r>
              <a:rPr dirty="0"/>
              <a:t>device</a:t>
            </a:r>
            <a:r>
              <a:rPr spc="-35" dirty="0"/>
              <a:t>  </a:t>
            </a:r>
            <a:r>
              <a:rPr spc="-20" dirty="0"/>
              <a:t>that 	</a:t>
            </a:r>
            <a:r>
              <a:rPr dirty="0"/>
              <a:t>converts</a:t>
            </a:r>
            <a:r>
              <a:rPr spc="-50" dirty="0"/>
              <a:t> </a:t>
            </a:r>
            <a:r>
              <a:rPr dirty="0"/>
              <a:t>light</a:t>
            </a:r>
            <a:r>
              <a:rPr spc="-95" dirty="0"/>
              <a:t> </a:t>
            </a:r>
            <a:r>
              <a:rPr dirty="0"/>
              <a:t>energy</a:t>
            </a:r>
            <a:r>
              <a:rPr spc="-65" dirty="0"/>
              <a:t> </a:t>
            </a:r>
            <a:r>
              <a:rPr dirty="0"/>
              <a:t>directly</a:t>
            </a:r>
            <a:r>
              <a:rPr spc="-70" dirty="0"/>
              <a:t> </a:t>
            </a:r>
            <a:r>
              <a:rPr dirty="0"/>
              <a:t>into</a:t>
            </a:r>
            <a:r>
              <a:rPr spc="-80" dirty="0"/>
              <a:t> </a:t>
            </a:r>
            <a:r>
              <a:rPr dirty="0"/>
              <a:t>electrical</a:t>
            </a:r>
            <a:r>
              <a:rPr spc="-70" dirty="0"/>
              <a:t> </a:t>
            </a:r>
            <a:r>
              <a:rPr spc="-10" dirty="0"/>
              <a:t>energy.</a:t>
            </a:r>
          </a:p>
          <a:p>
            <a:pPr marL="389255" marR="5080" indent="-377190" algn="just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The Physics:</a:t>
            </a:r>
            <a:r>
              <a:rPr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operation</a:t>
            </a:r>
            <a:r>
              <a:rPr spc="-40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based</a:t>
            </a:r>
            <a:r>
              <a:rPr spc="-20" dirty="0"/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b="1" spc="-10" dirty="0">
                <a:solidFill>
                  <a:srgbClr val="0070BF"/>
                </a:solidFill>
                <a:latin typeface="Verdana"/>
                <a:cs typeface="Verdana"/>
              </a:rPr>
              <a:t>Photovoltaic 	</a:t>
            </a:r>
            <a:r>
              <a:rPr b="1" dirty="0">
                <a:solidFill>
                  <a:srgbClr val="0070BF"/>
                </a:solidFill>
                <a:latin typeface="Verdana"/>
                <a:cs typeface="Verdana"/>
              </a:rPr>
              <a:t>Effect,</a:t>
            </a:r>
            <a:r>
              <a:rPr b="1" spc="35" dirty="0">
                <a:solidFill>
                  <a:srgbClr val="0070BF"/>
                </a:solidFill>
                <a:latin typeface="Verdana"/>
                <a:cs typeface="Verdana"/>
              </a:rPr>
              <a:t> </a:t>
            </a:r>
            <a:r>
              <a:rPr dirty="0"/>
              <a:t>first</a:t>
            </a:r>
            <a:r>
              <a:rPr spc="15" dirty="0"/>
              <a:t> </a:t>
            </a:r>
            <a:r>
              <a:rPr dirty="0"/>
              <a:t>observed</a:t>
            </a:r>
            <a:r>
              <a:rPr spc="20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1839.</a:t>
            </a:r>
            <a:r>
              <a:rPr spc="15" dirty="0"/>
              <a:t> </a:t>
            </a:r>
            <a:r>
              <a:rPr dirty="0"/>
              <a:t>Unlike</a:t>
            </a:r>
            <a:r>
              <a:rPr spc="-5" dirty="0"/>
              <a:t> </a:t>
            </a:r>
            <a:r>
              <a:rPr dirty="0"/>
              <a:t>thermal</a:t>
            </a:r>
            <a:r>
              <a:rPr spc="15" dirty="0"/>
              <a:t> </a:t>
            </a:r>
            <a:r>
              <a:rPr dirty="0"/>
              <a:t>solar</a:t>
            </a:r>
            <a:r>
              <a:rPr spc="30" dirty="0"/>
              <a:t> </a:t>
            </a:r>
            <a:r>
              <a:rPr spc="-10" dirty="0"/>
              <a:t>power, 	</a:t>
            </a:r>
            <a:r>
              <a:rPr dirty="0"/>
              <a:t>PV</a:t>
            </a:r>
            <a:r>
              <a:rPr spc="-70" dirty="0"/>
              <a:t> </a:t>
            </a:r>
            <a:r>
              <a:rPr dirty="0"/>
              <a:t>devices</a:t>
            </a:r>
            <a:r>
              <a:rPr spc="-65" dirty="0"/>
              <a:t> </a:t>
            </a:r>
            <a:r>
              <a:rPr dirty="0"/>
              <a:t>have</a:t>
            </a:r>
            <a:r>
              <a:rPr spc="-55" dirty="0"/>
              <a:t> </a:t>
            </a:r>
            <a:r>
              <a:rPr dirty="0"/>
              <a:t>no</a:t>
            </a:r>
            <a:r>
              <a:rPr spc="-55" dirty="0"/>
              <a:t> </a:t>
            </a:r>
            <a:r>
              <a:rPr dirty="0"/>
              <a:t>moving</a:t>
            </a:r>
            <a:r>
              <a:rPr spc="-70" dirty="0"/>
              <a:t> </a:t>
            </a:r>
            <a:r>
              <a:rPr spc="-10" dirty="0"/>
              <a:t>parts.</a:t>
            </a:r>
          </a:p>
          <a:p>
            <a:pPr marL="389255" marR="6350" indent="-377190" algn="just">
              <a:lnSpc>
                <a:spcPct val="150000"/>
              </a:lnSpc>
              <a:buFont typeface="Times New Roman"/>
              <a:buChar char="➢"/>
              <a:tabLst>
                <a:tab pos="39052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Key</a:t>
            </a:r>
            <a:r>
              <a:rPr b="1" spc="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Materials:</a:t>
            </a:r>
            <a:r>
              <a:rPr b="1" spc="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Crystalline  Silicon  </a:t>
            </a:r>
            <a:r>
              <a:rPr spc="-40" dirty="0"/>
              <a:t>(c-</a:t>
            </a:r>
            <a:r>
              <a:rPr dirty="0"/>
              <a:t>Si):</a:t>
            </a:r>
            <a:r>
              <a:rPr spc="-20" dirty="0"/>
              <a:t>  </a:t>
            </a:r>
            <a:r>
              <a:rPr dirty="0"/>
              <a:t>The</a:t>
            </a:r>
            <a:r>
              <a:rPr spc="-5" dirty="0"/>
              <a:t>  </a:t>
            </a:r>
            <a:r>
              <a:rPr spc="-10" dirty="0"/>
              <a:t>industry 	</a:t>
            </a:r>
            <a:r>
              <a:rPr dirty="0"/>
              <a:t>standard</a:t>
            </a:r>
            <a:r>
              <a:rPr spc="-80" dirty="0"/>
              <a:t> </a:t>
            </a:r>
            <a:r>
              <a:rPr dirty="0"/>
              <a:t>(95%</a:t>
            </a:r>
            <a:r>
              <a:rPr spc="-70" dirty="0"/>
              <a:t> </a:t>
            </a:r>
            <a:r>
              <a:rPr dirty="0"/>
              <a:t>market</a:t>
            </a:r>
            <a:r>
              <a:rPr spc="-60" dirty="0"/>
              <a:t> </a:t>
            </a:r>
            <a:r>
              <a:rPr spc="-10" dirty="0"/>
              <a:t>share).</a:t>
            </a:r>
          </a:p>
          <a:p>
            <a:pPr marL="1278255" lvl="1" indent="-502284" algn="just">
              <a:lnSpc>
                <a:spcPct val="100000"/>
              </a:lnSpc>
              <a:spcBef>
                <a:spcPts val="1320"/>
              </a:spcBef>
              <a:buFont typeface="Times New Roman"/>
              <a:buChar char="▪"/>
              <a:tabLst>
                <a:tab pos="1278255" algn="l"/>
              </a:tabLst>
            </a:pPr>
            <a:r>
              <a:rPr sz="2200" b="1" spc="-10" dirty="0">
                <a:solidFill>
                  <a:srgbClr val="FF0000"/>
                </a:solidFill>
                <a:latin typeface="Verdana"/>
                <a:cs typeface="Verdana"/>
              </a:rPr>
              <a:t>Thin-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Film:</a:t>
            </a:r>
            <a:r>
              <a:rPr sz="2200" b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Cadmium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Telluride</a:t>
            </a:r>
            <a:r>
              <a:rPr sz="2200" spc="-10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(CdTe)</a:t>
            </a:r>
            <a:r>
              <a:rPr sz="2200" spc="-6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CIGS.</a:t>
            </a:r>
            <a:endParaRPr sz="2200">
              <a:latin typeface="Verdana"/>
              <a:cs typeface="Verdana"/>
            </a:endParaRPr>
          </a:p>
          <a:p>
            <a:pPr marL="1278255" lvl="1" indent="-502284" algn="just">
              <a:lnSpc>
                <a:spcPct val="100000"/>
              </a:lnSpc>
              <a:spcBef>
                <a:spcPts val="1320"/>
              </a:spcBef>
              <a:buFont typeface="Times New Roman"/>
              <a:buChar char="▪"/>
              <a:tabLst>
                <a:tab pos="1278255" algn="l"/>
              </a:tabLst>
            </a:pP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Emerging</a:t>
            </a:r>
            <a:r>
              <a:rPr sz="22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FF0000"/>
                </a:solidFill>
                <a:latin typeface="Verdana"/>
                <a:cs typeface="Verdana"/>
              </a:rPr>
              <a:t>Tech:</a:t>
            </a:r>
            <a:r>
              <a:rPr sz="2200" b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Perovskites</a:t>
            </a:r>
            <a:r>
              <a:rPr sz="2200" spc="-7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8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Organic</a:t>
            </a:r>
            <a:r>
              <a:rPr sz="2200" spc="-7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PVs.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54667" y="124572"/>
            <a:ext cx="9351645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8945" marR="5080" indent="-2976880">
              <a:lnSpc>
                <a:spcPct val="100200"/>
              </a:lnSpc>
              <a:spcBef>
                <a:spcPts val="100"/>
              </a:spcBef>
            </a:pPr>
            <a:r>
              <a:rPr dirty="0"/>
              <a:t>Working</a:t>
            </a:r>
            <a:r>
              <a:rPr spc="-60" dirty="0"/>
              <a:t> </a:t>
            </a:r>
            <a:r>
              <a:rPr dirty="0"/>
              <a:t>Principle:</a:t>
            </a:r>
            <a:r>
              <a:rPr spc="-55" dirty="0"/>
              <a:t> </a:t>
            </a:r>
            <a:r>
              <a:rPr dirty="0"/>
              <a:t>From </a:t>
            </a:r>
            <a:r>
              <a:rPr spc="-10" dirty="0"/>
              <a:t>Photons </a:t>
            </a:r>
            <a:r>
              <a:rPr dirty="0"/>
              <a:t>to</a:t>
            </a:r>
            <a:r>
              <a:rPr spc="-25" dirty="0"/>
              <a:t> </a:t>
            </a:r>
            <a:r>
              <a:rPr spc="-10" dirty="0"/>
              <a:t>Electrons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30834" y="1375279"/>
            <a:ext cx="8945245" cy="576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5455" marR="81280" indent="-377190" algn="just">
              <a:lnSpc>
                <a:spcPct val="152900"/>
              </a:lnSpc>
              <a:spcBef>
                <a:spcPts val="100"/>
              </a:spcBef>
              <a:buFont typeface="Times New Roman"/>
              <a:buChar char="➢"/>
              <a:tabLst>
                <a:tab pos="466725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Absorption:</a:t>
            </a:r>
            <a:r>
              <a:rPr sz="2050" b="1" spc="-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Photons</a:t>
            </a:r>
            <a:r>
              <a:rPr sz="2050" spc="-1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from</a:t>
            </a:r>
            <a:r>
              <a:rPr sz="2050" spc="-1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sunlight</a:t>
            </a:r>
            <a:r>
              <a:rPr sz="2050" spc="-1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strike</a:t>
            </a:r>
            <a:r>
              <a:rPr sz="2050" spc="-1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-1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cell.</a:t>
            </a:r>
            <a:r>
              <a:rPr sz="2050" spc="-2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If</a:t>
            </a:r>
            <a:r>
              <a:rPr sz="2050" spc="-20" dirty="0">
                <a:latin typeface="Verdana"/>
                <a:cs typeface="Verdana"/>
              </a:rPr>
              <a:t>  </a:t>
            </a:r>
            <a:r>
              <a:rPr sz="2050" spc="-10" dirty="0">
                <a:latin typeface="Verdana"/>
                <a:cs typeface="Verdana"/>
              </a:rPr>
              <a:t>their 	</a:t>
            </a:r>
            <a:r>
              <a:rPr sz="2050" dirty="0">
                <a:latin typeface="Verdana"/>
                <a:cs typeface="Verdana"/>
              </a:rPr>
              <a:t>energy</a:t>
            </a:r>
            <a:r>
              <a:rPr sz="2050" spc="14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(</a:t>
            </a:r>
            <a:r>
              <a:rPr sz="2050" i="1" dirty="0">
                <a:latin typeface="Times New Roman"/>
                <a:cs typeface="Times New Roman"/>
              </a:rPr>
              <a:t>ℎP</a:t>
            </a:r>
            <a:r>
              <a:rPr sz="2050" dirty="0">
                <a:latin typeface="Verdana"/>
                <a:cs typeface="Verdana"/>
              </a:rPr>
              <a:t>)</a:t>
            </a:r>
            <a:r>
              <a:rPr sz="2050" spc="15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is</a:t>
            </a:r>
            <a:r>
              <a:rPr sz="2050" spc="17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greater</a:t>
            </a:r>
            <a:r>
              <a:rPr sz="2050" spc="15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than</a:t>
            </a:r>
            <a:r>
              <a:rPr sz="2050" spc="14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12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semiconductor's</a:t>
            </a:r>
            <a:r>
              <a:rPr sz="2050" spc="17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bandgap</a:t>
            </a:r>
            <a:r>
              <a:rPr sz="2050" spc="16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(</a:t>
            </a:r>
            <a:r>
              <a:rPr sz="2050" i="1" spc="-10" dirty="0">
                <a:latin typeface="Verdana"/>
                <a:cs typeface="Verdana"/>
              </a:rPr>
              <a:t>E</a:t>
            </a:r>
            <a:r>
              <a:rPr sz="2100" i="1" spc="-15" baseline="-19841" dirty="0">
                <a:latin typeface="Verdana"/>
                <a:cs typeface="Verdana"/>
              </a:rPr>
              <a:t>g</a:t>
            </a:r>
            <a:r>
              <a:rPr sz="2050" spc="-10" dirty="0">
                <a:latin typeface="Verdana"/>
                <a:cs typeface="Verdana"/>
              </a:rPr>
              <a:t>), 	</a:t>
            </a:r>
            <a:r>
              <a:rPr sz="2050" dirty="0">
                <a:latin typeface="Verdana"/>
                <a:cs typeface="Verdana"/>
              </a:rPr>
              <a:t>they</a:t>
            </a:r>
            <a:r>
              <a:rPr sz="2050" spc="5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are</a:t>
            </a:r>
            <a:r>
              <a:rPr sz="2050" spc="6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absorbed.</a:t>
            </a:r>
            <a:endParaRPr sz="2050">
              <a:latin typeface="Verdana"/>
              <a:cs typeface="Verdana"/>
            </a:endParaRPr>
          </a:p>
          <a:p>
            <a:pPr marL="465455" marR="81915" indent="-377190" algn="just">
              <a:lnSpc>
                <a:spcPct val="152900"/>
              </a:lnSpc>
              <a:spcBef>
                <a:spcPts val="5"/>
              </a:spcBef>
              <a:buFont typeface="Times New Roman"/>
              <a:buChar char="➢"/>
              <a:tabLst>
                <a:tab pos="466725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Carrier</a:t>
            </a:r>
            <a:r>
              <a:rPr sz="2050" b="1" spc="4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Generation:</a:t>
            </a:r>
            <a:r>
              <a:rPr sz="2050" b="1" spc="4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44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absorbed</a:t>
            </a:r>
            <a:r>
              <a:rPr sz="2050" spc="45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energy</a:t>
            </a:r>
            <a:r>
              <a:rPr sz="2050" spc="48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excites</a:t>
            </a:r>
            <a:r>
              <a:rPr sz="2050" spc="455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electrons 	</a:t>
            </a:r>
            <a:r>
              <a:rPr sz="2050" dirty="0">
                <a:latin typeface="Verdana"/>
                <a:cs typeface="Verdana"/>
              </a:rPr>
              <a:t>from</a:t>
            </a:r>
            <a:r>
              <a:rPr sz="2050" spc="14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14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valence</a:t>
            </a:r>
            <a:r>
              <a:rPr sz="2050" spc="14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band</a:t>
            </a:r>
            <a:r>
              <a:rPr sz="2050" spc="14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to</a:t>
            </a:r>
            <a:r>
              <a:rPr sz="2050" spc="14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13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conduction</a:t>
            </a:r>
            <a:r>
              <a:rPr sz="2050" spc="14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band,</a:t>
            </a:r>
            <a:r>
              <a:rPr sz="2050" spc="140" dirty="0">
                <a:latin typeface="Verdana"/>
                <a:cs typeface="Verdana"/>
              </a:rPr>
              <a:t>  </a:t>
            </a:r>
            <a:r>
              <a:rPr sz="2050" spc="-10" dirty="0">
                <a:latin typeface="Verdana"/>
                <a:cs typeface="Verdana"/>
              </a:rPr>
              <a:t>creating 	</a:t>
            </a:r>
            <a:r>
              <a:rPr sz="2050" dirty="0">
                <a:latin typeface="Verdana"/>
                <a:cs typeface="Verdana"/>
              </a:rPr>
              <a:t>electron-hole</a:t>
            </a:r>
            <a:r>
              <a:rPr sz="2050" spc="15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pairs.</a:t>
            </a:r>
            <a:endParaRPr sz="2050">
              <a:latin typeface="Verdana"/>
              <a:cs typeface="Verdana"/>
            </a:endParaRPr>
          </a:p>
          <a:p>
            <a:pPr marL="465455" indent="-377190" algn="just">
              <a:lnSpc>
                <a:spcPct val="100000"/>
              </a:lnSpc>
              <a:spcBef>
                <a:spcPts val="1295"/>
              </a:spcBef>
              <a:buFont typeface="Times New Roman"/>
              <a:buChar char="➢"/>
              <a:tabLst>
                <a:tab pos="465455" algn="l"/>
                <a:tab pos="466725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Charge</a:t>
            </a:r>
            <a:r>
              <a:rPr sz="2050" b="1" spc="10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Separation:</a:t>
            </a:r>
            <a:r>
              <a:rPr sz="2050" b="1" spc="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An</a:t>
            </a:r>
            <a:r>
              <a:rPr sz="2050" spc="8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internal</a:t>
            </a:r>
            <a:r>
              <a:rPr sz="2050" spc="6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electric</a:t>
            </a:r>
            <a:r>
              <a:rPr sz="2050" spc="7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field</a:t>
            </a:r>
            <a:r>
              <a:rPr sz="2050" spc="7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at</a:t>
            </a:r>
            <a:r>
              <a:rPr sz="2050" spc="8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7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P-</a:t>
            </a:r>
            <a:r>
              <a:rPr sz="2050" spc="-50" dirty="0">
                <a:latin typeface="Verdana"/>
                <a:cs typeface="Verdana"/>
              </a:rPr>
              <a:t>N</a:t>
            </a:r>
            <a:endParaRPr sz="2050">
              <a:latin typeface="Verdana"/>
              <a:cs typeface="Verdana"/>
            </a:endParaRPr>
          </a:p>
          <a:p>
            <a:pPr marL="466725" marR="81915" algn="just">
              <a:lnSpc>
                <a:spcPct val="152700"/>
              </a:lnSpc>
              <a:spcBef>
                <a:spcPts val="10"/>
              </a:spcBef>
            </a:pPr>
            <a:r>
              <a:rPr sz="2050" dirty="0">
                <a:latin typeface="Verdana"/>
                <a:cs typeface="Verdana"/>
              </a:rPr>
              <a:t>Junction  separates</a:t>
            </a:r>
            <a:r>
              <a:rPr sz="2050" spc="2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these</a:t>
            </a:r>
            <a:r>
              <a:rPr sz="2050" spc="2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charges</a:t>
            </a:r>
            <a:r>
              <a:rPr sz="2050" spc="2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pushing</a:t>
            </a:r>
            <a:r>
              <a:rPr sz="2050" spc="2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electrons</a:t>
            </a:r>
            <a:r>
              <a:rPr sz="2050" spc="10" dirty="0">
                <a:latin typeface="Verdana"/>
                <a:cs typeface="Verdana"/>
              </a:rPr>
              <a:t>  </a:t>
            </a:r>
            <a:r>
              <a:rPr sz="2050" spc="-10" dirty="0">
                <a:latin typeface="Verdana"/>
                <a:cs typeface="Verdana"/>
              </a:rPr>
              <a:t>toward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7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N-type</a:t>
            </a:r>
            <a:r>
              <a:rPr sz="2050" spc="9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layer</a:t>
            </a:r>
            <a:r>
              <a:rPr sz="2050" spc="4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and</a:t>
            </a:r>
            <a:r>
              <a:rPr sz="2050" spc="5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holes</a:t>
            </a:r>
            <a:r>
              <a:rPr sz="2050" spc="5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toward</a:t>
            </a:r>
            <a:r>
              <a:rPr sz="2050" spc="5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7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P-type</a:t>
            </a:r>
            <a:r>
              <a:rPr sz="2050" spc="65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layer.</a:t>
            </a:r>
            <a:endParaRPr sz="2050">
              <a:latin typeface="Verdana"/>
              <a:cs typeface="Verdana"/>
            </a:endParaRPr>
          </a:p>
          <a:p>
            <a:pPr marL="465455" marR="81915" indent="-377190" algn="just">
              <a:lnSpc>
                <a:spcPct val="152900"/>
              </a:lnSpc>
              <a:spcBef>
                <a:spcPts val="10"/>
              </a:spcBef>
              <a:buFont typeface="Times New Roman"/>
              <a:buChar char="➢"/>
              <a:tabLst>
                <a:tab pos="466725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Current</a:t>
            </a:r>
            <a:r>
              <a:rPr sz="2050" b="1" spc="11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Flow:</a:t>
            </a:r>
            <a:r>
              <a:rPr sz="2050" b="1" spc="13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When</a:t>
            </a:r>
            <a:r>
              <a:rPr sz="2050" spc="10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an</a:t>
            </a:r>
            <a:r>
              <a:rPr sz="2050" spc="10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external</a:t>
            </a:r>
            <a:r>
              <a:rPr sz="2050" spc="114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load</a:t>
            </a:r>
            <a:r>
              <a:rPr sz="2050" spc="10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is</a:t>
            </a:r>
            <a:r>
              <a:rPr sz="2050" spc="10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connected,</a:t>
            </a:r>
            <a:r>
              <a:rPr sz="2050" spc="110" dirty="0">
                <a:latin typeface="Verdana"/>
                <a:cs typeface="Verdana"/>
              </a:rPr>
              <a:t>  </a:t>
            </a:r>
            <a:r>
              <a:rPr sz="2050" spc="-25" dirty="0">
                <a:latin typeface="Verdana"/>
                <a:cs typeface="Verdana"/>
              </a:rPr>
              <a:t>the 	</a:t>
            </a:r>
            <a:r>
              <a:rPr sz="2050" dirty="0">
                <a:latin typeface="Verdana"/>
                <a:cs typeface="Verdana"/>
              </a:rPr>
              <a:t>electrons</a:t>
            </a:r>
            <a:r>
              <a:rPr sz="2050" spc="26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flow</a:t>
            </a:r>
            <a:r>
              <a:rPr sz="2050" spc="24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through</a:t>
            </a:r>
            <a:r>
              <a:rPr sz="2050" spc="23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25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circuit</a:t>
            </a:r>
            <a:r>
              <a:rPr sz="2050" spc="25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to</a:t>
            </a:r>
            <a:r>
              <a:rPr sz="2050" spc="24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reach</a:t>
            </a:r>
            <a:r>
              <a:rPr sz="2050" spc="229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25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holes,</a:t>
            </a:r>
            <a:r>
              <a:rPr sz="2050" spc="229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creating 	</a:t>
            </a:r>
            <a:r>
              <a:rPr sz="2050" dirty="0">
                <a:latin typeface="Verdana"/>
                <a:cs typeface="Verdana"/>
              </a:rPr>
              <a:t>a</a:t>
            </a:r>
            <a:r>
              <a:rPr sz="2050" spc="5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Direct</a:t>
            </a:r>
            <a:r>
              <a:rPr sz="2050" spc="7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Current</a:t>
            </a:r>
            <a:r>
              <a:rPr sz="2050" spc="70" dirty="0">
                <a:latin typeface="Verdana"/>
                <a:cs typeface="Verdana"/>
              </a:rPr>
              <a:t> </a:t>
            </a:r>
            <a:r>
              <a:rPr sz="2050" spc="-20" dirty="0">
                <a:latin typeface="Verdana"/>
                <a:cs typeface="Verdana"/>
              </a:rPr>
              <a:t>(DC).</a:t>
            </a:r>
            <a:endParaRPr sz="2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213555" y="426127"/>
            <a:ext cx="3627754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Construction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486" y="1487090"/>
            <a:ext cx="8213678" cy="531254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373962" y="426127"/>
            <a:ext cx="53130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V-</a:t>
            </a:r>
            <a:r>
              <a:rPr dirty="0"/>
              <a:t>I</a:t>
            </a:r>
            <a:r>
              <a:rPr spc="-10" dirty="0"/>
              <a:t> Characteristics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612" y="1786128"/>
            <a:ext cx="7976616" cy="504901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94965" y="6689796"/>
            <a:ext cx="16744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1" spc="-1110" dirty="0">
                <a:latin typeface="Times New Roman"/>
                <a:cs typeface="Times New Roman"/>
              </a:rPr>
              <a:t>𝐹𝑖𝑙𝑙</a:t>
            </a:r>
            <a:r>
              <a:rPr sz="2200" i="1" spc="15" dirty="0">
                <a:latin typeface="Times New Roman"/>
                <a:cs typeface="Times New Roman"/>
              </a:rPr>
              <a:t> </a:t>
            </a:r>
            <a:r>
              <a:rPr sz="2200" i="1" spc="-885" dirty="0">
                <a:latin typeface="Times New Roman"/>
                <a:cs typeface="Times New Roman"/>
              </a:rPr>
              <a:t>𝐹𝑎𝑐𝑡𝑜𝑟</a:t>
            </a:r>
            <a:r>
              <a:rPr sz="2200" i="1" spc="95" dirty="0">
                <a:latin typeface="Times New Roman"/>
                <a:cs typeface="Times New Roman"/>
              </a:rPr>
              <a:t> =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96290" y="6526817"/>
            <a:ext cx="12503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300" i="1" spc="-772" baseline="11363" dirty="0">
                <a:latin typeface="Times New Roman"/>
                <a:cs typeface="Times New Roman"/>
              </a:rPr>
              <a:t>𝑉</a:t>
            </a:r>
            <a:r>
              <a:rPr sz="1600" i="1" spc="135" dirty="0">
                <a:latin typeface="Times New Roman"/>
                <a:cs typeface="Times New Roman"/>
              </a:rPr>
              <a:t>m</a:t>
            </a:r>
            <a:r>
              <a:rPr sz="1600" i="1" spc="145" dirty="0">
                <a:latin typeface="Times New Roman"/>
                <a:cs typeface="Times New Roman"/>
              </a:rPr>
              <a:t>p</a:t>
            </a:r>
            <a:r>
              <a:rPr sz="1600" i="1" spc="105" dirty="0">
                <a:latin typeface="Times New Roman"/>
                <a:cs typeface="Times New Roman"/>
              </a:rPr>
              <a:t> </a:t>
            </a:r>
            <a:r>
              <a:rPr sz="3300" i="1" spc="104" baseline="11363" dirty="0">
                <a:latin typeface="Times New Roman"/>
                <a:cs typeface="Times New Roman"/>
              </a:rPr>
              <a:t>×</a:t>
            </a:r>
            <a:r>
              <a:rPr sz="3300" i="1" spc="-202" baseline="11363" dirty="0">
                <a:latin typeface="Times New Roman"/>
                <a:cs typeface="Times New Roman"/>
              </a:rPr>
              <a:t> </a:t>
            </a:r>
            <a:r>
              <a:rPr sz="3300" i="1" spc="-600" baseline="11363" dirty="0">
                <a:latin typeface="Times New Roman"/>
                <a:cs typeface="Times New Roman"/>
              </a:rPr>
              <a:t>𝐼</a:t>
            </a:r>
            <a:r>
              <a:rPr sz="1600" i="1" spc="-400" dirty="0">
                <a:latin typeface="Times New Roman"/>
                <a:cs typeface="Times New Roman"/>
              </a:rPr>
              <a:t>mp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98423" y="6932161"/>
            <a:ext cx="10414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3300" i="1" spc="-967" baseline="11363" dirty="0">
                <a:latin typeface="Times New Roman"/>
                <a:cs typeface="Times New Roman"/>
              </a:rPr>
              <a:t>𝑉</a:t>
            </a:r>
            <a:r>
              <a:rPr sz="1600" i="1" spc="15" dirty="0">
                <a:latin typeface="Times New Roman"/>
                <a:cs typeface="Times New Roman"/>
              </a:rPr>
              <a:t>oc</a:t>
            </a:r>
            <a:r>
              <a:rPr sz="1600" i="1" spc="170" dirty="0">
                <a:latin typeface="Times New Roman"/>
                <a:cs typeface="Times New Roman"/>
              </a:rPr>
              <a:t> </a:t>
            </a:r>
            <a:r>
              <a:rPr sz="3300" i="1" spc="104" baseline="11363" dirty="0">
                <a:latin typeface="Times New Roman"/>
                <a:cs typeface="Times New Roman"/>
              </a:rPr>
              <a:t>×</a:t>
            </a:r>
            <a:r>
              <a:rPr sz="3300" i="1" spc="-150" baseline="11363" dirty="0">
                <a:latin typeface="Times New Roman"/>
                <a:cs typeface="Times New Roman"/>
              </a:rPr>
              <a:t> </a:t>
            </a:r>
            <a:r>
              <a:rPr sz="3300" i="1" spc="-750" baseline="11363" dirty="0">
                <a:latin typeface="Times New Roman"/>
                <a:cs typeface="Times New Roman"/>
              </a:rPr>
              <a:t>𝐼</a:t>
            </a:r>
            <a:r>
              <a:rPr sz="1600" i="1" spc="-500" dirty="0">
                <a:latin typeface="Times New Roman"/>
                <a:cs typeface="Times New Roman"/>
              </a:rPr>
              <a:t>sc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32888" y="6893052"/>
            <a:ext cx="1190625" cy="18415"/>
          </a:xfrm>
          <a:custGeom>
            <a:avLst/>
            <a:gdLst/>
            <a:ahLst/>
            <a:cxnLst/>
            <a:rect l="l" t="t" r="r" b="b"/>
            <a:pathLst>
              <a:path w="1190625" h="18415">
                <a:moveTo>
                  <a:pt x="1190243" y="18287"/>
                </a:moveTo>
                <a:lnTo>
                  <a:pt x="0" y="18287"/>
                </a:lnTo>
                <a:lnTo>
                  <a:pt x="0" y="0"/>
                </a:lnTo>
                <a:lnTo>
                  <a:pt x="1190243" y="0"/>
                </a:lnTo>
                <a:lnTo>
                  <a:pt x="1190243" y="18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12783" y="6916939"/>
            <a:ext cx="31984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0A0A0A"/>
                </a:solidFill>
                <a:latin typeface="Calibri"/>
                <a:cs typeface="Calibri"/>
              </a:rPr>
              <a:t>Typically,</a:t>
            </a:r>
            <a:r>
              <a:rPr sz="2200" spc="-2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A0A0A"/>
                </a:solidFill>
                <a:latin typeface="Calibri"/>
                <a:cs typeface="Calibri"/>
              </a:rPr>
              <a:t>0.7-</a:t>
            </a:r>
            <a:r>
              <a:rPr sz="2200" dirty="0">
                <a:solidFill>
                  <a:srgbClr val="0A0A0A"/>
                </a:solidFill>
                <a:latin typeface="Calibri"/>
                <a:cs typeface="Calibri"/>
              </a:rPr>
              <a:t>0.82</a:t>
            </a:r>
            <a:r>
              <a:rPr sz="2200" spc="-55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0A0A0A"/>
                </a:solidFill>
                <a:latin typeface="Calibri"/>
                <a:cs typeface="Calibri"/>
              </a:rPr>
              <a:t>for</a:t>
            </a:r>
            <a:r>
              <a:rPr sz="2200" spc="-35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0A0A0A"/>
                </a:solidFill>
                <a:latin typeface="Calibri"/>
                <a:cs typeface="Calibri"/>
              </a:rPr>
              <a:t>silicon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8611" y="124572"/>
            <a:ext cx="876427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7864" marR="5080" indent="-1955800">
              <a:lnSpc>
                <a:spcPct val="100200"/>
              </a:lnSpc>
              <a:spcBef>
                <a:spcPts val="100"/>
              </a:spcBef>
            </a:pPr>
            <a:r>
              <a:rPr spc="-10" dirty="0"/>
              <a:t>P-</a:t>
            </a:r>
            <a:r>
              <a:rPr dirty="0"/>
              <a:t>V</a:t>
            </a:r>
            <a:r>
              <a:rPr spc="-5" dirty="0"/>
              <a:t> </a:t>
            </a:r>
            <a:r>
              <a:rPr dirty="0"/>
              <a:t>Characteristics</a:t>
            </a:r>
            <a:r>
              <a:rPr spc="-75" dirty="0"/>
              <a:t> </a:t>
            </a:r>
            <a:r>
              <a:rPr dirty="0"/>
              <a:t>at</a:t>
            </a:r>
            <a:r>
              <a:rPr spc="-40" dirty="0"/>
              <a:t> </a:t>
            </a:r>
            <a:r>
              <a:rPr spc="-10" dirty="0"/>
              <a:t>different </a:t>
            </a:r>
            <a:r>
              <a:rPr dirty="0"/>
              <a:t>irradiance</a:t>
            </a:r>
            <a:r>
              <a:rPr spc="-65" dirty="0"/>
              <a:t> </a:t>
            </a:r>
            <a:r>
              <a:rPr spc="-10" dirty="0"/>
              <a:t>levels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8035" y="1702307"/>
            <a:ext cx="8059053" cy="519198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373962" y="426127"/>
            <a:ext cx="53130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V-</a:t>
            </a:r>
            <a:r>
              <a:rPr dirty="0"/>
              <a:t>I</a:t>
            </a:r>
            <a:r>
              <a:rPr spc="-10" dirty="0"/>
              <a:t> Characteristics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35" y="1386840"/>
            <a:ext cx="10017252" cy="556564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51121" y="426127"/>
            <a:ext cx="895286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Key</a:t>
            </a:r>
            <a:r>
              <a:rPr spc="-35" dirty="0"/>
              <a:t> </a:t>
            </a:r>
            <a:r>
              <a:rPr dirty="0"/>
              <a:t>Characteristics</a:t>
            </a:r>
            <a:r>
              <a:rPr spc="-70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10" dirty="0"/>
              <a:t>Efficiency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3688" y="1453097"/>
            <a:ext cx="8962390" cy="57607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0525" marR="9525" indent="-378460">
              <a:lnSpc>
                <a:spcPct val="153200"/>
              </a:lnSpc>
              <a:spcBef>
                <a:spcPts val="90"/>
              </a:spcBef>
              <a:buFont typeface="Times New Roman"/>
              <a:buChar char="➢"/>
              <a:tabLst>
                <a:tab pos="390525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Efficiency:</a:t>
            </a:r>
            <a:r>
              <a:rPr sz="2050" b="1" spc="2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24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ratio</a:t>
            </a:r>
            <a:r>
              <a:rPr sz="2050" spc="24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of</a:t>
            </a:r>
            <a:r>
              <a:rPr sz="2050" spc="25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electrical</a:t>
            </a:r>
            <a:r>
              <a:rPr sz="2050" spc="24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power</a:t>
            </a:r>
            <a:r>
              <a:rPr sz="2050" spc="24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output</a:t>
            </a:r>
            <a:r>
              <a:rPr sz="2050" spc="24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to</a:t>
            </a:r>
            <a:r>
              <a:rPr sz="2050" spc="24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27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incident </a:t>
            </a:r>
            <a:r>
              <a:rPr sz="2050" dirty="0">
                <a:latin typeface="Verdana"/>
                <a:cs typeface="Verdana"/>
              </a:rPr>
              <a:t>solar</a:t>
            </a:r>
            <a:r>
              <a:rPr sz="2050" spc="65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power.</a:t>
            </a:r>
            <a:endParaRPr sz="2050">
              <a:latin typeface="Verdana"/>
              <a:cs typeface="Verdana"/>
            </a:endParaRPr>
          </a:p>
          <a:p>
            <a:pPr marL="893444" lvl="1" indent="-378460">
              <a:lnSpc>
                <a:spcPct val="100000"/>
              </a:lnSpc>
              <a:spcBef>
                <a:spcPts val="1295"/>
              </a:spcBef>
              <a:buFont typeface="Times New Roman"/>
              <a:buChar char="▪"/>
              <a:tabLst>
                <a:tab pos="893444" algn="l"/>
              </a:tabLst>
            </a:pPr>
            <a:r>
              <a:rPr sz="2050" dirty="0">
                <a:latin typeface="Verdana"/>
                <a:cs typeface="Verdana"/>
              </a:rPr>
              <a:t>Standard</a:t>
            </a:r>
            <a:r>
              <a:rPr sz="2050" spc="9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Commercial</a:t>
            </a:r>
            <a:r>
              <a:rPr sz="2050" spc="12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Efficiency:</a:t>
            </a:r>
            <a:r>
              <a:rPr sz="2050" spc="10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15%</a:t>
            </a:r>
            <a:r>
              <a:rPr sz="2050" spc="12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–</a:t>
            </a:r>
            <a:r>
              <a:rPr sz="2050" spc="120" dirty="0">
                <a:latin typeface="Verdana"/>
                <a:cs typeface="Verdana"/>
              </a:rPr>
              <a:t> </a:t>
            </a:r>
            <a:r>
              <a:rPr sz="2050" spc="-20" dirty="0">
                <a:latin typeface="Verdana"/>
                <a:cs typeface="Verdana"/>
              </a:rPr>
              <a:t>22%.</a:t>
            </a:r>
            <a:endParaRPr sz="2050">
              <a:latin typeface="Verdana"/>
              <a:cs typeface="Verdana"/>
            </a:endParaRPr>
          </a:p>
          <a:p>
            <a:pPr marL="893444" lvl="1" indent="-378460">
              <a:lnSpc>
                <a:spcPct val="100000"/>
              </a:lnSpc>
              <a:spcBef>
                <a:spcPts val="1310"/>
              </a:spcBef>
              <a:buFont typeface="Times New Roman"/>
              <a:buChar char="▪"/>
              <a:tabLst>
                <a:tab pos="893444" algn="l"/>
              </a:tabLst>
            </a:pPr>
            <a:r>
              <a:rPr sz="2050" dirty="0">
                <a:latin typeface="Verdana"/>
                <a:cs typeface="Verdana"/>
              </a:rPr>
              <a:t>Lab</a:t>
            </a:r>
            <a:r>
              <a:rPr sz="2050" spc="12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Records</a:t>
            </a:r>
            <a:r>
              <a:rPr sz="2050" spc="13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(Multi-junction):</a:t>
            </a:r>
            <a:r>
              <a:rPr sz="2050" spc="105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~47%.</a:t>
            </a:r>
            <a:endParaRPr sz="205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295"/>
              </a:spcBef>
              <a:buFont typeface="Times New Roman"/>
              <a:buChar char="➢"/>
              <a:tabLst>
                <a:tab pos="390525" algn="l"/>
              </a:tabLst>
            </a:pPr>
            <a:r>
              <a:rPr sz="2050" b="1" spc="-10" dirty="0">
                <a:solidFill>
                  <a:srgbClr val="FF0000"/>
                </a:solidFill>
                <a:latin typeface="Verdana"/>
                <a:cs typeface="Verdana"/>
              </a:rPr>
              <a:t>Scalability:</a:t>
            </a:r>
            <a:endParaRPr sz="2050">
              <a:latin typeface="Verdana"/>
              <a:cs typeface="Verdana"/>
            </a:endParaRPr>
          </a:p>
          <a:p>
            <a:pPr marL="893444" lvl="1" indent="-378460">
              <a:lnSpc>
                <a:spcPct val="100000"/>
              </a:lnSpc>
              <a:spcBef>
                <a:spcPts val="1310"/>
              </a:spcBef>
              <a:buFont typeface="Times New Roman"/>
              <a:buChar char="▪"/>
              <a:tabLst>
                <a:tab pos="893444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Cell:</a:t>
            </a:r>
            <a:r>
              <a:rPr sz="2050" b="1" spc="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6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basic</a:t>
            </a:r>
            <a:r>
              <a:rPr sz="2050" spc="5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unit</a:t>
            </a:r>
            <a:r>
              <a:rPr sz="2050" spc="7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(~0.5</a:t>
            </a:r>
            <a:r>
              <a:rPr sz="2050" spc="7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to</a:t>
            </a:r>
            <a:r>
              <a:rPr sz="2050" spc="65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0.6V).</a:t>
            </a:r>
            <a:endParaRPr sz="2050">
              <a:latin typeface="Verdana"/>
              <a:cs typeface="Verdana"/>
            </a:endParaRPr>
          </a:p>
          <a:p>
            <a:pPr marL="893444" marR="5080" lvl="1" indent="-378460">
              <a:lnSpc>
                <a:spcPts val="3770"/>
              </a:lnSpc>
              <a:spcBef>
                <a:spcPts val="330"/>
              </a:spcBef>
              <a:buFont typeface="Times New Roman"/>
              <a:buChar char="▪"/>
              <a:tabLst>
                <a:tab pos="893444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Module</a:t>
            </a:r>
            <a:r>
              <a:rPr sz="2050" b="1" spc="4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(Panel):</a:t>
            </a:r>
            <a:r>
              <a:rPr sz="2050" b="1" spc="45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Multiple</a:t>
            </a:r>
            <a:r>
              <a:rPr sz="2050" spc="42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cells</a:t>
            </a:r>
            <a:r>
              <a:rPr sz="2050" spc="46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connected</a:t>
            </a:r>
            <a:r>
              <a:rPr sz="2050" spc="45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(typically</a:t>
            </a:r>
            <a:r>
              <a:rPr sz="2050" spc="409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60</a:t>
            </a:r>
            <a:r>
              <a:rPr sz="2050" spc="445" dirty="0">
                <a:latin typeface="Verdana"/>
                <a:cs typeface="Verdana"/>
              </a:rPr>
              <a:t> </a:t>
            </a:r>
            <a:r>
              <a:rPr sz="2050" spc="-25" dirty="0">
                <a:latin typeface="Verdana"/>
                <a:cs typeface="Verdana"/>
              </a:rPr>
              <a:t>or </a:t>
            </a:r>
            <a:r>
              <a:rPr sz="2050" dirty="0">
                <a:latin typeface="Verdana"/>
                <a:cs typeface="Verdana"/>
              </a:rPr>
              <a:t>72</a:t>
            </a:r>
            <a:r>
              <a:rPr sz="2050" spc="7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cells).</a:t>
            </a:r>
            <a:endParaRPr sz="2050">
              <a:latin typeface="Verdana"/>
              <a:cs typeface="Verdana"/>
            </a:endParaRPr>
          </a:p>
          <a:p>
            <a:pPr marL="893444" lvl="1" indent="-378460">
              <a:lnSpc>
                <a:spcPct val="100000"/>
              </a:lnSpc>
              <a:spcBef>
                <a:spcPts val="950"/>
              </a:spcBef>
              <a:buFont typeface="Times New Roman"/>
              <a:buChar char="▪"/>
              <a:tabLst>
                <a:tab pos="893444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Array:</a:t>
            </a:r>
            <a:r>
              <a:rPr sz="2050" b="1" spc="-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Multiple</a:t>
            </a:r>
            <a:r>
              <a:rPr sz="2050" spc="-9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modules</a:t>
            </a:r>
            <a:r>
              <a:rPr sz="2050" spc="-9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connected</a:t>
            </a:r>
            <a:r>
              <a:rPr sz="2050" spc="-9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together</a:t>
            </a:r>
            <a:r>
              <a:rPr sz="2050" spc="-9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to</a:t>
            </a:r>
            <a:r>
              <a:rPr sz="2050" spc="-9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reach</a:t>
            </a:r>
            <a:r>
              <a:rPr sz="2050" spc="-105" dirty="0">
                <a:latin typeface="Verdana"/>
                <a:cs typeface="Verdana"/>
              </a:rPr>
              <a:t>  </a:t>
            </a:r>
            <a:r>
              <a:rPr sz="2050" spc="-25" dirty="0">
                <a:latin typeface="Verdana"/>
                <a:cs typeface="Verdana"/>
              </a:rPr>
              <a:t>the</a:t>
            </a:r>
            <a:endParaRPr sz="2050">
              <a:latin typeface="Verdana"/>
              <a:cs typeface="Verdana"/>
            </a:endParaRPr>
          </a:p>
          <a:p>
            <a:pPr marL="893444">
              <a:lnSpc>
                <a:spcPct val="100000"/>
              </a:lnSpc>
              <a:spcBef>
                <a:spcPts val="1305"/>
              </a:spcBef>
            </a:pPr>
            <a:r>
              <a:rPr sz="2050" dirty="0">
                <a:latin typeface="Verdana"/>
                <a:cs typeface="Verdana"/>
              </a:rPr>
              <a:t>desired</a:t>
            </a:r>
            <a:r>
              <a:rPr sz="2050" spc="10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power</a:t>
            </a:r>
            <a:r>
              <a:rPr sz="2050" spc="114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output.</a:t>
            </a:r>
            <a:endParaRPr sz="2050">
              <a:latin typeface="Verdana"/>
              <a:cs typeface="Verdana"/>
            </a:endParaRPr>
          </a:p>
          <a:p>
            <a:pPr marL="390525" marR="5715" indent="-378460">
              <a:lnSpc>
                <a:spcPts val="3770"/>
              </a:lnSpc>
              <a:spcBef>
                <a:spcPts val="130"/>
              </a:spcBef>
              <a:buFont typeface="Times New Roman"/>
              <a:buChar char="➢"/>
              <a:tabLst>
                <a:tab pos="390525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Dark</a:t>
            </a:r>
            <a:r>
              <a:rPr sz="2050" b="1" spc="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Current:</a:t>
            </a:r>
            <a:r>
              <a:rPr sz="2050" b="1" spc="-1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-2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small</a:t>
            </a:r>
            <a:r>
              <a:rPr sz="2050" spc="-1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leakage</a:t>
            </a:r>
            <a:r>
              <a:rPr sz="2050" spc="-1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current</a:t>
            </a:r>
            <a:r>
              <a:rPr sz="2050" spc="-1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that</a:t>
            </a:r>
            <a:r>
              <a:rPr sz="2050" spc="-2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flows</a:t>
            </a:r>
            <a:r>
              <a:rPr sz="2050" spc="-1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in</a:t>
            </a:r>
            <a:r>
              <a:rPr sz="2050" spc="-25" dirty="0">
                <a:latin typeface="Verdana"/>
                <a:cs typeface="Verdana"/>
              </a:rPr>
              <a:t>  the </a:t>
            </a:r>
            <a:r>
              <a:rPr sz="2050" dirty="0">
                <a:latin typeface="Verdana"/>
                <a:cs typeface="Verdana"/>
              </a:rPr>
              <a:t>absence</a:t>
            </a:r>
            <a:r>
              <a:rPr sz="2050" spc="6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of</a:t>
            </a:r>
            <a:r>
              <a:rPr sz="2050" spc="8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light.</a:t>
            </a:r>
            <a:endParaRPr sz="2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72867" y="489120"/>
            <a:ext cx="3966845" cy="68008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sz="4400" b="1" spc="-10" dirty="0">
                <a:solidFill>
                  <a:srgbClr val="0070BF"/>
                </a:solidFill>
                <a:latin typeface="Verdana"/>
                <a:cs typeface="Verdana"/>
              </a:rPr>
              <a:t>Introduction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69266" y="124572"/>
            <a:ext cx="7920990" cy="1232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0" marR="5080" indent="-2858135">
              <a:lnSpc>
                <a:spcPct val="100200"/>
              </a:lnSpc>
              <a:spcBef>
                <a:spcPts val="100"/>
              </a:spcBef>
            </a:pPr>
            <a:r>
              <a:rPr dirty="0"/>
              <a:t>Applications</a:t>
            </a:r>
            <a:r>
              <a:rPr spc="-65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Photovoltaic Devices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3688" y="1453097"/>
            <a:ext cx="8961755" cy="5281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0525" marR="5080" indent="-378460">
              <a:lnSpc>
                <a:spcPct val="153200"/>
              </a:lnSpc>
              <a:spcBef>
                <a:spcPts val="90"/>
              </a:spcBef>
              <a:buFont typeface="Times New Roman"/>
              <a:buChar char="➢"/>
              <a:tabLst>
                <a:tab pos="390525" algn="l"/>
                <a:tab pos="2246630" algn="l"/>
                <a:tab pos="4343400" algn="l"/>
                <a:tab pos="6273800" algn="l"/>
                <a:tab pos="8456295" algn="l"/>
              </a:tabLst>
            </a:pPr>
            <a:r>
              <a:rPr sz="2050" b="1" spc="-10" dirty="0">
                <a:solidFill>
                  <a:srgbClr val="FF0000"/>
                </a:solidFill>
                <a:latin typeface="Verdana"/>
                <a:cs typeface="Verdana"/>
              </a:rPr>
              <a:t>Consumer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50" b="1" spc="-10" dirty="0">
                <a:solidFill>
                  <a:srgbClr val="FF0000"/>
                </a:solidFill>
                <a:latin typeface="Verdana"/>
                <a:cs typeface="Verdana"/>
              </a:rPr>
              <a:t>Electronics: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50" spc="-10" dirty="0">
                <a:latin typeface="Verdana"/>
                <a:cs typeface="Verdana"/>
              </a:rPr>
              <a:t>Calculators,</a:t>
            </a:r>
            <a:r>
              <a:rPr sz="2050" dirty="0">
                <a:latin typeface="Verdana"/>
                <a:cs typeface="Verdana"/>
              </a:rPr>
              <a:t>	</a:t>
            </a:r>
            <a:r>
              <a:rPr sz="2050" spc="-10" dirty="0">
                <a:latin typeface="Verdana"/>
                <a:cs typeface="Verdana"/>
              </a:rPr>
              <a:t>wristwatches,</a:t>
            </a:r>
            <a:r>
              <a:rPr sz="2050" dirty="0">
                <a:latin typeface="Verdana"/>
                <a:cs typeface="Verdana"/>
              </a:rPr>
              <a:t>	</a:t>
            </a:r>
            <a:r>
              <a:rPr sz="2050" spc="-25" dirty="0">
                <a:latin typeface="Verdana"/>
                <a:cs typeface="Verdana"/>
              </a:rPr>
              <a:t>and </a:t>
            </a:r>
            <a:r>
              <a:rPr sz="2050" dirty="0">
                <a:latin typeface="Verdana"/>
                <a:cs typeface="Verdana"/>
              </a:rPr>
              <a:t>portable</a:t>
            </a:r>
            <a:r>
              <a:rPr sz="2050" spc="12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power</a:t>
            </a:r>
            <a:r>
              <a:rPr sz="2050" spc="105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banks.</a:t>
            </a:r>
            <a:endParaRPr sz="2050">
              <a:latin typeface="Verdana"/>
              <a:cs typeface="Verdana"/>
            </a:endParaRPr>
          </a:p>
          <a:p>
            <a:pPr marL="390525" marR="9525" indent="-378460">
              <a:lnSpc>
                <a:spcPts val="3770"/>
              </a:lnSpc>
              <a:spcBef>
                <a:spcPts val="330"/>
              </a:spcBef>
              <a:buFont typeface="Times New Roman"/>
              <a:buChar char="➢"/>
              <a:tabLst>
                <a:tab pos="390525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Residential</a:t>
            </a:r>
            <a:r>
              <a:rPr sz="2050" b="1" spc="-1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&amp;</a:t>
            </a:r>
            <a:r>
              <a:rPr sz="2050" b="1" spc="-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Commercial:</a:t>
            </a:r>
            <a:r>
              <a:rPr sz="2050" b="1" spc="-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Rooftop</a:t>
            </a:r>
            <a:r>
              <a:rPr sz="2050" spc="-3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solar</a:t>
            </a:r>
            <a:r>
              <a:rPr sz="2050" spc="-1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systems</a:t>
            </a:r>
            <a:r>
              <a:rPr sz="2050" spc="-3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(BIPV</a:t>
            </a:r>
            <a:r>
              <a:rPr sz="2050" spc="-20" dirty="0">
                <a:latin typeface="Verdana"/>
                <a:cs typeface="Verdana"/>
              </a:rPr>
              <a:t>  </a:t>
            </a:r>
            <a:r>
              <a:rPr sz="2050" spc="-50" dirty="0">
                <a:latin typeface="Verdana"/>
                <a:cs typeface="Verdana"/>
              </a:rPr>
              <a:t>- </a:t>
            </a:r>
            <a:r>
              <a:rPr sz="2050" dirty="0">
                <a:latin typeface="Verdana"/>
                <a:cs typeface="Verdana"/>
              </a:rPr>
              <a:t>Building</a:t>
            </a:r>
            <a:r>
              <a:rPr sz="2050" spc="10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Integrated</a:t>
            </a:r>
            <a:r>
              <a:rPr sz="2050" spc="12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Photovoltaics)</a:t>
            </a:r>
            <a:r>
              <a:rPr sz="2050" spc="7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for</a:t>
            </a:r>
            <a:r>
              <a:rPr sz="2050" spc="8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energy</a:t>
            </a:r>
            <a:r>
              <a:rPr sz="2050" spc="125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independence.</a:t>
            </a:r>
            <a:endParaRPr sz="205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950"/>
              </a:spcBef>
              <a:buFont typeface="Times New Roman"/>
              <a:buChar char="➢"/>
              <a:tabLst>
                <a:tab pos="390525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Remote</a:t>
            </a:r>
            <a:r>
              <a:rPr sz="2050" b="1" spc="-6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&amp;</a:t>
            </a:r>
            <a:r>
              <a:rPr sz="2050" b="1" spc="-4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Off-Grid:</a:t>
            </a:r>
            <a:r>
              <a:rPr sz="2050" b="1" spc="-5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Powering</a:t>
            </a:r>
            <a:r>
              <a:rPr sz="2050" spc="-8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weather</a:t>
            </a:r>
            <a:r>
              <a:rPr sz="2050" spc="-8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stations</a:t>
            </a:r>
            <a:r>
              <a:rPr sz="2050" spc="-7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and</a:t>
            </a:r>
            <a:r>
              <a:rPr sz="2050" spc="-80" dirty="0">
                <a:latin typeface="Verdana"/>
                <a:cs typeface="Verdana"/>
              </a:rPr>
              <a:t>  </a:t>
            </a:r>
            <a:r>
              <a:rPr sz="2050" spc="-10" dirty="0">
                <a:latin typeface="Verdana"/>
                <a:cs typeface="Verdana"/>
              </a:rPr>
              <a:t>seismic</a:t>
            </a:r>
            <a:endParaRPr sz="2050">
              <a:latin typeface="Verdana"/>
              <a:cs typeface="Verdana"/>
            </a:endParaRPr>
          </a:p>
          <a:p>
            <a:pPr marL="390525">
              <a:lnSpc>
                <a:spcPct val="100000"/>
              </a:lnSpc>
              <a:spcBef>
                <a:spcPts val="1310"/>
              </a:spcBef>
            </a:pPr>
            <a:r>
              <a:rPr sz="2050" dirty="0">
                <a:latin typeface="Verdana"/>
                <a:cs typeface="Verdana"/>
              </a:rPr>
              <a:t>sensors</a:t>
            </a:r>
            <a:r>
              <a:rPr sz="2050" spc="4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in</a:t>
            </a:r>
            <a:r>
              <a:rPr sz="2050" spc="6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remote</a:t>
            </a:r>
            <a:r>
              <a:rPr sz="2050" spc="9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locations.</a:t>
            </a:r>
            <a:endParaRPr sz="2050">
              <a:latin typeface="Verdana"/>
              <a:cs typeface="Verdana"/>
            </a:endParaRPr>
          </a:p>
          <a:p>
            <a:pPr marL="390525" indent="-377825">
              <a:lnSpc>
                <a:spcPct val="100000"/>
              </a:lnSpc>
              <a:spcBef>
                <a:spcPts val="1295"/>
              </a:spcBef>
              <a:buFont typeface="Times New Roman"/>
              <a:buChar char="➢"/>
              <a:tabLst>
                <a:tab pos="390525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Solar</a:t>
            </a:r>
            <a:r>
              <a:rPr sz="2050" b="1" spc="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Water</a:t>
            </a:r>
            <a:r>
              <a:rPr sz="2050" b="1" spc="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Pumping</a:t>
            </a:r>
            <a:r>
              <a:rPr sz="2050" b="1" spc="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for</a:t>
            </a:r>
            <a:r>
              <a:rPr sz="2050" spc="6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agricultural</a:t>
            </a:r>
            <a:r>
              <a:rPr sz="2050" spc="6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irrigation</a:t>
            </a:r>
            <a:r>
              <a:rPr sz="2050" spc="6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in</a:t>
            </a:r>
            <a:r>
              <a:rPr sz="2050" spc="6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rural</a:t>
            </a:r>
            <a:r>
              <a:rPr sz="2050" spc="85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areas.</a:t>
            </a:r>
            <a:endParaRPr sz="2050">
              <a:latin typeface="Verdana"/>
              <a:cs typeface="Verdana"/>
            </a:endParaRPr>
          </a:p>
          <a:p>
            <a:pPr marL="390525" marR="5080" indent="-378460">
              <a:lnSpc>
                <a:spcPct val="152700"/>
              </a:lnSpc>
              <a:spcBef>
                <a:spcPts val="10"/>
              </a:spcBef>
              <a:buFont typeface="Times New Roman"/>
              <a:buChar char="➢"/>
              <a:tabLst>
                <a:tab pos="390525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Space</a:t>
            </a:r>
            <a:r>
              <a:rPr sz="2050" b="1" spc="10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Exploration:</a:t>
            </a:r>
            <a:r>
              <a:rPr sz="2050" b="1" spc="12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Satellites</a:t>
            </a:r>
            <a:r>
              <a:rPr sz="2050" spc="11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and</a:t>
            </a:r>
            <a:r>
              <a:rPr sz="2050" spc="9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10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International</a:t>
            </a:r>
            <a:r>
              <a:rPr sz="2050" spc="105" dirty="0">
                <a:latin typeface="Verdana"/>
                <a:cs typeface="Verdana"/>
              </a:rPr>
              <a:t>  </a:t>
            </a:r>
            <a:r>
              <a:rPr sz="2050" spc="-10" dirty="0">
                <a:latin typeface="Verdana"/>
                <a:cs typeface="Verdana"/>
              </a:rPr>
              <a:t>Space </a:t>
            </a:r>
            <a:r>
              <a:rPr sz="2050" dirty="0">
                <a:latin typeface="Verdana"/>
                <a:cs typeface="Verdana"/>
              </a:rPr>
              <a:t>Station</a:t>
            </a:r>
            <a:r>
              <a:rPr sz="2050" spc="5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rely</a:t>
            </a:r>
            <a:r>
              <a:rPr sz="2050" spc="8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almost</a:t>
            </a:r>
            <a:r>
              <a:rPr sz="2050" spc="5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exclusively</a:t>
            </a:r>
            <a:r>
              <a:rPr sz="2050" spc="10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on</a:t>
            </a:r>
            <a:r>
              <a:rPr sz="2050" spc="8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high-efficiency</a:t>
            </a:r>
            <a:r>
              <a:rPr sz="2050" spc="10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PV</a:t>
            </a:r>
            <a:r>
              <a:rPr sz="2050" spc="10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arrays.</a:t>
            </a:r>
            <a:endParaRPr sz="2050">
              <a:latin typeface="Verdana"/>
              <a:cs typeface="Verdana"/>
            </a:endParaRPr>
          </a:p>
          <a:p>
            <a:pPr marL="390525" marR="5080" indent="-378460">
              <a:lnSpc>
                <a:spcPct val="152700"/>
              </a:lnSpc>
              <a:spcBef>
                <a:spcPts val="10"/>
              </a:spcBef>
              <a:buFont typeface="Times New Roman"/>
              <a:buChar char="➢"/>
              <a:tabLst>
                <a:tab pos="390525" algn="l"/>
              </a:tabLst>
            </a:pP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Utility</a:t>
            </a:r>
            <a:r>
              <a:rPr sz="2050" b="1" spc="2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50" b="1" dirty="0">
                <a:solidFill>
                  <a:srgbClr val="FF0000"/>
                </a:solidFill>
                <a:latin typeface="Verdana"/>
                <a:cs typeface="Verdana"/>
              </a:rPr>
              <a:t>Scale:</a:t>
            </a:r>
            <a:r>
              <a:rPr sz="2050" b="1" spc="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Massive</a:t>
            </a:r>
            <a:r>
              <a:rPr sz="2050" spc="19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solar</a:t>
            </a:r>
            <a:r>
              <a:rPr sz="2050" spc="17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farms</a:t>
            </a:r>
            <a:r>
              <a:rPr sz="2050" spc="18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providing</a:t>
            </a:r>
            <a:r>
              <a:rPr sz="2050" spc="20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gigawatts</a:t>
            </a:r>
            <a:r>
              <a:rPr sz="2050" spc="18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of</a:t>
            </a:r>
            <a:r>
              <a:rPr sz="2050" spc="16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clean </a:t>
            </a:r>
            <a:r>
              <a:rPr sz="2050" dirty="0">
                <a:latin typeface="Verdana"/>
                <a:cs typeface="Verdana"/>
              </a:rPr>
              <a:t>energy</a:t>
            </a:r>
            <a:r>
              <a:rPr sz="2050" spc="9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to</a:t>
            </a:r>
            <a:r>
              <a:rPr sz="2050" spc="6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5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national</a:t>
            </a:r>
            <a:r>
              <a:rPr sz="2050" spc="5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grid.</a:t>
            </a:r>
            <a:endParaRPr sz="2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5831" y="716415"/>
            <a:ext cx="2014855" cy="32258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  <a:tabLst>
                <a:tab pos="377825" algn="l"/>
              </a:tabLst>
            </a:pPr>
            <a:r>
              <a:rPr sz="2050" spc="-470" dirty="0">
                <a:latin typeface="Times New Roman"/>
                <a:cs typeface="Times New Roman"/>
              </a:rPr>
              <a:t>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10" dirty="0">
                <a:latin typeface="Verdana"/>
                <a:cs typeface="Verdana"/>
              </a:rPr>
              <a:t>Introduction</a:t>
            </a:r>
            <a:endParaRPr sz="205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Summary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3688" y="1453097"/>
            <a:ext cx="8961755" cy="54832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90525" marR="7620" indent="-378460">
              <a:lnSpc>
                <a:spcPct val="153200"/>
              </a:lnSpc>
              <a:spcBef>
                <a:spcPts val="90"/>
              </a:spcBef>
              <a:buFont typeface="Times New Roman"/>
              <a:buChar char="➢"/>
              <a:tabLst>
                <a:tab pos="390525" algn="l"/>
              </a:tabLst>
            </a:pPr>
            <a:r>
              <a:rPr sz="2050" dirty="0">
                <a:latin typeface="Verdana"/>
                <a:cs typeface="Verdana"/>
              </a:rPr>
              <a:t>The</a:t>
            </a:r>
            <a:r>
              <a:rPr sz="2050" spc="-2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core</a:t>
            </a:r>
            <a:r>
              <a:rPr sz="2050" spc="-1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difference</a:t>
            </a:r>
            <a:r>
              <a:rPr sz="2050" spc="-1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between</a:t>
            </a:r>
            <a:r>
              <a:rPr sz="2050" spc="-2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PE</a:t>
            </a:r>
            <a:r>
              <a:rPr sz="2050" spc="-1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and</a:t>
            </a:r>
            <a:r>
              <a:rPr sz="2050" spc="-2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PV</a:t>
            </a:r>
            <a:r>
              <a:rPr sz="2050" spc="-1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is</a:t>
            </a:r>
            <a:r>
              <a:rPr sz="2050" spc="-20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where</a:t>
            </a:r>
            <a:r>
              <a:rPr sz="2050" spc="-15" dirty="0">
                <a:latin typeface="Verdana"/>
                <a:cs typeface="Verdana"/>
              </a:rPr>
              <a:t> 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-15" dirty="0">
                <a:latin typeface="Verdana"/>
                <a:cs typeface="Verdana"/>
              </a:rPr>
              <a:t>  </a:t>
            </a:r>
            <a:r>
              <a:rPr sz="2050" spc="-10" dirty="0">
                <a:latin typeface="Verdana"/>
                <a:cs typeface="Verdana"/>
              </a:rPr>
              <a:t>light-</a:t>
            </a:r>
            <a:r>
              <a:rPr sz="2050" dirty="0">
                <a:latin typeface="Verdana"/>
                <a:cs typeface="Verdana"/>
              </a:rPr>
              <a:t>excited</a:t>
            </a:r>
            <a:r>
              <a:rPr sz="2050" spc="12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electrons</a:t>
            </a:r>
            <a:r>
              <a:rPr sz="2050" spc="80" dirty="0">
                <a:latin typeface="Verdana"/>
                <a:cs typeface="Verdana"/>
              </a:rPr>
              <a:t> </a:t>
            </a:r>
            <a:r>
              <a:rPr sz="2050" spc="-25" dirty="0">
                <a:latin typeface="Verdana"/>
                <a:cs typeface="Verdana"/>
              </a:rPr>
              <a:t>go:</a:t>
            </a:r>
            <a:endParaRPr sz="2050">
              <a:latin typeface="Verdana"/>
              <a:cs typeface="Verdana"/>
            </a:endParaRPr>
          </a:p>
          <a:p>
            <a:pPr marL="1017905" marR="6350" lvl="1" indent="-502920" algn="just">
              <a:lnSpc>
                <a:spcPts val="3960"/>
              </a:lnSpc>
              <a:spcBef>
                <a:spcPts val="335"/>
              </a:spcBef>
              <a:buFont typeface="Times New Roman"/>
              <a:buChar char="▪"/>
              <a:tabLst>
                <a:tab pos="1017905" algn="l"/>
              </a:tabLst>
            </a:pPr>
            <a:r>
              <a:rPr sz="2200" b="1" dirty="0">
                <a:solidFill>
                  <a:srgbClr val="001F60"/>
                </a:solidFill>
                <a:latin typeface="Arial"/>
                <a:cs typeface="Arial"/>
              </a:rPr>
              <a:t>Photoelectric</a:t>
            </a:r>
            <a:r>
              <a:rPr sz="2200" b="1" spc="145" dirty="0">
                <a:solidFill>
                  <a:srgbClr val="001F60"/>
                </a:solidFill>
                <a:latin typeface="Arial"/>
                <a:cs typeface="Arial"/>
              </a:rPr>
              <a:t>  </a:t>
            </a:r>
            <a:r>
              <a:rPr sz="2200" b="1" dirty="0">
                <a:solidFill>
                  <a:srgbClr val="001F60"/>
                </a:solidFill>
                <a:latin typeface="Arial"/>
                <a:cs typeface="Arial"/>
              </a:rPr>
              <a:t>Effect</a:t>
            </a:r>
            <a:r>
              <a:rPr sz="2200" b="1" spc="145" dirty="0">
                <a:solidFill>
                  <a:srgbClr val="001F60"/>
                </a:solidFill>
                <a:latin typeface="Arial"/>
                <a:cs typeface="Arial"/>
              </a:rPr>
              <a:t>  </a:t>
            </a:r>
            <a:r>
              <a:rPr sz="2200" dirty="0">
                <a:latin typeface="Arial MT"/>
                <a:cs typeface="Arial MT"/>
              </a:rPr>
              <a:t>ejects</a:t>
            </a:r>
            <a:r>
              <a:rPr sz="2200" spc="14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electrons</a:t>
            </a:r>
            <a:r>
              <a:rPr sz="2200" spc="15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completely</a:t>
            </a:r>
            <a:r>
              <a:rPr sz="2200" spc="145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out</a:t>
            </a:r>
            <a:r>
              <a:rPr sz="2200" spc="150" dirty="0">
                <a:latin typeface="Arial MT"/>
                <a:cs typeface="Arial MT"/>
              </a:rPr>
              <a:t> 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145" dirty="0">
                <a:latin typeface="Arial MT"/>
                <a:cs typeface="Arial MT"/>
              </a:rPr>
              <a:t>  </a:t>
            </a:r>
            <a:r>
              <a:rPr sz="2200" spc="-50" dirty="0">
                <a:latin typeface="Arial MT"/>
                <a:cs typeface="Arial MT"/>
              </a:rPr>
              <a:t>a </a:t>
            </a:r>
            <a:r>
              <a:rPr sz="2200" dirty="0">
                <a:latin typeface="Arial MT"/>
                <a:cs typeface="Arial MT"/>
              </a:rPr>
              <a:t>material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(often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into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vacuum),</a:t>
            </a:r>
            <a:endParaRPr sz="2200">
              <a:latin typeface="Arial MT"/>
              <a:cs typeface="Arial MT"/>
            </a:endParaRPr>
          </a:p>
          <a:p>
            <a:pPr marL="1017905" marR="5715" lvl="1" indent="-502920" algn="just">
              <a:lnSpc>
                <a:spcPts val="3960"/>
              </a:lnSpc>
              <a:buFont typeface="Times New Roman"/>
              <a:buChar char="▪"/>
              <a:tabLst>
                <a:tab pos="1017905" algn="l"/>
              </a:tabLst>
            </a:pPr>
            <a:r>
              <a:rPr sz="2200" b="1" dirty="0">
                <a:solidFill>
                  <a:srgbClr val="001F60"/>
                </a:solidFill>
                <a:latin typeface="Arial"/>
                <a:cs typeface="Arial"/>
              </a:rPr>
              <a:t>Photovoltaic</a:t>
            </a:r>
            <a:r>
              <a:rPr sz="2200" b="1" spc="-25" dirty="0">
                <a:solidFill>
                  <a:srgbClr val="001F6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1F60"/>
                </a:solidFill>
                <a:latin typeface="Arial"/>
                <a:cs typeface="Arial"/>
              </a:rPr>
              <a:t>Effect</a:t>
            </a:r>
            <a:r>
              <a:rPr sz="2200" b="1" spc="-45" dirty="0">
                <a:solidFill>
                  <a:srgbClr val="001F60"/>
                </a:solidFill>
                <a:latin typeface="Arial"/>
                <a:cs typeface="Arial"/>
              </a:rPr>
              <a:t> </a:t>
            </a:r>
            <a:r>
              <a:rPr sz="2200" dirty="0">
                <a:latin typeface="Arial MT"/>
                <a:cs typeface="Arial MT"/>
              </a:rPr>
              <a:t>excites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electrons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within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material,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causing </a:t>
            </a:r>
            <a:r>
              <a:rPr sz="2200" dirty="0">
                <a:latin typeface="Arial MT"/>
                <a:cs typeface="Arial MT"/>
              </a:rPr>
              <a:t>them</a:t>
            </a:r>
            <a:r>
              <a:rPr sz="2200" spc="5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5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move</a:t>
            </a:r>
            <a:r>
              <a:rPr sz="2200" spc="5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into</a:t>
            </a:r>
            <a:r>
              <a:rPr sz="2200" spc="4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5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different</a:t>
            </a:r>
            <a:r>
              <a:rPr sz="2200" spc="5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layer</a:t>
            </a:r>
            <a:r>
              <a:rPr sz="2200" spc="5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(like</a:t>
            </a:r>
            <a:r>
              <a:rPr sz="2200" spc="4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</a:t>
            </a:r>
            <a:r>
              <a:rPr sz="2200" spc="5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49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semiconductor </a:t>
            </a:r>
            <a:r>
              <a:rPr sz="2200" dirty="0">
                <a:latin typeface="Arial MT"/>
                <a:cs typeface="Arial MT"/>
              </a:rPr>
              <a:t>junction)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generate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voltage</a:t>
            </a:r>
            <a:r>
              <a:rPr sz="2200" spc="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current,</a:t>
            </a:r>
            <a:r>
              <a:rPr sz="2200" spc="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powering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devices</a:t>
            </a:r>
            <a:r>
              <a:rPr sz="2200" spc="35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like </a:t>
            </a:r>
            <a:r>
              <a:rPr sz="2200" dirty="0">
                <a:latin typeface="Arial MT"/>
                <a:cs typeface="Arial MT"/>
              </a:rPr>
              <a:t>solar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panels.</a:t>
            </a:r>
            <a:endParaRPr sz="2200">
              <a:latin typeface="Arial MT"/>
              <a:cs typeface="Arial MT"/>
            </a:endParaRPr>
          </a:p>
          <a:p>
            <a:pPr marL="390525" indent="-378460">
              <a:lnSpc>
                <a:spcPct val="100000"/>
              </a:lnSpc>
              <a:spcBef>
                <a:spcPts val="965"/>
              </a:spcBef>
              <a:buFont typeface="Times New Roman"/>
              <a:buChar char="➢"/>
              <a:tabLst>
                <a:tab pos="390525" algn="l"/>
              </a:tabLst>
            </a:pPr>
            <a:r>
              <a:rPr sz="2050" dirty="0">
                <a:latin typeface="Verdana"/>
                <a:cs typeface="Verdana"/>
              </a:rPr>
              <a:t>Photoelectric</a:t>
            </a:r>
            <a:r>
              <a:rPr sz="2050" spc="37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involves</a:t>
            </a:r>
            <a:r>
              <a:rPr sz="2050" spc="365" dirty="0">
                <a:latin typeface="Verdana"/>
                <a:cs typeface="Verdana"/>
              </a:rPr>
              <a:t> </a:t>
            </a:r>
            <a:r>
              <a:rPr sz="2200" b="1" dirty="0">
                <a:solidFill>
                  <a:srgbClr val="001F60"/>
                </a:solidFill>
                <a:latin typeface="Arial"/>
                <a:cs typeface="Arial"/>
              </a:rPr>
              <a:t>emission</a:t>
            </a:r>
            <a:r>
              <a:rPr sz="2050" dirty="0">
                <a:latin typeface="Verdana"/>
                <a:cs typeface="Verdana"/>
              </a:rPr>
              <a:t>,</a:t>
            </a:r>
            <a:r>
              <a:rPr sz="2050" spc="36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whereas</a:t>
            </a:r>
            <a:r>
              <a:rPr sz="2050" spc="36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photovoltaic</a:t>
            </a:r>
            <a:r>
              <a:rPr sz="2050" spc="340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involves</a:t>
            </a:r>
            <a:endParaRPr sz="2050">
              <a:latin typeface="Verdana"/>
              <a:cs typeface="Verdana"/>
            </a:endParaRPr>
          </a:p>
          <a:p>
            <a:pPr marL="390525" marR="5080" indent="-635">
              <a:lnSpc>
                <a:spcPct val="149800"/>
              </a:lnSpc>
              <a:spcBef>
                <a:spcPts val="5"/>
              </a:spcBef>
            </a:pPr>
            <a:r>
              <a:rPr sz="2200" b="1" dirty="0">
                <a:solidFill>
                  <a:srgbClr val="001F60"/>
                </a:solidFill>
                <a:latin typeface="Arial"/>
                <a:cs typeface="Arial"/>
              </a:rPr>
              <a:t>internal</a:t>
            </a:r>
            <a:r>
              <a:rPr sz="2200" b="1" spc="55" dirty="0">
                <a:solidFill>
                  <a:srgbClr val="001F6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1F60"/>
                </a:solidFill>
                <a:latin typeface="Arial"/>
                <a:cs typeface="Arial"/>
              </a:rPr>
              <a:t>charge</a:t>
            </a:r>
            <a:r>
              <a:rPr sz="2200" b="1" spc="60" dirty="0">
                <a:solidFill>
                  <a:srgbClr val="001F6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1F60"/>
                </a:solidFill>
                <a:latin typeface="Arial"/>
                <a:cs typeface="Arial"/>
              </a:rPr>
              <a:t>separation</a:t>
            </a:r>
            <a:r>
              <a:rPr sz="2200" b="1" spc="75" dirty="0">
                <a:solidFill>
                  <a:srgbClr val="001F6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1F60"/>
                </a:solidFill>
                <a:latin typeface="Arial"/>
                <a:cs typeface="Arial"/>
              </a:rPr>
              <a:t>and</a:t>
            </a:r>
            <a:r>
              <a:rPr sz="2200" b="1" spc="70" dirty="0">
                <a:solidFill>
                  <a:srgbClr val="001F6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1F60"/>
                </a:solidFill>
                <a:latin typeface="Arial"/>
                <a:cs typeface="Arial"/>
              </a:rPr>
              <a:t>flow</a:t>
            </a:r>
            <a:r>
              <a:rPr sz="2050" dirty="0">
                <a:latin typeface="Verdana"/>
                <a:cs typeface="Verdana"/>
              </a:rPr>
              <a:t>,</a:t>
            </a:r>
            <a:r>
              <a:rPr sz="2050" spc="-3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producing</a:t>
            </a:r>
            <a:r>
              <a:rPr sz="2050" spc="-4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both</a:t>
            </a:r>
            <a:r>
              <a:rPr sz="2050" spc="-5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current</a:t>
            </a:r>
            <a:r>
              <a:rPr sz="2050" spc="-55" dirty="0">
                <a:latin typeface="Verdana"/>
                <a:cs typeface="Verdana"/>
              </a:rPr>
              <a:t> </a:t>
            </a:r>
            <a:r>
              <a:rPr sz="2050" spc="-25" dirty="0">
                <a:latin typeface="Verdana"/>
                <a:cs typeface="Verdana"/>
              </a:rPr>
              <a:t>and </a:t>
            </a:r>
            <a:r>
              <a:rPr sz="2050" dirty="0">
                <a:latin typeface="Verdana"/>
                <a:cs typeface="Verdana"/>
              </a:rPr>
              <a:t>voltage</a:t>
            </a:r>
            <a:r>
              <a:rPr sz="2050" spc="7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without</a:t>
            </a:r>
            <a:r>
              <a:rPr sz="2050" spc="7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needing</a:t>
            </a:r>
            <a:r>
              <a:rPr sz="2050" spc="130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to</a:t>
            </a:r>
            <a:r>
              <a:rPr sz="2050" spc="9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escape</a:t>
            </a:r>
            <a:r>
              <a:rPr sz="2050" spc="7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the</a:t>
            </a:r>
            <a:r>
              <a:rPr sz="2050" spc="75" dirty="0">
                <a:latin typeface="Verdana"/>
                <a:cs typeface="Verdana"/>
              </a:rPr>
              <a:t> </a:t>
            </a:r>
            <a:r>
              <a:rPr sz="2050" dirty="0">
                <a:latin typeface="Verdana"/>
                <a:cs typeface="Verdana"/>
              </a:rPr>
              <a:t>material</a:t>
            </a:r>
            <a:r>
              <a:rPr sz="2050" spc="75" dirty="0">
                <a:latin typeface="Verdana"/>
                <a:cs typeface="Verdana"/>
              </a:rPr>
              <a:t> </a:t>
            </a:r>
            <a:r>
              <a:rPr sz="2050" spc="-10" dirty="0">
                <a:latin typeface="Verdana"/>
                <a:cs typeface="Verdana"/>
              </a:rPr>
              <a:t>entirely.</a:t>
            </a:r>
            <a:endParaRPr sz="20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550823" y="426127"/>
            <a:ext cx="695579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Test</a:t>
            </a:r>
            <a:r>
              <a:rPr spc="-25" dirty="0"/>
              <a:t> </a:t>
            </a:r>
            <a:r>
              <a:rPr dirty="0"/>
              <a:t>your</a:t>
            </a:r>
            <a:r>
              <a:rPr spc="-2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3161" y="1519233"/>
            <a:ext cx="9213850" cy="5419090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516255" indent="-503555">
              <a:lnSpc>
                <a:spcPct val="100000"/>
              </a:lnSpc>
              <a:spcBef>
                <a:spcPts val="1200"/>
              </a:spcBef>
              <a:buAutoNum type="arabicPeriod"/>
              <a:tabLst>
                <a:tab pos="516255" algn="l"/>
              </a:tabLst>
            </a:pPr>
            <a:r>
              <a:rPr sz="1800" dirty="0">
                <a:latin typeface="Verdana"/>
                <a:cs typeface="Verdana"/>
              </a:rPr>
              <a:t>Define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"Dark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Current"</a:t>
            </a:r>
            <a:r>
              <a:rPr sz="1800" spc="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 a</a:t>
            </a:r>
            <a:r>
              <a:rPr sz="1800" spc="-10" dirty="0">
                <a:latin typeface="Verdana"/>
                <a:cs typeface="Verdana"/>
              </a:rPr>
              <a:t> photodiode.</a:t>
            </a:r>
            <a:endParaRPr sz="180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1105"/>
              </a:spcBef>
              <a:buAutoNum type="arabicPeriod"/>
              <a:tabLst>
                <a:tab pos="516255" algn="l"/>
              </a:tabLst>
            </a:pPr>
            <a:r>
              <a:rPr sz="1800" dirty="0">
                <a:latin typeface="Verdana"/>
                <a:cs typeface="Verdana"/>
              </a:rPr>
              <a:t>Draw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circuit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symbol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photodiode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 </a:t>
            </a:r>
            <a:r>
              <a:rPr sz="1800" spc="-10" dirty="0">
                <a:latin typeface="Verdana"/>
                <a:cs typeface="Verdana"/>
              </a:rPr>
              <a:t>phototransistor.</a:t>
            </a:r>
            <a:endParaRPr sz="1800">
              <a:latin typeface="Verdana"/>
              <a:cs typeface="Verdana"/>
            </a:endParaRPr>
          </a:p>
          <a:p>
            <a:pPr marL="515620" marR="6350" indent="-503555">
              <a:lnSpc>
                <a:spcPct val="151100"/>
              </a:lnSpc>
              <a:spcBef>
                <a:spcPts val="10"/>
              </a:spcBef>
              <a:buAutoNum type="arabicPeriod"/>
              <a:tabLst>
                <a:tab pos="515620" algn="l"/>
              </a:tabLst>
            </a:pPr>
            <a:r>
              <a:rPr sz="1800" dirty="0">
                <a:latin typeface="Verdana"/>
                <a:cs typeface="Verdana"/>
              </a:rPr>
              <a:t>Explain</a:t>
            </a:r>
            <a:r>
              <a:rPr sz="1800" spc="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working</a:t>
            </a:r>
            <a:r>
              <a:rPr sz="1800" spc="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principle</a:t>
            </a:r>
            <a:r>
              <a:rPr sz="1800" spc="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photodiode</a:t>
            </a:r>
            <a:r>
              <a:rPr sz="1800" spc="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with</a:t>
            </a:r>
            <a:r>
              <a:rPr sz="1800" spc="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neat</a:t>
            </a:r>
            <a:r>
              <a:rPr sz="1800" spc="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diagram</a:t>
            </a:r>
            <a:r>
              <a:rPr sz="1800" spc="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8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V-</a:t>
            </a:r>
            <a:r>
              <a:rPr sz="1800" spc="-50" dirty="0">
                <a:latin typeface="Verdana"/>
                <a:cs typeface="Verdana"/>
              </a:rPr>
              <a:t>I </a:t>
            </a:r>
            <a:r>
              <a:rPr sz="1800" spc="-10" dirty="0">
                <a:latin typeface="Verdana"/>
                <a:cs typeface="Verdana"/>
              </a:rPr>
              <a:t>characteristics.</a:t>
            </a:r>
            <a:endParaRPr sz="1800">
              <a:latin typeface="Verdana"/>
              <a:cs typeface="Verdana"/>
            </a:endParaRPr>
          </a:p>
          <a:p>
            <a:pPr marL="515620" marR="10160" indent="-503555">
              <a:lnSpc>
                <a:spcPct val="151100"/>
              </a:lnSpc>
              <a:buAutoNum type="arabicPeriod"/>
              <a:tabLst>
                <a:tab pos="515620" algn="l"/>
              </a:tabLst>
            </a:pPr>
            <a:r>
              <a:rPr sz="1800" dirty="0">
                <a:latin typeface="Verdana"/>
                <a:cs typeface="Verdana"/>
              </a:rPr>
              <a:t>Compare</a:t>
            </a:r>
            <a:r>
              <a:rPr sz="1800" spc="4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Photodiodes</a:t>
            </a:r>
            <a:r>
              <a:rPr sz="1800" spc="43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4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Phototransistors</a:t>
            </a:r>
            <a:r>
              <a:rPr sz="1800" spc="434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based</a:t>
            </a:r>
            <a:r>
              <a:rPr sz="1800" spc="4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on</a:t>
            </a:r>
            <a:r>
              <a:rPr sz="1800" spc="4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sensitivity,</a:t>
            </a:r>
            <a:r>
              <a:rPr sz="1800" spc="4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speed,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application.</a:t>
            </a:r>
            <a:endParaRPr sz="1800">
              <a:latin typeface="Verdana"/>
              <a:cs typeface="Verdana"/>
            </a:endParaRPr>
          </a:p>
          <a:p>
            <a:pPr marL="515620" marR="5715" indent="-503555">
              <a:lnSpc>
                <a:spcPct val="151100"/>
              </a:lnSpc>
              <a:spcBef>
                <a:spcPts val="15"/>
              </a:spcBef>
              <a:buAutoNum type="arabicPeriod"/>
              <a:tabLst>
                <a:tab pos="515620" algn="l"/>
                <a:tab pos="1756410" algn="l"/>
                <a:tab pos="2371090" algn="l"/>
                <a:tab pos="4119879" algn="l"/>
                <a:tab pos="4711700" algn="l"/>
                <a:tab pos="6699884" algn="l"/>
                <a:tab pos="7369175" algn="l"/>
                <a:tab pos="8977630" algn="l"/>
              </a:tabLst>
            </a:pPr>
            <a:r>
              <a:rPr sz="1800" spc="-10" dirty="0">
                <a:latin typeface="Verdana"/>
                <a:cs typeface="Verdana"/>
              </a:rPr>
              <a:t>Describe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the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construction,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35" dirty="0">
                <a:latin typeface="Verdana"/>
                <a:cs typeface="Verdana"/>
              </a:rPr>
              <a:t>V-</a:t>
            </a:r>
            <a:r>
              <a:rPr sz="1800" spc="-50" dirty="0">
                <a:latin typeface="Verdana"/>
                <a:cs typeface="Verdana"/>
              </a:rPr>
              <a:t>I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characteristics,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and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10" dirty="0">
                <a:latin typeface="Verdana"/>
                <a:cs typeface="Verdana"/>
              </a:rPr>
              <a:t>applications</a:t>
            </a:r>
            <a:r>
              <a:rPr sz="1800" dirty="0">
                <a:latin typeface="Verdana"/>
                <a:cs typeface="Verdana"/>
              </a:rPr>
              <a:t>	</a:t>
            </a:r>
            <a:r>
              <a:rPr sz="1800" spc="-25" dirty="0">
                <a:latin typeface="Verdana"/>
                <a:cs typeface="Verdana"/>
              </a:rPr>
              <a:t>of </a:t>
            </a:r>
            <a:r>
              <a:rPr sz="1800" dirty="0">
                <a:latin typeface="Verdana"/>
                <a:cs typeface="Verdana"/>
              </a:rPr>
              <a:t>phototransistors.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How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does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base current</a:t>
            </a:r>
            <a:r>
              <a:rPr sz="1800" spc="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relate to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light </a:t>
            </a:r>
            <a:r>
              <a:rPr sz="1800" spc="-10" dirty="0">
                <a:latin typeface="Verdana"/>
                <a:cs typeface="Verdana"/>
              </a:rPr>
              <a:t>intensity?</a:t>
            </a:r>
            <a:endParaRPr sz="180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1105"/>
              </a:spcBef>
              <a:buAutoNum type="arabicPeriod"/>
              <a:tabLst>
                <a:tab pos="516255" algn="l"/>
              </a:tabLst>
            </a:pPr>
            <a:r>
              <a:rPr sz="1800" dirty="0">
                <a:latin typeface="Verdana"/>
                <a:cs typeface="Verdana"/>
              </a:rPr>
              <a:t>Define</a:t>
            </a:r>
            <a:r>
              <a:rPr sz="1800" spc="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 'Fill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Factor'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(FF)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solar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cell.</a:t>
            </a:r>
            <a:endParaRPr sz="180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1100"/>
              </a:spcBef>
              <a:buAutoNum type="arabicPeriod"/>
              <a:tabLst>
                <a:tab pos="516255" algn="l"/>
              </a:tabLst>
            </a:pPr>
            <a:r>
              <a:rPr sz="1800" dirty="0">
                <a:latin typeface="Verdana"/>
                <a:cs typeface="Verdana"/>
              </a:rPr>
              <a:t>Explain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spc="-35" dirty="0">
                <a:latin typeface="Verdana"/>
                <a:cs typeface="Verdana"/>
              </a:rPr>
              <a:t>V-</a:t>
            </a:r>
            <a:r>
              <a:rPr sz="1800" dirty="0">
                <a:latin typeface="Verdana"/>
                <a:cs typeface="Verdana"/>
              </a:rPr>
              <a:t>I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characteristics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 a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photovoltaic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cell with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neat </a:t>
            </a:r>
            <a:r>
              <a:rPr sz="1800" spc="-10" dirty="0">
                <a:latin typeface="Verdana"/>
                <a:cs typeface="Verdana"/>
              </a:rPr>
              <a:t>diagram.</a:t>
            </a:r>
            <a:endParaRPr sz="1800">
              <a:latin typeface="Verdana"/>
              <a:cs typeface="Verdana"/>
            </a:endParaRPr>
          </a:p>
          <a:p>
            <a:pPr marL="515620" marR="5080" indent="-503555">
              <a:lnSpc>
                <a:spcPct val="151100"/>
              </a:lnSpc>
              <a:spcBef>
                <a:spcPts val="15"/>
              </a:spcBef>
              <a:buAutoNum type="arabicPeriod"/>
              <a:tabLst>
                <a:tab pos="515620" algn="l"/>
              </a:tabLst>
            </a:pPr>
            <a:r>
              <a:rPr sz="1800" dirty="0">
                <a:latin typeface="Verdana"/>
                <a:cs typeface="Verdana"/>
              </a:rPr>
              <a:t>Describe</a:t>
            </a:r>
            <a:r>
              <a:rPr sz="1800" spc="4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4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construction</a:t>
            </a:r>
            <a:r>
              <a:rPr sz="1800" spc="3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4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working</a:t>
            </a:r>
            <a:r>
              <a:rPr sz="1800" spc="3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principle</a:t>
            </a:r>
            <a:r>
              <a:rPr sz="1800" spc="40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of</a:t>
            </a:r>
            <a:r>
              <a:rPr sz="1800" spc="3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</a:t>
            </a:r>
            <a:r>
              <a:rPr sz="1800" spc="409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P-N</a:t>
            </a:r>
            <a:r>
              <a:rPr sz="1800" spc="3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junction</a:t>
            </a:r>
            <a:r>
              <a:rPr sz="1800" spc="40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solar </a:t>
            </a:r>
            <a:r>
              <a:rPr sz="1800" dirty="0">
                <a:latin typeface="Verdana"/>
                <a:cs typeface="Verdana"/>
              </a:rPr>
              <a:t>cell.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Discuss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its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major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applications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in</a:t>
            </a:r>
            <a:r>
              <a:rPr sz="1800" spc="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modern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energy</a:t>
            </a:r>
            <a:r>
              <a:rPr sz="1800" spc="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systems.</a:t>
            </a:r>
            <a:endParaRPr sz="1800">
              <a:latin typeface="Verdana"/>
              <a:cs typeface="Verdana"/>
            </a:endParaRPr>
          </a:p>
          <a:p>
            <a:pPr marL="516255" indent="-503555">
              <a:lnSpc>
                <a:spcPct val="100000"/>
              </a:lnSpc>
              <a:spcBef>
                <a:spcPts val="1105"/>
              </a:spcBef>
              <a:buAutoNum type="arabicPeriod"/>
              <a:tabLst>
                <a:tab pos="516255" algn="l"/>
              </a:tabLst>
            </a:pPr>
            <a:r>
              <a:rPr sz="1800" dirty="0">
                <a:latin typeface="Verdana"/>
                <a:cs typeface="Verdana"/>
              </a:rPr>
              <a:t>Write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the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difference</a:t>
            </a:r>
            <a:r>
              <a:rPr sz="1800" spc="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between</a:t>
            </a:r>
            <a:r>
              <a:rPr sz="1800" spc="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photoelectric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photovoltaic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effect.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8895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Textbook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0836" y="1736303"/>
            <a:ext cx="8875395" cy="2104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255" marR="5080" indent="-377190">
              <a:lnSpc>
                <a:spcPct val="150000"/>
              </a:lnSpc>
              <a:spcBef>
                <a:spcPts val="100"/>
              </a:spcBef>
              <a:buFont typeface="Times New Roman"/>
              <a:buChar char="➢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Ian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R</a:t>
            </a:r>
            <a:r>
              <a:rPr sz="2200" spc="-4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Sinclair,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20" dirty="0">
                <a:latin typeface="Verdana"/>
                <a:cs typeface="Verdana"/>
              </a:rPr>
              <a:t> Transducers,</a:t>
            </a:r>
            <a:r>
              <a:rPr sz="2200" spc="-4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Third</a:t>
            </a:r>
            <a:r>
              <a:rPr sz="2200" spc="-2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20" dirty="0">
                <a:latin typeface="Verdana"/>
                <a:cs typeface="Verdana"/>
              </a:rPr>
              <a:t> 2001 	</a:t>
            </a:r>
            <a:r>
              <a:rPr sz="2200" dirty="0">
                <a:latin typeface="Verdana"/>
                <a:cs typeface="Verdana"/>
              </a:rPr>
              <a:t>(Units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I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&amp;</a:t>
            </a:r>
            <a:r>
              <a:rPr sz="2200" spc="-20" dirty="0">
                <a:latin typeface="Verdana"/>
                <a:cs typeface="Verdana"/>
              </a:rPr>
              <a:t> II).</a:t>
            </a:r>
            <a:endParaRPr sz="2200">
              <a:latin typeface="Verdana"/>
              <a:cs typeface="Verdana"/>
            </a:endParaRPr>
          </a:p>
          <a:p>
            <a:pPr marL="389255" marR="5080" indent="-377190">
              <a:lnSpc>
                <a:spcPct val="150000"/>
              </a:lnSpc>
              <a:spcBef>
                <a:spcPts val="525"/>
              </a:spcBef>
              <a:buFont typeface="Times New Roman"/>
              <a:buChar char="➢"/>
              <a:tabLst>
                <a:tab pos="390525" algn="l"/>
              </a:tabLst>
            </a:pPr>
            <a:r>
              <a:rPr sz="2200" dirty="0">
                <a:latin typeface="Verdana"/>
                <a:cs typeface="Verdana"/>
              </a:rPr>
              <a:t>Ramon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PallásAreny,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John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G.</a:t>
            </a:r>
            <a:r>
              <a:rPr sz="2200" spc="39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Webster,</a:t>
            </a:r>
            <a:r>
              <a:rPr sz="2200" spc="38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Sensors</a:t>
            </a:r>
            <a:r>
              <a:rPr sz="2200" spc="37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3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Signal 	</a:t>
            </a:r>
            <a:r>
              <a:rPr sz="2200" dirty="0">
                <a:latin typeface="Verdana"/>
                <a:cs typeface="Verdana"/>
              </a:rPr>
              <a:t>conditioning,</a:t>
            </a:r>
            <a:r>
              <a:rPr sz="2200" spc="-6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John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Wiley</a:t>
            </a:r>
            <a:r>
              <a:rPr sz="2200" spc="-5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and</a:t>
            </a:r>
            <a:r>
              <a:rPr sz="2200" spc="-35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Sons,</a:t>
            </a:r>
            <a:r>
              <a:rPr sz="2200" spc="-50" dirty="0">
                <a:latin typeface="Verdana"/>
                <a:cs typeface="Verdana"/>
              </a:rPr>
              <a:t>  </a:t>
            </a:r>
            <a:r>
              <a:rPr sz="2200" dirty="0">
                <a:latin typeface="Verdana"/>
                <a:cs typeface="Verdana"/>
              </a:rPr>
              <a:t>Second</a:t>
            </a:r>
            <a:r>
              <a:rPr sz="2200" spc="-30" dirty="0">
                <a:latin typeface="Verdana"/>
                <a:cs typeface="Verdana"/>
              </a:rPr>
              <a:t> </a:t>
            </a:r>
            <a:r>
              <a:rPr sz="2200" dirty="0">
                <a:latin typeface="Verdana"/>
                <a:cs typeface="Verdana"/>
              </a:rPr>
              <a:t>Edition,</a:t>
            </a:r>
            <a:r>
              <a:rPr sz="2200" spc="-8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2000.</a:t>
            </a:r>
            <a:endParaRPr sz="2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89988" y="3371088"/>
            <a:ext cx="5741670" cy="1073150"/>
          </a:xfrm>
          <a:custGeom>
            <a:avLst/>
            <a:gdLst/>
            <a:ahLst/>
            <a:cxnLst/>
            <a:rect l="l" t="t" r="r" b="b"/>
            <a:pathLst>
              <a:path w="5741670" h="1073150">
                <a:moveTo>
                  <a:pt x="725709" y="848867"/>
                </a:moveTo>
                <a:lnTo>
                  <a:pt x="623315" y="848867"/>
                </a:lnTo>
                <a:lnTo>
                  <a:pt x="819340" y="0"/>
                </a:lnTo>
                <a:lnTo>
                  <a:pt x="921734" y="0"/>
                </a:lnTo>
                <a:lnTo>
                  <a:pt x="850868" y="307085"/>
                </a:lnTo>
                <a:lnTo>
                  <a:pt x="1220913" y="307085"/>
                </a:lnTo>
                <a:lnTo>
                  <a:pt x="1223343" y="311765"/>
                </a:lnTo>
                <a:lnTo>
                  <a:pt x="1224737" y="316991"/>
                </a:lnTo>
                <a:lnTo>
                  <a:pt x="1020127" y="316991"/>
                </a:lnTo>
                <a:lnTo>
                  <a:pt x="998803" y="318475"/>
                </a:lnTo>
                <a:lnTo>
                  <a:pt x="952940" y="329944"/>
                </a:lnTo>
                <a:lnTo>
                  <a:pt x="903541" y="352000"/>
                </a:lnTo>
                <a:lnTo>
                  <a:pt x="854678" y="379394"/>
                </a:lnTo>
                <a:lnTo>
                  <a:pt x="830675" y="394715"/>
                </a:lnTo>
                <a:lnTo>
                  <a:pt x="725709" y="848867"/>
                </a:lnTo>
                <a:close/>
              </a:path>
              <a:path w="5741670" h="1073150">
                <a:moveTo>
                  <a:pt x="687990" y="128015"/>
                </a:moveTo>
                <a:lnTo>
                  <a:pt x="0" y="128015"/>
                </a:lnTo>
                <a:lnTo>
                  <a:pt x="20669" y="36575"/>
                </a:lnTo>
                <a:lnTo>
                  <a:pt x="708660" y="36575"/>
                </a:lnTo>
                <a:lnTo>
                  <a:pt x="687990" y="128015"/>
                </a:lnTo>
                <a:close/>
              </a:path>
              <a:path w="5741670" h="1073150">
                <a:moveTo>
                  <a:pt x="232600" y="848867"/>
                </a:moveTo>
                <a:lnTo>
                  <a:pt x="123444" y="848867"/>
                </a:lnTo>
                <a:lnTo>
                  <a:pt x="290226" y="128015"/>
                </a:lnTo>
                <a:lnTo>
                  <a:pt x="399478" y="128015"/>
                </a:lnTo>
                <a:lnTo>
                  <a:pt x="232600" y="848867"/>
                </a:lnTo>
                <a:close/>
              </a:path>
              <a:path w="5741670" h="1073150">
                <a:moveTo>
                  <a:pt x="1220913" y="307085"/>
                </a:moveTo>
                <a:lnTo>
                  <a:pt x="850868" y="307085"/>
                </a:lnTo>
                <a:lnTo>
                  <a:pt x="879676" y="287849"/>
                </a:lnTo>
                <a:lnTo>
                  <a:pt x="934436" y="256521"/>
                </a:lnTo>
                <a:lnTo>
                  <a:pt x="986158" y="234893"/>
                </a:lnTo>
                <a:lnTo>
                  <a:pt x="1038737" y="223931"/>
                </a:lnTo>
                <a:lnTo>
                  <a:pt x="1065561" y="222503"/>
                </a:lnTo>
                <a:lnTo>
                  <a:pt x="1103282" y="225074"/>
                </a:lnTo>
                <a:lnTo>
                  <a:pt x="1165471" y="245180"/>
                </a:lnTo>
                <a:lnTo>
                  <a:pt x="1209445" y="285004"/>
                </a:lnTo>
                <a:lnTo>
                  <a:pt x="1220913" y="307085"/>
                </a:lnTo>
                <a:close/>
              </a:path>
              <a:path w="5741670" h="1073150">
                <a:moveTo>
                  <a:pt x="1133284" y="848867"/>
                </a:moveTo>
                <a:lnTo>
                  <a:pt x="1032224" y="848867"/>
                </a:lnTo>
                <a:lnTo>
                  <a:pt x="1111281" y="502348"/>
                </a:lnTo>
                <a:lnTo>
                  <a:pt x="1114316" y="488382"/>
                </a:lnTo>
                <a:lnTo>
                  <a:pt x="1122743" y="441339"/>
                </a:lnTo>
                <a:lnTo>
                  <a:pt x="1124712" y="409098"/>
                </a:lnTo>
                <a:lnTo>
                  <a:pt x="1123299" y="387703"/>
                </a:lnTo>
                <a:lnTo>
                  <a:pt x="1102042" y="340233"/>
                </a:lnTo>
                <a:lnTo>
                  <a:pt x="1070013" y="322790"/>
                </a:lnTo>
                <a:lnTo>
                  <a:pt x="1069821" y="322790"/>
                </a:lnTo>
                <a:lnTo>
                  <a:pt x="1047340" y="318475"/>
                </a:lnTo>
                <a:lnTo>
                  <a:pt x="1020127" y="316991"/>
                </a:lnTo>
                <a:lnTo>
                  <a:pt x="1224737" y="316991"/>
                </a:lnTo>
                <a:lnTo>
                  <a:pt x="1231668" y="342972"/>
                </a:lnTo>
                <a:lnTo>
                  <a:pt x="1234439" y="378618"/>
                </a:lnTo>
                <a:lnTo>
                  <a:pt x="1234294" y="385777"/>
                </a:lnTo>
                <a:lnTo>
                  <a:pt x="1230624" y="425005"/>
                </a:lnTo>
                <a:lnTo>
                  <a:pt x="1225105" y="453294"/>
                </a:lnTo>
                <a:lnTo>
                  <a:pt x="1133284" y="848867"/>
                </a:lnTo>
                <a:close/>
              </a:path>
              <a:path w="5741670" h="1073150">
                <a:moveTo>
                  <a:pt x="1459325" y="356615"/>
                </a:moveTo>
                <a:lnTo>
                  <a:pt x="1453896" y="356615"/>
                </a:lnTo>
                <a:lnTo>
                  <a:pt x="1473993" y="254412"/>
                </a:lnTo>
                <a:lnTo>
                  <a:pt x="1512296" y="245780"/>
                </a:lnTo>
                <a:lnTo>
                  <a:pt x="1564957" y="235934"/>
                </a:lnTo>
                <a:lnTo>
                  <a:pt x="1623691" y="228206"/>
                </a:lnTo>
                <a:lnTo>
                  <a:pt x="1679924" y="225551"/>
                </a:lnTo>
                <a:lnTo>
                  <a:pt x="1733036" y="227821"/>
                </a:lnTo>
                <a:lnTo>
                  <a:pt x="1779067" y="234493"/>
                </a:lnTo>
                <a:lnTo>
                  <a:pt x="1818008" y="245576"/>
                </a:lnTo>
                <a:lnTo>
                  <a:pt x="1874658" y="281384"/>
                </a:lnTo>
                <a:lnTo>
                  <a:pt x="1893766" y="310895"/>
                </a:lnTo>
                <a:lnTo>
                  <a:pt x="1661636" y="310895"/>
                </a:lnTo>
                <a:lnTo>
                  <a:pt x="1638368" y="311884"/>
                </a:lnTo>
                <a:lnTo>
                  <a:pt x="1637930" y="311884"/>
                </a:lnTo>
                <a:lnTo>
                  <a:pt x="1612058" y="314824"/>
                </a:lnTo>
                <a:lnTo>
                  <a:pt x="1555908" y="326326"/>
                </a:lnTo>
                <a:lnTo>
                  <a:pt x="1502044" y="341614"/>
                </a:lnTo>
                <a:lnTo>
                  <a:pt x="1479292" y="349150"/>
                </a:lnTo>
                <a:lnTo>
                  <a:pt x="1459325" y="356615"/>
                </a:lnTo>
                <a:close/>
              </a:path>
              <a:path w="5741670" h="1073150">
                <a:moveTo>
                  <a:pt x="1484185" y="865631"/>
                </a:moveTo>
                <a:lnTo>
                  <a:pt x="1418546" y="855106"/>
                </a:lnTo>
                <a:lnTo>
                  <a:pt x="1366551" y="823436"/>
                </a:lnTo>
                <a:lnTo>
                  <a:pt x="1332642" y="774644"/>
                </a:lnTo>
                <a:lnTo>
                  <a:pt x="1321420" y="714136"/>
                </a:lnTo>
                <a:lnTo>
                  <a:pt x="1321339" y="712309"/>
                </a:lnTo>
                <a:lnTo>
                  <a:pt x="1323305" y="678041"/>
                </a:lnTo>
                <a:lnTo>
                  <a:pt x="1339230" y="616852"/>
                </a:lnTo>
                <a:lnTo>
                  <a:pt x="1370963" y="566648"/>
                </a:lnTo>
                <a:lnTo>
                  <a:pt x="1418111" y="525785"/>
                </a:lnTo>
                <a:lnTo>
                  <a:pt x="1479725" y="494353"/>
                </a:lnTo>
                <a:lnTo>
                  <a:pt x="1553838" y="471921"/>
                </a:lnTo>
                <a:lnTo>
                  <a:pt x="1595628" y="463867"/>
                </a:lnTo>
                <a:lnTo>
                  <a:pt x="1640507" y="457582"/>
                </a:lnTo>
                <a:lnTo>
                  <a:pt x="1688413" y="452592"/>
                </a:lnTo>
                <a:lnTo>
                  <a:pt x="1739337" y="448905"/>
                </a:lnTo>
                <a:lnTo>
                  <a:pt x="1793271" y="446531"/>
                </a:lnTo>
                <a:lnTo>
                  <a:pt x="1795056" y="439193"/>
                </a:lnTo>
                <a:lnTo>
                  <a:pt x="1796689" y="432327"/>
                </a:lnTo>
                <a:lnTo>
                  <a:pt x="1798160" y="425944"/>
                </a:lnTo>
                <a:lnTo>
                  <a:pt x="1801035" y="412838"/>
                </a:lnTo>
                <a:lnTo>
                  <a:pt x="1801082" y="412622"/>
                </a:lnTo>
                <a:lnTo>
                  <a:pt x="1801844" y="404812"/>
                </a:lnTo>
                <a:lnTo>
                  <a:pt x="1801830" y="396457"/>
                </a:lnTo>
                <a:lnTo>
                  <a:pt x="1801199" y="384250"/>
                </a:lnTo>
                <a:lnTo>
                  <a:pt x="1799309" y="373284"/>
                </a:lnTo>
                <a:lnTo>
                  <a:pt x="1799260" y="372998"/>
                </a:lnTo>
                <a:lnTo>
                  <a:pt x="1778960" y="339423"/>
                </a:lnTo>
                <a:lnTo>
                  <a:pt x="1741151" y="319629"/>
                </a:lnTo>
                <a:lnTo>
                  <a:pt x="1690913" y="311884"/>
                </a:lnTo>
                <a:lnTo>
                  <a:pt x="1661636" y="310895"/>
                </a:lnTo>
                <a:lnTo>
                  <a:pt x="1893766" y="310895"/>
                </a:lnTo>
                <a:lnTo>
                  <a:pt x="1902986" y="337495"/>
                </a:lnTo>
                <a:lnTo>
                  <a:pt x="1906495" y="372998"/>
                </a:lnTo>
                <a:lnTo>
                  <a:pt x="1906523" y="373284"/>
                </a:lnTo>
                <a:lnTo>
                  <a:pt x="1902812" y="412622"/>
                </a:lnTo>
                <a:lnTo>
                  <a:pt x="1877021" y="528827"/>
                </a:lnTo>
                <a:lnTo>
                  <a:pt x="1774602" y="528827"/>
                </a:lnTo>
                <a:lnTo>
                  <a:pt x="1734029" y="530917"/>
                </a:lnTo>
                <a:lnTo>
                  <a:pt x="1695759" y="533757"/>
                </a:lnTo>
                <a:lnTo>
                  <a:pt x="1626203" y="541686"/>
                </a:lnTo>
                <a:lnTo>
                  <a:pt x="1566981" y="553319"/>
                </a:lnTo>
                <a:lnTo>
                  <a:pt x="1519047" y="569023"/>
                </a:lnTo>
                <a:lnTo>
                  <a:pt x="1480375" y="590216"/>
                </a:lnTo>
                <a:lnTo>
                  <a:pt x="1452276" y="617696"/>
                </a:lnTo>
                <a:lnTo>
                  <a:pt x="1435215" y="652117"/>
                </a:lnTo>
                <a:lnTo>
                  <a:pt x="1429512" y="693896"/>
                </a:lnTo>
                <a:lnTo>
                  <a:pt x="1431187" y="712309"/>
                </a:lnTo>
                <a:lnTo>
                  <a:pt x="1456181" y="753617"/>
                </a:lnTo>
                <a:lnTo>
                  <a:pt x="1512258" y="772871"/>
                </a:lnTo>
                <a:lnTo>
                  <a:pt x="1510908" y="772871"/>
                </a:lnTo>
                <a:lnTo>
                  <a:pt x="1538954" y="774192"/>
                </a:lnTo>
                <a:lnTo>
                  <a:pt x="1820773" y="774192"/>
                </a:lnTo>
                <a:lnTo>
                  <a:pt x="1818545" y="783907"/>
                </a:lnTo>
                <a:lnTo>
                  <a:pt x="1716786" y="783907"/>
                </a:lnTo>
                <a:lnTo>
                  <a:pt x="1699414" y="794551"/>
                </a:lnTo>
                <a:lnTo>
                  <a:pt x="1676685" y="808767"/>
                </a:lnTo>
                <a:lnTo>
                  <a:pt x="1663987" y="816536"/>
                </a:lnTo>
                <a:lnTo>
                  <a:pt x="1625250" y="836199"/>
                </a:lnTo>
                <a:lnTo>
                  <a:pt x="1579896" y="852782"/>
                </a:lnTo>
                <a:lnTo>
                  <a:pt x="1526274" y="863548"/>
                </a:lnTo>
                <a:lnTo>
                  <a:pt x="1505886" y="865112"/>
                </a:lnTo>
                <a:lnTo>
                  <a:pt x="1484185" y="865631"/>
                </a:lnTo>
                <a:close/>
              </a:path>
              <a:path w="5741670" h="1073150">
                <a:moveTo>
                  <a:pt x="1820773" y="774192"/>
                </a:moveTo>
                <a:lnTo>
                  <a:pt x="1538954" y="774192"/>
                </a:lnTo>
                <a:lnTo>
                  <a:pt x="1563851" y="772871"/>
                </a:lnTo>
                <a:lnTo>
                  <a:pt x="1588972" y="768774"/>
                </a:lnTo>
                <a:lnTo>
                  <a:pt x="1639919" y="752284"/>
                </a:lnTo>
                <a:lnTo>
                  <a:pt x="1689687" y="727995"/>
                </a:lnTo>
                <a:lnTo>
                  <a:pt x="1736026" y="699134"/>
                </a:lnTo>
                <a:lnTo>
                  <a:pt x="1774602" y="528827"/>
                </a:lnTo>
                <a:lnTo>
                  <a:pt x="1877021" y="528827"/>
                </a:lnTo>
                <a:lnTo>
                  <a:pt x="1820773" y="774192"/>
                </a:lnTo>
                <a:close/>
              </a:path>
              <a:path w="5741670" h="1073150">
                <a:moveTo>
                  <a:pt x="1803654" y="848867"/>
                </a:moveTo>
                <a:lnTo>
                  <a:pt x="1702022" y="848867"/>
                </a:lnTo>
                <a:lnTo>
                  <a:pt x="1716786" y="783907"/>
                </a:lnTo>
                <a:lnTo>
                  <a:pt x="1818545" y="783907"/>
                </a:lnTo>
                <a:lnTo>
                  <a:pt x="1803654" y="848867"/>
                </a:lnTo>
                <a:close/>
              </a:path>
              <a:path w="5741670" h="1073150">
                <a:moveTo>
                  <a:pt x="2598605" y="307181"/>
                </a:moveTo>
                <a:lnTo>
                  <a:pt x="2227992" y="307181"/>
                </a:lnTo>
                <a:lnTo>
                  <a:pt x="2256817" y="287875"/>
                </a:lnTo>
                <a:lnTo>
                  <a:pt x="2311681" y="256442"/>
                </a:lnTo>
                <a:lnTo>
                  <a:pt x="2363490" y="234813"/>
                </a:lnTo>
                <a:lnTo>
                  <a:pt x="2416172" y="223916"/>
                </a:lnTo>
                <a:lnTo>
                  <a:pt x="2443067" y="222503"/>
                </a:lnTo>
                <a:lnTo>
                  <a:pt x="2480802" y="225074"/>
                </a:lnTo>
                <a:lnTo>
                  <a:pt x="2543057" y="245180"/>
                </a:lnTo>
                <a:lnTo>
                  <a:pt x="2587061" y="285004"/>
                </a:lnTo>
                <a:lnTo>
                  <a:pt x="2598605" y="307181"/>
                </a:lnTo>
                <a:close/>
              </a:path>
              <a:path w="5741670" h="1073150">
                <a:moveTo>
                  <a:pt x="2103405" y="848867"/>
                </a:moveTo>
                <a:lnTo>
                  <a:pt x="2001012" y="848867"/>
                </a:lnTo>
                <a:lnTo>
                  <a:pt x="2141124" y="239267"/>
                </a:lnTo>
                <a:lnTo>
                  <a:pt x="2243613" y="239267"/>
                </a:lnTo>
                <a:lnTo>
                  <a:pt x="2227992" y="307181"/>
                </a:lnTo>
                <a:lnTo>
                  <a:pt x="2598605" y="307181"/>
                </a:lnTo>
                <a:lnTo>
                  <a:pt x="2600991" y="311765"/>
                </a:lnTo>
                <a:lnTo>
                  <a:pt x="2602391" y="316991"/>
                </a:lnTo>
                <a:lnTo>
                  <a:pt x="2397728" y="316991"/>
                </a:lnTo>
                <a:lnTo>
                  <a:pt x="2376347" y="318475"/>
                </a:lnTo>
                <a:lnTo>
                  <a:pt x="2330407" y="329944"/>
                </a:lnTo>
                <a:lnTo>
                  <a:pt x="2280826" y="352018"/>
                </a:lnTo>
                <a:lnTo>
                  <a:pt x="2231820" y="379554"/>
                </a:lnTo>
                <a:lnTo>
                  <a:pt x="2207799" y="395001"/>
                </a:lnTo>
                <a:lnTo>
                  <a:pt x="2103405" y="848867"/>
                </a:lnTo>
                <a:close/>
              </a:path>
              <a:path w="5741670" h="1073150">
                <a:moveTo>
                  <a:pt x="2512028" y="848867"/>
                </a:moveTo>
                <a:lnTo>
                  <a:pt x="2410968" y="848867"/>
                </a:lnTo>
                <a:lnTo>
                  <a:pt x="2489263" y="502348"/>
                </a:lnTo>
                <a:lnTo>
                  <a:pt x="2492283" y="488382"/>
                </a:lnTo>
                <a:lnTo>
                  <a:pt x="2500574" y="441339"/>
                </a:lnTo>
                <a:lnTo>
                  <a:pt x="2502402" y="414146"/>
                </a:lnTo>
                <a:lnTo>
                  <a:pt x="2502503" y="409098"/>
                </a:lnTo>
                <a:lnTo>
                  <a:pt x="2496835" y="369093"/>
                </a:lnTo>
                <a:lnTo>
                  <a:pt x="2466094" y="330105"/>
                </a:lnTo>
                <a:lnTo>
                  <a:pt x="2447697" y="322790"/>
                </a:lnTo>
                <a:lnTo>
                  <a:pt x="2447504" y="322790"/>
                </a:lnTo>
                <a:lnTo>
                  <a:pt x="2424995" y="318475"/>
                </a:lnTo>
                <a:lnTo>
                  <a:pt x="2397728" y="316991"/>
                </a:lnTo>
                <a:lnTo>
                  <a:pt x="2602391" y="316991"/>
                </a:lnTo>
                <a:lnTo>
                  <a:pt x="2609350" y="342972"/>
                </a:lnTo>
                <a:lnTo>
                  <a:pt x="2612136" y="378618"/>
                </a:lnTo>
                <a:lnTo>
                  <a:pt x="2612117" y="379554"/>
                </a:lnTo>
                <a:lnTo>
                  <a:pt x="2608415" y="425005"/>
                </a:lnTo>
                <a:lnTo>
                  <a:pt x="2602896" y="453294"/>
                </a:lnTo>
                <a:lnTo>
                  <a:pt x="2512028" y="848867"/>
                </a:lnTo>
                <a:close/>
              </a:path>
              <a:path w="5741670" h="1073150">
                <a:moveTo>
                  <a:pt x="2815971" y="848867"/>
                </a:moveTo>
                <a:lnTo>
                  <a:pt x="2712719" y="848867"/>
                </a:lnTo>
                <a:lnTo>
                  <a:pt x="2908744" y="0"/>
                </a:lnTo>
                <a:lnTo>
                  <a:pt x="3011995" y="0"/>
                </a:lnTo>
                <a:lnTo>
                  <a:pt x="2886265" y="543972"/>
                </a:lnTo>
                <a:lnTo>
                  <a:pt x="3042354" y="543972"/>
                </a:lnTo>
                <a:lnTo>
                  <a:pt x="3069920" y="581310"/>
                </a:lnTo>
                <a:lnTo>
                  <a:pt x="2948273" y="581310"/>
                </a:lnTo>
                <a:lnTo>
                  <a:pt x="2860738" y="652652"/>
                </a:lnTo>
                <a:lnTo>
                  <a:pt x="2815971" y="848867"/>
                </a:lnTo>
                <a:close/>
              </a:path>
              <a:path w="5741670" h="1073150">
                <a:moveTo>
                  <a:pt x="3042354" y="543972"/>
                </a:moveTo>
                <a:lnTo>
                  <a:pt x="2886265" y="543972"/>
                </a:lnTo>
                <a:lnTo>
                  <a:pt x="3241262" y="239267"/>
                </a:lnTo>
                <a:lnTo>
                  <a:pt x="3377183" y="239267"/>
                </a:lnTo>
                <a:lnTo>
                  <a:pt x="3030188" y="527494"/>
                </a:lnTo>
                <a:lnTo>
                  <a:pt x="3042354" y="543972"/>
                </a:lnTo>
                <a:close/>
              </a:path>
              <a:path w="5741670" h="1073150">
                <a:moveTo>
                  <a:pt x="3267456" y="848867"/>
                </a:moveTo>
                <a:lnTo>
                  <a:pt x="3142393" y="848867"/>
                </a:lnTo>
                <a:lnTo>
                  <a:pt x="2948273" y="581310"/>
                </a:lnTo>
                <a:lnTo>
                  <a:pt x="3069920" y="581310"/>
                </a:lnTo>
                <a:lnTo>
                  <a:pt x="3267456" y="848867"/>
                </a:lnTo>
                <a:close/>
              </a:path>
              <a:path w="5741670" h="1073150">
                <a:moveTo>
                  <a:pt x="3866483" y="1072895"/>
                </a:moveTo>
                <a:lnTo>
                  <a:pt x="3752088" y="1072895"/>
                </a:lnTo>
                <a:lnTo>
                  <a:pt x="3930015" y="811434"/>
                </a:lnTo>
                <a:lnTo>
                  <a:pt x="3820667" y="239267"/>
                </a:lnTo>
                <a:lnTo>
                  <a:pt x="3924586" y="239267"/>
                </a:lnTo>
                <a:lnTo>
                  <a:pt x="4010311" y="693419"/>
                </a:lnTo>
                <a:lnTo>
                  <a:pt x="4116186" y="693419"/>
                </a:lnTo>
                <a:lnTo>
                  <a:pt x="3866483" y="1072895"/>
                </a:lnTo>
                <a:close/>
              </a:path>
              <a:path w="5741670" h="1073150">
                <a:moveTo>
                  <a:pt x="4116186" y="693419"/>
                </a:moveTo>
                <a:lnTo>
                  <a:pt x="4010311" y="693419"/>
                </a:lnTo>
                <a:lnTo>
                  <a:pt x="4301871" y="239267"/>
                </a:lnTo>
                <a:lnTo>
                  <a:pt x="4415028" y="239267"/>
                </a:lnTo>
                <a:lnTo>
                  <a:pt x="4116186" y="693419"/>
                </a:lnTo>
                <a:close/>
              </a:path>
              <a:path w="5741670" h="1073150">
                <a:moveTo>
                  <a:pt x="4664868" y="865631"/>
                </a:moveTo>
                <a:lnTo>
                  <a:pt x="4613628" y="861786"/>
                </a:lnTo>
                <a:lnTo>
                  <a:pt x="4568344" y="850225"/>
                </a:lnTo>
                <a:lnTo>
                  <a:pt x="4529008" y="830913"/>
                </a:lnTo>
                <a:lnTo>
                  <a:pt x="4495609" y="803814"/>
                </a:lnTo>
                <a:lnTo>
                  <a:pt x="4469036" y="769919"/>
                </a:lnTo>
                <a:lnTo>
                  <a:pt x="4450044" y="730103"/>
                </a:lnTo>
                <a:lnTo>
                  <a:pt x="4438642" y="684375"/>
                </a:lnTo>
                <a:lnTo>
                  <a:pt x="4434840" y="632745"/>
                </a:lnTo>
                <a:lnTo>
                  <a:pt x="4436357" y="593324"/>
                </a:lnTo>
                <a:lnTo>
                  <a:pt x="4441055" y="552926"/>
                </a:lnTo>
                <a:lnTo>
                  <a:pt x="4448824" y="514418"/>
                </a:lnTo>
                <a:lnTo>
                  <a:pt x="4459700" y="476821"/>
                </a:lnTo>
                <a:lnTo>
                  <a:pt x="4473490" y="440761"/>
                </a:lnTo>
                <a:lnTo>
                  <a:pt x="4509287" y="374714"/>
                </a:lnTo>
                <a:lnTo>
                  <a:pt x="4555243" y="318367"/>
                </a:lnTo>
                <a:lnTo>
                  <a:pt x="4610717" y="273932"/>
                </a:lnTo>
                <a:lnTo>
                  <a:pt x="4675909" y="241323"/>
                </a:lnTo>
                <a:lnTo>
                  <a:pt x="4747709" y="224645"/>
                </a:lnTo>
                <a:lnTo>
                  <a:pt x="4785931" y="222503"/>
                </a:lnTo>
                <a:lnTo>
                  <a:pt x="4835884" y="226309"/>
                </a:lnTo>
                <a:lnTo>
                  <a:pt x="4880443" y="237589"/>
                </a:lnTo>
                <a:lnTo>
                  <a:pt x="4919609" y="256351"/>
                </a:lnTo>
                <a:lnTo>
                  <a:pt x="4953381" y="282606"/>
                </a:lnTo>
                <a:lnTo>
                  <a:pt x="4974003" y="307847"/>
                </a:lnTo>
                <a:lnTo>
                  <a:pt x="4769453" y="307847"/>
                </a:lnTo>
                <a:lnTo>
                  <a:pt x="4743770" y="309492"/>
                </a:lnTo>
                <a:lnTo>
                  <a:pt x="4696440" y="322247"/>
                </a:lnTo>
                <a:lnTo>
                  <a:pt x="4654556" y="347266"/>
                </a:lnTo>
                <a:lnTo>
                  <a:pt x="4618370" y="382050"/>
                </a:lnTo>
                <a:lnTo>
                  <a:pt x="4588581" y="425463"/>
                </a:lnTo>
                <a:lnTo>
                  <a:pt x="4566045" y="476041"/>
                </a:lnTo>
                <a:lnTo>
                  <a:pt x="4550441" y="533316"/>
                </a:lnTo>
                <a:lnTo>
                  <a:pt x="4542611" y="592362"/>
                </a:lnTo>
                <a:lnTo>
                  <a:pt x="4542517" y="593324"/>
                </a:lnTo>
                <a:lnTo>
                  <a:pt x="4543804" y="659670"/>
                </a:lnTo>
                <a:lnTo>
                  <a:pt x="4562053" y="717638"/>
                </a:lnTo>
                <a:lnTo>
                  <a:pt x="4598126" y="757677"/>
                </a:lnTo>
                <a:lnTo>
                  <a:pt x="4649808" y="777823"/>
                </a:lnTo>
                <a:lnTo>
                  <a:pt x="4681347" y="780287"/>
                </a:lnTo>
                <a:lnTo>
                  <a:pt x="4883964" y="780287"/>
                </a:lnTo>
                <a:lnTo>
                  <a:pt x="4868382" y="794527"/>
                </a:lnTo>
                <a:lnTo>
                  <a:pt x="4809934" y="833246"/>
                </a:lnTo>
                <a:lnTo>
                  <a:pt x="4742580" y="857547"/>
                </a:lnTo>
                <a:lnTo>
                  <a:pt x="4705015" y="863612"/>
                </a:lnTo>
                <a:lnTo>
                  <a:pt x="4664868" y="865631"/>
                </a:lnTo>
                <a:close/>
              </a:path>
              <a:path w="5741670" h="1073150">
                <a:moveTo>
                  <a:pt x="4883964" y="780287"/>
                </a:moveTo>
                <a:lnTo>
                  <a:pt x="4681347" y="780287"/>
                </a:lnTo>
                <a:lnTo>
                  <a:pt x="4706869" y="778771"/>
                </a:lnTo>
                <a:lnTo>
                  <a:pt x="4731151" y="774084"/>
                </a:lnTo>
                <a:lnTo>
                  <a:pt x="4776025" y="755237"/>
                </a:lnTo>
                <a:lnTo>
                  <a:pt x="4815328" y="725245"/>
                </a:lnTo>
                <a:lnTo>
                  <a:pt x="4848415" y="685323"/>
                </a:lnTo>
                <a:lnTo>
                  <a:pt x="4874347" y="638305"/>
                </a:lnTo>
                <a:lnTo>
                  <a:pt x="4893278" y="584358"/>
                </a:lnTo>
                <a:lnTo>
                  <a:pt x="4904934" y="525363"/>
                </a:lnTo>
                <a:lnTo>
                  <a:pt x="4908804" y="463010"/>
                </a:lnTo>
                <a:lnTo>
                  <a:pt x="4906533" y="427166"/>
                </a:lnTo>
                <a:lnTo>
                  <a:pt x="4888310" y="369302"/>
                </a:lnTo>
                <a:lnTo>
                  <a:pt x="4852231" y="330082"/>
                </a:lnTo>
                <a:lnTo>
                  <a:pt x="4800796" y="310366"/>
                </a:lnTo>
                <a:lnTo>
                  <a:pt x="4769453" y="307847"/>
                </a:lnTo>
                <a:lnTo>
                  <a:pt x="4974003" y="307847"/>
                </a:lnTo>
                <a:lnTo>
                  <a:pt x="4980564" y="315878"/>
                </a:lnTo>
                <a:lnTo>
                  <a:pt x="4999970" y="355687"/>
                </a:lnTo>
                <a:lnTo>
                  <a:pt x="5011607" y="402032"/>
                </a:lnTo>
                <a:lnTo>
                  <a:pt x="5015483" y="454913"/>
                </a:lnTo>
                <a:lnTo>
                  <a:pt x="5013961" y="494601"/>
                </a:lnTo>
                <a:lnTo>
                  <a:pt x="5009245" y="535209"/>
                </a:lnTo>
                <a:lnTo>
                  <a:pt x="5001419" y="574071"/>
                </a:lnTo>
                <a:lnTo>
                  <a:pt x="4990433" y="612076"/>
                </a:lnTo>
                <a:lnTo>
                  <a:pt x="4976573" y="648545"/>
                </a:lnTo>
                <a:lnTo>
                  <a:pt x="4941101" y="713982"/>
                </a:lnTo>
                <a:lnTo>
                  <a:pt x="4894896" y="770286"/>
                </a:lnTo>
                <a:lnTo>
                  <a:pt x="4883964" y="780287"/>
                </a:lnTo>
                <a:close/>
              </a:path>
              <a:path w="5741670" h="1073150">
                <a:moveTo>
                  <a:pt x="5297805" y="865631"/>
                </a:moveTo>
                <a:lnTo>
                  <a:pt x="5228034" y="855773"/>
                </a:lnTo>
                <a:lnTo>
                  <a:pt x="5175409" y="826198"/>
                </a:lnTo>
                <a:lnTo>
                  <a:pt x="5142357" y="777620"/>
                </a:lnTo>
                <a:lnTo>
                  <a:pt x="5131308" y="710755"/>
                </a:lnTo>
                <a:lnTo>
                  <a:pt x="5131343" y="708722"/>
                </a:lnTo>
                <a:lnTo>
                  <a:pt x="5135122" y="665729"/>
                </a:lnTo>
                <a:lnTo>
                  <a:pt x="5232368" y="239267"/>
                </a:lnTo>
                <a:lnTo>
                  <a:pt x="5334857" y="239267"/>
                </a:lnTo>
                <a:lnTo>
                  <a:pt x="5254275" y="586073"/>
                </a:lnTo>
                <a:lnTo>
                  <a:pt x="5251881" y="597035"/>
                </a:lnTo>
                <a:lnTo>
                  <a:pt x="5243146" y="647373"/>
                </a:lnTo>
                <a:lnTo>
                  <a:pt x="5240655" y="677417"/>
                </a:lnTo>
                <a:lnTo>
                  <a:pt x="5242137" y="699439"/>
                </a:lnTo>
                <a:lnTo>
                  <a:pt x="5264372" y="747807"/>
                </a:lnTo>
                <a:lnTo>
                  <a:pt x="5318633" y="769734"/>
                </a:lnTo>
                <a:lnTo>
                  <a:pt x="5345049" y="771143"/>
                </a:lnTo>
                <a:lnTo>
                  <a:pt x="5617603" y="771143"/>
                </a:lnTo>
                <a:lnTo>
                  <a:pt x="5615192" y="781526"/>
                </a:lnTo>
                <a:lnTo>
                  <a:pt x="5512689" y="781526"/>
                </a:lnTo>
                <a:lnTo>
                  <a:pt x="5484097" y="800281"/>
                </a:lnTo>
                <a:lnTo>
                  <a:pt x="5456479" y="816840"/>
                </a:lnTo>
                <a:lnTo>
                  <a:pt x="5404199" y="843438"/>
                </a:lnTo>
                <a:lnTo>
                  <a:pt x="5352431" y="860107"/>
                </a:lnTo>
                <a:lnTo>
                  <a:pt x="5325466" y="864253"/>
                </a:lnTo>
                <a:lnTo>
                  <a:pt x="5297805" y="865631"/>
                </a:lnTo>
                <a:close/>
              </a:path>
              <a:path w="5741670" h="1073150">
                <a:moveTo>
                  <a:pt x="5617603" y="771143"/>
                </a:moveTo>
                <a:lnTo>
                  <a:pt x="5345049" y="771143"/>
                </a:lnTo>
                <a:lnTo>
                  <a:pt x="5365910" y="769734"/>
                </a:lnTo>
                <a:lnTo>
                  <a:pt x="5388209" y="765369"/>
                </a:lnTo>
                <a:lnTo>
                  <a:pt x="5437155" y="747807"/>
                </a:lnTo>
                <a:lnTo>
                  <a:pt x="5487114" y="722637"/>
                </a:lnTo>
                <a:lnTo>
                  <a:pt x="5533072" y="693896"/>
                </a:lnTo>
                <a:lnTo>
                  <a:pt x="5638609" y="239267"/>
                </a:lnTo>
                <a:lnTo>
                  <a:pt x="5741098" y="239267"/>
                </a:lnTo>
                <a:lnTo>
                  <a:pt x="5617603" y="771143"/>
                </a:lnTo>
                <a:close/>
              </a:path>
              <a:path w="5741670" h="1073150">
                <a:moveTo>
                  <a:pt x="5599557" y="848867"/>
                </a:moveTo>
                <a:lnTo>
                  <a:pt x="5497067" y="848867"/>
                </a:lnTo>
                <a:lnTo>
                  <a:pt x="5512689" y="781526"/>
                </a:lnTo>
                <a:lnTo>
                  <a:pt x="5615192" y="781526"/>
                </a:lnTo>
                <a:lnTo>
                  <a:pt x="5599557" y="848867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114300"/>
            <a:ext cx="10058400" cy="1257300"/>
          </a:xfrm>
          <a:custGeom>
            <a:avLst/>
            <a:gdLst/>
            <a:ahLst/>
            <a:cxnLst/>
            <a:rect l="l" t="t" r="r" b="b"/>
            <a:pathLst>
              <a:path w="10058400" h="1257300">
                <a:moveTo>
                  <a:pt x="10058400" y="1257300"/>
                </a:moveTo>
                <a:lnTo>
                  <a:pt x="0" y="1257300"/>
                </a:lnTo>
                <a:lnTo>
                  <a:pt x="0" y="0"/>
                </a:lnTo>
                <a:lnTo>
                  <a:pt x="10058400" y="0"/>
                </a:lnTo>
                <a:lnTo>
                  <a:pt x="10058400" y="1257300"/>
                </a:lnTo>
                <a:close/>
              </a:path>
            </a:pathLst>
          </a:custGeom>
          <a:solidFill>
            <a:srgbClr val="0079B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835</Words>
  <Application>Microsoft Office PowerPoint</Application>
  <PresentationFormat>Custom</PresentationFormat>
  <Paragraphs>218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Arial MT</vt:lpstr>
      <vt:lpstr>Calibri</vt:lpstr>
      <vt:lpstr>Times New Roman</vt:lpstr>
      <vt:lpstr>Verdana</vt:lpstr>
      <vt:lpstr>Office Theme</vt:lpstr>
      <vt:lpstr>UEC3942: Introduction to Sensors and Actuators</vt:lpstr>
      <vt:lpstr>Learning Outcomes</vt:lpstr>
      <vt:lpstr>Introduction to Photodiodes</vt:lpstr>
      <vt:lpstr>What is a Photodiode?</vt:lpstr>
      <vt:lpstr>Principle of Operation</vt:lpstr>
      <vt:lpstr>How it Works (Reverse Bias):</vt:lpstr>
      <vt:lpstr>Construction &amp; Materials</vt:lpstr>
      <vt:lpstr>Modes of Operation</vt:lpstr>
      <vt:lpstr>V-I Characteristics</vt:lpstr>
      <vt:lpstr>V-I Characteristics</vt:lpstr>
      <vt:lpstr>Sensitivity of Photodiodes</vt:lpstr>
      <vt:lpstr>Advantages of Photodiodes over LDRs</vt:lpstr>
      <vt:lpstr>PIN and Avalanche Photodiodes (Special Types)</vt:lpstr>
      <vt:lpstr>Summary and Comparison</vt:lpstr>
      <vt:lpstr>Introduction to Phototransistors</vt:lpstr>
      <vt:lpstr>Construction and Symbol</vt:lpstr>
      <vt:lpstr>How it Works?</vt:lpstr>
      <vt:lpstr>I-V Characteristics</vt:lpstr>
      <vt:lpstr>Performance Characteristics</vt:lpstr>
      <vt:lpstr>Comparison and Conclusion</vt:lpstr>
      <vt:lpstr>Practical Applications</vt:lpstr>
      <vt:lpstr>Summary of Core Differences</vt:lpstr>
      <vt:lpstr>Phototransistors: Summary</vt:lpstr>
      <vt:lpstr>Introduction to Photovoltaic Devices</vt:lpstr>
      <vt:lpstr>Working Principle: From Photons to Electrons</vt:lpstr>
      <vt:lpstr>Construction</vt:lpstr>
      <vt:lpstr>V-I Characteristics</vt:lpstr>
      <vt:lpstr>P-V Characteristics at different irradiance levels</vt:lpstr>
      <vt:lpstr>V-I Characteristics</vt:lpstr>
      <vt:lpstr>Key Characteristics &amp; Efficiency</vt:lpstr>
      <vt:lpstr>Applications of Photovoltaic Devices</vt:lpstr>
      <vt:lpstr>Summary</vt:lpstr>
      <vt:lpstr>Test your understanding</vt:lpstr>
      <vt:lpstr>Textbook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Photodiodes, phototransistors and photovoltaic devices</dc:title>
  <dc:creator>Karthie Alias Ayyadurai</dc:creator>
  <cp:lastModifiedBy>Microsoft account</cp:lastModifiedBy>
  <cp:revision>2</cp:revision>
  <dcterms:created xsi:type="dcterms:W3CDTF">2026-07-01T10:11:39Z</dcterms:created>
  <dcterms:modified xsi:type="dcterms:W3CDTF">2026-07-01T10:38:09Z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2026-01-27T00:00:00Z</vt:filetime>
  </property>
  <property fmtid="{D5CDD505-2E9C-101B-9397-08002B2CF9AE}" pid="4" name="LastSaved">
    <vt:filetime>2026-07-01T00:00:00Z</vt:filetime>
  </property>
  <property fmtid="{D5CDD505-2E9C-101B-9397-08002B2CF9AE}" pid="5" name="Producer">
    <vt:lpwstr>Microsoft: Print To PDF</vt:lpwstr>
  </property>
</Properties>
</file>