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518283"/>
            <a:ext cx="8710295" cy="404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02421" y="3143539"/>
            <a:ext cx="6452870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II:</a:t>
            </a:r>
            <a:r>
              <a:rPr sz="35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Light</a:t>
            </a:r>
            <a:r>
              <a:rPr sz="350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transducers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1892935" marR="1884045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500" dirty="0" smtClean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GB" sz="2500" smtClean="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560705" marR="551180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348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mechanisms</a:t>
            </a:r>
            <a:r>
              <a:rPr sz="2200" spc="1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light 	</a:t>
            </a:r>
            <a:r>
              <a:rPr sz="2200" dirty="0">
                <a:latin typeface="Verdana"/>
                <a:cs typeface="Verdana"/>
              </a:rPr>
              <a:t>transducers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incandescent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bulbs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fluorescent 	systems.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286" y="426127"/>
            <a:ext cx="95827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Light</a:t>
            </a:r>
            <a:r>
              <a:rPr spc="-60" dirty="0"/>
              <a:t> </a:t>
            </a:r>
            <a:r>
              <a:rPr spc="-10" dirty="0"/>
              <a:t>Transducers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1323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Concept:</a:t>
            </a:r>
            <a:r>
              <a:rPr b="1" spc="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</a:t>
            </a:r>
            <a:r>
              <a:rPr spc="-5" dirty="0"/>
              <a:t>  </a:t>
            </a:r>
            <a:r>
              <a:rPr dirty="0"/>
              <a:t>conversion</a:t>
            </a:r>
            <a:r>
              <a:rPr spc="5" dirty="0"/>
              <a:t>  </a:t>
            </a:r>
            <a:r>
              <a:rPr dirty="0"/>
              <a:t>between</a:t>
            </a:r>
            <a:r>
              <a:rPr spc="-5" dirty="0"/>
              <a:t>  </a:t>
            </a:r>
            <a:r>
              <a:rPr dirty="0"/>
              <a:t>electrical</a:t>
            </a:r>
            <a:r>
              <a:rPr spc="10" dirty="0"/>
              <a:t>  </a:t>
            </a:r>
            <a:r>
              <a:rPr spc="-25" dirty="0"/>
              <a:t>and 	</a:t>
            </a:r>
            <a:r>
              <a:rPr dirty="0"/>
              <a:t>light</a:t>
            </a:r>
            <a:r>
              <a:rPr spc="-60" dirty="0"/>
              <a:t> </a:t>
            </a:r>
            <a:r>
              <a:rPr dirty="0"/>
              <a:t>energy</a:t>
            </a:r>
            <a:r>
              <a:rPr spc="-50" dirty="0"/>
              <a:t> </a:t>
            </a:r>
            <a:r>
              <a:rPr dirty="0"/>
              <a:t>has</a:t>
            </a:r>
            <a:r>
              <a:rPr spc="-50" dirty="0"/>
              <a:t> </a:t>
            </a:r>
            <a:r>
              <a:rPr dirty="0"/>
              <a:t>been</a:t>
            </a:r>
            <a:r>
              <a:rPr spc="-30" dirty="0"/>
              <a:t> </a:t>
            </a:r>
            <a:r>
              <a:rPr dirty="0"/>
              <a:t>vital</a:t>
            </a:r>
            <a:r>
              <a:rPr spc="-3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over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century.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Basic</a:t>
            </a:r>
            <a:r>
              <a:rPr b="1" spc="2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Method:</a:t>
            </a:r>
            <a:r>
              <a:rPr b="1" spc="2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Most</a:t>
            </a:r>
            <a:r>
              <a:rPr spc="210" dirty="0"/>
              <a:t>  </a:t>
            </a:r>
            <a:r>
              <a:rPr dirty="0"/>
              <a:t>commonly,</a:t>
            </a:r>
            <a:r>
              <a:rPr spc="210" dirty="0"/>
              <a:t>  </a:t>
            </a:r>
            <a:r>
              <a:rPr dirty="0"/>
              <a:t>electrical</a:t>
            </a:r>
            <a:r>
              <a:rPr spc="220" dirty="0"/>
              <a:t>  </a:t>
            </a:r>
            <a:r>
              <a:rPr dirty="0"/>
              <a:t>energy</a:t>
            </a:r>
            <a:r>
              <a:rPr spc="204" dirty="0"/>
              <a:t>  </a:t>
            </a:r>
            <a:r>
              <a:rPr spc="-25" dirty="0"/>
              <a:t>is 	</a:t>
            </a:r>
            <a:r>
              <a:rPr dirty="0"/>
              <a:t>converted</a:t>
            </a:r>
            <a:r>
              <a:rPr spc="40" dirty="0"/>
              <a:t>  </a:t>
            </a:r>
            <a:r>
              <a:rPr dirty="0"/>
              <a:t>into</a:t>
            </a:r>
            <a:r>
              <a:rPr spc="25" dirty="0"/>
              <a:t>  </a:t>
            </a:r>
            <a:r>
              <a:rPr dirty="0"/>
              <a:t>light</a:t>
            </a:r>
            <a:r>
              <a:rPr spc="30" dirty="0"/>
              <a:t>  </a:t>
            </a:r>
            <a:r>
              <a:rPr dirty="0"/>
              <a:t>by</a:t>
            </a:r>
            <a:r>
              <a:rPr spc="20" dirty="0"/>
              <a:t>  </a:t>
            </a:r>
            <a:r>
              <a:rPr dirty="0"/>
              <a:t>heating</a:t>
            </a:r>
            <a:r>
              <a:rPr spc="30" dirty="0"/>
              <a:t>  </a:t>
            </a:r>
            <a:r>
              <a:rPr dirty="0"/>
              <a:t>a</a:t>
            </a:r>
            <a:r>
              <a:rPr spc="30" dirty="0"/>
              <a:t>  </a:t>
            </a:r>
            <a:r>
              <a:rPr dirty="0"/>
              <a:t>coil</a:t>
            </a:r>
            <a:r>
              <a:rPr spc="30" dirty="0"/>
              <a:t>  </a:t>
            </a:r>
            <a:r>
              <a:rPr dirty="0"/>
              <a:t>of</a:t>
            </a:r>
            <a:r>
              <a:rPr spc="35" dirty="0"/>
              <a:t>  </a:t>
            </a:r>
            <a:r>
              <a:rPr dirty="0"/>
              <a:t>wire</a:t>
            </a:r>
            <a:r>
              <a:rPr spc="25" dirty="0"/>
              <a:t>  </a:t>
            </a:r>
            <a:r>
              <a:rPr dirty="0"/>
              <a:t>until</a:t>
            </a:r>
            <a:r>
              <a:rPr spc="30" dirty="0"/>
              <a:t>  </a:t>
            </a:r>
            <a:r>
              <a:rPr spc="-25" dirty="0"/>
              <a:t>it 	</a:t>
            </a:r>
            <a:r>
              <a:rPr dirty="0"/>
              <a:t>reaches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high</a:t>
            </a:r>
            <a:r>
              <a:rPr spc="-45" dirty="0"/>
              <a:t> </a:t>
            </a:r>
            <a:r>
              <a:rPr spc="-10" dirty="0"/>
              <a:t>temperature.</a:t>
            </a: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Efficiency:</a:t>
            </a:r>
            <a:r>
              <a:rPr b="1" spc="1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This</a:t>
            </a:r>
            <a:r>
              <a:rPr spc="100" dirty="0"/>
              <a:t>  </a:t>
            </a:r>
            <a:r>
              <a:rPr dirty="0"/>
              <a:t>incandescent</a:t>
            </a:r>
            <a:r>
              <a:rPr spc="100" dirty="0"/>
              <a:t>  </a:t>
            </a:r>
            <a:r>
              <a:rPr dirty="0"/>
              <a:t>method</a:t>
            </a:r>
            <a:r>
              <a:rPr spc="110" dirty="0"/>
              <a:t>  </a:t>
            </a:r>
            <a:r>
              <a:rPr dirty="0"/>
              <a:t>has</a:t>
            </a:r>
            <a:r>
              <a:rPr spc="90" dirty="0"/>
              <a:t>  </a:t>
            </a:r>
            <a:r>
              <a:rPr dirty="0"/>
              <a:t>the</a:t>
            </a:r>
            <a:r>
              <a:rPr spc="110" dirty="0"/>
              <a:t>  </a:t>
            </a:r>
            <a:r>
              <a:rPr spc="-10" dirty="0"/>
              <a:t>lowest 	</a:t>
            </a:r>
            <a:r>
              <a:rPr dirty="0"/>
              <a:t>conversion</a:t>
            </a:r>
            <a:r>
              <a:rPr spc="-70" dirty="0"/>
              <a:t> </a:t>
            </a:r>
            <a:r>
              <a:rPr dirty="0"/>
              <a:t>efficiency</a:t>
            </a:r>
            <a:r>
              <a:rPr spc="-8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common</a:t>
            </a:r>
            <a:r>
              <a:rPr spc="-65" dirty="0"/>
              <a:t> </a:t>
            </a:r>
            <a:r>
              <a:rPr dirty="0"/>
              <a:t>light</a:t>
            </a:r>
            <a:r>
              <a:rPr spc="-110" dirty="0"/>
              <a:t> </a:t>
            </a:r>
            <a:r>
              <a:rPr spc="-10" dirty="0"/>
              <a:t>transducers.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61300" y="124572"/>
            <a:ext cx="753364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9245" marR="5080" indent="-1567180">
              <a:lnSpc>
                <a:spcPct val="100200"/>
              </a:lnSpc>
              <a:spcBef>
                <a:spcPts val="100"/>
              </a:spcBef>
            </a:pPr>
            <a:r>
              <a:rPr dirty="0"/>
              <a:t>Evolution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Light</a:t>
            </a:r>
            <a:r>
              <a:rPr spc="-40" dirty="0"/>
              <a:t> </a:t>
            </a:r>
            <a:r>
              <a:rPr spc="-20" dirty="0"/>
              <a:t>Bulb </a:t>
            </a:r>
            <a:r>
              <a:rPr dirty="0"/>
              <a:t>(Early</a:t>
            </a:r>
            <a:r>
              <a:rPr spc="-45" dirty="0"/>
              <a:t> </a:t>
            </a:r>
            <a:r>
              <a:rPr spc="-10" dirty="0"/>
              <a:t>Designs)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675295"/>
            <a:ext cx="870839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Carbon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Filaments: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Early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bulbs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carbon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filaments, 	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extremely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fragile.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Oxidation</a:t>
            </a:r>
            <a:r>
              <a:rPr sz="2200" b="1" spc="3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Prevention:</a:t>
            </a:r>
            <a:r>
              <a:rPr sz="2200" b="1" spc="3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Bulbs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were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evacuated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(vacuum) 	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prevent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carbon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oxidizing.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44955" y="124572"/>
            <a:ext cx="79711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9905" marR="5080" indent="-3037840">
              <a:lnSpc>
                <a:spcPct val="100200"/>
              </a:lnSpc>
              <a:spcBef>
                <a:spcPts val="100"/>
              </a:spcBef>
            </a:pPr>
            <a:r>
              <a:rPr dirty="0"/>
              <a:t>Improvements</a:t>
            </a:r>
            <a:r>
              <a:rPr spc="-55" dirty="0"/>
              <a:t> </a:t>
            </a:r>
            <a:r>
              <a:rPr dirty="0"/>
              <a:t>by</a:t>
            </a:r>
            <a:r>
              <a:rPr spc="-40" dirty="0"/>
              <a:t> </a:t>
            </a:r>
            <a:r>
              <a:rPr dirty="0"/>
              <a:t>Swan</a:t>
            </a:r>
            <a:r>
              <a:rPr spc="-5" dirty="0"/>
              <a:t> </a:t>
            </a:r>
            <a:r>
              <a:rPr spc="-25" dirty="0"/>
              <a:t>and </a:t>
            </a:r>
            <a:r>
              <a:rPr spc="-10" dirty="0"/>
              <a:t>Edison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8961755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Shift:</a:t>
            </a:r>
            <a:r>
              <a:rPr sz="2200" b="1" spc="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tungsten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replaced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carbon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filament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Gas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Filling:</a:t>
            </a:r>
            <a:r>
              <a:rPr sz="2200" b="1" spc="-6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Introduced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argon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inside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spc="-10" dirty="0">
                <a:latin typeface="Verdana"/>
                <a:cs typeface="Verdana"/>
              </a:rPr>
              <a:t>bulb.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Argon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Advantage: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Being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inert,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avoided 	</a:t>
            </a:r>
            <a:r>
              <a:rPr sz="2200" dirty="0">
                <a:latin typeface="Verdana"/>
                <a:cs typeface="Verdana"/>
              </a:rPr>
              <a:t>oxidation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reduced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evaporation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filament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metal.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3399" y="124572"/>
            <a:ext cx="893000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5204" marR="5080" indent="-3533140">
              <a:lnSpc>
                <a:spcPct val="100200"/>
              </a:lnSpc>
              <a:spcBef>
                <a:spcPts val="100"/>
              </a:spcBef>
            </a:pPr>
            <a:r>
              <a:rPr dirty="0"/>
              <a:t>Failure</a:t>
            </a:r>
            <a:r>
              <a:rPr spc="-45" dirty="0"/>
              <a:t> </a:t>
            </a:r>
            <a:r>
              <a:rPr dirty="0"/>
              <a:t>Mechanisms</a:t>
            </a:r>
            <a:r>
              <a:rPr spc="-3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Filament Lamps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331" y="1477158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45285" algn="l"/>
                <a:tab pos="3892550" algn="l"/>
                <a:tab pos="5328920" algn="l"/>
                <a:tab pos="6081395" algn="l"/>
                <a:tab pos="77273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Glass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Blackening: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Caused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tungsten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vapour 	</a:t>
            </a:r>
            <a:r>
              <a:rPr sz="2200" dirty="0">
                <a:latin typeface="Verdana"/>
                <a:cs typeface="Verdana"/>
              </a:rPr>
              <a:t>condensing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glass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interior.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Longevity: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Early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tungsten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lamps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failed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under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hour; 	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gas-</a:t>
            </a:r>
            <a:r>
              <a:rPr sz="2200" dirty="0">
                <a:latin typeface="Verdana"/>
                <a:cs typeface="Verdana"/>
              </a:rPr>
              <a:t>filled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lamps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greatly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extended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life.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Spectrum: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Biased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toward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red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end,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making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them 	</a:t>
            </a:r>
            <a:r>
              <a:rPr sz="2200" dirty="0">
                <a:latin typeface="Verdana"/>
                <a:cs typeface="Verdana"/>
              </a:rPr>
              <a:t>unsuitable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accurate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colour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matching.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26455" y="124572"/>
            <a:ext cx="86023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2010" marR="5080" indent="-3369945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4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10" dirty="0"/>
              <a:t>Gas-Discharge Lamps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Efficiency: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Typically,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least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five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times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efficient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filament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lamps.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Low-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200" b="1" spc="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Types:</a:t>
            </a:r>
            <a:r>
              <a:rPr sz="2200" b="1" spc="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Early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versions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gases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like 	</a:t>
            </a:r>
            <a:r>
              <a:rPr sz="2200" spc="-10" dirty="0">
                <a:latin typeface="Verdana"/>
                <a:cs typeface="Verdana"/>
              </a:rPr>
              <a:t>neon.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Requirements: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Required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ranging 	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kV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15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kV.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1790" y="426127"/>
            <a:ext cx="82499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Neon</a:t>
            </a:r>
            <a:r>
              <a:rPr spc="-45" dirty="0"/>
              <a:t> </a:t>
            </a:r>
            <a:r>
              <a:rPr dirty="0"/>
              <a:t>Signs</a:t>
            </a:r>
            <a:r>
              <a:rPr spc="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Gas</a:t>
            </a:r>
            <a:r>
              <a:rPr spc="5" dirty="0"/>
              <a:t> </a:t>
            </a:r>
            <a:r>
              <a:rPr spc="-10" dirty="0"/>
              <a:t>Mixtures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0485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Composition: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Modern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"neon"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rarely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pure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neon.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Customization:</a:t>
            </a:r>
            <a:r>
              <a:rPr sz="2200" b="1" spc="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mixture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gases  is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achieve 	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desired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colours.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Spectrum: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monochromatic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(one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colour) 	</a:t>
            </a:r>
            <a:r>
              <a:rPr sz="2200" dirty="0">
                <a:latin typeface="Verdana"/>
                <a:cs typeface="Verdana"/>
              </a:rPr>
              <a:t>based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predominant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gas.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20783" y="124572"/>
            <a:ext cx="581850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505">
              <a:lnSpc>
                <a:spcPct val="100200"/>
              </a:lnSpc>
              <a:spcBef>
                <a:spcPts val="100"/>
              </a:spcBef>
            </a:pPr>
            <a:r>
              <a:rPr dirty="0"/>
              <a:t>Street</a:t>
            </a:r>
            <a:r>
              <a:rPr spc="-20" dirty="0"/>
              <a:t> </a:t>
            </a:r>
            <a:r>
              <a:rPr spc="-10" dirty="0"/>
              <a:t>Illumination: </a:t>
            </a:r>
            <a:r>
              <a:rPr dirty="0"/>
              <a:t>Mercury</a:t>
            </a:r>
            <a:r>
              <a:rPr spc="-6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Sodium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048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Vapour</a:t>
            </a:r>
            <a:r>
              <a:rPr sz="220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Sources:</a:t>
            </a:r>
            <a:r>
              <a:rPr sz="220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lamps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vapours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solids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just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gases.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Effects: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pressures,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colour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discrimination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nearly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impossible.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1570355" algn="l"/>
                <a:tab pos="3439795" algn="l"/>
                <a:tab pos="4617085" algn="l"/>
                <a:tab pos="6223000" algn="l"/>
                <a:tab pos="7626350" algn="l"/>
                <a:tab pos="833183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Broad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Spectrum: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Higher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broaden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 	</a:t>
            </a:r>
            <a:r>
              <a:rPr sz="2200" dirty="0">
                <a:latin typeface="Verdana"/>
                <a:cs typeface="Verdana"/>
              </a:rPr>
              <a:t>spectrum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yield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acceptable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results.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1449" y="426127"/>
            <a:ext cx="83559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High-</a:t>
            </a:r>
            <a:r>
              <a:rPr dirty="0"/>
              <a:t>Pressure</a:t>
            </a:r>
            <a:r>
              <a:rPr spc="-25" dirty="0"/>
              <a:t> </a:t>
            </a:r>
            <a:r>
              <a:rPr dirty="0"/>
              <a:t>Sodium</a:t>
            </a:r>
            <a:r>
              <a:rPr spc="5" dirty="0"/>
              <a:t> </a:t>
            </a:r>
            <a:r>
              <a:rPr spc="-10" dirty="0"/>
              <a:t>Lamps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3"/>
            <a:ext cx="871029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Fog</a:t>
            </a:r>
            <a:r>
              <a:rPr sz="2200" b="1" spc="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Visibility:</a:t>
            </a:r>
            <a:r>
              <a:rPr sz="2200" b="1" spc="2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orange-</a:t>
            </a:r>
            <a:r>
              <a:rPr sz="2200" dirty="0">
                <a:latin typeface="Verdana"/>
                <a:cs typeface="Verdana"/>
              </a:rPr>
              <a:t>red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predominance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 	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fog.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r>
              <a:rPr sz="2200" b="1" spc="50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Extensively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motorway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main 	</a:t>
            </a:r>
            <a:r>
              <a:rPr sz="2200" dirty="0">
                <a:latin typeface="Verdana"/>
                <a:cs typeface="Verdana"/>
              </a:rPr>
              <a:t>road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illumination.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75323" y="426127"/>
            <a:ext cx="85064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Gas-</a:t>
            </a:r>
            <a:r>
              <a:rPr dirty="0"/>
              <a:t>Discharge</a:t>
            </a:r>
            <a:r>
              <a:rPr spc="-2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839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Striking</a:t>
            </a:r>
            <a:r>
              <a:rPr sz="2200" b="1" spc="5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Voltage:</a:t>
            </a:r>
            <a:r>
              <a:rPr sz="2200" b="1" spc="5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passes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lamp 	</a:t>
            </a:r>
            <a:r>
              <a:rPr sz="2200" dirty="0">
                <a:latin typeface="Verdana"/>
                <a:cs typeface="Verdana"/>
              </a:rPr>
              <a:t>until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"striking"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(ignition)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reached.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Ignition:</a:t>
            </a:r>
            <a:r>
              <a:rPr sz="2200"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Once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ignited,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lamp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drops.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5104" y="426127"/>
            <a:ext cx="91497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 </a:t>
            </a:r>
            <a:r>
              <a:rPr spc="-10" dirty="0"/>
              <a:t>Negative-</a:t>
            </a:r>
            <a:r>
              <a:rPr dirty="0"/>
              <a:t>Resistance</a:t>
            </a:r>
            <a:r>
              <a:rPr spc="-60" dirty="0"/>
              <a:t> </a:t>
            </a:r>
            <a:r>
              <a:rPr spc="-10" dirty="0"/>
              <a:t>Region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179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b="1" spc="4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</a:t>
            </a:r>
            <a:r>
              <a:rPr spc="470" dirty="0"/>
              <a:t> </a:t>
            </a:r>
            <a:r>
              <a:rPr dirty="0"/>
              <a:t>characteristic</a:t>
            </a:r>
            <a:r>
              <a:rPr spc="459" dirty="0"/>
              <a:t> </a:t>
            </a:r>
            <a:r>
              <a:rPr dirty="0"/>
              <a:t>where</a:t>
            </a:r>
            <a:r>
              <a:rPr spc="465" dirty="0"/>
              <a:t> </a:t>
            </a:r>
            <a:r>
              <a:rPr dirty="0"/>
              <a:t>voltage</a:t>
            </a:r>
            <a:r>
              <a:rPr spc="465" dirty="0"/>
              <a:t> </a:t>
            </a:r>
            <a:r>
              <a:rPr dirty="0"/>
              <a:t>drops</a:t>
            </a:r>
            <a:r>
              <a:rPr spc="480" dirty="0"/>
              <a:t> </a:t>
            </a:r>
            <a:r>
              <a:rPr dirty="0"/>
              <a:t>as</a:t>
            </a:r>
            <a:r>
              <a:rPr spc="475" dirty="0"/>
              <a:t> </a:t>
            </a:r>
            <a:r>
              <a:rPr spc="-25" dirty="0"/>
              <a:t>the 	</a:t>
            </a:r>
            <a:r>
              <a:rPr dirty="0"/>
              <a:t>current</a:t>
            </a:r>
            <a:r>
              <a:rPr spc="-70" dirty="0"/>
              <a:t> </a:t>
            </a:r>
            <a:r>
              <a:rPr spc="-10" dirty="0"/>
              <a:t>increases.</a:t>
            </a:r>
          </a:p>
          <a:p>
            <a:pPr marL="390525" marR="6350" indent="-377190">
              <a:lnSpc>
                <a:spcPct val="150000"/>
              </a:lnSpc>
              <a:buFont typeface="Wingdings"/>
              <a:buChar char=""/>
              <a:tabLst>
                <a:tab pos="39179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Hazard:</a:t>
            </a:r>
            <a:r>
              <a:rPr b="1" spc="5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Without</a:t>
            </a:r>
            <a:r>
              <a:rPr spc="505" dirty="0"/>
              <a:t> </a:t>
            </a:r>
            <a:r>
              <a:rPr dirty="0"/>
              <a:t>external</a:t>
            </a:r>
            <a:r>
              <a:rPr spc="525" dirty="0"/>
              <a:t> </a:t>
            </a:r>
            <a:r>
              <a:rPr dirty="0"/>
              <a:t>control,</a:t>
            </a:r>
            <a:r>
              <a:rPr spc="505" dirty="0"/>
              <a:t> </a:t>
            </a:r>
            <a:r>
              <a:rPr dirty="0"/>
              <a:t>this</a:t>
            </a:r>
            <a:r>
              <a:rPr spc="490" dirty="0"/>
              <a:t> </a:t>
            </a:r>
            <a:r>
              <a:rPr dirty="0"/>
              <a:t>would</a:t>
            </a:r>
            <a:r>
              <a:rPr spc="509" dirty="0"/>
              <a:t> </a:t>
            </a:r>
            <a:r>
              <a:rPr dirty="0"/>
              <a:t>cause</a:t>
            </a:r>
            <a:r>
              <a:rPr spc="500" dirty="0"/>
              <a:t> </a:t>
            </a:r>
            <a:r>
              <a:rPr spc="-25" dirty="0"/>
              <a:t>the 	</a:t>
            </a:r>
            <a:r>
              <a:rPr dirty="0"/>
              <a:t>lamp</a:t>
            </a:r>
            <a:r>
              <a:rPr spc="-6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draw</a:t>
            </a:r>
            <a:r>
              <a:rPr spc="-80" dirty="0"/>
              <a:t> </a:t>
            </a:r>
            <a:r>
              <a:rPr dirty="0"/>
              <a:t>excessive</a:t>
            </a:r>
            <a:r>
              <a:rPr spc="-45" dirty="0"/>
              <a:t> </a:t>
            </a:r>
            <a:r>
              <a:rPr dirty="0"/>
              <a:t>current</a:t>
            </a:r>
            <a:r>
              <a:rPr spc="-8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burn</a:t>
            </a:r>
            <a:r>
              <a:rPr spc="-60" dirty="0"/>
              <a:t> </a:t>
            </a:r>
            <a:r>
              <a:rPr spc="-20" dirty="0"/>
              <a:t>out.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651" y="3730477"/>
            <a:ext cx="4322208" cy="31258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89512" y="426127"/>
            <a:ext cx="82772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Discharge</a:t>
            </a:r>
            <a:r>
              <a:rPr spc="-50" dirty="0"/>
              <a:t> </a:t>
            </a:r>
            <a:r>
              <a:rPr dirty="0"/>
              <a:t>Lamp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35" dirty="0"/>
              <a:t> </a:t>
            </a:r>
            <a:r>
              <a:rPr spc="-20" dirty="0"/>
              <a:t>Gear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660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AC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Operation: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operated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power.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Limiting: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inductor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(choke)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series 	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supply.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Transformer</a:t>
            </a:r>
            <a:r>
              <a:rPr sz="2200" b="1" spc="3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Use:</a:t>
            </a:r>
            <a:r>
              <a:rPr sz="2200"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running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higher 	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normal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supply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voltage.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37373" y="124572"/>
            <a:ext cx="538289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 marR="5080" indent="-96520">
              <a:lnSpc>
                <a:spcPct val="100200"/>
              </a:lnSpc>
              <a:spcBef>
                <a:spcPts val="100"/>
              </a:spcBef>
            </a:pPr>
            <a:r>
              <a:rPr dirty="0"/>
              <a:t>Fluorescent</a:t>
            </a:r>
            <a:r>
              <a:rPr spc="-65" dirty="0"/>
              <a:t> </a:t>
            </a:r>
            <a:r>
              <a:rPr spc="-10" dirty="0"/>
              <a:t>Tubes: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Dual</a:t>
            </a:r>
            <a:r>
              <a:rPr spc="-2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4957" y="1445156"/>
            <a:ext cx="870966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592705" algn="l"/>
                <a:tab pos="3615690" algn="l"/>
                <a:tab pos="5314315" algn="l"/>
                <a:tab pos="6817359" algn="l"/>
                <a:tab pos="7782559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Complexity: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More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physically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complex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simple 	</a:t>
            </a:r>
            <a:r>
              <a:rPr sz="2200" dirty="0">
                <a:latin typeface="Verdana"/>
                <a:cs typeface="Verdana"/>
              </a:rPr>
              <a:t>discharge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tubes.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Serial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Conversion: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Incorporates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conversions 	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series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produce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4750" y="426127"/>
            <a:ext cx="838580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Fluorescent</a:t>
            </a:r>
            <a:r>
              <a:rPr spc="-45" dirty="0"/>
              <a:t> </a:t>
            </a:r>
            <a:r>
              <a:rPr dirty="0"/>
              <a:t>Conversion</a:t>
            </a:r>
            <a:r>
              <a:rPr spc="-65" dirty="0"/>
              <a:t> </a:t>
            </a:r>
            <a:r>
              <a:rPr spc="-10" dirty="0"/>
              <a:t>Steps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17" y="1445156"/>
            <a:ext cx="9213215" cy="50546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1:</a:t>
            </a:r>
            <a:endParaRPr sz="2200">
              <a:latin typeface="Verdana"/>
              <a:cs typeface="Verdana"/>
            </a:endParaRPr>
          </a:p>
          <a:p>
            <a:pPr marL="883919" marR="6350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  <a:tab pos="2744470" algn="l"/>
                <a:tab pos="4906010" algn="l"/>
                <a:tab pos="6459220" algn="l"/>
                <a:tab pos="7717155" algn="l"/>
                <a:tab pos="903033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Discharge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energy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creates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discharge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mercury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vapour.</a:t>
            </a:r>
            <a:endParaRPr sz="2200">
              <a:latin typeface="Verdana"/>
              <a:cs typeface="Verdana"/>
            </a:endParaRPr>
          </a:p>
          <a:p>
            <a:pPr marL="883919" marR="5080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Primary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Output: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mostly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violet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ultraviolet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(UV)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2:</a:t>
            </a:r>
            <a:endParaRPr sz="2200">
              <a:latin typeface="Verdana"/>
              <a:cs typeface="Verdana"/>
            </a:endParaRPr>
          </a:p>
          <a:p>
            <a:pPr marL="883919" marR="5080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Phosphor</a:t>
            </a:r>
            <a:r>
              <a:rPr sz="2200" b="1" spc="3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Coating:</a:t>
            </a:r>
            <a:r>
              <a:rPr sz="2200" b="1" spc="3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tube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coated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internally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phosphor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  <a:p>
            <a:pPr marL="883919" marR="8255" lvl="1" indent="-368935">
              <a:lnSpc>
                <a:spcPct val="150000"/>
              </a:lnSpc>
              <a:buFont typeface="Wingdings"/>
              <a:buChar char=""/>
              <a:tabLst>
                <a:tab pos="883919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Frequency-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Changer: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phosphor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frequency-</a:t>
            </a:r>
            <a:r>
              <a:rPr sz="2200" spc="-35" dirty="0">
                <a:latin typeface="Verdana"/>
                <a:cs typeface="Verdana"/>
              </a:rPr>
              <a:t>changer,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converting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UV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35926" y="426127"/>
            <a:ext cx="63887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Phosphor</a:t>
            </a:r>
            <a:r>
              <a:rPr spc="-35" dirty="0"/>
              <a:t> </a:t>
            </a:r>
            <a:r>
              <a:rPr spc="-10" dirty="0"/>
              <a:t>Composition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96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049780" algn="l"/>
                <a:tab pos="3070860" algn="l"/>
                <a:tab pos="4445635" algn="l"/>
                <a:tab pos="5301615" algn="l"/>
                <a:tab pos="6947534" algn="l"/>
                <a:tab pos="84283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Metal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silicates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controlled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amounts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spc="-10" dirty="0">
                <a:latin typeface="Verdana"/>
                <a:cs typeface="Verdana"/>
              </a:rPr>
              <a:t>impurities.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Versatility: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composition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different 	</a:t>
            </a:r>
            <a:r>
              <a:rPr sz="2200" dirty="0">
                <a:latin typeface="Verdana"/>
                <a:cs typeface="Verdana"/>
              </a:rPr>
              <a:t>conversion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efficiencies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spectrums.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Relation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2200" b="1" spc="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CRT: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essentially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same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those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cathode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tube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coatings.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4396" y="426127"/>
            <a:ext cx="83483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Sunlight</a:t>
            </a:r>
            <a:r>
              <a:rPr spc="-5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Colour</a:t>
            </a:r>
            <a:r>
              <a:rPr spc="-4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077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Sunlight</a:t>
            </a:r>
            <a:r>
              <a:rPr sz="2200" b="1" spc="5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Versions:</a:t>
            </a:r>
            <a:r>
              <a:rPr sz="2200" b="1" spc="5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phosphors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mimic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mid-	</a:t>
            </a:r>
            <a:r>
              <a:rPr sz="2200" dirty="0">
                <a:latin typeface="Verdana"/>
                <a:cs typeface="Verdana"/>
              </a:rPr>
              <a:t>day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sunlight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professional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colour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matching.</a:t>
            </a:r>
            <a:endParaRPr sz="2200">
              <a:latin typeface="Verdana"/>
              <a:cs typeface="Verdana"/>
            </a:endParaRPr>
          </a:p>
          <a:p>
            <a:pPr marL="389255" marR="571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Warm</a:t>
            </a:r>
            <a:r>
              <a:rPr sz="2200" b="1" spc="3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Versions:</a:t>
            </a:r>
            <a:r>
              <a:rPr sz="2200" b="1" spc="3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Domestic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tubes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biased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toward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red 	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mimic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feel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incandescent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lamps.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88859" y="426127"/>
            <a:ext cx="58813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Switch-</a:t>
            </a:r>
            <a:r>
              <a:rPr dirty="0"/>
              <a:t>Start</a:t>
            </a:r>
            <a:r>
              <a:rPr spc="10" dirty="0"/>
              <a:t> </a:t>
            </a:r>
            <a:r>
              <a:rPr spc="-10" dirty="0"/>
              <a:t>Circuits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179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Components:</a:t>
            </a:r>
            <a:r>
              <a:rPr b="1" spc="3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Uses</a:t>
            </a:r>
            <a:r>
              <a:rPr spc="370" dirty="0"/>
              <a:t> </a:t>
            </a:r>
            <a:r>
              <a:rPr dirty="0"/>
              <a:t>an</a:t>
            </a:r>
            <a:r>
              <a:rPr spc="390" dirty="0"/>
              <a:t> </a:t>
            </a:r>
            <a:r>
              <a:rPr dirty="0"/>
              <a:t>inductor</a:t>
            </a:r>
            <a:r>
              <a:rPr spc="375" dirty="0"/>
              <a:t> </a:t>
            </a:r>
            <a:r>
              <a:rPr dirty="0"/>
              <a:t>(choke),</a:t>
            </a:r>
            <a:r>
              <a:rPr spc="385" dirty="0"/>
              <a:t> </a:t>
            </a:r>
            <a:r>
              <a:rPr dirty="0"/>
              <a:t>a</a:t>
            </a:r>
            <a:r>
              <a:rPr spc="370" dirty="0"/>
              <a:t> </a:t>
            </a:r>
            <a:r>
              <a:rPr dirty="0"/>
              <a:t>power</a:t>
            </a:r>
            <a:r>
              <a:rPr spc="355" dirty="0"/>
              <a:t> </a:t>
            </a:r>
            <a:r>
              <a:rPr spc="-10" dirty="0"/>
              <a:t>factor 	</a:t>
            </a:r>
            <a:r>
              <a:rPr spc="-35" dirty="0"/>
              <a:t>capacitor,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starter</a:t>
            </a:r>
            <a:r>
              <a:rPr spc="-55" dirty="0"/>
              <a:t> </a:t>
            </a:r>
            <a:r>
              <a:rPr spc="-10" dirty="0"/>
              <a:t>switch.</a:t>
            </a:r>
          </a:p>
          <a:p>
            <a:pPr marL="390525" marR="5715" indent="-377190">
              <a:lnSpc>
                <a:spcPct val="150000"/>
              </a:lnSpc>
              <a:buFont typeface="Wingdings"/>
              <a:buChar char=""/>
              <a:tabLst>
                <a:tab pos="39179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A</a:t>
            </a:r>
            <a:r>
              <a:rPr spc="-50" dirty="0"/>
              <a:t>  </a:t>
            </a:r>
            <a:r>
              <a:rPr dirty="0"/>
              <a:t>thermal</a:t>
            </a:r>
            <a:r>
              <a:rPr spc="-45" dirty="0"/>
              <a:t>  </a:t>
            </a:r>
            <a:r>
              <a:rPr dirty="0"/>
              <a:t>timeswitch</a:t>
            </a:r>
            <a:r>
              <a:rPr spc="-50" dirty="0"/>
              <a:t>  </a:t>
            </a:r>
            <a:r>
              <a:rPr dirty="0"/>
              <a:t>heats</a:t>
            </a:r>
            <a:r>
              <a:rPr spc="-55" dirty="0"/>
              <a:t>  </a:t>
            </a:r>
            <a:r>
              <a:rPr dirty="0"/>
              <a:t>the</a:t>
            </a:r>
            <a:r>
              <a:rPr spc="-55" dirty="0"/>
              <a:t>  </a:t>
            </a:r>
            <a:r>
              <a:rPr spc="-10" dirty="0"/>
              <a:t>filaments 	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then</a:t>
            </a:r>
            <a:r>
              <a:rPr spc="-55" dirty="0"/>
              <a:t> </a:t>
            </a:r>
            <a:r>
              <a:rPr dirty="0"/>
              <a:t>breaks</a:t>
            </a:r>
            <a:r>
              <a:rPr spc="-3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circuit.</a:t>
            </a:r>
          </a:p>
          <a:p>
            <a:pPr marL="390525" marR="5080" indent="-377190">
              <a:lnSpc>
                <a:spcPct val="150000"/>
              </a:lnSpc>
              <a:buFont typeface="Wingdings"/>
              <a:buChar char=""/>
              <a:tabLst>
                <a:tab pos="391795" algn="l"/>
              </a:tabLst>
            </a:pP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Back-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EMF:</a:t>
            </a:r>
            <a:r>
              <a:rPr b="1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Breaking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contact</a:t>
            </a:r>
            <a:r>
              <a:rPr spc="30" dirty="0"/>
              <a:t> </a:t>
            </a:r>
            <a:r>
              <a:rPr dirty="0"/>
              <a:t>generates</a:t>
            </a:r>
            <a:r>
              <a:rPr spc="4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high</a:t>
            </a:r>
            <a:r>
              <a:rPr spc="60" dirty="0"/>
              <a:t> </a:t>
            </a:r>
            <a:r>
              <a:rPr spc="-10" dirty="0"/>
              <a:t>voltage 	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strikes</a:t>
            </a:r>
            <a:r>
              <a:rPr spc="-3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ignition.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1381" y="4750027"/>
            <a:ext cx="5826829" cy="2360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8651" y="426127"/>
            <a:ext cx="95408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Environmental</a:t>
            </a:r>
            <a:r>
              <a:rPr spc="-40" dirty="0"/>
              <a:t> </a:t>
            </a:r>
            <a:r>
              <a:rPr dirty="0"/>
              <a:t>Factors</a:t>
            </a:r>
            <a:r>
              <a:rPr spc="-3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Starting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Mercury</a:t>
            </a:r>
            <a:r>
              <a:rPr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Vaporization:</a:t>
            </a:r>
            <a:r>
              <a:rPr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Mercury</a:t>
            </a:r>
            <a:r>
              <a:rPr spc="-75" dirty="0"/>
              <a:t>  </a:t>
            </a:r>
            <a:r>
              <a:rPr dirty="0"/>
              <a:t>must</a:t>
            </a:r>
            <a:r>
              <a:rPr spc="-70" dirty="0"/>
              <a:t>  </a:t>
            </a:r>
            <a:r>
              <a:rPr dirty="0"/>
              <a:t>be</a:t>
            </a:r>
            <a:r>
              <a:rPr spc="-70" dirty="0"/>
              <a:t>  </a:t>
            </a:r>
            <a:r>
              <a:rPr dirty="0"/>
              <a:t>vaporized</a:t>
            </a:r>
            <a:r>
              <a:rPr spc="-80" dirty="0"/>
              <a:t>  </a:t>
            </a:r>
            <a:r>
              <a:rPr spc="-25" dirty="0"/>
              <a:t>to 	</a:t>
            </a:r>
            <a:r>
              <a:rPr dirty="0"/>
              <a:t>reach</a:t>
            </a:r>
            <a:r>
              <a:rPr spc="-65" dirty="0"/>
              <a:t> </a:t>
            </a:r>
            <a:r>
              <a:rPr dirty="0"/>
              <a:t>sufficient</a:t>
            </a:r>
            <a:r>
              <a:rPr spc="-90" dirty="0"/>
              <a:t> </a:t>
            </a:r>
            <a:r>
              <a:rPr dirty="0"/>
              <a:t>pressure</a:t>
            </a:r>
            <a:r>
              <a:rPr spc="-70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spc="-10" dirty="0"/>
              <a:t>starting.</a:t>
            </a:r>
          </a:p>
          <a:p>
            <a:pPr marL="389255" marR="5080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Cold</a:t>
            </a: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Conditions: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Low</a:t>
            </a:r>
            <a:r>
              <a:rPr spc="-50" dirty="0"/>
              <a:t>  </a:t>
            </a:r>
            <a:r>
              <a:rPr dirty="0"/>
              <a:t>temperatures</a:t>
            </a:r>
            <a:r>
              <a:rPr spc="-55" dirty="0"/>
              <a:t>  </a:t>
            </a:r>
            <a:r>
              <a:rPr dirty="0"/>
              <a:t>(e.g.,</a:t>
            </a:r>
            <a:r>
              <a:rPr spc="-55" dirty="0"/>
              <a:t>  </a:t>
            </a:r>
            <a:r>
              <a:rPr dirty="0"/>
              <a:t>in</a:t>
            </a:r>
            <a:r>
              <a:rPr spc="-45" dirty="0"/>
              <a:t>  </a:t>
            </a:r>
            <a:r>
              <a:rPr dirty="0"/>
              <a:t>a</a:t>
            </a:r>
            <a:r>
              <a:rPr spc="-55" dirty="0"/>
              <a:t>  </a:t>
            </a:r>
            <a:r>
              <a:rPr spc="-10" dirty="0"/>
              <a:t>winter 	</a:t>
            </a:r>
            <a:r>
              <a:rPr dirty="0"/>
              <a:t>garage)</a:t>
            </a:r>
            <a:r>
              <a:rPr spc="-45" dirty="0"/>
              <a:t> </a:t>
            </a:r>
            <a:r>
              <a:rPr dirty="0"/>
              <a:t>make</a:t>
            </a:r>
            <a:r>
              <a:rPr spc="-70" dirty="0"/>
              <a:t> </a:t>
            </a:r>
            <a:r>
              <a:rPr dirty="0"/>
              <a:t>starting</a:t>
            </a:r>
            <a:r>
              <a:rPr spc="-65" dirty="0"/>
              <a:t> </a:t>
            </a:r>
            <a:r>
              <a:rPr dirty="0"/>
              <a:t>difficult</a:t>
            </a:r>
            <a:r>
              <a:rPr spc="-105" dirty="0"/>
              <a:t> </a:t>
            </a:r>
            <a:r>
              <a:rPr dirty="0"/>
              <a:t>or</a:t>
            </a:r>
            <a:r>
              <a:rPr spc="-70" dirty="0"/>
              <a:t> </a:t>
            </a:r>
            <a:r>
              <a:rPr spc="-10" dirty="0"/>
              <a:t>impossible.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45776" y="426127"/>
            <a:ext cx="55645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Quick-</a:t>
            </a:r>
            <a:r>
              <a:rPr dirty="0"/>
              <a:t>Start</a:t>
            </a:r>
            <a:r>
              <a:rPr spc="-20" dirty="0"/>
              <a:t> </a:t>
            </a:r>
            <a:r>
              <a:rPr spc="-10" dirty="0"/>
              <a:t>Circuits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871093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Mercury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Vaporization: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Mercury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vaporized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sufficient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starting.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Quick-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Start:</a:t>
            </a:r>
            <a:r>
              <a:rPr sz="2200" b="1" spc="4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Employs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transformer</a:t>
            </a:r>
            <a:r>
              <a:rPr sz="2200" spc="4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separate 	</a:t>
            </a:r>
            <a:r>
              <a:rPr sz="2200" dirty="0">
                <a:latin typeface="Verdana"/>
                <a:cs typeface="Verdana"/>
              </a:rPr>
              <a:t>windings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heater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filaments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high-impedance 	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ignition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voltage.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tube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instantly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flickering.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97807" y="426127"/>
            <a:ext cx="80657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Modern</a:t>
            </a:r>
            <a:r>
              <a:rPr spc="-40" dirty="0"/>
              <a:t> </a:t>
            </a:r>
            <a:r>
              <a:rPr dirty="0"/>
              <a:t>Electronic</a:t>
            </a:r>
            <a:r>
              <a:rPr spc="-45" dirty="0"/>
              <a:t> </a:t>
            </a:r>
            <a:r>
              <a:rPr spc="-10" dirty="0"/>
              <a:t>Converter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Converters:</a:t>
            </a:r>
            <a:r>
              <a:rPr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Modern</a:t>
            </a:r>
            <a:r>
              <a:rPr spc="-110" dirty="0"/>
              <a:t>  </a:t>
            </a:r>
            <a:r>
              <a:rPr dirty="0"/>
              <a:t>versions</a:t>
            </a:r>
            <a:r>
              <a:rPr spc="-114" dirty="0"/>
              <a:t>  </a:t>
            </a:r>
            <a:r>
              <a:rPr dirty="0"/>
              <a:t>use</a:t>
            </a:r>
            <a:r>
              <a:rPr spc="-110" dirty="0"/>
              <a:t>  </a:t>
            </a:r>
            <a:r>
              <a:rPr spc="-10" dirty="0"/>
              <a:t>electronic 	</a:t>
            </a:r>
            <a:r>
              <a:rPr dirty="0"/>
              <a:t>circuits</a:t>
            </a:r>
            <a:r>
              <a:rPr spc="-11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generate</a:t>
            </a:r>
            <a:r>
              <a:rPr spc="-80" dirty="0"/>
              <a:t> </a:t>
            </a:r>
            <a:r>
              <a:rPr dirty="0"/>
              <a:t>necessary</a:t>
            </a:r>
            <a:r>
              <a:rPr spc="-90" dirty="0"/>
              <a:t> </a:t>
            </a:r>
            <a:r>
              <a:rPr spc="-10" dirty="0"/>
              <a:t>voltages.</a:t>
            </a:r>
          </a:p>
          <a:p>
            <a:pPr marL="389255" marR="8255" indent="-377190">
              <a:lnSpc>
                <a:spcPct val="150000"/>
              </a:lnSpc>
              <a:buFont typeface="Wingdings"/>
              <a:buChar char=""/>
              <a:tabLst>
                <a:tab pos="390525" algn="l"/>
                <a:tab pos="2066289" algn="l"/>
                <a:tab pos="3303904" algn="l"/>
                <a:tab pos="4784725" algn="l"/>
                <a:tab pos="5549265" algn="l"/>
                <a:tab pos="6826250" algn="l"/>
                <a:tab pos="7763509" algn="l"/>
                <a:tab pos="8352155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Compact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Units: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pc="-10" dirty="0"/>
              <a:t>Allowing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control</a:t>
            </a:r>
            <a:r>
              <a:rPr dirty="0"/>
              <a:t>	</a:t>
            </a:r>
            <a:r>
              <a:rPr spc="-20" dirty="0"/>
              <a:t>gear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5" dirty="0"/>
              <a:t>be 	</a:t>
            </a:r>
            <a:r>
              <a:rPr dirty="0"/>
              <a:t>integrated</a:t>
            </a:r>
            <a:r>
              <a:rPr spc="-35" dirty="0"/>
              <a:t> </a:t>
            </a:r>
            <a:r>
              <a:rPr dirty="0"/>
              <a:t>into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single</a:t>
            </a:r>
            <a:r>
              <a:rPr spc="-65" dirty="0"/>
              <a:t> </a:t>
            </a:r>
            <a:r>
              <a:rPr dirty="0"/>
              <a:t>unit</a:t>
            </a:r>
            <a:r>
              <a:rPr spc="-55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fits</a:t>
            </a:r>
            <a:r>
              <a:rPr spc="-50" dirty="0"/>
              <a:t> </a:t>
            </a:r>
            <a:r>
              <a:rPr dirty="0"/>
              <a:t>domestic</a:t>
            </a:r>
            <a:r>
              <a:rPr spc="-35" dirty="0"/>
              <a:t> </a:t>
            </a:r>
            <a:r>
              <a:rPr spc="-10" dirty="0"/>
              <a:t>sockets.</a:t>
            </a: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pc="-10" dirty="0"/>
          </a:p>
          <a:p>
            <a:pPr marL="12700" marR="6350" algn="just">
              <a:lnSpc>
                <a:spcPct val="150000"/>
              </a:lnSpc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Comparison: </a:t>
            </a:r>
            <a:r>
              <a:rPr dirty="0"/>
              <a:t>While electronic units are efficient and </a:t>
            </a:r>
            <a:r>
              <a:rPr spc="-10" dirty="0"/>
              <a:t>long-</a:t>
            </a:r>
            <a:r>
              <a:rPr dirty="0"/>
              <a:t>lasting, some integrated compact lamps still use the </a:t>
            </a:r>
            <a:r>
              <a:rPr spc="-10" dirty="0"/>
              <a:t>switch-</a:t>
            </a:r>
            <a:r>
              <a:rPr dirty="0"/>
              <a:t>start</a:t>
            </a:r>
            <a:r>
              <a:rPr spc="-40" dirty="0"/>
              <a:t> </a:t>
            </a:r>
            <a:r>
              <a:rPr dirty="0"/>
              <a:t>principle</a:t>
            </a:r>
            <a:r>
              <a:rPr spc="-6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suffer</a:t>
            </a:r>
            <a:r>
              <a:rPr spc="-6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slow</a:t>
            </a:r>
            <a:r>
              <a:rPr spc="-50" dirty="0"/>
              <a:t> </a:t>
            </a:r>
            <a:r>
              <a:rPr spc="-30" dirty="0"/>
              <a:t>warm-</a:t>
            </a:r>
            <a:r>
              <a:rPr dirty="0"/>
              <a:t>ups</a:t>
            </a:r>
            <a:r>
              <a:rPr spc="-1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flickering.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2948" y="426127"/>
            <a:ext cx="93516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Comparison</a:t>
            </a:r>
            <a:r>
              <a:rPr spc="-55" dirty="0"/>
              <a:t> </a:t>
            </a:r>
            <a:r>
              <a:rPr dirty="0"/>
              <a:t>of Light</a:t>
            </a:r>
            <a:r>
              <a:rPr spc="-15" dirty="0"/>
              <a:t> </a:t>
            </a:r>
            <a:r>
              <a:rPr spc="-10" dirty="0"/>
              <a:t>Transducers</a:t>
            </a:r>
          </a:p>
        </p:txBody>
      </p:sp>
      <p:sp>
        <p:nvSpPr>
          <p:cNvPr id="5" name="object 5"/>
          <p:cNvSpPr/>
          <p:nvPr/>
        </p:nvSpPr>
        <p:spPr>
          <a:xfrm>
            <a:off x="316991" y="7357871"/>
            <a:ext cx="9482455" cy="0"/>
          </a:xfrm>
          <a:custGeom>
            <a:avLst/>
            <a:gdLst/>
            <a:ahLst/>
            <a:cxnLst/>
            <a:rect l="l" t="t" r="r" b="b"/>
            <a:pathLst>
              <a:path w="9482455">
                <a:moveTo>
                  <a:pt x="0" y="0"/>
                </a:moveTo>
                <a:lnTo>
                  <a:pt x="9482328" y="0"/>
                </a:lnTo>
              </a:path>
            </a:pathLst>
          </a:custGeom>
          <a:ln w="106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91463" y="1509764"/>
            <a:ext cx="2177415" cy="580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326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Fluorescent Tubes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High;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approximately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five</a:t>
            </a:r>
            <a:r>
              <a:rPr sz="165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times</a:t>
            </a:r>
            <a:r>
              <a:rPr sz="16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that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of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incandescent</a:t>
            </a:r>
            <a:r>
              <a:rPr sz="1650" spc="-10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lamps.</a:t>
            </a:r>
            <a:endParaRPr sz="1650">
              <a:latin typeface="Verdana"/>
              <a:cs typeface="Verdana"/>
            </a:endParaRPr>
          </a:p>
          <a:p>
            <a:pPr marL="12700" marR="298450">
              <a:lnSpc>
                <a:spcPct val="100000"/>
              </a:lnSpc>
              <a:spcBef>
                <a:spcPts val="157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Highly</a:t>
            </a:r>
            <a:r>
              <a:rPr sz="16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flexible;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depends</a:t>
            </a:r>
            <a:r>
              <a:rPr sz="165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on</a:t>
            </a:r>
            <a:r>
              <a:rPr sz="165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the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internal</a:t>
            </a:r>
            <a:r>
              <a:rPr sz="1650" spc="-8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phosphor coating.</a:t>
            </a:r>
            <a:endParaRPr sz="1650">
              <a:latin typeface="Verdana"/>
              <a:cs typeface="Verdana"/>
            </a:endParaRPr>
          </a:p>
          <a:p>
            <a:pPr marL="12700" marR="27305">
              <a:lnSpc>
                <a:spcPct val="100000"/>
              </a:lnSpc>
              <a:spcBef>
                <a:spcPts val="82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Requires</a:t>
            </a:r>
            <a:r>
              <a:rPr sz="1650" spc="-1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mercury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vaporization</a:t>
            </a:r>
            <a:r>
              <a:rPr sz="1650" spc="-1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and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often</a:t>
            </a:r>
            <a:r>
              <a:rPr sz="16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 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high-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voltage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back-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EMF.</a:t>
            </a:r>
            <a:endParaRPr sz="1650">
              <a:latin typeface="Verdana"/>
              <a:cs typeface="Verdana"/>
            </a:endParaRPr>
          </a:p>
          <a:p>
            <a:pPr marL="12700" marR="19050">
              <a:lnSpc>
                <a:spcPct val="100000"/>
              </a:lnSpc>
              <a:spcBef>
                <a:spcPts val="840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Requires</a:t>
            </a:r>
            <a:r>
              <a:rPr sz="165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starter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switch/choke</a:t>
            </a:r>
            <a:r>
              <a:rPr sz="1650" spc="-1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or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electronic</a:t>
            </a:r>
            <a:r>
              <a:rPr sz="1650" spc="-9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converter.</a:t>
            </a:r>
            <a:endParaRPr sz="1650">
              <a:latin typeface="Verdana"/>
              <a:cs typeface="Verdana"/>
            </a:endParaRPr>
          </a:p>
          <a:p>
            <a:pPr marL="12700" marR="172085">
              <a:lnSpc>
                <a:spcPct val="100000"/>
              </a:lnSpc>
              <a:spcBef>
                <a:spcPts val="830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Domestic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use,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offices,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and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professional</a:t>
            </a:r>
            <a:r>
              <a:rPr sz="165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colour matching.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6778" y="1509764"/>
            <a:ext cx="1850389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Gas-Discharge Lamps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5954" y="1509764"/>
            <a:ext cx="1729739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Incandescent Lamps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098" y="1643874"/>
            <a:ext cx="112649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Features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6751" y="2370876"/>
            <a:ext cx="255397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High;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at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least</a:t>
            </a:r>
            <a:r>
              <a:rPr sz="165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five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times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that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of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filament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lamps.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5936" y="2370876"/>
            <a:ext cx="196532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Lowest</a:t>
            </a:r>
            <a:r>
              <a:rPr sz="165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conversion efficiency.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098" y="2489663"/>
            <a:ext cx="123761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Efficiency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6751" y="3326422"/>
            <a:ext cx="259715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Often</a:t>
            </a:r>
            <a:r>
              <a:rPr sz="1650" spc="-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monochromatic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or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limited</a:t>
            </a:r>
            <a:r>
              <a:rPr sz="1650" spc="-1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specific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spectral</a:t>
            </a:r>
            <a:r>
              <a:rPr sz="165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lines.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5936" y="3326422"/>
            <a:ext cx="192786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Biased</a:t>
            </a:r>
            <a:r>
              <a:rPr sz="16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toward</a:t>
            </a:r>
            <a:r>
              <a:rPr sz="165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the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red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end</a:t>
            </a:r>
            <a:r>
              <a:rPr sz="165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of</a:t>
            </a:r>
            <a:r>
              <a:rPr sz="1650" spc="-1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the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spectrum.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098" y="3436089"/>
            <a:ext cx="106108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Spectral Output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6751" y="4437341"/>
            <a:ext cx="214185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Requires</a:t>
            </a:r>
            <a:r>
              <a:rPr sz="165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high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"striking"</a:t>
            </a:r>
            <a:r>
              <a:rPr sz="165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r>
              <a:rPr sz="165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ignition voltage.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5936" y="4562317"/>
            <a:ext cx="223075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Immediate</a:t>
            </a:r>
            <a:r>
              <a:rPr sz="1650" spc="-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1F1F1F"/>
                </a:solidFill>
                <a:latin typeface="Verdana"/>
                <a:cs typeface="Verdana"/>
              </a:rPr>
              <a:t>upon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heating</a:t>
            </a:r>
            <a:r>
              <a:rPr sz="1650" spc="-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the</a:t>
            </a:r>
            <a:r>
              <a:rPr sz="165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filament.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8098" y="4547035"/>
            <a:ext cx="143192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Starting Mechanism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6751" y="5423387"/>
            <a:ext cx="244348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Requires</a:t>
            </a:r>
            <a:r>
              <a:rPr sz="165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an</a:t>
            </a:r>
            <a:r>
              <a:rPr sz="165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inductor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(choke)</a:t>
            </a:r>
            <a:r>
              <a:rPr sz="165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r>
              <a:rPr sz="1650" spc="-3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transformer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r>
              <a:rPr sz="165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limit</a:t>
            </a:r>
            <a:r>
              <a:rPr sz="1650" spc="-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current.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15936" y="5423387"/>
            <a:ext cx="223139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None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required;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connected</a:t>
            </a:r>
            <a:r>
              <a:rPr sz="165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directly</a:t>
            </a:r>
            <a:r>
              <a:rPr sz="165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to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</a:t>
            </a:r>
            <a:r>
              <a:rPr sz="1650" spc="-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source.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098" y="5667169"/>
            <a:ext cx="161099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Control</a:t>
            </a: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spc="-20" dirty="0">
                <a:solidFill>
                  <a:srgbClr val="FF0000"/>
                </a:solidFill>
                <a:latin typeface="Verdana"/>
                <a:cs typeface="Verdana"/>
              </a:rPr>
              <a:t>Gear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46751" y="6409458"/>
            <a:ext cx="2413635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Street</a:t>
            </a:r>
            <a:r>
              <a:rPr sz="1650" spc="-8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illumination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(Sodium/Mercury)</a:t>
            </a:r>
            <a:r>
              <a:rPr sz="1650" spc="-1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Verdana"/>
                <a:cs typeface="Verdana"/>
              </a:rPr>
              <a:t>and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advertising</a:t>
            </a:r>
            <a:r>
              <a:rPr sz="1650" spc="-10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signs.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15936" y="6534421"/>
            <a:ext cx="227901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Simple</a:t>
            </a:r>
            <a:r>
              <a:rPr sz="1650" spc="-4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domestic </a:t>
            </a:r>
            <a:r>
              <a:rPr sz="1650" dirty="0">
                <a:solidFill>
                  <a:srgbClr val="1F1F1F"/>
                </a:solidFill>
                <a:latin typeface="Verdana"/>
                <a:cs typeface="Verdana"/>
              </a:rPr>
              <a:t>lighting</a:t>
            </a:r>
            <a:r>
              <a:rPr sz="1650" spc="-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Verdana"/>
                <a:cs typeface="Verdana"/>
              </a:rPr>
              <a:t>(historically).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098" y="6519085"/>
            <a:ext cx="113093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-10" dirty="0">
                <a:solidFill>
                  <a:srgbClr val="FF0000"/>
                </a:solidFill>
                <a:latin typeface="Verdana"/>
                <a:cs typeface="Verdana"/>
              </a:rPr>
              <a:t>Common </a:t>
            </a:r>
            <a:r>
              <a:rPr sz="1750" b="1" spc="-20" dirty="0">
                <a:solidFill>
                  <a:srgbClr val="FF0000"/>
                </a:solidFill>
                <a:latin typeface="Verdana"/>
                <a:cs typeface="Verdana"/>
              </a:rPr>
              <a:t>Uses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84055" y="426127"/>
            <a:ext cx="80943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Performance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Efficiency:</a:t>
            </a:r>
            <a:r>
              <a:rPr b="1" spc="3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Fluorescent</a:t>
            </a:r>
            <a:r>
              <a:rPr spc="365" dirty="0"/>
              <a:t> </a:t>
            </a:r>
            <a:r>
              <a:rPr dirty="0"/>
              <a:t>lamps</a:t>
            </a:r>
            <a:r>
              <a:rPr spc="365" dirty="0"/>
              <a:t> </a:t>
            </a:r>
            <a:r>
              <a:rPr dirty="0"/>
              <a:t>remain</a:t>
            </a:r>
            <a:r>
              <a:rPr spc="365" dirty="0"/>
              <a:t> </a:t>
            </a:r>
            <a:r>
              <a:rPr dirty="0"/>
              <a:t>roughly</a:t>
            </a:r>
            <a:r>
              <a:rPr spc="365" dirty="0"/>
              <a:t> </a:t>
            </a:r>
            <a:r>
              <a:rPr dirty="0"/>
              <a:t>five</a:t>
            </a:r>
            <a:r>
              <a:rPr spc="360" dirty="0"/>
              <a:t> </a:t>
            </a:r>
            <a:r>
              <a:rPr spc="-10" dirty="0"/>
              <a:t>times 	</a:t>
            </a:r>
            <a:r>
              <a:rPr dirty="0"/>
              <a:t>as</a:t>
            </a:r>
            <a:r>
              <a:rPr spc="-70" dirty="0"/>
              <a:t> </a:t>
            </a:r>
            <a:r>
              <a:rPr dirty="0"/>
              <a:t>efficient</a:t>
            </a:r>
            <a:r>
              <a:rPr spc="-7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incandescent</a:t>
            </a:r>
            <a:r>
              <a:rPr spc="-100" dirty="0"/>
              <a:t> </a:t>
            </a:r>
            <a:r>
              <a:rPr spc="-10" dirty="0"/>
              <a:t>lamps.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Limitations: </a:t>
            </a:r>
            <a:r>
              <a:rPr dirty="0"/>
              <a:t>Compact domestic types have a slow </a:t>
            </a:r>
            <a:r>
              <a:rPr spc="-10" dirty="0"/>
              <a:t>warm-	</a:t>
            </a:r>
            <a:r>
              <a:rPr dirty="0"/>
              <a:t>up</a:t>
            </a:r>
            <a:r>
              <a:rPr spc="130" dirty="0"/>
              <a:t>  </a:t>
            </a:r>
            <a:r>
              <a:rPr dirty="0"/>
              <a:t>period,</a:t>
            </a:r>
            <a:r>
              <a:rPr spc="120" dirty="0"/>
              <a:t>  </a:t>
            </a:r>
            <a:r>
              <a:rPr dirty="0"/>
              <a:t>taking</a:t>
            </a:r>
            <a:r>
              <a:rPr spc="130" dirty="0"/>
              <a:t>  </a:t>
            </a:r>
            <a:r>
              <a:rPr dirty="0"/>
              <a:t>several</a:t>
            </a:r>
            <a:r>
              <a:rPr spc="145" dirty="0"/>
              <a:t>  </a:t>
            </a:r>
            <a:r>
              <a:rPr dirty="0"/>
              <a:t>minutes</a:t>
            </a:r>
            <a:r>
              <a:rPr spc="120" dirty="0"/>
              <a:t>  </a:t>
            </a:r>
            <a:r>
              <a:rPr dirty="0"/>
              <a:t>to</a:t>
            </a:r>
            <a:r>
              <a:rPr spc="120" dirty="0"/>
              <a:t>  </a:t>
            </a:r>
            <a:r>
              <a:rPr dirty="0"/>
              <a:t>reach</a:t>
            </a:r>
            <a:r>
              <a:rPr spc="120" dirty="0"/>
              <a:t>  </a:t>
            </a:r>
            <a:r>
              <a:rPr dirty="0"/>
              <a:t>full</a:t>
            </a:r>
            <a:r>
              <a:rPr spc="135" dirty="0"/>
              <a:t>  </a:t>
            </a:r>
            <a:r>
              <a:rPr spc="-10" dirty="0"/>
              <a:t>light 	output.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75991"/>
            <a:ext cx="9213215" cy="601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5080" indent="-502920">
              <a:lnSpc>
                <a:spcPct val="151900"/>
              </a:lnSpc>
              <a:spcBef>
                <a:spcPts val="95"/>
              </a:spcBef>
              <a:buAutoNum type="arabicPeriod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Why</a:t>
            </a:r>
            <a:r>
              <a:rPr sz="1850" spc="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are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tungsten-filament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lamps</a:t>
            </a:r>
            <a:r>
              <a:rPr sz="1850" spc="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filled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with</a:t>
            </a:r>
            <a:r>
              <a:rPr sz="1850" spc="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argon</a:t>
            </a:r>
            <a:r>
              <a:rPr sz="1850" spc="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gas</a:t>
            </a:r>
            <a:r>
              <a:rPr sz="1850" spc="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rather</a:t>
            </a:r>
            <a:r>
              <a:rPr sz="1850" spc="15" dirty="0">
                <a:latin typeface="Verdana"/>
                <a:cs typeface="Verdana"/>
              </a:rPr>
              <a:t>  </a:t>
            </a:r>
            <a:r>
              <a:rPr sz="1850" spc="-20" dirty="0">
                <a:latin typeface="Verdana"/>
                <a:cs typeface="Verdana"/>
              </a:rPr>
              <a:t>than </a:t>
            </a:r>
            <a:r>
              <a:rPr sz="1850" dirty="0">
                <a:latin typeface="Verdana"/>
                <a:cs typeface="Verdana"/>
              </a:rPr>
              <a:t>being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evacuated?</a:t>
            </a:r>
            <a:endParaRPr sz="1850">
              <a:latin typeface="Verdana"/>
              <a:cs typeface="Verdana"/>
            </a:endParaRPr>
          </a:p>
          <a:p>
            <a:pPr marL="514984" marR="7620" indent="-502920">
              <a:lnSpc>
                <a:spcPts val="3370"/>
              </a:lnSpc>
              <a:spcBef>
                <a:spcPts val="295"/>
              </a:spcBef>
              <a:buAutoNum type="arabicPeriod"/>
              <a:tabLst>
                <a:tab pos="514984" algn="l"/>
                <a:tab pos="516255" algn="l"/>
                <a:tab pos="1657350" algn="l"/>
                <a:tab pos="2323465" algn="l"/>
                <a:tab pos="3618865" algn="l"/>
                <a:tab pos="4127500" algn="l"/>
                <a:tab pos="5330825" algn="l"/>
                <a:tab pos="5753735" algn="l"/>
                <a:tab pos="7351395" algn="l"/>
                <a:tab pos="8219440" algn="l"/>
                <a:tab pos="8713470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Explain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difficulty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of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starting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50" dirty="0">
                <a:latin typeface="Verdana"/>
                <a:cs typeface="Verdana"/>
              </a:rPr>
              <a:t>a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fluorescent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lamp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in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0" dirty="0">
                <a:latin typeface="Verdana"/>
                <a:cs typeface="Verdana"/>
              </a:rPr>
              <a:t>cold </a:t>
            </a:r>
            <a:r>
              <a:rPr sz="1850" dirty="0">
                <a:latin typeface="Verdana"/>
                <a:cs typeface="Verdana"/>
              </a:rPr>
              <a:t>environments,</a:t>
            </a:r>
            <a:r>
              <a:rPr sz="1850" spc="-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such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as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1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garage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winter.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35"/>
              </a:spcBef>
              <a:buAutoNum type="arabicPeriod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With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VI</a:t>
            </a:r>
            <a:r>
              <a:rPr sz="1850" spc="1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characteristics,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illustrate</a:t>
            </a:r>
            <a:r>
              <a:rPr sz="1850" spc="15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working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principle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145" dirty="0">
                <a:latin typeface="Verdana"/>
                <a:cs typeface="Verdana"/>
              </a:rPr>
              <a:t>  </a:t>
            </a:r>
            <a:r>
              <a:rPr sz="1850" spc="-20" dirty="0">
                <a:latin typeface="Verdana"/>
                <a:cs typeface="Verdana"/>
              </a:rPr>
              <a:t>gas-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5"/>
              </a:spcBef>
            </a:pPr>
            <a:r>
              <a:rPr sz="1850" dirty="0">
                <a:latin typeface="Verdana"/>
                <a:cs typeface="Verdana"/>
              </a:rPr>
              <a:t>discharge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spc="-20" dirty="0">
                <a:latin typeface="Verdana"/>
                <a:cs typeface="Verdana"/>
              </a:rPr>
              <a:t>lamp.</a:t>
            </a:r>
            <a:endParaRPr sz="1850">
              <a:latin typeface="Verdana"/>
              <a:cs typeface="Verdana"/>
            </a:endParaRPr>
          </a:p>
          <a:p>
            <a:pPr marL="514984" marR="6985" indent="-502920">
              <a:lnSpc>
                <a:spcPts val="3370"/>
              </a:lnSpc>
              <a:spcBef>
                <a:spcPts val="290"/>
              </a:spcBef>
              <a:buAutoNum type="arabicPeriod" startAt="4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Compare</a:t>
            </a:r>
            <a:r>
              <a:rPr sz="1850" spc="4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6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efficiency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5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spectral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characteristics</a:t>
            </a:r>
            <a:r>
              <a:rPr sz="1850" spc="4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55" dirty="0">
                <a:latin typeface="Verdana"/>
                <a:cs typeface="Verdana"/>
              </a:rPr>
              <a:t>  </a:t>
            </a:r>
            <a:r>
              <a:rPr sz="1850" spc="-10" dirty="0">
                <a:latin typeface="Verdana"/>
                <a:cs typeface="Verdana"/>
              </a:rPr>
              <a:t>incandescent </a:t>
            </a:r>
            <a:r>
              <a:rPr sz="1850" dirty="0">
                <a:latin typeface="Verdana"/>
                <a:cs typeface="Verdana"/>
              </a:rPr>
              <a:t>lamps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versus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gas-discharge</a:t>
            </a:r>
            <a:r>
              <a:rPr sz="1850" spc="8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lamps.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 startAt="4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Explain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-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function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-1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control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gear</a:t>
            </a:r>
            <a:r>
              <a:rPr sz="1850" spc="-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(inductor/choke)</a:t>
            </a:r>
            <a:r>
              <a:rPr sz="1850" spc="-10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-5" dirty="0">
                <a:latin typeface="Verdana"/>
                <a:cs typeface="Verdana"/>
              </a:rPr>
              <a:t> 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-10" dirty="0">
                <a:latin typeface="Verdana"/>
                <a:cs typeface="Verdana"/>
              </a:rPr>
              <a:t>  </a:t>
            </a:r>
            <a:r>
              <a:rPr sz="1850" spc="-20" dirty="0">
                <a:latin typeface="Verdana"/>
                <a:cs typeface="Verdana"/>
              </a:rPr>
              <a:t>gas-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dirty="0">
                <a:latin typeface="Verdana"/>
                <a:cs typeface="Verdana"/>
              </a:rPr>
              <a:t>discharge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lamp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circuit.</a:t>
            </a:r>
            <a:endParaRPr sz="1850">
              <a:latin typeface="Verdana"/>
              <a:cs typeface="Verdana"/>
            </a:endParaRPr>
          </a:p>
          <a:p>
            <a:pPr marL="514984" marR="5080" indent="-502920">
              <a:lnSpc>
                <a:spcPts val="3370"/>
              </a:lnSpc>
              <a:spcBef>
                <a:spcPts val="295"/>
              </a:spcBef>
              <a:buAutoNum type="arabicPeriod" startAt="6"/>
              <a:tabLst>
                <a:tab pos="514984" algn="l"/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	Detail</a:t>
            </a:r>
            <a:r>
              <a:rPr sz="1850" spc="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"double</a:t>
            </a:r>
            <a:r>
              <a:rPr sz="1850" spc="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conversion"</a:t>
            </a:r>
            <a:r>
              <a:rPr sz="1850" spc="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process</a:t>
            </a:r>
            <a:r>
              <a:rPr sz="1850" spc="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fluorescent</a:t>
            </a:r>
            <a:r>
              <a:rPr sz="1850" spc="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tube</a:t>
            </a:r>
            <a:r>
              <a:rPr sz="1850" spc="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7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explain </a:t>
            </a:r>
            <a:r>
              <a:rPr sz="1850" dirty="0">
                <a:latin typeface="Verdana"/>
                <a:cs typeface="Verdana"/>
              </a:rPr>
              <a:t>how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different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light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colors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are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achieved.</a:t>
            </a:r>
            <a:endParaRPr sz="185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840"/>
              </a:spcBef>
              <a:buAutoNum type="arabicPeriod" startAt="6"/>
              <a:tabLst>
                <a:tab pos="516255" algn="l"/>
              </a:tabLst>
            </a:pPr>
            <a:r>
              <a:rPr sz="1850" dirty="0">
                <a:latin typeface="Verdana"/>
                <a:cs typeface="Verdana"/>
              </a:rPr>
              <a:t>Contrast</a:t>
            </a:r>
            <a:r>
              <a:rPr sz="1850" spc="1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operation</a:t>
            </a:r>
            <a:r>
              <a:rPr sz="1850" spc="1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"switch-start"</a:t>
            </a:r>
            <a:r>
              <a:rPr sz="1850" spc="15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fluorescent</a:t>
            </a:r>
            <a:r>
              <a:rPr sz="1850" spc="1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circuits</a:t>
            </a:r>
            <a:r>
              <a:rPr sz="1850" spc="1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with</a:t>
            </a:r>
            <a:r>
              <a:rPr sz="1850" spc="1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"quick-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dirty="0">
                <a:latin typeface="Verdana"/>
                <a:cs typeface="Verdana"/>
              </a:rPr>
              <a:t>start"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modern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electronic</a:t>
            </a:r>
            <a:r>
              <a:rPr sz="1850" spc="4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converter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systems.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2"/>
                  </a:moveTo>
                  <a:lnTo>
                    <a:pt x="0" y="263652"/>
                  </a:lnTo>
                  <a:lnTo>
                    <a:pt x="0" y="0"/>
                  </a:lnTo>
                  <a:lnTo>
                    <a:pt x="7906511" y="0"/>
                  </a:lnTo>
                  <a:lnTo>
                    <a:pt x="8057388" y="263652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1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482</Words>
  <Application>Microsoft Office PowerPoint</Application>
  <PresentationFormat>Custom</PresentationFormat>
  <Paragraphs>142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Verdana</vt:lpstr>
      <vt:lpstr>Wingdings</vt:lpstr>
      <vt:lpstr>Office Theme</vt:lpstr>
      <vt:lpstr>UEC3942: Introduction to Sensors and Actuators</vt:lpstr>
      <vt:lpstr>Learning Outcomes</vt:lpstr>
      <vt:lpstr>Introduction to Light Transducers</vt:lpstr>
      <vt:lpstr>Evolution of the Light Bulb (Early Designs)</vt:lpstr>
      <vt:lpstr>Improvements by Swan and Edison</vt:lpstr>
      <vt:lpstr>Failure Mechanisms in Filament Lamps</vt:lpstr>
      <vt:lpstr>Introduction to Gas-Discharge Lamps</vt:lpstr>
      <vt:lpstr>Neon Signs and Gas Mixtures</vt:lpstr>
      <vt:lpstr>Street Illumination: Mercury and Sodium</vt:lpstr>
      <vt:lpstr>High-Pressure Sodium Lamps</vt:lpstr>
      <vt:lpstr>Gas-Discharge Characteristics</vt:lpstr>
      <vt:lpstr>The Negative-Resistance Region</vt:lpstr>
      <vt:lpstr>Discharge Lamp Control Gear</vt:lpstr>
      <vt:lpstr>Fluorescent Tubes: A Dual Conversion</vt:lpstr>
      <vt:lpstr>Fluorescent Conversion Steps</vt:lpstr>
      <vt:lpstr>Phosphor Composition</vt:lpstr>
      <vt:lpstr>Sunlight and Colour Matching</vt:lpstr>
      <vt:lpstr>Switch-Start Circuits</vt:lpstr>
      <vt:lpstr>Environmental Factors in Starting</vt:lpstr>
      <vt:lpstr>Quick-Start Circuits</vt:lpstr>
      <vt:lpstr>Modern Electronic Converter</vt:lpstr>
      <vt:lpstr>Comparison of Light Transducers</vt:lpstr>
      <vt:lpstr>Conclusion and Performance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Light transducers</dc:title>
  <dc:creator>Karthie Alias Ayyadurai</dc:creator>
  <cp:lastModifiedBy>Microsoft account</cp:lastModifiedBy>
  <cp:revision>2</cp:revision>
  <dcterms:created xsi:type="dcterms:W3CDTF">2026-07-01T10:09:39Z</dcterms:created>
  <dcterms:modified xsi:type="dcterms:W3CDTF">2026-07-01T10:37:32Z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