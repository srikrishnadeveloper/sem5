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2"/>
                </a:moveTo>
                <a:lnTo>
                  <a:pt x="0" y="263652"/>
                </a:lnTo>
                <a:lnTo>
                  <a:pt x="0" y="0"/>
                </a:lnTo>
                <a:lnTo>
                  <a:pt x="7906511" y="0"/>
                </a:lnTo>
                <a:lnTo>
                  <a:pt x="8057388" y="263652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1"/>
                </a:moveTo>
                <a:lnTo>
                  <a:pt x="0" y="233171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1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0823" y="426127"/>
            <a:ext cx="6956753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4585" y="1726907"/>
            <a:ext cx="8710930" cy="404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33228" y="2875359"/>
            <a:ext cx="6790055" cy="3363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600"/>
              </a:lnSpc>
              <a:spcBef>
                <a:spcPts val="90"/>
              </a:spcBef>
            </a:pP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3500" b="1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II:</a:t>
            </a:r>
            <a:r>
              <a:rPr sz="35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Photoresistors</a:t>
            </a:r>
            <a:r>
              <a:rPr sz="3500" b="1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25" dirty="0">
                <a:solidFill>
                  <a:srgbClr val="FF0000"/>
                </a:solidFill>
                <a:latin typeface="Verdana"/>
                <a:cs typeface="Verdana"/>
              </a:rPr>
              <a:t>and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photoconductors</a:t>
            </a:r>
            <a:endParaRPr sz="3500" dirty="0">
              <a:latin typeface="Verdana"/>
              <a:cs typeface="Verdana"/>
            </a:endParaRPr>
          </a:p>
          <a:p>
            <a:pPr marL="2061845" marR="2052320" algn="ctr">
              <a:lnSpc>
                <a:spcPct val="121600"/>
              </a:lnSpc>
              <a:spcBef>
                <a:spcPts val="3254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spc="-4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50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GB" sz="2500" dirty="0" smtClean="0">
                <a:solidFill>
                  <a:srgbClr val="808080"/>
                </a:solidFill>
                <a:latin typeface="Verdana"/>
                <a:cs typeface="Verdana"/>
              </a:rPr>
              <a:t>C. </a:t>
            </a:r>
            <a:r>
              <a:rPr lang="en-GB" sz="2500" smtClean="0">
                <a:solidFill>
                  <a:srgbClr val="808080"/>
                </a:solidFill>
                <a:latin typeface="Verdana"/>
                <a:cs typeface="Verdana"/>
              </a:rPr>
              <a:t>Annadurai</a:t>
            </a:r>
            <a:endParaRPr sz="2500" dirty="0">
              <a:latin typeface="Verdana"/>
              <a:cs typeface="Verdana"/>
            </a:endParaRPr>
          </a:p>
          <a:p>
            <a:pPr marL="730250" marR="719455" algn="ctr">
              <a:lnSpc>
                <a:spcPts val="3650"/>
              </a:lnSpc>
              <a:spcBef>
                <a:spcPts val="90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59"/>
                </a:moveTo>
                <a:lnTo>
                  <a:pt x="0" y="1927859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59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185275" cy="40894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IN" sz="2650" dirty="0">
                <a:solidFill>
                  <a:srgbClr val="FF0000"/>
                </a:solidFill>
              </a:rPr>
              <a:t>UEC3942:</a:t>
            </a:r>
            <a:r>
              <a:rPr lang="en-IN" sz="2650" spc="-75" dirty="0">
                <a:solidFill>
                  <a:srgbClr val="FF0000"/>
                </a:solidFill>
              </a:rPr>
              <a:t> </a:t>
            </a:r>
            <a:r>
              <a:rPr sz="2650" dirty="0" smtClean="0">
                <a:solidFill>
                  <a:srgbClr val="FF0000"/>
                </a:solidFill>
              </a:rPr>
              <a:t>Introduction</a:t>
            </a:r>
            <a:r>
              <a:rPr sz="2650" spc="-135" dirty="0" smtClean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5"/>
            <a:ext cx="8793480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Focus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principles,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characteristics,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of 	</a:t>
            </a:r>
            <a:r>
              <a:rPr sz="2200" spc="-20" dirty="0">
                <a:latin typeface="Verdana"/>
                <a:cs typeface="Verdana"/>
              </a:rPr>
              <a:t>light-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340" dirty="0">
                <a:latin typeface="Verdana"/>
                <a:cs typeface="Verdana"/>
              </a:rPr>
              <a:t>    </a:t>
            </a:r>
            <a:r>
              <a:rPr sz="2200" dirty="0">
                <a:latin typeface="Verdana"/>
                <a:cs typeface="Verdana"/>
              </a:rPr>
              <a:t>technology</a:t>
            </a:r>
            <a:r>
              <a:rPr sz="2200" spc="345" dirty="0">
                <a:latin typeface="Verdana"/>
                <a:cs typeface="Verdana"/>
              </a:rPr>
              <a:t>  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340" dirty="0">
                <a:latin typeface="Verdana"/>
                <a:cs typeface="Verdana"/>
              </a:rPr>
              <a:t>    </a:t>
            </a:r>
            <a:r>
              <a:rPr sz="2200" dirty="0">
                <a:latin typeface="Verdana"/>
                <a:cs typeface="Verdana"/>
              </a:rPr>
              <a:t>photoresistors</a:t>
            </a:r>
            <a:r>
              <a:rPr sz="2200" spc="340" dirty="0">
                <a:latin typeface="Verdana"/>
                <a:cs typeface="Verdana"/>
              </a:rPr>
              <a:t>   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spc="-10" dirty="0">
                <a:latin typeface="Verdana"/>
                <a:cs typeface="Verdana"/>
              </a:rPr>
              <a:t>photoconductors.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2061" y="426127"/>
            <a:ext cx="96170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spc="-5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Photoconductivity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b="1" spc="2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Materials</a:t>
            </a:r>
            <a:r>
              <a:rPr spc="195" dirty="0"/>
              <a:t> </a:t>
            </a:r>
            <a:r>
              <a:rPr dirty="0"/>
              <a:t>whose</a:t>
            </a:r>
            <a:r>
              <a:rPr spc="235" dirty="0"/>
              <a:t> </a:t>
            </a:r>
            <a:r>
              <a:rPr dirty="0"/>
              <a:t>electrical</a:t>
            </a:r>
            <a:r>
              <a:rPr spc="229" dirty="0"/>
              <a:t> </a:t>
            </a:r>
            <a:r>
              <a:rPr dirty="0"/>
              <a:t>resistance</a:t>
            </a:r>
            <a:r>
              <a:rPr spc="229" dirty="0"/>
              <a:t> </a:t>
            </a:r>
            <a:r>
              <a:rPr spc="-10" dirty="0"/>
              <a:t>changes 	</a:t>
            </a:r>
            <a:r>
              <a:rPr dirty="0"/>
              <a:t>when</a:t>
            </a:r>
            <a:r>
              <a:rPr spc="-65" dirty="0"/>
              <a:t> </a:t>
            </a:r>
            <a:r>
              <a:rPr dirty="0"/>
              <a:t>struck</a:t>
            </a:r>
            <a:r>
              <a:rPr spc="-35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spc="-10" dirty="0"/>
              <a:t>light.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b="1" spc="-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Physics:</a:t>
            </a:r>
            <a:r>
              <a:rPr b="1" spc="-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These</a:t>
            </a:r>
            <a:r>
              <a:rPr spc="-65" dirty="0"/>
              <a:t>  </a:t>
            </a:r>
            <a:r>
              <a:rPr dirty="0"/>
              <a:t>are</a:t>
            </a:r>
            <a:r>
              <a:rPr spc="-45" dirty="0"/>
              <a:t>  </a:t>
            </a:r>
            <a:r>
              <a:rPr dirty="0"/>
              <a:t>semiconductors</a:t>
            </a:r>
            <a:r>
              <a:rPr spc="-50" dirty="0"/>
              <a:t>  </a:t>
            </a:r>
            <a:r>
              <a:rPr dirty="0"/>
              <a:t>with</a:t>
            </a:r>
            <a:r>
              <a:rPr spc="-40" dirty="0"/>
              <a:t>  </a:t>
            </a:r>
            <a:r>
              <a:rPr dirty="0"/>
              <a:t>few</a:t>
            </a:r>
            <a:r>
              <a:rPr spc="-60" dirty="0"/>
              <a:t>  </a:t>
            </a:r>
            <a:r>
              <a:rPr spc="-20" dirty="0"/>
              <a:t>free 	</a:t>
            </a:r>
            <a:r>
              <a:rPr dirty="0"/>
              <a:t>charge</a:t>
            </a:r>
            <a:r>
              <a:rPr spc="-60" dirty="0"/>
              <a:t> </a:t>
            </a:r>
            <a:r>
              <a:rPr dirty="0"/>
              <a:t>carriers</a:t>
            </a:r>
            <a:r>
              <a:rPr spc="-60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their</a:t>
            </a:r>
            <a:r>
              <a:rPr spc="-75" dirty="0"/>
              <a:t> </a:t>
            </a:r>
            <a:r>
              <a:rPr dirty="0"/>
              <a:t>normal</a:t>
            </a:r>
            <a:r>
              <a:rPr spc="-50" dirty="0"/>
              <a:t> </a:t>
            </a:r>
            <a:r>
              <a:rPr spc="-10" dirty="0"/>
              <a:t>state.</a:t>
            </a:r>
          </a:p>
          <a:p>
            <a:pPr marL="389255" marR="889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Mechanism:</a:t>
            </a:r>
            <a:r>
              <a:rPr b="1" spc="37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Light</a:t>
            </a:r>
            <a:r>
              <a:rPr spc="355" dirty="0"/>
              <a:t>  </a:t>
            </a:r>
            <a:r>
              <a:rPr dirty="0"/>
              <a:t>energy</a:t>
            </a:r>
            <a:r>
              <a:rPr spc="355" dirty="0"/>
              <a:t>  </a:t>
            </a:r>
            <a:r>
              <a:rPr dirty="0"/>
              <a:t>separates</a:t>
            </a:r>
            <a:r>
              <a:rPr spc="345" dirty="0"/>
              <a:t>  </a:t>
            </a:r>
            <a:r>
              <a:rPr dirty="0"/>
              <a:t>electrons</a:t>
            </a:r>
            <a:r>
              <a:rPr spc="350" dirty="0"/>
              <a:t>  </a:t>
            </a:r>
            <a:r>
              <a:rPr spc="-20" dirty="0"/>
              <a:t>from 	</a:t>
            </a:r>
            <a:r>
              <a:rPr dirty="0"/>
              <a:t>"holes,"</a:t>
            </a:r>
            <a:r>
              <a:rPr spc="204" dirty="0"/>
              <a:t> </a:t>
            </a:r>
            <a:r>
              <a:rPr dirty="0"/>
              <a:t>allowing</a:t>
            </a:r>
            <a:r>
              <a:rPr spc="195" dirty="0"/>
              <a:t> </a:t>
            </a:r>
            <a:r>
              <a:rPr dirty="0"/>
              <a:t>both</a:t>
            </a:r>
            <a:r>
              <a:rPr spc="195" dirty="0"/>
              <a:t> </a:t>
            </a:r>
            <a:r>
              <a:rPr dirty="0"/>
              <a:t>to</a:t>
            </a:r>
            <a:r>
              <a:rPr spc="210" dirty="0"/>
              <a:t> </a:t>
            </a:r>
            <a:r>
              <a:rPr dirty="0"/>
              <a:t>move</a:t>
            </a:r>
            <a:r>
              <a:rPr spc="195" dirty="0"/>
              <a:t> </a:t>
            </a:r>
            <a:r>
              <a:rPr dirty="0"/>
              <a:t>and</a:t>
            </a:r>
            <a:r>
              <a:rPr spc="175" dirty="0"/>
              <a:t> </a:t>
            </a:r>
            <a:r>
              <a:rPr dirty="0"/>
              <a:t>carry</a:t>
            </a:r>
            <a:r>
              <a:rPr spc="200" dirty="0"/>
              <a:t> </a:t>
            </a:r>
            <a:r>
              <a:rPr dirty="0"/>
              <a:t>current</a:t>
            </a:r>
            <a:r>
              <a:rPr spc="190" dirty="0"/>
              <a:t> </a:t>
            </a:r>
            <a:r>
              <a:rPr spc="-10" dirty="0"/>
              <a:t>through 	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material.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45638" y="426127"/>
            <a:ext cx="777113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Terminology</a:t>
            </a:r>
            <a:r>
              <a:rPr spc="-7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Reliability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675295"/>
            <a:ext cx="870775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Synonymous</a:t>
            </a:r>
            <a:r>
              <a:rPr sz="2200" b="1" spc="43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Terms:</a:t>
            </a:r>
            <a:r>
              <a:rPr sz="2200" b="1" spc="4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Often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referred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interchangeably 	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photoresistors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photoconductive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cells.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LDR: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Commonly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known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Light-</a:t>
            </a:r>
            <a:r>
              <a:rPr sz="2200" dirty="0">
                <a:latin typeface="Verdana"/>
                <a:cs typeface="Verdana"/>
              </a:rPr>
              <a:t>Dependent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Resistor.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2452370" algn="l"/>
                <a:tab pos="3676650" algn="l"/>
                <a:tab pos="5113020" algn="l"/>
                <a:tab pos="5966460" algn="l"/>
                <a:tab pos="817499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Durability: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These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devices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mechanically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electrically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rugged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strong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record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reliability.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055462" y="426127"/>
            <a:ext cx="59512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Photoconductive</a:t>
            </a:r>
            <a:r>
              <a:rPr spc="-45" dirty="0"/>
              <a:t> </a:t>
            </a:r>
            <a:r>
              <a:rPr spc="-20" dirty="0"/>
              <a:t>Cell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4700" y="1553417"/>
            <a:ext cx="8960485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Most</a:t>
            </a:r>
            <a:r>
              <a:rPr sz="2200" b="1" spc="2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Common</a:t>
            </a:r>
            <a:r>
              <a:rPr sz="2200" b="1" spc="2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Type:</a:t>
            </a:r>
            <a:r>
              <a:rPr sz="2200" b="1" spc="2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cadmium</a:t>
            </a:r>
            <a:r>
              <a:rPr sz="2200" b="1" spc="229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sulphide</a:t>
            </a:r>
            <a:r>
              <a:rPr sz="2200" b="1" spc="24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AF50"/>
                </a:solidFill>
                <a:latin typeface="Verdana"/>
                <a:cs typeface="Verdana"/>
              </a:rPr>
              <a:t>(CdS)</a:t>
            </a:r>
            <a:r>
              <a:rPr sz="2200" b="1" spc="22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cell 	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industry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standard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general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photosensing.</a:t>
            </a:r>
            <a:endParaRPr sz="2200">
              <a:latin typeface="Verdana"/>
              <a:cs typeface="Verdana"/>
            </a:endParaRPr>
          </a:p>
          <a:p>
            <a:pPr marL="389255" marR="698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Construction:</a:t>
            </a:r>
            <a:r>
              <a:rPr sz="2200" b="1" spc="409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CdS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deposited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thread 	</a:t>
            </a:r>
            <a:r>
              <a:rPr sz="2200" dirty="0">
                <a:latin typeface="Verdana"/>
                <a:cs typeface="Verdana"/>
              </a:rPr>
              <a:t>pattern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insulator.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Sensitivity:</a:t>
            </a:r>
            <a:r>
              <a:rPr sz="2200" b="1" spc="-1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zigzag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shape</a:t>
            </a:r>
            <a:r>
              <a:rPr sz="2200" spc="5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track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increases</a:t>
            </a:r>
            <a:r>
              <a:rPr sz="2200" spc="509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length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pattern,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which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enhances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sensitivity.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4253" y="4857643"/>
            <a:ext cx="4355000" cy="23931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766820" y="7026643"/>
            <a:ext cx="230441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Photoconductive</a:t>
            </a:r>
            <a:r>
              <a:rPr sz="1500" b="1" spc="2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20" dirty="0">
                <a:solidFill>
                  <a:srgbClr val="FF0000"/>
                </a:solidFill>
                <a:latin typeface="Verdana"/>
                <a:cs typeface="Verdana"/>
              </a:rPr>
              <a:t>cell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60508" y="124572"/>
            <a:ext cx="7338059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5355" marR="5080" indent="-2193290">
              <a:lnSpc>
                <a:spcPct val="100200"/>
              </a:lnSpc>
              <a:spcBef>
                <a:spcPts val="100"/>
              </a:spcBef>
            </a:pPr>
            <a:r>
              <a:rPr dirty="0"/>
              <a:t>Physical</a:t>
            </a:r>
            <a:r>
              <a:rPr spc="-55" dirty="0"/>
              <a:t> </a:t>
            </a:r>
            <a:r>
              <a:rPr dirty="0"/>
              <a:t>Construction</a:t>
            </a:r>
            <a:r>
              <a:rPr spc="-55" dirty="0"/>
              <a:t> </a:t>
            </a:r>
            <a:r>
              <a:rPr spc="-25" dirty="0"/>
              <a:t>and </a:t>
            </a:r>
            <a:r>
              <a:rPr spc="-10" dirty="0"/>
              <a:t>Protection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8331" y="1477158"/>
            <a:ext cx="870966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Encapsulation:</a:t>
            </a:r>
            <a:r>
              <a:rPr sz="2200" b="1" spc="1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Cells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encased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transparent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resin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or 	</a:t>
            </a:r>
            <a:r>
              <a:rPr sz="2200" spc="-10" dirty="0">
                <a:latin typeface="Verdana"/>
                <a:cs typeface="Verdana"/>
              </a:rPr>
              <a:t>glass.</a:t>
            </a:r>
            <a:endParaRPr sz="2200">
              <a:latin typeface="Verdana"/>
              <a:cs typeface="Verdana"/>
            </a:endParaRPr>
          </a:p>
          <a:p>
            <a:pPr marL="389255" marR="889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2186940" algn="l"/>
                <a:tab pos="3160395" algn="l"/>
                <a:tab pos="4783455" algn="l"/>
                <a:tab pos="7179309" algn="l"/>
                <a:tab pos="82391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Purpose: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This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prevents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contamination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from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atmosphere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while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allowing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reach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CdS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track.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Operating</a:t>
            </a:r>
            <a:r>
              <a:rPr sz="2200" b="1" spc="4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Conditions:</a:t>
            </a:r>
            <a:r>
              <a:rPr sz="2200" b="1" spc="4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Capable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withstanding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wide 	</a:t>
            </a:r>
            <a:r>
              <a:rPr sz="2200" dirty="0">
                <a:latin typeface="Verdana"/>
                <a:cs typeface="Verdana"/>
              </a:rPr>
              <a:t>range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temperatures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during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storage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operation.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62280" y="426127"/>
            <a:ext cx="933640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Electrical</a:t>
            </a:r>
            <a:r>
              <a:rPr spc="-60" dirty="0"/>
              <a:t> </a:t>
            </a:r>
            <a:r>
              <a:rPr dirty="0"/>
              <a:t>Characteristics</a:t>
            </a:r>
            <a:r>
              <a:rPr spc="-9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0" dirty="0"/>
              <a:t>LDRs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Inherent</a:t>
            </a:r>
            <a:r>
              <a:rPr b="1" spc="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Resistance:</a:t>
            </a:r>
            <a:r>
              <a:rPr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Resistance</a:t>
            </a:r>
            <a:r>
              <a:rPr spc="100" dirty="0"/>
              <a:t> </a:t>
            </a:r>
            <a:r>
              <a:rPr dirty="0"/>
              <a:t>is</a:t>
            </a:r>
            <a:r>
              <a:rPr spc="114" dirty="0"/>
              <a:t> </a:t>
            </a:r>
            <a:r>
              <a:rPr dirty="0"/>
              <a:t>high</a:t>
            </a:r>
            <a:r>
              <a:rPr spc="105" dirty="0"/>
              <a:t> </a:t>
            </a:r>
            <a:r>
              <a:rPr dirty="0"/>
              <a:t>in</a:t>
            </a:r>
            <a:r>
              <a:rPr spc="110" dirty="0"/>
              <a:t> </a:t>
            </a:r>
            <a:r>
              <a:rPr dirty="0"/>
              <a:t>the</a:t>
            </a:r>
            <a:r>
              <a:rPr spc="125" dirty="0"/>
              <a:t> </a:t>
            </a:r>
            <a:r>
              <a:rPr dirty="0"/>
              <a:t>dark</a:t>
            </a:r>
            <a:r>
              <a:rPr spc="90" dirty="0"/>
              <a:t> </a:t>
            </a:r>
            <a:r>
              <a:rPr spc="-25" dirty="0"/>
              <a:t>and 	</a:t>
            </a:r>
            <a:r>
              <a:rPr dirty="0"/>
              <a:t>drops</a:t>
            </a:r>
            <a:r>
              <a:rPr spc="-70" dirty="0"/>
              <a:t> </a:t>
            </a:r>
            <a:r>
              <a:rPr dirty="0"/>
              <a:t>significantly</a:t>
            </a:r>
            <a:r>
              <a:rPr spc="-65" dirty="0"/>
              <a:t> </a:t>
            </a:r>
            <a:r>
              <a:rPr dirty="0"/>
              <a:t>when</a:t>
            </a:r>
            <a:r>
              <a:rPr spc="-70" dirty="0"/>
              <a:t> </a:t>
            </a:r>
            <a:r>
              <a:rPr spc="-10" dirty="0"/>
              <a:t>illuminated.</a:t>
            </a:r>
          </a:p>
          <a:p>
            <a:pPr marL="389255" marR="698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Supply</a:t>
            </a:r>
            <a:r>
              <a:rPr b="1" spc="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Voltage:</a:t>
            </a:r>
            <a:r>
              <a:rPr b="1" spc="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LDRs</a:t>
            </a:r>
            <a:r>
              <a:rPr spc="110" dirty="0"/>
              <a:t> </a:t>
            </a:r>
            <a:r>
              <a:rPr dirty="0"/>
              <a:t>can</a:t>
            </a:r>
            <a:r>
              <a:rPr spc="125" dirty="0"/>
              <a:t> </a:t>
            </a:r>
            <a:r>
              <a:rPr dirty="0"/>
              <a:t>handle</a:t>
            </a:r>
            <a:r>
              <a:rPr spc="125" dirty="0"/>
              <a:t> </a:t>
            </a:r>
            <a:r>
              <a:rPr dirty="0"/>
              <a:t>a</a:t>
            </a:r>
            <a:r>
              <a:rPr spc="110" dirty="0"/>
              <a:t> </a:t>
            </a:r>
            <a:r>
              <a:rPr dirty="0"/>
              <a:t>considerable</a:t>
            </a:r>
            <a:r>
              <a:rPr spc="125" dirty="0"/>
              <a:t> </a:t>
            </a:r>
            <a:r>
              <a:rPr spc="-10" dirty="0"/>
              <a:t>voltage 	</a:t>
            </a:r>
            <a:r>
              <a:rPr dirty="0"/>
              <a:t>range</a:t>
            </a:r>
            <a:r>
              <a:rPr spc="245" dirty="0"/>
              <a:t> </a:t>
            </a:r>
            <a:r>
              <a:rPr dirty="0"/>
              <a:t>and</a:t>
            </a:r>
            <a:r>
              <a:rPr spc="270" dirty="0"/>
              <a:t> </a:t>
            </a:r>
            <a:r>
              <a:rPr dirty="0"/>
              <a:t>are</a:t>
            </a:r>
            <a:r>
              <a:rPr spc="245" dirty="0"/>
              <a:t> </a:t>
            </a:r>
            <a:r>
              <a:rPr dirty="0"/>
              <a:t>unique</a:t>
            </a:r>
            <a:r>
              <a:rPr spc="245" dirty="0"/>
              <a:t> </a:t>
            </a:r>
            <a:r>
              <a:rPr dirty="0"/>
              <a:t>because</a:t>
            </a:r>
            <a:r>
              <a:rPr spc="245" dirty="0"/>
              <a:t> </a:t>
            </a:r>
            <a:r>
              <a:rPr dirty="0"/>
              <a:t>they</a:t>
            </a:r>
            <a:r>
              <a:rPr spc="250" dirty="0"/>
              <a:t> </a:t>
            </a:r>
            <a:r>
              <a:rPr dirty="0"/>
              <a:t>can</a:t>
            </a:r>
            <a:r>
              <a:rPr spc="270" dirty="0"/>
              <a:t> </a:t>
            </a:r>
            <a:r>
              <a:rPr dirty="0"/>
              <a:t>be</a:t>
            </a:r>
            <a:r>
              <a:rPr spc="245" dirty="0"/>
              <a:t> </a:t>
            </a:r>
            <a:r>
              <a:rPr dirty="0"/>
              <a:t>used</a:t>
            </a:r>
            <a:r>
              <a:rPr spc="270" dirty="0"/>
              <a:t> </a:t>
            </a:r>
            <a:r>
              <a:rPr dirty="0"/>
              <a:t>with</a:t>
            </a:r>
            <a:r>
              <a:rPr spc="254" dirty="0"/>
              <a:t> </a:t>
            </a:r>
            <a:r>
              <a:rPr spc="-25" dirty="0"/>
              <a:t>AC 	</a:t>
            </a:r>
            <a:r>
              <a:rPr spc="-10" dirty="0"/>
              <a:t>supplies.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Non-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Linearity:</a:t>
            </a:r>
            <a:r>
              <a:rPr b="1" spc="2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The</a:t>
            </a:r>
            <a:r>
              <a:rPr spc="195" dirty="0"/>
              <a:t>  </a:t>
            </a:r>
            <a:r>
              <a:rPr dirty="0"/>
              <a:t>change</a:t>
            </a:r>
            <a:r>
              <a:rPr spc="195" dirty="0"/>
              <a:t>  </a:t>
            </a:r>
            <a:r>
              <a:rPr dirty="0"/>
              <a:t>in</a:t>
            </a:r>
            <a:r>
              <a:rPr spc="210" dirty="0"/>
              <a:t>  </a:t>
            </a:r>
            <a:r>
              <a:rPr dirty="0"/>
              <a:t>resistance</a:t>
            </a:r>
            <a:r>
              <a:rPr spc="204" dirty="0"/>
              <a:t>  </a:t>
            </a:r>
            <a:r>
              <a:rPr dirty="0"/>
              <a:t>relative</a:t>
            </a:r>
            <a:r>
              <a:rPr spc="190" dirty="0"/>
              <a:t>  </a:t>
            </a:r>
            <a:r>
              <a:rPr spc="-25" dirty="0"/>
              <a:t>to 	</a:t>
            </a:r>
            <a:r>
              <a:rPr dirty="0"/>
              <a:t>illumination</a:t>
            </a:r>
            <a:r>
              <a:rPr spc="95" dirty="0"/>
              <a:t> </a:t>
            </a:r>
            <a:r>
              <a:rPr dirty="0"/>
              <a:t>is</a:t>
            </a:r>
            <a:r>
              <a:rPr spc="85" dirty="0"/>
              <a:t> </a:t>
            </a:r>
            <a:r>
              <a:rPr dirty="0"/>
              <a:t>not</a:t>
            </a:r>
            <a:r>
              <a:rPr spc="80" dirty="0"/>
              <a:t> </a:t>
            </a:r>
            <a:r>
              <a:rPr dirty="0"/>
              <a:t>linear,</a:t>
            </a:r>
            <a:r>
              <a:rPr spc="100" dirty="0"/>
              <a:t> </a:t>
            </a:r>
            <a:r>
              <a:rPr dirty="0"/>
              <a:t>meaning</a:t>
            </a:r>
            <a:r>
              <a:rPr spc="85" dirty="0"/>
              <a:t> </a:t>
            </a:r>
            <a:r>
              <a:rPr dirty="0"/>
              <a:t>sensitivity</a:t>
            </a:r>
            <a:r>
              <a:rPr spc="85" dirty="0"/>
              <a:t> </a:t>
            </a:r>
            <a:r>
              <a:rPr dirty="0"/>
              <a:t>isn't</a:t>
            </a:r>
            <a:r>
              <a:rPr spc="100" dirty="0"/>
              <a:t> </a:t>
            </a:r>
            <a:r>
              <a:rPr dirty="0"/>
              <a:t>a</a:t>
            </a:r>
            <a:r>
              <a:rPr spc="90" dirty="0"/>
              <a:t> </a:t>
            </a:r>
            <a:r>
              <a:rPr spc="-10" dirty="0"/>
              <a:t>single 	</a:t>
            </a:r>
            <a:r>
              <a:rPr dirty="0"/>
              <a:t>fixed</a:t>
            </a:r>
            <a:r>
              <a:rPr spc="-80" dirty="0"/>
              <a:t> </a:t>
            </a:r>
            <a:r>
              <a:rPr spc="-10" dirty="0"/>
              <a:t>figure.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05856" y="426127"/>
            <a:ext cx="784733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Case</a:t>
            </a:r>
            <a:r>
              <a:rPr spc="-35" dirty="0"/>
              <a:t> </a:t>
            </a:r>
            <a:r>
              <a:rPr dirty="0"/>
              <a:t>Study: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ORP12</a:t>
            </a:r>
            <a:r>
              <a:rPr spc="-10" dirty="0"/>
              <a:t> </a:t>
            </a:r>
            <a:r>
              <a:rPr spc="-20" dirty="0"/>
              <a:t>Cell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711" y="1548787"/>
            <a:ext cx="8877300" cy="30435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Typical</a:t>
            </a:r>
            <a:r>
              <a:rPr sz="22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Specifications:</a:t>
            </a:r>
            <a:endParaRPr sz="2200">
              <a:latin typeface="Verdana"/>
              <a:cs typeface="Verdana"/>
            </a:endParaRPr>
          </a:p>
          <a:p>
            <a:pPr marL="883919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83919" algn="l"/>
              </a:tabLst>
            </a:pPr>
            <a:r>
              <a:rPr sz="2200" dirty="0">
                <a:latin typeface="Verdana"/>
                <a:cs typeface="Verdana"/>
              </a:rPr>
              <a:t>Peak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Spectral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Response: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610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nm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35" dirty="0">
                <a:latin typeface="Verdana"/>
                <a:cs typeface="Verdana"/>
              </a:rPr>
              <a:t>(Yellow-</a:t>
            </a:r>
            <a:r>
              <a:rPr sz="2200" dirty="0">
                <a:latin typeface="Verdana"/>
                <a:cs typeface="Verdana"/>
              </a:rPr>
              <a:t>Orange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region)</a:t>
            </a:r>
            <a:endParaRPr sz="2200">
              <a:latin typeface="Verdana"/>
              <a:cs typeface="Verdana"/>
            </a:endParaRPr>
          </a:p>
          <a:p>
            <a:pPr marL="883919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83919" algn="l"/>
              </a:tabLst>
            </a:pPr>
            <a:r>
              <a:rPr sz="2200" dirty="0">
                <a:latin typeface="Verdana"/>
                <a:cs typeface="Verdana"/>
              </a:rPr>
              <a:t>Dark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Resistance: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10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MΩ</a:t>
            </a:r>
            <a:endParaRPr sz="2200">
              <a:latin typeface="Verdana"/>
              <a:cs typeface="Verdana"/>
            </a:endParaRPr>
          </a:p>
          <a:p>
            <a:pPr marL="883919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83919" algn="l"/>
              </a:tabLst>
            </a:pP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50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lux: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2400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Ω</a:t>
            </a:r>
            <a:endParaRPr sz="2200">
              <a:latin typeface="Verdana"/>
              <a:cs typeface="Verdana"/>
            </a:endParaRPr>
          </a:p>
          <a:p>
            <a:pPr marL="883919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83919" algn="l"/>
              </a:tabLst>
            </a:pP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1000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lux: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130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Ω</a:t>
            </a:r>
            <a:endParaRPr sz="2200">
              <a:latin typeface="Verdana"/>
              <a:cs typeface="Verdana"/>
            </a:endParaRPr>
          </a:p>
          <a:p>
            <a:pPr marL="883919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83919" algn="l"/>
              </a:tabLst>
            </a:pPr>
            <a:r>
              <a:rPr sz="2200" dirty="0">
                <a:latin typeface="Verdana"/>
                <a:cs typeface="Verdana"/>
              </a:rPr>
              <a:t>Max.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Dissipation: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200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mW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7233" y="2858452"/>
            <a:ext cx="3690717" cy="362342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18607" y="6639571"/>
            <a:ext cx="449961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(a)</a:t>
            </a:r>
            <a:r>
              <a:rPr sz="1500" b="1" spc="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CdS</a:t>
            </a:r>
            <a:r>
              <a:rPr sz="1500" b="1" spc="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sz="1500" b="1" spc="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(b)</a:t>
            </a:r>
            <a:r>
              <a:rPr sz="1500" b="1" spc="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Mixture</a:t>
            </a:r>
            <a:r>
              <a:rPr sz="1500" b="1" spc="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sz="1500" b="1" spc="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CdS</a:t>
            </a:r>
            <a:r>
              <a:rPr sz="1500" b="1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sz="1500" b="1" spc="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20" dirty="0">
                <a:solidFill>
                  <a:srgbClr val="FF0000"/>
                </a:solidFill>
                <a:latin typeface="Verdana"/>
                <a:cs typeface="Verdana"/>
              </a:rPr>
              <a:t>CdSe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70714" y="426127"/>
            <a:ext cx="691705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Response</a:t>
            </a:r>
            <a:r>
              <a:rPr spc="-25" dirty="0"/>
              <a:t> </a:t>
            </a:r>
            <a:r>
              <a:rPr dirty="0"/>
              <a:t>Times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0" dirty="0"/>
              <a:t>LDRs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820" y="1504666"/>
            <a:ext cx="8961755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3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"Fall</a:t>
            </a:r>
            <a:r>
              <a:rPr sz="2200" b="1" spc="3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Time":</a:t>
            </a:r>
            <a:r>
              <a:rPr sz="2200" b="1" spc="3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time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reach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final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value 	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illuminated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(Typically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350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ORP12).</a:t>
            </a:r>
            <a:endParaRPr sz="2200">
              <a:latin typeface="Verdana"/>
              <a:cs typeface="Verdana"/>
            </a:endParaRPr>
          </a:p>
          <a:p>
            <a:pPr marL="389255" marR="698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"Rise</a:t>
            </a:r>
            <a:r>
              <a:rPr sz="2200" b="1" spc="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Time":</a:t>
            </a:r>
            <a:r>
              <a:rPr sz="2200" b="1" spc="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time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increase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when 	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cut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off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(Typically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75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ORP12).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2345690" algn="l"/>
                <a:tab pos="3750945" algn="l"/>
                <a:tab pos="4267200" algn="l"/>
                <a:tab pos="5279390" algn="l"/>
                <a:tab pos="6816090" algn="l"/>
                <a:tab pos="768604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Limitation: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Because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these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relatively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slow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response 	</a:t>
            </a:r>
            <a:r>
              <a:rPr sz="2200" dirty="0">
                <a:latin typeface="Verdana"/>
                <a:cs typeface="Verdana"/>
              </a:rPr>
              <a:t>times,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LDRs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cannot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modulated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beams.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797863" y="426127"/>
            <a:ext cx="646493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Industrial</a:t>
            </a:r>
            <a:r>
              <a:rPr spc="-8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6198" y="1518283"/>
            <a:ext cx="3802379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  <a:tab pos="19018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Relay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Operation:</a:t>
            </a:r>
            <a:endParaRPr sz="2200">
              <a:latin typeface="Verdana"/>
              <a:cs typeface="Verdana"/>
            </a:endParaRPr>
          </a:p>
          <a:p>
            <a:pPr marL="390525">
              <a:lnSpc>
                <a:spcPct val="100000"/>
              </a:lnSpc>
              <a:spcBef>
                <a:spcPts val="1320"/>
              </a:spcBef>
              <a:tabLst>
                <a:tab pos="2108200" algn="l"/>
                <a:tab pos="3335654" algn="l"/>
              </a:tabLst>
            </a:pPr>
            <a:r>
              <a:rPr sz="2200" spc="-10" dirty="0">
                <a:latin typeface="Verdana"/>
                <a:cs typeface="Verdana"/>
              </a:rPr>
              <a:t>response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times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are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7804" y="1518283"/>
            <a:ext cx="73596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5080" indent="-33655">
              <a:lnSpc>
                <a:spcPct val="150000"/>
              </a:lnSpc>
              <a:spcBef>
                <a:spcPts val="100"/>
              </a:spcBef>
            </a:pPr>
            <a:r>
              <a:rPr sz="2200" spc="-10" dirty="0">
                <a:latin typeface="Verdana"/>
                <a:cs typeface="Verdana"/>
              </a:rPr>
              <a:t>Their </a:t>
            </a:r>
            <a:r>
              <a:rPr sz="2200" dirty="0">
                <a:latin typeface="Verdana"/>
                <a:cs typeface="Verdana"/>
              </a:rPr>
              <a:t>well-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198" y="2523951"/>
            <a:ext cx="4939030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algn="just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matched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operating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times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relays.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Flame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Detection: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peak 	</a:t>
            </a: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-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yellow-</a:t>
            </a:r>
            <a:r>
              <a:rPr sz="2200" spc="-10" dirty="0">
                <a:latin typeface="Verdana"/>
                <a:cs typeface="Verdana"/>
              </a:rPr>
              <a:t>orange 	</a:t>
            </a:r>
            <a:r>
              <a:rPr sz="2200" dirty="0">
                <a:latin typeface="Verdana"/>
                <a:cs typeface="Verdana"/>
              </a:rPr>
              <a:t>spectrum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makes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them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ideal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for 	</a:t>
            </a:r>
            <a:r>
              <a:rPr sz="2200" dirty="0">
                <a:latin typeface="Verdana"/>
                <a:cs typeface="Verdana"/>
              </a:rPr>
              <a:t>detecting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flames.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Boiler</a:t>
            </a:r>
            <a:r>
              <a:rPr sz="2200" b="1" spc="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Safety:</a:t>
            </a:r>
            <a:r>
              <a:rPr sz="2200" b="1" spc="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oil-fired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4225" y="6044535"/>
            <a:ext cx="455930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boilers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cut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off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fuel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if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</a:t>
            </a:r>
            <a:r>
              <a:rPr sz="2200" dirty="0">
                <a:latin typeface="Verdana"/>
                <a:cs typeface="Verdana"/>
              </a:rPr>
              <a:t>flame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extinguished.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2600" y="1786128"/>
            <a:ext cx="4163567" cy="445160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196052" y="6308875"/>
            <a:ext cx="2897505" cy="49466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66725" marR="5080" indent="-454659">
              <a:lnSpc>
                <a:spcPct val="102699"/>
              </a:lnSpc>
              <a:spcBef>
                <a:spcPts val="85"/>
              </a:spcBef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500" b="1" spc="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typical</a:t>
            </a:r>
            <a:r>
              <a:rPr sz="1500" b="1" spc="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ORP12</a:t>
            </a:r>
            <a:r>
              <a:rPr sz="1500" b="1" spc="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10" dirty="0">
                <a:solidFill>
                  <a:srgbClr val="FF0000"/>
                </a:solidFill>
                <a:latin typeface="Verdana"/>
                <a:cs typeface="Verdana"/>
              </a:rPr>
              <a:t>industrial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application</a:t>
            </a:r>
            <a:r>
              <a:rPr sz="1500" b="1" spc="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10" dirty="0">
                <a:solidFill>
                  <a:srgbClr val="FF0000"/>
                </a:solidFill>
                <a:latin typeface="Verdana"/>
                <a:cs typeface="Verdana"/>
              </a:rPr>
              <a:t>circuit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99362" y="426127"/>
            <a:ext cx="745998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Summary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Comparison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08390" cy="30435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Photoresistors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(LDRs)/Photoconductors:</a:t>
            </a:r>
            <a:endParaRPr sz="2200">
              <a:latin typeface="Verdana"/>
              <a:cs typeface="Verdana"/>
            </a:endParaRPr>
          </a:p>
          <a:p>
            <a:pPr marL="883919" marR="5080" lvl="1" indent="-378460">
              <a:lnSpc>
                <a:spcPct val="150000"/>
              </a:lnSpc>
              <a:buFont typeface="Wingdings"/>
              <a:buChar char=""/>
              <a:tabLst>
                <a:tab pos="883919" algn="l"/>
              </a:tabLst>
            </a:pPr>
            <a:r>
              <a:rPr sz="2200" dirty="0">
                <a:latin typeface="Verdana"/>
                <a:cs typeface="Verdana"/>
              </a:rPr>
              <a:t>Rugged,</a:t>
            </a:r>
            <a:r>
              <a:rPr sz="2200" spc="4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voltage/AC</a:t>
            </a:r>
            <a:r>
              <a:rPr sz="2200" spc="5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capable,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but</a:t>
            </a:r>
            <a:r>
              <a:rPr sz="2200" spc="4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long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response </a:t>
            </a:r>
            <a:r>
              <a:rPr sz="2200" dirty="0">
                <a:latin typeface="Verdana"/>
                <a:cs typeface="Verdana"/>
              </a:rPr>
              <a:t>times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making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unsuitable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modulated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beams.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Photomultipliers:</a:t>
            </a:r>
            <a:endParaRPr sz="2200">
              <a:latin typeface="Verdana"/>
              <a:cs typeface="Verdana"/>
            </a:endParaRPr>
          </a:p>
          <a:p>
            <a:pPr marL="883919" marR="5080" lvl="1" indent="-378460">
              <a:lnSpc>
                <a:spcPct val="150000"/>
              </a:lnSpc>
              <a:buFont typeface="Wingdings"/>
              <a:buChar char=""/>
              <a:tabLst>
                <a:tab pos="883919" algn="l"/>
              </a:tabLst>
            </a:pPr>
            <a:r>
              <a:rPr sz="2200" dirty="0">
                <a:latin typeface="Verdana"/>
                <a:cs typeface="Verdana"/>
              </a:rPr>
              <a:t>Extremely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sensitive,</a:t>
            </a:r>
            <a:r>
              <a:rPr sz="2200" spc="5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noiseless</a:t>
            </a:r>
            <a:r>
              <a:rPr sz="2200" spc="4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amplification,</a:t>
            </a:r>
            <a:r>
              <a:rPr sz="2200" spc="4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for </a:t>
            </a:r>
            <a:r>
              <a:rPr sz="2200" dirty="0">
                <a:latin typeface="Verdana"/>
                <a:cs typeface="Verdana"/>
              </a:rPr>
              <a:t>detection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very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low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202" y="1423640"/>
            <a:ext cx="9212580" cy="505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3080" marR="6985" indent="-50101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514984" algn="l"/>
              </a:tabLst>
            </a:pPr>
            <a:r>
              <a:rPr sz="2200" dirty="0">
                <a:latin typeface="Verdana"/>
                <a:cs typeface="Verdana"/>
              </a:rPr>
              <a:t>Which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5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5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most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commonly</a:t>
            </a:r>
            <a:r>
              <a:rPr sz="2200" spc="5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5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industrial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light-	</a:t>
            </a:r>
            <a:r>
              <a:rPr sz="2200" dirty="0">
                <a:latin typeface="Verdana"/>
                <a:cs typeface="Verdana"/>
              </a:rPr>
              <a:t>dependent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resistors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(LDRs)?</a:t>
            </a:r>
            <a:endParaRPr sz="2200">
              <a:latin typeface="Verdana"/>
              <a:cs typeface="Verdana"/>
            </a:endParaRPr>
          </a:p>
          <a:p>
            <a:pPr marL="513715" indent="-50101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513715" algn="l"/>
              </a:tabLst>
            </a:pPr>
            <a:r>
              <a:rPr sz="2200" dirty="0">
                <a:latin typeface="Verdana"/>
                <a:cs typeface="Verdana"/>
              </a:rPr>
              <a:t>What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main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disadvantage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LDR?</a:t>
            </a:r>
            <a:endParaRPr sz="2200">
              <a:latin typeface="Verdana"/>
              <a:cs typeface="Verdana"/>
            </a:endParaRPr>
          </a:p>
          <a:p>
            <a:pPr marL="513080" marR="5080" indent="-501015">
              <a:lnSpc>
                <a:spcPct val="150000"/>
              </a:lnSpc>
              <a:buAutoNum type="arabicPeriod"/>
              <a:tabLst>
                <a:tab pos="514984" algn="l"/>
              </a:tabLst>
            </a:pPr>
            <a:r>
              <a:rPr sz="2200" dirty="0">
                <a:latin typeface="Verdana"/>
                <a:cs typeface="Verdana"/>
              </a:rPr>
              <a:t>What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primary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physical</a:t>
            </a:r>
            <a:r>
              <a:rPr sz="2200" spc="1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mechanism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allows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dirty="0">
                <a:latin typeface="Verdana"/>
                <a:cs typeface="Verdana"/>
              </a:rPr>
              <a:t>photoconductor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carry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illuminated?</a:t>
            </a:r>
            <a:endParaRPr sz="2200">
              <a:latin typeface="Verdana"/>
              <a:cs typeface="Verdana"/>
            </a:endParaRPr>
          </a:p>
          <a:p>
            <a:pPr marL="513080" marR="5080" indent="-501015">
              <a:lnSpc>
                <a:spcPct val="150000"/>
              </a:lnSpc>
              <a:buAutoNum type="arabicPeriod"/>
              <a:tabLst>
                <a:tab pos="514984" algn="l"/>
              </a:tabLst>
            </a:pPr>
            <a:r>
              <a:rPr sz="2200" dirty="0">
                <a:latin typeface="Verdana"/>
                <a:cs typeface="Verdana"/>
              </a:rPr>
              <a:t>Explain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why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cadmium</a:t>
            </a:r>
            <a:r>
              <a:rPr sz="2200" spc="1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sulphide</a:t>
            </a:r>
            <a:r>
              <a:rPr sz="2200" spc="1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track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LDR</a:t>
            </a:r>
            <a:r>
              <a:rPr sz="2200" spc="13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is 	</a:t>
            </a:r>
            <a:r>
              <a:rPr sz="2200" dirty="0">
                <a:latin typeface="Verdana"/>
                <a:cs typeface="Verdana"/>
              </a:rPr>
              <a:t>typically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deposited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zigzag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pattern.</a:t>
            </a:r>
            <a:endParaRPr sz="2200">
              <a:latin typeface="Verdana"/>
              <a:cs typeface="Verdana"/>
            </a:endParaRPr>
          </a:p>
          <a:p>
            <a:pPr marL="513715" indent="-50101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513715" algn="l"/>
              </a:tabLst>
            </a:pPr>
            <a:r>
              <a:rPr sz="2200" dirty="0">
                <a:latin typeface="Verdana"/>
                <a:cs typeface="Verdana"/>
              </a:rPr>
              <a:t>Mention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three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characteristics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LDRs.</a:t>
            </a:r>
            <a:endParaRPr sz="2200">
              <a:latin typeface="Verdana"/>
              <a:cs typeface="Verdana"/>
            </a:endParaRPr>
          </a:p>
          <a:p>
            <a:pPr marL="513715" indent="-50101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513715" algn="l"/>
              </a:tabLst>
            </a:pPr>
            <a:r>
              <a:rPr sz="2200" dirty="0">
                <a:latin typeface="Verdana"/>
                <a:cs typeface="Verdana"/>
              </a:rPr>
              <a:t>Describe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operation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construction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LDR.</a:t>
            </a:r>
            <a:endParaRPr sz="2200">
              <a:latin typeface="Verdana"/>
              <a:cs typeface="Verdana"/>
            </a:endParaRPr>
          </a:p>
          <a:p>
            <a:pPr marL="513715" indent="-50101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513715" algn="l"/>
              </a:tabLst>
            </a:pPr>
            <a:r>
              <a:rPr sz="2200" dirty="0">
                <a:latin typeface="Verdana"/>
                <a:cs typeface="Verdana"/>
              </a:rPr>
              <a:t>Discuss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specific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industrial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application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LDR.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Textbook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0836" y="1736303"/>
            <a:ext cx="88753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Ian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Sinclair,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Transducers,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Third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20" dirty="0">
                <a:latin typeface="Verdana"/>
                <a:cs typeface="Verdana"/>
              </a:rPr>
              <a:t> 2001 	</a:t>
            </a:r>
            <a:r>
              <a:rPr sz="2200" dirty="0">
                <a:latin typeface="Verdana"/>
                <a:cs typeface="Verdana"/>
              </a:rPr>
              <a:t>(Units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&amp;</a:t>
            </a:r>
            <a:r>
              <a:rPr sz="2200" spc="-20" dirty="0">
                <a:latin typeface="Verdana"/>
                <a:cs typeface="Verdana"/>
              </a:rPr>
              <a:t> II).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1" y="7368540"/>
            <a:ext cx="8139430" cy="289560"/>
            <a:chOff x="19811" y="7368540"/>
            <a:chExt cx="8139430" cy="289560"/>
          </a:xfrm>
        </p:grpSpPr>
        <p:sp>
          <p:nvSpPr>
            <p:cNvPr id="3" name="object 3"/>
            <p:cNvSpPr/>
            <p:nvPr/>
          </p:nvSpPr>
          <p:spPr>
            <a:xfrm>
              <a:off x="19811" y="7368540"/>
              <a:ext cx="8057515" cy="264160"/>
            </a:xfrm>
            <a:custGeom>
              <a:avLst/>
              <a:gdLst/>
              <a:ahLst/>
              <a:cxnLst/>
              <a:rect l="l" t="t" r="r" b="b"/>
              <a:pathLst>
                <a:path w="8057515" h="264159">
                  <a:moveTo>
                    <a:pt x="8057388" y="263652"/>
                  </a:moveTo>
                  <a:lnTo>
                    <a:pt x="0" y="263652"/>
                  </a:lnTo>
                  <a:lnTo>
                    <a:pt x="0" y="0"/>
                  </a:lnTo>
                  <a:lnTo>
                    <a:pt x="7906511" y="0"/>
                  </a:lnTo>
                  <a:lnTo>
                    <a:pt x="8057388" y="263652"/>
                  </a:lnTo>
                  <a:close/>
                </a:path>
              </a:pathLst>
            </a:custGeom>
            <a:solidFill>
              <a:srgbClr val="87B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812" y="7424928"/>
              <a:ext cx="8139430" cy="233679"/>
            </a:xfrm>
            <a:custGeom>
              <a:avLst/>
              <a:gdLst/>
              <a:ahLst/>
              <a:cxnLst/>
              <a:rect l="l" t="t" r="r" b="b"/>
              <a:pathLst>
                <a:path w="8139430" h="233679">
                  <a:moveTo>
                    <a:pt x="8139228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8001000" y="0"/>
                  </a:lnTo>
                  <a:lnTo>
                    <a:pt x="8139228" y="233171"/>
                  </a:lnTo>
                  <a:close/>
                </a:path>
              </a:pathLst>
            </a:custGeom>
            <a:solidFill>
              <a:srgbClr val="004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7"/>
                </a:moveTo>
                <a:lnTo>
                  <a:pt x="623315" y="848867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5"/>
                </a:lnTo>
                <a:lnTo>
                  <a:pt x="1220913" y="307085"/>
                </a:lnTo>
                <a:lnTo>
                  <a:pt x="1223343" y="311765"/>
                </a:lnTo>
                <a:lnTo>
                  <a:pt x="1224737" y="316991"/>
                </a:lnTo>
                <a:lnTo>
                  <a:pt x="1020127" y="316991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5"/>
                </a:lnTo>
                <a:lnTo>
                  <a:pt x="725709" y="848867"/>
                </a:lnTo>
                <a:close/>
              </a:path>
              <a:path w="5741670" h="1073150">
                <a:moveTo>
                  <a:pt x="687990" y="128015"/>
                </a:moveTo>
                <a:lnTo>
                  <a:pt x="0" y="128015"/>
                </a:lnTo>
                <a:lnTo>
                  <a:pt x="20669" y="36575"/>
                </a:lnTo>
                <a:lnTo>
                  <a:pt x="708660" y="36575"/>
                </a:lnTo>
                <a:lnTo>
                  <a:pt x="687990" y="128015"/>
                </a:lnTo>
                <a:close/>
              </a:path>
              <a:path w="5741670" h="1073150">
                <a:moveTo>
                  <a:pt x="232600" y="848867"/>
                </a:moveTo>
                <a:lnTo>
                  <a:pt x="123444" y="848867"/>
                </a:lnTo>
                <a:lnTo>
                  <a:pt x="290226" y="128015"/>
                </a:lnTo>
                <a:lnTo>
                  <a:pt x="399478" y="128015"/>
                </a:lnTo>
                <a:lnTo>
                  <a:pt x="232600" y="848867"/>
                </a:lnTo>
                <a:close/>
              </a:path>
              <a:path w="5741670" h="1073150">
                <a:moveTo>
                  <a:pt x="1220913" y="307085"/>
                </a:moveTo>
                <a:lnTo>
                  <a:pt x="850868" y="307085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7" y="223931"/>
                </a:lnTo>
                <a:lnTo>
                  <a:pt x="1065561" y="222503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5"/>
                </a:lnTo>
                <a:close/>
              </a:path>
              <a:path w="5741670" h="1073150">
                <a:moveTo>
                  <a:pt x="1133284" y="848867"/>
                </a:moveTo>
                <a:lnTo>
                  <a:pt x="1032224" y="848867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712" y="409098"/>
                </a:lnTo>
                <a:lnTo>
                  <a:pt x="1123299" y="387703"/>
                </a:lnTo>
                <a:lnTo>
                  <a:pt x="1102042" y="340233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40" y="318475"/>
                </a:lnTo>
                <a:lnTo>
                  <a:pt x="1020127" y="316991"/>
                </a:lnTo>
                <a:lnTo>
                  <a:pt x="1224737" y="316991"/>
                </a:lnTo>
                <a:lnTo>
                  <a:pt x="1231668" y="342972"/>
                </a:lnTo>
                <a:lnTo>
                  <a:pt x="1234439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7"/>
                </a:lnTo>
                <a:close/>
              </a:path>
              <a:path w="5741670" h="1073150">
                <a:moveTo>
                  <a:pt x="1459325" y="356615"/>
                </a:moveTo>
                <a:lnTo>
                  <a:pt x="1453896" y="356615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6"/>
                </a:lnTo>
                <a:lnTo>
                  <a:pt x="1679924" y="225551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5"/>
                </a:lnTo>
                <a:lnTo>
                  <a:pt x="1661636" y="310895"/>
                </a:lnTo>
                <a:lnTo>
                  <a:pt x="1638368" y="311884"/>
                </a:lnTo>
                <a:lnTo>
                  <a:pt x="1637930" y="311884"/>
                </a:lnTo>
                <a:lnTo>
                  <a:pt x="1612058" y="314824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5"/>
                </a:lnTo>
                <a:close/>
              </a:path>
              <a:path w="5741670" h="1073150">
                <a:moveTo>
                  <a:pt x="1484185" y="865631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30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1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1"/>
                </a:lnTo>
                <a:lnTo>
                  <a:pt x="1795056" y="439193"/>
                </a:lnTo>
                <a:lnTo>
                  <a:pt x="1796689" y="432327"/>
                </a:lnTo>
                <a:lnTo>
                  <a:pt x="1798160" y="425944"/>
                </a:lnTo>
                <a:lnTo>
                  <a:pt x="1801035" y="412838"/>
                </a:lnTo>
                <a:lnTo>
                  <a:pt x="1801082" y="412622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801199" y="384250"/>
                </a:lnTo>
                <a:lnTo>
                  <a:pt x="1799309" y="373284"/>
                </a:lnTo>
                <a:lnTo>
                  <a:pt x="1799260" y="372998"/>
                </a:lnTo>
                <a:lnTo>
                  <a:pt x="1778960" y="339423"/>
                </a:lnTo>
                <a:lnTo>
                  <a:pt x="1741151" y="319629"/>
                </a:lnTo>
                <a:lnTo>
                  <a:pt x="1690913" y="311884"/>
                </a:lnTo>
                <a:lnTo>
                  <a:pt x="1661636" y="310895"/>
                </a:lnTo>
                <a:lnTo>
                  <a:pt x="1893766" y="310895"/>
                </a:lnTo>
                <a:lnTo>
                  <a:pt x="1902986" y="337495"/>
                </a:lnTo>
                <a:lnTo>
                  <a:pt x="1906495" y="372998"/>
                </a:lnTo>
                <a:lnTo>
                  <a:pt x="1906523" y="373284"/>
                </a:lnTo>
                <a:lnTo>
                  <a:pt x="1902812" y="412622"/>
                </a:lnTo>
                <a:lnTo>
                  <a:pt x="1877021" y="528827"/>
                </a:lnTo>
                <a:lnTo>
                  <a:pt x="1774602" y="528827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1" y="753617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1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4"/>
                </a:lnTo>
                <a:lnTo>
                  <a:pt x="1774602" y="528827"/>
                </a:lnTo>
                <a:lnTo>
                  <a:pt x="1877021" y="528827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7"/>
                </a:moveTo>
                <a:lnTo>
                  <a:pt x="1702022" y="848867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7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3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7"/>
                </a:moveTo>
                <a:lnTo>
                  <a:pt x="2001012" y="848867"/>
                </a:lnTo>
                <a:lnTo>
                  <a:pt x="2141124" y="239267"/>
                </a:lnTo>
                <a:lnTo>
                  <a:pt x="2243613" y="239267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1"/>
                </a:lnTo>
                <a:lnTo>
                  <a:pt x="2397728" y="316991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7"/>
                </a:lnTo>
                <a:close/>
              </a:path>
              <a:path w="5741670" h="1073150">
                <a:moveTo>
                  <a:pt x="2512028" y="848867"/>
                </a:moveTo>
                <a:lnTo>
                  <a:pt x="2410968" y="848867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6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1"/>
                </a:lnTo>
                <a:lnTo>
                  <a:pt x="2602391" y="316991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7"/>
                </a:lnTo>
                <a:close/>
              </a:path>
              <a:path w="5741670" h="1073150">
                <a:moveTo>
                  <a:pt x="2815971" y="848867"/>
                </a:moveTo>
                <a:lnTo>
                  <a:pt x="2712719" y="848867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2"/>
                </a:lnTo>
                <a:lnTo>
                  <a:pt x="2815971" y="848867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7"/>
                </a:lnTo>
                <a:lnTo>
                  <a:pt x="3377183" y="239267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7"/>
                </a:moveTo>
                <a:lnTo>
                  <a:pt x="3142393" y="848867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7"/>
                </a:lnTo>
                <a:close/>
              </a:path>
              <a:path w="5741670" h="1073150">
                <a:moveTo>
                  <a:pt x="3866483" y="1072895"/>
                </a:moveTo>
                <a:lnTo>
                  <a:pt x="3752088" y="1072895"/>
                </a:lnTo>
                <a:lnTo>
                  <a:pt x="3930015" y="811434"/>
                </a:lnTo>
                <a:lnTo>
                  <a:pt x="3820667" y="239267"/>
                </a:lnTo>
                <a:lnTo>
                  <a:pt x="3924586" y="239267"/>
                </a:lnTo>
                <a:lnTo>
                  <a:pt x="4010311" y="693419"/>
                </a:lnTo>
                <a:lnTo>
                  <a:pt x="4116186" y="693419"/>
                </a:lnTo>
                <a:lnTo>
                  <a:pt x="3866483" y="1072895"/>
                </a:lnTo>
                <a:close/>
              </a:path>
              <a:path w="5741670" h="1073150">
                <a:moveTo>
                  <a:pt x="4116186" y="693419"/>
                </a:moveTo>
                <a:lnTo>
                  <a:pt x="4010311" y="693419"/>
                </a:lnTo>
                <a:lnTo>
                  <a:pt x="4301871" y="239267"/>
                </a:lnTo>
                <a:lnTo>
                  <a:pt x="4415028" y="239267"/>
                </a:lnTo>
                <a:lnTo>
                  <a:pt x="4116186" y="693419"/>
                </a:lnTo>
                <a:close/>
              </a:path>
              <a:path w="5741670" h="1073150">
                <a:moveTo>
                  <a:pt x="4664868" y="865631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7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7" y="374714"/>
                </a:lnTo>
                <a:lnTo>
                  <a:pt x="4555243" y="318367"/>
                </a:lnTo>
                <a:lnTo>
                  <a:pt x="4610717" y="273932"/>
                </a:lnTo>
                <a:lnTo>
                  <a:pt x="4675909" y="241323"/>
                </a:lnTo>
                <a:lnTo>
                  <a:pt x="4747709" y="224645"/>
                </a:lnTo>
                <a:lnTo>
                  <a:pt x="4785931" y="222503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7"/>
                </a:lnTo>
                <a:lnTo>
                  <a:pt x="4769453" y="307847"/>
                </a:lnTo>
                <a:lnTo>
                  <a:pt x="4743770" y="309492"/>
                </a:lnTo>
                <a:lnTo>
                  <a:pt x="4696440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1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7"/>
                </a:lnTo>
                <a:lnTo>
                  <a:pt x="4649808" y="777823"/>
                </a:lnTo>
                <a:lnTo>
                  <a:pt x="4681347" y="780287"/>
                </a:lnTo>
                <a:lnTo>
                  <a:pt x="4883964" y="780287"/>
                </a:lnTo>
                <a:lnTo>
                  <a:pt x="4868382" y="794527"/>
                </a:lnTo>
                <a:lnTo>
                  <a:pt x="4809934" y="833246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1"/>
                </a:lnTo>
                <a:close/>
              </a:path>
              <a:path w="5741670" h="1073150">
                <a:moveTo>
                  <a:pt x="4883964" y="780287"/>
                </a:moveTo>
                <a:lnTo>
                  <a:pt x="4681347" y="780287"/>
                </a:lnTo>
                <a:lnTo>
                  <a:pt x="4706869" y="778771"/>
                </a:lnTo>
                <a:lnTo>
                  <a:pt x="4731151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7"/>
                </a:lnTo>
                <a:lnTo>
                  <a:pt x="4974003" y="307847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3" y="454913"/>
                </a:lnTo>
                <a:lnTo>
                  <a:pt x="5013961" y="494601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7"/>
                </a:lnTo>
                <a:close/>
              </a:path>
              <a:path w="5741670" h="1073150">
                <a:moveTo>
                  <a:pt x="5297805" y="865631"/>
                </a:moveTo>
                <a:lnTo>
                  <a:pt x="5228034" y="855773"/>
                </a:lnTo>
                <a:lnTo>
                  <a:pt x="5175409" y="826198"/>
                </a:lnTo>
                <a:lnTo>
                  <a:pt x="5142357" y="777620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5122" y="665729"/>
                </a:lnTo>
                <a:lnTo>
                  <a:pt x="5232368" y="239267"/>
                </a:lnTo>
                <a:lnTo>
                  <a:pt x="5334857" y="239267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3"/>
                </a:lnTo>
                <a:lnTo>
                  <a:pt x="5240655" y="677417"/>
                </a:lnTo>
                <a:lnTo>
                  <a:pt x="5242137" y="699439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3"/>
                </a:lnTo>
                <a:lnTo>
                  <a:pt x="5617603" y="771143"/>
                </a:lnTo>
                <a:lnTo>
                  <a:pt x="5615192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1"/>
                </a:lnTo>
                <a:close/>
              </a:path>
              <a:path w="5741670" h="1073150">
                <a:moveTo>
                  <a:pt x="5617603" y="771143"/>
                </a:moveTo>
                <a:lnTo>
                  <a:pt x="5345049" y="771143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7"/>
                </a:lnTo>
                <a:lnTo>
                  <a:pt x="5741098" y="239267"/>
                </a:lnTo>
                <a:lnTo>
                  <a:pt x="5617603" y="771143"/>
                </a:lnTo>
                <a:close/>
              </a:path>
              <a:path w="5741670" h="1073150">
                <a:moveTo>
                  <a:pt x="5599557" y="848867"/>
                </a:moveTo>
                <a:lnTo>
                  <a:pt x="5497067" y="848867"/>
                </a:lnTo>
                <a:lnTo>
                  <a:pt x="5512689" y="781526"/>
                </a:lnTo>
                <a:lnTo>
                  <a:pt x="5615192" y="781526"/>
                </a:lnTo>
                <a:lnTo>
                  <a:pt x="5599557" y="848867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291</Words>
  <Application>Microsoft Office PowerPoint</Application>
  <PresentationFormat>Custom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Verdana</vt:lpstr>
      <vt:lpstr>Wingdings</vt:lpstr>
      <vt:lpstr>Office Theme</vt:lpstr>
      <vt:lpstr>UEC3942: Introduction to Sensors and Actuators</vt:lpstr>
      <vt:lpstr>Learning Outcomes</vt:lpstr>
      <vt:lpstr>Introduction to Photoconductivity</vt:lpstr>
      <vt:lpstr>Terminology and Reliability</vt:lpstr>
      <vt:lpstr>Photoconductive Cell</vt:lpstr>
      <vt:lpstr>Physical Construction and Protection</vt:lpstr>
      <vt:lpstr>Electrical Characteristics of LDRs</vt:lpstr>
      <vt:lpstr>Case Study: The ORP12 Cell</vt:lpstr>
      <vt:lpstr>Response Times of LDRs</vt:lpstr>
      <vt:lpstr>Industrial Applications</vt:lpstr>
      <vt:lpstr>Summary and Comparison</vt:lpstr>
      <vt:lpstr>Test your understanding</vt:lpstr>
      <vt:lpstr>Textbook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Photoresistors and photoconductors</dc:title>
  <dc:creator>Karthie Alias Ayyadurai</dc:creator>
  <cp:lastModifiedBy>Microsoft account</cp:lastModifiedBy>
  <cp:revision>2</cp:revision>
  <dcterms:created xsi:type="dcterms:W3CDTF">2026-07-01T10:12:42Z</dcterms:created>
  <dcterms:modified xsi:type="dcterms:W3CDTF">2026-07-01T10:38:23Z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2026-01-27T00:00:00Z</vt:filetime>
  </property>
  <property fmtid="{D5CDD505-2E9C-101B-9397-08002B2CF9AE}" pid="4" name="LastSaved">
    <vt:filetime>2026-07-01T00:00:00Z</vt:filetime>
  </property>
  <property fmtid="{D5CDD505-2E9C-101B-9397-08002B2CF9AE}" pid="5" name="Producer">
    <vt:lpwstr>Microsoft: Print To PDF</vt:lpwstr>
  </property>
</Properties>
</file>