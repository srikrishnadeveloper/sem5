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2" r:id="rId27"/>
    <p:sldId id="283" r:id="rId28"/>
    <p:sldId id="284" r:id="rId29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446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182" y="6590288"/>
            <a:ext cx="7319645" cy="237490"/>
          </a:xfrm>
          <a:custGeom>
            <a:avLst/>
            <a:gdLst/>
            <a:ahLst/>
            <a:cxnLst/>
            <a:rect l="l" t="t" r="r" b="b"/>
            <a:pathLst>
              <a:path w="7319645" h="237490">
                <a:moveTo>
                  <a:pt x="7181905" y="0"/>
                </a:moveTo>
                <a:lnTo>
                  <a:pt x="0" y="0"/>
                </a:lnTo>
                <a:lnTo>
                  <a:pt x="0" y="237309"/>
                </a:lnTo>
                <a:lnTo>
                  <a:pt x="7319308" y="237309"/>
                </a:lnTo>
                <a:lnTo>
                  <a:pt x="7181905" y="0"/>
                </a:lnTo>
                <a:close/>
              </a:path>
            </a:pathLst>
          </a:custGeom>
          <a:solidFill>
            <a:srgbClr val="86BCD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7182" y="6641136"/>
            <a:ext cx="7398384" cy="217170"/>
          </a:xfrm>
          <a:custGeom>
            <a:avLst/>
            <a:gdLst/>
            <a:ahLst/>
            <a:cxnLst/>
            <a:rect l="l" t="t" r="r" b="b"/>
            <a:pathLst>
              <a:path w="7398384" h="217170">
                <a:moveTo>
                  <a:pt x="7267827" y="0"/>
                </a:moveTo>
                <a:lnTo>
                  <a:pt x="0" y="0"/>
                </a:lnTo>
                <a:lnTo>
                  <a:pt x="0" y="216862"/>
                </a:lnTo>
                <a:lnTo>
                  <a:pt x="7398039" y="216862"/>
                </a:lnTo>
                <a:lnTo>
                  <a:pt x="7267827" y="0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826223" y="6344500"/>
            <a:ext cx="945515" cy="381635"/>
          </a:xfrm>
          <a:custGeom>
            <a:avLst/>
            <a:gdLst/>
            <a:ahLst/>
            <a:cxnLst/>
            <a:rect l="l" t="t" r="r" b="b"/>
            <a:pathLst>
              <a:path w="945515" h="381634">
                <a:moveTo>
                  <a:pt x="369366" y="93243"/>
                </a:moveTo>
                <a:lnTo>
                  <a:pt x="356209" y="46494"/>
                </a:lnTo>
                <a:lnTo>
                  <a:pt x="322122" y="18021"/>
                </a:lnTo>
                <a:lnTo>
                  <a:pt x="275145" y="3848"/>
                </a:lnTo>
                <a:lnTo>
                  <a:pt x="223316" y="0"/>
                </a:lnTo>
                <a:lnTo>
                  <a:pt x="162598" y="5029"/>
                </a:lnTo>
                <a:lnTo>
                  <a:pt x="114617" y="19812"/>
                </a:lnTo>
                <a:lnTo>
                  <a:pt x="79819" y="43942"/>
                </a:lnTo>
                <a:lnTo>
                  <a:pt x="58635" y="77038"/>
                </a:lnTo>
                <a:lnTo>
                  <a:pt x="51473" y="118668"/>
                </a:lnTo>
                <a:lnTo>
                  <a:pt x="54978" y="142633"/>
                </a:lnTo>
                <a:lnTo>
                  <a:pt x="66548" y="164223"/>
                </a:lnTo>
                <a:lnTo>
                  <a:pt x="87769" y="184213"/>
                </a:lnTo>
                <a:lnTo>
                  <a:pt x="120230" y="203428"/>
                </a:lnTo>
                <a:lnTo>
                  <a:pt x="189001" y="237312"/>
                </a:lnTo>
                <a:lnTo>
                  <a:pt x="201599" y="243941"/>
                </a:lnTo>
                <a:lnTo>
                  <a:pt x="212598" y="252145"/>
                </a:lnTo>
                <a:lnTo>
                  <a:pt x="220370" y="263537"/>
                </a:lnTo>
                <a:lnTo>
                  <a:pt x="223316" y="279704"/>
                </a:lnTo>
                <a:lnTo>
                  <a:pt x="218821" y="296786"/>
                </a:lnTo>
                <a:lnTo>
                  <a:pt x="218744" y="297040"/>
                </a:lnTo>
                <a:lnTo>
                  <a:pt x="206133" y="310413"/>
                </a:lnTo>
                <a:lnTo>
                  <a:pt x="187071" y="319024"/>
                </a:lnTo>
                <a:lnTo>
                  <a:pt x="163195" y="322072"/>
                </a:lnTo>
                <a:lnTo>
                  <a:pt x="144272" y="317703"/>
                </a:lnTo>
                <a:lnTo>
                  <a:pt x="127787" y="306184"/>
                </a:lnTo>
                <a:lnTo>
                  <a:pt x="116128" y="289890"/>
                </a:lnTo>
                <a:lnTo>
                  <a:pt x="111721" y="271221"/>
                </a:lnTo>
                <a:lnTo>
                  <a:pt x="111721" y="262750"/>
                </a:lnTo>
                <a:lnTo>
                  <a:pt x="0" y="262750"/>
                </a:lnTo>
                <a:lnTo>
                  <a:pt x="0" y="279704"/>
                </a:lnTo>
                <a:lnTo>
                  <a:pt x="1727" y="303530"/>
                </a:lnTo>
                <a:lnTo>
                  <a:pt x="18072" y="341680"/>
                </a:lnTo>
                <a:lnTo>
                  <a:pt x="56883" y="367093"/>
                </a:lnTo>
                <a:lnTo>
                  <a:pt x="121323" y="379806"/>
                </a:lnTo>
                <a:lnTo>
                  <a:pt x="163195" y="381393"/>
                </a:lnTo>
                <a:lnTo>
                  <a:pt x="224853" y="375500"/>
                </a:lnTo>
                <a:lnTo>
                  <a:pt x="274955" y="358622"/>
                </a:lnTo>
                <a:lnTo>
                  <a:pt x="312254" y="331978"/>
                </a:lnTo>
                <a:lnTo>
                  <a:pt x="318795" y="322072"/>
                </a:lnTo>
                <a:lnTo>
                  <a:pt x="335534" y="296786"/>
                </a:lnTo>
                <a:lnTo>
                  <a:pt x="343560" y="254266"/>
                </a:lnTo>
                <a:lnTo>
                  <a:pt x="338874" y="230428"/>
                </a:lnTo>
                <a:lnTo>
                  <a:pt x="325348" y="209778"/>
                </a:lnTo>
                <a:lnTo>
                  <a:pt x="303771" y="192290"/>
                </a:lnTo>
                <a:lnTo>
                  <a:pt x="206159" y="144081"/>
                </a:lnTo>
                <a:lnTo>
                  <a:pt x="188556" y="136144"/>
                </a:lnTo>
                <a:lnTo>
                  <a:pt x="175006" y="125018"/>
                </a:lnTo>
                <a:lnTo>
                  <a:pt x="166281" y="110718"/>
                </a:lnTo>
                <a:lnTo>
                  <a:pt x="163195" y="93243"/>
                </a:lnTo>
                <a:lnTo>
                  <a:pt x="167627" y="80784"/>
                </a:lnTo>
                <a:lnTo>
                  <a:pt x="179324" y="69926"/>
                </a:lnTo>
                <a:lnTo>
                  <a:pt x="195846" y="62255"/>
                </a:lnTo>
                <a:lnTo>
                  <a:pt x="214795" y="59347"/>
                </a:lnTo>
                <a:lnTo>
                  <a:pt x="232346" y="62382"/>
                </a:lnTo>
                <a:lnTo>
                  <a:pt x="245910" y="70993"/>
                </a:lnTo>
                <a:lnTo>
                  <a:pt x="254660" y="84366"/>
                </a:lnTo>
                <a:lnTo>
                  <a:pt x="257759" y="101714"/>
                </a:lnTo>
                <a:lnTo>
                  <a:pt x="257759" y="110185"/>
                </a:lnTo>
                <a:lnTo>
                  <a:pt x="369366" y="110185"/>
                </a:lnTo>
                <a:lnTo>
                  <a:pt x="369366" y="93243"/>
                </a:lnTo>
                <a:close/>
              </a:path>
              <a:path w="945515" h="381634">
                <a:moveTo>
                  <a:pt x="609968" y="93243"/>
                </a:moveTo>
                <a:lnTo>
                  <a:pt x="595604" y="46494"/>
                </a:lnTo>
                <a:lnTo>
                  <a:pt x="559498" y="18021"/>
                </a:lnTo>
                <a:lnTo>
                  <a:pt x="512102" y="3848"/>
                </a:lnTo>
                <a:lnTo>
                  <a:pt x="463931" y="0"/>
                </a:lnTo>
                <a:lnTo>
                  <a:pt x="428332" y="1460"/>
                </a:lnTo>
                <a:lnTo>
                  <a:pt x="398386" y="5308"/>
                </a:lnTo>
                <a:lnTo>
                  <a:pt x="373291" y="10731"/>
                </a:lnTo>
                <a:lnTo>
                  <a:pt x="352196" y="16954"/>
                </a:lnTo>
                <a:lnTo>
                  <a:pt x="364807" y="31267"/>
                </a:lnTo>
                <a:lnTo>
                  <a:pt x="375793" y="48742"/>
                </a:lnTo>
                <a:lnTo>
                  <a:pt x="383578" y="69405"/>
                </a:lnTo>
                <a:lnTo>
                  <a:pt x="386524" y="93243"/>
                </a:lnTo>
                <a:lnTo>
                  <a:pt x="386524" y="101714"/>
                </a:lnTo>
                <a:lnTo>
                  <a:pt x="378002" y="110185"/>
                </a:lnTo>
                <a:lnTo>
                  <a:pt x="378002" y="118668"/>
                </a:lnTo>
                <a:lnTo>
                  <a:pt x="283438" y="118668"/>
                </a:lnTo>
                <a:lnTo>
                  <a:pt x="288137" y="142633"/>
                </a:lnTo>
                <a:lnTo>
                  <a:pt x="301713" y="164223"/>
                </a:lnTo>
                <a:lnTo>
                  <a:pt x="323329" y="184213"/>
                </a:lnTo>
                <a:lnTo>
                  <a:pt x="352196" y="203428"/>
                </a:lnTo>
                <a:lnTo>
                  <a:pt x="420966" y="237312"/>
                </a:lnTo>
                <a:lnTo>
                  <a:pt x="433565" y="243941"/>
                </a:lnTo>
                <a:lnTo>
                  <a:pt x="444563" y="252145"/>
                </a:lnTo>
                <a:lnTo>
                  <a:pt x="452335" y="263537"/>
                </a:lnTo>
                <a:lnTo>
                  <a:pt x="455282" y="279704"/>
                </a:lnTo>
                <a:lnTo>
                  <a:pt x="452120" y="296786"/>
                </a:lnTo>
                <a:lnTo>
                  <a:pt x="452069" y="297040"/>
                </a:lnTo>
                <a:lnTo>
                  <a:pt x="442417" y="310413"/>
                </a:lnTo>
                <a:lnTo>
                  <a:pt x="426326" y="319024"/>
                </a:lnTo>
                <a:lnTo>
                  <a:pt x="403809" y="322072"/>
                </a:lnTo>
                <a:lnTo>
                  <a:pt x="381215" y="317703"/>
                </a:lnTo>
                <a:lnTo>
                  <a:pt x="365086" y="306184"/>
                </a:lnTo>
                <a:lnTo>
                  <a:pt x="355422" y="289890"/>
                </a:lnTo>
                <a:lnTo>
                  <a:pt x="352196" y="271221"/>
                </a:lnTo>
                <a:lnTo>
                  <a:pt x="352196" y="262750"/>
                </a:lnTo>
                <a:lnTo>
                  <a:pt x="347764" y="288036"/>
                </a:lnTo>
                <a:lnTo>
                  <a:pt x="336080" y="312534"/>
                </a:lnTo>
                <a:lnTo>
                  <a:pt x="319544" y="335445"/>
                </a:lnTo>
                <a:lnTo>
                  <a:pt x="300596" y="355981"/>
                </a:lnTo>
                <a:lnTo>
                  <a:pt x="292074" y="355981"/>
                </a:lnTo>
                <a:lnTo>
                  <a:pt x="283438" y="364439"/>
                </a:lnTo>
                <a:lnTo>
                  <a:pt x="305739" y="370674"/>
                </a:lnTo>
                <a:lnTo>
                  <a:pt x="332867" y="376097"/>
                </a:lnTo>
                <a:lnTo>
                  <a:pt x="363207" y="379945"/>
                </a:lnTo>
                <a:lnTo>
                  <a:pt x="395160" y="381393"/>
                </a:lnTo>
                <a:lnTo>
                  <a:pt x="456819" y="375500"/>
                </a:lnTo>
                <a:lnTo>
                  <a:pt x="506920" y="358622"/>
                </a:lnTo>
                <a:lnTo>
                  <a:pt x="544220" y="331978"/>
                </a:lnTo>
                <a:lnTo>
                  <a:pt x="550760" y="322072"/>
                </a:lnTo>
                <a:lnTo>
                  <a:pt x="567499" y="296786"/>
                </a:lnTo>
                <a:lnTo>
                  <a:pt x="575525" y="254266"/>
                </a:lnTo>
                <a:lnTo>
                  <a:pt x="572173" y="230428"/>
                </a:lnTo>
                <a:lnTo>
                  <a:pt x="561581" y="209778"/>
                </a:lnTo>
                <a:lnTo>
                  <a:pt x="542925" y="192290"/>
                </a:lnTo>
                <a:lnTo>
                  <a:pt x="515404" y="177990"/>
                </a:lnTo>
                <a:lnTo>
                  <a:pt x="446646" y="144081"/>
                </a:lnTo>
                <a:lnTo>
                  <a:pt x="429120" y="136144"/>
                </a:lnTo>
                <a:lnTo>
                  <a:pt x="415594" y="125018"/>
                </a:lnTo>
                <a:lnTo>
                  <a:pt x="406882" y="110718"/>
                </a:lnTo>
                <a:lnTo>
                  <a:pt x="403809" y="93243"/>
                </a:lnTo>
                <a:lnTo>
                  <a:pt x="406882" y="80784"/>
                </a:lnTo>
                <a:lnTo>
                  <a:pt x="415594" y="69926"/>
                </a:lnTo>
                <a:lnTo>
                  <a:pt x="429120" y="62255"/>
                </a:lnTo>
                <a:lnTo>
                  <a:pt x="446646" y="59347"/>
                </a:lnTo>
                <a:lnTo>
                  <a:pt x="469239" y="62382"/>
                </a:lnTo>
                <a:lnTo>
                  <a:pt x="485355" y="70993"/>
                </a:lnTo>
                <a:lnTo>
                  <a:pt x="495020" y="84366"/>
                </a:lnTo>
                <a:lnTo>
                  <a:pt x="498246" y="101714"/>
                </a:lnTo>
                <a:lnTo>
                  <a:pt x="489610" y="110185"/>
                </a:lnTo>
                <a:lnTo>
                  <a:pt x="609968" y="110185"/>
                </a:lnTo>
                <a:lnTo>
                  <a:pt x="609968" y="93243"/>
                </a:lnTo>
                <a:close/>
              </a:path>
              <a:path w="945515" h="381634">
                <a:moveTo>
                  <a:pt x="945019" y="93243"/>
                </a:moveTo>
                <a:lnTo>
                  <a:pt x="937361" y="53644"/>
                </a:lnTo>
                <a:lnTo>
                  <a:pt x="916025" y="24371"/>
                </a:lnTo>
                <a:lnTo>
                  <a:pt x="883399" y="6235"/>
                </a:lnTo>
                <a:lnTo>
                  <a:pt x="841933" y="0"/>
                </a:lnTo>
                <a:lnTo>
                  <a:pt x="802030" y="4775"/>
                </a:lnTo>
                <a:lnTo>
                  <a:pt x="761352" y="19075"/>
                </a:lnTo>
                <a:lnTo>
                  <a:pt x="722287" y="42913"/>
                </a:lnTo>
                <a:lnTo>
                  <a:pt x="687247" y="76288"/>
                </a:lnTo>
                <a:lnTo>
                  <a:pt x="704405" y="8483"/>
                </a:lnTo>
                <a:lnTo>
                  <a:pt x="575525" y="8483"/>
                </a:lnTo>
                <a:lnTo>
                  <a:pt x="575525" y="16954"/>
                </a:lnTo>
                <a:lnTo>
                  <a:pt x="596773" y="31267"/>
                </a:lnTo>
                <a:lnTo>
                  <a:pt x="609917" y="48742"/>
                </a:lnTo>
                <a:lnTo>
                  <a:pt x="616623" y="69405"/>
                </a:lnTo>
                <a:lnTo>
                  <a:pt x="618490" y="93243"/>
                </a:lnTo>
                <a:lnTo>
                  <a:pt x="618490" y="118668"/>
                </a:lnTo>
                <a:lnTo>
                  <a:pt x="549846" y="118668"/>
                </a:lnTo>
                <a:lnTo>
                  <a:pt x="548360" y="131381"/>
                </a:lnTo>
                <a:lnTo>
                  <a:pt x="544449" y="144094"/>
                </a:lnTo>
                <a:lnTo>
                  <a:pt x="538911" y="156806"/>
                </a:lnTo>
                <a:lnTo>
                  <a:pt x="532561" y="169519"/>
                </a:lnTo>
                <a:lnTo>
                  <a:pt x="555155" y="188722"/>
                </a:lnTo>
                <a:lnTo>
                  <a:pt x="571284" y="208711"/>
                </a:lnTo>
                <a:lnTo>
                  <a:pt x="580948" y="230301"/>
                </a:lnTo>
                <a:lnTo>
                  <a:pt x="584161" y="254266"/>
                </a:lnTo>
                <a:lnTo>
                  <a:pt x="580948" y="284467"/>
                </a:lnTo>
                <a:lnTo>
                  <a:pt x="571284" y="311480"/>
                </a:lnTo>
                <a:lnTo>
                  <a:pt x="555155" y="335318"/>
                </a:lnTo>
                <a:lnTo>
                  <a:pt x="532561" y="355981"/>
                </a:lnTo>
                <a:lnTo>
                  <a:pt x="524040" y="364439"/>
                </a:lnTo>
                <a:lnTo>
                  <a:pt x="609968" y="364439"/>
                </a:lnTo>
                <a:lnTo>
                  <a:pt x="661454" y="177990"/>
                </a:lnTo>
                <a:lnTo>
                  <a:pt x="676338" y="140652"/>
                </a:lnTo>
                <a:lnTo>
                  <a:pt x="696874" y="108064"/>
                </a:lnTo>
                <a:lnTo>
                  <a:pt x="725474" y="85026"/>
                </a:lnTo>
                <a:lnTo>
                  <a:pt x="764527" y="76288"/>
                </a:lnTo>
                <a:lnTo>
                  <a:pt x="782129" y="78003"/>
                </a:lnTo>
                <a:lnTo>
                  <a:pt x="795693" y="83705"/>
                </a:lnTo>
                <a:lnTo>
                  <a:pt x="804405" y="94170"/>
                </a:lnTo>
                <a:lnTo>
                  <a:pt x="807491" y="110185"/>
                </a:lnTo>
                <a:lnTo>
                  <a:pt x="807364" y="118008"/>
                </a:lnTo>
                <a:lnTo>
                  <a:pt x="806526" y="127139"/>
                </a:lnTo>
                <a:lnTo>
                  <a:pt x="806424" y="128206"/>
                </a:lnTo>
                <a:lnTo>
                  <a:pt x="803897" y="139992"/>
                </a:lnTo>
                <a:lnTo>
                  <a:pt x="798969" y="152565"/>
                </a:lnTo>
                <a:lnTo>
                  <a:pt x="747369" y="322072"/>
                </a:lnTo>
                <a:lnTo>
                  <a:pt x="738733" y="347497"/>
                </a:lnTo>
                <a:lnTo>
                  <a:pt x="738733" y="364439"/>
                </a:lnTo>
                <a:lnTo>
                  <a:pt x="867613" y="364439"/>
                </a:lnTo>
                <a:lnTo>
                  <a:pt x="927735" y="161036"/>
                </a:lnTo>
                <a:lnTo>
                  <a:pt x="936371" y="127139"/>
                </a:lnTo>
                <a:lnTo>
                  <a:pt x="941374" y="119456"/>
                </a:lnTo>
                <a:lnTo>
                  <a:pt x="943940" y="110185"/>
                </a:lnTo>
                <a:lnTo>
                  <a:pt x="944880" y="100914"/>
                </a:lnTo>
                <a:lnTo>
                  <a:pt x="944994" y="94170"/>
                </a:lnTo>
                <a:lnTo>
                  <a:pt x="945019" y="93243"/>
                </a:lnTo>
                <a:close/>
              </a:path>
            </a:pathLst>
          </a:custGeom>
          <a:solidFill>
            <a:srgbClr val="00479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759201" y="281685"/>
            <a:ext cx="3625596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3540" y="1263243"/>
            <a:ext cx="8150225" cy="23120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824654"/>
            <a:ext cx="8641732" cy="103334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076350" y="2752166"/>
            <a:ext cx="6991984" cy="28181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Unit</a:t>
            </a:r>
            <a:r>
              <a:rPr sz="32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III:</a:t>
            </a:r>
            <a:r>
              <a:rPr sz="32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dirty="0">
                <a:solidFill>
                  <a:srgbClr val="FF0000"/>
                </a:solidFill>
                <a:latin typeface="Verdana"/>
                <a:cs typeface="Verdana"/>
              </a:rPr>
              <a:t>Vibratory</a:t>
            </a:r>
            <a:r>
              <a:rPr sz="3200" b="1" spc="-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3200" b="1" spc="-10" dirty="0">
                <a:solidFill>
                  <a:srgbClr val="FF0000"/>
                </a:solidFill>
                <a:latin typeface="Verdana"/>
                <a:cs typeface="Verdana"/>
              </a:rPr>
              <a:t>Gyroscopes</a:t>
            </a:r>
            <a:endParaRPr sz="32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000"/>
              </a:spcBef>
            </a:pPr>
            <a:endParaRPr sz="3200" dirty="0">
              <a:latin typeface="Verdana"/>
              <a:cs typeface="Verdana"/>
            </a:endParaRPr>
          </a:p>
          <a:p>
            <a:pPr marL="2280285" marR="2273300" algn="ctr">
              <a:lnSpc>
                <a:spcPct val="120000"/>
              </a:lnSpc>
            </a:pP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Presentation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808080"/>
                </a:solidFill>
                <a:latin typeface="Verdana"/>
                <a:cs typeface="Verdana"/>
              </a:rPr>
              <a:t>by: 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Dr.</a:t>
            </a:r>
            <a:r>
              <a:rPr sz="2300" spc="-6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lang="en-GB" sz="2300" dirty="0" smtClean="0">
                <a:solidFill>
                  <a:srgbClr val="808080"/>
                </a:solidFill>
                <a:latin typeface="Verdana"/>
                <a:cs typeface="Verdana"/>
              </a:rPr>
              <a:t>C. </a:t>
            </a:r>
            <a:r>
              <a:rPr lang="en-GB" sz="2300" smtClean="0">
                <a:solidFill>
                  <a:srgbClr val="808080"/>
                </a:solidFill>
                <a:latin typeface="Verdana"/>
                <a:cs typeface="Verdana"/>
              </a:rPr>
              <a:t>Annadurai</a:t>
            </a:r>
            <a:endParaRPr sz="2300" dirty="0">
              <a:latin typeface="Verdana"/>
              <a:cs typeface="Verdana"/>
            </a:endParaRPr>
          </a:p>
          <a:p>
            <a:pPr marL="1071880" marR="1061720" algn="ctr">
              <a:lnSpc>
                <a:spcPts val="3310"/>
              </a:lnSpc>
              <a:spcBef>
                <a:spcPts val="110"/>
              </a:spcBef>
            </a:pP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Associate</a:t>
            </a:r>
            <a:r>
              <a:rPr sz="2300" spc="-7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Professor/Dept.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300" spc="-7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spc="-25" dirty="0">
                <a:solidFill>
                  <a:srgbClr val="808080"/>
                </a:solidFill>
                <a:latin typeface="Verdana"/>
                <a:cs typeface="Verdana"/>
              </a:rPr>
              <a:t>ECE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SSN</a:t>
            </a:r>
            <a:r>
              <a:rPr sz="2300" spc="-45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College</a:t>
            </a:r>
            <a:r>
              <a:rPr sz="2300" spc="-4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dirty="0">
                <a:solidFill>
                  <a:srgbClr val="808080"/>
                </a:solidFill>
                <a:latin typeface="Verdana"/>
                <a:cs typeface="Verdana"/>
              </a:rPr>
              <a:t>of</a:t>
            </a:r>
            <a:r>
              <a:rPr sz="2300" spc="-40" dirty="0">
                <a:solidFill>
                  <a:srgbClr val="808080"/>
                </a:solidFill>
                <a:latin typeface="Verdana"/>
                <a:cs typeface="Verdana"/>
              </a:rPr>
              <a:t> </a:t>
            </a:r>
            <a:r>
              <a:rPr sz="2300" spc="-10" dirty="0">
                <a:solidFill>
                  <a:srgbClr val="808080"/>
                </a:solidFill>
                <a:latin typeface="Verdana"/>
                <a:cs typeface="Verdana"/>
              </a:rPr>
              <a:t>Engineering</a:t>
            </a:r>
            <a:endParaRPr sz="2300" dirty="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752600"/>
          </a:xfrm>
          <a:custGeom>
            <a:avLst/>
            <a:gdLst/>
            <a:ahLst/>
            <a:cxnLst/>
            <a:rect l="l" t="t" r="r" b="b"/>
            <a:pathLst>
              <a:path w="9144000" h="1752600">
                <a:moveTo>
                  <a:pt x="9144000" y="0"/>
                </a:moveTo>
                <a:lnTo>
                  <a:pt x="0" y="0"/>
                </a:lnTo>
                <a:lnTo>
                  <a:pt x="0" y="1752600"/>
                </a:lnTo>
                <a:lnTo>
                  <a:pt x="9144000" y="1752600"/>
                </a:lnTo>
                <a:lnTo>
                  <a:pt x="9144000" y="0"/>
                </a:lnTo>
                <a:close/>
              </a:path>
            </a:pathLst>
          </a:custGeom>
          <a:solidFill>
            <a:srgbClr val="3352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96900" y="688848"/>
            <a:ext cx="8362950" cy="372538"/>
          </a:xfrm>
          <a:prstGeom prst="rect">
            <a:avLst/>
          </a:prstGeom>
          <a:solidFill>
            <a:srgbClr val="00FF00"/>
          </a:solidFill>
        </p:spPr>
        <p:txBody>
          <a:bodyPr vert="horz" wrap="square" lIns="0" tIns="31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5"/>
              </a:spcBef>
            </a:pPr>
            <a:r>
              <a:rPr lang="en-IN" sz="2400" dirty="0">
                <a:solidFill>
                  <a:srgbClr val="FF0000"/>
                </a:solidFill>
              </a:rPr>
              <a:t>UEC3942:</a:t>
            </a:r>
            <a:r>
              <a:rPr lang="en-IN" sz="2400" spc="-75" dirty="0">
                <a:solidFill>
                  <a:srgbClr val="FF0000"/>
                </a:solidFill>
              </a:rPr>
              <a:t> </a:t>
            </a:r>
            <a:r>
              <a:rPr sz="2400" dirty="0" smtClean="0">
                <a:solidFill>
                  <a:srgbClr val="FF0000"/>
                </a:solidFill>
              </a:rPr>
              <a:t>Introduction</a:t>
            </a:r>
            <a:r>
              <a:rPr sz="2400" spc="-30" dirty="0" smtClean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to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Sensors</a:t>
            </a:r>
            <a:r>
              <a:rPr sz="2400" spc="-45" dirty="0">
                <a:solidFill>
                  <a:srgbClr val="FF0000"/>
                </a:solidFill>
              </a:rPr>
              <a:t> </a:t>
            </a:r>
            <a:r>
              <a:rPr sz="2400" dirty="0">
                <a:solidFill>
                  <a:srgbClr val="FF0000"/>
                </a:solidFill>
              </a:rPr>
              <a:t>and</a:t>
            </a:r>
            <a:r>
              <a:rPr sz="2400" spc="-40" dirty="0">
                <a:solidFill>
                  <a:srgbClr val="FF0000"/>
                </a:solidFill>
              </a:rPr>
              <a:t> </a:t>
            </a:r>
            <a:r>
              <a:rPr sz="2400" spc="-10" dirty="0">
                <a:solidFill>
                  <a:srgbClr val="FF0000"/>
                </a:solidFill>
              </a:rPr>
              <a:t>Actuators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9101" y="261180"/>
            <a:ext cx="2690495" cy="6172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Overview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17294"/>
            <a:ext cx="608965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  <a:tab pos="896619" algn="l"/>
                <a:tab pos="2595880" algn="l"/>
                <a:tab pos="3261995" algn="l"/>
                <a:tab pos="4530090" algn="l"/>
              </a:tabLst>
            </a:pPr>
            <a:r>
              <a:rPr sz="2000" spc="-25" dirty="0">
                <a:latin typeface="Verdana"/>
                <a:cs typeface="Verdana"/>
              </a:rPr>
              <a:t>To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understand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working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mechanism, </a:t>
            </a:r>
            <a:r>
              <a:rPr sz="2000" dirty="0">
                <a:latin typeface="Verdana"/>
                <a:cs typeface="Verdana"/>
              </a:rPr>
              <a:t>applications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Vibratory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Gyroscopes.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55714" y="1569465"/>
            <a:ext cx="16764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93800" algn="l"/>
              </a:tabLst>
            </a:pPr>
            <a:r>
              <a:rPr sz="2000" spc="-10" dirty="0">
                <a:latin typeface="Verdana"/>
                <a:cs typeface="Verdana"/>
              </a:rPr>
              <a:t>design,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and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2073020" y="281685"/>
            <a:ext cx="50012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Learning</a:t>
            </a:r>
            <a:r>
              <a:rPr spc="-60" dirty="0"/>
              <a:t> </a:t>
            </a:r>
            <a:r>
              <a:rPr spc="-10" dirty="0"/>
              <a:t>Outcomes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9101" y="261180"/>
            <a:ext cx="2690495" cy="617220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Overview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5940" y="1417294"/>
            <a:ext cx="7997825" cy="41421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 algn="just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What</a:t>
            </a:r>
            <a:r>
              <a:rPr sz="2000" b="1" spc="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is</a:t>
            </a:r>
            <a:r>
              <a:rPr sz="2000" b="1" spc="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a</a:t>
            </a:r>
            <a:r>
              <a:rPr sz="20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Vibratory</a:t>
            </a:r>
            <a:r>
              <a:rPr sz="2000" b="1" spc="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Gyroscope?</a:t>
            </a:r>
            <a:r>
              <a:rPr sz="2000" b="1" spc="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device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measures </a:t>
            </a:r>
            <a:r>
              <a:rPr sz="2000" dirty="0">
                <a:latin typeface="Verdana"/>
                <a:cs typeface="Verdana"/>
              </a:rPr>
              <a:t>angular</a:t>
            </a:r>
            <a:r>
              <a:rPr sz="2000" spc="3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velocity</a:t>
            </a:r>
            <a:r>
              <a:rPr sz="2000" spc="3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(rotation</a:t>
            </a:r>
            <a:r>
              <a:rPr sz="2000" spc="3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rate)</a:t>
            </a:r>
            <a:r>
              <a:rPr sz="2000" spc="3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3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detecting</a:t>
            </a:r>
            <a:r>
              <a:rPr sz="2000" spc="3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345" dirty="0"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Coriolis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force</a:t>
            </a:r>
            <a:r>
              <a:rPr sz="2000" b="1" spc="-3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acting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continuously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vibrating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structure.</a:t>
            </a:r>
            <a:endParaRPr sz="200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2000" b="1" spc="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Shift:</a:t>
            </a:r>
            <a:r>
              <a:rPr sz="2000" b="1" spc="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Moving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bulky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mechanical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"spinning </a:t>
            </a:r>
            <a:r>
              <a:rPr sz="2000" spc="-10" dirty="0">
                <a:latin typeface="Verdana"/>
                <a:cs typeface="Verdana"/>
              </a:rPr>
              <a:t>wheel"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gyros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Micro-Electro-</a:t>
            </a:r>
            <a:r>
              <a:rPr sz="2000" dirty="0">
                <a:latin typeface="Verdana"/>
                <a:cs typeface="Verdana"/>
              </a:rPr>
              <a:t>Mechanical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Systems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(MEMS).</a:t>
            </a:r>
            <a:endParaRPr sz="200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Evolution:</a:t>
            </a:r>
            <a:endParaRPr sz="2000">
              <a:latin typeface="Verdana"/>
              <a:cs typeface="Verdana"/>
            </a:endParaRPr>
          </a:p>
          <a:p>
            <a:pPr marL="9271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Mechanical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(spinning)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→</a:t>
            </a:r>
            <a:r>
              <a:rPr sz="2000" spc="1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Verdana"/>
                <a:cs typeface="Verdana"/>
              </a:rPr>
              <a:t>Optical </a:t>
            </a:r>
            <a:r>
              <a:rPr sz="2000" dirty="0">
                <a:latin typeface="Microsoft Sans Serif"/>
                <a:cs typeface="Microsoft Sans Serif"/>
              </a:rPr>
              <a:t>→</a:t>
            </a:r>
            <a:r>
              <a:rPr sz="2000" spc="1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Verdana"/>
                <a:cs typeface="Verdana"/>
              </a:rPr>
              <a:t>MEMS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Vibratory.</a:t>
            </a:r>
            <a:endParaRPr sz="2000">
              <a:latin typeface="Verdana"/>
              <a:cs typeface="Verdana"/>
            </a:endParaRPr>
          </a:p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Key</a:t>
            </a:r>
            <a:r>
              <a:rPr sz="2000" b="1" spc="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Advantages:</a:t>
            </a:r>
            <a:r>
              <a:rPr sz="2000" b="1" spc="9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Small,</a:t>
            </a:r>
            <a:r>
              <a:rPr sz="2000" spc="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low</a:t>
            </a:r>
            <a:r>
              <a:rPr sz="2000" spc="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power,</a:t>
            </a:r>
            <a:r>
              <a:rPr sz="2000" spc="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no</a:t>
            </a:r>
            <a:r>
              <a:rPr sz="2000" spc="8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rotating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Verdana"/>
                <a:cs typeface="Verdana"/>
              </a:rPr>
              <a:t>bearings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wear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out.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2937510" y="281685"/>
            <a:ext cx="32670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3618" y="6807"/>
            <a:ext cx="80352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7235" marR="5080" indent="-326517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45" dirty="0"/>
              <a:t> </a:t>
            </a:r>
            <a:r>
              <a:rPr dirty="0"/>
              <a:t>Core</a:t>
            </a:r>
            <a:r>
              <a:rPr spc="-35" dirty="0"/>
              <a:t> </a:t>
            </a:r>
            <a:r>
              <a:rPr dirty="0"/>
              <a:t>Physics</a:t>
            </a:r>
            <a:r>
              <a:rPr spc="-4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Coriolis Effect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58140" y="1465554"/>
            <a:ext cx="8201025" cy="45986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80365" indent="-342265" algn="just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80365" algn="l"/>
              </a:tabLst>
            </a:pPr>
            <a:r>
              <a:rPr sz="2000" dirty="0">
                <a:latin typeface="Verdana"/>
                <a:cs typeface="Verdana"/>
              </a:rPr>
              <a:t>Explaining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fundamental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force: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𝑭</a:t>
            </a:r>
            <a:r>
              <a:rPr sz="2175" baseline="-15325" dirty="0">
                <a:solidFill>
                  <a:srgbClr val="006FC0"/>
                </a:solidFill>
                <a:latin typeface="Cambria Math"/>
                <a:cs typeface="Cambria Math"/>
              </a:rPr>
              <a:t>𝒄</a:t>
            </a:r>
            <a:r>
              <a:rPr sz="2175" spc="450" baseline="-153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=</a:t>
            </a:r>
            <a:r>
              <a:rPr sz="2000" spc="10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−𝟐𝒎(𝜴</a:t>
            </a:r>
            <a:r>
              <a:rPr sz="2000" spc="-25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×</a:t>
            </a:r>
            <a:r>
              <a:rPr sz="2000" spc="-10" dirty="0">
                <a:solidFill>
                  <a:srgbClr val="006FC0"/>
                </a:solidFill>
                <a:latin typeface="Cambria Math"/>
                <a:cs typeface="Cambria Math"/>
              </a:rPr>
              <a:t> </a:t>
            </a:r>
            <a:r>
              <a:rPr sz="2000" spc="-25" dirty="0">
                <a:solidFill>
                  <a:srgbClr val="006FC0"/>
                </a:solidFill>
                <a:latin typeface="Cambria Math"/>
                <a:cs typeface="Cambria Math"/>
              </a:rPr>
              <a:t>𝝂)</a:t>
            </a:r>
            <a:endParaRPr sz="2000">
              <a:latin typeface="Cambria Math"/>
              <a:cs typeface="Cambria Math"/>
            </a:endParaRPr>
          </a:p>
          <a:p>
            <a:pPr marL="381000" marR="31750" indent="-342900" algn="just">
              <a:lnSpc>
                <a:spcPct val="150000"/>
              </a:lnSpc>
              <a:buFont typeface="Wingdings"/>
              <a:buChar char=""/>
              <a:tabLst>
                <a:tab pos="381000" algn="l"/>
              </a:tabLst>
            </a:pPr>
            <a:r>
              <a:rPr sz="2000" dirty="0">
                <a:latin typeface="Verdana"/>
                <a:cs typeface="Verdana"/>
              </a:rPr>
              <a:t>When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object</a:t>
            </a:r>
            <a:r>
              <a:rPr sz="2000" spc="1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vibrates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one</a:t>
            </a:r>
            <a:r>
              <a:rPr sz="2000" spc="1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direction</a:t>
            </a:r>
            <a:r>
              <a:rPr sz="2000" spc="1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i="1" dirty="0">
                <a:latin typeface="Verdana"/>
                <a:cs typeface="Verdana"/>
              </a:rPr>
              <a:t>v</a:t>
            </a:r>
            <a:r>
              <a:rPr sz="2000" dirty="0">
                <a:latin typeface="Verdana"/>
                <a:cs typeface="Verdana"/>
              </a:rPr>
              <a:t>)</a:t>
            </a:r>
            <a:r>
              <a:rPr sz="2000" spc="1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1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18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rotated </a:t>
            </a:r>
            <a:r>
              <a:rPr sz="2000" dirty="0">
                <a:latin typeface="Verdana"/>
                <a:cs typeface="Verdana"/>
              </a:rPr>
              <a:t>(</a:t>
            </a:r>
            <a:r>
              <a:rPr sz="2000" dirty="0">
                <a:latin typeface="Cambria Math"/>
                <a:cs typeface="Cambria Math"/>
              </a:rPr>
              <a:t>Ω</a:t>
            </a:r>
            <a:r>
              <a:rPr sz="2000" dirty="0">
                <a:latin typeface="Verdana"/>
                <a:cs typeface="Verdana"/>
              </a:rPr>
              <a:t>),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force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45" dirty="0">
                <a:latin typeface="Verdana"/>
                <a:cs typeface="Verdana"/>
              </a:rPr>
              <a:t>(</a:t>
            </a:r>
            <a:r>
              <a:rPr sz="2000" spc="-355" dirty="0">
                <a:latin typeface="Cambria Math"/>
                <a:cs typeface="Cambria Math"/>
              </a:rPr>
              <a:t>𝐹</a:t>
            </a:r>
            <a:r>
              <a:rPr sz="2175" spc="270" baseline="-15325" dirty="0">
                <a:latin typeface="Cambria Math"/>
                <a:cs typeface="Cambria Math"/>
              </a:rPr>
              <a:t>𝑐</a:t>
            </a:r>
            <a:r>
              <a:rPr sz="2000" spc="45" dirty="0">
                <a:latin typeface="Verdana"/>
                <a:cs typeface="Verdana"/>
              </a:rPr>
              <a:t>)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generated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perpendicular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both.</a:t>
            </a:r>
            <a:endParaRPr sz="2000">
              <a:latin typeface="Verdana"/>
              <a:cs typeface="Verdana"/>
            </a:endParaRPr>
          </a:p>
          <a:p>
            <a:pPr marL="381000" marR="30480" indent="-342900" algn="just">
              <a:lnSpc>
                <a:spcPct val="150000"/>
              </a:lnSpc>
              <a:buFont typeface="Wingdings"/>
              <a:buChar char=""/>
              <a:tabLst>
                <a:tab pos="3810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Result:</a:t>
            </a:r>
            <a:r>
              <a:rPr sz="2000" b="1" spc="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This</a:t>
            </a:r>
            <a:r>
              <a:rPr sz="2000" spc="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force</a:t>
            </a:r>
            <a:r>
              <a:rPr sz="2000" spc="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causes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secondary</a:t>
            </a:r>
            <a:r>
              <a:rPr sz="2000" spc="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vibration</a:t>
            </a:r>
            <a:r>
              <a:rPr sz="2000" spc="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we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can </a:t>
            </a:r>
            <a:r>
              <a:rPr sz="2000" spc="-10" dirty="0">
                <a:latin typeface="Verdana"/>
                <a:cs typeface="Verdana"/>
              </a:rPr>
              <a:t>measure.</a:t>
            </a:r>
            <a:endParaRPr sz="2000">
              <a:latin typeface="Verdana"/>
              <a:cs typeface="Verdana"/>
            </a:endParaRPr>
          </a:p>
          <a:p>
            <a:pPr marL="381000" marR="31115" indent="-342900" algn="just">
              <a:lnSpc>
                <a:spcPct val="150000"/>
              </a:lnSpc>
              <a:buFont typeface="Wingdings"/>
              <a:buChar char=""/>
              <a:tabLst>
                <a:tab pos="3810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Coriolis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force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acts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vibrating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mass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rotating </a:t>
            </a:r>
            <a:r>
              <a:rPr sz="2000" dirty="0">
                <a:latin typeface="Verdana"/>
                <a:cs typeface="Verdana"/>
              </a:rPr>
              <a:t>frame,</a:t>
            </a:r>
            <a:r>
              <a:rPr sz="2000" spc="4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displacing</a:t>
            </a:r>
            <a:r>
              <a:rPr sz="2000" spc="4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</a:t>
            </a:r>
            <a:r>
              <a:rPr sz="2000" spc="43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perpendicular</a:t>
            </a:r>
            <a:r>
              <a:rPr sz="2000" spc="4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4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both</a:t>
            </a:r>
            <a:r>
              <a:rPr sz="2000" spc="4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its</a:t>
            </a:r>
            <a:r>
              <a:rPr sz="2000" spc="4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velocity</a:t>
            </a:r>
            <a:r>
              <a:rPr sz="2000" spc="44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rotation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axis.</a:t>
            </a:r>
            <a:endParaRPr sz="2000">
              <a:latin typeface="Verdana"/>
              <a:cs typeface="Verdana"/>
            </a:endParaRPr>
          </a:p>
          <a:p>
            <a:pPr marL="380365" indent="-34226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80365" algn="l"/>
              </a:tabLst>
            </a:pP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Here,</a:t>
            </a:r>
            <a:r>
              <a:rPr sz="2000" b="1" spc="30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solidFill>
                  <a:srgbClr val="006FC0"/>
                </a:solidFill>
                <a:latin typeface="Cambria Math"/>
                <a:cs typeface="Cambria Math"/>
              </a:rPr>
              <a:t>𝜴</a:t>
            </a:r>
            <a:r>
              <a:rPr sz="2000" spc="65" dirty="0">
                <a:solidFill>
                  <a:srgbClr val="006FC0"/>
                </a:solidFill>
                <a:latin typeface="Cambria Math"/>
                <a:cs typeface="Cambria Math"/>
              </a:rPr>
              <a:t> 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is</a:t>
            </a:r>
            <a:r>
              <a:rPr sz="2000" b="1" spc="32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the</a:t>
            </a:r>
            <a:r>
              <a:rPr sz="2000" b="1" spc="32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angular</a:t>
            </a:r>
            <a:r>
              <a:rPr sz="2000" b="1" spc="31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velocity</a:t>
            </a:r>
            <a:r>
              <a:rPr sz="2000" b="1" spc="32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of</a:t>
            </a:r>
            <a:r>
              <a:rPr sz="2000" b="1" spc="33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the</a:t>
            </a:r>
            <a:r>
              <a:rPr sz="2000" b="1" spc="31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rotating</a:t>
            </a:r>
            <a:r>
              <a:rPr sz="2000" b="1" spc="32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frame</a:t>
            </a:r>
            <a:endParaRPr sz="2000">
              <a:latin typeface="Verdana"/>
              <a:cs typeface="Verdana"/>
            </a:endParaRPr>
          </a:p>
          <a:p>
            <a:pPr marL="3810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and</a:t>
            </a:r>
            <a:r>
              <a:rPr sz="2000" b="1" spc="-3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i="1" dirty="0">
                <a:solidFill>
                  <a:srgbClr val="006FC0"/>
                </a:solidFill>
                <a:latin typeface="Verdana"/>
                <a:cs typeface="Verdana"/>
              </a:rPr>
              <a:t>v</a:t>
            </a:r>
            <a:r>
              <a:rPr sz="2000" b="1" i="1" spc="-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is</a:t>
            </a:r>
            <a:r>
              <a:rPr sz="2000" b="1" spc="-1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the</a:t>
            </a:r>
            <a:r>
              <a:rPr sz="2000" b="1" spc="-1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velocity</a:t>
            </a:r>
            <a:r>
              <a:rPr sz="2000" b="1" spc="-3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of</a:t>
            </a:r>
            <a:r>
              <a:rPr sz="2000" b="1" spc="-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the</a:t>
            </a:r>
            <a:r>
              <a:rPr sz="2000" b="1" spc="-1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vibrating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 mass.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53618" y="6807"/>
            <a:ext cx="80352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77235" marR="5080" indent="-326517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45" dirty="0"/>
              <a:t> </a:t>
            </a:r>
            <a:r>
              <a:rPr dirty="0"/>
              <a:t>Core</a:t>
            </a:r>
            <a:r>
              <a:rPr spc="-35" dirty="0"/>
              <a:t> </a:t>
            </a:r>
            <a:r>
              <a:rPr dirty="0"/>
              <a:t>Physics</a:t>
            </a:r>
            <a:r>
              <a:rPr spc="-4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spc="-10" dirty="0"/>
              <a:t>Coriolis Effect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465554"/>
            <a:ext cx="8151495" cy="45986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715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Coriolis</a:t>
            </a:r>
            <a:r>
              <a:rPr sz="2000" spc="3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effect</a:t>
            </a:r>
            <a:r>
              <a:rPr sz="2000" spc="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apparent</a:t>
            </a:r>
            <a:r>
              <a:rPr sz="2000" spc="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deflection</a:t>
            </a:r>
            <a:r>
              <a:rPr sz="2000" spc="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1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moving </a:t>
            </a:r>
            <a:r>
              <a:rPr sz="2000" dirty="0">
                <a:latin typeface="Verdana"/>
                <a:cs typeface="Verdana"/>
              </a:rPr>
              <a:t>objects</a:t>
            </a:r>
            <a:r>
              <a:rPr sz="2000" spc="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such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wind,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ocean</a:t>
            </a:r>
            <a:r>
              <a:rPr sz="2000" spc="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currents,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1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projectiles</a:t>
            </a:r>
            <a:r>
              <a:rPr sz="2000" spc="1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right</a:t>
            </a:r>
            <a:r>
              <a:rPr sz="2000" spc="-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4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Northern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Hemisphere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left</a:t>
            </a:r>
            <a:r>
              <a:rPr sz="2000" spc="-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5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Southern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Hemisphere,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caused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Earth's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rotation.</a:t>
            </a:r>
            <a:endParaRPr sz="2000">
              <a:latin typeface="Verdana"/>
              <a:cs typeface="Verdana"/>
            </a:endParaRPr>
          </a:p>
          <a:p>
            <a:pPr marL="355600" marR="5715" indent="-342900" algn="just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It</a:t>
            </a:r>
            <a:r>
              <a:rPr sz="2000" spc="2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not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physical</a:t>
            </a:r>
            <a:r>
              <a:rPr sz="2000" spc="20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force</a:t>
            </a:r>
            <a:r>
              <a:rPr sz="2000" spc="2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22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225" dirty="0"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"apparent"</a:t>
            </a:r>
            <a:r>
              <a:rPr sz="2000" b="1" spc="22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or</a:t>
            </a:r>
            <a:r>
              <a:rPr sz="2000" b="1" spc="229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"pseudo"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force</a:t>
            </a:r>
            <a:r>
              <a:rPr sz="2000" b="1" spc="12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resulting</a:t>
            </a:r>
            <a:r>
              <a:rPr sz="2000" spc="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from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observer's</a:t>
            </a:r>
            <a:r>
              <a:rPr sz="2000" spc="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frame</a:t>
            </a:r>
            <a:r>
              <a:rPr sz="2000" spc="11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reference</a:t>
            </a:r>
            <a:r>
              <a:rPr sz="2000" spc="1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11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a </a:t>
            </a:r>
            <a:r>
              <a:rPr sz="2000" dirty="0">
                <a:latin typeface="Verdana"/>
                <a:cs typeface="Verdana"/>
              </a:rPr>
              <a:t>spinning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planet.</a:t>
            </a:r>
            <a:endParaRPr sz="2000">
              <a:latin typeface="Verdana"/>
              <a:cs typeface="Verdana"/>
            </a:endParaRPr>
          </a:p>
          <a:p>
            <a:pPr marL="355600" marR="5080" indent="-342900" algn="just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effect</a:t>
            </a:r>
            <a:r>
              <a:rPr sz="2000" spc="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135" dirty="0"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strongest</a:t>
            </a:r>
            <a:r>
              <a:rPr sz="2000" b="1" spc="16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at</a:t>
            </a:r>
            <a:r>
              <a:rPr sz="2000" b="1" spc="15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the</a:t>
            </a:r>
            <a:r>
              <a:rPr sz="2000" b="1" spc="16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poles</a:t>
            </a:r>
            <a:r>
              <a:rPr sz="2000" dirty="0">
                <a:latin typeface="Verdana"/>
                <a:cs typeface="Verdana"/>
              </a:rPr>
              <a:t>,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nonexistent</a:t>
            </a:r>
            <a:r>
              <a:rPr sz="2000" b="1" spc="15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at</a:t>
            </a:r>
            <a:r>
              <a:rPr sz="2000" b="1" spc="15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spc="-25" dirty="0">
                <a:solidFill>
                  <a:srgbClr val="006FC0"/>
                </a:solidFill>
                <a:latin typeface="Verdana"/>
                <a:cs typeface="Verdana"/>
              </a:rPr>
              <a:t>the </a:t>
            </a: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equator,</a:t>
            </a:r>
            <a:r>
              <a:rPr sz="2000" b="1" spc="29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2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crucial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</a:t>
            </a:r>
            <a:r>
              <a:rPr sz="2000" spc="2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governing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atmospheric</a:t>
            </a:r>
            <a:r>
              <a:rPr sz="2000" spc="29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circulation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ocean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currents.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2208657" y="281685"/>
            <a:ext cx="47282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Basic</a:t>
            </a:r>
            <a:r>
              <a:rPr spc="-35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306423"/>
            <a:ext cx="8148955" cy="27692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Proof</a:t>
            </a:r>
            <a:r>
              <a:rPr sz="20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Mass: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part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vibrates.</a:t>
            </a:r>
            <a:endParaRPr sz="2000">
              <a:latin typeface="Verdana"/>
              <a:cs typeface="Verdana"/>
            </a:endParaRPr>
          </a:p>
          <a:p>
            <a:pPr marL="355600" marR="6350" indent="-342900">
              <a:lnSpc>
                <a:spcPts val="3600"/>
              </a:lnSpc>
              <a:spcBef>
                <a:spcPts val="32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Suspension</a:t>
            </a:r>
            <a:r>
              <a:rPr sz="2000" b="1" spc="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Springs:</a:t>
            </a:r>
            <a:r>
              <a:rPr sz="2000" b="1" spc="2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Hold</a:t>
            </a:r>
            <a:r>
              <a:rPr sz="2000" spc="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mass</a:t>
            </a:r>
            <a:r>
              <a:rPr sz="2000" spc="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but</a:t>
            </a:r>
            <a:r>
              <a:rPr sz="2000" spc="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allow</a:t>
            </a:r>
            <a:r>
              <a:rPr sz="2000" spc="20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specific movement.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88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Drive</a:t>
            </a:r>
            <a:r>
              <a:rPr sz="20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Mechanism:</a:t>
            </a:r>
            <a:r>
              <a:rPr sz="20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Keeps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(Active).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Sense Mechanism: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Detects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Coriolis-</a:t>
            </a:r>
            <a:r>
              <a:rPr sz="2000" dirty="0">
                <a:latin typeface="Verdana"/>
                <a:cs typeface="Verdana"/>
              </a:rPr>
              <a:t>induced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movement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(Passive).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4227576"/>
            <a:ext cx="2743200" cy="2209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3921109"/>
            <a:ext cx="3712463" cy="22109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61897" y="281685"/>
            <a:ext cx="622046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Drive</a:t>
            </a:r>
            <a:r>
              <a:rPr spc="-40" dirty="0"/>
              <a:t> </a:t>
            </a:r>
            <a:r>
              <a:rPr dirty="0"/>
              <a:t>and</a:t>
            </a:r>
            <a:r>
              <a:rPr spc="-30" dirty="0"/>
              <a:t> </a:t>
            </a:r>
            <a:r>
              <a:rPr dirty="0"/>
              <a:t>Sense</a:t>
            </a:r>
            <a:r>
              <a:rPr spc="-15" dirty="0"/>
              <a:t> </a:t>
            </a:r>
            <a:r>
              <a:rPr spc="-10" dirty="0"/>
              <a:t>Frames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306423"/>
            <a:ext cx="8149590" cy="3683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Drive</a:t>
            </a:r>
            <a:r>
              <a:rPr sz="2000" b="1" spc="-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Mode:</a:t>
            </a:r>
            <a:r>
              <a:rPr sz="2000" b="1" spc="-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5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primary</a:t>
            </a:r>
            <a:r>
              <a:rPr sz="2000" spc="-4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oscillation</a:t>
            </a:r>
            <a:r>
              <a:rPr sz="2000" spc="-4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(e.g.,</a:t>
            </a:r>
            <a:r>
              <a:rPr sz="2000" spc="5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along</a:t>
            </a:r>
            <a:r>
              <a:rPr sz="2000" spc="-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50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x-</a:t>
            </a:r>
            <a:r>
              <a:rPr sz="2000" spc="-10" dirty="0">
                <a:latin typeface="Verdana"/>
                <a:cs typeface="Verdana"/>
              </a:rPr>
              <a:t>axis).</a:t>
            </a:r>
            <a:endParaRPr sz="2000">
              <a:latin typeface="Verdana"/>
              <a:cs typeface="Verdana"/>
            </a:endParaRPr>
          </a:p>
          <a:p>
            <a:pPr marL="355600" marR="635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Sense</a:t>
            </a:r>
            <a:r>
              <a:rPr sz="2000" b="1" spc="43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Mode:</a:t>
            </a:r>
            <a:r>
              <a:rPr sz="2000" b="1" spc="4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4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displacement</a:t>
            </a:r>
            <a:r>
              <a:rPr sz="2000" spc="4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caused</a:t>
            </a:r>
            <a:r>
              <a:rPr sz="2000" spc="4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4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rotation</a:t>
            </a:r>
            <a:r>
              <a:rPr sz="2000" spc="42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(e.g., </a:t>
            </a:r>
            <a:r>
              <a:rPr sz="2000" dirty="0">
                <a:latin typeface="Verdana"/>
                <a:cs typeface="Verdana"/>
              </a:rPr>
              <a:t>along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50" dirty="0">
                <a:latin typeface="Verdana"/>
                <a:cs typeface="Verdana"/>
              </a:rPr>
              <a:t>y-</a:t>
            </a:r>
            <a:r>
              <a:rPr sz="2000" spc="-10" dirty="0">
                <a:latin typeface="Verdana"/>
                <a:cs typeface="Verdana"/>
              </a:rPr>
              <a:t>axis).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4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goal</a:t>
            </a:r>
            <a:r>
              <a:rPr sz="2000" spc="4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4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45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isolate</a:t>
            </a:r>
            <a:r>
              <a:rPr sz="2000" spc="4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these</a:t>
            </a:r>
            <a:r>
              <a:rPr sz="2000" spc="459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4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4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prevent</a:t>
            </a:r>
            <a:r>
              <a:rPr sz="2000" spc="450" dirty="0"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"quadrature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006FC0"/>
                </a:solidFill>
                <a:latin typeface="Verdana"/>
                <a:cs typeface="Verdana"/>
              </a:rPr>
              <a:t>error"</a:t>
            </a:r>
            <a:r>
              <a:rPr sz="2000" b="1" spc="-1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006FC0"/>
                </a:solidFill>
                <a:latin typeface="Verdana"/>
                <a:cs typeface="Verdana"/>
              </a:rPr>
              <a:t>(interference).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Working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 Mechanism:</a:t>
            </a:r>
            <a:endParaRPr sz="2000">
              <a:latin typeface="Verdana"/>
              <a:cs typeface="Verdana"/>
            </a:endParaRPr>
          </a:p>
          <a:p>
            <a:pPr marR="334010" algn="ctr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Drive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→</a:t>
            </a:r>
            <a:r>
              <a:rPr sz="2000" spc="1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Verdana"/>
                <a:cs typeface="Verdana"/>
              </a:rPr>
              <a:t>Sense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Mode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→</a:t>
            </a:r>
            <a:r>
              <a:rPr sz="2000" spc="1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Verdana"/>
                <a:cs typeface="Verdana"/>
              </a:rPr>
              <a:t>Electrical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Output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16177" y="281685"/>
            <a:ext cx="6310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Core</a:t>
            </a:r>
            <a:r>
              <a:rPr spc="-55" dirty="0"/>
              <a:t> </a:t>
            </a:r>
            <a:r>
              <a:rPr dirty="0"/>
              <a:t>Operating</a:t>
            </a:r>
            <a:r>
              <a:rPr spc="-60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306423"/>
            <a:ext cx="8151495" cy="5055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6350" indent="-342900" algn="just">
              <a:lnSpc>
                <a:spcPct val="150100"/>
              </a:lnSpc>
              <a:spcBef>
                <a:spcPts val="95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Unlike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traditional mechanical</a:t>
            </a:r>
            <a:r>
              <a:rPr sz="2000" spc="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gyroscopes</a:t>
            </a:r>
            <a:r>
              <a:rPr sz="2000" spc="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spinning </a:t>
            </a:r>
            <a:r>
              <a:rPr sz="2000" dirty="0">
                <a:latin typeface="Verdana"/>
                <a:cs typeface="Verdana"/>
              </a:rPr>
              <a:t>rotor,</a:t>
            </a:r>
            <a:r>
              <a:rPr sz="2000" spc="4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MEMS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gyroscopes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use</a:t>
            </a:r>
            <a:r>
              <a:rPr sz="2000" spc="4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vibrating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proof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mass.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process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works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primary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stages:</a:t>
            </a:r>
            <a:endParaRPr sz="2000">
              <a:latin typeface="Verdana"/>
              <a:cs typeface="Verdana"/>
            </a:endParaRPr>
          </a:p>
          <a:p>
            <a:pPr marL="355600" marR="5080" indent="-342900" algn="just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Drive</a:t>
            </a:r>
            <a:r>
              <a:rPr sz="2000" b="1" spc="-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Mode:</a:t>
            </a:r>
            <a:r>
              <a:rPr sz="2000" b="1" spc="-8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internal</a:t>
            </a:r>
            <a:r>
              <a:rPr sz="2000" spc="-9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actuator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(typically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electrostatic) </a:t>
            </a:r>
            <a:r>
              <a:rPr sz="2000" dirty="0">
                <a:latin typeface="Verdana"/>
                <a:cs typeface="Verdana"/>
              </a:rPr>
              <a:t>drives a tiny silicon "proof mass" into a constant, </a:t>
            </a:r>
            <a:r>
              <a:rPr sz="2000" spc="-10" dirty="0">
                <a:latin typeface="Verdana"/>
                <a:cs typeface="Verdana"/>
              </a:rPr>
              <a:t>high-</a:t>
            </a:r>
            <a:r>
              <a:rPr sz="2000" dirty="0">
                <a:latin typeface="Verdana"/>
                <a:cs typeface="Verdana"/>
              </a:rPr>
              <a:t>frequency</a:t>
            </a:r>
            <a:r>
              <a:rPr sz="2000" spc="-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harmonic</a:t>
            </a:r>
            <a:r>
              <a:rPr sz="2000" spc="-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oscillation</a:t>
            </a:r>
            <a:r>
              <a:rPr sz="2000" spc="-1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along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specific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axis</a:t>
            </a:r>
            <a:r>
              <a:rPr sz="2000" spc="-10" dirty="0">
                <a:latin typeface="Verdana"/>
                <a:cs typeface="Verdana"/>
              </a:rPr>
              <a:t>  </a:t>
            </a:r>
            <a:r>
              <a:rPr sz="2000" spc="-20" dirty="0">
                <a:latin typeface="Verdana"/>
                <a:cs typeface="Verdana"/>
              </a:rPr>
              <a:t>(the </a:t>
            </a:r>
            <a:r>
              <a:rPr sz="2000" dirty="0">
                <a:latin typeface="Verdana"/>
                <a:cs typeface="Verdana"/>
              </a:rPr>
              <a:t>drive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axis).</a:t>
            </a:r>
            <a:endParaRPr sz="2000">
              <a:latin typeface="Verdana"/>
              <a:cs typeface="Verdana"/>
            </a:endParaRPr>
          </a:p>
          <a:p>
            <a:pPr marL="354965" indent="-342265" algn="just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Sense</a:t>
            </a:r>
            <a:r>
              <a:rPr sz="2000" b="1" spc="1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Mode</a:t>
            </a:r>
            <a:r>
              <a:rPr sz="2000" b="1" spc="1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(The</a:t>
            </a:r>
            <a:r>
              <a:rPr sz="2000" b="1" spc="1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Coriolis</a:t>
            </a:r>
            <a:r>
              <a:rPr sz="2000" b="1" spc="13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Effect):</a:t>
            </a:r>
            <a:r>
              <a:rPr sz="2000" b="1" spc="14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When</a:t>
            </a:r>
            <a:r>
              <a:rPr sz="2000" spc="1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2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entire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device</a:t>
            </a:r>
            <a:r>
              <a:rPr sz="2000" spc="3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rotates,</a:t>
            </a:r>
            <a:r>
              <a:rPr sz="2000" spc="4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4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oscillating</a:t>
            </a:r>
            <a:r>
              <a:rPr sz="2000" spc="4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mass</a:t>
            </a:r>
            <a:r>
              <a:rPr sz="2000" spc="4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experiences</a:t>
            </a:r>
            <a:r>
              <a:rPr sz="2000" spc="4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409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Coriolis</a:t>
            </a:r>
            <a:endParaRPr sz="2000">
              <a:latin typeface="Verdana"/>
              <a:cs typeface="Verdana"/>
            </a:endParaRPr>
          </a:p>
          <a:p>
            <a:pPr marL="355600" marR="5080">
              <a:lnSpc>
                <a:spcPct val="150000"/>
              </a:lnSpc>
              <a:spcBef>
                <a:spcPts val="5"/>
              </a:spcBef>
            </a:pPr>
            <a:r>
              <a:rPr sz="2000" dirty="0">
                <a:latin typeface="Verdana"/>
                <a:cs typeface="Verdana"/>
              </a:rPr>
              <a:t>force.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This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force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acts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direction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perpendicular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 both </a:t>
            </a:r>
            <a:r>
              <a:rPr sz="2000" spc="-25" dirty="0">
                <a:latin typeface="Verdana"/>
                <a:cs typeface="Verdana"/>
              </a:rPr>
              <a:t>the </a:t>
            </a:r>
            <a:r>
              <a:rPr sz="2000" dirty="0">
                <a:latin typeface="Verdana"/>
                <a:cs typeface="Verdana"/>
              </a:rPr>
              <a:t>drive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vibration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axis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rotation.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16177" y="281685"/>
            <a:ext cx="6310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Core</a:t>
            </a:r>
            <a:r>
              <a:rPr spc="-55" dirty="0"/>
              <a:t> </a:t>
            </a:r>
            <a:r>
              <a:rPr dirty="0"/>
              <a:t>Operating</a:t>
            </a:r>
            <a:r>
              <a:rPr spc="-60" dirty="0"/>
              <a:t> </a:t>
            </a:r>
            <a:r>
              <a:rPr spc="-10" dirty="0"/>
              <a:t>Principle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306423"/>
            <a:ext cx="8150859" cy="41414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 algn="just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Detection:</a:t>
            </a:r>
            <a:r>
              <a:rPr sz="2000" b="1" spc="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This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Coriolis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force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causes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mass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deflect</a:t>
            </a:r>
            <a:r>
              <a:rPr sz="2000" spc="55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or </a:t>
            </a:r>
            <a:r>
              <a:rPr sz="2000" dirty="0">
                <a:latin typeface="Verdana"/>
                <a:cs typeface="Verdana"/>
              </a:rPr>
              <a:t>shift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8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new</a:t>
            </a:r>
            <a:r>
              <a:rPr sz="2000" spc="-7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direction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(the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sense</a:t>
            </a:r>
            <a:r>
              <a:rPr sz="2000" spc="-8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axis).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Tiny</a:t>
            </a:r>
            <a:r>
              <a:rPr sz="2000" spc="-7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capacitive </a:t>
            </a:r>
            <a:r>
              <a:rPr sz="2000" dirty="0">
                <a:latin typeface="Verdana"/>
                <a:cs typeface="Verdana"/>
              </a:rPr>
              <a:t>sensors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chip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detect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this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minute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displacement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by </a:t>
            </a:r>
            <a:r>
              <a:rPr sz="2000" dirty="0">
                <a:latin typeface="Verdana"/>
                <a:cs typeface="Verdana"/>
              </a:rPr>
              <a:t>measuring</a:t>
            </a:r>
            <a:r>
              <a:rPr sz="2000" spc="3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changes</a:t>
            </a:r>
            <a:r>
              <a:rPr sz="2000" spc="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capacitance</a:t>
            </a:r>
            <a:r>
              <a:rPr sz="2000" spc="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between</a:t>
            </a:r>
            <a:r>
              <a:rPr sz="2000" spc="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moving</a:t>
            </a:r>
            <a:r>
              <a:rPr sz="2000" spc="55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stationary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fingers.</a:t>
            </a:r>
            <a:endParaRPr sz="2000">
              <a:latin typeface="Verdana"/>
              <a:cs typeface="Verdana"/>
            </a:endParaRPr>
          </a:p>
          <a:p>
            <a:pPr marL="355600" marR="5080" indent="-342900" algn="just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Signal</a:t>
            </a:r>
            <a:r>
              <a:rPr sz="20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Conversion:</a:t>
            </a:r>
            <a:r>
              <a:rPr sz="20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measured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change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capacitance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is </a:t>
            </a:r>
            <a:r>
              <a:rPr sz="2000" dirty="0">
                <a:latin typeface="Verdana"/>
                <a:cs typeface="Verdana"/>
              </a:rPr>
              <a:t>proportional</a:t>
            </a:r>
            <a:r>
              <a:rPr sz="2000" spc="1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angular</a:t>
            </a:r>
            <a:r>
              <a:rPr sz="2000" spc="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velocity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(rate</a:t>
            </a:r>
            <a:r>
              <a:rPr sz="2000" spc="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of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rotation),</a:t>
            </a:r>
            <a:r>
              <a:rPr sz="2000" spc="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which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1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then</a:t>
            </a:r>
            <a:r>
              <a:rPr sz="2000" spc="16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processed</a:t>
            </a:r>
            <a:r>
              <a:rPr sz="2000" spc="15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by</a:t>
            </a:r>
            <a:r>
              <a:rPr sz="2000" spc="1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onboard</a:t>
            </a:r>
            <a:r>
              <a:rPr sz="2000" spc="1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electronics</a:t>
            </a:r>
            <a:r>
              <a:rPr sz="2000" spc="16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15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output</a:t>
            </a:r>
            <a:r>
              <a:rPr sz="2000" spc="145" dirty="0">
                <a:latin typeface="Verdana"/>
                <a:cs typeface="Verdana"/>
              </a:rPr>
              <a:t>  </a:t>
            </a:r>
            <a:r>
              <a:rPr sz="2000" spc="-50" dirty="0">
                <a:latin typeface="Verdana"/>
                <a:cs typeface="Verdana"/>
              </a:rPr>
              <a:t>a </a:t>
            </a:r>
            <a:r>
              <a:rPr sz="2000" dirty="0">
                <a:latin typeface="Verdana"/>
                <a:cs typeface="Verdana"/>
              </a:rPr>
              <a:t>readable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electrical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signal.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640486" y="281685"/>
            <a:ext cx="78600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Types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Vibratory</a:t>
            </a:r>
            <a:r>
              <a:rPr spc="-60" dirty="0"/>
              <a:t> </a:t>
            </a:r>
            <a:r>
              <a:rPr spc="-10" dirty="0"/>
              <a:t>Gyroscopes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89405"/>
            <a:ext cx="5370195" cy="13976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spc="-20" dirty="0">
                <a:latin typeface="Verdana"/>
                <a:cs typeface="Verdana"/>
              </a:rPr>
              <a:t>Tuning</a:t>
            </a:r>
            <a:r>
              <a:rPr sz="2000" spc="-11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Fork</a:t>
            </a:r>
            <a:r>
              <a:rPr sz="2000" spc="-8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Gyroscopes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Vibrating</a:t>
            </a:r>
            <a:r>
              <a:rPr sz="2000" spc="-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Ring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(Cylindrical)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Gyroscopes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Hemispherical</a:t>
            </a:r>
            <a:r>
              <a:rPr sz="2000" spc="-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Resonator</a:t>
            </a:r>
            <a:r>
              <a:rPr sz="2000" spc="-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Gyros</a:t>
            </a:r>
            <a:r>
              <a:rPr sz="2000" spc="-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(HRG)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59586" y="281685"/>
            <a:ext cx="70243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-25" dirty="0"/>
              <a:t> </a:t>
            </a:r>
            <a:r>
              <a:rPr dirty="0"/>
              <a:t>Tuning</a:t>
            </a:r>
            <a:r>
              <a:rPr spc="-55" dirty="0"/>
              <a:t> </a:t>
            </a:r>
            <a:r>
              <a:rPr dirty="0"/>
              <a:t>Fork</a:t>
            </a:r>
            <a:r>
              <a:rPr spc="-20" dirty="0"/>
              <a:t> </a:t>
            </a:r>
            <a:r>
              <a:rPr spc="-10" dirty="0"/>
              <a:t>Gyroscope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89405"/>
            <a:ext cx="8452485" cy="18548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Based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two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masses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vibrating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opposite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directions.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When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rotated,</a:t>
            </a:r>
            <a:r>
              <a:rPr sz="2000" spc="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Coriolis</a:t>
            </a:r>
            <a:r>
              <a:rPr sz="2000" spc="1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forces</a:t>
            </a:r>
            <a:r>
              <a:rPr sz="2000" spc="1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</a:t>
            </a:r>
            <a:r>
              <a:rPr sz="2000" spc="1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1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tines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1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move</a:t>
            </a:r>
            <a:r>
              <a:rPr sz="2000" spc="14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out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of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plane.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Common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early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designs.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4677" y="341645"/>
            <a:ext cx="3599815" cy="617220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r>
              <a:rPr sz="4000" b="1" spc="-10" dirty="0">
                <a:solidFill>
                  <a:srgbClr val="006FC0"/>
                </a:solidFill>
                <a:latin typeface="Verdana"/>
                <a:cs typeface="Verdana"/>
              </a:rPr>
              <a:t>Introduction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63218" y="281685"/>
            <a:ext cx="68122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Vibrating</a:t>
            </a:r>
            <a:r>
              <a:rPr spc="-85" dirty="0"/>
              <a:t> </a:t>
            </a:r>
            <a:r>
              <a:rPr dirty="0"/>
              <a:t>Ring</a:t>
            </a:r>
            <a:r>
              <a:rPr spc="-45" dirty="0"/>
              <a:t> </a:t>
            </a:r>
            <a:r>
              <a:rPr spc="-10" dirty="0"/>
              <a:t>Gyroscopes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289405"/>
            <a:ext cx="8455660" cy="18548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A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thin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ring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is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vibrated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specific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shape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(like</a:t>
            </a:r>
            <a:r>
              <a:rPr sz="2000" spc="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ellipse).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Rotation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causes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standing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wave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pattern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"lag"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shift.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Benefit:</a:t>
            </a:r>
            <a:r>
              <a:rPr sz="2000" b="1" spc="29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symmetry</a:t>
            </a:r>
            <a:r>
              <a:rPr sz="2000" spc="2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makes</a:t>
            </a:r>
            <a:r>
              <a:rPr sz="2000" spc="2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them</a:t>
            </a:r>
            <a:r>
              <a:rPr sz="2000" spc="2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resistant</a:t>
            </a:r>
            <a:r>
              <a:rPr sz="2000" spc="2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shock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vibration.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522833" y="6807"/>
            <a:ext cx="810260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45485" marR="5080" indent="-3233420">
              <a:lnSpc>
                <a:spcPct val="100000"/>
              </a:lnSpc>
              <a:spcBef>
                <a:spcPts val="100"/>
              </a:spcBef>
            </a:pPr>
            <a:r>
              <a:rPr dirty="0"/>
              <a:t>Hemispherical</a:t>
            </a:r>
            <a:r>
              <a:rPr spc="-100" dirty="0"/>
              <a:t> </a:t>
            </a:r>
            <a:r>
              <a:rPr dirty="0"/>
              <a:t>Resonator</a:t>
            </a:r>
            <a:r>
              <a:rPr spc="-55" dirty="0"/>
              <a:t> </a:t>
            </a:r>
            <a:r>
              <a:rPr spc="-10" dirty="0"/>
              <a:t>Gyros (HRG)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306423"/>
            <a:ext cx="8149590" cy="18548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The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"Wine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Glass"</a:t>
            </a:r>
            <a:r>
              <a:rPr sz="2000" spc="-20" dirty="0">
                <a:latin typeface="Verdana"/>
                <a:cs typeface="Verdana"/>
              </a:rPr>
              <a:t> Gyro.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dirty="0">
                <a:latin typeface="Verdana"/>
                <a:cs typeface="Verdana"/>
              </a:rPr>
              <a:t>Used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high-</a:t>
            </a:r>
            <a:r>
              <a:rPr sz="2000" dirty="0">
                <a:latin typeface="Verdana"/>
                <a:cs typeface="Verdana"/>
              </a:rPr>
              <a:t>stakes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environments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(Spacecraft,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Satellites).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Why?</a:t>
            </a:r>
            <a:r>
              <a:rPr sz="2000" b="1" spc="3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Extremely</a:t>
            </a:r>
            <a:r>
              <a:rPr sz="2000" spc="29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high</a:t>
            </a:r>
            <a:r>
              <a:rPr sz="2000" spc="29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Q-</a:t>
            </a:r>
            <a:r>
              <a:rPr sz="2000" dirty="0">
                <a:latin typeface="Verdana"/>
                <a:cs typeface="Verdana"/>
              </a:rPr>
              <a:t>factor</a:t>
            </a:r>
            <a:r>
              <a:rPr sz="2000" spc="2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(very</a:t>
            </a:r>
            <a:r>
              <a:rPr sz="2000" spc="28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low</a:t>
            </a:r>
            <a:r>
              <a:rPr sz="2000" spc="30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energy</a:t>
            </a:r>
            <a:r>
              <a:rPr sz="2000" spc="29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loss)</a:t>
            </a:r>
            <a:r>
              <a:rPr sz="2000" spc="29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and </a:t>
            </a:r>
            <a:r>
              <a:rPr sz="2000" dirty="0">
                <a:latin typeface="Verdana"/>
                <a:cs typeface="Verdana"/>
              </a:rPr>
              <a:t>incredible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longevity.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15034" y="281685"/>
            <a:ext cx="6709409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MEMS</a:t>
            </a:r>
            <a:r>
              <a:rPr spc="-95" dirty="0"/>
              <a:t> </a:t>
            </a:r>
            <a:r>
              <a:rPr dirty="0"/>
              <a:t>Fabrication</a:t>
            </a:r>
            <a:r>
              <a:rPr spc="-135" dirty="0"/>
              <a:t> </a:t>
            </a:r>
            <a:r>
              <a:rPr spc="-10" dirty="0"/>
              <a:t>Process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83540" y="1306423"/>
            <a:ext cx="8150859" cy="2312035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Materials:</a:t>
            </a:r>
            <a:r>
              <a:rPr sz="20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Primarily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Silicon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or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Polysilicon.</a:t>
            </a:r>
            <a:endParaRPr sz="2000">
              <a:latin typeface="Verdana"/>
              <a:cs typeface="Verdana"/>
            </a:endParaRPr>
          </a:p>
          <a:p>
            <a:pPr marL="355600" marR="6350" indent="-342900">
              <a:lnSpc>
                <a:spcPts val="3600"/>
              </a:lnSpc>
              <a:spcBef>
                <a:spcPts val="32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Processes: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Photolithography,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Deep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Reactive</a:t>
            </a:r>
            <a:r>
              <a:rPr sz="2000" spc="-3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Ion</a:t>
            </a:r>
            <a:r>
              <a:rPr sz="2000" spc="-2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Etching (DRIE).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ts val="3600"/>
              </a:lnSpc>
              <a:buFont typeface="Wingdings"/>
              <a:buChar char=""/>
              <a:tabLst>
                <a:tab pos="355600" algn="l"/>
                <a:tab pos="2388870" algn="l"/>
                <a:tab pos="3175000" algn="l"/>
                <a:tab pos="3780790" algn="l"/>
                <a:tab pos="4634230" algn="l"/>
                <a:tab pos="5870575" algn="l"/>
                <a:tab pos="7370445" algn="l"/>
              </a:tabLst>
            </a:pP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Integration: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Can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be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built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directly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alongside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CMOS </a:t>
            </a:r>
            <a:r>
              <a:rPr sz="2000" spc="-10" dirty="0">
                <a:latin typeface="Verdana"/>
                <a:cs typeface="Verdana"/>
              </a:rPr>
              <a:t>electronics.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471041" y="6807"/>
            <a:ext cx="620141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88975">
              <a:lnSpc>
                <a:spcPct val="100000"/>
              </a:lnSpc>
              <a:spcBef>
                <a:spcPts val="100"/>
              </a:spcBef>
            </a:pPr>
            <a:r>
              <a:rPr dirty="0"/>
              <a:t>Actuation</a:t>
            </a:r>
            <a:r>
              <a:rPr spc="-85" dirty="0"/>
              <a:t> </a:t>
            </a:r>
            <a:r>
              <a:rPr spc="-10" dirty="0"/>
              <a:t>Methods </a:t>
            </a:r>
            <a:r>
              <a:rPr dirty="0"/>
              <a:t>(How</a:t>
            </a:r>
            <a:r>
              <a:rPr spc="-35" dirty="0"/>
              <a:t> </a:t>
            </a:r>
            <a:r>
              <a:rPr dirty="0"/>
              <a:t>we</a:t>
            </a:r>
            <a:r>
              <a:rPr spc="-50" dirty="0"/>
              <a:t> </a:t>
            </a:r>
            <a:r>
              <a:rPr dirty="0"/>
              <a:t>make</a:t>
            </a:r>
            <a:r>
              <a:rPr spc="-35" dirty="0"/>
              <a:t> </a:t>
            </a:r>
            <a:r>
              <a:rPr dirty="0"/>
              <a:t>it</a:t>
            </a:r>
            <a:r>
              <a:rPr spc="-30" dirty="0"/>
              <a:t> </a:t>
            </a:r>
            <a:r>
              <a:rPr spc="-10" dirty="0"/>
              <a:t>move)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4337" y="1274120"/>
            <a:ext cx="8284209" cy="1855470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Electrostatic</a:t>
            </a:r>
            <a:r>
              <a:rPr sz="2000" b="1" spc="-9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(Most</a:t>
            </a:r>
            <a:r>
              <a:rPr sz="2000" b="1" spc="-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Common):</a:t>
            </a:r>
            <a:r>
              <a:rPr sz="2000" b="1" spc="-8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484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"comb</a:t>
            </a:r>
            <a:r>
              <a:rPr sz="2000" spc="-10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drives"</a:t>
            </a:r>
            <a:r>
              <a:rPr sz="2000" spc="-95" dirty="0">
                <a:latin typeface="Verdana"/>
                <a:cs typeface="Verdana"/>
              </a:rPr>
              <a:t>  </a:t>
            </a:r>
            <a:r>
              <a:rPr sz="2000" spc="-25" dirty="0">
                <a:latin typeface="Verdana"/>
                <a:cs typeface="Verdana"/>
              </a:rPr>
              <a:t>and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voltage.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Piezoelectric:</a:t>
            </a:r>
            <a:r>
              <a:rPr sz="20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crystals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that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deform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under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electricity.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Electromagnetic:</a:t>
            </a:r>
            <a:r>
              <a:rPr sz="20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magnetic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fields.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288161" y="6807"/>
            <a:ext cx="65671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92835">
              <a:lnSpc>
                <a:spcPct val="100000"/>
              </a:lnSpc>
              <a:spcBef>
                <a:spcPts val="100"/>
              </a:spcBef>
            </a:pPr>
            <a:r>
              <a:rPr dirty="0"/>
              <a:t>Sensing</a:t>
            </a:r>
            <a:r>
              <a:rPr spc="-65" dirty="0"/>
              <a:t> </a:t>
            </a:r>
            <a:r>
              <a:rPr spc="-10" dirty="0"/>
              <a:t>Methods </a:t>
            </a:r>
            <a:r>
              <a:rPr dirty="0"/>
              <a:t>(How</a:t>
            </a:r>
            <a:r>
              <a:rPr spc="-40" dirty="0"/>
              <a:t> </a:t>
            </a:r>
            <a:r>
              <a:rPr dirty="0"/>
              <a:t>we</a:t>
            </a:r>
            <a:r>
              <a:rPr spc="-50" dirty="0"/>
              <a:t> </a:t>
            </a:r>
            <a:r>
              <a:rPr dirty="0"/>
              <a:t>read</a:t>
            </a:r>
            <a:r>
              <a:rPr spc="-5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spc="-10" dirty="0"/>
              <a:t>signal)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4337" y="1274120"/>
            <a:ext cx="8283575" cy="23133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  <a:tab pos="2231390" algn="l"/>
                <a:tab pos="3837940" algn="l"/>
                <a:tab pos="5184140" algn="l"/>
                <a:tab pos="5713095" algn="l"/>
                <a:tab pos="6421755" algn="l"/>
                <a:tab pos="7191375" algn="l"/>
              </a:tabLst>
            </a:pP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Capacitive: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Measuring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changes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in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gap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between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electrodes.</a:t>
            </a:r>
            <a:endParaRPr sz="2000">
              <a:latin typeface="Verdana"/>
              <a:cs typeface="Verdana"/>
            </a:endParaRPr>
          </a:p>
          <a:p>
            <a:pPr marL="355600" marR="5715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Piezoresistive:</a:t>
            </a:r>
            <a:r>
              <a:rPr sz="2000" b="1" spc="3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Measuring</a:t>
            </a:r>
            <a:r>
              <a:rPr sz="2000" spc="3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change</a:t>
            </a:r>
            <a:r>
              <a:rPr sz="2000" spc="3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3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resistance</a:t>
            </a:r>
            <a:r>
              <a:rPr sz="2000" spc="30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as</a:t>
            </a:r>
            <a:r>
              <a:rPr sz="2000" spc="3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315" dirty="0">
                <a:latin typeface="Verdana"/>
                <a:cs typeface="Verdana"/>
              </a:rPr>
              <a:t> </a:t>
            </a:r>
            <a:r>
              <a:rPr sz="2000" spc="-20" dirty="0">
                <a:latin typeface="Verdana"/>
                <a:cs typeface="Verdana"/>
              </a:rPr>
              <a:t>beam </a:t>
            </a:r>
            <a:r>
              <a:rPr sz="2000" spc="-10" dirty="0">
                <a:latin typeface="Verdana"/>
                <a:cs typeface="Verdana"/>
              </a:rPr>
              <a:t>bends.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Optical:</a:t>
            </a:r>
            <a:r>
              <a:rPr sz="20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Using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light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detect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displacement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(high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precision).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01521" y="281685"/>
            <a:ext cx="6137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Signal</a:t>
            </a:r>
            <a:r>
              <a:rPr spc="-60" dirty="0"/>
              <a:t> </a:t>
            </a:r>
            <a:r>
              <a:rPr dirty="0"/>
              <a:t>Processing</a:t>
            </a:r>
            <a:r>
              <a:rPr spc="-60" dirty="0"/>
              <a:t> </a:t>
            </a:r>
            <a:r>
              <a:rPr spc="-10" dirty="0"/>
              <a:t>Steps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64337" y="1274120"/>
            <a:ext cx="8283575" cy="2770505"/>
          </a:xfrm>
          <a:prstGeom prst="rect">
            <a:avLst/>
          </a:prstGeom>
        </p:spPr>
        <p:txBody>
          <a:bodyPr vert="horz" wrap="square" lIns="0" tIns="1657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Wingdings"/>
              <a:buChar char=""/>
              <a:tabLst>
                <a:tab pos="354965" algn="l"/>
                <a:tab pos="2231390" algn="l"/>
                <a:tab pos="3837940" algn="l"/>
                <a:tab pos="5184140" algn="l"/>
                <a:tab pos="5713095" algn="l"/>
                <a:tab pos="6421755" algn="l"/>
                <a:tab pos="7191375" algn="l"/>
              </a:tabLst>
            </a:pP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Capacitive: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Measuring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changes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in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the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gap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between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Verdana"/>
                <a:cs typeface="Verdana"/>
              </a:rPr>
              <a:t>electrodes.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Input:</a:t>
            </a:r>
            <a:r>
              <a:rPr sz="20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Tiny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capacitive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change.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Processing: </a:t>
            </a:r>
            <a:r>
              <a:rPr sz="2000" spc="-10" dirty="0">
                <a:latin typeface="Verdana"/>
                <a:cs typeface="Verdana"/>
              </a:rPr>
              <a:t>Charge-</a:t>
            </a:r>
            <a:r>
              <a:rPr sz="2000" spc="-30" dirty="0">
                <a:latin typeface="Verdana"/>
                <a:cs typeface="Verdana"/>
              </a:rPr>
              <a:t>to-</a:t>
            </a:r>
            <a:r>
              <a:rPr sz="2000" dirty="0">
                <a:latin typeface="Verdana"/>
                <a:cs typeface="Verdana"/>
              </a:rPr>
              <a:t>voltage conversion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Cambria Math"/>
                <a:cs typeface="Cambria Math"/>
              </a:rPr>
              <a:t>⇢</a:t>
            </a:r>
            <a:r>
              <a:rPr sz="2000" spc="240" dirty="0">
                <a:latin typeface="Cambria Math"/>
                <a:cs typeface="Cambria Math"/>
              </a:rPr>
              <a:t> </a:t>
            </a:r>
            <a:r>
              <a:rPr sz="2000" dirty="0">
                <a:latin typeface="Verdana"/>
                <a:cs typeface="Verdana"/>
              </a:rPr>
              <a:t>Amplification</a:t>
            </a:r>
            <a:r>
              <a:rPr sz="2000" spc="25" dirty="0">
                <a:latin typeface="Verdana"/>
                <a:cs typeface="Verdana"/>
              </a:rPr>
              <a:t> </a:t>
            </a:r>
            <a:r>
              <a:rPr sz="2000" spc="-50" dirty="0">
                <a:latin typeface="Cambria Math"/>
                <a:cs typeface="Cambria Math"/>
              </a:rPr>
              <a:t>⇢</a:t>
            </a:r>
            <a:endParaRPr sz="2000">
              <a:latin typeface="Cambria Math"/>
              <a:cs typeface="Cambria Math"/>
            </a:endParaRPr>
          </a:p>
          <a:p>
            <a:pPr marL="410209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Verdana"/>
                <a:cs typeface="Verdana"/>
              </a:rPr>
              <a:t>Synchronous</a:t>
            </a:r>
            <a:r>
              <a:rPr sz="2000" spc="-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Demodulation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dirty="0">
                <a:latin typeface="Cambria Math"/>
                <a:cs typeface="Cambria Math"/>
              </a:rPr>
              <a:t>⇢</a:t>
            </a:r>
            <a:r>
              <a:rPr sz="2000" spc="-30" dirty="0">
                <a:latin typeface="Cambria Math"/>
                <a:cs typeface="Cambria Math"/>
              </a:rPr>
              <a:t> </a:t>
            </a:r>
            <a:r>
              <a:rPr sz="2000" spc="-20" dirty="0">
                <a:latin typeface="Verdana"/>
                <a:cs typeface="Verdana"/>
              </a:rPr>
              <a:t>Low-</a:t>
            </a:r>
            <a:r>
              <a:rPr sz="2000" dirty="0">
                <a:latin typeface="Verdana"/>
                <a:cs typeface="Verdana"/>
              </a:rPr>
              <a:t>pass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Filter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Cambria Math"/>
                <a:cs typeface="Cambria Math"/>
              </a:rPr>
              <a:t>⇢</a:t>
            </a:r>
            <a:r>
              <a:rPr sz="2000" spc="229" dirty="0">
                <a:latin typeface="Cambria Math"/>
                <a:cs typeface="Cambria Math"/>
              </a:rPr>
              <a:t> </a:t>
            </a:r>
            <a:r>
              <a:rPr sz="2000" dirty="0">
                <a:latin typeface="Verdana"/>
                <a:cs typeface="Verdana"/>
              </a:rPr>
              <a:t>Digital</a:t>
            </a:r>
            <a:r>
              <a:rPr sz="2000" spc="-10" dirty="0">
                <a:latin typeface="Verdana"/>
                <a:cs typeface="Verdana"/>
              </a:rPr>
              <a:t> </a:t>
            </a:r>
            <a:r>
              <a:rPr sz="2000" spc="-25" dirty="0">
                <a:latin typeface="Verdana"/>
                <a:cs typeface="Verdana"/>
              </a:rPr>
              <a:t>O/P</a:t>
            </a:r>
            <a:endParaRPr sz="20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354965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Output:</a:t>
            </a:r>
            <a:r>
              <a:rPr sz="20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Voltage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proportional</a:t>
            </a:r>
            <a:r>
              <a:rPr sz="2000" spc="-4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angular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rate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(deg/sec).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01521" y="281685"/>
            <a:ext cx="6137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Signal</a:t>
            </a:r>
            <a:r>
              <a:rPr spc="-60" dirty="0"/>
              <a:t> </a:t>
            </a:r>
            <a:r>
              <a:rPr dirty="0"/>
              <a:t>Processing</a:t>
            </a:r>
            <a:r>
              <a:rPr spc="-60" dirty="0"/>
              <a:t> </a:t>
            </a:r>
            <a:r>
              <a:rPr spc="-10" dirty="0"/>
              <a:t>Steps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3537" y="1287043"/>
            <a:ext cx="8383270" cy="5147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0" marR="55880" indent="-342900" algn="just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406400" algn="l"/>
              </a:tabLst>
            </a:pPr>
            <a:r>
              <a:rPr sz="1600" dirty="0">
                <a:latin typeface="Verdana"/>
                <a:cs typeface="Verdana"/>
              </a:rPr>
              <a:t>The</a:t>
            </a:r>
            <a:r>
              <a:rPr sz="1600" spc="1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sense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mode</a:t>
            </a:r>
            <a:r>
              <a:rPr sz="1600" spc="1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displacement</a:t>
            </a:r>
            <a:r>
              <a:rPr sz="1600" spc="1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y(t)</a:t>
            </a:r>
            <a:r>
              <a:rPr sz="1600" spc="1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is</a:t>
            </a:r>
            <a:r>
              <a:rPr sz="1600" spc="1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incredibly</a:t>
            </a:r>
            <a:r>
              <a:rPr sz="1600" spc="1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small</a:t>
            </a:r>
            <a:r>
              <a:rPr sz="1600" spc="1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often</a:t>
            </a:r>
            <a:r>
              <a:rPr sz="1600" spc="1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</a:t>
            </a:r>
            <a:r>
              <a:rPr sz="1600" spc="1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1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range</a:t>
            </a:r>
            <a:r>
              <a:rPr sz="1600" spc="15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of </a:t>
            </a:r>
            <a:r>
              <a:rPr sz="1600" dirty="0">
                <a:latin typeface="Verdana"/>
                <a:cs typeface="Verdana"/>
              </a:rPr>
              <a:t>picometers</a:t>
            </a:r>
            <a:r>
              <a:rPr sz="1600" spc="-10" dirty="0">
                <a:latin typeface="Verdana"/>
                <a:cs typeface="Verdana"/>
              </a:rPr>
              <a:t> (10</a:t>
            </a:r>
            <a:r>
              <a:rPr sz="1575" spc="-15" baseline="26455" dirty="0">
                <a:latin typeface="Verdana"/>
                <a:cs typeface="Verdana"/>
              </a:rPr>
              <a:t>-</a:t>
            </a:r>
            <a:r>
              <a:rPr sz="1575" baseline="26455" dirty="0">
                <a:latin typeface="Verdana"/>
                <a:cs typeface="Verdana"/>
              </a:rPr>
              <a:t>12</a:t>
            </a:r>
            <a:r>
              <a:rPr sz="1575" spc="284" baseline="264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m).</a:t>
            </a:r>
            <a:r>
              <a:rPr sz="1600" spc="-15" dirty="0">
                <a:latin typeface="Verdana"/>
                <a:cs typeface="Verdana"/>
              </a:rPr>
              <a:t>  </a:t>
            </a:r>
            <a:r>
              <a:rPr sz="1600" spc="-30" dirty="0">
                <a:latin typeface="Verdana"/>
                <a:cs typeface="Verdana"/>
              </a:rPr>
              <a:t>To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turn this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into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usable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signal,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electronics </a:t>
            </a:r>
            <a:r>
              <a:rPr sz="1600" spc="-10" dirty="0">
                <a:latin typeface="Verdana"/>
                <a:cs typeface="Verdana"/>
              </a:rPr>
              <a:t>follow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8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following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signal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processing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steps:</a:t>
            </a:r>
            <a:endParaRPr sz="1600">
              <a:latin typeface="Verdana"/>
              <a:cs typeface="Verdana"/>
            </a:endParaRPr>
          </a:p>
          <a:p>
            <a:pPr marL="405765" indent="-342265" algn="just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405765" algn="l"/>
              </a:tabLst>
            </a:pP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Step</a:t>
            </a:r>
            <a:r>
              <a:rPr sz="16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1:</a:t>
            </a:r>
            <a:r>
              <a:rPr sz="1600"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FF0000"/>
                </a:solidFill>
                <a:latin typeface="Verdana"/>
                <a:cs typeface="Verdana"/>
              </a:rPr>
              <a:t>Capacitance-</a:t>
            </a:r>
            <a:r>
              <a:rPr sz="1600" b="1" spc="-10" dirty="0">
                <a:solidFill>
                  <a:srgbClr val="FF0000"/>
                </a:solidFill>
                <a:latin typeface="Verdana"/>
                <a:cs typeface="Verdana"/>
              </a:rPr>
              <a:t>to-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Voltage</a:t>
            </a:r>
            <a:r>
              <a:rPr sz="1600" b="1" spc="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(C/V)</a:t>
            </a:r>
            <a:r>
              <a:rPr sz="1600" b="1" spc="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Verdana"/>
                <a:cs typeface="Verdana"/>
              </a:rPr>
              <a:t>Conversion</a:t>
            </a:r>
            <a:endParaRPr sz="1600">
              <a:latin typeface="Verdana"/>
              <a:cs typeface="Verdana"/>
            </a:endParaRPr>
          </a:p>
          <a:p>
            <a:pPr marL="765810" lvl="1" indent="-34290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765810" algn="l"/>
              </a:tabLst>
            </a:pPr>
            <a:r>
              <a:rPr sz="1600" dirty="0">
                <a:latin typeface="Verdana"/>
                <a:cs typeface="Verdana"/>
              </a:rPr>
              <a:t>Charge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Amplifier to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convert</a:t>
            </a:r>
            <a:r>
              <a:rPr sz="1600" spc="-3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this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ΔC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into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measurable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voltage.</a:t>
            </a:r>
            <a:endParaRPr sz="1600">
              <a:latin typeface="Verdana"/>
              <a:cs typeface="Verdana"/>
            </a:endParaRPr>
          </a:p>
          <a:p>
            <a:pPr marL="765810" marR="53975" lvl="1" indent="-342900">
              <a:lnSpc>
                <a:spcPct val="150000"/>
              </a:lnSpc>
              <a:buFont typeface="Wingdings"/>
              <a:buChar char=""/>
              <a:tabLst>
                <a:tab pos="765810" algn="l"/>
              </a:tabLst>
            </a:pPr>
            <a:r>
              <a:rPr sz="1600" dirty="0">
                <a:latin typeface="Verdana"/>
                <a:cs typeface="Verdana"/>
              </a:rPr>
              <a:t>Because</a:t>
            </a:r>
            <a:r>
              <a:rPr sz="1600" spc="-20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15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signal</a:t>
            </a:r>
            <a:r>
              <a:rPr sz="1600" spc="-20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is</a:t>
            </a:r>
            <a:r>
              <a:rPr sz="1600" spc="-15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so</a:t>
            </a:r>
            <a:r>
              <a:rPr sz="1600" spc="-5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weak,</a:t>
            </a:r>
            <a:r>
              <a:rPr sz="1600" spc="-25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this</a:t>
            </a:r>
            <a:r>
              <a:rPr sz="1600" spc="-15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stage</a:t>
            </a:r>
            <a:r>
              <a:rPr sz="1600" spc="-20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is</a:t>
            </a:r>
            <a:r>
              <a:rPr sz="1600" spc="-15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extremely</a:t>
            </a:r>
            <a:r>
              <a:rPr sz="1600" spc="-10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sensitive</a:t>
            </a:r>
            <a:r>
              <a:rPr sz="1600" spc="-15" dirty="0">
                <a:latin typeface="Verdana"/>
                <a:cs typeface="Verdana"/>
              </a:rPr>
              <a:t>  </a:t>
            </a:r>
            <a:r>
              <a:rPr sz="1600" spc="-25" dirty="0">
                <a:latin typeface="Verdana"/>
                <a:cs typeface="Verdana"/>
              </a:rPr>
              <a:t>to </a:t>
            </a:r>
            <a:r>
              <a:rPr sz="1600" dirty="0">
                <a:latin typeface="Verdana"/>
                <a:cs typeface="Verdana"/>
              </a:rPr>
              <a:t>thermal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noise.</a:t>
            </a:r>
            <a:endParaRPr sz="1600">
              <a:latin typeface="Verdana"/>
              <a:cs typeface="Verdana"/>
            </a:endParaRPr>
          </a:p>
          <a:p>
            <a:pPr marL="405765" indent="-342265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405765" algn="l"/>
              </a:tabLst>
            </a:pP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Step</a:t>
            </a:r>
            <a:r>
              <a:rPr sz="16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2:</a:t>
            </a:r>
            <a:r>
              <a:rPr sz="1600" b="1" spc="-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Synchronous</a:t>
            </a:r>
            <a:r>
              <a:rPr sz="16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Demodulation</a:t>
            </a:r>
            <a:r>
              <a:rPr sz="1600" b="1" spc="-4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(The</a:t>
            </a:r>
            <a:r>
              <a:rPr sz="16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"Magic"</a:t>
            </a:r>
            <a:r>
              <a:rPr sz="1600" b="1" spc="-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Verdana"/>
                <a:cs typeface="Verdana"/>
              </a:rPr>
              <a:t>Step)</a:t>
            </a:r>
            <a:endParaRPr sz="1600">
              <a:latin typeface="Verdana"/>
              <a:cs typeface="Verdana"/>
            </a:endParaRPr>
          </a:p>
          <a:p>
            <a:pPr marL="765175" lvl="1" indent="-342265" algn="just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765175" algn="l"/>
              </a:tabLst>
            </a:pPr>
            <a:r>
              <a:rPr sz="1600" dirty="0">
                <a:latin typeface="Verdana"/>
                <a:cs typeface="Verdana"/>
              </a:rPr>
              <a:t>The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Coriolis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Signal: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Proportional</a:t>
            </a:r>
            <a:r>
              <a:rPr sz="1600" spc="-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3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rotation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rate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20" dirty="0">
                <a:latin typeface="Verdana"/>
                <a:cs typeface="Verdana"/>
              </a:rPr>
              <a:t>(</a:t>
            </a:r>
            <a:r>
              <a:rPr sz="1600" spc="-20" dirty="0">
                <a:latin typeface="Cambria Math"/>
                <a:cs typeface="Cambria Math"/>
              </a:rPr>
              <a:t>𝛺</a:t>
            </a:r>
            <a:r>
              <a:rPr sz="1600" spc="-20" dirty="0">
                <a:latin typeface="Verdana"/>
                <a:cs typeface="Verdana"/>
              </a:rPr>
              <a:t>).</a:t>
            </a:r>
            <a:endParaRPr sz="1600">
              <a:latin typeface="Verdana"/>
              <a:cs typeface="Verdana"/>
            </a:endParaRPr>
          </a:p>
          <a:p>
            <a:pPr marL="765810" marR="55244" lvl="1" indent="-342900" algn="just">
              <a:lnSpc>
                <a:spcPct val="150000"/>
              </a:lnSpc>
              <a:spcBef>
                <a:spcPts val="5"/>
              </a:spcBef>
              <a:buFont typeface="Wingdings"/>
              <a:buChar char=""/>
              <a:tabLst>
                <a:tab pos="765810" algn="l"/>
              </a:tabLst>
            </a:pPr>
            <a:r>
              <a:rPr sz="1600" dirty="0">
                <a:latin typeface="Verdana"/>
                <a:cs typeface="Verdana"/>
              </a:rPr>
              <a:t>Quadrature</a:t>
            </a:r>
            <a:r>
              <a:rPr sz="1600" spc="295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Error:</a:t>
            </a:r>
            <a:r>
              <a:rPr sz="1600" spc="295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300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much</a:t>
            </a:r>
            <a:r>
              <a:rPr sz="1600" spc="300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larger</a:t>
            </a:r>
            <a:r>
              <a:rPr sz="1600" spc="295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signal</a:t>
            </a:r>
            <a:r>
              <a:rPr sz="1600" spc="300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caused</a:t>
            </a:r>
            <a:r>
              <a:rPr sz="1600" spc="305" dirty="0">
                <a:latin typeface="Verdana"/>
                <a:cs typeface="Verdana"/>
              </a:rPr>
              <a:t>  </a:t>
            </a:r>
            <a:r>
              <a:rPr sz="1600" dirty="0">
                <a:latin typeface="Verdana"/>
                <a:cs typeface="Verdana"/>
              </a:rPr>
              <a:t>by</a:t>
            </a:r>
            <a:r>
              <a:rPr sz="1600" spc="300" dirty="0">
                <a:latin typeface="Verdana"/>
                <a:cs typeface="Verdana"/>
              </a:rPr>
              <a:t>  </a:t>
            </a:r>
            <a:r>
              <a:rPr sz="1600" spc="-10" dirty="0">
                <a:latin typeface="Verdana"/>
                <a:cs typeface="Verdana"/>
              </a:rPr>
              <a:t>mechanical </a:t>
            </a:r>
            <a:r>
              <a:rPr sz="1600" dirty="0">
                <a:latin typeface="Verdana"/>
                <a:cs typeface="Verdana"/>
              </a:rPr>
              <a:t>imperfections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(the</a:t>
            </a:r>
            <a:r>
              <a:rPr sz="1600" spc="-7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mass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vibrating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slightly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"sideways").</a:t>
            </a:r>
            <a:endParaRPr sz="1600">
              <a:latin typeface="Verdana"/>
              <a:cs typeface="Verdana"/>
            </a:endParaRPr>
          </a:p>
          <a:p>
            <a:pPr marL="765810" marR="54610" lvl="1" indent="-342900" algn="just">
              <a:lnSpc>
                <a:spcPct val="150000"/>
              </a:lnSpc>
              <a:buFont typeface="Wingdings"/>
              <a:buChar char=""/>
              <a:tabLst>
                <a:tab pos="765810" algn="l"/>
              </a:tabLst>
            </a:pPr>
            <a:r>
              <a:rPr sz="1600" dirty="0">
                <a:latin typeface="Verdana"/>
                <a:cs typeface="Verdana"/>
              </a:rPr>
              <a:t>Use</a:t>
            </a:r>
            <a:r>
              <a:rPr sz="1600" spc="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006FC0"/>
                </a:solidFill>
                <a:latin typeface="Verdana"/>
                <a:cs typeface="Verdana"/>
              </a:rPr>
              <a:t>Phase-</a:t>
            </a:r>
            <a:r>
              <a:rPr sz="1600" b="1" dirty="0">
                <a:solidFill>
                  <a:srgbClr val="006FC0"/>
                </a:solidFill>
                <a:latin typeface="Verdana"/>
                <a:cs typeface="Verdana"/>
              </a:rPr>
              <a:t>Locked</a:t>
            </a:r>
            <a:r>
              <a:rPr sz="1600" b="1" spc="55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Verdana"/>
                <a:cs typeface="Verdana"/>
              </a:rPr>
              <a:t>Loop</a:t>
            </a:r>
            <a:r>
              <a:rPr sz="1600" b="1" spc="4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006FC0"/>
                </a:solidFill>
                <a:latin typeface="Verdana"/>
                <a:cs typeface="Verdana"/>
              </a:rPr>
              <a:t>(PLL)</a:t>
            </a:r>
            <a:r>
              <a:rPr sz="1600" b="1" spc="3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"multiply"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incoming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signal</a:t>
            </a:r>
            <a:r>
              <a:rPr sz="1600" spc="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by</a:t>
            </a:r>
            <a:r>
              <a:rPr sz="1600" spc="20" dirty="0">
                <a:latin typeface="Verdana"/>
                <a:cs typeface="Verdana"/>
              </a:rPr>
              <a:t> </a:t>
            </a:r>
            <a:r>
              <a:rPr sz="1600" spc="-50" dirty="0">
                <a:latin typeface="Verdana"/>
                <a:cs typeface="Verdana"/>
              </a:rPr>
              <a:t>a </a:t>
            </a:r>
            <a:r>
              <a:rPr sz="1600" dirty="0">
                <a:latin typeface="Verdana"/>
                <a:cs typeface="Verdana"/>
              </a:rPr>
              <a:t>reference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wave.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This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cancels</a:t>
            </a:r>
            <a:r>
              <a:rPr sz="1600" spc="19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out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error</a:t>
            </a:r>
            <a:r>
              <a:rPr sz="1600" spc="19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17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leaves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only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rotation data.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01521" y="281685"/>
            <a:ext cx="61379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Signal</a:t>
            </a:r>
            <a:r>
              <a:rPr spc="-60" dirty="0"/>
              <a:t> </a:t>
            </a:r>
            <a:r>
              <a:rPr dirty="0"/>
              <a:t>Processing</a:t>
            </a:r>
            <a:r>
              <a:rPr spc="-60" dirty="0"/>
              <a:t> </a:t>
            </a:r>
            <a:r>
              <a:rPr spc="-10" dirty="0"/>
              <a:t>Steps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38937" y="1287043"/>
            <a:ext cx="8334375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0" marR="31750" indent="-342900" algn="just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381000" algn="l"/>
              </a:tabLst>
            </a:pP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Step</a:t>
            </a:r>
            <a:r>
              <a:rPr sz="1600" b="1" spc="2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3:</a:t>
            </a:r>
            <a:r>
              <a:rPr sz="1600" b="1" spc="2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Verdana"/>
                <a:cs typeface="Verdana"/>
              </a:rPr>
              <a:t>Low-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Pass</a:t>
            </a:r>
            <a:r>
              <a:rPr sz="1600" b="1" spc="26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Filtering</a:t>
            </a:r>
            <a:r>
              <a:rPr sz="1600" b="1" spc="29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and</a:t>
            </a:r>
            <a:r>
              <a:rPr sz="1600" b="1" spc="2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Verdana"/>
                <a:cs typeface="Verdana"/>
              </a:rPr>
              <a:t>Analog-to-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Digital</a:t>
            </a:r>
            <a:r>
              <a:rPr sz="1600" b="1" spc="2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Conversion</a:t>
            </a:r>
            <a:r>
              <a:rPr sz="1600" b="1" spc="28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Verdana"/>
                <a:cs typeface="Verdana"/>
              </a:rPr>
              <a:t>(ADC) </a:t>
            </a:r>
            <a:r>
              <a:rPr sz="1600" dirty="0">
                <a:latin typeface="Verdana"/>
                <a:cs typeface="Verdana"/>
              </a:rPr>
              <a:t>Once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demodulated,</a:t>
            </a:r>
            <a:r>
              <a:rPr sz="1600" spc="1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we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have</a:t>
            </a:r>
            <a:r>
              <a:rPr sz="1600" spc="17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raw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DC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voltage</a:t>
            </a:r>
            <a:r>
              <a:rPr sz="1600" spc="17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that</a:t>
            </a:r>
            <a:r>
              <a:rPr sz="1600" spc="1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represents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angular velocity.</a:t>
            </a:r>
            <a:endParaRPr sz="1600">
              <a:latin typeface="Verdana"/>
              <a:cs typeface="Verdana"/>
            </a:endParaRPr>
          </a:p>
          <a:p>
            <a:pPr marL="740410" marR="30480" lvl="1" indent="-342900" algn="just">
              <a:lnSpc>
                <a:spcPct val="150000"/>
              </a:lnSpc>
              <a:buFont typeface="Wingdings"/>
              <a:buChar char=""/>
              <a:tabLst>
                <a:tab pos="740410" algn="l"/>
              </a:tabLst>
            </a:pPr>
            <a:r>
              <a:rPr sz="1600" b="1" spc="-10" dirty="0">
                <a:solidFill>
                  <a:srgbClr val="FF0000"/>
                </a:solidFill>
                <a:latin typeface="Verdana"/>
                <a:cs typeface="Verdana"/>
              </a:rPr>
              <a:t>Low-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Pass</a:t>
            </a:r>
            <a:r>
              <a:rPr sz="1600" b="1" spc="434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Filter:</a:t>
            </a:r>
            <a:r>
              <a:rPr sz="1600" b="1" spc="45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Removes</a:t>
            </a:r>
            <a:r>
              <a:rPr sz="1600" spc="434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high-</a:t>
            </a:r>
            <a:r>
              <a:rPr sz="1600" dirty="0">
                <a:latin typeface="Verdana"/>
                <a:cs typeface="Verdana"/>
              </a:rPr>
              <a:t>frequency</a:t>
            </a:r>
            <a:r>
              <a:rPr sz="1600" spc="4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mechanical</a:t>
            </a:r>
            <a:r>
              <a:rPr sz="1600" spc="4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noise</a:t>
            </a:r>
            <a:r>
              <a:rPr sz="1600" spc="4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and</a:t>
            </a:r>
            <a:r>
              <a:rPr sz="1600" spc="42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the </a:t>
            </a:r>
            <a:r>
              <a:rPr sz="1600" dirty="0">
                <a:latin typeface="Verdana"/>
                <a:cs typeface="Verdana"/>
              </a:rPr>
              <a:t>remnants</a:t>
            </a:r>
            <a:r>
              <a:rPr sz="1600" spc="-2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of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drive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frequency.</a:t>
            </a:r>
            <a:endParaRPr sz="1600">
              <a:latin typeface="Verdana"/>
              <a:cs typeface="Verdana"/>
            </a:endParaRPr>
          </a:p>
          <a:p>
            <a:pPr marL="740410" marR="34925" lvl="1" indent="-342900" algn="just">
              <a:lnSpc>
                <a:spcPct val="150000"/>
              </a:lnSpc>
              <a:buFont typeface="Wingdings"/>
              <a:buChar char=""/>
              <a:tabLst>
                <a:tab pos="740410" algn="l"/>
              </a:tabLst>
            </a:pP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ADC:</a:t>
            </a:r>
            <a:r>
              <a:rPr sz="1600" b="1" spc="1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Converts</a:t>
            </a:r>
            <a:r>
              <a:rPr sz="1600" spc="11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10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analog</a:t>
            </a:r>
            <a:r>
              <a:rPr sz="1600" spc="10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voltage</a:t>
            </a:r>
            <a:r>
              <a:rPr sz="1600" spc="10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into</a:t>
            </a:r>
            <a:r>
              <a:rPr sz="1600" spc="10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</a:t>
            </a:r>
            <a:r>
              <a:rPr sz="1600" spc="10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16-</a:t>
            </a:r>
            <a:r>
              <a:rPr sz="1600" dirty="0">
                <a:latin typeface="Verdana"/>
                <a:cs typeface="Verdana"/>
              </a:rPr>
              <a:t>bit</a:t>
            </a:r>
            <a:r>
              <a:rPr sz="1600" spc="9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or</a:t>
            </a:r>
            <a:r>
              <a:rPr sz="1600" spc="11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24-</a:t>
            </a:r>
            <a:r>
              <a:rPr sz="1600" dirty="0">
                <a:latin typeface="Verdana"/>
                <a:cs typeface="Verdana"/>
              </a:rPr>
              <a:t>bit</a:t>
            </a:r>
            <a:r>
              <a:rPr sz="1600" spc="9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digital</a:t>
            </a:r>
            <a:r>
              <a:rPr sz="1600" spc="10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number </a:t>
            </a:r>
            <a:r>
              <a:rPr sz="1600" dirty="0">
                <a:latin typeface="Verdana"/>
                <a:cs typeface="Verdana"/>
              </a:rPr>
              <a:t>(e.g.,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via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an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</a:t>
            </a:r>
            <a:r>
              <a:rPr sz="1575" baseline="26455" dirty="0">
                <a:latin typeface="Verdana"/>
                <a:cs typeface="Verdana"/>
              </a:rPr>
              <a:t>2</a:t>
            </a:r>
            <a:r>
              <a:rPr sz="1600" dirty="0">
                <a:latin typeface="Verdana"/>
                <a:cs typeface="Verdana"/>
              </a:rPr>
              <a:t>C</a:t>
            </a:r>
            <a:r>
              <a:rPr sz="1600" spc="-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or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SPI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interface).</a:t>
            </a:r>
            <a:endParaRPr sz="1600">
              <a:latin typeface="Verdana"/>
              <a:cs typeface="Verdana"/>
            </a:endParaRPr>
          </a:p>
          <a:p>
            <a:pPr marL="380365" indent="-342265" algn="just">
              <a:lnSpc>
                <a:spcPct val="100000"/>
              </a:lnSpc>
              <a:spcBef>
                <a:spcPts val="960"/>
              </a:spcBef>
              <a:buFont typeface="Wingdings"/>
              <a:buChar char=""/>
              <a:tabLst>
                <a:tab pos="380365" algn="l"/>
              </a:tabLst>
            </a:pP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Step</a:t>
            </a:r>
            <a:r>
              <a:rPr sz="1600"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4:</a:t>
            </a:r>
            <a:r>
              <a:rPr sz="1600" b="1" spc="-3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Summary</a:t>
            </a:r>
            <a:r>
              <a:rPr sz="1600"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Math</a:t>
            </a:r>
            <a:r>
              <a:rPr sz="1600" b="1" spc="-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for</a:t>
            </a:r>
            <a:r>
              <a:rPr sz="1600" b="1" spc="-1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FF0000"/>
                </a:solidFill>
                <a:latin typeface="Verdana"/>
                <a:cs typeface="Verdana"/>
              </a:rPr>
              <a:t>the</a:t>
            </a:r>
            <a:r>
              <a:rPr sz="16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FF0000"/>
                </a:solidFill>
                <a:latin typeface="Verdana"/>
                <a:cs typeface="Verdana"/>
              </a:rPr>
              <a:t>Output</a:t>
            </a:r>
            <a:endParaRPr sz="1600">
              <a:latin typeface="Verdana"/>
              <a:cs typeface="Verdana"/>
            </a:endParaRPr>
          </a:p>
          <a:p>
            <a:pPr marL="740410" lvl="1" indent="-34290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740410" algn="l"/>
              </a:tabLst>
            </a:pPr>
            <a:r>
              <a:rPr sz="1600" dirty="0">
                <a:latin typeface="Verdana"/>
                <a:cs typeface="Verdana"/>
              </a:rPr>
              <a:t>The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final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output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voltage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i="1" dirty="0">
                <a:latin typeface="Verdana"/>
                <a:cs typeface="Verdana"/>
              </a:rPr>
              <a:t>V</a:t>
            </a:r>
            <a:r>
              <a:rPr sz="1575" i="1" baseline="-21164" dirty="0">
                <a:latin typeface="Verdana"/>
                <a:cs typeface="Verdana"/>
              </a:rPr>
              <a:t>out</a:t>
            </a:r>
            <a:r>
              <a:rPr sz="1575" i="1" spc="217" baseline="-21164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is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typically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defined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by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-4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Scale</a:t>
            </a:r>
            <a:r>
              <a:rPr sz="1600" spc="-4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Factor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(</a:t>
            </a:r>
            <a:r>
              <a:rPr sz="1600" i="1" spc="-10" dirty="0">
                <a:latin typeface="Verdana"/>
                <a:cs typeface="Verdana"/>
              </a:rPr>
              <a:t>SF</a:t>
            </a:r>
            <a:r>
              <a:rPr sz="1600" spc="-10" dirty="0">
                <a:latin typeface="Verdana"/>
                <a:cs typeface="Verdana"/>
              </a:rPr>
              <a:t>):</a:t>
            </a:r>
            <a:endParaRPr sz="1600">
              <a:latin typeface="Verdana"/>
              <a:cs typeface="Verdana"/>
            </a:endParaRPr>
          </a:p>
          <a:p>
            <a:pPr marR="357505" algn="ctr">
              <a:lnSpc>
                <a:spcPct val="100000"/>
              </a:lnSpc>
              <a:spcBef>
                <a:spcPts val="965"/>
              </a:spcBef>
            </a:pPr>
            <a:r>
              <a:rPr sz="1600" dirty="0">
                <a:latin typeface="Cambria Math"/>
                <a:cs typeface="Cambria Math"/>
              </a:rPr>
              <a:t>𝑉</a:t>
            </a:r>
            <a:r>
              <a:rPr sz="1725" baseline="-14492" dirty="0">
                <a:latin typeface="Cambria Math"/>
                <a:cs typeface="Cambria Math"/>
              </a:rPr>
              <a:t>𝑜𝑢𝑡</a:t>
            </a:r>
            <a:r>
              <a:rPr sz="1725" spc="427" baseline="-14492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=</a:t>
            </a:r>
            <a:r>
              <a:rPr sz="1600" spc="9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𝑆𝐹</a:t>
            </a:r>
            <a:r>
              <a:rPr sz="1600" spc="70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∙ Ω</a:t>
            </a:r>
            <a:r>
              <a:rPr sz="1600" spc="-5" dirty="0">
                <a:latin typeface="Cambria Math"/>
                <a:cs typeface="Cambria Math"/>
              </a:rPr>
              <a:t> </a:t>
            </a:r>
            <a:r>
              <a:rPr sz="1600" dirty="0">
                <a:latin typeface="Cambria Math"/>
                <a:cs typeface="Cambria Math"/>
              </a:rPr>
              <a:t>+</a:t>
            </a:r>
            <a:r>
              <a:rPr sz="1600" spc="10" dirty="0">
                <a:latin typeface="Cambria Math"/>
                <a:cs typeface="Cambria Math"/>
              </a:rPr>
              <a:t> </a:t>
            </a:r>
            <a:r>
              <a:rPr sz="1600" spc="-20" dirty="0">
                <a:latin typeface="Cambria Math"/>
                <a:cs typeface="Cambria Math"/>
              </a:rPr>
              <a:t>𝐵𝑖𝑎𝑠</a:t>
            </a:r>
            <a:endParaRPr sz="1600">
              <a:latin typeface="Cambria Math"/>
              <a:cs typeface="Cambria Math"/>
            </a:endParaRPr>
          </a:p>
          <a:p>
            <a:pPr marL="740410" lvl="1" indent="-342900">
              <a:lnSpc>
                <a:spcPct val="100000"/>
              </a:lnSpc>
              <a:spcBef>
                <a:spcPts val="960"/>
              </a:spcBef>
              <a:buFont typeface="Wingdings"/>
              <a:buChar char=""/>
              <a:tabLst>
                <a:tab pos="740410" algn="l"/>
              </a:tabLst>
            </a:pPr>
            <a:r>
              <a:rPr sz="1600" i="1" dirty="0">
                <a:latin typeface="Verdana"/>
                <a:cs typeface="Verdana"/>
              </a:rPr>
              <a:t>SF</a:t>
            </a:r>
            <a:r>
              <a:rPr sz="1600" i="1" spc="-3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(Sensitivity):</a:t>
            </a:r>
            <a:r>
              <a:rPr sz="1600" dirty="0">
                <a:latin typeface="Verdana"/>
                <a:cs typeface="Verdana"/>
              </a:rPr>
              <a:t> Measured</a:t>
            </a:r>
            <a:r>
              <a:rPr sz="1600" spc="-1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in</a:t>
            </a:r>
            <a:r>
              <a:rPr sz="1600" spc="-55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mV/(deg/sec).</a:t>
            </a:r>
            <a:endParaRPr sz="1600">
              <a:latin typeface="Verdana"/>
              <a:cs typeface="Verdana"/>
            </a:endParaRPr>
          </a:p>
          <a:p>
            <a:pPr marL="740410" marR="31750" lvl="1" indent="-342900" algn="just">
              <a:lnSpc>
                <a:spcPct val="150000"/>
              </a:lnSpc>
              <a:buFont typeface="Wingdings"/>
              <a:buChar char=""/>
              <a:tabLst>
                <a:tab pos="740410" algn="l"/>
              </a:tabLst>
            </a:pPr>
            <a:r>
              <a:rPr sz="1600" dirty="0">
                <a:latin typeface="Verdana"/>
                <a:cs typeface="Verdana"/>
              </a:rPr>
              <a:t>Bias:</a:t>
            </a:r>
            <a:r>
              <a:rPr sz="1600" spc="1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output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value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when</a:t>
            </a:r>
            <a:r>
              <a:rPr sz="1600" spc="18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the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gyro</a:t>
            </a:r>
            <a:r>
              <a:rPr sz="1600" spc="17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is</a:t>
            </a:r>
            <a:r>
              <a:rPr sz="1600" spc="16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perfectly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still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(which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we</a:t>
            </a:r>
            <a:r>
              <a:rPr sz="1600" spc="16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try</a:t>
            </a:r>
            <a:r>
              <a:rPr sz="1600" spc="170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to </a:t>
            </a:r>
            <a:r>
              <a:rPr sz="1600" dirty="0">
                <a:latin typeface="Verdana"/>
                <a:cs typeface="Verdana"/>
              </a:rPr>
              <a:t>calibrate</a:t>
            </a:r>
            <a:r>
              <a:rPr sz="1600" spc="-25" dirty="0">
                <a:latin typeface="Verdana"/>
                <a:cs typeface="Verdana"/>
              </a:rPr>
              <a:t> </a:t>
            </a:r>
            <a:r>
              <a:rPr sz="1600" dirty="0">
                <a:latin typeface="Verdana"/>
                <a:cs typeface="Verdana"/>
              </a:rPr>
              <a:t>to</a:t>
            </a:r>
            <a:r>
              <a:rPr sz="1600" spc="-50" dirty="0">
                <a:latin typeface="Verdana"/>
                <a:cs typeface="Verdana"/>
              </a:rPr>
              <a:t> </a:t>
            </a:r>
            <a:r>
              <a:rPr sz="1600" spc="-10" dirty="0">
                <a:latin typeface="Verdana"/>
                <a:cs typeface="Verdana"/>
              </a:rPr>
              <a:t>zero).</a:t>
            </a:r>
            <a:endParaRPr sz="16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49121" y="281685"/>
            <a:ext cx="64433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55" dirty="0"/>
              <a:t> </a:t>
            </a:r>
            <a:r>
              <a:rPr dirty="0"/>
              <a:t>Performance</a:t>
            </a:r>
            <a:r>
              <a:rPr spc="-45" dirty="0"/>
              <a:t> </a:t>
            </a:r>
            <a:r>
              <a:rPr spc="-10" dirty="0"/>
              <a:t>Metrics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6639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6703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Scale</a:t>
            </a:r>
            <a:r>
              <a:rPr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Factor:</a:t>
            </a:r>
            <a:r>
              <a:rPr b="1" spc="-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Sensitivity of</a:t>
            </a:r>
            <a:r>
              <a:rPr spc="-2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output</a:t>
            </a:r>
            <a:r>
              <a:rPr spc="-3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-10" dirty="0"/>
              <a:t>input.</a:t>
            </a:r>
          </a:p>
          <a:p>
            <a:pPr marL="367030" marR="6350" indent="-342900">
              <a:lnSpc>
                <a:spcPct val="150000"/>
              </a:lnSpc>
              <a:buFont typeface="Wingdings"/>
              <a:buChar char=""/>
              <a:tabLst>
                <a:tab pos="36766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Bias</a:t>
            </a:r>
            <a:r>
              <a:rPr b="1" spc="10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Drift:</a:t>
            </a:r>
            <a:r>
              <a:rPr b="1" spc="8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How</a:t>
            </a:r>
            <a:r>
              <a:rPr spc="85" dirty="0"/>
              <a:t> </a:t>
            </a:r>
            <a:r>
              <a:rPr dirty="0"/>
              <a:t>much</a:t>
            </a:r>
            <a:r>
              <a:rPr spc="75" dirty="0"/>
              <a:t> </a:t>
            </a:r>
            <a:r>
              <a:rPr dirty="0"/>
              <a:t>the</a:t>
            </a:r>
            <a:r>
              <a:rPr spc="75" dirty="0"/>
              <a:t> </a:t>
            </a:r>
            <a:r>
              <a:rPr dirty="0"/>
              <a:t>reading</a:t>
            </a:r>
            <a:r>
              <a:rPr spc="85" dirty="0"/>
              <a:t> </a:t>
            </a:r>
            <a:r>
              <a:rPr dirty="0"/>
              <a:t>"creeps"</a:t>
            </a:r>
            <a:r>
              <a:rPr spc="85" dirty="0"/>
              <a:t> </a:t>
            </a:r>
            <a:r>
              <a:rPr dirty="0"/>
              <a:t>over</a:t>
            </a:r>
            <a:r>
              <a:rPr spc="70" dirty="0"/>
              <a:t> </a:t>
            </a:r>
            <a:r>
              <a:rPr dirty="0"/>
              <a:t>time</a:t>
            </a:r>
            <a:r>
              <a:rPr spc="80" dirty="0"/>
              <a:t> </a:t>
            </a:r>
            <a:r>
              <a:rPr spc="-20" dirty="0"/>
              <a:t>when </a:t>
            </a:r>
            <a:r>
              <a:rPr spc="-10" dirty="0"/>
              <a:t>stationary.</a:t>
            </a:r>
          </a:p>
          <a:p>
            <a:pPr marL="367030" marR="5080" indent="-342900">
              <a:lnSpc>
                <a:spcPct val="150000"/>
              </a:lnSpc>
              <a:buFont typeface="Wingdings"/>
              <a:buChar char=""/>
              <a:tabLst>
                <a:tab pos="36766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Angle</a:t>
            </a:r>
            <a:r>
              <a:rPr b="1" spc="10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Random</a:t>
            </a:r>
            <a:r>
              <a:rPr b="1" spc="1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Walk</a:t>
            </a:r>
            <a:r>
              <a:rPr b="1" spc="110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(ARW):</a:t>
            </a:r>
            <a:r>
              <a:rPr b="1" spc="10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The</a:t>
            </a:r>
            <a:r>
              <a:rPr spc="85" dirty="0"/>
              <a:t>  </a:t>
            </a:r>
            <a:r>
              <a:rPr dirty="0"/>
              <a:t>noise</a:t>
            </a:r>
            <a:r>
              <a:rPr spc="90" dirty="0"/>
              <a:t>  </a:t>
            </a:r>
            <a:r>
              <a:rPr dirty="0"/>
              <a:t>level</a:t>
            </a:r>
            <a:r>
              <a:rPr spc="85" dirty="0"/>
              <a:t>  </a:t>
            </a:r>
            <a:r>
              <a:rPr dirty="0"/>
              <a:t>of</a:t>
            </a:r>
            <a:r>
              <a:rPr spc="90" dirty="0"/>
              <a:t>  </a:t>
            </a:r>
            <a:r>
              <a:rPr spc="-25" dirty="0"/>
              <a:t>the </a:t>
            </a:r>
            <a:r>
              <a:rPr spc="-10" dirty="0"/>
              <a:t>sensor.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865">
              <a:lnSpc>
                <a:spcPct val="100000"/>
              </a:lnSpc>
              <a:spcBef>
                <a:spcPts val="100"/>
              </a:spcBef>
            </a:pPr>
            <a:r>
              <a:rPr dirty="0"/>
              <a:t>Error</a:t>
            </a:r>
            <a:r>
              <a:rPr spc="-155" dirty="0"/>
              <a:t> </a:t>
            </a:r>
            <a:r>
              <a:rPr spc="-10" dirty="0"/>
              <a:t>Sources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6639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67030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Temperature</a:t>
            </a:r>
            <a:r>
              <a:rPr b="1" spc="-2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Sensitivity:</a:t>
            </a:r>
            <a:r>
              <a:rPr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Heat</a:t>
            </a:r>
            <a:r>
              <a:rPr spc="-40" dirty="0"/>
              <a:t> </a:t>
            </a:r>
            <a:r>
              <a:rPr dirty="0"/>
              <a:t>changes</a:t>
            </a:r>
            <a:r>
              <a:rPr spc="-55" dirty="0"/>
              <a:t> </a:t>
            </a:r>
            <a:r>
              <a:rPr dirty="0"/>
              <a:t>material </a:t>
            </a:r>
            <a:r>
              <a:rPr spc="-10" dirty="0"/>
              <a:t>stiffness.</a:t>
            </a:r>
          </a:p>
          <a:p>
            <a:pPr marL="367030" marR="5715" indent="-342900">
              <a:lnSpc>
                <a:spcPct val="150000"/>
              </a:lnSpc>
              <a:buFont typeface="Wingdings"/>
              <a:buChar char=""/>
              <a:tabLst>
                <a:tab pos="36766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Quadrature</a:t>
            </a:r>
            <a:r>
              <a:rPr b="1" spc="-1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Error:</a:t>
            </a:r>
            <a:r>
              <a:rPr b="1" spc="-2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dirty="0"/>
              <a:t>Mechanical</a:t>
            </a:r>
            <a:r>
              <a:rPr spc="-35" dirty="0"/>
              <a:t> </a:t>
            </a:r>
            <a:r>
              <a:rPr dirty="0"/>
              <a:t>imperfections</a:t>
            </a:r>
            <a:r>
              <a:rPr spc="-45" dirty="0"/>
              <a:t> </a:t>
            </a:r>
            <a:r>
              <a:rPr dirty="0"/>
              <a:t>causing</a:t>
            </a:r>
            <a:r>
              <a:rPr spc="-45" dirty="0"/>
              <a:t> </a:t>
            </a:r>
            <a:r>
              <a:rPr spc="-10" dirty="0"/>
              <a:t>"fake" </a:t>
            </a:r>
            <a:r>
              <a:rPr dirty="0"/>
              <a:t>rotation</a:t>
            </a:r>
            <a:r>
              <a:rPr spc="-25" dirty="0"/>
              <a:t> </a:t>
            </a:r>
            <a:r>
              <a:rPr spc="-10" dirty="0"/>
              <a:t>signals.</a:t>
            </a:r>
          </a:p>
          <a:p>
            <a:pPr marL="367030" marR="5080" indent="-342900">
              <a:lnSpc>
                <a:spcPct val="150000"/>
              </a:lnSpc>
              <a:buFont typeface="Wingdings"/>
              <a:buChar char=""/>
              <a:tabLst>
                <a:tab pos="367665" algn="l"/>
              </a:tabLst>
            </a:pP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Acoustic</a:t>
            </a:r>
            <a:r>
              <a:rPr b="1" spc="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b="1" dirty="0">
                <a:solidFill>
                  <a:srgbClr val="FF0000"/>
                </a:solidFill>
                <a:latin typeface="Verdana"/>
                <a:cs typeface="Verdana"/>
              </a:rPr>
              <a:t>Noise:</a:t>
            </a:r>
            <a:r>
              <a:rPr b="1" spc="5" dirty="0">
                <a:solidFill>
                  <a:srgbClr val="FF0000"/>
                </a:solidFill>
                <a:latin typeface="Verdana"/>
                <a:cs typeface="Verdana"/>
              </a:rPr>
              <a:t>  </a:t>
            </a:r>
            <a:r>
              <a:rPr dirty="0"/>
              <a:t>External  vibrations</a:t>
            </a:r>
            <a:r>
              <a:rPr spc="-5" dirty="0"/>
              <a:t>  </a:t>
            </a:r>
            <a:r>
              <a:rPr dirty="0"/>
              <a:t>interfering  with</a:t>
            </a:r>
            <a:r>
              <a:rPr spc="-5" dirty="0"/>
              <a:t>  </a:t>
            </a:r>
            <a:r>
              <a:rPr spc="-25" dirty="0"/>
              <a:t>the </a:t>
            </a:r>
            <a:r>
              <a:rPr dirty="0"/>
              <a:t>proof</a:t>
            </a:r>
            <a:r>
              <a:rPr spc="-30" dirty="0"/>
              <a:t> </a:t>
            </a:r>
            <a:r>
              <a:rPr spc="-20" dirty="0"/>
              <a:t>mass.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Applications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1140" y="1270254"/>
            <a:ext cx="8588375" cy="496443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180"/>
              </a:spcBef>
              <a:buFont typeface="Wingdings"/>
              <a:buChar char=""/>
              <a:tabLst>
                <a:tab pos="354965" algn="l"/>
              </a:tabLst>
            </a:pP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Consumer</a:t>
            </a:r>
            <a:r>
              <a:rPr sz="1800" b="1" spc="-7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Verdana"/>
                <a:cs typeface="Verdana"/>
              </a:rPr>
              <a:t>Electronics: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Smartphones: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Screen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rotation,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gaming,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augmented</a:t>
            </a:r>
            <a:r>
              <a:rPr sz="1800" spc="-1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reality.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Cameras: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Optical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Image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Stabilization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(OIS).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Drones: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Maintaining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level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flight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and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stability.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354965" algn="l"/>
              </a:tabLst>
            </a:pPr>
            <a:r>
              <a:rPr sz="1800" b="1" spc="-10" dirty="0">
                <a:solidFill>
                  <a:srgbClr val="FF0000"/>
                </a:solidFill>
                <a:latin typeface="Verdana"/>
                <a:cs typeface="Verdana"/>
              </a:rPr>
              <a:t>Automotive: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Electronic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Stability</a:t>
            </a:r>
            <a:r>
              <a:rPr sz="1800" spc="-2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Control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(ESC):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Detecting</a:t>
            </a:r>
            <a:r>
              <a:rPr sz="1800" spc="-2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skids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rollovers.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Navigation:</a:t>
            </a:r>
            <a:r>
              <a:rPr sz="1800" spc="-5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Dead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reckoning</a:t>
            </a:r>
            <a:r>
              <a:rPr sz="1800" spc="-3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when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GPS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signal</a:t>
            </a:r>
            <a:r>
              <a:rPr sz="1800" spc="-1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is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lost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(tunnels/cities).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Airbag</a:t>
            </a:r>
            <a:r>
              <a:rPr sz="1800" spc="-10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Deployment: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Detecting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sudden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orientation</a:t>
            </a:r>
            <a:r>
              <a:rPr sz="1800" spc="-8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changes.</a:t>
            </a:r>
            <a:endParaRPr sz="1800">
              <a:latin typeface="Verdana"/>
              <a:cs typeface="Verdana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Wingdings"/>
              <a:buChar char=""/>
              <a:tabLst>
                <a:tab pos="354965" algn="l"/>
              </a:tabLst>
            </a:pP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Aerospace</a:t>
            </a:r>
            <a:r>
              <a:rPr sz="1800" b="1" spc="-6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dirty="0">
                <a:solidFill>
                  <a:srgbClr val="FF0000"/>
                </a:solidFill>
                <a:latin typeface="Verdana"/>
                <a:cs typeface="Verdana"/>
              </a:rPr>
              <a:t>&amp;</a:t>
            </a:r>
            <a:r>
              <a:rPr sz="1800" b="1" spc="-7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Verdana"/>
                <a:cs typeface="Verdana"/>
              </a:rPr>
              <a:t>Defence: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Missile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Guidance: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Short-</a:t>
            </a:r>
            <a:r>
              <a:rPr sz="1800" dirty="0">
                <a:latin typeface="Verdana"/>
                <a:cs typeface="Verdana"/>
              </a:rPr>
              <a:t>term</a:t>
            </a:r>
            <a:r>
              <a:rPr sz="1800" spc="-6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precision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navigation.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5"/>
              </a:spcBef>
              <a:buFont typeface="Wingdings"/>
              <a:buChar char=""/>
              <a:tabLst>
                <a:tab pos="715010" algn="l"/>
              </a:tabLst>
            </a:pPr>
            <a:r>
              <a:rPr sz="1800" dirty="0">
                <a:latin typeface="Verdana"/>
                <a:cs typeface="Verdana"/>
              </a:rPr>
              <a:t>Satellite</a:t>
            </a:r>
            <a:r>
              <a:rPr sz="1800" spc="-5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Orientation:</a:t>
            </a:r>
            <a:r>
              <a:rPr sz="1800" spc="-9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Keeping</a:t>
            </a:r>
            <a:r>
              <a:rPr sz="1800" spc="-3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antennas</a:t>
            </a:r>
            <a:r>
              <a:rPr sz="1800" spc="-8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pointed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at</a:t>
            </a:r>
            <a:r>
              <a:rPr sz="1800" spc="-7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Earth.</a:t>
            </a:r>
            <a:endParaRPr sz="1800">
              <a:latin typeface="Verdana"/>
              <a:cs typeface="Verdana"/>
            </a:endParaRPr>
          </a:p>
          <a:p>
            <a:pPr marL="715010" lvl="1" indent="-342900">
              <a:lnSpc>
                <a:spcPct val="100000"/>
              </a:lnSpc>
              <a:spcBef>
                <a:spcPts val="1080"/>
              </a:spcBef>
              <a:buFont typeface="Wingdings"/>
              <a:buChar char=""/>
              <a:tabLst>
                <a:tab pos="715010" algn="l"/>
              </a:tabLst>
            </a:pPr>
            <a:r>
              <a:rPr sz="1800" spc="-20" dirty="0">
                <a:latin typeface="Verdana"/>
                <a:cs typeface="Verdana"/>
              </a:rPr>
              <a:t>Tactical</a:t>
            </a:r>
            <a:r>
              <a:rPr sz="1800" spc="-4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UAVs:</a:t>
            </a:r>
            <a:r>
              <a:rPr sz="1800" spc="-90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Flight</a:t>
            </a:r>
            <a:r>
              <a:rPr sz="1800" spc="-45" dirty="0">
                <a:latin typeface="Verdana"/>
                <a:cs typeface="Verdana"/>
              </a:rPr>
              <a:t> </a:t>
            </a:r>
            <a:r>
              <a:rPr sz="1800" dirty="0">
                <a:latin typeface="Verdana"/>
                <a:cs typeface="Verdana"/>
              </a:rPr>
              <a:t>control</a:t>
            </a:r>
            <a:r>
              <a:rPr sz="1800" spc="-60" dirty="0">
                <a:latin typeface="Verdana"/>
                <a:cs typeface="Verdana"/>
              </a:rPr>
              <a:t> </a:t>
            </a:r>
            <a:r>
              <a:rPr sz="1800" spc="-10" dirty="0">
                <a:latin typeface="Verdana"/>
                <a:cs typeface="Verdana"/>
              </a:rPr>
              <a:t>systems.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Future</a:t>
            </a:r>
            <a:r>
              <a:rPr spc="-65" dirty="0"/>
              <a:t> </a:t>
            </a:r>
            <a:r>
              <a:rPr spc="-10" dirty="0"/>
              <a:t>Trends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1140" y="1263243"/>
            <a:ext cx="845566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7620" indent="-342900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NEMS</a:t>
            </a:r>
            <a:r>
              <a:rPr sz="2000" b="1" spc="4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(Nano-Electro-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Mechanical</a:t>
            </a:r>
            <a:r>
              <a:rPr sz="2000" b="1" spc="445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Systems):</a:t>
            </a:r>
            <a:r>
              <a:rPr sz="2000" b="1" spc="430" dirty="0">
                <a:solidFill>
                  <a:srgbClr val="FF0000"/>
                </a:solidFill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Even</a:t>
            </a:r>
            <a:r>
              <a:rPr sz="2000" spc="40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smaller footprints.</a:t>
            </a:r>
            <a:endParaRPr sz="2000">
              <a:latin typeface="Verdana"/>
              <a:cs typeface="Verdana"/>
            </a:endParaRPr>
          </a:p>
          <a:p>
            <a:pPr marL="355600" marR="5080" indent="-342900">
              <a:lnSpc>
                <a:spcPts val="3600"/>
              </a:lnSpc>
              <a:spcBef>
                <a:spcPts val="320"/>
              </a:spcBef>
              <a:buFont typeface="Wingdings"/>
              <a:buChar char=""/>
              <a:tabLst>
                <a:tab pos="355600" algn="l"/>
                <a:tab pos="2182495" algn="l"/>
                <a:tab pos="4338320" algn="l"/>
                <a:tab pos="5534660" algn="l"/>
                <a:tab pos="6211570" algn="l"/>
                <a:tab pos="7406640" algn="l"/>
              </a:tabLst>
            </a:pPr>
            <a:r>
              <a:rPr sz="2000" b="1" spc="-20" dirty="0">
                <a:solidFill>
                  <a:srgbClr val="FF0000"/>
                </a:solidFill>
                <a:latin typeface="Verdana"/>
                <a:cs typeface="Verdana"/>
              </a:rPr>
              <a:t>Multi-axis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Integration: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-35" dirty="0">
                <a:latin typeface="Verdana"/>
                <a:cs typeface="Verdana"/>
              </a:rPr>
              <a:t>6-</a:t>
            </a:r>
            <a:r>
              <a:rPr sz="2000" spc="-20" dirty="0">
                <a:latin typeface="Verdana"/>
                <a:cs typeface="Verdana"/>
              </a:rPr>
              <a:t>axis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5" dirty="0">
                <a:latin typeface="Verdana"/>
                <a:cs typeface="Verdana"/>
              </a:rPr>
              <a:t>or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35" dirty="0">
                <a:latin typeface="Verdana"/>
                <a:cs typeface="Verdana"/>
              </a:rPr>
              <a:t>9-</a:t>
            </a:r>
            <a:r>
              <a:rPr sz="2000" spc="-20" dirty="0">
                <a:latin typeface="Verdana"/>
                <a:cs typeface="Verdana"/>
              </a:rPr>
              <a:t>axis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"Inertial </a:t>
            </a:r>
            <a:r>
              <a:rPr sz="2000" dirty="0">
                <a:latin typeface="Verdana"/>
                <a:cs typeface="Verdana"/>
              </a:rPr>
              <a:t>Measurement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Units"</a:t>
            </a:r>
            <a:r>
              <a:rPr sz="2000" spc="-5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(IMUs)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on</a:t>
            </a:r>
            <a:r>
              <a:rPr sz="2000" spc="-2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single</a:t>
            </a:r>
            <a:r>
              <a:rPr sz="2000" spc="-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chip.</a:t>
            </a:r>
            <a:endParaRPr sz="2000">
              <a:latin typeface="Verdana"/>
              <a:cs typeface="Verdana"/>
            </a:endParaRPr>
          </a:p>
          <a:p>
            <a:pPr marL="355600" marR="5715" indent="-342900">
              <a:lnSpc>
                <a:spcPts val="3600"/>
              </a:lnSpc>
              <a:buFont typeface="Wingdings"/>
              <a:buChar char=""/>
              <a:tabLst>
                <a:tab pos="355600" algn="l"/>
                <a:tab pos="2251710" algn="l"/>
                <a:tab pos="4006215" algn="l"/>
                <a:tab pos="5624830" algn="l"/>
                <a:tab pos="7565390" algn="l"/>
              </a:tabLst>
            </a:pP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Increased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b="1" spc="-10" dirty="0">
                <a:solidFill>
                  <a:srgbClr val="FF0000"/>
                </a:solidFill>
                <a:latin typeface="Verdana"/>
                <a:cs typeface="Verdana"/>
              </a:rPr>
              <a:t>Stability:</a:t>
            </a:r>
            <a:r>
              <a:rPr sz="2000" b="1" dirty="0">
                <a:solidFill>
                  <a:srgbClr val="FF0000"/>
                </a:solidFill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Reaching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10" dirty="0">
                <a:latin typeface="Verdana"/>
                <a:cs typeface="Verdana"/>
              </a:rPr>
              <a:t>"Navigation</a:t>
            </a:r>
            <a:r>
              <a:rPr sz="2000" dirty="0">
                <a:latin typeface="Verdana"/>
                <a:cs typeface="Verdana"/>
              </a:rPr>
              <a:t>	</a:t>
            </a:r>
            <a:r>
              <a:rPr sz="2000" spc="-20" dirty="0">
                <a:latin typeface="Verdana"/>
                <a:cs typeface="Verdana"/>
              </a:rPr>
              <a:t>Grade" </a:t>
            </a:r>
            <a:r>
              <a:rPr sz="2000" dirty="0">
                <a:latin typeface="Verdana"/>
                <a:cs typeface="Verdana"/>
              </a:rPr>
              <a:t>performance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in</a:t>
            </a:r>
            <a:r>
              <a:rPr sz="2000" spc="-2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MEMS</a:t>
            </a:r>
            <a:r>
              <a:rPr sz="2000" spc="-3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sizes.</a:t>
            </a:r>
            <a:endParaRPr sz="2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6240" y="541505"/>
            <a:ext cx="1914525" cy="31051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Wingdings"/>
                <a:cs typeface="Wingdings"/>
              </a:rPr>
              <a:t></a:t>
            </a:r>
            <a:r>
              <a:rPr sz="2000" spc="50" dirty="0">
                <a:latin typeface="Times New Roman"/>
                <a:cs typeface="Times New Roman"/>
              </a:rPr>
              <a:t>  </a:t>
            </a:r>
            <a:r>
              <a:rPr sz="2000" spc="-10" dirty="0">
                <a:latin typeface="Verdana"/>
                <a:cs typeface="Verdana"/>
              </a:rPr>
              <a:t>Introduction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589913" y="281685"/>
            <a:ext cx="59639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Conclusion</a:t>
            </a:r>
            <a:r>
              <a:rPr spc="-60" dirty="0"/>
              <a:t> </a:t>
            </a:r>
            <a:r>
              <a:rPr dirty="0"/>
              <a:t>&amp;</a:t>
            </a:r>
            <a:r>
              <a:rPr spc="-10" dirty="0"/>
              <a:t> Summary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/>
              <a:t>Vibratory</a:t>
            </a:r>
            <a:r>
              <a:rPr spc="-65" dirty="0"/>
              <a:t> </a:t>
            </a:r>
            <a:r>
              <a:rPr dirty="0"/>
              <a:t>gyros</a:t>
            </a:r>
            <a:r>
              <a:rPr spc="-25" dirty="0"/>
              <a:t> </a:t>
            </a:r>
            <a:r>
              <a:rPr dirty="0"/>
              <a:t>are</a:t>
            </a:r>
            <a:r>
              <a:rPr spc="-35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invisible</a:t>
            </a:r>
            <a:r>
              <a:rPr spc="-5" dirty="0"/>
              <a:t> </a:t>
            </a:r>
            <a:r>
              <a:rPr dirty="0"/>
              <a:t>heroes</a:t>
            </a:r>
            <a:r>
              <a:rPr spc="-40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dirty="0"/>
              <a:t>modern</a:t>
            </a:r>
            <a:r>
              <a:rPr spc="-30" dirty="0"/>
              <a:t> </a:t>
            </a:r>
            <a:r>
              <a:rPr spc="-10" dirty="0"/>
              <a:t>mobility.</a:t>
            </a:r>
          </a:p>
          <a:p>
            <a:pPr marL="355600" marR="5080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dirty="0"/>
              <a:t>They</a:t>
            </a:r>
            <a:r>
              <a:rPr spc="-85" dirty="0"/>
              <a:t>  </a:t>
            </a:r>
            <a:r>
              <a:rPr dirty="0"/>
              <a:t>rely</a:t>
            </a:r>
            <a:r>
              <a:rPr spc="-95" dirty="0"/>
              <a:t>  </a:t>
            </a:r>
            <a:r>
              <a:rPr dirty="0"/>
              <a:t>on</a:t>
            </a:r>
            <a:r>
              <a:rPr spc="-85" dirty="0"/>
              <a:t>  </a:t>
            </a:r>
            <a:r>
              <a:rPr dirty="0"/>
              <a:t>the</a:t>
            </a:r>
            <a:r>
              <a:rPr spc="-85" dirty="0"/>
              <a:t>  </a:t>
            </a:r>
            <a:r>
              <a:rPr dirty="0"/>
              <a:t>Coriolis</a:t>
            </a:r>
            <a:r>
              <a:rPr spc="-80" dirty="0"/>
              <a:t>  </a:t>
            </a:r>
            <a:r>
              <a:rPr dirty="0"/>
              <a:t>effect</a:t>
            </a:r>
            <a:r>
              <a:rPr spc="-85" dirty="0"/>
              <a:t>  </a:t>
            </a:r>
            <a:r>
              <a:rPr dirty="0"/>
              <a:t>and</a:t>
            </a:r>
            <a:r>
              <a:rPr spc="-85" dirty="0"/>
              <a:t>  </a:t>
            </a:r>
            <a:r>
              <a:rPr spc="-10" dirty="0"/>
              <a:t>high-</a:t>
            </a:r>
            <a:r>
              <a:rPr dirty="0"/>
              <a:t>precision</a:t>
            </a:r>
            <a:r>
              <a:rPr spc="-80" dirty="0"/>
              <a:t>  </a:t>
            </a:r>
            <a:r>
              <a:rPr spc="-20" dirty="0"/>
              <a:t>MEMS </a:t>
            </a:r>
            <a:r>
              <a:rPr spc="-10" dirty="0"/>
              <a:t>manufacturing.</a:t>
            </a:r>
          </a:p>
          <a:p>
            <a:pPr marL="355600" marR="6985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dirty="0"/>
              <a:t>While</a:t>
            </a:r>
            <a:r>
              <a:rPr spc="95" dirty="0"/>
              <a:t> </a:t>
            </a:r>
            <a:r>
              <a:rPr dirty="0"/>
              <a:t>challenges</a:t>
            </a:r>
            <a:r>
              <a:rPr spc="114" dirty="0"/>
              <a:t> </a:t>
            </a:r>
            <a:r>
              <a:rPr dirty="0"/>
              <a:t>in</a:t>
            </a:r>
            <a:r>
              <a:rPr spc="110" dirty="0"/>
              <a:t> </a:t>
            </a:r>
            <a:r>
              <a:rPr dirty="0"/>
              <a:t>drift</a:t>
            </a:r>
            <a:r>
              <a:rPr spc="135" dirty="0"/>
              <a:t> </a:t>
            </a:r>
            <a:r>
              <a:rPr dirty="0"/>
              <a:t>and</a:t>
            </a:r>
            <a:r>
              <a:rPr spc="100" dirty="0"/>
              <a:t> </a:t>
            </a:r>
            <a:r>
              <a:rPr dirty="0"/>
              <a:t>noise</a:t>
            </a:r>
            <a:r>
              <a:rPr spc="114" dirty="0"/>
              <a:t> </a:t>
            </a:r>
            <a:r>
              <a:rPr dirty="0"/>
              <a:t>remain,</a:t>
            </a:r>
            <a:r>
              <a:rPr spc="120" dirty="0"/>
              <a:t> </a:t>
            </a:r>
            <a:r>
              <a:rPr dirty="0"/>
              <a:t>they</a:t>
            </a:r>
            <a:r>
              <a:rPr spc="125" dirty="0"/>
              <a:t> </a:t>
            </a:r>
            <a:r>
              <a:rPr dirty="0"/>
              <a:t>continue</a:t>
            </a:r>
            <a:r>
              <a:rPr spc="90" dirty="0"/>
              <a:t> </a:t>
            </a:r>
            <a:r>
              <a:rPr spc="-25" dirty="0"/>
              <a:t>to </a:t>
            </a:r>
            <a:r>
              <a:rPr dirty="0"/>
              <a:t>replace</a:t>
            </a:r>
            <a:r>
              <a:rPr spc="-35" dirty="0"/>
              <a:t> </a:t>
            </a:r>
            <a:r>
              <a:rPr dirty="0"/>
              <a:t>mechanical</a:t>
            </a:r>
            <a:r>
              <a:rPr spc="-65" dirty="0"/>
              <a:t> </a:t>
            </a:r>
            <a:r>
              <a:rPr spc="-10" dirty="0"/>
              <a:t>alternatives.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08557" y="281685"/>
            <a:ext cx="6327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35" dirty="0"/>
              <a:t> </a:t>
            </a:r>
            <a:r>
              <a:rPr dirty="0"/>
              <a:t>your</a:t>
            </a:r>
            <a:r>
              <a:rPr spc="-3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274419"/>
            <a:ext cx="8380095" cy="507873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120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Explain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role</a:t>
            </a:r>
            <a:r>
              <a:rPr sz="1700" spc="-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Coriolis</a:t>
            </a:r>
            <a:r>
              <a:rPr sz="1700" spc="-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force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-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vibratory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gyroscope.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20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What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is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difference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between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"Drive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Mode"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"Sense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Mode"?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Why</a:t>
            </a:r>
            <a:r>
              <a:rPr sz="1700" spc="-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is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vacuum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packaging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essential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for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MEMS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gyros?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Compare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Tuning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Fork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Vibrating</a:t>
            </a:r>
            <a:r>
              <a:rPr sz="1700" spc="-5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Ring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gyros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terms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symmetry.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Define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"Bias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Stability"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its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importance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navigation.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How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will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you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extract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tiny rotation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signal from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 mountain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noise </a:t>
            </a:r>
            <a:r>
              <a:rPr sz="1700" spc="-25" dirty="0">
                <a:latin typeface="Verdana"/>
                <a:cs typeface="Verdana"/>
              </a:rPr>
              <a:t>in</a:t>
            </a:r>
            <a:endParaRPr sz="17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25"/>
              </a:spcBef>
            </a:pPr>
            <a:r>
              <a:rPr sz="1700" dirty="0">
                <a:latin typeface="Verdana"/>
                <a:cs typeface="Verdana"/>
              </a:rPr>
              <a:t>vibratory</a:t>
            </a:r>
            <a:r>
              <a:rPr sz="1700" spc="-8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gyroscope?</a:t>
            </a:r>
            <a:endParaRPr sz="1700">
              <a:latin typeface="Verdana"/>
              <a:cs typeface="Verdana"/>
            </a:endParaRPr>
          </a:p>
          <a:p>
            <a:pPr marL="469900" marR="6350" indent="-457834">
              <a:lnSpc>
                <a:spcPct val="150000"/>
              </a:lnSpc>
              <a:buAutoNum type="arabicPeriod" startAt="7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How</a:t>
            </a:r>
            <a:r>
              <a:rPr sz="1700" spc="40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will</a:t>
            </a:r>
            <a:r>
              <a:rPr sz="1700" spc="39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you</a:t>
            </a:r>
            <a:r>
              <a:rPr sz="1700" spc="40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convert</a:t>
            </a:r>
            <a:r>
              <a:rPr sz="1700" spc="4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4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tiny</a:t>
            </a:r>
            <a:r>
              <a:rPr sz="1700" spc="409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displacement</a:t>
            </a:r>
            <a:r>
              <a:rPr sz="1700" spc="40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into</a:t>
            </a:r>
            <a:r>
              <a:rPr sz="1700" spc="4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40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digital</a:t>
            </a:r>
            <a:r>
              <a:rPr sz="1700" spc="4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number</a:t>
            </a:r>
            <a:r>
              <a:rPr sz="1700" spc="395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in </a:t>
            </a:r>
            <a:r>
              <a:rPr sz="1700" dirty="0">
                <a:latin typeface="Verdana"/>
                <a:cs typeface="Verdana"/>
              </a:rPr>
              <a:t>vibratory</a:t>
            </a:r>
            <a:r>
              <a:rPr sz="1700" spc="-8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gyroscope?</a:t>
            </a:r>
            <a:endParaRPr sz="1700">
              <a:latin typeface="Verdana"/>
              <a:cs typeface="Verdana"/>
            </a:endParaRPr>
          </a:p>
          <a:p>
            <a:pPr marL="469900" indent="-457200">
              <a:lnSpc>
                <a:spcPct val="100000"/>
              </a:lnSpc>
              <a:spcBef>
                <a:spcPts val="1020"/>
              </a:spcBef>
              <a:buAutoNum type="arabicPeriod" startAt="7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Define</a:t>
            </a:r>
            <a:r>
              <a:rPr sz="1700" spc="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Coriolis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Force.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Provide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mathematical</a:t>
            </a:r>
            <a:r>
              <a:rPr sz="1700" spc="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vector</a:t>
            </a:r>
            <a:r>
              <a:rPr sz="1700" spc="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equation</a:t>
            </a:r>
            <a:r>
              <a:rPr sz="1700" spc="5" dirty="0">
                <a:latin typeface="Verdana"/>
                <a:cs typeface="Verdana"/>
              </a:rPr>
              <a:t> </a:t>
            </a:r>
            <a:r>
              <a:rPr sz="1700" spc="-25" dirty="0">
                <a:latin typeface="Verdana"/>
                <a:cs typeface="Verdana"/>
              </a:rPr>
              <a:t>and</a:t>
            </a:r>
            <a:endParaRPr sz="1700">
              <a:latin typeface="Verdana"/>
              <a:cs typeface="Verdana"/>
            </a:endParaRPr>
          </a:p>
          <a:p>
            <a:pPr marL="469900">
              <a:lnSpc>
                <a:spcPct val="100000"/>
              </a:lnSpc>
              <a:spcBef>
                <a:spcPts val="1019"/>
              </a:spcBef>
            </a:pPr>
            <a:r>
              <a:rPr sz="1700" dirty="0">
                <a:latin typeface="Verdana"/>
                <a:cs typeface="Verdana"/>
              </a:rPr>
              <a:t>identify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each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term.</a:t>
            </a:r>
            <a:endParaRPr sz="1700">
              <a:latin typeface="Verdana"/>
              <a:cs typeface="Verdana"/>
            </a:endParaRPr>
          </a:p>
          <a:p>
            <a:pPr marL="469900" marR="6985" indent="-457834">
              <a:lnSpc>
                <a:spcPct val="150000"/>
              </a:lnSpc>
              <a:buAutoNum type="arabicPeriod" startAt="9"/>
              <a:tabLst>
                <a:tab pos="469900" algn="l"/>
              </a:tabLst>
            </a:pPr>
            <a:r>
              <a:rPr sz="1700" dirty="0">
                <a:latin typeface="Verdana"/>
                <a:cs typeface="Verdana"/>
              </a:rPr>
              <a:t>Explain</a:t>
            </a:r>
            <a:r>
              <a:rPr sz="1700" spc="6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8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difference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between</a:t>
            </a:r>
            <a:r>
              <a:rPr sz="1700" spc="8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8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"Drive</a:t>
            </a:r>
            <a:r>
              <a:rPr sz="1700" spc="8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Mode"</a:t>
            </a:r>
            <a:r>
              <a:rPr sz="1700" spc="8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7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8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"Sense</a:t>
            </a:r>
            <a:r>
              <a:rPr sz="1700" spc="8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Mode"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vibratory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gyroscope.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08557" y="281685"/>
            <a:ext cx="63277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Test</a:t>
            </a:r>
            <a:r>
              <a:rPr spc="-35" dirty="0"/>
              <a:t> </a:t>
            </a:r>
            <a:r>
              <a:rPr dirty="0"/>
              <a:t>your</a:t>
            </a:r>
            <a:r>
              <a:rPr spc="-30" dirty="0"/>
              <a:t> </a:t>
            </a:r>
            <a:r>
              <a:rPr spc="-10" dirty="0"/>
              <a:t>understanding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0" y="1274419"/>
            <a:ext cx="8378190" cy="3523615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438784" indent="-426084" algn="just">
              <a:lnSpc>
                <a:spcPct val="100000"/>
              </a:lnSpc>
              <a:spcBef>
                <a:spcPts val="1120"/>
              </a:spcBef>
              <a:buAutoNum type="arabicPeriod" startAt="10"/>
              <a:tabLst>
                <a:tab pos="438784" algn="l"/>
              </a:tabLst>
            </a:pPr>
            <a:r>
              <a:rPr sz="1700" dirty="0">
                <a:latin typeface="Verdana"/>
                <a:cs typeface="Verdana"/>
              </a:rPr>
              <a:t>What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is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"Proof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Mass"?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Briefly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explain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its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role</a:t>
            </a:r>
            <a:r>
              <a:rPr sz="1700" spc="-1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-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MEMS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inertial</a:t>
            </a:r>
            <a:r>
              <a:rPr sz="1700" spc="-3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sensor.</a:t>
            </a:r>
            <a:endParaRPr sz="1700">
              <a:latin typeface="Verdana"/>
              <a:cs typeface="Verdana"/>
            </a:endParaRPr>
          </a:p>
          <a:p>
            <a:pPr marL="438784" indent="-426084" algn="just">
              <a:lnSpc>
                <a:spcPct val="100000"/>
              </a:lnSpc>
              <a:spcBef>
                <a:spcPts val="1020"/>
              </a:spcBef>
              <a:buAutoNum type="arabicPeriod" startAt="10"/>
              <a:tabLst>
                <a:tab pos="438784" algn="l"/>
              </a:tabLst>
            </a:pPr>
            <a:r>
              <a:rPr sz="1700" dirty="0">
                <a:latin typeface="Verdana"/>
                <a:cs typeface="Verdana"/>
              </a:rPr>
              <a:t>Describe</a:t>
            </a:r>
            <a:r>
              <a:rPr sz="1700" spc="-4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Capacitive</a:t>
            </a:r>
            <a:r>
              <a:rPr sz="1700" spc="-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Sensing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mechanism.</a:t>
            </a:r>
            <a:endParaRPr sz="1700">
              <a:latin typeface="Verdana"/>
              <a:cs typeface="Verdana"/>
            </a:endParaRPr>
          </a:p>
          <a:p>
            <a:pPr marL="372110" marR="5080" indent="-360045" algn="just">
              <a:lnSpc>
                <a:spcPct val="150000"/>
              </a:lnSpc>
              <a:buAutoNum type="arabicPeriod" startAt="10"/>
              <a:tabLst>
                <a:tab pos="372110" algn="l"/>
                <a:tab pos="514350" algn="l"/>
              </a:tabLst>
            </a:pPr>
            <a:r>
              <a:rPr sz="1700" dirty="0">
                <a:latin typeface="Verdana"/>
                <a:cs typeface="Verdana"/>
              </a:rPr>
              <a:t>	Explain</a:t>
            </a:r>
            <a:r>
              <a:rPr sz="1700" spc="-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2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role  of</a:t>
            </a:r>
            <a:r>
              <a:rPr sz="1700" spc="-1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15" dirty="0">
                <a:latin typeface="Verdana"/>
                <a:cs typeface="Verdana"/>
              </a:rPr>
              <a:t>  </a:t>
            </a:r>
            <a:r>
              <a:rPr sz="1700" spc="-10" dirty="0">
                <a:latin typeface="Verdana"/>
                <a:cs typeface="Verdana"/>
              </a:rPr>
              <a:t>Phase-</a:t>
            </a:r>
            <a:r>
              <a:rPr sz="1700" dirty="0">
                <a:latin typeface="Verdana"/>
                <a:cs typeface="Verdana"/>
              </a:rPr>
              <a:t>Locked</a:t>
            </a:r>
            <a:r>
              <a:rPr sz="1700" spc="-1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Loop</a:t>
            </a:r>
            <a:r>
              <a:rPr sz="1700" spc="-1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(PLL)</a:t>
            </a:r>
            <a:r>
              <a:rPr sz="1700" spc="-1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and</a:t>
            </a:r>
            <a:r>
              <a:rPr sz="1700" spc="-20" dirty="0">
                <a:latin typeface="Verdana"/>
                <a:cs typeface="Verdana"/>
              </a:rPr>
              <a:t>  </a:t>
            </a:r>
            <a:r>
              <a:rPr sz="1700" spc="-10" dirty="0">
                <a:latin typeface="Verdana"/>
                <a:cs typeface="Verdana"/>
              </a:rPr>
              <a:t>Synchronous </a:t>
            </a:r>
            <a:r>
              <a:rPr sz="1700" dirty="0">
                <a:latin typeface="Verdana"/>
                <a:cs typeface="Verdana"/>
              </a:rPr>
              <a:t>Demodulation</a:t>
            </a:r>
            <a:r>
              <a:rPr sz="1700" spc="-1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1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extracting</a:t>
            </a:r>
            <a:r>
              <a:rPr sz="1700" spc="-1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1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rotation</a:t>
            </a:r>
            <a:r>
              <a:rPr sz="1700" spc="-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signal  from</a:t>
            </a:r>
            <a:r>
              <a:rPr sz="1700" spc="-10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-5" dirty="0">
                <a:latin typeface="Verdana"/>
                <a:cs typeface="Verdana"/>
              </a:rPr>
              <a:t>  </a:t>
            </a:r>
            <a:r>
              <a:rPr sz="1700" dirty="0">
                <a:latin typeface="Verdana"/>
                <a:cs typeface="Verdana"/>
              </a:rPr>
              <a:t>raw</a:t>
            </a:r>
            <a:r>
              <a:rPr sz="1700" spc="-5" dirty="0">
                <a:latin typeface="Verdana"/>
                <a:cs typeface="Verdana"/>
              </a:rPr>
              <a:t>  </a:t>
            </a:r>
            <a:r>
              <a:rPr sz="1700" spc="-10" dirty="0">
                <a:latin typeface="Verdana"/>
                <a:cs typeface="Verdana"/>
              </a:rPr>
              <a:t>sensor output.</a:t>
            </a:r>
            <a:endParaRPr sz="1700">
              <a:latin typeface="Verdana"/>
              <a:cs typeface="Verdana"/>
            </a:endParaRPr>
          </a:p>
          <a:p>
            <a:pPr marL="460375" indent="-447675" algn="just">
              <a:lnSpc>
                <a:spcPct val="100000"/>
              </a:lnSpc>
              <a:spcBef>
                <a:spcPts val="1019"/>
              </a:spcBef>
              <a:buAutoNum type="arabicPeriod" startAt="10"/>
              <a:tabLst>
                <a:tab pos="460375" algn="l"/>
              </a:tabLst>
            </a:pPr>
            <a:r>
              <a:rPr sz="1700" dirty="0">
                <a:latin typeface="Verdana"/>
                <a:cs typeface="Verdana"/>
              </a:rPr>
              <a:t>Show</a:t>
            </a:r>
            <a:r>
              <a:rPr sz="1700" spc="1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how</a:t>
            </a:r>
            <a:r>
              <a:rPr sz="1700" spc="1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</a:t>
            </a:r>
            <a:r>
              <a:rPr sz="1700" spc="1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input</a:t>
            </a:r>
            <a:r>
              <a:rPr sz="1700" spc="1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angular</a:t>
            </a:r>
            <a:r>
              <a:rPr sz="1700" spc="114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rate</a:t>
            </a:r>
            <a:r>
              <a:rPr sz="1700" spc="1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results</a:t>
            </a:r>
            <a:r>
              <a:rPr sz="1700" spc="1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1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13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displacement</a:t>
            </a:r>
            <a:r>
              <a:rPr sz="1700" spc="1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1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13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sense</a:t>
            </a:r>
            <a:endParaRPr sz="1700">
              <a:latin typeface="Verdana"/>
              <a:cs typeface="Verdana"/>
            </a:endParaRPr>
          </a:p>
          <a:p>
            <a:pPr marL="372110">
              <a:lnSpc>
                <a:spcPct val="100000"/>
              </a:lnSpc>
              <a:spcBef>
                <a:spcPts val="1025"/>
              </a:spcBef>
            </a:pPr>
            <a:r>
              <a:rPr sz="1700" dirty="0">
                <a:latin typeface="Verdana"/>
                <a:cs typeface="Verdana"/>
              </a:rPr>
              <a:t>axis</a:t>
            </a:r>
            <a:r>
              <a:rPr sz="1700" spc="-3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of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vibratory</a:t>
            </a:r>
            <a:r>
              <a:rPr sz="1700" spc="-50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gyroscope.</a:t>
            </a:r>
            <a:endParaRPr sz="1700">
              <a:latin typeface="Verdana"/>
              <a:cs typeface="Verdana"/>
            </a:endParaRPr>
          </a:p>
          <a:p>
            <a:pPr marL="372110" marR="6350" indent="-360045" algn="just">
              <a:lnSpc>
                <a:spcPct val="150000"/>
              </a:lnSpc>
              <a:buAutoNum type="arabicPeriod" startAt="14"/>
              <a:tabLst>
                <a:tab pos="372110" algn="l"/>
                <a:tab pos="494665" algn="l"/>
              </a:tabLst>
            </a:pPr>
            <a:r>
              <a:rPr sz="1700" dirty="0">
                <a:latin typeface="Verdana"/>
                <a:cs typeface="Verdana"/>
              </a:rPr>
              <a:t>	Illustrate</a:t>
            </a:r>
            <a:r>
              <a:rPr sz="1700" spc="38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39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signal</a:t>
            </a:r>
            <a:r>
              <a:rPr sz="1700" spc="41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processing</a:t>
            </a:r>
            <a:r>
              <a:rPr sz="1700" spc="40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steps</a:t>
            </a:r>
            <a:r>
              <a:rPr sz="1700" spc="4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involved</a:t>
            </a:r>
            <a:r>
              <a:rPr sz="1700" spc="40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40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converting</a:t>
            </a:r>
            <a:r>
              <a:rPr sz="1700" spc="39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the</a:t>
            </a:r>
            <a:r>
              <a:rPr sz="1700" spc="405" dirty="0">
                <a:latin typeface="Verdana"/>
                <a:cs typeface="Verdana"/>
              </a:rPr>
              <a:t> </a:t>
            </a:r>
            <a:r>
              <a:rPr sz="1700" spc="-20" dirty="0">
                <a:latin typeface="Verdana"/>
                <a:cs typeface="Verdana"/>
              </a:rPr>
              <a:t>tiny </a:t>
            </a:r>
            <a:r>
              <a:rPr sz="1700" dirty="0">
                <a:latin typeface="Verdana"/>
                <a:cs typeface="Verdana"/>
              </a:rPr>
              <a:t>displacement</a:t>
            </a:r>
            <a:r>
              <a:rPr sz="1700" spc="-7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into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a</a:t>
            </a:r>
            <a:r>
              <a:rPr sz="1700" spc="-2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measurable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output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signal</a:t>
            </a:r>
            <a:r>
              <a:rPr sz="1700" spc="-20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in</a:t>
            </a:r>
            <a:r>
              <a:rPr sz="1700" spc="-45" dirty="0">
                <a:latin typeface="Verdana"/>
                <a:cs typeface="Verdana"/>
              </a:rPr>
              <a:t> </a:t>
            </a:r>
            <a:r>
              <a:rPr sz="1700" dirty="0">
                <a:latin typeface="Verdana"/>
                <a:cs typeface="Verdana"/>
              </a:rPr>
              <a:t>vibratory</a:t>
            </a:r>
            <a:r>
              <a:rPr sz="1700" spc="-55" dirty="0">
                <a:latin typeface="Verdana"/>
                <a:cs typeface="Verdana"/>
              </a:rPr>
              <a:t> </a:t>
            </a:r>
            <a:r>
              <a:rPr sz="1700" spc="-10" dirty="0">
                <a:latin typeface="Verdana"/>
                <a:cs typeface="Verdana"/>
              </a:rPr>
              <a:t>gyroscope.</a:t>
            </a:r>
            <a:endParaRPr sz="17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391364"/>
            <a:ext cx="8074025" cy="23723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55600" marR="5080" indent="-343535" algn="just">
              <a:lnSpc>
                <a:spcPct val="150100"/>
              </a:lnSpc>
              <a:spcBef>
                <a:spcPts val="9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Cenk</a:t>
            </a:r>
            <a:r>
              <a:rPr sz="2000" spc="2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Acar</a:t>
            </a:r>
            <a:r>
              <a:rPr sz="2000" spc="26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</a:t>
            </a:r>
            <a:r>
              <a:rPr sz="2000" spc="2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Andrei</a:t>
            </a:r>
            <a:r>
              <a:rPr sz="2000" spc="27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Shkel,</a:t>
            </a:r>
            <a:r>
              <a:rPr sz="2000" spc="28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MEMS</a:t>
            </a:r>
            <a:r>
              <a:rPr sz="2000" spc="27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Vibratory</a:t>
            </a:r>
            <a:r>
              <a:rPr sz="2000" spc="265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Gyroscopes: </a:t>
            </a:r>
            <a:r>
              <a:rPr sz="2000" dirty="0">
                <a:latin typeface="Verdana"/>
                <a:cs typeface="Verdana"/>
              </a:rPr>
              <a:t>Structural</a:t>
            </a:r>
            <a:r>
              <a:rPr sz="2000" spc="-2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Approaches</a:t>
            </a:r>
            <a:r>
              <a:rPr sz="2000" spc="-2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to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Improve</a:t>
            </a:r>
            <a:r>
              <a:rPr sz="2000" spc="-1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Robustness,</a:t>
            </a:r>
            <a:r>
              <a:rPr sz="2000" spc="-2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Springer, 2009.</a:t>
            </a:r>
            <a:endParaRPr sz="2000">
              <a:latin typeface="Verdana"/>
              <a:cs typeface="Verdana"/>
            </a:endParaRPr>
          </a:p>
          <a:p>
            <a:pPr marL="355600" indent="-342900" algn="just">
              <a:lnSpc>
                <a:spcPct val="100000"/>
              </a:lnSpc>
              <a:spcBef>
                <a:spcPts val="1680"/>
              </a:spcBef>
              <a:buFont typeface="Wingdings"/>
              <a:buChar char=""/>
              <a:tabLst>
                <a:tab pos="355600" algn="l"/>
              </a:tabLst>
            </a:pPr>
            <a:r>
              <a:rPr sz="2000" dirty="0">
                <a:latin typeface="Verdana"/>
                <a:cs typeface="Verdana"/>
              </a:rPr>
              <a:t>Vinod</a:t>
            </a:r>
            <a:r>
              <a:rPr sz="2000" spc="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Kumar</a:t>
            </a:r>
            <a:r>
              <a:rPr sz="2000" spc="4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Khanna,</a:t>
            </a:r>
            <a:r>
              <a:rPr sz="2000" spc="45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Nanosensors:</a:t>
            </a:r>
            <a:r>
              <a:rPr sz="2000" spc="40" dirty="0">
                <a:latin typeface="Verdana"/>
                <a:cs typeface="Verdana"/>
              </a:rPr>
              <a:t>  </a:t>
            </a:r>
            <a:r>
              <a:rPr sz="2000" dirty="0">
                <a:latin typeface="Verdana"/>
                <a:cs typeface="Verdana"/>
              </a:rPr>
              <a:t>Physical,</a:t>
            </a:r>
            <a:r>
              <a:rPr sz="2000" spc="65" dirty="0">
                <a:latin typeface="Verdana"/>
                <a:cs typeface="Verdana"/>
              </a:rPr>
              <a:t>  </a:t>
            </a:r>
            <a:r>
              <a:rPr sz="2000" spc="-10" dirty="0">
                <a:latin typeface="Verdana"/>
                <a:cs typeface="Verdana"/>
              </a:rPr>
              <a:t>Chemical,</a:t>
            </a:r>
            <a:endParaRPr sz="2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Verdana"/>
                <a:cs typeface="Verdana"/>
              </a:rPr>
              <a:t>and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Biological,</a:t>
            </a:r>
            <a:r>
              <a:rPr sz="2000" spc="-1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CRC</a:t>
            </a:r>
            <a:r>
              <a:rPr sz="2000" spc="-45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Press,</a:t>
            </a:r>
            <a:r>
              <a:rPr sz="2000" spc="-6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Second</a:t>
            </a:r>
            <a:r>
              <a:rPr sz="2000" spc="-50" dirty="0">
                <a:latin typeface="Verdana"/>
                <a:cs typeface="Verdana"/>
              </a:rPr>
              <a:t> </a:t>
            </a:r>
            <a:r>
              <a:rPr sz="2000" dirty="0">
                <a:latin typeface="Verdana"/>
                <a:cs typeface="Verdana"/>
              </a:rPr>
              <a:t>Edition,</a:t>
            </a:r>
            <a:r>
              <a:rPr sz="2000" spc="-30" dirty="0">
                <a:latin typeface="Verdana"/>
                <a:cs typeface="Verdana"/>
              </a:rPr>
              <a:t> </a:t>
            </a:r>
            <a:r>
              <a:rPr sz="2000" spc="-10" dirty="0">
                <a:latin typeface="Verdana"/>
                <a:cs typeface="Verdana"/>
              </a:rPr>
              <a:t>2021.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290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References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891029" y="2704033"/>
            <a:ext cx="5363845" cy="1245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0" b="0" i="1" dirty="0">
                <a:solidFill>
                  <a:srgbClr val="006FC0"/>
                </a:solidFill>
                <a:latin typeface="Verdana"/>
                <a:cs typeface="Verdana"/>
              </a:rPr>
              <a:t>Thank</a:t>
            </a:r>
            <a:r>
              <a:rPr sz="8000" b="0" i="1" spc="-20" dirty="0">
                <a:solidFill>
                  <a:srgbClr val="006FC0"/>
                </a:solidFill>
                <a:latin typeface="Verdana"/>
                <a:cs typeface="Verdana"/>
              </a:rPr>
              <a:t> </a:t>
            </a:r>
            <a:r>
              <a:rPr sz="8000" b="0" i="1" spc="-25" dirty="0">
                <a:solidFill>
                  <a:srgbClr val="006FC0"/>
                </a:solidFill>
                <a:latin typeface="Verdana"/>
                <a:cs typeface="Verdana"/>
              </a:rPr>
              <a:t>you</a:t>
            </a:r>
            <a:endParaRPr sz="8000">
              <a:latin typeface="Verdana"/>
              <a:cs typeface="Verdan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9144000" cy="1143000"/>
          </a:xfrm>
          <a:custGeom>
            <a:avLst/>
            <a:gdLst/>
            <a:ahLst/>
            <a:cxnLst/>
            <a:rect l="l" t="t" r="r" b="b"/>
            <a:pathLst>
              <a:path w="9144000" h="1143000">
                <a:moveTo>
                  <a:pt x="9144000" y="0"/>
                </a:moveTo>
                <a:lnTo>
                  <a:pt x="0" y="0"/>
                </a:lnTo>
                <a:lnTo>
                  <a:pt x="0" y="1143000"/>
                </a:lnTo>
                <a:lnTo>
                  <a:pt x="9144000" y="11430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079BB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1530</Words>
  <Application>Microsoft Office PowerPoint</Application>
  <PresentationFormat>On-screen Show (4:3)</PresentationFormat>
  <Paragraphs>182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Cambria Math</vt:lpstr>
      <vt:lpstr>Microsoft Sans Serif</vt:lpstr>
      <vt:lpstr>Times New Roman</vt:lpstr>
      <vt:lpstr>Verdana</vt:lpstr>
      <vt:lpstr>Wingdings</vt:lpstr>
      <vt:lpstr>Office Theme</vt:lpstr>
      <vt:lpstr>UEC3942: Introduction to Sensors and Actuators</vt:lpstr>
      <vt:lpstr>Learning Outcomes</vt:lpstr>
      <vt:lpstr>Introduction</vt:lpstr>
      <vt:lpstr>The Core Physics – The Coriolis Effect</vt:lpstr>
      <vt:lpstr>The Core Physics – The Coriolis Effect</vt:lpstr>
      <vt:lpstr>Basic Components</vt:lpstr>
      <vt:lpstr>Drive and Sense Frames</vt:lpstr>
      <vt:lpstr>Core Operating Principle</vt:lpstr>
      <vt:lpstr>Core Operating Principle</vt:lpstr>
      <vt:lpstr>Types of Vibratory Gyroscopes</vt:lpstr>
      <vt:lpstr>The Tuning Fork Gyroscope</vt:lpstr>
      <vt:lpstr>Vibrating Ring Gyroscopes</vt:lpstr>
      <vt:lpstr>Hemispherical Resonator Gyros (HRG)</vt:lpstr>
      <vt:lpstr>MEMS Fabrication Process</vt:lpstr>
      <vt:lpstr>Actuation Methods (How we make it move)</vt:lpstr>
      <vt:lpstr>Sensing Methods (How we read the signal)</vt:lpstr>
      <vt:lpstr>Signal Processing Steps</vt:lpstr>
      <vt:lpstr>Signal Processing Steps</vt:lpstr>
      <vt:lpstr>Signal Processing Steps</vt:lpstr>
      <vt:lpstr>Key Performance Metrics</vt:lpstr>
      <vt:lpstr>Error Sources</vt:lpstr>
      <vt:lpstr>Applications</vt:lpstr>
      <vt:lpstr>Future Trends</vt:lpstr>
      <vt:lpstr>Conclusion &amp; Summary</vt:lpstr>
      <vt:lpstr>Test your understanding</vt:lpstr>
      <vt:lpstr>Test your understanding</vt:lpstr>
      <vt:lpstr>References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AA</dc:creator>
  <cp:lastModifiedBy>Microsoft account</cp:lastModifiedBy>
  <cp:revision>2</cp:revision>
  <dcterms:created xsi:type="dcterms:W3CDTF">2026-07-01T10:35:51Z</dcterms:created>
  <dcterms:modified xsi:type="dcterms:W3CDTF">2026-07-01T10:41:09Z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2026-03-19T00:00:00Z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2026-07-01T00:00:00Z</vt:filetime>
  </property>
  <property fmtid="{D5CDD505-2E9C-101B-9397-08002B2CF9AE}" pid="6" name="Producer">
    <vt:lpwstr>Microsoft® PowerPoint® for Microsoft 365</vt:lpwstr>
  </property>
</Properties>
</file>