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54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1"/>
                </a:moveTo>
                <a:lnTo>
                  <a:pt x="0" y="263651"/>
                </a:lnTo>
                <a:lnTo>
                  <a:pt x="0" y="0"/>
                </a:lnTo>
                <a:lnTo>
                  <a:pt x="7906512" y="0"/>
                </a:lnTo>
                <a:lnTo>
                  <a:pt x="8057388" y="263651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2"/>
                </a:moveTo>
                <a:lnTo>
                  <a:pt x="0" y="233172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20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76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97" y="34290"/>
                </a:lnTo>
                <a:lnTo>
                  <a:pt x="61823" y="93141"/>
                </a:lnTo>
                <a:lnTo>
                  <a:pt x="56400" y="132588"/>
                </a:lnTo>
                <a:lnTo>
                  <a:pt x="60159" y="158711"/>
                </a:lnTo>
                <a:lnTo>
                  <a:pt x="72783" y="182702"/>
                </a:lnTo>
                <a:lnTo>
                  <a:pt x="96253" y="205244"/>
                </a:lnTo>
                <a:lnTo>
                  <a:pt x="132600" y="227088"/>
                </a:lnTo>
                <a:lnTo>
                  <a:pt x="207276" y="263664"/>
                </a:lnTo>
                <a:lnTo>
                  <a:pt x="221576" y="271678"/>
                </a:lnTo>
                <a:lnTo>
                  <a:pt x="233756" y="281000"/>
                </a:lnTo>
                <a:lnTo>
                  <a:pt x="242201" y="293446"/>
                </a:lnTo>
                <a:lnTo>
                  <a:pt x="245376" y="310908"/>
                </a:lnTo>
                <a:lnTo>
                  <a:pt x="240271" y="330504"/>
                </a:lnTo>
                <a:lnTo>
                  <a:pt x="226326" y="345389"/>
                </a:lnTo>
                <a:lnTo>
                  <a:pt x="205511" y="354838"/>
                </a:lnTo>
                <a:lnTo>
                  <a:pt x="179844" y="358152"/>
                </a:lnTo>
                <a:lnTo>
                  <a:pt x="158572" y="353402"/>
                </a:lnTo>
                <a:lnTo>
                  <a:pt x="140030" y="340817"/>
                </a:lnTo>
                <a:lnTo>
                  <a:pt x="126898" y="322783"/>
                </a:lnTo>
                <a:lnTo>
                  <a:pt x="121932" y="301764"/>
                </a:lnTo>
                <a:lnTo>
                  <a:pt x="121932" y="292620"/>
                </a:lnTo>
                <a:lnTo>
                  <a:pt x="0" y="292620"/>
                </a:lnTo>
                <a:lnTo>
                  <a:pt x="0" y="310908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44" y="425208"/>
                </a:lnTo>
                <a:lnTo>
                  <a:pt x="236842" y="420636"/>
                </a:lnTo>
                <a:lnTo>
                  <a:pt x="285394" y="407428"/>
                </a:lnTo>
                <a:lnTo>
                  <a:pt x="324624" y="386346"/>
                </a:lnTo>
                <a:lnTo>
                  <a:pt x="353682" y="358152"/>
                </a:lnTo>
                <a:lnTo>
                  <a:pt x="371754" y="323608"/>
                </a:lnTo>
                <a:lnTo>
                  <a:pt x="371881" y="322783"/>
                </a:lnTo>
                <a:lnTo>
                  <a:pt x="377964" y="283476"/>
                </a:lnTo>
                <a:lnTo>
                  <a:pt x="372694" y="256628"/>
                </a:lnTo>
                <a:lnTo>
                  <a:pt x="357581" y="233375"/>
                </a:lnTo>
                <a:lnTo>
                  <a:pt x="333590" y="213817"/>
                </a:lnTo>
                <a:lnTo>
                  <a:pt x="301764" y="198132"/>
                </a:lnTo>
                <a:lnTo>
                  <a:pt x="227088" y="160032"/>
                </a:lnTo>
                <a:lnTo>
                  <a:pt x="207479" y="151434"/>
                </a:lnTo>
                <a:lnTo>
                  <a:pt x="192608" y="139268"/>
                </a:lnTo>
                <a:lnTo>
                  <a:pt x="183146" y="123380"/>
                </a:lnTo>
                <a:lnTo>
                  <a:pt x="179844" y="103632"/>
                </a:lnTo>
                <a:lnTo>
                  <a:pt x="184581" y="89966"/>
                </a:lnTo>
                <a:lnTo>
                  <a:pt x="197180" y="77724"/>
                </a:lnTo>
                <a:lnTo>
                  <a:pt x="215201" y="68922"/>
                </a:lnTo>
                <a:lnTo>
                  <a:pt x="236232" y="65532"/>
                </a:lnTo>
                <a:lnTo>
                  <a:pt x="255828" y="69062"/>
                </a:lnTo>
                <a:lnTo>
                  <a:pt x="270713" y="78867"/>
                </a:lnTo>
                <a:lnTo>
                  <a:pt x="280162" y="93827"/>
                </a:lnTo>
                <a:lnTo>
                  <a:pt x="283476" y="112776"/>
                </a:lnTo>
                <a:lnTo>
                  <a:pt x="283476" y="123380"/>
                </a:lnTo>
                <a:lnTo>
                  <a:pt x="406920" y="123380"/>
                </a:lnTo>
                <a:lnTo>
                  <a:pt x="406920" y="103632"/>
                </a:lnTo>
                <a:close/>
              </a:path>
              <a:path w="1039495" h="425450">
                <a:moveTo>
                  <a:pt x="670572" y="103644"/>
                </a:moveTo>
                <a:lnTo>
                  <a:pt x="661504" y="65544"/>
                </a:lnTo>
                <a:lnTo>
                  <a:pt x="660209" y="60083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52" y="0"/>
                </a:lnTo>
                <a:lnTo>
                  <a:pt x="471538" y="1574"/>
                </a:lnTo>
                <a:lnTo>
                  <a:pt x="438531" y="5727"/>
                </a:lnTo>
                <a:lnTo>
                  <a:pt x="410679" y="11582"/>
                </a:lnTo>
                <a:lnTo>
                  <a:pt x="387096" y="18300"/>
                </a:lnTo>
                <a:lnTo>
                  <a:pt x="401408" y="34632"/>
                </a:lnTo>
                <a:lnTo>
                  <a:pt x="413575" y="54114"/>
                </a:lnTo>
                <a:lnTo>
                  <a:pt x="422033" y="77012"/>
                </a:lnTo>
                <a:lnTo>
                  <a:pt x="422122" y="77736"/>
                </a:lnTo>
                <a:lnTo>
                  <a:pt x="425196" y="103644"/>
                </a:lnTo>
                <a:lnTo>
                  <a:pt x="425196" y="112788"/>
                </a:lnTo>
                <a:lnTo>
                  <a:pt x="416115" y="123380"/>
                </a:lnTo>
                <a:lnTo>
                  <a:pt x="416052" y="132600"/>
                </a:lnTo>
                <a:lnTo>
                  <a:pt x="312420" y="132600"/>
                </a:lnTo>
                <a:lnTo>
                  <a:pt x="317449" y="158711"/>
                </a:lnTo>
                <a:lnTo>
                  <a:pt x="332041" y="182702"/>
                </a:lnTo>
                <a:lnTo>
                  <a:pt x="355498" y="205244"/>
                </a:lnTo>
                <a:lnTo>
                  <a:pt x="387096" y="227088"/>
                </a:lnTo>
                <a:lnTo>
                  <a:pt x="463296" y="263664"/>
                </a:lnTo>
                <a:lnTo>
                  <a:pt x="476973" y="271678"/>
                </a:lnTo>
                <a:lnTo>
                  <a:pt x="489204" y="281000"/>
                </a:lnTo>
                <a:lnTo>
                  <a:pt x="498017" y="293446"/>
                </a:lnTo>
                <a:lnTo>
                  <a:pt x="501396" y="310908"/>
                </a:lnTo>
                <a:lnTo>
                  <a:pt x="497713" y="330504"/>
                </a:lnTo>
                <a:lnTo>
                  <a:pt x="486727" y="345389"/>
                </a:lnTo>
                <a:lnTo>
                  <a:pt x="468617" y="354838"/>
                </a:lnTo>
                <a:lnTo>
                  <a:pt x="443484" y="358152"/>
                </a:lnTo>
                <a:lnTo>
                  <a:pt x="419252" y="353402"/>
                </a:lnTo>
                <a:lnTo>
                  <a:pt x="401574" y="340817"/>
                </a:lnTo>
                <a:lnTo>
                  <a:pt x="390766" y="322783"/>
                </a:lnTo>
                <a:lnTo>
                  <a:pt x="387096" y="301764"/>
                </a:lnTo>
                <a:lnTo>
                  <a:pt x="387096" y="292620"/>
                </a:lnTo>
                <a:lnTo>
                  <a:pt x="382358" y="321017"/>
                </a:lnTo>
                <a:lnTo>
                  <a:pt x="369760" y="348437"/>
                </a:lnTo>
                <a:lnTo>
                  <a:pt x="351739" y="373837"/>
                </a:lnTo>
                <a:lnTo>
                  <a:pt x="330708" y="396252"/>
                </a:lnTo>
                <a:lnTo>
                  <a:pt x="321564" y="396252"/>
                </a:lnTo>
                <a:lnTo>
                  <a:pt x="312420" y="405396"/>
                </a:lnTo>
                <a:lnTo>
                  <a:pt x="336410" y="412991"/>
                </a:lnTo>
                <a:lnTo>
                  <a:pt x="365950" y="419303"/>
                </a:lnTo>
                <a:lnTo>
                  <a:pt x="399224" y="423608"/>
                </a:lnTo>
                <a:lnTo>
                  <a:pt x="434340" y="425208"/>
                </a:lnTo>
                <a:lnTo>
                  <a:pt x="491998" y="420636"/>
                </a:lnTo>
                <a:lnTo>
                  <a:pt x="540969" y="407428"/>
                </a:lnTo>
                <a:lnTo>
                  <a:pt x="580466" y="386346"/>
                </a:lnTo>
                <a:lnTo>
                  <a:pt x="609663" y="358152"/>
                </a:lnTo>
                <a:lnTo>
                  <a:pt x="627773" y="323608"/>
                </a:lnTo>
                <a:lnTo>
                  <a:pt x="627900" y="322783"/>
                </a:lnTo>
                <a:lnTo>
                  <a:pt x="633996" y="283476"/>
                </a:lnTo>
                <a:lnTo>
                  <a:pt x="618185" y="233375"/>
                </a:lnTo>
                <a:lnTo>
                  <a:pt x="566940" y="198132"/>
                </a:lnTo>
                <a:lnTo>
                  <a:pt x="490728" y="160032"/>
                </a:lnTo>
                <a:lnTo>
                  <a:pt x="471779" y="151434"/>
                </a:lnTo>
                <a:lnTo>
                  <a:pt x="456819" y="139268"/>
                </a:lnTo>
                <a:lnTo>
                  <a:pt x="447014" y="123380"/>
                </a:lnTo>
                <a:lnTo>
                  <a:pt x="443484" y="103644"/>
                </a:lnTo>
                <a:lnTo>
                  <a:pt x="447014" y="89966"/>
                </a:lnTo>
                <a:lnTo>
                  <a:pt x="456819" y="77736"/>
                </a:lnTo>
                <a:lnTo>
                  <a:pt x="471779" y="68922"/>
                </a:lnTo>
                <a:lnTo>
                  <a:pt x="490728" y="65544"/>
                </a:lnTo>
                <a:lnTo>
                  <a:pt x="515861" y="69062"/>
                </a:lnTo>
                <a:lnTo>
                  <a:pt x="533984" y="78879"/>
                </a:lnTo>
                <a:lnTo>
                  <a:pt x="544957" y="93827"/>
                </a:lnTo>
                <a:lnTo>
                  <a:pt x="548652" y="112788"/>
                </a:lnTo>
                <a:lnTo>
                  <a:pt x="538048" y="123380"/>
                </a:lnTo>
                <a:lnTo>
                  <a:pt x="670572" y="123380"/>
                </a:lnTo>
                <a:lnTo>
                  <a:pt x="670572" y="103644"/>
                </a:lnTo>
                <a:close/>
              </a:path>
              <a:path w="1039495" h="425450">
                <a:moveTo>
                  <a:pt x="1039380" y="103632"/>
                </a:moveTo>
                <a:lnTo>
                  <a:pt x="1030973" y="59804"/>
                </a:lnTo>
                <a:lnTo>
                  <a:pt x="1007567" y="27241"/>
                </a:lnTo>
                <a:lnTo>
                  <a:pt x="971867" y="6985"/>
                </a:lnTo>
                <a:lnTo>
                  <a:pt x="926604" y="0"/>
                </a:lnTo>
                <a:lnTo>
                  <a:pt x="882789" y="5410"/>
                </a:lnTo>
                <a:lnTo>
                  <a:pt x="837831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60" y="85344"/>
                </a:lnTo>
                <a:lnTo>
                  <a:pt x="860856" y="87236"/>
                </a:lnTo>
                <a:lnTo>
                  <a:pt x="875741" y="93535"/>
                </a:lnTo>
                <a:lnTo>
                  <a:pt x="885190" y="105283"/>
                </a:lnTo>
                <a:lnTo>
                  <a:pt x="888504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61" y="142875"/>
                </a:lnTo>
                <a:lnTo>
                  <a:pt x="884643" y="155600"/>
                </a:lnTo>
                <a:lnTo>
                  <a:pt x="879360" y="169164"/>
                </a:lnTo>
                <a:lnTo>
                  <a:pt x="822972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60" y="405384"/>
                </a:lnTo>
                <a:lnTo>
                  <a:pt x="1021092" y="179832"/>
                </a:lnTo>
                <a:lnTo>
                  <a:pt x="1030236" y="141732"/>
                </a:lnTo>
                <a:lnTo>
                  <a:pt x="1035519" y="133210"/>
                </a:lnTo>
                <a:lnTo>
                  <a:pt x="1038237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80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0823" y="426127"/>
            <a:ext cx="6956753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4585" y="1726907"/>
            <a:ext cx="8710930" cy="404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80079" y="3143539"/>
            <a:ext cx="7899400" cy="30949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35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I:</a:t>
            </a:r>
            <a:r>
              <a:rPr sz="3500" b="1" spc="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Pressure</a:t>
            </a:r>
            <a:r>
              <a:rPr sz="3500" b="1" spc="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Gauge</a:t>
            </a:r>
            <a:r>
              <a:rPr sz="35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Sensors</a:t>
            </a:r>
            <a:endParaRPr sz="35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3500" dirty="0">
              <a:latin typeface="Verdana"/>
              <a:cs typeface="Verdana"/>
            </a:endParaRPr>
          </a:p>
          <a:p>
            <a:pPr marL="2614930" marR="2608580" algn="ctr">
              <a:lnSpc>
                <a:spcPct val="121600"/>
              </a:lnSpc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500" spc="12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500" spc="-4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500" spc="-8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IN" sz="2500" spc="-85" dirty="0">
                <a:solidFill>
                  <a:srgbClr val="808080"/>
                </a:solidFill>
                <a:latin typeface="Verdana"/>
                <a:cs typeface="Verdana"/>
              </a:rPr>
              <a:t>C. Annadurai</a:t>
            </a:r>
            <a:endParaRPr sz="2500" dirty="0">
              <a:latin typeface="Verdana"/>
              <a:cs typeface="Verdana"/>
            </a:endParaRPr>
          </a:p>
          <a:p>
            <a:pPr marL="1283335" marR="1275715" algn="ctr">
              <a:lnSpc>
                <a:spcPts val="3650"/>
              </a:lnSpc>
              <a:spcBef>
                <a:spcPts val="90"/>
              </a:spcBef>
            </a:pP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500" spc="11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500" spc="1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9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500" spc="3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500" spc="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500" spc="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50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5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60"/>
                </a:moveTo>
                <a:lnTo>
                  <a:pt x="0" y="192786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60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387" y="871727"/>
            <a:ext cx="9185275" cy="40894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650" dirty="0">
                <a:solidFill>
                  <a:srgbClr val="FF0000"/>
                </a:solidFill>
              </a:rPr>
              <a:t>UEC</a:t>
            </a:r>
            <a:r>
              <a:rPr lang="en-IN" sz="2650" dirty="0">
                <a:solidFill>
                  <a:srgbClr val="FF0000"/>
                </a:solidFill>
              </a:rPr>
              <a:t>3942</a:t>
            </a:r>
            <a:r>
              <a:rPr sz="2650" dirty="0">
                <a:solidFill>
                  <a:srgbClr val="FF0000"/>
                </a:solidFill>
              </a:rPr>
              <a:t>:</a:t>
            </a:r>
            <a:r>
              <a:rPr sz="2650" spc="-7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Introduction</a:t>
            </a:r>
            <a:r>
              <a:rPr sz="2650" spc="-13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6"/>
            <a:ext cx="171640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522605" algn="l"/>
                <a:tab pos="1186180" algn="l"/>
              </a:tabLst>
            </a:pPr>
            <a:r>
              <a:rPr sz="2200" spc="-25" dirty="0">
                <a:latin typeface="Verdana"/>
                <a:cs typeface="Verdana"/>
              </a:rPr>
              <a:t>At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end </a:t>
            </a:r>
            <a:r>
              <a:rPr sz="2200" spc="-10" dirty="0">
                <a:latin typeface="Verdana"/>
                <a:cs typeface="Verdana"/>
              </a:rPr>
              <a:t>understand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92870" y="1675296"/>
            <a:ext cx="559943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" marR="5080" indent="-22860">
              <a:lnSpc>
                <a:spcPct val="150000"/>
              </a:lnSpc>
              <a:spcBef>
                <a:spcPts val="100"/>
              </a:spcBef>
              <a:tabLst>
                <a:tab pos="492125" algn="l"/>
                <a:tab pos="826769" algn="l"/>
                <a:tab pos="1158875" algn="l"/>
                <a:tab pos="2279650" algn="l"/>
                <a:tab pos="2497455" algn="l"/>
                <a:tab pos="3158490" algn="l"/>
                <a:tab pos="4572000" algn="l"/>
                <a:tab pos="5247005" algn="l"/>
              </a:tabLst>
            </a:pP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session,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students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will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35" dirty="0">
                <a:latin typeface="Verdana"/>
                <a:cs typeface="Verdana"/>
              </a:rPr>
              <a:t>be 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10" dirty="0">
                <a:latin typeface="Verdana"/>
                <a:cs typeface="Verdana"/>
              </a:rPr>
              <a:t>working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principle,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79848" y="1843529"/>
            <a:ext cx="11010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0260" algn="l"/>
              </a:tabLst>
            </a:pPr>
            <a:r>
              <a:rPr sz="2200" spc="-20" dirty="0">
                <a:latin typeface="Verdana"/>
                <a:cs typeface="Verdana"/>
              </a:rPr>
              <a:t>able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to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88970" y="2346430"/>
            <a:ext cx="2994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61260" algn="l"/>
              </a:tabLst>
            </a:pPr>
            <a:r>
              <a:rPr sz="2200" spc="-10" dirty="0">
                <a:latin typeface="Verdana"/>
                <a:cs typeface="Verdana"/>
              </a:rPr>
              <a:t>characteristics,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0836" y="2849332"/>
            <a:ext cx="55797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applications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gauge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36608" y="426127"/>
            <a:ext cx="618363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Definition</a:t>
            </a:r>
            <a:r>
              <a:rPr spc="-6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Pressure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1029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Working</a:t>
            </a:r>
            <a:r>
              <a:rPr sz="2200" b="1" spc="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Principle:</a:t>
            </a:r>
            <a:r>
              <a:rPr sz="2200" b="1" spc="1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liquid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gas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defined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force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acting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per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unit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area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surface.</a:t>
            </a:r>
            <a:endParaRPr sz="2200">
              <a:latin typeface="Verdana"/>
              <a:cs typeface="Verdana"/>
            </a:endParaRPr>
          </a:p>
          <a:p>
            <a:pPr marL="390525" marR="635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1355090" algn="l"/>
                <a:tab pos="3103245" algn="l"/>
                <a:tab pos="3730625" algn="l"/>
                <a:tab pos="4806950" algn="l"/>
                <a:tab pos="5501640" algn="l"/>
                <a:tab pos="7130415" algn="l"/>
                <a:tab pos="847153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Solid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Materials: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solids,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this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force/area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quantity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 </a:t>
            </a:r>
            <a:r>
              <a:rPr sz="2200" dirty="0">
                <a:latin typeface="Verdana"/>
                <a:cs typeface="Verdana"/>
              </a:rPr>
              <a:t>termed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"stress"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rather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pressure.</a:t>
            </a:r>
            <a:endParaRPr sz="2200">
              <a:latin typeface="Verdana"/>
              <a:cs typeface="Verdana"/>
            </a:endParaRPr>
          </a:p>
          <a:p>
            <a:pPr marL="390525" marR="571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2659380" algn="l"/>
                <a:tab pos="3735704" algn="l"/>
                <a:tab pos="4159885" algn="l"/>
                <a:tab pos="5763260" algn="l"/>
                <a:tab pos="6625590" algn="l"/>
                <a:tab pos="7277734" algn="l"/>
                <a:tab pos="81756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Relationship: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Stress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calculated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from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force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 cross-</a:t>
            </a:r>
            <a:r>
              <a:rPr sz="2200" dirty="0">
                <a:latin typeface="Verdana"/>
                <a:cs typeface="Verdana"/>
              </a:rPr>
              <a:t>sectional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area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derived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strain.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13525" y="426127"/>
            <a:ext cx="623443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Units</a:t>
            </a:r>
            <a:r>
              <a:rPr spc="-3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Measurement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8385" y="1726907"/>
            <a:ext cx="884745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5455" marR="6985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667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Standard</a:t>
            </a:r>
            <a:r>
              <a:rPr sz="2200" b="1" spc="3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Unit:</a:t>
            </a:r>
            <a:r>
              <a:rPr sz="2200" b="1" spc="2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N/m</a:t>
            </a:r>
            <a:r>
              <a:rPr sz="2175" baseline="24904" dirty="0">
                <a:latin typeface="Verdana"/>
                <a:cs typeface="Verdana"/>
              </a:rPr>
              <a:t>2</a:t>
            </a:r>
            <a:r>
              <a:rPr sz="2175" spc="30" baseline="2490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(newton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per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square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metre)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is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primary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unit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stress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pressure.</a:t>
            </a:r>
            <a:endParaRPr sz="2200">
              <a:latin typeface="Verdana"/>
              <a:cs typeface="Verdana"/>
            </a:endParaRPr>
          </a:p>
          <a:p>
            <a:pPr marL="465455" marR="68580" indent="-377190" algn="just">
              <a:lnSpc>
                <a:spcPct val="150000"/>
              </a:lnSpc>
              <a:buFont typeface="Wingdings"/>
              <a:buChar char=""/>
              <a:tabLst>
                <a:tab pos="4667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Pascals:</a:t>
            </a:r>
            <a:r>
              <a:rPr sz="2200" b="1" spc="-1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5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liquids</a:t>
            </a:r>
            <a:r>
              <a:rPr sz="2200" spc="5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5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gases,</a:t>
            </a:r>
            <a:r>
              <a:rPr sz="2200" spc="-114" dirty="0">
                <a:latin typeface="Verdana"/>
                <a:cs typeface="Verdana"/>
              </a:rPr>
              <a:t>  </a:t>
            </a:r>
            <a:r>
              <a:rPr sz="2200" dirty="0">
                <a:latin typeface="Arial"/>
                <a:cs typeface="Arial"/>
              </a:rPr>
              <a:t>N/m</a:t>
            </a:r>
            <a:r>
              <a:rPr sz="2175" baseline="24904" dirty="0">
                <a:latin typeface="Arial"/>
                <a:cs typeface="Arial"/>
              </a:rPr>
              <a:t>2</a:t>
            </a:r>
            <a:r>
              <a:rPr sz="2175" spc="375" baseline="24904" dirty="0">
                <a:latin typeface="Arial"/>
                <a:cs typeface="Arial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5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also</a:t>
            </a:r>
            <a:r>
              <a:rPr sz="2200" spc="5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termed</a:t>
            </a:r>
            <a:r>
              <a:rPr sz="2200" spc="53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Pascal</a:t>
            </a:r>
            <a:r>
              <a:rPr sz="2200" spc="-15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(Pa).</a:t>
            </a:r>
            <a:endParaRPr sz="2200">
              <a:latin typeface="Verdana"/>
              <a:cs typeface="Verdana"/>
            </a:endParaRPr>
          </a:p>
          <a:p>
            <a:pPr marL="465455" marR="68580" indent="-377190" algn="just">
              <a:lnSpc>
                <a:spcPct val="150000"/>
              </a:lnSpc>
              <a:buFont typeface="Wingdings"/>
              <a:buChar char=""/>
              <a:tabLst>
                <a:tab pos="4667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Practical</a:t>
            </a:r>
            <a:r>
              <a:rPr sz="2200" b="1" spc="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Scaling:</a:t>
            </a:r>
            <a:r>
              <a:rPr sz="2200" b="1" spc="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Because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Pascal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small,</a:t>
            </a:r>
            <a:r>
              <a:rPr sz="2200" spc="6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kilo- 	</a:t>
            </a:r>
            <a:r>
              <a:rPr sz="2200" dirty="0">
                <a:latin typeface="Verdana"/>
                <a:cs typeface="Verdana"/>
              </a:rPr>
              <a:t>pascals</a:t>
            </a:r>
            <a:r>
              <a:rPr sz="2200" spc="15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(kPa)</a:t>
            </a:r>
            <a:r>
              <a:rPr sz="2200" spc="15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16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commonly</a:t>
            </a:r>
            <a:r>
              <a:rPr sz="2200" spc="14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used;</a:t>
            </a:r>
            <a:r>
              <a:rPr sz="2200" spc="15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150" dirty="0">
                <a:latin typeface="Verdana"/>
                <a:cs typeface="Verdana"/>
              </a:rPr>
              <a:t>   </a:t>
            </a:r>
            <a:r>
              <a:rPr sz="2200" spc="-10" dirty="0">
                <a:latin typeface="Verdana"/>
                <a:cs typeface="Verdana"/>
              </a:rPr>
              <a:t>example, 	</a:t>
            </a:r>
            <a:r>
              <a:rPr sz="2200" dirty="0">
                <a:latin typeface="Verdana"/>
                <a:cs typeface="Verdana"/>
              </a:rPr>
              <a:t>atmospheric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101.3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kPa.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95323" y="426127"/>
            <a:ext cx="886841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Stress</a:t>
            </a:r>
            <a:r>
              <a:rPr spc="-4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Strain</a:t>
            </a:r>
            <a:r>
              <a:rPr spc="-30" dirty="0"/>
              <a:t> </a:t>
            </a:r>
            <a:r>
              <a:rPr spc="-10" dirty="0"/>
              <a:t>Relationships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4700" y="1553417"/>
            <a:ext cx="8959215" cy="203708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Tensile</a:t>
            </a:r>
            <a:r>
              <a:rPr sz="22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Stress:</a:t>
            </a:r>
            <a:r>
              <a:rPr sz="2200" b="1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Calculated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×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Young's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modulus.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Bulk</a:t>
            </a:r>
            <a:r>
              <a:rPr sz="2200" b="1" spc="-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Stress: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Calculated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×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Bulk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modulus.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254698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Significance: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dirty="0">
                <a:latin typeface="Verdana"/>
                <a:cs typeface="Verdana"/>
              </a:rPr>
              <a:t>Since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strain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measured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electronically,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constants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allow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easy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stress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calculation.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" y="4180035"/>
            <a:ext cx="9314410" cy="11631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50386" y="426127"/>
            <a:ext cx="71589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Pressure</a:t>
            </a:r>
            <a:r>
              <a:rPr spc="-55" dirty="0"/>
              <a:t> </a:t>
            </a:r>
            <a:r>
              <a:rPr dirty="0"/>
              <a:t>Sensing</a:t>
            </a:r>
            <a:r>
              <a:rPr spc="-25" dirty="0"/>
              <a:t> </a:t>
            </a:r>
            <a:r>
              <a:rPr spc="-10" dirty="0"/>
              <a:t>Ranges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98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High</a:t>
            </a:r>
            <a:r>
              <a:rPr b="1" spc="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Pressure</a:t>
            </a:r>
            <a:r>
              <a:rPr b="1" spc="1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Range:</a:t>
            </a:r>
            <a:r>
              <a:rPr b="1" spc="1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Usually</a:t>
            </a:r>
            <a:r>
              <a:rPr spc="110" dirty="0"/>
              <a:t> </a:t>
            </a:r>
            <a:r>
              <a:rPr dirty="0"/>
              <a:t>implies</a:t>
            </a:r>
            <a:r>
              <a:rPr spc="105" dirty="0"/>
              <a:t> </a:t>
            </a:r>
            <a:r>
              <a:rPr dirty="0"/>
              <a:t>pressures</a:t>
            </a:r>
            <a:r>
              <a:rPr spc="110" dirty="0"/>
              <a:t> </a:t>
            </a:r>
            <a:r>
              <a:rPr spc="-10" dirty="0"/>
              <a:t>greater 	</a:t>
            </a:r>
            <a:r>
              <a:rPr dirty="0"/>
              <a:t>than</a:t>
            </a:r>
            <a:r>
              <a:rPr spc="-70" dirty="0"/>
              <a:t> </a:t>
            </a:r>
            <a:r>
              <a:rPr dirty="0"/>
              <a:t>atmospheric</a:t>
            </a:r>
            <a:r>
              <a:rPr spc="-40" dirty="0"/>
              <a:t> </a:t>
            </a:r>
            <a:r>
              <a:rPr dirty="0"/>
              <a:t>pressure</a:t>
            </a:r>
            <a:r>
              <a:rPr spc="-5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both</a:t>
            </a:r>
            <a:r>
              <a:rPr spc="-45" dirty="0"/>
              <a:t> </a:t>
            </a:r>
            <a:r>
              <a:rPr dirty="0"/>
              <a:t>liquids</a:t>
            </a:r>
            <a:r>
              <a:rPr spc="-6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gases.</a:t>
            </a:r>
          </a:p>
          <a:p>
            <a:pPr marL="389255" marR="762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Low</a:t>
            </a:r>
            <a:r>
              <a:rPr b="1" spc="31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Pressure</a:t>
            </a:r>
            <a:r>
              <a:rPr b="1" spc="31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Range:</a:t>
            </a:r>
            <a:r>
              <a:rPr b="1" spc="3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Specific</a:t>
            </a:r>
            <a:r>
              <a:rPr spc="300" dirty="0"/>
              <a:t>  </a:t>
            </a:r>
            <a:r>
              <a:rPr dirty="0"/>
              <a:t>to</a:t>
            </a:r>
            <a:r>
              <a:rPr spc="300" dirty="0"/>
              <a:t>  </a:t>
            </a:r>
            <a:r>
              <a:rPr dirty="0"/>
              <a:t>gases,</a:t>
            </a:r>
            <a:r>
              <a:rPr spc="295" dirty="0"/>
              <a:t>  </a:t>
            </a:r>
            <a:r>
              <a:rPr spc="-10" dirty="0"/>
              <a:t>involving 	</a:t>
            </a:r>
            <a:r>
              <a:rPr dirty="0"/>
              <a:t>pressures</a:t>
            </a:r>
            <a:r>
              <a:rPr spc="-60" dirty="0"/>
              <a:t>  </a:t>
            </a:r>
            <a:r>
              <a:rPr dirty="0"/>
              <a:t>significantly</a:t>
            </a:r>
            <a:r>
              <a:rPr spc="-60" dirty="0"/>
              <a:t>  </a:t>
            </a:r>
            <a:r>
              <a:rPr dirty="0"/>
              <a:t>lower</a:t>
            </a:r>
            <a:r>
              <a:rPr spc="-55" dirty="0"/>
              <a:t>  </a:t>
            </a:r>
            <a:r>
              <a:rPr dirty="0"/>
              <a:t>than</a:t>
            </a:r>
            <a:r>
              <a:rPr spc="-60" dirty="0"/>
              <a:t>  </a:t>
            </a:r>
            <a:r>
              <a:rPr dirty="0"/>
              <a:t>atmospheric</a:t>
            </a:r>
            <a:r>
              <a:rPr spc="-55" dirty="0"/>
              <a:t>  </a:t>
            </a:r>
            <a:r>
              <a:rPr spc="-10" dirty="0"/>
              <a:t>pressure 	(vacuum).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Specialization:</a:t>
            </a:r>
            <a:r>
              <a:rPr b="1" spc="30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Measurement</a:t>
            </a:r>
            <a:r>
              <a:rPr spc="280" dirty="0"/>
              <a:t>  </a:t>
            </a:r>
            <a:r>
              <a:rPr dirty="0"/>
              <a:t>of</a:t>
            </a:r>
            <a:r>
              <a:rPr spc="295" dirty="0"/>
              <a:t>  </a:t>
            </a:r>
            <a:r>
              <a:rPr dirty="0"/>
              <a:t>very</a:t>
            </a:r>
            <a:r>
              <a:rPr spc="295" dirty="0"/>
              <a:t>  </a:t>
            </a:r>
            <a:r>
              <a:rPr dirty="0"/>
              <a:t>low</a:t>
            </a:r>
            <a:r>
              <a:rPr spc="285" dirty="0"/>
              <a:t>  </a:t>
            </a:r>
            <a:r>
              <a:rPr spc="-10" dirty="0"/>
              <a:t>pressures 	</a:t>
            </a:r>
            <a:r>
              <a:rPr dirty="0"/>
              <a:t>requires</a:t>
            </a:r>
            <a:r>
              <a:rPr spc="445" dirty="0"/>
              <a:t> </a:t>
            </a:r>
            <a:r>
              <a:rPr dirty="0"/>
              <a:t>specialized</a:t>
            </a:r>
            <a:r>
              <a:rPr spc="450" dirty="0"/>
              <a:t> </a:t>
            </a:r>
            <a:r>
              <a:rPr dirty="0"/>
              <a:t>methods</a:t>
            </a:r>
            <a:r>
              <a:rPr spc="459" dirty="0"/>
              <a:t> </a:t>
            </a:r>
            <a:r>
              <a:rPr dirty="0"/>
              <a:t>compared</a:t>
            </a:r>
            <a:r>
              <a:rPr spc="450" dirty="0"/>
              <a:t> </a:t>
            </a:r>
            <a:r>
              <a:rPr dirty="0"/>
              <a:t>to</a:t>
            </a:r>
            <a:r>
              <a:rPr spc="445" dirty="0"/>
              <a:t> </a:t>
            </a:r>
            <a:r>
              <a:rPr spc="-10" dirty="0"/>
              <a:t>high-pressure 	sensors.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3032" y="426127"/>
            <a:ext cx="803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Aneroid</a:t>
            </a:r>
            <a:r>
              <a:rPr spc="-65" dirty="0"/>
              <a:t> </a:t>
            </a:r>
            <a:r>
              <a:rPr dirty="0"/>
              <a:t>Barometer</a:t>
            </a:r>
            <a:r>
              <a:rPr spc="-40" dirty="0"/>
              <a:t> </a:t>
            </a:r>
            <a:r>
              <a:rPr spc="-10" dirty="0"/>
              <a:t>Principle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8255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Working</a:t>
            </a:r>
            <a:r>
              <a:rPr b="1" spc="1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Principle:</a:t>
            </a:r>
            <a:r>
              <a:rPr b="1" spc="2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Pressure</a:t>
            </a:r>
            <a:r>
              <a:rPr spc="165" dirty="0"/>
              <a:t> </a:t>
            </a:r>
            <a:r>
              <a:rPr dirty="0"/>
              <a:t>causes</a:t>
            </a:r>
            <a:r>
              <a:rPr spc="135" dirty="0"/>
              <a:t> </a:t>
            </a:r>
            <a:r>
              <a:rPr dirty="0"/>
              <a:t>the</a:t>
            </a:r>
            <a:r>
              <a:rPr spc="170" dirty="0"/>
              <a:t> </a:t>
            </a:r>
            <a:r>
              <a:rPr dirty="0"/>
              <a:t>displacement</a:t>
            </a:r>
            <a:r>
              <a:rPr spc="150" dirty="0"/>
              <a:t> </a:t>
            </a:r>
            <a:r>
              <a:rPr spc="-25" dirty="0"/>
              <a:t>of 	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diaphragm.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Mechanism:</a:t>
            </a:r>
            <a:r>
              <a:rPr b="1" spc="4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One</a:t>
            </a:r>
            <a:r>
              <a:rPr spc="415" dirty="0"/>
              <a:t> </a:t>
            </a:r>
            <a:r>
              <a:rPr dirty="0"/>
              <a:t>side</a:t>
            </a:r>
            <a:r>
              <a:rPr spc="440" dirty="0"/>
              <a:t> </a:t>
            </a:r>
            <a:r>
              <a:rPr dirty="0"/>
              <a:t>of</a:t>
            </a:r>
            <a:r>
              <a:rPr spc="400" dirty="0"/>
              <a:t> </a:t>
            </a:r>
            <a:r>
              <a:rPr dirty="0"/>
              <a:t>the</a:t>
            </a:r>
            <a:r>
              <a:rPr spc="420" dirty="0"/>
              <a:t> </a:t>
            </a:r>
            <a:r>
              <a:rPr dirty="0"/>
              <a:t>diaphragm</a:t>
            </a:r>
            <a:r>
              <a:rPr spc="420" dirty="0"/>
              <a:t> </a:t>
            </a:r>
            <a:r>
              <a:rPr dirty="0"/>
              <a:t>is</a:t>
            </a:r>
            <a:r>
              <a:rPr spc="430" dirty="0"/>
              <a:t> </a:t>
            </a:r>
            <a:r>
              <a:rPr dirty="0"/>
              <a:t>acted</a:t>
            </a:r>
            <a:r>
              <a:rPr spc="420" dirty="0"/>
              <a:t> </a:t>
            </a:r>
            <a:r>
              <a:rPr dirty="0"/>
              <a:t>on</a:t>
            </a:r>
            <a:r>
              <a:rPr spc="425" dirty="0"/>
              <a:t> </a:t>
            </a:r>
            <a:r>
              <a:rPr spc="-25" dirty="0"/>
              <a:t>by 	</a:t>
            </a:r>
            <a:r>
              <a:rPr dirty="0"/>
              <a:t>the</a:t>
            </a:r>
            <a:r>
              <a:rPr spc="204" dirty="0"/>
              <a:t>  </a:t>
            </a:r>
            <a:r>
              <a:rPr dirty="0"/>
              <a:t>pressure</a:t>
            </a:r>
            <a:r>
              <a:rPr spc="210" dirty="0"/>
              <a:t>  </a:t>
            </a:r>
            <a:r>
              <a:rPr dirty="0"/>
              <a:t>to</a:t>
            </a:r>
            <a:r>
              <a:rPr spc="215" dirty="0"/>
              <a:t>  </a:t>
            </a:r>
            <a:r>
              <a:rPr dirty="0"/>
              <a:t>be</a:t>
            </a:r>
            <a:r>
              <a:rPr spc="220" dirty="0"/>
              <a:t>  </a:t>
            </a:r>
            <a:r>
              <a:rPr dirty="0"/>
              <a:t>measured,</a:t>
            </a:r>
            <a:r>
              <a:rPr spc="220" dirty="0"/>
              <a:t>  </a:t>
            </a:r>
            <a:r>
              <a:rPr dirty="0"/>
              <a:t>while</a:t>
            </a:r>
            <a:r>
              <a:rPr spc="195" dirty="0"/>
              <a:t>  </a:t>
            </a:r>
            <a:r>
              <a:rPr dirty="0"/>
              <a:t>the</a:t>
            </a:r>
            <a:r>
              <a:rPr spc="220" dirty="0"/>
              <a:t>  </a:t>
            </a:r>
            <a:r>
              <a:rPr dirty="0"/>
              <a:t>other</a:t>
            </a:r>
            <a:r>
              <a:rPr spc="210" dirty="0"/>
              <a:t>  </a:t>
            </a:r>
            <a:r>
              <a:rPr spc="-20" dirty="0"/>
              <a:t>side 	</a:t>
            </a:r>
            <a:r>
              <a:rPr dirty="0"/>
              <a:t>maintains</a:t>
            </a:r>
            <a:r>
              <a:rPr spc="-6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constant</a:t>
            </a:r>
            <a:r>
              <a:rPr spc="-65" dirty="0"/>
              <a:t> </a:t>
            </a:r>
            <a:r>
              <a:rPr dirty="0"/>
              <a:t>(usually</a:t>
            </a:r>
            <a:r>
              <a:rPr spc="-60" dirty="0"/>
              <a:t> </a:t>
            </a:r>
            <a:r>
              <a:rPr dirty="0"/>
              <a:t>lower)</a:t>
            </a:r>
            <a:r>
              <a:rPr spc="-65" dirty="0"/>
              <a:t> </a:t>
            </a:r>
            <a:r>
              <a:rPr spc="-10" dirty="0"/>
              <a:t>pressure.</a:t>
            </a: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Mechanical</a:t>
            </a:r>
            <a:r>
              <a:rPr b="1" spc="3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Display:</a:t>
            </a:r>
            <a:r>
              <a:rPr b="1" spc="3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In</a:t>
            </a:r>
            <a:r>
              <a:rPr spc="330" dirty="0"/>
              <a:t> </a:t>
            </a:r>
            <a:r>
              <a:rPr dirty="0"/>
              <a:t>domestic</a:t>
            </a:r>
            <a:r>
              <a:rPr spc="335" dirty="0"/>
              <a:t> </a:t>
            </a:r>
            <a:r>
              <a:rPr dirty="0"/>
              <a:t>versions,</a:t>
            </a:r>
            <a:r>
              <a:rPr spc="330" dirty="0"/>
              <a:t> </a:t>
            </a:r>
            <a:r>
              <a:rPr dirty="0"/>
              <a:t>a</a:t>
            </a:r>
            <a:r>
              <a:rPr spc="335" dirty="0"/>
              <a:t> </a:t>
            </a:r>
            <a:r>
              <a:rPr dirty="0"/>
              <a:t>system</a:t>
            </a:r>
            <a:r>
              <a:rPr spc="330" dirty="0"/>
              <a:t> </a:t>
            </a:r>
            <a:r>
              <a:rPr spc="-25" dirty="0"/>
              <a:t>of 	</a:t>
            </a:r>
            <a:r>
              <a:rPr dirty="0"/>
              <a:t>levers</a:t>
            </a:r>
            <a:r>
              <a:rPr spc="-95" dirty="0"/>
              <a:t> </a:t>
            </a:r>
            <a:r>
              <a:rPr dirty="0"/>
              <a:t>senses</a:t>
            </a:r>
            <a:r>
              <a:rPr spc="-9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diaphragm</a:t>
            </a:r>
            <a:r>
              <a:rPr spc="-55" dirty="0"/>
              <a:t> </a:t>
            </a:r>
            <a:r>
              <a:rPr dirty="0"/>
              <a:t>movement</a:t>
            </a:r>
            <a:r>
              <a:rPr spc="-80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move</a:t>
            </a:r>
            <a:r>
              <a:rPr spc="-60" dirty="0"/>
              <a:t> </a:t>
            </a:r>
            <a:r>
              <a:rPr dirty="0"/>
              <a:t>a</a:t>
            </a:r>
            <a:r>
              <a:rPr spc="-95" dirty="0"/>
              <a:t> </a:t>
            </a:r>
            <a:r>
              <a:rPr spc="-10" dirty="0"/>
              <a:t>pointer.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3032" y="426127"/>
            <a:ext cx="803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Aneroid</a:t>
            </a:r>
            <a:r>
              <a:rPr spc="-65" dirty="0"/>
              <a:t> </a:t>
            </a:r>
            <a:r>
              <a:rPr dirty="0"/>
              <a:t>Barometer</a:t>
            </a:r>
            <a:r>
              <a:rPr spc="-40" dirty="0"/>
              <a:t> </a:t>
            </a:r>
            <a:r>
              <a:rPr spc="-10" dirty="0"/>
              <a:t>Principle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908" y="2289048"/>
            <a:ext cx="8154924" cy="36118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23591" y="426127"/>
            <a:ext cx="80086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Capacitive</a:t>
            </a:r>
            <a:r>
              <a:rPr spc="-50" dirty="0"/>
              <a:t> </a:t>
            </a:r>
            <a:r>
              <a:rPr dirty="0"/>
              <a:t>Pressure</a:t>
            </a:r>
            <a:r>
              <a:rPr spc="-50" dirty="0"/>
              <a:t> </a:t>
            </a:r>
            <a:r>
              <a:rPr spc="-10" dirty="0"/>
              <a:t>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9711" y="1548787"/>
            <a:ext cx="2568575" cy="153416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Construction:</a:t>
            </a:r>
            <a:endParaRPr sz="2200">
              <a:latin typeface="Verdana"/>
              <a:cs typeface="Verdana"/>
            </a:endParaRPr>
          </a:p>
          <a:p>
            <a:pPr marL="390525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Verdana"/>
                <a:cs typeface="Verdana"/>
              </a:rPr>
              <a:t>backplate.</a:t>
            </a:r>
            <a:endParaRPr sz="220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Transduction: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8603" y="1717020"/>
            <a:ext cx="62598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155" algn="l"/>
                <a:tab pos="2433320" algn="l"/>
                <a:tab pos="2860040" algn="l"/>
                <a:tab pos="4332605" algn="l"/>
                <a:tab pos="5196840" algn="l"/>
                <a:tab pos="5567680" algn="l"/>
              </a:tabLst>
            </a:pP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diaphragm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insulated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from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fixed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0990" y="2722823"/>
            <a:ext cx="61798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6740" algn="l"/>
                <a:tab pos="2034539" algn="l"/>
                <a:tab pos="3185795" algn="l"/>
                <a:tab pos="3877945" algn="l"/>
                <a:tab pos="5713095" algn="l"/>
              </a:tabLst>
            </a:pPr>
            <a:r>
              <a:rPr sz="2200" spc="-25" dirty="0">
                <a:latin typeface="Verdana"/>
                <a:cs typeface="Verdana"/>
              </a:rPr>
              <a:t>As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pressure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moves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diaphragm,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9711" y="3057356"/>
            <a:ext cx="8962390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algn="just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spacing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</a:t>
            </a:r>
            <a:r>
              <a:rPr sz="2200" i="1" dirty="0">
                <a:latin typeface="Verdana"/>
                <a:cs typeface="Verdana"/>
              </a:rPr>
              <a:t>d</a:t>
            </a:r>
            <a:r>
              <a:rPr sz="2200" dirty="0">
                <a:latin typeface="Verdana"/>
                <a:cs typeface="Verdana"/>
              </a:rPr>
              <a:t>)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backplate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changes,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altering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capacitance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(</a:t>
            </a:r>
            <a:r>
              <a:rPr sz="2200" i="1" spc="-20" dirty="0">
                <a:latin typeface="Verdana"/>
                <a:cs typeface="Verdana"/>
              </a:rPr>
              <a:t>C</a:t>
            </a:r>
            <a:r>
              <a:rPr sz="2200" spc="-20" dirty="0">
                <a:latin typeface="Verdana"/>
                <a:cs typeface="Verdana"/>
              </a:rPr>
              <a:t>).</a:t>
            </a:r>
            <a:endParaRPr sz="2200">
              <a:latin typeface="Verdana"/>
              <a:cs typeface="Verdana"/>
            </a:endParaRPr>
          </a:p>
          <a:p>
            <a:pPr marL="389255" marR="698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Electronic</a:t>
            </a:r>
            <a:r>
              <a:rPr sz="2200" b="1" spc="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Sensing:</a:t>
            </a:r>
            <a:r>
              <a:rPr sz="2200" b="1" spc="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This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capacitance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forms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part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an 	</a:t>
            </a:r>
            <a:r>
              <a:rPr sz="2200" dirty="0">
                <a:latin typeface="Verdana"/>
                <a:cs typeface="Verdana"/>
              </a:rPr>
              <a:t>oscillator's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resonant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circuit;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 change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spacing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reduces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resonant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frequency.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0316" y="426127"/>
            <a:ext cx="86169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378450" algn="l"/>
              </a:tabLst>
            </a:pPr>
            <a:r>
              <a:rPr dirty="0"/>
              <a:t>Capacitive</a:t>
            </a:r>
            <a:r>
              <a:rPr spc="-75" dirty="0"/>
              <a:t> </a:t>
            </a:r>
            <a:r>
              <a:rPr spc="-10" dirty="0"/>
              <a:t>Sensor</a:t>
            </a:r>
            <a:r>
              <a:rPr dirty="0"/>
              <a:t>	&amp;</a:t>
            </a:r>
            <a:r>
              <a:rPr spc="15" dirty="0"/>
              <a:t> </a:t>
            </a:r>
            <a:r>
              <a:rPr spc="-10" dirty="0"/>
              <a:t>Formulas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987" y="1562100"/>
            <a:ext cx="9392412" cy="53187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08366" y="426127"/>
            <a:ext cx="804418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Variable</a:t>
            </a:r>
            <a:r>
              <a:rPr spc="-75" dirty="0"/>
              <a:t> </a:t>
            </a:r>
            <a:r>
              <a:rPr dirty="0"/>
              <a:t>Reluctance</a:t>
            </a:r>
            <a:r>
              <a:rPr spc="-60" dirty="0"/>
              <a:t> </a:t>
            </a:r>
            <a:r>
              <a:rPr spc="-10" dirty="0"/>
              <a:t>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48" y="1429904"/>
            <a:ext cx="450088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algn="just">
              <a:lnSpc>
                <a:spcPct val="150000"/>
              </a:lnSpc>
              <a:spcBef>
                <a:spcPts val="100"/>
              </a:spcBef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Requirement:</a:t>
            </a:r>
            <a:r>
              <a:rPr sz="2200" b="1" spc="459" dirty="0">
                <a:solidFill>
                  <a:srgbClr val="FF0000"/>
                </a:solidFill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Requires</a:t>
            </a:r>
            <a:r>
              <a:rPr sz="2200" spc="440" dirty="0">
                <a:latin typeface="Verdana"/>
                <a:cs typeface="Verdana"/>
              </a:rPr>
              <a:t>   </a:t>
            </a:r>
            <a:r>
              <a:rPr sz="2200" spc="-50" dirty="0">
                <a:latin typeface="Verdana"/>
                <a:cs typeface="Verdana"/>
              </a:rPr>
              <a:t>a </a:t>
            </a:r>
            <a:r>
              <a:rPr sz="2200" dirty="0">
                <a:latin typeface="Verdana"/>
                <a:cs typeface="Verdana"/>
              </a:rPr>
              <a:t>ferromagnetic</a:t>
            </a:r>
            <a:r>
              <a:rPr sz="2200" spc="-1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diaphragm.</a:t>
            </a:r>
            <a:endParaRPr sz="2200">
              <a:latin typeface="Verdana"/>
              <a:cs typeface="Verdana"/>
            </a:endParaRPr>
          </a:p>
          <a:p>
            <a:pPr marL="12700" marR="5715" algn="just">
              <a:lnSpc>
                <a:spcPct val="150000"/>
              </a:lnSpc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Working</a:t>
            </a: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Principle:</a:t>
            </a:r>
            <a:r>
              <a:rPr sz="2200" b="1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Movement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4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5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diaphragm</a:t>
            </a:r>
            <a:r>
              <a:rPr sz="2200" spc="355" dirty="0">
                <a:latin typeface="Verdana"/>
                <a:cs typeface="Verdana"/>
              </a:rPr>
              <a:t>   </a:t>
            </a:r>
            <a:r>
              <a:rPr sz="2200" spc="-10" dirty="0">
                <a:latin typeface="Verdana"/>
                <a:cs typeface="Verdana"/>
              </a:rPr>
              <a:t>causes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reluctance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of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magnetic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path.</a:t>
            </a:r>
            <a:endParaRPr sz="2200">
              <a:latin typeface="Verdana"/>
              <a:cs typeface="Verdana"/>
            </a:endParaRPr>
          </a:p>
          <a:p>
            <a:pPr marL="12700" marR="5080" algn="just">
              <a:lnSpc>
                <a:spcPct val="150000"/>
              </a:lnSpc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Electronic</a:t>
            </a:r>
            <a:r>
              <a:rPr sz="2200" b="1" spc="420" dirty="0">
                <a:solidFill>
                  <a:srgbClr val="FF0000"/>
                </a:solidFill>
                <a:latin typeface="Verdana"/>
                <a:cs typeface="Verdana"/>
              </a:rPr>
              <a:t>  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Output:</a:t>
            </a:r>
            <a:r>
              <a:rPr sz="2200" b="1" spc="420" dirty="0">
                <a:solidFill>
                  <a:srgbClr val="FF0000"/>
                </a:solidFill>
                <a:latin typeface="Verdana"/>
                <a:cs typeface="Verdana"/>
              </a:rPr>
              <a:t>    </a:t>
            </a:r>
            <a:r>
              <a:rPr sz="2200" spc="-25" dirty="0">
                <a:latin typeface="Verdana"/>
                <a:cs typeface="Verdana"/>
              </a:rPr>
              <a:t>The </a:t>
            </a:r>
            <a:r>
              <a:rPr sz="2200" dirty="0">
                <a:latin typeface="Verdana"/>
                <a:cs typeface="Verdana"/>
              </a:rPr>
              <a:t>change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reluctance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alters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4735" y="5453255"/>
            <a:ext cx="293814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7485">
              <a:lnSpc>
                <a:spcPct val="150000"/>
              </a:lnSpc>
              <a:spcBef>
                <a:spcPts val="100"/>
              </a:spcBef>
              <a:tabLst>
                <a:tab pos="723265" algn="l"/>
                <a:tab pos="907415" algn="l"/>
                <a:tab pos="1139190" algn="l"/>
                <a:tab pos="2148840" algn="l"/>
                <a:tab pos="2352040" algn="l"/>
                <a:tab pos="2756535" algn="l"/>
              </a:tabLst>
            </a:pP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10" dirty="0">
                <a:latin typeface="Verdana"/>
                <a:cs typeface="Verdana"/>
              </a:rPr>
              <a:t>nearby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20" dirty="0">
                <a:latin typeface="Verdana"/>
                <a:cs typeface="Verdana"/>
              </a:rPr>
              <a:t>coil, then</a:t>
            </a:r>
            <a:r>
              <a:rPr sz="2200" dirty="0">
                <a:latin typeface="Verdana"/>
                <a:cs typeface="Verdana"/>
              </a:rPr>
              <a:t>		</a:t>
            </a:r>
            <a:r>
              <a:rPr sz="2200" spc="-10" dirty="0">
                <a:latin typeface="Verdana"/>
                <a:cs typeface="Verdana"/>
              </a:rPr>
              <a:t>sensed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by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2948" y="5453255"/>
            <a:ext cx="1541780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083310" algn="l"/>
              </a:tabLst>
            </a:pPr>
            <a:r>
              <a:rPr sz="2200" spc="-10" dirty="0">
                <a:latin typeface="Verdana"/>
                <a:cs typeface="Verdana"/>
              </a:rPr>
              <a:t>inductance which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 </a:t>
            </a:r>
            <a:r>
              <a:rPr sz="2200" spc="-10" dirty="0">
                <a:latin typeface="Verdana"/>
                <a:cs typeface="Verdana"/>
              </a:rPr>
              <a:t>detector.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5900" y="1557527"/>
            <a:ext cx="4684775" cy="51953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3469" y="124572"/>
            <a:ext cx="747585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6005" marR="5080" indent="-1043940">
              <a:lnSpc>
                <a:spcPct val="100200"/>
              </a:lnSpc>
              <a:spcBef>
                <a:spcPts val="100"/>
              </a:spcBef>
            </a:pPr>
            <a:r>
              <a:rPr dirty="0"/>
              <a:t>Characteristics</a:t>
            </a:r>
            <a:r>
              <a:rPr spc="-90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10" dirty="0"/>
              <a:t>Variable </a:t>
            </a:r>
            <a:r>
              <a:rPr dirty="0"/>
              <a:t>Reluctance</a:t>
            </a:r>
            <a:r>
              <a:rPr spc="-60" dirty="0"/>
              <a:t> </a:t>
            </a:r>
            <a:r>
              <a:rPr spc="-10" dirty="0"/>
              <a:t>Gauges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428406"/>
            <a:ext cx="896239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1940560" algn="l"/>
                <a:tab pos="3202305" algn="l"/>
                <a:tab pos="4621530" algn="l"/>
                <a:tab pos="5447030" algn="l"/>
                <a:tab pos="5999480" algn="l"/>
                <a:tab pos="6866890" algn="l"/>
                <a:tab pos="773684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Pressure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Range: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Normally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used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fairly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large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pressure differences.</a:t>
            </a:r>
            <a:endParaRPr sz="2200">
              <a:latin typeface="Verdana"/>
              <a:cs typeface="Verdana"/>
            </a:endParaRPr>
          </a:p>
          <a:p>
            <a:pPr marL="390525" marR="571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Constraints:</a:t>
            </a:r>
            <a:r>
              <a:rPr sz="2200" b="1" spc="2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Cannot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environments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where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inert (non-</a:t>
            </a:r>
            <a:r>
              <a:rPr sz="2200" dirty="0">
                <a:latin typeface="Verdana"/>
                <a:cs typeface="Verdana"/>
              </a:rPr>
              <a:t>magnetic)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diaphragms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required.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2327275" algn="l"/>
                <a:tab pos="3674110" algn="l"/>
                <a:tab pos="4268470" algn="l"/>
                <a:tab pos="5110480" algn="l"/>
                <a:tab pos="6117590" algn="l"/>
                <a:tab pos="6845300" algn="l"/>
                <a:tab pos="805815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Versatility: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Suitable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both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gases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liquids,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across </a:t>
            </a:r>
            <a:r>
              <a:rPr sz="2200" dirty="0">
                <a:latin typeface="Verdana"/>
                <a:cs typeface="Verdana"/>
              </a:rPr>
              <a:t>ranges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higher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lower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atmospheric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pressure.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1012" y="124572"/>
            <a:ext cx="891413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36290" marR="5080" indent="-3324225">
              <a:lnSpc>
                <a:spcPct val="100200"/>
              </a:lnSpc>
              <a:spcBef>
                <a:spcPts val="100"/>
              </a:spcBef>
            </a:pPr>
            <a:r>
              <a:rPr dirty="0"/>
              <a:t>Bourdon</a:t>
            </a:r>
            <a:r>
              <a:rPr spc="-60" dirty="0"/>
              <a:t> </a:t>
            </a:r>
            <a:r>
              <a:rPr dirty="0"/>
              <a:t>Tube</a:t>
            </a:r>
            <a:r>
              <a:rPr spc="-25" dirty="0"/>
              <a:t> </a:t>
            </a:r>
            <a:r>
              <a:rPr dirty="0"/>
              <a:t>(Flattened</a:t>
            </a:r>
            <a:r>
              <a:rPr spc="-10" dirty="0"/>
              <a:t> Tube) 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09660" cy="404939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 algn="just">
              <a:lnSpc>
                <a:spcPct val="100000"/>
              </a:lnSpc>
              <a:spcBef>
                <a:spcPts val="1420"/>
              </a:spcBef>
              <a:buFont typeface="Wingdings"/>
              <a:buChar char="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Construction: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coiled,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flattened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tube.</a:t>
            </a:r>
            <a:endParaRPr sz="2200">
              <a:latin typeface="Verdana"/>
              <a:cs typeface="Verdana"/>
            </a:endParaRPr>
          </a:p>
          <a:p>
            <a:pPr marL="389255" marR="6985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Working</a:t>
            </a:r>
            <a:r>
              <a:rPr sz="2200" b="1" spc="2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Principle:</a:t>
            </a:r>
            <a:r>
              <a:rPr sz="2200" b="1" spc="2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Changes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inside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tube 	</a:t>
            </a:r>
            <a:r>
              <a:rPr sz="2200" dirty="0">
                <a:latin typeface="Verdana"/>
                <a:cs typeface="Verdana"/>
              </a:rPr>
              <a:t>cause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coil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uncoil.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Electronic</a:t>
            </a:r>
            <a:r>
              <a:rPr sz="2200" b="1" spc="4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Conversion:</a:t>
            </a:r>
            <a:r>
              <a:rPr sz="2200" b="1" spc="459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5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coiling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often 	</a:t>
            </a:r>
            <a:r>
              <a:rPr sz="2200" dirty="0">
                <a:latin typeface="Verdana"/>
                <a:cs typeface="Verdana"/>
              </a:rPr>
              <a:t>coupled</a:t>
            </a:r>
            <a:r>
              <a:rPr sz="2200" spc="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potentiometer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convert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movement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into 	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electronic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signal.</a:t>
            </a:r>
            <a:endParaRPr sz="2200">
              <a:latin typeface="Verdana"/>
              <a:cs typeface="Verdana"/>
            </a:endParaRP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Range:</a:t>
            </a:r>
            <a:r>
              <a:rPr sz="2200"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manufactured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various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ranges 	</a:t>
            </a:r>
            <a:r>
              <a:rPr sz="2200" dirty="0">
                <a:latin typeface="Verdana"/>
                <a:cs typeface="Verdana"/>
              </a:rPr>
              <a:t>by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changing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tube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thickness.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2485" y="124572"/>
            <a:ext cx="891413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36290" marR="5080" indent="-3324225">
              <a:lnSpc>
                <a:spcPct val="100200"/>
              </a:lnSpc>
              <a:spcBef>
                <a:spcPts val="100"/>
              </a:spcBef>
            </a:pPr>
            <a:r>
              <a:rPr dirty="0"/>
              <a:t>Bourdon</a:t>
            </a:r>
            <a:r>
              <a:rPr spc="-60" dirty="0"/>
              <a:t> </a:t>
            </a:r>
            <a:r>
              <a:rPr dirty="0"/>
              <a:t>Tube</a:t>
            </a:r>
            <a:r>
              <a:rPr spc="-25" dirty="0"/>
              <a:t> </a:t>
            </a:r>
            <a:r>
              <a:rPr dirty="0"/>
              <a:t>(Flattened</a:t>
            </a:r>
            <a:r>
              <a:rPr spc="-10" dirty="0"/>
              <a:t> Tube) Sensors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908" y="2247900"/>
            <a:ext cx="8162544" cy="32781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79306" y="426127"/>
            <a:ext cx="869759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Piezoelectric</a:t>
            </a:r>
            <a:r>
              <a:rPr spc="-105" dirty="0"/>
              <a:t> </a:t>
            </a:r>
            <a:r>
              <a:rPr dirty="0"/>
              <a:t>Pressure</a:t>
            </a:r>
            <a:r>
              <a:rPr spc="-35" dirty="0"/>
              <a:t> </a:t>
            </a:r>
            <a:r>
              <a:rPr spc="-10" dirty="0"/>
              <a:t>Sensors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762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Working</a:t>
            </a:r>
            <a:r>
              <a:rPr b="1" spc="-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Principle:</a:t>
            </a:r>
            <a:r>
              <a:rPr b="1" spc="-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Uses</a:t>
            </a:r>
            <a:r>
              <a:rPr spc="-65" dirty="0"/>
              <a:t>  </a:t>
            </a:r>
            <a:r>
              <a:rPr dirty="0"/>
              <a:t>a</a:t>
            </a:r>
            <a:r>
              <a:rPr spc="-50" dirty="0"/>
              <a:t>  </a:t>
            </a:r>
            <a:r>
              <a:rPr dirty="0"/>
              <a:t>piezoelectric</a:t>
            </a:r>
            <a:r>
              <a:rPr spc="-50" dirty="0"/>
              <a:t>  </a:t>
            </a:r>
            <a:r>
              <a:rPr dirty="0"/>
              <a:t>crystal</a:t>
            </a:r>
            <a:r>
              <a:rPr spc="-45" dirty="0"/>
              <a:t>  </a:t>
            </a:r>
            <a:r>
              <a:rPr spc="-10" dirty="0"/>
              <a:t>(often 	</a:t>
            </a:r>
            <a:r>
              <a:rPr dirty="0"/>
              <a:t>barium</a:t>
            </a:r>
            <a:r>
              <a:rPr spc="-55" dirty="0"/>
              <a:t> </a:t>
            </a:r>
            <a:r>
              <a:rPr dirty="0"/>
              <a:t>titanate)</a:t>
            </a:r>
            <a:r>
              <a:rPr spc="-65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sense</a:t>
            </a:r>
            <a:r>
              <a:rPr spc="-50" dirty="0"/>
              <a:t> </a:t>
            </a:r>
            <a:r>
              <a:rPr spc="-10" dirty="0"/>
              <a:t>displacement.</a:t>
            </a:r>
          </a:p>
          <a:p>
            <a:pPr marL="389255" marR="635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Direct</a:t>
            </a:r>
            <a:r>
              <a:rPr b="1" spc="2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vs.</a:t>
            </a:r>
            <a:r>
              <a:rPr b="1" spc="2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Indirect:</a:t>
            </a:r>
            <a:r>
              <a:rPr b="1" spc="2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Some</a:t>
            </a:r>
            <a:r>
              <a:rPr spc="245" dirty="0"/>
              <a:t> </a:t>
            </a:r>
            <a:r>
              <a:rPr dirty="0"/>
              <a:t>gases</a:t>
            </a:r>
            <a:r>
              <a:rPr spc="250" dirty="0"/>
              <a:t> </a:t>
            </a:r>
            <a:r>
              <a:rPr dirty="0"/>
              <a:t>can</a:t>
            </a:r>
            <a:r>
              <a:rPr spc="250" dirty="0"/>
              <a:t> </a:t>
            </a:r>
            <a:r>
              <a:rPr dirty="0"/>
              <a:t>be</a:t>
            </a:r>
            <a:r>
              <a:rPr spc="260" dirty="0"/>
              <a:t> </a:t>
            </a:r>
            <a:r>
              <a:rPr dirty="0"/>
              <a:t>exposed</a:t>
            </a:r>
            <a:r>
              <a:rPr spc="225" dirty="0"/>
              <a:t> </a:t>
            </a:r>
            <a:r>
              <a:rPr dirty="0"/>
              <a:t>to</a:t>
            </a:r>
            <a:r>
              <a:rPr spc="254" dirty="0"/>
              <a:t> </a:t>
            </a:r>
            <a:r>
              <a:rPr spc="-25" dirty="0"/>
              <a:t>the 	</a:t>
            </a:r>
            <a:r>
              <a:rPr dirty="0"/>
              <a:t>crystal  directly,</a:t>
            </a:r>
            <a:r>
              <a:rPr spc="5" dirty="0"/>
              <a:t>  </a:t>
            </a:r>
            <a:r>
              <a:rPr dirty="0"/>
              <a:t>but</a:t>
            </a:r>
            <a:r>
              <a:rPr spc="10" dirty="0"/>
              <a:t>  </a:t>
            </a:r>
            <a:r>
              <a:rPr dirty="0"/>
              <a:t>for  liquids  and</a:t>
            </a:r>
            <a:r>
              <a:rPr spc="-10" dirty="0"/>
              <a:t>  </a:t>
            </a:r>
            <a:r>
              <a:rPr dirty="0"/>
              <a:t>corrosive  gases,</a:t>
            </a:r>
            <a:r>
              <a:rPr spc="-5" dirty="0"/>
              <a:t>  </a:t>
            </a:r>
            <a:r>
              <a:rPr spc="-50" dirty="0"/>
              <a:t>a 	</a:t>
            </a:r>
            <a:r>
              <a:rPr dirty="0"/>
              <a:t>diaphragm</a:t>
            </a:r>
            <a:r>
              <a:rPr spc="-60" dirty="0"/>
              <a:t> </a:t>
            </a:r>
            <a:r>
              <a:rPr dirty="0"/>
              <a:t>transmits</a:t>
            </a:r>
            <a:r>
              <a:rPr spc="-95" dirty="0"/>
              <a:t> </a:t>
            </a:r>
            <a:r>
              <a:rPr dirty="0"/>
              <a:t>pressure</a:t>
            </a:r>
            <a:r>
              <a:rPr spc="-85" dirty="0"/>
              <a:t> </a:t>
            </a:r>
            <a:r>
              <a:rPr dirty="0"/>
              <a:t>to</a:t>
            </a:r>
            <a:r>
              <a:rPr spc="-85" dirty="0"/>
              <a:t> </a:t>
            </a:r>
            <a:r>
              <a:rPr dirty="0"/>
              <a:t>the</a:t>
            </a:r>
            <a:r>
              <a:rPr spc="-100" dirty="0"/>
              <a:t> </a:t>
            </a:r>
            <a:r>
              <a:rPr spc="-10" dirty="0"/>
              <a:t>crystal.</a:t>
            </a: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Signal</a:t>
            </a:r>
            <a:r>
              <a:rPr b="1" spc="4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Type:</a:t>
            </a:r>
            <a:r>
              <a:rPr b="1" spc="43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More</a:t>
            </a:r>
            <a:r>
              <a:rPr spc="415" dirty="0"/>
              <a:t> </a:t>
            </a:r>
            <a:r>
              <a:rPr dirty="0"/>
              <a:t>applicable</a:t>
            </a:r>
            <a:r>
              <a:rPr spc="420" dirty="0"/>
              <a:t> </a:t>
            </a:r>
            <a:r>
              <a:rPr dirty="0"/>
              <a:t>to</a:t>
            </a:r>
            <a:r>
              <a:rPr spc="409" dirty="0"/>
              <a:t> </a:t>
            </a:r>
            <a:r>
              <a:rPr spc="-25" dirty="0"/>
              <a:t>short-</a:t>
            </a:r>
            <a:r>
              <a:rPr dirty="0"/>
              <a:t>duration</a:t>
            </a:r>
            <a:r>
              <a:rPr spc="425" dirty="0"/>
              <a:t> </a:t>
            </a:r>
            <a:r>
              <a:rPr spc="-10" dirty="0"/>
              <a:t>changes 	</a:t>
            </a:r>
            <a:r>
              <a:rPr dirty="0"/>
              <a:t>than</a:t>
            </a:r>
            <a:r>
              <a:rPr spc="-40" dirty="0"/>
              <a:t> </a:t>
            </a:r>
            <a:r>
              <a:rPr spc="-25" dirty="0"/>
              <a:t>steady-</a:t>
            </a:r>
            <a:r>
              <a:rPr dirty="0"/>
              <a:t>state </a:t>
            </a:r>
            <a:r>
              <a:rPr spc="-10" dirty="0"/>
              <a:t>pressure.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10522" y="124572"/>
            <a:ext cx="784034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8445" marR="5080" indent="-2786380">
              <a:lnSpc>
                <a:spcPct val="1002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Piezoelectric Sensors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6083" y="4106055"/>
            <a:ext cx="870839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635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Passive</a:t>
            </a:r>
            <a:r>
              <a:rPr sz="2200" b="1" spc="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Nature: </a:t>
            </a:r>
            <a:r>
              <a:rPr sz="2200" dirty="0">
                <a:latin typeface="Verdana"/>
                <a:cs typeface="Verdana"/>
              </a:rPr>
              <a:t>These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totally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passive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do </a:t>
            </a:r>
            <a:r>
              <a:rPr sz="2200" dirty="0">
                <a:latin typeface="Verdana"/>
                <a:cs typeface="Verdana"/>
              </a:rPr>
              <a:t>not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require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power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supply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element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itself.</a:t>
            </a:r>
            <a:endParaRPr sz="2200">
              <a:latin typeface="Verdana"/>
              <a:cs typeface="Verdana"/>
            </a:endParaRPr>
          </a:p>
          <a:p>
            <a:pPr marL="390525" marR="635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  <a:tab pos="1600835" algn="l"/>
                <a:tab pos="320357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Simple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Circuitry: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dirty="0">
                <a:latin typeface="Verdana"/>
                <a:cs typeface="Verdana"/>
              </a:rPr>
              <a:t>Only</a:t>
            </a:r>
            <a:r>
              <a:rPr sz="2200" spc="3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requires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high-</a:t>
            </a:r>
            <a:r>
              <a:rPr sz="2200" dirty="0">
                <a:latin typeface="Verdana"/>
                <a:cs typeface="Verdana"/>
              </a:rPr>
              <a:t>input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impedance </a:t>
            </a:r>
            <a:r>
              <a:rPr sz="2200" dirty="0">
                <a:latin typeface="Verdana"/>
                <a:cs typeface="Verdana"/>
              </a:rPr>
              <a:t>voltmeter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FET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35" dirty="0">
                <a:latin typeface="Verdana"/>
                <a:cs typeface="Verdana"/>
              </a:rPr>
              <a:t>op-</a:t>
            </a:r>
            <a:r>
              <a:rPr sz="2200" dirty="0">
                <a:latin typeface="Verdana"/>
                <a:cs typeface="Verdana"/>
              </a:rPr>
              <a:t>amp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indicator.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Switching:</a:t>
            </a:r>
            <a:r>
              <a:rPr sz="2200" b="1" spc="2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output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2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applied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directly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op- </a:t>
            </a:r>
            <a:r>
              <a:rPr sz="2200" dirty="0">
                <a:latin typeface="Verdana"/>
                <a:cs typeface="Verdana"/>
              </a:rPr>
              <a:t>amp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switching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applications.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4123" y="1386839"/>
            <a:ext cx="6085332" cy="29672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6018" y="426127"/>
            <a:ext cx="91655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Semiconductor</a:t>
            </a:r>
            <a:r>
              <a:rPr spc="-40" dirty="0"/>
              <a:t> </a:t>
            </a:r>
            <a:r>
              <a:rPr dirty="0"/>
              <a:t>Pressure</a:t>
            </a:r>
            <a:r>
              <a:rPr spc="-45" dirty="0"/>
              <a:t> </a:t>
            </a:r>
            <a:r>
              <a:rPr spc="-10" dirty="0"/>
              <a:t>Gauges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4700" y="1276024"/>
            <a:ext cx="9043035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  <a:tab pos="2549525" algn="l"/>
                <a:tab pos="4789170" algn="l"/>
                <a:tab pos="6875145" algn="l"/>
                <a:tab pos="7639684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Integration: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Piezoresistive,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piezoelectric,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capacitive </a:t>
            </a:r>
            <a:r>
              <a:rPr sz="2200" dirty="0">
                <a:latin typeface="Verdana"/>
                <a:cs typeface="Verdana"/>
              </a:rPr>
              <a:t>gauges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fabricated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using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semiconductor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techniques.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Construction:</a:t>
            </a:r>
            <a:r>
              <a:rPr sz="2200" b="1" spc="2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Built</a:t>
            </a:r>
            <a:r>
              <a:rPr sz="2200" spc="2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silicon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base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silicon</a:t>
            </a:r>
            <a:r>
              <a:rPr sz="2200" spc="2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dioxide insulator.</a:t>
            </a:r>
            <a:endParaRPr sz="2200">
              <a:latin typeface="Verdana"/>
              <a:cs typeface="Verdana"/>
            </a:endParaRPr>
          </a:p>
          <a:p>
            <a:pPr marL="390525" marR="6985" indent="-378460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Piezoresistive</a:t>
            </a:r>
            <a:r>
              <a:rPr sz="2200" b="1" spc="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Method:</a:t>
            </a:r>
            <a:r>
              <a:rPr sz="2200" b="1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Piezoresistive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strips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metallized </a:t>
            </a:r>
            <a:r>
              <a:rPr sz="2200" dirty="0">
                <a:latin typeface="Verdana"/>
                <a:cs typeface="Verdana"/>
              </a:rPr>
              <a:t>connections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deposited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onto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oxidized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silicon.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0679" y="4383023"/>
            <a:ext cx="6632448" cy="28559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31614" y="426127"/>
            <a:ext cx="68002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Materials</a:t>
            </a:r>
            <a:r>
              <a:rPr spc="-5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Durability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09660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889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Standard</a:t>
            </a:r>
            <a:r>
              <a:rPr sz="2200" b="1" spc="5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Material:</a:t>
            </a:r>
            <a:r>
              <a:rPr sz="2200" b="1" spc="5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Stainless</a:t>
            </a:r>
            <a:r>
              <a:rPr sz="2200" spc="4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steel</a:t>
            </a:r>
            <a:r>
              <a:rPr sz="2200" spc="4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48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suitable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49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most 	pressure-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diaphragms.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Corrosive</a:t>
            </a:r>
            <a:r>
              <a:rPr sz="2200" b="1" spc="26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Environments:</a:t>
            </a:r>
            <a:r>
              <a:rPr sz="2200" b="1" spc="26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Very</a:t>
            </a:r>
            <a:r>
              <a:rPr sz="2200" spc="2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corrosive</a:t>
            </a:r>
            <a:r>
              <a:rPr sz="2200" spc="24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substances 	</a:t>
            </a:r>
            <a:r>
              <a:rPr sz="2200" dirty="0">
                <a:latin typeface="Verdana"/>
                <a:cs typeface="Verdana"/>
              </a:rPr>
              <a:t>require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inert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metals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like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platinum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palladium.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Wingdings"/>
              <a:buChar char="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High</a:t>
            </a:r>
            <a:r>
              <a:rPr sz="2200" b="1" spc="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Pressure</a:t>
            </a:r>
            <a:r>
              <a:rPr sz="2200" b="1" spc="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Design:</a:t>
            </a:r>
            <a:r>
              <a:rPr sz="2200" b="1" spc="5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extreme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pressures,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thick 	</a:t>
            </a:r>
            <a:r>
              <a:rPr sz="2200" dirty="0">
                <a:latin typeface="Verdana"/>
                <a:cs typeface="Verdana"/>
              </a:rPr>
              <a:t>steel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plates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cross-</a:t>
            </a:r>
            <a:r>
              <a:rPr sz="2200" dirty="0">
                <a:latin typeface="Verdana"/>
                <a:cs typeface="Verdana"/>
              </a:rPr>
              <a:t>section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plugs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to 	</a:t>
            </a:r>
            <a:r>
              <a:rPr sz="2200" dirty="0">
                <a:latin typeface="Verdana"/>
                <a:cs typeface="Verdana"/>
              </a:rPr>
              <a:t>manage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absolute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force.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09839" y="124572"/>
            <a:ext cx="803910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0580" marR="5080" indent="-2088514">
              <a:lnSpc>
                <a:spcPct val="100200"/>
              </a:lnSpc>
              <a:spcBef>
                <a:spcPts val="100"/>
              </a:spcBef>
            </a:pPr>
            <a:r>
              <a:rPr dirty="0"/>
              <a:t>Low Gas</a:t>
            </a:r>
            <a:r>
              <a:rPr spc="-10" dirty="0"/>
              <a:t> </a:t>
            </a:r>
            <a:r>
              <a:rPr dirty="0"/>
              <a:t>Pressure</a:t>
            </a:r>
            <a:r>
              <a:rPr spc="-40" dirty="0"/>
              <a:t> </a:t>
            </a:r>
            <a:r>
              <a:rPr spc="-10" dirty="0"/>
              <a:t>(Vacuum) Measurement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6485" y="1726907"/>
            <a:ext cx="878586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7355" marR="4191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286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Vacuum</a:t>
            </a:r>
            <a:r>
              <a:rPr sz="2200" b="1" spc="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sz="2200" b="1" spc="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High-</a:t>
            </a:r>
            <a:r>
              <a:rPr sz="2200" dirty="0">
                <a:latin typeface="Verdana"/>
                <a:cs typeface="Verdana"/>
              </a:rPr>
              <a:t>vacuum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refers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pressures 	</a:t>
            </a:r>
            <a:r>
              <a:rPr sz="2200" dirty="0">
                <a:latin typeface="Verdana"/>
                <a:cs typeface="Verdana"/>
              </a:rPr>
              <a:t>around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0.1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(10</a:t>
            </a:r>
            <a:r>
              <a:rPr sz="2175" spc="-30" baseline="24904" dirty="0">
                <a:latin typeface="Verdana"/>
                <a:cs typeface="Verdana"/>
              </a:rPr>
              <a:t>-</a:t>
            </a:r>
            <a:r>
              <a:rPr sz="2175" baseline="24904" dirty="0">
                <a:latin typeface="Verdana"/>
                <a:cs typeface="Verdana"/>
              </a:rPr>
              <a:t>3</a:t>
            </a:r>
            <a:r>
              <a:rPr sz="2175" spc="390" baseline="249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mm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mercury).</a:t>
            </a:r>
            <a:endParaRPr sz="2200">
              <a:latin typeface="Verdana"/>
              <a:cs typeface="Verdana"/>
            </a:endParaRPr>
          </a:p>
          <a:p>
            <a:pPr marL="4279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4279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Conversion:</a:t>
            </a:r>
            <a:r>
              <a:rPr sz="2200" b="1" spc="-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mm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mercury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equal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133.3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Pa.</a:t>
            </a:r>
            <a:endParaRPr sz="2200">
              <a:latin typeface="Verdana"/>
              <a:cs typeface="Verdana"/>
            </a:endParaRPr>
          </a:p>
          <a:p>
            <a:pPr marL="427355" marR="43180" indent="-377190" algn="just">
              <a:lnSpc>
                <a:spcPct val="150000"/>
              </a:lnSpc>
              <a:buFont typeface="Wingdings"/>
              <a:buChar char=""/>
              <a:tabLst>
                <a:tab pos="4286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Methodology:</a:t>
            </a:r>
            <a:r>
              <a:rPr sz="2200" b="1" spc="-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Standard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displacement</a:t>
            </a:r>
            <a:r>
              <a:rPr sz="2200" spc="-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methods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become 	</a:t>
            </a:r>
            <a:r>
              <a:rPr sz="2200" dirty="0">
                <a:latin typeface="Verdana"/>
                <a:cs typeface="Verdana"/>
              </a:rPr>
              <a:t>useless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very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low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pressures;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vacuum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gauges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used 	</a:t>
            </a:r>
            <a:r>
              <a:rPr sz="2200" spc="-10" dirty="0">
                <a:latin typeface="Verdana"/>
                <a:cs typeface="Verdana"/>
              </a:rPr>
              <a:t>instead.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07005" y="426127"/>
            <a:ext cx="484568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20" dirty="0"/>
              <a:t> </a:t>
            </a:r>
            <a:r>
              <a:rPr dirty="0"/>
              <a:t>Pirani</a:t>
            </a:r>
            <a:r>
              <a:rPr spc="-70" dirty="0"/>
              <a:t> </a:t>
            </a:r>
            <a:r>
              <a:rPr spc="-10" dirty="0"/>
              <a:t>Gauge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7802" y="1726907"/>
            <a:ext cx="9011920" cy="404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4655" marR="304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159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Working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Principle:</a:t>
            </a:r>
            <a:r>
              <a:rPr sz="2200" b="1" spc="-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Based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fact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thermal 	</a:t>
            </a:r>
            <a:r>
              <a:rPr sz="2200" dirty="0">
                <a:latin typeface="Verdana"/>
                <a:cs typeface="Verdana"/>
              </a:rPr>
              <a:t>conductivity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gases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decreases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proportion</a:t>
            </a:r>
            <a:r>
              <a:rPr sz="2200" spc="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at 	</a:t>
            </a:r>
            <a:r>
              <a:rPr sz="2200" dirty="0">
                <a:latin typeface="Verdana"/>
                <a:cs typeface="Verdana"/>
              </a:rPr>
              <a:t>low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levels.</a:t>
            </a:r>
            <a:endParaRPr sz="2200">
              <a:latin typeface="Verdana"/>
              <a:cs typeface="Verdana"/>
            </a:endParaRPr>
          </a:p>
          <a:p>
            <a:pPr marL="4152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4152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Construction:</a:t>
            </a:r>
            <a:r>
              <a:rPr sz="2200" b="1" spc="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hot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wire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element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wire.</a:t>
            </a:r>
            <a:endParaRPr sz="2200">
              <a:latin typeface="Verdana"/>
              <a:cs typeface="Verdana"/>
            </a:endParaRPr>
          </a:p>
          <a:p>
            <a:pPr marL="414655" marR="32384" indent="-377190" algn="just">
              <a:lnSpc>
                <a:spcPct val="150000"/>
              </a:lnSpc>
              <a:buFont typeface="Wingdings"/>
              <a:buChar char=""/>
              <a:tabLst>
                <a:tab pos="4159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Measurement:</a:t>
            </a:r>
            <a:r>
              <a:rPr sz="2200" b="1" spc="459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temperature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(and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thus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resistance)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of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wire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measured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deduce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pressure.</a:t>
            </a:r>
            <a:endParaRPr sz="2200">
              <a:latin typeface="Verdana"/>
              <a:cs typeface="Verdana"/>
            </a:endParaRPr>
          </a:p>
          <a:p>
            <a:pPr marL="414655" marR="33020" indent="-377190" algn="just">
              <a:lnSpc>
                <a:spcPct val="150000"/>
              </a:lnSpc>
              <a:buFont typeface="Wingdings"/>
              <a:buChar char=""/>
              <a:tabLst>
                <a:tab pos="4159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Range:</a:t>
            </a:r>
            <a:r>
              <a:rPr sz="2200" b="1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Effective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pressures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</a:t>
            </a:r>
            <a:r>
              <a:rPr sz="2200" spc="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mm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10</a:t>
            </a:r>
            <a:r>
              <a:rPr sz="2175" spc="-30" baseline="24904" dirty="0">
                <a:latin typeface="Verdana"/>
                <a:cs typeface="Verdana"/>
              </a:rPr>
              <a:t>-</a:t>
            </a:r>
            <a:r>
              <a:rPr sz="2175" baseline="24904" dirty="0">
                <a:latin typeface="Verdana"/>
                <a:cs typeface="Verdana"/>
              </a:rPr>
              <a:t>3</a:t>
            </a:r>
            <a:r>
              <a:rPr sz="2175" spc="457" baseline="24904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mm 	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mercury.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34750" y="426127"/>
            <a:ext cx="839025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Ion</a:t>
            </a:r>
            <a:r>
              <a:rPr spc="-30" dirty="0"/>
              <a:t> </a:t>
            </a:r>
            <a:r>
              <a:rPr dirty="0"/>
              <a:t>Gauges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-10" dirty="0"/>
              <a:t>Recalibration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0036" y="1518284"/>
            <a:ext cx="8893175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55880" algn="just">
              <a:lnSpc>
                <a:spcPct val="150000"/>
              </a:lnSpc>
              <a:spcBef>
                <a:spcPts val="100"/>
              </a:spcBef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Ion</a:t>
            </a:r>
            <a:r>
              <a:rPr sz="2200" b="1" spc="40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Gauge:</a:t>
            </a:r>
            <a:r>
              <a:rPr sz="2200" b="1" spc="3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significantly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lower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pressures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down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to 10</a:t>
            </a:r>
            <a:r>
              <a:rPr sz="2175" spc="-37" baseline="24904" dirty="0">
                <a:latin typeface="Verdana"/>
                <a:cs typeface="Verdana"/>
              </a:rPr>
              <a:t>-</a:t>
            </a:r>
            <a:r>
              <a:rPr sz="2175" baseline="24904" dirty="0">
                <a:latin typeface="Verdana"/>
                <a:cs typeface="Verdana"/>
              </a:rPr>
              <a:t>9</a:t>
            </a:r>
            <a:r>
              <a:rPr sz="2175" spc="390" baseline="249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mm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mercury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1.3 ×</a:t>
            </a:r>
            <a:r>
              <a:rPr sz="2200" spc="-30" dirty="0">
                <a:latin typeface="Verdana"/>
                <a:cs typeface="Verdana"/>
              </a:rPr>
              <a:t> 10</a:t>
            </a:r>
            <a:r>
              <a:rPr sz="2175" spc="-44" baseline="24904" dirty="0">
                <a:latin typeface="Verdana"/>
                <a:cs typeface="Verdana"/>
              </a:rPr>
              <a:t>-</a:t>
            </a:r>
            <a:r>
              <a:rPr sz="2175" baseline="24904" dirty="0">
                <a:latin typeface="Verdana"/>
                <a:cs typeface="Verdana"/>
              </a:rPr>
              <a:t>7</a:t>
            </a:r>
            <a:r>
              <a:rPr sz="2175" spc="390" baseline="24904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Pa.</a:t>
            </a:r>
            <a:endParaRPr sz="2200">
              <a:latin typeface="Verdana"/>
              <a:cs typeface="Verdana"/>
            </a:endParaRPr>
          </a:p>
          <a:p>
            <a:pPr marL="63500" marR="55880" algn="just">
              <a:lnSpc>
                <a:spcPct val="150000"/>
              </a:lnSpc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Maintenance:</a:t>
            </a:r>
            <a:r>
              <a:rPr sz="2200" b="1" spc="459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critical</a:t>
            </a:r>
            <a:r>
              <a:rPr sz="2200" spc="4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characteristic</a:t>
            </a:r>
            <a:r>
              <a:rPr sz="2200" spc="4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all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vacuum</a:t>
            </a:r>
            <a:r>
              <a:rPr sz="2200" spc="4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gauge </a:t>
            </a:r>
            <a:r>
              <a:rPr sz="2200" dirty="0">
                <a:latin typeface="Verdana"/>
                <a:cs typeface="Verdana"/>
              </a:rPr>
              <a:t>heads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they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require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recalibration</a:t>
            </a:r>
            <a:r>
              <a:rPr sz="2200" spc="3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whenever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head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is </a:t>
            </a:r>
            <a:r>
              <a:rPr sz="2200" spc="-10" dirty="0">
                <a:latin typeface="Verdana"/>
                <a:cs typeface="Verdana"/>
              </a:rPr>
              <a:t>replaced.</a:t>
            </a:r>
            <a:endParaRPr sz="2200">
              <a:latin typeface="Verdana"/>
              <a:cs typeface="Verdana"/>
            </a:endParaRPr>
          </a:p>
          <a:p>
            <a:pPr marL="63500" marR="53975" algn="just">
              <a:lnSpc>
                <a:spcPct val="150000"/>
              </a:lnSpc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Summary:</a:t>
            </a:r>
            <a:r>
              <a:rPr sz="2200" b="1" spc="4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4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4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spans</a:t>
            </a:r>
            <a:r>
              <a:rPr sz="2200" spc="4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59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vast</a:t>
            </a:r>
            <a:r>
              <a:rPr sz="2200" spc="4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range</a:t>
            </a:r>
            <a:r>
              <a:rPr sz="2200" spc="46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of </a:t>
            </a:r>
            <a:r>
              <a:rPr sz="2200" dirty="0">
                <a:latin typeface="Verdana"/>
                <a:cs typeface="Verdana"/>
              </a:rPr>
              <a:t>technologies,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tubes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molecular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thermal conductivity.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3604" y="124572"/>
            <a:ext cx="850963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300" marR="5080" indent="-2388235">
              <a:lnSpc>
                <a:spcPct val="100200"/>
              </a:lnSpc>
              <a:spcBef>
                <a:spcPts val="100"/>
              </a:spcBef>
            </a:pPr>
            <a:r>
              <a:rPr dirty="0"/>
              <a:t>Summary</a:t>
            </a:r>
            <a:r>
              <a:rPr spc="-25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dirty="0"/>
              <a:t>Pressure</a:t>
            </a:r>
            <a:r>
              <a:rPr spc="-30" dirty="0"/>
              <a:t> </a:t>
            </a:r>
            <a:r>
              <a:rPr spc="-10" dirty="0"/>
              <a:t>Sensing Technologies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0997" y="1309524"/>
            <a:ext cx="9305290" cy="608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5455" marR="93980" indent="-37719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667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Fundamental</a:t>
            </a:r>
            <a:r>
              <a:rPr sz="2200" b="1" spc="4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Principles:</a:t>
            </a:r>
            <a:r>
              <a:rPr sz="2200" b="1" spc="4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45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force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acting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per 	</a:t>
            </a:r>
            <a:r>
              <a:rPr sz="2200" dirty="0">
                <a:latin typeface="Verdana"/>
                <a:cs typeface="Verdana"/>
              </a:rPr>
              <a:t>unit</a:t>
            </a:r>
            <a:r>
              <a:rPr sz="2200" spc="-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area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(N/m</a:t>
            </a:r>
            <a:r>
              <a:rPr sz="2175" baseline="24904" dirty="0">
                <a:latin typeface="Verdana"/>
                <a:cs typeface="Verdana"/>
              </a:rPr>
              <a:t>2</a:t>
            </a:r>
            <a:r>
              <a:rPr sz="2175" spc="322" baseline="2490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Pascals),</a:t>
            </a:r>
            <a:r>
              <a:rPr sz="2200" spc="-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often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measured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through</a:t>
            </a:r>
            <a:r>
              <a:rPr sz="2200" spc="-4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mechanical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displacement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diaphragms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tubes.</a:t>
            </a:r>
            <a:endParaRPr sz="2200">
              <a:latin typeface="Verdana"/>
              <a:cs typeface="Verdana"/>
            </a:endParaRPr>
          </a:p>
          <a:p>
            <a:pPr marL="466090" indent="-377190" algn="just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4660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Transduction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Methods:</a:t>
            </a:r>
            <a:endParaRPr sz="2200">
              <a:latin typeface="Verdana"/>
              <a:cs typeface="Verdana"/>
            </a:endParaRPr>
          </a:p>
          <a:p>
            <a:pPr marL="905510" marR="96520" lvl="1" indent="-314325">
              <a:lnSpc>
                <a:spcPct val="122000"/>
              </a:lnSpc>
              <a:spcBef>
                <a:spcPts val="215"/>
              </a:spcBef>
              <a:buFont typeface="Wingdings"/>
              <a:buChar char=""/>
              <a:tabLst>
                <a:tab pos="905510" algn="l"/>
                <a:tab pos="2650490" algn="l"/>
                <a:tab pos="4025900" algn="l"/>
                <a:tab pos="5250180" algn="l"/>
                <a:tab pos="5662930" algn="l"/>
                <a:tab pos="6475095" algn="l"/>
                <a:tab pos="7616825" algn="l"/>
                <a:tab pos="8187690" algn="l"/>
                <a:tab pos="8625205" algn="l"/>
              </a:tabLst>
            </a:pPr>
            <a:r>
              <a:rPr sz="1950" b="1" spc="-10" dirty="0">
                <a:solidFill>
                  <a:srgbClr val="FF0000"/>
                </a:solidFill>
                <a:latin typeface="Verdana"/>
                <a:cs typeface="Verdana"/>
              </a:rPr>
              <a:t>Capacitive:</a:t>
            </a: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Measures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changes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in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plate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spacing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(</a:t>
            </a:r>
            <a:r>
              <a:rPr sz="1950" i="1" spc="-25" dirty="0">
                <a:latin typeface="Verdana"/>
                <a:cs typeface="Verdana"/>
              </a:rPr>
              <a:t>d</a:t>
            </a:r>
            <a:r>
              <a:rPr sz="1950" spc="-25" dirty="0">
                <a:latin typeface="Verdana"/>
                <a:cs typeface="Verdana"/>
              </a:rPr>
              <a:t>)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to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alter frequency.</a:t>
            </a:r>
            <a:endParaRPr sz="1950">
              <a:latin typeface="Verdana"/>
              <a:cs typeface="Verdana"/>
            </a:endParaRPr>
          </a:p>
          <a:p>
            <a:pPr marL="905510" marR="94615" lvl="1" indent="-314325">
              <a:lnSpc>
                <a:spcPts val="2860"/>
              </a:lnSpc>
              <a:spcBef>
                <a:spcPts val="165"/>
              </a:spcBef>
              <a:buFont typeface="Wingdings"/>
              <a:buChar char=""/>
              <a:tabLst>
                <a:tab pos="905510" algn="l"/>
                <a:tab pos="2351405" algn="l"/>
                <a:tab pos="4283710" algn="l"/>
                <a:tab pos="5156835" algn="l"/>
                <a:tab pos="7195820" algn="l"/>
                <a:tab pos="8948420" algn="l"/>
              </a:tabLst>
            </a:pPr>
            <a:r>
              <a:rPr sz="1950" b="1" spc="-10" dirty="0">
                <a:solidFill>
                  <a:srgbClr val="FF0000"/>
                </a:solidFill>
                <a:latin typeface="Verdana"/>
                <a:cs typeface="Verdana"/>
              </a:rPr>
              <a:t>Variable</a:t>
            </a: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1950" b="1" spc="-10" dirty="0">
                <a:solidFill>
                  <a:srgbClr val="FF0000"/>
                </a:solidFill>
                <a:latin typeface="Verdana"/>
                <a:cs typeface="Verdana"/>
              </a:rPr>
              <a:t>Reluctance:</a:t>
            </a: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1950" spc="-20" dirty="0">
                <a:latin typeface="Verdana"/>
                <a:cs typeface="Verdana"/>
              </a:rPr>
              <a:t>Uses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ferromagnetic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diaphragms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25" dirty="0">
                <a:latin typeface="Verdana"/>
                <a:cs typeface="Verdana"/>
              </a:rPr>
              <a:t>to </a:t>
            </a:r>
            <a:r>
              <a:rPr sz="1950" dirty="0">
                <a:latin typeface="Verdana"/>
                <a:cs typeface="Verdana"/>
              </a:rPr>
              <a:t>change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magnetic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path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reluctance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and</a:t>
            </a:r>
            <a:r>
              <a:rPr sz="1950" spc="6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coil</a:t>
            </a:r>
            <a:r>
              <a:rPr sz="1950" spc="7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inductance.</a:t>
            </a:r>
            <a:endParaRPr sz="1950">
              <a:latin typeface="Verdana"/>
              <a:cs typeface="Verdana"/>
            </a:endParaRPr>
          </a:p>
          <a:p>
            <a:pPr marL="905510" marR="95885" lvl="1" indent="-314325">
              <a:lnSpc>
                <a:spcPts val="2840"/>
              </a:lnSpc>
              <a:spcBef>
                <a:spcPts val="10"/>
              </a:spcBef>
              <a:buFont typeface="Wingdings"/>
              <a:buChar char=""/>
              <a:tabLst>
                <a:tab pos="905510" algn="l"/>
                <a:tab pos="5277485" algn="l"/>
                <a:tab pos="6718300" algn="l"/>
                <a:tab pos="8453755" algn="l"/>
              </a:tabLst>
            </a:pPr>
            <a:r>
              <a:rPr sz="1950" b="1" spc="-10" dirty="0">
                <a:solidFill>
                  <a:srgbClr val="FF0000"/>
                </a:solidFill>
                <a:latin typeface="Verdana"/>
                <a:cs typeface="Verdana"/>
              </a:rPr>
              <a:t>Piezoelectric/Piezoresistive:</a:t>
            </a: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Converts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mechanical</a:t>
            </a:r>
            <a:r>
              <a:rPr sz="1950" dirty="0">
                <a:latin typeface="Verdana"/>
                <a:cs typeface="Verdana"/>
              </a:rPr>
              <a:t>	</a:t>
            </a:r>
            <a:r>
              <a:rPr sz="1950" spc="-10" dirty="0">
                <a:latin typeface="Verdana"/>
                <a:cs typeface="Verdana"/>
              </a:rPr>
              <a:t>stress </a:t>
            </a:r>
            <a:r>
              <a:rPr sz="1950" dirty="0">
                <a:latin typeface="Verdana"/>
                <a:cs typeface="Verdana"/>
              </a:rPr>
              <a:t>directly</a:t>
            </a:r>
            <a:r>
              <a:rPr sz="1950" spc="22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into</a:t>
            </a:r>
            <a:r>
              <a:rPr sz="1950" spc="2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voltage</a:t>
            </a:r>
            <a:r>
              <a:rPr sz="1950" spc="21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or</a:t>
            </a:r>
            <a:r>
              <a:rPr sz="1950" spc="21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resistance</a:t>
            </a:r>
            <a:r>
              <a:rPr sz="1950" spc="21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changes,</a:t>
            </a:r>
            <a:r>
              <a:rPr sz="1950" spc="21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often</a:t>
            </a:r>
            <a:r>
              <a:rPr sz="1950" spc="2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integrated</a:t>
            </a:r>
            <a:r>
              <a:rPr sz="1950" spc="215" dirty="0">
                <a:latin typeface="Verdana"/>
                <a:cs typeface="Verdana"/>
              </a:rPr>
              <a:t> </a:t>
            </a:r>
            <a:r>
              <a:rPr sz="1950" spc="-20" dirty="0">
                <a:latin typeface="Verdana"/>
                <a:cs typeface="Verdana"/>
              </a:rPr>
              <a:t>into</a:t>
            </a:r>
            <a:endParaRPr sz="1950">
              <a:latin typeface="Verdana"/>
              <a:cs typeface="Verdana"/>
            </a:endParaRPr>
          </a:p>
          <a:p>
            <a:pPr marL="905510">
              <a:lnSpc>
                <a:spcPct val="100000"/>
              </a:lnSpc>
              <a:spcBef>
                <a:spcPts val="340"/>
              </a:spcBef>
            </a:pPr>
            <a:r>
              <a:rPr sz="1950" dirty="0">
                <a:latin typeface="Verdana"/>
                <a:cs typeface="Verdana"/>
              </a:rPr>
              <a:t>silicon</a:t>
            </a:r>
            <a:r>
              <a:rPr sz="1950" spc="8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bases.</a:t>
            </a:r>
            <a:endParaRPr sz="1950">
              <a:latin typeface="Verdana"/>
              <a:cs typeface="Verdana"/>
            </a:endParaRPr>
          </a:p>
          <a:p>
            <a:pPr marL="465455" marR="92710" indent="-377190" algn="just">
              <a:lnSpc>
                <a:spcPts val="3960"/>
              </a:lnSpc>
              <a:buFont typeface="Wingdings"/>
              <a:buChar char=""/>
              <a:tabLst>
                <a:tab pos="4667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Environmental</a:t>
            </a:r>
            <a:r>
              <a:rPr sz="2200" b="1" spc="-5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Versatility:</a:t>
            </a:r>
            <a:r>
              <a:rPr sz="2200" b="1" spc="-6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Devices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range</a:t>
            </a:r>
            <a:r>
              <a:rPr sz="2200" spc="-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domestic 	</a:t>
            </a:r>
            <a:r>
              <a:rPr sz="2200" dirty="0">
                <a:latin typeface="Verdana"/>
                <a:cs typeface="Verdana"/>
              </a:rPr>
              <a:t>aneroid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barometers</a:t>
            </a:r>
            <a:r>
              <a:rPr sz="2200" spc="4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industrial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high-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plugs</a:t>
            </a:r>
            <a:r>
              <a:rPr sz="2200" spc="3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highly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specialized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vacuum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gauges.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2021" y="426127"/>
            <a:ext cx="883348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Conclusion</a:t>
            </a:r>
            <a:r>
              <a:rPr spc="-6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Key</a:t>
            </a:r>
            <a:r>
              <a:rPr spc="-5" dirty="0"/>
              <a:t> </a:t>
            </a:r>
            <a:r>
              <a:rPr spc="-10" dirty="0"/>
              <a:t>Takeaways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178" y="1381815"/>
            <a:ext cx="9213215" cy="5909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0525" marR="5080" indent="-378460" algn="just">
              <a:lnSpc>
                <a:spcPct val="152300"/>
              </a:lnSpc>
              <a:spcBef>
                <a:spcPts val="90"/>
              </a:spcBef>
              <a:buFont typeface="Wingdings"/>
              <a:buChar char=""/>
              <a:tabLst>
                <a:tab pos="390525" algn="l"/>
              </a:tabLst>
            </a:pP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Range</a:t>
            </a:r>
            <a:r>
              <a:rPr sz="1950" b="1" spc="15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Specificity:</a:t>
            </a:r>
            <a:r>
              <a:rPr sz="1950" b="1" spc="15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Sensor</a:t>
            </a:r>
            <a:r>
              <a:rPr sz="1950" spc="114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selection</a:t>
            </a:r>
            <a:r>
              <a:rPr sz="1950" spc="12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12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strictly</a:t>
            </a:r>
            <a:r>
              <a:rPr sz="1950" spc="13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dictated</a:t>
            </a:r>
            <a:r>
              <a:rPr sz="1950" spc="12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by</a:t>
            </a:r>
            <a:r>
              <a:rPr sz="1950" spc="120" dirty="0">
                <a:latin typeface="Verdana"/>
                <a:cs typeface="Verdana"/>
              </a:rPr>
              <a:t>  </a:t>
            </a:r>
            <a:r>
              <a:rPr sz="1950" spc="-25" dirty="0">
                <a:latin typeface="Verdana"/>
                <a:cs typeface="Verdana"/>
              </a:rPr>
              <a:t>the </a:t>
            </a:r>
            <a:r>
              <a:rPr sz="1950" dirty="0">
                <a:latin typeface="Verdana"/>
                <a:cs typeface="Verdana"/>
              </a:rPr>
              <a:t>pressure</a:t>
            </a:r>
            <a:r>
              <a:rPr sz="1950" spc="409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range;</a:t>
            </a:r>
            <a:r>
              <a:rPr sz="1950" spc="42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while</a:t>
            </a:r>
            <a:r>
              <a:rPr sz="1950" spc="43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diaphragms</a:t>
            </a:r>
            <a:r>
              <a:rPr sz="1950" spc="4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suit</a:t>
            </a:r>
            <a:r>
              <a:rPr sz="1950" spc="42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atmospheric</a:t>
            </a:r>
            <a:r>
              <a:rPr sz="1950" spc="42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levels,</a:t>
            </a:r>
            <a:r>
              <a:rPr sz="1950" spc="40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vacuum </a:t>
            </a:r>
            <a:r>
              <a:rPr sz="1950" dirty="0">
                <a:latin typeface="Verdana"/>
                <a:cs typeface="Verdana"/>
              </a:rPr>
              <a:t>measurement</a:t>
            </a:r>
            <a:r>
              <a:rPr sz="1950" spc="210" dirty="0">
                <a:latin typeface="Verdana"/>
                <a:cs typeface="Verdana"/>
              </a:rPr>
              <a:t>   </a:t>
            </a:r>
            <a:r>
              <a:rPr sz="1950" dirty="0">
                <a:latin typeface="Verdana"/>
                <a:cs typeface="Verdana"/>
              </a:rPr>
              <a:t>(below</a:t>
            </a:r>
            <a:r>
              <a:rPr sz="1950" spc="215" dirty="0">
                <a:latin typeface="Verdana"/>
                <a:cs typeface="Verdana"/>
              </a:rPr>
              <a:t>   </a:t>
            </a:r>
            <a:r>
              <a:rPr sz="1950" dirty="0">
                <a:latin typeface="Verdana"/>
                <a:cs typeface="Verdana"/>
              </a:rPr>
              <a:t>0.1</a:t>
            </a:r>
            <a:r>
              <a:rPr sz="1950" spc="210" dirty="0">
                <a:latin typeface="Verdana"/>
                <a:cs typeface="Verdana"/>
              </a:rPr>
              <a:t>   </a:t>
            </a:r>
            <a:r>
              <a:rPr sz="1950" dirty="0">
                <a:latin typeface="Verdana"/>
                <a:cs typeface="Verdana"/>
              </a:rPr>
              <a:t>Pa)</a:t>
            </a:r>
            <a:r>
              <a:rPr sz="1950" spc="210" dirty="0">
                <a:latin typeface="Verdana"/>
                <a:cs typeface="Verdana"/>
              </a:rPr>
              <a:t>   </a:t>
            </a:r>
            <a:r>
              <a:rPr sz="1950" dirty="0">
                <a:latin typeface="Verdana"/>
                <a:cs typeface="Verdana"/>
              </a:rPr>
              <a:t>requires</a:t>
            </a:r>
            <a:r>
              <a:rPr sz="1950" spc="204" dirty="0">
                <a:latin typeface="Verdana"/>
                <a:cs typeface="Verdana"/>
              </a:rPr>
              <a:t>   </a:t>
            </a:r>
            <a:r>
              <a:rPr sz="1950" dirty="0">
                <a:latin typeface="Verdana"/>
                <a:cs typeface="Verdana"/>
              </a:rPr>
              <a:t>specialized</a:t>
            </a:r>
            <a:r>
              <a:rPr sz="1950" spc="215" dirty="0">
                <a:latin typeface="Verdana"/>
                <a:cs typeface="Verdana"/>
              </a:rPr>
              <a:t>   </a:t>
            </a:r>
            <a:r>
              <a:rPr sz="1950" spc="-10" dirty="0">
                <a:latin typeface="Verdana"/>
                <a:cs typeface="Verdana"/>
              </a:rPr>
              <a:t>thermal </a:t>
            </a:r>
            <a:r>
              <a:rPr sz="1950" dirty="0">
                <a:latin typeface="Verdana"/>
                <a:cs typeface="Verdana"/>
              </a:rPr>
              <a:t>conductivity</a:t>
            </a:r>
            <a:r>
              <a:rPr sz="1950" spc="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or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ionization</a:t>
            </a:r>
            <a:r>
              <a:rPr sz="1950" spc="10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gauges.</a:t>
            </a:r>
            <a:endParaRPr sz="1950">
              <a:latin typeface="Verdana"/>
              <a:cs typeface="Verdana"/>
            </a:endParaRPr>
          </a:p>
          <a:p>
            <a:pPr marL="390525" marR="5080" indent="-378460" algn="just">
              <a:lnSpc>
                <a:spcPct val="152300"/>
              </a:lnSpc>
              <a:buFont typeface="Wingdings"/>
              <a:buChar char=""/>
              <a:tabLst>
                <a:tab pos="390525" algn="l"/>
              </a:tabLst>
            </a:pP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Material</a:t>
            </a:r>
            <a:r>
              <a:rPr sz="1950" b="1" spc="48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Integrity:</a:t>
            </a:r>
            <a:r>
              <a:rPr sz="1950" b="1" spc="4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The</a:t>
            </a:r>
            <a:r>
              <a:rPr sz="1950" spc="484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choice</a:t>
            </a:r>
            <a:r>
              <a:rPr sz="1950" spc="4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of</a:t>
            </a:r>
            <a:r>
              <a:rPr sz="1950" spc="4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sensor</a:t>
            </a:r>
            <a:r>
              <a:rPr sz="1950" spc="48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material</a:t>
            </a:r>
            <a:r>
              <a:rPr sz="1950" spc="4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(e.g.,</a:t>
            </a:r>
            <a:r>
              <a:rPr sz="1950" spc="484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stainless </a:t>
            </a:r>
            <a:r>
              <a:rPr sz="1950" dirty="0">
                <a:latin typeface="Verdana"/>
                <a:cs typeface="Verdana"/>
              </a:rPr>
              <a:t>steel,</a:t>
            </a:r>
            <a:r>
              <a:rPr sz="1950" spc="-7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platinum,</a:t>
            </a:r>
            <a:r>
              <a:rPr sz="1950" spc="-6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or</a:t>
            </a:r>
            <a:r>
              <a:rPr sz="1950" spc="-6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palladium)</a:t>
            </a:r>
            <a:r>
              <a:rPr sz="1950" spc="-5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is</a:t>
            </a:r>
            <a:r>
              <a:rPr sz="1950" spc="-6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vital</a:t>
            </a:r>
            <a:r>
              <a:rPr sz="1950" spc="-7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to</a:t>
            </a:r>
            <a:r>
              <a:rPr sz="1950" spc="-7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ensure</a:t>
            </a:r>
            <a:r>
              <a:rPr sz="1950" spc="-6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durability</a:t>
            </a:r>
            <a:r>
              <a:rPr sz="1950" spc="-60" dirty="0">
                <a:latin typeface="Verdana"/>
                <a:cs typeface="Verdana"/>
              </a:rPr>
              <a:t>  </a:t>
            </a:r>
            <a:r>
              <a:rPr sz="1950" spc="-10" dirty="0">
                <a:latin typeface="Verdana"/>
                <a:cs typeface="Verdana"/>
              </a:rPr>
              <a:t>against </a:t>
            </a:r>
            <a:r>
              <a:rPr sz="1950" dirty="0">
                <a:latin typeface="Verdana"/>
                <a:cs typeface="Verdana"/>
              </a:rPr>
              <a:t>corrosive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gases</a:t>
            </a:r>
            <a:r>
              <a:rPr sz="1950" spc="3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or</a:t>
            </a:r>
            <a:r>
              <a:rPr sz="1950" spc="2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liquids.</a:t>
            </a:r>
            <a:endParaRPr sz="1950">
              <a:latin typeface="Verdana"/>
              <a:cs typeface="Verdana"/>
            </a:endParaRPr>
          </a:p>
          <a:p>
            <a:pPr marL="390525" marR="7620" indent="-378460" algn="just">
              <a:lnSpc>
                <a:spcPct val="152300"/>
              </a:lnSpc>
              <a:spcBef>
                <a:spcPts val="5"/>
              </a:spcBef>
              <a:buFont typeface="Wingdings"/>
              <a:buChar char=""/>
              <a:tabLst>
                <a:tab pos="390525" algn="l"/>
              </a:tabLst>
            </a:pP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Electronic</a:t>
            </a:r>
            <a:r>
              <a:rPr sz="1950" b="1" spc="3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Integration:</a:t>
            </a:r>
            <a:r>
              <a:rPr sz="1950" b="1" spc="3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Modern</a:t>
            </a:r>
            <a:r>
              <a:rPr sz="1950" spc="30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sensors</a:t>
            </a:r>
            <a:r>
              <a:rPr sz="1950" spc="3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increasingly</a:t>
            </a:r>
            <a:r>
              <a:rPr sz="1950" spc="320" dirty="0">
                <a:latin typeface="Verdana"/>
                <a:cs typeface="Verdana"/>
              </a:rPr>
              <a:t>  </a:t>
            </a:r>
            <a:r>
              <a:rPr sz="1950" spc="-10" dirty="0">
                <a:latin typeface="Verdana"/>
                <a:cs typeface="Verdana"/>
              </a:rPr>
              <a:t>leverage </a:t>
            </a:r>
            <a:r>
              <a:rPr sz="1950" dirty="0">
                <a:latin typeface="Verdana"/>
                <a:cs typeface="Verdana"/>
              </a:rPr>
              <a:t>semiconductor</a:t>
            </a:r>
            <a:r>
              <a:rPr sz="1950" spc="-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fabrication  to</a:t>
            </a:r>
            <a:r>
              <a:rPr sz="1950" spc="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create</a:t>
            </a:r>
            <a:r>
              <a:rPr sz="1950" spc="-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compact,</a:t>
            </a:r>
            <a:r>
              <a:rPr sz="1950" spc="1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passive,  and  </a:t>
            </a:r>
            <a:r>
              <a:rPr sz="1950" spc="-10" dirty="0">
                <a:latin typeface="Verdana"/>
                <a:cs typeface="Verdana"/>
              </a:rPr>
              <a:t>highly </a:t>
            </a:r>
            <a:r>
              <a:rPr sz="1950" dirty="0">
                <a:latin typeface="Verdana"/>
                <a:cs typeface="Verdana"/>
              </a:rPr>
              <a:t>sensitive</a:t>
            </a:r>
            <a:r>
              <a:rPr sz="1950" spc="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piezoresistive</a:t>
            </a:r>
            <a:r>
              <a:rPr sz="1950" spc="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or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capacitive</a:t>
            </a:r>
            <a:r>
              <a:rPr sz="1950" spc="5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units.</a:t>
            </a:r>
            <a:endParaRPr sz="1950">
              <a:latin typeface="Verdana"/>
              <a:cs typeface="Verdana"/>
            </a:endParaRPr>
          </a:p>
          <a:p>
            <a:pPr marL="390525" marR="6350" indent="-378460" algn="just">
              <a:lnSpc>
                <a:spcPct val="152300"/>
              </a:lnSpc>
              <a:buFont typeface="Wingdings"/>
              <a:buChar char=""/>
              <a:tabLst>
                <a:tab pos="390525" algn="l"/>
              </a:tabLst>
            </a:pP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Calibration</a:t>
            </a:r>
            <a:r>
              <a:rPr sz="1950" b="1" spc="-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1950" b="1" dirty="0">
                <a:solidFill>
                  <a:srgbClr val="FF0000"/>
                </a:solidFill>
                <a:latin typeface="Verdana"/>
                <a:cs typeface="Verdana"/>
              </a:rPr>
              <a:t>Necessity:</a:t>
            </a:r>
            <a:r>
              <a:rPr sz="1950" b="1" spc="-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High-precision</a:t>
            </a:r>
            <a:r>
              <a:rPr sz="1950" spc="-45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applications,</a:t>
            </a:r>
            <a:r>
              <a:rPr sz="1950" spc="-40" dirty="0">
                <a:latin typeface="Verdana"/>
                <a:cs typeface="Verdana"/>
              </a:rPr>
              <a:t>  </a:t>
            </a:r>
            <a:r>
              <a:rPr sz="1950" dirty="0">
                <a:latin typeface="Verdana"/>
                <a:cs typeface="Verdana"/>
              </a:rPr>
              <a:t>particularly</a:t>
            </a:r>
            <a:r>
              <a:rPr sz="1950" spc="-35" dirty="0">
                <a:latin typeface="Verdana"/>
                <a:cs typeface="Verdana"/>
              </a:rPr>
              <a:t>  </a:t>
            </a:r>
            <a:r>
              <a:rPr sz="1950" spc="-25" dirty="0">
                <a:latin typeface="Verdana"/>
                <a:cs typeface="Verdana"/>
              </a:rPr>
              <a:t>in </a:t>
            </a:r>
            <a:r>
              <a:rPr sz="1950" dirty="0">
                <a:latin typeface="Verdana"/>
                <a:cs typeface="Verdana"/>
              </a:rPr>
              <a:t>vacuum</a:t>
            </a:r>
            <a:r>
              <a:rPr sz="1950" spc="3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technology,</a:t>
            </a:r>
            <a:r>
              <a:rPr sz="1950" spc="41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require</a:t>
            </a:r>
            <a:r>
              <a:rPr sz="1950" spc="39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rigorous</a:t>
            </a:r>
            <a:r>
              <a:rPr sz="1950" spc="40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recalibration</a:t>
            </a:r>
            <a:r>
              <a:rPr sz="1950" spc="39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whenever</a:t>
            </a:r>
            <a:r>
              <a:rPr sz="1950" spc="405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sensor </a:t>
            </a:r>
            <a:r>
              <a:rPr sz="1950" dirty="0">
                <a:latin typeface="Verdana"/>
                <a:cs typeface="Verdana"/>
              </a:rPr>
              <a:t>heads</a:t>
            </a:r>
            <a:r>
              <a:rPr sz="1950" spc="5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are</a:t>
            </a:r>
            <a:r>
              <a:rPr sz="1950" spc="45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replaced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to</a:t>
            </a:r>
            <a:r>
              <a:rPr sz="1950" spc="40" dirty="0">
                <a:latin typeface="Verdana"/>
                <a:cs typeface="Verdana"/>
              </a:rPr>
              <a:t> </a:t>
            </a:r>
            <a:r>
              <a:rPr sz="1950" dirty="0">
                <a:latin typeface="Verdana"/>
                <a:cs typeface="Verdana"/>
              </a:rPr>
              <a:t>maintain</a:t>
            </a:r>
            <a:r>
              <a:rPr sz="1950" spc="70" dirty="0">
                <a:latin typeface="Verdana"/>
                <a:cs typeface="Verdana"/>
              </a:rPr>
              <a:t> </a:t>
            </a:r>
            <a:r>
              <a:rPr sz="1950" spc="-10" dirty="0">
                <a:latin typeface="Verdana"/>
                <a:cs typeface="Verdana"/>
              </a:rPr>
              <a:t>accuracy.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202" y="1591274"/>
            <a:ext cx="9213215" cy="555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984" marR="6985" indent="-502920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514984" algn="l"/>
                <a:tab pos="1680210" algn="l"/>
                <a:tab pos="2405380" algn="l"/>
                <a:tab pos="2745740" algn="l"/>
                <a:tab pos="3119120" algn="l"/>
                <a:tab pos="4301490" algn="l"/>
                <a:tab pos="4708525" algn="l"/>
                <a:tab pos="5760085" algn="l"/>
                <a:tab pos="6429375" algn="l"/>
                <a:tab pos="7378065" algn="l"/>
                <a:tab pos="8917305" algn="l"/>
              </a:tabLst>
            </a:pPr>
            <a:r>
              <a:rPr sz="2200" spc="-10" dirty="0">
                <a:latin typeface="Verdana"/>
                <a:cs typeface="Verdana"/>
              </a:rPr>
              <a:t>Explain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how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defined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liquids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gases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compared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to </a:t>
            </a:r>
            <a:r>
              <a:rPr sz="2200" spc="-10" dirty="0">
                <a:latin typeface="Verdana"/>
                <a:cs typeface="Verdana"/>
              </a:rPr>
              <a:t>solids.</a:t>
            </a:r>
            <a:endParaRPr sz="2200">
              <a:latin typeface="Verdana"/>
              <a:cs typeface="Verdana"/>
            </a:endParaRPr>
          </a:p>
          <a:p>
            <a:pPr marL="514984" marR="5715" indent="-502920">
              <a:lnSpc>
                <a:spcPct val="150000"/>
              </a:lnSpc>
              <a:buAutoNum type="arabicPeriod"/>
              <a:tabLst>
                <a:tab pos="514984" algn="l"/>
                <a:tab pos="1437640" algn="l"/>
                <a:tab pos="2070735" algn="l"/>
                <a:tab pos="3883025" algn="l"/>
                <a:tab pos="5250180" algn="l"/>
                <a:tab pos="6356985" algn="l"/>
                <a:tab pos="7430770" algn="l"/>
                <a:tab pos="8128000" algn="l"/>
              </a:tabLst>
            </a:pPr>
            <a:r>
              <a:rPr sz="2200" spc="-10" dirty="0">
                <a:latin typeface="Verdana"/>
                <a:cs typeface="Verdana"/>
              </a:rPr>
              <a:t>State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relationship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between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stress,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strain,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Young's </a:t>
            </a:r>
            <a:r>
              <a:rPr sz="2200" dirty="0">
                <a:latin typeface="Verdana"/>
                <a:cs typeface="Verdana"/>
              </a:rPr>
              <a:t>modulus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tensile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stress.</a:t>
            </a:r>
            <a:endParaRPr sz="2200">
              <a:latin typeface="Verdana"/>
              <a:cs typeface="Verdana"/>
            </a:endParaRPr>
          </a:p>
          <a:p>
            <a:pPr marL="514984" marR="5080" indent="-502920">
              <a:lnSpc>
                <a:spcPct val="150000"/>
              </a:lnSpc>
              <a:buAutoNum type="arabicPeriod"/>
              <a:tabLst>
                <a:tab pos="514984" algn="l"/>
                <a:tab pos="1708150" algn="l"/>
                <a:tab pos="2315845" algn="l"/>
                <a:tab pos="3219450" algn="l"/>
                <a:tab pos="3643629" algn="l"/>
                <a:tab pos="4928870" algn="l"/>
                <a:tab pos="6809105" algn="l"/>
                <a:tab pos="8172450" algn="l"/>
                <a:tab pos="8582660" algn="l"/>
              </a:tabLst>
            </a:pPr>
            <a:r>
              <a:rPr sz="2200" spc="-10" dirty="0">
                <a:latin typeface="Verdana"/>
                <a:cs typeface="Verdana"/>
              </a:rPr>
              <a:t>Provide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value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'normal'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atmospheric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pressure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kilo- </a:t>
            </a:r>
            <a:r>
              <a:rPr sz="2200" dirty="0">
                <a:latin typeface="Verdana"/>
                <a:cs typeface="Verdana"/>
              </a:rPr>
              <a:t>pascals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(kPa).</a:t>
            </a:r>
            <a:endParaRPr sz="2200">
              <a:latin typeface="Verdana"/>
              <a:cs typeface="Verdana"/>
            </a:endParaRPr>
          </a:p>
          <a:p>
            <a:pPr marL="514984" marR="6985" indent="-502920">
              <a:lnSpc>
                <a:spcPct val="150000"/>
              </a:lnSpc>
              <a:buAutoNum type="arabicPeriod"/>
              <a:tabLst>
                <a:tab pos="514984" algn="l"/>
              </a:tabLst>
            </a:pPr>
            <a:r>
              <a:rPr sz="2200" dirty="0">
                <a:latin typeface="Verdana"/>
                <a:cs typeface="Verdana"/>
              </a:rPr>
              <a:t>Under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what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specific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condition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9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variable-</a:t>
            </a:r>
            <a:r>
              <a:rPr sz="2200" dirty="0">
                <a:latin typeface="Verdana"/>
                <a:cs typeface="Verdana"/>
              </a:rPr>
              <a:t>reluctance</a:t>
            </a:r>
            <a:r>
              <a:rPr sz="2200" spc="18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type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gauge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used?</a:t>
            </a:r>
            <a:endParaRPr sz="2200">
              <a:latin typeface="Verdana"/>
              <a:cs typeface="Verdana"/>
            </a:endParaRPr>
          </a:p>
          <a:p>
            <a:pPr marL="514350" indent="-501650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514350" algn="l"/>
              </a:tabLst>
            </a:pPr>
            <a:r>
              <a:rPr sz="2200" dirty="0">
                <a:latin typeface="Verdana"/>
                <a:cs typeface="Verdana"/>
              </a:rPr>
              <a:t>Why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recalibration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necessary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vacuum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gauge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heads?</a:t>
            </a:r>
            <a:endParaRPr sz="2200">
              <a:latin typeface="Verdana"/>
              <a:cs typeface="Verdana"/>
            </a:endParaRPr>
          </a:p>
          <a:p>
            <a:pPr marL="514984" marR="6985" indent="-502920">
              <a:lnSpc>
                <a:spcPct val="150000"/>
              </a:lnSpc>
              <a:buAutoNum type="arabicPeriod"/>
              <a:tabLst>
                <a:tab pos="514984" algn="l"/>
                <a:tab pos="1914525" algn="l"/>
                <a:tab pos="2558415" algn="l"/>
                <a:tab pos="4469130" algn="l"/>
                <a:tab pos="4928870" algn="l"/>
                <a:tab pos="5288915" algn="l"/>
                <a:tab pos="6873240" algn="l"/>
                <a:tab pos="8275955" algn="l"/>
              </a:tabLst>
            </a:pPr>
            <a:r>
              <a:rPr sz="2200" spc="-10" dirty="0">
                <a:latin typeface="Verdana"/>
                <a:cs typeface="Verdana"/>
              </a:rPr>
              <a:t>Describe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construction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capacitive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pressure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sensor </a:t>
            </a:r>
            <a:r>
              <a:rPr sz="2200" dirty="0">
                <a:latin typeface="Verdana"/>
                <a:cs typeface="Verdana"/>
              </a:rPr>
              <a:t>using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aneroid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capsule.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9317" y="1321780"/>
            <a:ext cx="9380220" cy="455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0" marR="5080" indent="-400685">
              <a:lnSpc>
                <a:spcPct val="150000"/>
              </a:lnSpc>
              <a:spcBef>
                <a:spcPts val="100"/>
              </a:spcBef>
              <a:buAutoNum type="arabicPeriod" startAt="7"/>
              <a:tabLst>
                <a:tab pos="527685" algn="l"/>
              </a:tabLst>
            </a:pPr>
            <a:r>
              <a:rPr sz="2200" dirty="0">
                <a:latin typeface="Verdana"/>
                <a:cs typeface="Verdana"/>
              </a:rPr>
              <a:t>Provide</a:t>
            </a:r>
            <a:r>
              <a:rPr sz="2200" spc="1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mathematical</a:t>
            </a:r>
            <a:r>
              <a:rPr sz="2200" spc="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formula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relating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capacitance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area 	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spacing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pressure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gauge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sensors.</a:t>
            </a:r>
            <a:endParaRPr sz="2200">
              <a:latin typeface="Verdana"/>
              <a:cs typeface="Verdana"/>
            </a:endParaRPr>
          </a:p>
          <a:p>
            <a:pPr marL="474980" marR="5080" indent="-462915">
              <a:lnSpc>
                <a:spcPct val="150000"/>
              </a:lnSpc>
              <a:buAutoNum type="arabicPeriod" startAt="7"/>
              <a:tabLst>
                <a:tab pos="527685" algn="l"/>
                <a:tab pos="1704975" algn="l"/>
                <a:tab pos="2341245" algn="l"/>
                <a:tab pos="4134485" algn="l"/>
                <a:tab pos="4583430" algn="l"/>
                <a:tab pos="6502400" algn="l"/>
                <a:tab pos="7851775" algn="l"/>
              </a:tabLst>
            </a:pPr>
            <a:r>
              <a:rPr sz="2200" spc="-10" dirty="0">
                <a:latin typeface="Verdana"/>
                <a:cs typeface="Verdana"/>
              </a:rPr>
              <a:t>Discuss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advantages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piezoelectric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sensors,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specifically 	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"passive"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nature.</a:t>
            </a:r>
            <a:endParaRPr sz="2200">
              <a:latin typeface="Verdana"/>
              <a:cs typeface="Verdana"/>
            </a:endParaRPr>
          </a:p>
          <a:p>
            <a:pPr marL="472440" marR="6985" indent="-460375">
              <a:lnSpc>
                <a:spcPct val="150000"/>
              </a:lnSpc>
              <a:buAutoNum type="arabicPeriod" startAt="7"/>
              <a:tabLst>
                <a:tab pos="527685" algn="l"/>
                <a:tab pos="1668780" algn="l"/>
                <a:tab pos="2301875" algn="l"/>
                <a:tab pos="3869690" algn="l"/>
                <a:tab pos="5238750" algn="l"/>
                <a:tab pos="6212205" algn="l"/>
                <a:tab pos="7603490" algn="l"/>
                <a:tab pos="8844915" algn="l"/>
              </a:tabLst>
            </a:pPr>
            <a:r>
              <a:rPr sz="2200" spc="-10" dirty="0">
                <a:latin typeface="Verdana"/>
                <a:cs typeface="Verdana"/>
              </a:rPr>
              <a:t>Explain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difference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between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direct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pressure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indirect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sensing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using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diaphragm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corrosive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liquids.</a:t>
            </a:r>
            <a:endParaRPr sz="2200">
              <a:latin typeface="Verdana"/>
              <a:cs typeface="Verdana"/>
            </a:endParaRPr>
          </a:p>
          <a:p>
            <a:pPr marL="527685" marR="6985" indent="-515620">
              <a:lnSpc>
                <a:spcPct val="150000"/>
              </a:lnSpc>
              <a:buAutoNum type="arabicPeriod" startAt="7"/>
              <a:tabLst>
                <a:tab pos="527685" algn="l"/>
                <a:tab pos="737235" algn="l"/>
                <a:tab pos="2053589" algn="l"/>
                <a:tab pos="2776220" algn="l"/>
                <a:tab pos="4613910" algn="l"/>
                <a:tab pos="6731000" algn="l"/>
                <a:tab pos="8186420" algn="l"/>
              </a:tabLst>
            </a:pP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Discuss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mechanical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displacement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principle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(aneroid barometers/pistons)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pressures.</a:t>
            </a:r>
            <a:endParaRPr sz="2200">
              <a:latin typeface="Verdana"/>
              <a:cs typeface="Verdana"/>
            </a:endParaRPr>
          </a:p>
          <a:p>
            <a:pPr marL="754380" indent="-741680">
              <a:lnSpc>
                <a:spcPct val="100000"/>
              </a:lnSpc>
              <a:spcBef>
                <a:spcPts val="1320"/>
              </a:spcBef>
              <a:buAutoNum type="arabicPeriod" startAt="7"/>
              <a:tabLst>
                <a:tab pos="754380" algn="l"/>
                <a:tab pos="2240915" algn="l"/>
                <a:tab pos="3590290" algn="l"/>
                <a:tab pos="4594225" algn="l"/>
                <a:tab pos="5405755" algn="l"/>
                <a:tab pos="6036310" algn="l"/>
                <a:tab pos="7793355" algn="l"/>
              </a:tabLst>
            </a:pPr>
            <a:r>
              <a:rPr sz="2200" spc="-10" dirty="0">
                <a:latin typeface="Verdana"/>
                <a:cs typeface="Verdana"/>
              </a:rPr>
              <a:t>Pressure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sensors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often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rely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converting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mechanical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31946" y="5848032"/>
            <a:ext cx="58801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 indent="-75565">
              <a:lnSpc>
                <a:spcPct val="150000"/>
              </a:lnSpc>
              <a:spcBef>
                <a:spcPts val="100"/>
              </a:spcBef>
            </a:pPr>
            <a:r>
              <a:rPr sz="2200" spc="-20" dirty="0">
                <a:latin typeface="Verdana"/>
                <a:cs typeface="Verdana"/>
              </a:rPr>
              <a:t>four </a:t>
            </a:r>
            <a:r>
              <a:rPr sz="2200" spc="-10" dirty="0">
                <a:latin typeface="Verdana"/>
                <a:cs typeface="Verdana"/>
              </a:rPr>
              <a:t>(iii)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4475" y="5848032"/>
            <a:ext cx="8114030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displacement</a:t>
            </a:r>
            <a:r>
              <a:rPr sz="2200" spc="2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2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electronic</a:t>
            </a:r>
            <a:r>
              <a:rPr sz="2200" spc="2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signals.</a:t>
            </a:r>
            <a:r>
              <a:rPr sz="2200" spc="220" dirty="0">
                <a:latin typeface="Verdana"/>
                <a:cs typeface="Verdana"/>
              </a:rPr>
              <a:t>    </a:t>
            </a:r>
            <a:r>
              <a:rPr sz="2200" dirty="0">
                <a:latin typeface="Verdana"/>
                <a:cs typeface="Verdana"/>
              </a:rPr>
              <a:t>Evaluate</a:t>
            </a:r>
            <a:r>
              <a:rPr sz="2200" spc="229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</a:t>
            </a:r>
            <a:r>
              <a:rPr sz="2200" dirty="0">
                <a:latin typeface="Verdana"/>
                <a:cs typeface="Verdana"/>
              </a:rPr>
              <a:t>methods:</a:t>
            </a:r>
            <a:r>
              <a:rPr sz="2200" spc="2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(i)</a:t>
            </a:r>
            <a:r>
              <a:rPr sz="2200" spc="229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Variable</a:t>
            </a:r>
            <a:r>
              <a:rPr sz="2200" spc="2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Reluctance</a:t>
            </a:r>
            <a:r>
              <a:rPr sz="2200" spc="2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(ii)</a:t>
            </a:r>
            <a:r>
              <a:rPr sz="2200" spc="229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Potentiometric </a:t>
            </a:r>
            <a:r>
              <a:rPr sz="2200" dirty="0">
                <a:latin typeface="Verdana"/>
                <a:cs typeface="Verdana"/>
              </a:rPr>
              <a:t>Piezoresistive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Semiconductors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(iv)</a:t>
            </a:r>
            <a:r>
              <a:rPr sz="2200" spc="-1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Capacitive.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6725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Textbook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0836" y="1760542"/>
            <a:ext cx="8875395" cy="170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20000"/>
              </a:lnSpc>
              <a:spcBef>
                <a:spcPts val="100"/>
              </a:spcBef>
              <a:buFont typeface="Wingdings"/>
              <a:buChar char="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Ian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Sinclair,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0" dirty="0">
                <a:latin typeface="Verdana"/>
                <a:cs typeface="Verdana"/>
              </a:rPr>
              <a:t> Transducers,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Third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20" dirty="0">
                <a:latin typeface="Verdana"/>
                <a:cs typeface="Verdana"/>
              </a:rPr>
              <a:t> 2001 </a:t>
            </a:r>
            <a:r>
              <a:rPr sz="2200" dirty="0">
                <a:latin typeface="Verdana"/>
                <a:cs typeface="Verdana"/>
              </a:rPr>
              <a:t>(Units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&amp;</a:t>
            </a:r>
            <a:r>
              <a:rPr sz="2200" spc="-20" dirty="0">
                <a:latin typeface="Verdana"/>
                <a:cs typeface="Verdana"/>
              </a:rPr>
              <a:t> II).</a:t>
            </a:r>
            <a:endParaRPr sz="2200">
              <a:latin typeface="Verdana"/>
              <a:cs typeface="Verdana"/>
            </a:endParaRPr>
          </a:p>
          <a:p>
            <a:pPr marL="390525" marR="5080" indent="-378460">
              <a:lnSpc>
                <a:spcPct val="120000"/>
              </a:lnSpc>
              <a:spcBef>
                <a:spcPts val="525"/>
              </a:spcBef>
              <a:buFont typeface="Wingdings"/>
              <a:buChar char=""/>
              <a:tabLst>
                <a:tab pos="390525" algn="l"/>
                <a:tab pos="1527810" algn="l"/>
                <a:tab pos="3376929" algn="l"/>
                <a:tab pos="4191635" algn="l"/>
                <a:tab pos="4674235" algn="l"/>
                <a:tab pos="5494020" algn="l"/>
                <a:tab pos="6043295" algn="l"/>
                <a:tab pos="7317740" algn="l"/>
                <a:tab pos="8001000" algn="l"/>
              </a:tabLst>
            </a:pPr>
            <a:r>
              <a:rPr sz="2200" spc="-10" dirty="0">
                <a:latin typeface="Verdana"/>
                <a:cs typeface="Verdana"/>
              </a:rPr>
              <a:t>Ramon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PallásAreny,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John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G.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Webster,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Sensors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Signal </a:t>
            </a:r>
            <a:r>
              <a:rPr sz="2200" dirty="0">
                <a:latin typeface="Verdana"/>
                <a:cs typeface="Verdana"/>
              </a:rPr>
              <a:t>conditioning,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John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Wiley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Sons,</a:t>
            </a:r>
            <a:r>
              <a:rPr sz="2200" dirty="0">
                <a:latin typeface="Verdana"/>
                <a:cs typeface="Verdana"/>
              </a:rPr>
              <a:t>	Second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2000.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1" y="7368540"/>
            <a:ext cx="8139430" cy="289560"/>
            <a:chOff x="19811" y="7368540"/>
            <a:chExt cx="8139430" cy="289560"/>
          </a:xfrm>
        </p:grpSpPr>
        <p:sp>
          <p:nvSpPr>
            <p:cNvPr id="3" name="object 3"/>
            <p:cNvSpPr/>
            <p:nvPr/>
          </p:nvSpPr>
          <p:spPr>
            <a:xfrm>
              <a:off x="19811" y="7368540"/>
              <a:ext cx="8057515" cy="264160"/>
            </a:xfrm>
            <a:custGeom>
              <a:avLst/>
              <a:gdLst/>
              <a:ahLst/>
              <a:cxnLst/>
              <a:rect l="l" t="t" r="r" b="b"/>
              <a:pathLst>
                <a:path w="8057515" h="264159">
                  <a:moveTo>
                    <a:pt x="8057388" y="263651"/>
                  </a:moveTo>
                  <a:lnTo>
                    <a:pt x="0" y="263651"/>
                  </a:lnTo>
                  <a:lnTo>
                    <a:pt x="0" y="0"/>
                  </a:lnTo>
                  <a:lnTo>
                    <a:pt x="7906512" y="0"/>
                  </a:lnTo>
                  <a:lnTo>
                    <a:pt x="8057388" y="263651"/>
                  </a:lnTo>
                  <a:close/>
                </a:path>
              </a:pathLst>
            </a:custGeom>
            <a:solidFill>
              <a:srgbClr val="87BC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812" y="7424928"/>
              <a:ext cx="8139430" cy="233679"/>
            </a:xfrm>
            <a:custGeom>
              <a:avLst/>
              <a:gdLst/>
              <a:ahLst/>
              <a:cxnLst/>
              <a:rect l="l" t="t" r="r" b="b"/>
              <a:pathLst>
                <a:path w="8139430" h="233679">
                  <a:moveTo>
                    <a:pt x="8139228" y="233172"/>
                  </a:moveTo>
                  <a:lnTo>
                    <a:pt x="0" y="233172"/>
                  </a:lnTo>
                  <a:lnTo>
                    <a:pt x="0" y="0"/>
                  </a:lnTo>
                  <a:lnTo>
                    <a:pt x="8001000" y="0"/>
                  </a:lnTo>
                  <a:lnTo>
                    <a:pt x="8139228" y="233172"/>
                  </a:lnTo>
                  <a:close/>
                </a:path>
              </a:pathLst>
            </a:custGeom>
            <a:solidFill>
              <a:srgbClr val="004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20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76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97" y="34290"/>
                </a:lnTo>
                <a:lnTo>
                  <a:pt x="61823" y="93141"/>
                </a:lnTo>
                <a:lnTo>
                  <a:pt x="56400" y="132588"/>
                </a:lnTo>
                <a:lnTo>
                  <a:pt x="60159" y="158711"/>
                </a:lnTo>
                <a:lnTo>
                  <a:pt x="72783" y="182702"/>
                </a:lnTo>
                <a:lnTo>
                  <a:pt x="96253" y="205244"/>
                </a:lnTo>
                <a:lnTo>
                  <a:pt x="132600" y="227088"/>
                </a:lnTo>
                <a:lnTo>
                  <a:pt x="207276" y="263664"/>
                </a:lnTo>
                <a:lnTo>
                  <a:pt x="221576" y="271678"/>
                </a:lnTo>
                <a:lnTo>
                  <a:pt x="233756" y="281000"/>
                </a:lnTo>
                <a:lnTo>
                  <a:pt x="242201" y="293446"/>
                </a:lnTo>
                <a:lnTo>
                  <a:pt x="245376" y="310908"/>
                </a:lnTo>
                <a:lnTo>
                  <a:pt x="240271" y="330504"/>
                </a:lnTo>
                <a:lnTo>
                  <a:pt x="226326" y="345389"/>
                </a:lnTo>
                <a:lnTo>
                  <a:pt x="205511" y="354838"/>
                </a:lnTo>
                <a:lnTo>
                  <a:pt x="179844" y="358152"/>
                </a:lnTo>
                <a:lnTo>
                  <a:pt x="158572" y="353402"/>
                </a:lnTo>
                <a:lnTo>
                  <a:pt x="140030" y="340817"/>
                </a:lnTo>
                <a:lnTo>
                  <a:pt x="126898" y="322783"/>
                </a:lnTo>
                <a:lnTo>
                  <a:pt x="121932" y="301764"/>
                </a:lnTo>
                <a:lnTo>
                  <a:pt x="121932" y="292620"/>
                </a:lnTo>
                <a:lnTo>
                  <a:pt x="0" y="292620"/>
                </a:lnTo>
                <a:lnTo>
                  <a:pt x="0" y="310908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44" y="425208"/>
                </a:lnTo>
                <a:lnTo>
                  <a:pt x="236842" y="420636"/>
                </a:lnTo>
                <a:lnTo>
                  <a:pt x="285394" y="407428"/>
                </a:lnTo>
                <a:lnTo>
                  <a:pt x="324624" y="386346"/>
                </a:lnTo>
                <a:lnTo>
                  <a:pt x="353682" y="358152"/>
                </a:lnTo>
                <a:lnTo>
                  <a:pt x="371754" y="323608"/>
                </a:lnTo>
                <a:lnTo>
                  <a:pt x="371881" y="322783"/>
                </a:lnTo>
                <a:lnTo>
                  <a:pt x="377964" y="283476"/>
                </a:lnTo>
                <a:lnTo>
                  <a:pt x="372694" y="256628"/>
                </a:lnTo>
                <a:lnTo>
                  <a:pt x="357581" y="233375"/>
                </a:lnTo>
                <a:lnTo>
                  <a:pt x="333590" y="213817"/>
                </a:lnTo>
                <a:lnTo>
                  <a:pt x="301764" y="198132"/>
                </a:lnTo>
                <a:lnTo>
                  <a:pt x="227088" y="160032"/>
                </a:lnTo>
                <a:lnTo>
                  <a:pt x="207479" y="151434"/>
                </a:lnTo>
                <a:lnTo>
                  <a:pt x="192608" y="139268"/>
                </a:lnTo>
                <a:lnTo>
                  <a:pt x="183146" y="123380"/>
                </a:lnTo>
                <a:lnTo>
                  <a:pt x="179844" y="103632"/>
                </a:lnTo>
                <a:lnTo>
                  <a:pt x="184581" y="89966"/>
                </a:lnTo>
                <a:lnTo>
                  <a:pt x="197180" y="77724"/>
                </a:lnTo>
                <a:lnTo>
                  <a:pt x="215201" y="68922"/>
                </a:lnTo>
                <a:lnTo>
                  <a:pt x="236232" y="65532"/>
                </a:lnTo>
                <a:lnTo>
                  <a:pt x="255828" y="69062"/>
                </a:lnTo>
                <a:lnTo>
                  <a:pt x="270713" y="78867"/>
                </a:lnTo>
                <a:lnTo>
                  <a:pt x="280162" y="93827"/>
                </a:lnTo>
                <a:lnTo>
                  <a:pt x="283476" y="112776"/>
                </a:lnTo>
                <a:lnTo>
                  <a:pt x="283476" y="123380"/>
                </a:lnTo>
                <a:lnTo>
                  <a:pt x="406920" y="123380"/>
                </a:lnTo>
                <a:lnTo>
                  <a:pt x="406920" y="103632"/>
                </a:lnTo>
                <a:close/>
              </a:path>
              <a:path w="1039495" h="425450">
                <a:moveTo>
                  <a:pt x="670572" y="103644"/>
                </a:moveTo>
                <a:lnTo>
                  <a:pt x="661504" y="65544"/>
                </a:lnTo>
                <a:lnTo>
                  <a:pt x="660209" y="60083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52" y="0"/>
                </a:lnTo>
                <a:lnTo>
                  <a:pt x="471538" y="1574"/>
                </a:lnTo>
                <a:lnTo>
                  <a:pt x="438531" y="5727"/>
                </a:lnTo>
                <a:lnTo>
                  <a:pt x="410679" y="11582"/>
                </a:lnTo>
                <a:lnTo>
                  <a:pt x="387096" y="18300"/>
                </a:lnTo>
                <a:lnTo>
                  <a:pt x="401408" y="34632"/>
                </a:lnTo>
                <a:lnTo>
                  <a:pt x="413575" y="54114"/>
                </a:lnTo>
                <a:lnTo>
                  <a:pt x="422033" y="77012"/>
                </a:lnTo>
                <a:lnTo>
                  <a:pt x="422122" y="77736"/>
                </a:lnTo>
                <a:lnTo>
                  <a:pt x="425196" y="103644"/>
                </a:lnTo>
                <a:lnTo>
                  <a:pt x="425196" y="112788"/>
                </a:lnTo>
                <a:lnTo>
                  <a:pt x="416115" y="123380"/>
                </a:lnTo>
                <a:lnTo>
                  <a:pt x="416052" y="132600"/>
                </a:lnTo>
                <a:lnTo>
                  <a:pt x="312420" y="132600"/>
                </a:lnTo>
                <a:lnTo>
                  <a:pt x="317449" y="158711"/>
                </a:lnTo>
                <a:lnTo>
                  <a:pt x="332041" y="182702"/>
                </a:lnTo>
                <a:lnTo>
                  <a:pt x="355498" y="205244"/>
                </a:lnTo>
                <a:lnTo>
                  <a:pt x="387096" y="227088"/>
                </a:lnTo>
                <a:lnTo>
                  <a:pt x="463296" y="263664"/>
                </a:lnTo>
                <a:lnTo>
                  <a:pt x="476973" y="271678"/>
                </a:lnTo>
                <a:lnTo>
                  <a:pt x="489204" y="281000"/>
                </a:lnTo>
                <a:lnTo>
                  <a:pt x="498017" y="293446"/>
                </a:lnTo>
                <a:lnTo>
                  <a:pt x="501396" y="310908"/>
                </a:lnTo>
                <a:lnTo>
                  <a:pt x="497713" y="330504"/>
                </a:lnTo>
                <a:lnTo>
                  <a:pt x="486727" y="345389"/>
                </a:lnTo>
                <a:lnTo>
                  <a:pt x="468617" y="354838"/>
                </a:lnTo>
                <a:lnTo>
                  <a:pt x="443484" y="358152"/>
                </a:lnTo>
                <a:lnTo>
                  <a:pt x="419252" y="353402"/>
                </a:lnTo>
                <a:lnTo>
                  <a:pt x="401574" y="340817"/>
                </a:lnTo>
                <a:lnTo>
                  <a:pt x="390766" y="322783"/>
                </a:lnTo>
                <a:lnTo>
                  <a:pt x="387096" y="301764"/>
                </a:lnTo>
                <a:lnTo>
                  <a:pt x="387096" y="292620"/>
                </a:lnTo>
                <a:lnTo>
                  <a:pt x="382358" y="321017"/>
                </a:lnTo>
                <a:lnTo>
                  <a:pt x="369760" y="348437"/>
                </a:lnTo>
                <a:lnTo>
                  <a:pt x="351739" y="373837"/>
                </a:lnTo>
                <a:lnTo>
                  <a:pt x="330708" y="396252"/>
                </a:lnTo>
                <a:lnTo>
                  <a:pt x="321564" y="396252"/>
                </a:lnTo>
                <a:lnTo>
                  <a:pt x="312420" y="405396"/>
                </a:lnTo>
                <a:lnTo>
                  <a:pt x="336410" y="412991"/>
                </a:lnTo>
                <a:lnTo>
                  <a:pt x="365950" y="419303"/>
                </a:lnTo>
                <a:lnTo>
                  <a:pt x="399224" y="423608"/>
                </a:lnTo>
                <a:lnTo>
                  <a:pt x="434340" y="425208"/>
                </a:lnTo>
                <a:lnTo>
                  <a:pt x="491998" y="420636"/>
                </a:lnTo>
                <a:lnTo>
                  <a:pt x="540969" y="407428"/>
                </a:lnTo>
                <a:lnTo>
                  <a:pt x="580466" y="386346"/>
                </a:lnTo>
                <a:lnTo>
                  <a:pt x="609663" y="358152"/>
                </a:lnTo>
                <a:lnTo>
                  <a:pt x="627773" y="323608"/>
                </a:lnTo>
                <a:lnTo>
                  <a:pt x="627900" y="322783"/>
                </a:lnTo>
                <a:lnTo>
                  <a:pt x="633996" y="283476"/>
                </a:lnTo>
                <a:lnTo>
                  <a:pt x="618185" y="233375"/>
                </a:lnTo>
                <a:lnTo>
                  <a:pt x="566940" y="198132"/>
                </a:lnTo>
                <a:lnTo>
                  <a:pt x="490728" y="160032"/>
                </a:lnTo>
                <a:lnTo>
                  <a:pt x="471779" y="151434"/>
                </a:lnTo>
                <a:lnTo>
                  <a:pt x="456819" y="139268"/>
                </a:lnTo>
                <a:lnTo>
                  <a:pt x="447014" y="123380"/>
                </a:lnTo>
                <a:lnTo>
                  <a:pt x="443484" y="103644"/>
                </a:lnTo>
                <a:lnTo>
                  <a:pt x="447014" y="89966"/>
                </a:lnTo>
                <a:lnTo>
                  <a:pt x="456819" y="77736"/>
                </a:lnTo>
                <a:lnTo>
                  <a:pt x="471779" y="68922"/>
                </a:lnTo>
                <a:lnTo>
                  <a:pt x="490728" y="65544"/>
                </a:lnTo>
                <a:lnTo>
                  <a:pt x="515861" y="69062"/>
                </a:lnTo>
                <a:lnTo>
                  <a:pt x="533984" y="78879"/>
                </a:lnTo>
                <a:lnTo>
                  <a:pt x="544957" y="93827"/>
                </a:lnTo>
                <a:lnTo>
                  <a:pt x="548652" y="112788"/>
                </a:lnTo>
                <a:lnTo>
                  <a:pt x="538048" y="123380"/>
                </a:lnTo>
                <a:lnTo>
                  <a:pt x="670572" y="123380"/>
                </a:lnTo>
                <a:lnTo>
                  <a:pt x="670572" y="103644"/>
                </a:lnTo>
                <a:close/>
              </a:path>
              <a:path w="1039495" h="425450">
                <a:moveTo>
                  <a:pt x="1039380" y="103632"/>
                </a:moveTo>
                <a:lnTo>
                  <a:pt x="1030973" y="59804"/>
                </a:lnTo>
                <a:lnTo>
                  <a:pt x="1007567" y="27241"/>
                </a:lnTo>
                <a:lnTo>
                  <a:pt x="971867" y="6985"/>
                </a:lnTo>
                <a:lnTo>
                  <a:pt x="926604" y="0"/>
                </a:lnTo>
                <a:lnTo>
                  <a:pt x="882789" y="5410"/>
                </a:lnTo>
                <a:lnTo>
                  <a:pt x="837831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60" y="85344"/>
                </a:lnTo>
                <a:lnTo>
                  <a:pt x="860856" y="87236"/>
                </a:lnTo>
                <a:lnTo>
                  <a:pt x="875741" y="93535"/>
                </a:lnTo>
                <a:lnTo>
                  <a:pt x="885190" y="105283"/>
                </a:lnTo>
                <a:lnTo>
                  <a:pt x="888504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61" y="142875"/>
                </a:lnTo>
                <a:lnTo>
                  <a:pt x="884643" y="155600"/>
                </a:lnTo>
                <a:lnTo>
                  <a:pt x="879360" y="169164"/>
                </a:lnTo>
                <a:lnTo>
                  <a:pt x="822972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60" y="405384"/>
                </a:lnTo>
                <a:lnTo>
                  <a:pt x="1021092" y="179832"/>
                </a:lnTo>
                <a:lnTo>
                  <a:pt x="1030236" y="141732"/>
                </a:lnTo>
                <a:lnTo>
                  <a:pt x="1035519" y="133210"/>
                </a:lnTo>
                <a:lnTo>
                  <a:pt x="1038237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80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8"/>
                </a:moveTo>
                <a:lnTo>
                  <a:pt x="623316" y="848868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6"/>
                </a:lnTo>
                <a:lnTo>
                  <a:pt x="1220913" y="307086"/>
                </a:lnTo>
                <a:lnTo>
                  <a:pt x="1223343" y="311765"/>
                </a:lnTo>
                <a:lnTo>
                  <a:pt x="1224737" y="316992"/>
                </a:lnTo>
                <a:lnTo>
                  <a:pt x="1020127" y="316992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6"/>
                </a:lnTo>
                <a:lnTo>
                  <a:pt x="725709" y="848868"/>
                </a:lnTo>
                <a:close/>
              </a:path>
              <a:path w="5741670" h="1073150">
                <a:moveTo>
                  <a:pt x="687990" y="128016"/>
                </a:moveTo>
                <a:lnTo>
                  <a:pt x="0" y="128016"/>
                </a:lnTo>
                <a:lnTo>
                  <a:pt x="20669" y="36576"/>
                </a:lnTo>
                <a:lnTo>
                  <a:pt x="708660" y="36576"/>
                </a:lnTo>
                <a:lnTo>
                  <a:pt x="687990" y="128016"/>
                </a:lnTo>
                <a:close/>
              </a:path>
              <a:path w="5741670" h="1073150">
                <a:moveTo>
                  <a:pt x="232600" y="848868"/>
                </a:moveTo>
                <a:lnTo>
                  <a:pt x="123444" y="848868"/>
                </a:lnTo>
                <a:lnTo>
                  <a:pt x="290226" y="128016"/>
                </a:lnTo>
                <a:lnTo>
                  <a:pt x="399478" y="128016"/>
                </a:lnTo>
                <a:lnTo>
                  <a:pt x="232600" y="848868"/>
                </a:lnTo>
                <a:close/>
              </a:path>
              <a:path w="5741670" h="1073150">
                <a:moveTo>
                  <a:pt x="1220913" y="307086"/>
                </a:moveTo>
                <a:lnTo>
                  <a:pt x="850868" y="307086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6" y="223931"/>
                </a:lnTo>
                <a:lnTo>
                  <a:pt x="1065561" y="222504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6"/>
                </a:lnTo>
                <a:close/>
              </a:path>
              <a:path w="5741670" h="1073150">
                <a:moveTo>
                  <a:pt x="1133284" y="848868"/>
                </a:moveTo>
                <a:lnTo>
                  <a:pt x="1032224" y="848868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610" y="414147"/>
                </a:lnTo>
                <a:lnTo>
                  <a:pt x="1124712" y="409098"/>
                </a:lnTo>
                <a:lnTo>
                  <a:pt x="1119056" y="369093"/>
                </a:lnTo>
                <a:lnTo>
                  <a:pt x="1088399" y="330105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39" y="318475"/>
                </a:lnTo>
                <a:lnTo>
                  <a:pt x="1020127" y="316992"/>
                </a:lnTo>
                <a:lnTo>
                  <a:pt x="1224737" y="316992"/>
                </a:lnTo>
                <a:lnTo>
                  <a:pt x="1231668" y="342972"/>
                </a:lnTo>
                <a:lnTo>
                  <a:pt x="1234440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8"/>
                </a:lnTo>
                <a:close/>
              </a:path>
              <a:path w="5741670" h="1073150">
                <a:moveTo>
                  <a:pt x="1459325" y="356616"/>
                </a:moveTo>
                <a:lnTo>
                  <a:pt x="1453896" y="356616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7"/>
                </a:lnTo>
                <a:lnTo>
                  <a:pt x="1679924" y="225552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6"/>
                </a:lnTo>
                <a:lnTo>
                  <a:pt x="1661636" y="310896"/>
                </a:lnTo>
                <a:lnTo>
                  <a:pt x="1638369" y="311884"/>
                </a:lnTo>
                <a:lnTo>
                  <a:pt x="1637930" y="311884"/>
                </a:lnTo>
                <a:lnTo>
                  <a:pt x="1612058" y="314825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6"/>
                </a:lnTo>
                <a:close/>
              </a:path>
              <a:path w="5741670" h="1073150">
                <a:moveTo>
                  <a:pt x="1484185" y="865632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29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2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2"/>
                </a:lnTo>
                <a:lnTo>
                  <a:pt x="1795056" y="439193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791462" y="354139"/>
                </a:lnTo>
                <a:lnTo>
                  <a:pt x="1762029" y="327850"/>
                </a:lnTo>
                <a:lnTo>
                  <a:pt x="1717548" y="314515"/>
                </a:lnTo>
                <a:lnTo>
                  <a:pt x="1676600" y="311180"/>
                </a:lnTo>
                <a:lnTo>
                  <a:pt x="1661636" y="310896"/>
                </a:lnTo>
                <a:lnTo>
                  <a:pt x="1893766" y="310896"/>
                </a:lnTo>
                <a:lnTo>
                  <a:pt x="1902986" y="337496"/>
                </a:lnTo>
                <a:lnTo>
                  <a:pt x="1906495" y="372999"/>
                </a:lnTo>
                <a:lnTo>
                  <a:pt x="1906524" y="373284"/>
                </a:lnTo>
                <a:lnTo>
                  <a:pt x="1902812" y="412623"/>
                </a:lnTo>
                <a:lnTo>
                  <a:pt x="1877021" y="528828"/>
                </a:lnTo>
                <a:lnTo>
                  <a:pt x="1774602" y="528828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2" y="753618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2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5"/>
                </a:lnTo>
                <a:lnTo>
                  <a:pt x="1774602" y="528828"/>
                </a:lnTo>
                <a:lnTo>
                  <a:pt x="1877021" y="528828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8"/>
                </a:moveTo>
                <a:lnTo>
                  <a:pt x="1702022" y="848868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8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4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8"/>
                </a:moveTo>
                <a:lnTo>
                  <a:pt x="2001012" y="848868"/>
                </a:lnTo>
                <a:lnTo>
                  <a:pt x="2141124" y="239268"/>
                </a:lnTo>
                <a:lnTo>
                  <a:pt x="2243613" y="239268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2"/>
                </a:lnTo>
                <a:lnTo>
                  <a:pt x="2397728" y="316992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8"/>
                </a:lnTo>
                <a:close/>
              </a:path>
              <a:path w="5741670" h="1073150">
                <a:moveTo>
                  <a:pt x="2512028" y="848868"/>
                </a:moveTo>
                <a:lnTo>
                  <a:pt x="2410968" y="848868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7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2"/>
                </a:lnTo>
                <a:lnTo>
                  <a:pt x="2602391" y="316992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11991" y="385777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8"/>
                </a:lnTo>
                <a:close/>
              </a:path>
              <a:path w="5741670" h="1073150">
                <a:moveTo>
                  <a:pt x="2815971" y="848868"/>
                </a:moveTo>
                <a:lnTo>
                  <a:pt x="2712720" y="848868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3"/>
                </a:lnTo>
                <a:lnTo>
                  <a:pt x="2815971" y="848868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8"/>
                </a:lnTo>
                <a:lnTo>
                  <a:pt x="3377184" y="239268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8"/>
                </a:moveTo>
                <a:lnTo>
                  <a:pt x="3142392" y="848868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8"/>
                </a:lnTo>
                <a:close/>
              </a:path>
              <a:path w="5741670" h="1073150">
                <a:moveTo>
                  <a:pt x="3866483" y="1072896"/>
                </a:moveTo>
                <a:lnTo>
                  <a:pt x="3752088" y="1072896"/>
                </a:lnTo>
                <a:lnTo>
                  <a:pt x="3930015" y="811434"/>
                </a:lnTo>
                <a:lnTo>
                  <a:pt x="3820668" y="239268"/>
                </a:lnTo>
                <a:lnTo>
                  <a:pt x="3924585" y="239268"/>
                </a:lnTo>
                <a:lnTo>
                  <a:pt x="4010310" y="693420"/>
                </a:lnTo>
                <a:lnTo>
                  <a:pt x="4116186" y="693420"/>
                </a:lnTo>
                <a:lnTo>
                  <a:pt x="3866483" y="1072896"/>
                </a:lnTo>
                <a:close/>
              </a:path>
              <a:path w="5741670" h="1073150">
                <a:moveTo>
                  <a:pt x="4116186" y="693420"/>
                </a:moveTo>
                <a:lnTo>
                  <a:pt x="4010310" y="693420"/>
                </a:lnTo>
                <a:lnTo>
                  <a:pt x="4301871" y="239268"/>
                </a:lnTo>
                <a:lnTo>
                  <a:pt x="4415028" y="239268"/>
                </a:lnTo>
                <a:lnTo>
                  <a:pt x="4116186" y="693420"/>
                </a:lnTo>
                <a:close/>
              </a:path>
              <a:path w="5741670" h="1073150">
                <a:moveTo>
                  <a:pt x="4664868" y="865632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6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6" y="374714"/>
                </a:lnTo>
                <a:lnTo>
                  <a:pt x="4555243" y="318367"/>
                </a:lnTo>
                <a:lnTo>
                  <a:pt x="4610717" y="273933"/>
                </a:lnTo>
                <a:lnTo>
                  <a:pt x="4675908" y="241323"/>
                </a:lnTo>
                <a:lnTo>
                  <a:pt x="4747709" y="224645"/>
                </a:lnTo>
                <a:lnTo>
                  <a:pt x="4785931" y="222504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8"/>
                </a:lnTo>
                <a:lnTo>
                  <a:pt x="4769453" y="307848"/>
                </a:lnTo>
                <a:lnTo>
                  <a:pt x="4743770" y="309492"/>
                </a:lnTo>
                <a:lnTo>
                  <a:pt x="4696439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0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8"/>
                </a:lnTo>
                <a:lnTo>
                  <a:pt x="4649808" y="777823"/>
                </a:lnTo>
                <a:lnTo>
                  <a:pt x="4681347" y="780288"/>
                </a:lnTo>
                <a:lnTo>
                  <a:pt x="4883964" y="780288"/>
                </a:lnTo>
                <a:lnTo>
                  <a:pt x="4868382" y="794527"/>
                </a:lnTo>
                <a:lnTo>
                  <a:pt x="4809934" y="833247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2"/>
                </a:lnTo>
                <a:close/>
              </a:path>
              <a:path w="5741670" h="1073150">
                <a:moveTo>
                  <a:pt x="4883964" y="780288"/>
                </a:moveTo>
                <a:lnTo>
                  <a:pt x="4681347" y="780288"/>
                </a:lnTo>
                <a:lnTo>
                  <a:pt x="4706869" y="778771"/>
                </a:lnTo>
                <a:lnTo>
                  <a:pt x="4731150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8"/>
                </a:lnTo>
                <a:lnTo>
                  <a:pt x="4974003" y="307848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4" y="454914"/>
                </a:lnTo>
                <a:lnTo>
                  <a:pt x="5013961" y="494602"/>
                </a:lnTo>
                <a:lnTo>
                  <a:pt x="5013927" y="495490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8"/>
                </a:lnTo>
                <a:close/>
              </a:path>
              <a:path w="5741670" h="1073150">
                <a:moveTo>
                  <a:pt x="5297805" y="865632"/>
                </a:moveTo>
                <a:lnTo>
                  <a:pt x="5228034" y="855773"/>
                </a:lnTo>
                <a:lnTo>
                  <a:pt x="5175408" y="826198"/>
                </a:lnTo>
                <a:lnTo>
                  <a:pt x="5142357" y="777621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1467" y="701593"/>
                </a:lnTo>
                <a:lnTo>
                  <a:pt x="5136701" y="656082"/>
                </a:lnTo>
                <a:lnTo>
                  <a:pt x="5232368" y="239268"/>
                </a:lnTo>
                <a:lnTo>
                  <a:pt x="5334857" y="239268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4"/>
                </a:lnTo>
                <a:lnTo>
                  <a:pt x="5240655" y="677418"/>
                </a:lnTo>
                <a:lnTo>
                  <a:pt x="5242137" y="699440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4"/>
                </a:lnTo>
                <a:lnTo>
                  <a:pt x="5617603" y="771144"/>
                </a:lnTo>
                <a:lnTo>
                  <a:pt x="5615193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2"/>
                </a:lnTo>
                <a:close/>
              </a:path>
              <a:path w="5741670" h="1073150">
                <a:moveTo>
                  <a:pt x="5617603" y="771144"/>
                </a:moveTo>
                <a:lnTo>
                  <a:pt x="5345049" y="771144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8"/>
                </a:lnTo>
                <a:lnTo>
                  <a:pt x="5741098" y="239268"/>
                </a:lnTo>
                <a:lnTo>
                  <a:pt x="5617603" y="771144"/>
                </a:lnTo>
                <a:close/>
              </a:path>
              <a:path w="5741670" h="1073150">
                <a:moveTo>
                  <a:pt x="5599557" y="848868"/>
                </a:moveTo>
                <a:lnTo>
                  <a:pt x="5497068" y="848868"/>
                </a:lnTo>
                <a:lnTo>
                  <a:pt x="5512689" y="781526"/>
                </a:lnTo>
                <a:lnTo>
                  <a:pt x="5615193" y="781526"/>
                </a:lnTo>
                <a:lnTo>
                  <a:pt x="5599557" y="848868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1659</Words>
  <Application>Microsoft Office PowerPoint</Application>
  <PresentationFormat>Custom</PresentationFormat>
  <Paragraphs>139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Verdana</vt:lpstr>
      <vt:lpstr>Wingdings</vt:lpstr>
      <vt:lpstr>Office Theme</vt:lpstr>
      <vt:lpstr>UEC3942: Introduction to Sensors and Actuators</vt:lpstr>
      <vt:lpstr>Learning Outcomes</vt:lpstr>
      <vt:lpstr>Definition of Pressure</vt:lpstr>
      <vt:lpstr>Units of Measurement</vt:lpstr>
      <vt:lpstr>Stress and Strain Relationships</vt:lpstr>
      <vt:lpstr>Pressure Sensing Ranges</vt:lpstr>
      <vt:lpstr>Aneroid Barometer Principle</vt:lpstr>
      <vt:lpstr>Aneroid Barometer Principle</vt:lpstr>
      <vt:lpstr>Capacitive Pressure Sensors</vt:lpstr>
      <vt:lpstr>Capacitive Sensor &amp; Formulas</vt:lpstr>
      <vt:lpstr>Variable Reluctance Sensors</vt:lpstr>
      <vt:lpstr>Characteristics of Variable Reluctance Gauges</vt:lpstr>
      <vt:lpstr>Bourdon Tube (Flattened Tube) Sensors</vt:lpstr>
      <vt:lpstr>Bourdon Tube (Flattened Tube) Sensors</vt:lpstr>
      <vt:lpstr>Piezoelectric Pressure Sensors</vt:lpstr>
      <vt:lpstr>Advantages of Piezoelectric Sensors</vt:lpstr>
      <vt:lpstr>Semiconductor Pressure Gauges</vt:lpstr>
      <vt:lpstr>Materials and Durability</vt:lpstr>
      <vt:lpstr>Low Gas Pressure (Vacuum) Measurement</vt:lpstr>
      <vt:lpstr>The Pirani Gauge</vt:lpstr>
      <vt:lpstr>Ion Gauges and Recalibration</vt:lpstr>
      <vt:lpstr>Summary of Pressure Sensing Technologies</vt:lpstr>
      <vt:lpstr>Conclusion and Key Takeaways</vt:lpstr>
      <vt:lpstr>Test your understanding</vt:lpstr>
      <vt:lpstr>Test your understanding</vt:lpstr>
      <vt:lpstr>Textbook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Pressure Gauge Sensors</dc:title>
  <dc:creator>Karthie Alias Ayyadurai</dc:creator>
  <cp:lastModifiedBy>Annadurai C</cp:lastModifiedBy>
  <cp:revision>2</cp:revision>
  <dcterms:created xsi:type="dcterms:W3CDTF">2026-06-24T07:59:20Z</dcterms:created>
  <dcterms:modified xsi:type="dcterms:W3CDTF">2026-07-08T03:40:25Z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2026-01-02T00:00:00Z</vt:filetime>
  </property>
  <property fmtid="{D5CDD505-2E9C-101B-9397-08002B2CF9AE}" pid="3" name="LastSaved">
    <vt:filetime>2026-06-24T00:00:00Z</vt:filetime>
  </property>
  <property fmtid="{D5CDD505-2E9C-101B-9397-08002B2CF9AE}" pid="4" name="Producer">
    <vt:lpwstr>3-Heights(TM) PDF Security Shell 4.8.25.2 (http://www.pdf-tools.com)</vt:lpwstr>
  </property>
</Properties>
</file>