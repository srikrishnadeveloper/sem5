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518283"/>
            <a:ext cx="8709660" cy="404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2094" y="2875359"/>
            <a:ext cx="8152130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0600"/>
              </a:lnSpc>
              <a:spcBef>
                <a:spcPts val="90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 II: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Colour</a:t>
            </a:r>
            <a:r>
              <a:rPr sz="3500" b="1" spc="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3500" b="1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25" dirty="0">
                <a:solidFill>
                  <a:srgbClr val="FF0000"/>
                </a:solidFill>
                <a:latin typeface="Verdana"/>
                <a:cs typeface="Verdana"/>
              </a:rPr>
              <a:t>and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Light</a:t>
            </a:r>
            <a:r>
              <a:rPr sz="35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20" dirty="0">
                <a:solidFill>
                  <a:srgbClr val="FF0000"/>
                </a:solidFill>
                <a:latin typeface="Verdana"/>
                <a:cs typeface="Verdana"/>
              </a:rPr>
              <a:t>Flux</a:t>
            </a:r>
            <a:endParaRPr sz="3500" dirty="0">
              <a:latin typeface="Verdana"/>
              <a:cs typeface="Verdana"/>
            </a:endParaRPr>
          </a:p>
          <a:p>
            <a:pPr marL="2743200" marR="2733675" algn="ctr">
              <a:lnSpc>
                <a:spcPct val="121600"/>
              </a:lnSpc>
              <a:spcBef>
                <a:spcPts val="3254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dirty="0" smtClean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1410970" marR="140017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221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At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end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session,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students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will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able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relationship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Heat,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Wavelength,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/>
          <p:nvPr/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dirty="0">
                <a:solidFill>
                  <a:srgbClr val="FFFFFF"/>
                </a:solidFill>
                <a:latin typeface="Verdana"/>
                <a:cs typeface="Verdana"/>
              </a:rPr>
              <a:t>Learning</a:t>
            </a:r>
            <a:r>
              <a:rPr sz="3950" b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950" b="1" spc="-10" dirty="0">
                <a:solidFill>
                  <a:srgbClr val="FFFFFF"/>
                </a:solidFill>
                <a:latin typeface="Verdana"/>
                <a:cs typeface="Verdana"/>
              </a:rPr>
              <a:t>Outcomes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76498" y="426127"/>
            <a:ext cx="65049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Physics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Light</a:t>
            </a:r>
            <a:r>
              <a:rPr spc="-30" dirty="0"/>
              <a:t> </a:t>
            </a:r>
            <a:r>
              <a:rPr spc="-10" dirty="0"/>
              <a:t>Waves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7983" y="1726907"/>
            <a:ext cx="878586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 marR="431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Constant</a:t>
            </a:r>
            <a:r>
              <a:rPr sz="2200"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Speed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200" b="1" spc="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Light:</a:t>
            </a:r>
            <a:r>
              <a:rPr sz="2200"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air,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 	</a:t>
            </a:r>
            <a:r>
              <a:rPr sz="2200" dirty="0">
                <a:latin typeface="Verdana"/>
                <a:cs typeface="Verdana"/>
              </a:rPr>
              <a:t>travels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approximately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3×10</a:t>
            </a:r>
            <a:r>
              <a:rPr sz="2175" baseline="24904" dirty="0">
                <a:latin typeface="Verdana"/>
                <a:cs typeface="Verdana"/>
              </a:rPr>
              <a:t>8</a:t>
            </a:r>
            <a:r>
              <a:rPr sz="2175" spc="-60" baseline="24904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m/s.</a:t>
            </a:r>
            <a:endParaRPr sz="2200">
              <a:latin typeface="Verdana"/>
              <a:cs typeface="Verdana"/>
            </a:endParaRPr>
          </a:p>
          <a:p>
            <a:pPr marL="427355" marR="45085" indent="-377190">
              <a:lnSpc>
                <a:spcPct val="150000"/>
              </a:lnSpc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latin typeface="Verdana"/>
                <a:cs typeface="Verdana"/>
              </a:rPr>
              <a:t>Fundamental</a:t>
            </a:r>
            <a:r>
              <a:rPr sz="2200" b="1" spc="45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Equation:</a:t>
            </a:r>
            <a:r>
              <a:rPr sz="2200" b="1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Speed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c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product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f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wavelength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</a:t>
            </a:r>
            <a:r>
              <a:rPr sz="2200" i="1" spc="-20" dirty="0">
                <a:latin typeface="Verdana"/>
                <a:cs typeface="Verdana"/>
              </a:rPr>
              <a:t>λ</a:t>
            </a:r>
            <a:r>
              <a:rPr sz="2200" spc="-2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083" y="5247490"/>
            <a:ext cx="870839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558925" algn="l"/>
                <a:tab pos="303276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Media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Impact: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speed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slows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significantly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when 	</a:t>
            </a:r>
            <a:r>
              <a:rPr sz="2200" dirty="0">
                <a:latin typeface="Verdana"/>
                <a:cs typeface="Verdana"/>
              </a:rPr>
              <a:t>traveling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glass.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3713988"/>
            <a:ext cx="1677923" cy="1409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6018" y="124572"/>
            <a:ext cx="916559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2660" marR="5080" indent="-3490595">
              <a:lnSpc>
                <a:spcPct val="100200"/>
              </a:lnSpc>
              <a:spcBef>
                <a:spcPts val="100"/>
              </a:spcBef>
            </a:pPr>
            <a:r>
              <a:rPr dirty="0"/>
              <a:t>Energy</a:t>
            </a:r>
            <a:r>
              <a:rPr spc="-3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Quantum</a:t>
            </a:r>
            <a:r>
              <a:rPr spc="-10" dirty="0"/>
              <a:t> Nature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Light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Amplitude</a:t>
            </a:r>
            <a:r>
              <a:rPr sz="2200" b="1" spc="4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2200" b="1" spc="4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Energy:</a:t>
            </a:r>
            <a:r>
              <a:rPr sz="2200" b="1" spc="4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total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carried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radiation</a:t>
            </a:r>
            <a:r>
              <a:rPr sz="2200" spc="2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2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depends</a:t>
            </a:r>
            <a:r>
              <a:rPr sz="2200" spc="2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square</a:t>
            </a:r>
            <a:r>
              <a:rPr sz="2200" spc="2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7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its 	</a:t>
            </a:r>
            <a:r>
              <a:rPr sz="2200" spc="-10" dirty="0">
                <a:latin typeface="Verdana"/>
                <a:cs typeface="Verdana"/>
              </a:rPr>
              <a:t>amplitude.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Frequency</a:t>
            </a:r>
            <a:r>
              <a:rPr sz="2200" b="1" spc="509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2200" b="1" spc="5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2200" b="1" spc="5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Energy:</a:t>
            </a:r>
            <a:r>
              <a:rPr sz="2200" b="1" spc="5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"unit</a:t>
            </a:r>
            <a:r>
              <a:rPr sz="2200" spc="4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energy" 	</a:t>
            </a:r>
            <a:r>
              <a:rPr sz="2200" dirty="0">
                <a:latin typeface="Verdana"/>
                <a:cs typeface="Verdana"/>
              </a:rPr>
              <a:t>(quantum)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dependent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Scientific</a:t>
            </a:r>
            <a:r>
              <a:rPr sz="2200" b="1" spc="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Milestone: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explanation  of  </a:t>
            </a:r>
            <a:r>
              <a:rPr sz="2200" spc="-10" dirty="0">
                <a:latin typeface="Verdana"/>
                <a:cs typeface="Verdana"/>
              </a:rPr>
              <a:t>photoelectric 	</a:t>
            </a:r>
            <a:r>
              <a:rPr sz="2200" spc="-20" dirty="0">
                <a:latin typeface="Verdana"/>
                <a:cs typeface="Verdana"/>
              </a:rPr>
              <a:t>emission—</a:t>
            </a:r>
            <a:r>
              <a:rPr sz="2200" dirty="0">
                <a:latin typeface="Verdana"/>
                <a:cs typeface="Verdana"/>
              </a:rPr>
              <a:t>how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acts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quanta—</a:t>
            </a:r>
            <a:r>
              <a:rPr sz="2200" dirty="0">
                <a:latin typeface="Verdana"/>
                <a:cs typeface="Verdana"/>
              </a:rPr>
              <a:t>won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Albert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Einstein 	</a:t>
            </a:r>
            <a:r>
              <a:rPr sz="2200" dirty="0">
                <a:latin typeface="Verdana"/>
                <a:cs typeface="Verdana"/>
              </a:rPr>
              <a:t>his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first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Nobel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Prize.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5296" y="426127"/>
            <a:ext cx="82251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Defining</a:t>
            </a:r>
            <a:r>
              <a:rPr spc="-40" dirty="0"/>
              <a:t> </a:t>
            </a:r>
            <a:r>
              <a:rPr dirty="0"/>
              <a:t>Colour</a:t>
            </a:r>
            <a:r>
              <a:rPr spc="-20" dirty="0"/>
              <a:t> </a:t>
            </a:r>
            <a:r>
              <a:rPr spc="-10" dirty="0"/>
              <a:t>Temperature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0485" cy="354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Thermal</a:t>
            </a:r>
            <a:r>
              <a:rPr sz="2200" b="1" spc="22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Radiation: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Any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object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above 	</a:t>
            </a:r>
            <a:r>
              <a:rPr sz="2200" dirty="0">
                <a:latin typeface="Verdana"/>
                <a:cs typeface="Verdana"/>
              </a:rPr>
              <a:t>absolute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zero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(0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K)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energy.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3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Concept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Colour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describes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spectrum 	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terms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"black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body"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would 	</a:t>
            </a:r>
            <a:r>
              <a:rPr sz="2200" dirty="0">
                <a:latin typeface="Verdana"/>
                <a:cs typeface="Verdana"/>
              </a:rPr>
              <a:t>need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reach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same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way.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Practical</a:t>
            </a:r>
            <a:r>
              <a:rPr sz="2200" b="1" spc="440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Calculation:</a:t>
            </a:r>
            <a:r>
              <a:rPr sz="2200" b="1" spc="434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2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find</a:t>
            </a:r>
            <a:r>
              <a:rPr sz="2200" spc="42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Kelvin</a:t>
            </a:r>
            <a:r>
              <a:rPr sz="2200" spc="425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(absolute 	</a:t>
            </a:r>
            <a:r>
              <a:rPr sz="2200" dirty="0">
                <a:latin typeface="Verdana"/>
                <a:cs typeface="Verdana"/>
              </a:rPr>
              <a:t>temperature),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273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Celsius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210" y="124572"/>
            <a:ext cx="952309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4740" marR="5080" indent="-3622675">
              <a:lnSpc>
                <a:spcPct val="100200"/>
              </a:lnSpc>
              <a:spcBef>
                <a:spcPts val="100"/>
              </a:spcBef>
            </a:pPr>
            <a:r>
              <a:rPr dirty="0"/>
              <a:t>Radiated</a:t>
            </a:r>
            <a:r>
              <a:rPr spc="-70" dirty="0"/>
              <a:t> </a:t>
            </a: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Temperature (Graph)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9185" y="1726907"/>
            <a:ext cx="862139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655" marR="15367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159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Power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Density: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Plotted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watts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</a:t>
            </a:r>
            <a:r>
              <a:rPr sz="2175" baseline="24904" dirty="0">
                <a:latin typeface="Verdana"/>
                <a:cs typeface="Verdana"/>
              </a:rPr>
              <a:t>2</a:t>
            </a:r>
            <a:r>
              <a:rPr sz="2175" spc="337" baseline="249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micrometre 	</a:t>
            </a:r>
            <a:r>
              <a:rPr sz="2200" dirty="0">
                <a:latin typeface="Verdana"/>
                <a:cs typeface="Verdana"/>
              </a:rPr>
              <a:t>(µm)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band.</a:t>
            </a:r>
            <a:endParaRPr sz="2200">
              <a:latin typeface="Verdana"/>
              <a:cs typeface="Verdana"/>
            </a:endParaRPr>
          </a:p>
          <a:p>
            <a:pPr marL="414655" marR="30480" indent="-377190">
              <a:lnSpc>
                <a:spcPct val="150000"/>
              </a:lnSpc>
              <a:buFont typeface="Wingdings"/>
              <a:buChar char=""/>
              <a:tabLst>
                <a:tab pos="4159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Correlation: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result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peak 	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shift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toward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shorter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wavelengths.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75462" y="124572"/>
            <a:ext cx="630809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3190" marR="5080" indent="-1381125">
              <a:lnSpc>
                <a:spcPct val="1002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" dirty="0"/>
              <a:t> Stefan-Boltzmann Relationship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930" cy="455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Fourth</a:t>
            </a:r>
            <a:r>
              <a:rPr sz="2200"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Power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Law:</a:t>
            </a:r>
            <a:r>
              <a:rPr sz="2200"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amount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radiated 	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proportional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fourth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absolute 	temperature.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Example:</a:t>
            </a:r>
            <a:endParaRPr sz="2200">
              <a:latin typeface="Verdana"/>
              <a:cs typeface="Verdana"/>
            </a:endParaRPr>
          </a:p>
          <a:p>
            <a:pPr marL="892175" marR="7620" lvl="1" indent="-377190" algn="just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An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object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1000K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radiates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16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times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energy 	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object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500K.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Visual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Change: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object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heats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up,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1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radiates 	</a:t>
            </a:r>
            <a:r>
              <a:rPr sz="2200" dirty="0">
                <a:latin typeface="Verdana"/>
                <a:cs typeface="Verdana"/>
              </a:rPr>
              <a:t>significantly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bandwidth</a:t>
            </a:r>
            <a:r>
              <a:rPr sz="2200" spc="2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spectrum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increases.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51177" y="124572"/>
            <a:ext cx="735139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5480" marR="5080" indent="-1923414">
              <a:lnSpc>
                <a:spcPct val="1002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Shift</a:t>
            </a:r>
            <a:r>
              <a:rPr spc="-25" dirty="0"/>
              <a:t> </a:t>
            </a:r>
            <a:r>
              <a:rPr dirty="0"/>
              <a:t>from</a:t>
            </a:r>
            <a:r>
              <a:rPr spc="5" dirty="0"/>
              <a:t> </a:t>
            </a:r>
            <a:r>
              <a:rPr dirty="0"/>
              <a:t>Infrared</a:t>
            </a:r>
            <a:r>
              <a:rPr spc="-45" dirty="0"/>
              <a:t> </a:t>
            </a:r>
            <a:r>
              <a:rPr spc="-25" dirty="0"/>
              <a:t>to </a:t>
            </a:r>
            <a:r>
              <a:rPr dirty="0"/>
              <a:t>Visible</a:t>
            </a:r>
            <a:r>
              <a:rPr spc="-50" dirty="0"/>
              <a:t> </a:t>
            </a:r>
            <a:r>
              <a:rPr spc="-10" dirty="0"/>
              <a:t>Light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6175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952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Low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Temperatures:</a:t>
            </a:r>
            <a:r>
              <a:rPr sz="22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Radiation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predominantly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far-	</a:t>
            </a:r>
            <a:r>
              <a:rPr sz="2200" dirty="0">
                <a:latin typeface="Verdana"/>
                <a:cs typeface="Verdana"/>
              </a:rPr>
              <a:t>infrared,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invisible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human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eye.</a:t>
            </a:r>
            <a:endParaRPr sz="2200">
              <a:latin typeface="Verdana"/>
              <a:cs typeface="Verdana"/>
            </a:endParaRPr>
          </a:p>
          <a:p>
            <a:pPr marL="389255" marR="762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"Red-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Hot"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Threshold: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Around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700K,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spectrum 	</a:t>
            </a:r>
            <a:r>
              <a:rPr sz="2200" dirty="0">
                <a:latin typeface="Verdana"/>
                <a:cs typeface="Verdana"/>
              </a:rPr>
              <a:t>shifts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enough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some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radiation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enter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region.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Wien's</a:t>
            </a:r>
            <a:r>
              <a:rPr sz="2200" b="1" spc="4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Relationship:</a:t>
            </a:r>
            <a:r>
              <a:rPr sz="2200" b="1" spc="4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Doubling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absolute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 	</a:t>
            </a:r>
            <a:r>
              <a:rPr sz="2200" dirty="0">
                <a:latin typeface="Verdana"/>
                <a:cs typeface="Verdana"/>
              </a:rPr>
              <a:t>halves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wavelength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peak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(predominant)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radiation.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05091" y="124572"/>
            <a:ext cx="864933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8704" marR="5080" indent="-3596640">
              <a:lnSpc>
                <a:spcPct val="100200"/>
              </a:lnSpc>
              <a:spcBef>
                <a:spcPts val="100"/>
              </a:spcBef>
            </a:pPr>
            <a:r>
              <a:rPr dirty="0"/>
              <a:t>High</a:t>
            </a:r>
            <a:r>
              <a:rPr spc="-55" dirty="0"/>
              <a:t> </a:t>
            </a:r>
            <a:r>
              <a:rPr dirty="0"/>
              <a:t>Temperatures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"Cool" Light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175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Shift</a:t>
            </a:r>
            <a:r>
              <a:rPr sz="2200"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to</a:t>
            </a:r>
            <a:r>
              <a:rPr sz="2200" b="1" spc="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Blue: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increases,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spectrum 	</a:t>
            </a:r>
            <a:r>
              <a:rPr sz="2200" dirty="0">
                <a:latin typeface="Verdana"/>
                <a:cs typeface="Verdana"/>
              </a:rPr>
              <a:t>shifts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toward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frequencies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(shorter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wavelengths).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Sunlight</a:t>
            </a:r>
            <a:r>
              <a:rPr sz="2200" b="1" spc="229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Equivalence: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Temperatures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approximately 	</a:t>
            </a:r>
            <a:r>
              <a:rPr sz="2200" dirty="0">
                <a:latin typeface="Verdana"/>
                <a:cs typeface="Verdana"/>
              </a:rPr>
              <a:t>3000K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provide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predominantly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blue,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approaching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spectrum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natural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sunlight.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39883" y="426127"/>
            <a:ext cx="55746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Misconceptions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93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Equivalent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Temperature:</a:t>
            </a:r>
            <a:r>
              <a:rPr sz="2200" b="1" spc="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Quoting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colour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 	</a:t>
            </a:r>
            <a:r>
              <a:rPr sz="2200" dirty="0">
                <a:latin typeface="Verdana"/>
                <a:cs typeface="Verdana"/>
              </a:rPr>
              <a:t>of 3500K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does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not</a:t>
            </a:r>
            <a:r>
              <a:rPr sz="2200" b="1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necessarily mean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source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itself 	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physically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Interaction</a:t>
            </a:r>
            <a:r>
              <a:rPr sz="2200"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with</a:t>
            </a:r>
            <a:r>
              <a:rPr sz="2200" b="1" spc="3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Matter:</a:t>
            </a:r>
            <a:r>
              <a:rPr sz="2200" b="1" spc="3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Interaction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radiation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becomes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critical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wavelength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similar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distance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atomic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particles.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77207" y="426127"/>
            <a:ext cx="73025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4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Light</a:t>
            </a:r>
            <a:r>
              <a:rPr spc="-60" dirty="0"/>
              <a:t> </a:t>
            </a:r>
            <a:r>
              <a:rPr spc="-20" dirty="0"/>
              <a:t>Flux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1323" rIns="0" bIns="0" rtlCol="0">
            <a:spAutoFit/>
          </a:bodyPr>
          <a:lstStyle/>
          <a:p>
            <a:pPr marL="389255" marR="32384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dirty="0"/>
              <a:t>How</a:t>
            </a:r>
            <a:r>
              <a:rPr spc="-75" dirty="0"/>
              <a:t>  </a:t>
            </a:r>
            <a:r>
              <a:rPr dirty="0"/>
              <a:t>is</a:t>
            </a:r>
            <a:r>
              <a:rPr spc="-70" dirty="0"/>
              <a:t>  </a:t>
            </a:r>
            <a:r>
              <a:rPr dirty="0"/>
              <a:t>the</a:t>
            </a:r>
            <a:r>
              <a:rPr spc="-80" dirty="0"/>
              <a:t>  </a:t>
            </a:r>
            <a:r>
              <a:rPr dirty="0"/>
              <a:t>sensitivity</a:t>
            </a:r>
            <a:r>
              <a:rPr spc="-85" dirty="0"/>
              <a:t>  </a:t>
            </a:r>
            <a:r>
              <a:rPr dirty="0"/>
              <a:t>of</a:t>
            </a:r>
            <a:r>
              <a:rPr spc="-85" dirty="0"/>
              <a:t>  </a:t>
            </a:r>
            <a:r>
              <a:rPr dirty="0"/>
              <a:t>photocells</a:t>
            </a:r>
            <a:r>
              <a:rPr spc="-70" dirty="0"/>
              <a:t>  </a:t>
            </a:r>
            <a:r>
              <a:rPr dirty="0"/>
              <a:t>quantified,</a:t>
            </a:r>
            <a:r>
              <a:rPr spc="-80" dirty="0"/>
              <a:t>  </a:t>
            </a:r>
            <a:r>
              <a:rPr dirty="0"/>
              <a:t>and</a:t>
            </a:r>
            <a:r>
              <a:rPr spc="-75" dirty="0"/>
              <a:t>  </a:t>
            </a:r>
            <a:r>
              <a:rPr spc="-25" dirty="0"/>
              <a:t>the 	</a:t>
            </a:r>
            <a:r>
              <a:rPr dirty="0"/>
              <a:t>standards</a:t>
            </a:r>
            <a:r>
              <a:rPr spc="-75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for</a:t>
            </a:r>
            <a:r>
              <a:rPr spc="-85" dirty="0"/>
              <a:t> </a:t>
            </a:r>
            <a:r>
              <a:rPr spc="-10" dirty="0"/>
              <a:t>measurement?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Two</a:t>
            </a:r>
            <a:r>
              <a:rPr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Methods</a:t>
            </a:r>
            <a:r>
              <a:rPr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Quoting</a:t>
            </a:r>
            <a:r>
              <a:rPr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</a:p>
          <a:p>
            <a:pPr marL="893444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Illumination: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b="1" spc="-20" dirty="0">
                <a:latin typeface="Verdana"/>
                <a:cs typeface="Verdana"/>
              </a:rPr>
              <a:t>lux</a:t>
            </a:r>
            <a:r>
              <a:rPr sz="2200" spc="-2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 marL="893444" marR="304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Irradiance: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falling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specific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</a:t>
            </a:r>
            <a:r>
              <a:rPr sz="2200" b="1" spc="-10" dirty="0">
                <a:latin typeface="Verdana"/>
                <a:cs typeface="Verdana"/>
              </a:rPr>
              <a:t>mW/cm</a:t>
            </a:r>
            <a:r>
              <a:rPr sz="2175" b="1" spc="-15" baseline="24904" dirty="0">
                <a:latin typeface="Verdana"/>
                <a:cs typeface="Verdana"/>
              </a:rPr>
              <a:t>2</a:t>
            </a:r>
            <a:r>
              <a:rPr sz="2200" spc="-1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9319" y="426127"/>
            <a:ext cx="9558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Understanding</a:t>
            </a:r>
            <a:r>
              <a:rPr spc="-90" dirty="0"/>
              <a:t> </a:t>
            </a:r>
            <a:r>
              <a:rPr dirty="0"/>
              <a:t>Illumination</a:t>
            </a:r>
            <a:r>
              <a:rPr spc="-60" dirty="0"/>
              <a:t> </a:t>
            </a:r>
            <a:r>
              <a:rPr spc="-10" dirty="0"/>
              <a:t>(Lux)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Lux</a:t>
            </a:r>
            <a:r>
              <a:rPr spc="-20" dirty="0"/>
              <a:t> </a:t>
            </a:r>
            <a:r>
              <a:rPr dirty="0"/>
              <a:t>figures</a:t>
            </a:r>
            <a:r>
              <a:rPr spc="-20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obtained</a:t>
            </a:r>
            <a:r>
              <a:rPr spc="-2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dirty="0"/>
              <a:t>photometers</a:t>
            </a:r>
            <a:r>
              <a:rPr spc="-20" dirty="0"/>
              <a:t> </a:t>
            </a:r>
            <a:r>
              <a:rPr spc="-25" dirty="0"/>
              <a:t>to 	</a:t>
            </a:r>
            <a:r>
              <a:rPr dirty="0"/>
              <a:t>measure</a:t>
            </a:r>
            <a:r>
              <a:rPr spc="-70" dirty="0"/>
              <a:t> </a:t>
            </a:r>
            <a:r>
              <a:rPr dirty="0"/>
              <a:t>light</a:t>
            </a:r>
            <a:r>
              <a:rPr spc="-60" dirty="0"/>
              <a:t> </a:t>
            </a:r>
            <a:r>
              <a:rPr spc="-10" dirty="0"/>
              <a:t>levels.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Common</a:t>
            </a:r>
            <a:r>
              <a:rPr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Benchmarks:</a:t>
            </a: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  <a:tab pos="1576705" algn="l"/>
                <a:tab pos="2455545" algn="l"/>
                <a:tab pos="3754754" algn="l"/>
                <a:tab pos="5299710" algn="l"/>
                <a:tab pos="6627495" algn="l"/>
                <a:tab pos="8308975" algn="l"/>
              </a:tabLst>
            </a:pPr>
            <a:r>
              <a:rPr sz="2200" b="1" spc="-25" dirty="0">
                <a:latin typeface="Verdana"/>
                <a:cs typeface="Verdana"/>
              </a:rPr>
              <a:t>50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b="1" spc="-20" dirty="0">
                <a:latin typeface="Verdana"/>
                <a:cs typeface="Verdana"/>
              </a:rPr>
              <a:t>lux:</a:t>
            </a:r>
            <a:r>
              <a:rPr sz="2200" b="1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Normal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domestic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lighting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(sufficient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 </a:t>
            </a:r>
            <a:r>
              <a:rPr sz="2200" dirty="0">
                <a:latin typeface="Verdana"/>
                <a:cs typeface="Verdana"/>
              </a:rPr>
              <a:t>reading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newspaper).</a:t>
            </a:r>
            <a:endParaRPr sz="2200">
              <a:latin typeface="Verdana"/>
              <a:cs typeface="Verdana"/>
            </a:endParaRPr>
          </a:p>
          <a:p>
            <a:pPr marL="893444" marR="6985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b="1" dirty="0">
                <a:latin typeface="Verdana"/>
                <a:cs typeface="Verdana"/>
              </a:rPr>
              <a:t>1000</a:t>
            </a:r>
            <a:r>
              <a:rPr sz="2200" b="1" spc="21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lux:</a:t>
            </a:r>
            <a:r>
              <a:rPr sz="2200" b="1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Level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required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close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inspection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or </a:t>
            </a:r>
            <a:r>
              <a:rPr sz="2200" dirty="0">
                <a:latin typeface="Verdana"/>
                <a:cs typeface="Verdana"/>
              </a:rPr>
              <a:t>reading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fine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print.</a:t>
            </a:r>
            <a:endParaRPr sz="220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b="1" dirty="0">
                <a:latin typeface="Verdana"/>
                <a:cs typeface="Verdana"/>
              </a:rPr>
              <a:t>100,000</a:t>
            </a:r>
            <a:r>
              <a:rPr sz="2200" b="1" spc="-2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lux:</a:t>
            </a:r>
            <a:r>
              <a:rPr sz="2200" b="1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sunlight.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77207" y="426127"/>
            <a:ext cx="73050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Understanding</a:t>
            </a:r>
            <a:r>
              <a:rPr spc="-70" dirty="0"/>
              <a:t> </a:t>
            </a:r>
            <a:r>
              <a:rPr spc="-10" dirty="0"/>
              <a:t>Irradiance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2985" y="1518283"/>
            <a:ext cx="888746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0855" marR="812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921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Irradiance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figure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falling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cell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cm</a:t>
            </a:r>
            <a:r>
              <a:rPr sz="2175" baseline="24904" dirty="0">
                <a:latin typeface="Verdana"/>
                <a:cs typeface="Verdana"/>
              </a:rPr>
              <a:t>2</a:t>
            </a:r>
            <a:r>
              <a:rPr sz="2175" spc="337" baseline="249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area.</a:t>
            </a:r>
            <a:endParaRPr sz="2200">
              <a:latin typeface="Verdana"/>
              <a:cs typeface="Verdana"/>
            </a:endParaRPr>
          </a:p>
          <a:p>
            <a:pPr marL="490855" marR="81280" indent="-377190" algn="just">
              <a:lnSpc>
                <a:spcPct val="150000"/>
              </a:lnSpc>
              <a:buFont typeface="Wingdings"/>
              <a:buChar char=""/>
              <a:tabLst>
                <a:tab pos="4921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Electronic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Perspective: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(mW/cm</a:t>
            </a:r>
            <a:r>
              <a:rPr sz="2175" baseline="24904" dirty="0">
                <a:latin typeface="Verdana"/>
                <a:cs typeface="Verdana"/>
              </a:rPr>
              <a:t>2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often 	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43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comprehensible</a:t>
            </a:r>
            <a:r>
              <a:rPr sz="2200" spc="4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those</a:t>
            </a:r>
            <a:r>
              <a:rPr sz="2200" spc="4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4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44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electronics 	background.</a:t>
            </a:r>
            <a:endParaRPr sz="2200">
              <a:latin typeface="Verdana"/>
              <a:cs typeface="Verdana"/>
            </a:endParaRPr>
          </a:p>
          <a:p>
            <a:pPr marL="490855" marR="81915" indent="-377190" algn="just">
              <a:lnSpc>
                <a:spcPct val="150000"/>
              </a:lnSpc>
              <a:buFont typeface="Wingdings"/>
              <a:buChar char=""/>
              <a:tabLst>
                <a:tab pos="4921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Conversion</a:t>
            </a:r>
            <a:r>
              <a:rPr sz="2200" b="1" spc="4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Challenge:</a:t>
            </a:r>
            <a:r>
              <a:rPr sz="2200" b="1" spc="4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There</a:t>
            </a:r>
            <a:r>
              <a:rPr sz="2200" spc="4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no</a:t>
            </a:r>
            <a:r>
              <a:rPr sz="2200" spc="3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simple</a:t>
            </a:r>
            <a:r>
              <a:rPr sz="2200" spc="4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direct 	</a:t>
            </a:r>
            <a:r>
              <a:rPr sz="2200" dirty="0">
                <a:latin typeface="Verdana"/>
                <a:cs typeface="Verdana"/>
              </a:rPr>
              <a:t>conversion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mW/cm</a:t>
            </a:r>
            <a:r>
              <a:rPr sz="2175" baseline="24904" dirty="0">
                <a:latin typeface="Verdana"/>
                <a:cs typeface="Verdana"/>
              </a:rPr>
              <a:t>2</a:t>
            </a:r>
            <a:r>
              <a:rPr sz="2175" spc="-37" baseline="249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 lux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unless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quantities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like 	</a:t>
            </a:r>
            <a:r>
              <a:rPr sz="2200" dirty="0">
                <a:latin typeface="Verdana"/>
                <a:cs typeface="Verdana"/>
              </a:rPr>
              <a:t>spectral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composition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held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constant.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16389" y="426127"/>
            <a:ext cx="6827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Approximation</a:t>
            </a:r>
            <a:r>
              <a:rPr spc="-80" dirty="0"/>
              <a:t> </a:t>
            </a:r>
            <a:r>
              <a:rPr spc="-20" dirty="0"/>
              <a:t>Rule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083" y="1518283"/>
            <a:ext cx="870648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Standard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Approximation: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wavelengths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photocells,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estimate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spc="-10" dirty="0">
                <a:latin typeface="Verdana"/>
                <a:cs typeface="Verdana"/>
              </a:rPr>
              <a:t>used: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083" y="4032929"/>
            <a:ext cx="87102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Context: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approximate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figure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frequently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field.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2946" y="3128938"/>
            <a:ext cx="3425650" cy="4946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81925" y="426127"/>
            <a:ext cx="92951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Wavelength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Peak</a:t>
            </a:r>
            <a:r>
              <a:rPr spc="-30" dirty="0"/>
              <a:t> </a:t>
            </a:r>
            <a:r>
              <a:rPr spc="-10" dirty="0"/>
              <a:t>Sensitivity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902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Variable</a:t>
            </a:r>
            <a:r>
              <a:rPr sz="2200" b="1" spc="3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Response:</a:t>
            </a:r>
            <a:r>
              <a:rPr sz="2200" b="1" spc="3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Photocells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vary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wavelength 	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peak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Biasing:</a:t>
            </a:r>
            <a:endParaRPr sz="2200">
              <a:latin typeface="Verdana"/>
              <a:cs typeface="Verdana"/>
            </a:endParaRPr>
          </a:p>
          <a:p>
            <a:pPr marL="893444" marR="5715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Some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biased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toward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b="1" dirty="0">
                <a:latin typeface="Verdana"/>
                <a:cs typeface="Verdana"/>
              </a:rPr>
              <a:t>red</a:t>
            </a:r>
            <a:r>
              <a:rPr sz="2200" b="1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b="1" spc="-10" dirty="0">
                <a:latin typeface="Verdana"/>
                <a:cs typeface="Verdana"/>
              </a:rPr>
              <a:t>violet </a:t>
            </a:r>
            <a:r>
              <a:rPr sz="2200" dirty="0">
                <a:latin typeface="Verdana"/>
                <a:cs typeface="Verdana"/>
              </a:rPr>
              <a:t>ends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spectrum.</a:t>
            </a:r>
            <a:endParaRPr sz="2200">
              <a:latin typeface="Verdana"/>
              <a:cs typeface="Verdana"/>
            </a:endParaRPr>
          </a:p>
          <a:p>
            <a:pPr marL="893444" marR="635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Others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have peak responses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invisible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radiation, </a:t>
            </a:r>
            <a:r>
              <a:rPr sz="2200" spc="-20" dirty="0">
                <a:latin typeface="Verdana"/>
                <a:cs typeface="Verdana"/>
              </a:rPr>
              <a:t>such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infrared</a:t>
            </a:r>
            <a:r>
              <a:rPr sz="2200" b="1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b="1" spc="-10" dirty="0">
                <a:latin typeface="Verdana"/>
                <a:cs typeface="Verdana"/>
              </a:rPr>
              <a:t>ultraviolet</a:t>
            </a:r>
            <a:r>
              <a:rPr sz="2200" spc="-1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06621" y="426127"/>
            <a:ext cx="70434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Matching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Human</a:t>
            </a:r>
            <a:r>
              <a:rPr spc="-45" dirty="0"/>
              <a:t> </a:t>
            </a:r>
            <a:r>
              <a:rPr spc="-25" dirty="0"/>
              <a:t>Eye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Silicon</a:t>
            </a:r>
            <a:r>
              <a:rPr b="1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Photodiodes:</a:t>
            </a:r>
            <a:r>
              <a:rPr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Some specific</a:t>
            </a:r>
            <a:r>
              <a:rPr spc="-10" dirty="0"/>
              <a:t> </a:t>
            </a:r>
            <a:r>
              <a:rPr dirty="0"/>
              <a:t>devices</a:t>
            </a:r>
            <a:r>
              <a:rPr spc="-25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spc="-10" dirty="0"/>
              <a:t>designed 	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have</a:t>
            </a:r>
            <a:r>
              <a:rPr spc="-55" dirty="0"/>
              <a:t> </a:t>
            </a:r>
            <a:r>
              <a:rPr dirty="0"/>
              <a:t>peak</a:t>
            </a:r>
            <a:r>
              <a:rPr spc="-45" dirty="0"/>
              <a:t> </a:t>
            </a:r>
            <a:r>
              <a:rPr dirty="0"/>
              <a:t>sensitivity</a:t>
            </a:r>
            <a:r>
              <a:rPr spc="-65" dirty="0"/>
              <a:t> </a:t>
            </a:r>
            <a:r>
              <a:rPr dirty="0"/>
              <a:t>matching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human</a:t>
            </a:r>
            <a:r>
              <a:rPr spc="-70" dirty="0"/>
              <a:t> </a:t>
            </a:r>
            <a:r>
              <a:rPr spc="-20" dirty="0"/>
              <a:t>eye.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Applications:</a:t>
            </a:r>
            <a:r>
              <a:rPr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These</a:t>
            </a:r>
            <a:r>
              <a:rPr spc="540" dirty="0"/>
              <a:t> </a:t>
            </a:r>
            <a:r>
              <a:rPr dirty="0"/>
              <a:t>are</a:t>
            </a:r>
            <a:r>
              <a:rPr spc="540" dirty="0"/>
              <a:t> </a:t>
            </a:r>
            <a:r>
              <a:rPr dirty="0"/>
              <a:t>ideal</a:t>
            </a:r>
            <a:r>
              <a:rPr spc="540" dirty="0"/>
              <a:t> </a:t>
            </a:r>
            <a:r>
              <a:rPr dirty="0"/>
              <a:t>for</a:t>
            </a:r>
            <a:r>
              <a:rPr spc="540" dirty="0"/>
              <a:t> </a:t>
            </a:r>
            <a:r>
              <a:rPr dirty="0"/>
              <a:t>automated</a:t>
            </a:r>
            <a:r>
              <a:rPr spc="-105" dirty="0"/>
              <a:t>  </a:t>
            </a:r>
            <a:r>
              <a:rPr spc="-10" dirty="0"/>
              <a:t>processes 	</a:t>
            </a:r>
            <a:r>
              <a:rPr dirty="0"/>
              <a:t>that</a:t>
            </a:r>
            <a:r>
              <a:rPr spc="-75" dirty="0"/>
              <a:t> </a:t>
            </a:r>
            <a:r>
              <a:rPr dirty="0"/>
              <a:t>previously</a:t>
            </a:r>
            <a:r>
              <a:rPr spc="-45" dirty="0"/>
              <a:t> </a:t>
            </a:r>
            <a:r>
              <a:rPr dirty="0"/>
              <a:t>required</a:t>
            </a:r>
            <a:r>
              <a:rPr spc="-70" dirty="0"/>
              <a:t> </a:t>
            </a:r>
            <a:r>
              <a:rPr dirty="0"/>
              <a:t>human</a:t>
            </a:r>
            <a:r>
              <a:rPr spc="-50" dirty="0"/>
              <a:t> </a:t>
            </a:r>
            <a:r>
              <a:rPr dirty="0"/>
              <a:t>visual</a:t>
            </a:r>
            <a:r>
              <a:rPr spc="-55" dirty="0"/>
              <a:t> </a:t>
            </a:r>
            <a:r>
              <a:rPr spc="-10" dirty="0"/>
              <a:t>inspection.</a:t>
            </a: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Limitation:</a:t>
            </a:r>
            <a:r>
              <a:rPr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Even</a:t>
            </a:r>
            <a:r>
              <a:rPr spc="25" dirty="0"/>
              <a:t> </a:t>
            </a:r>
            <a:r>
              <a:rPr dirty="0"/>
              <a:t>if</a:t>
            </a:r>
            <a:r>
              <a:rPr spc="20" dirty="0"/>
              <a:t> </a:t>
            </a:r>
            <a:r>
              <a:rPr dirty="0"/>
              <a:t>peak</a:t>
            </a:r>
            <a:r>
              <a:rPr spc="5" dirty="0"/>
              <a:t> </a:t>
            </a:r>
            <a:r>
              <a:rPr dirty="0"/>
              <a:t>sensitivities</a:t>
            </a:r>
            <a:r>
              <a:rPr spc="25" dirty="0"/>
              <a:t> </a:t>
            </a:r>
            <a:r>
              <a:rPr dirty="0"/>
              <a:t>match, the</a:t>
            </a:r>
            <a:r>
              <a:rPr spc="20" dirty="0"/>
              <a:t> </a:t>
            </a:r>
            <a:r>
              <a:rPr spc="-10" dirty="0"/>
              <a:t>response 	</a:t>
            </a:r>
            <a:r>
              <a:rPr dirty="0"/>
              <a:t>at</a:t>
            </a:r>
            <a:r>
              <a:rPr spc="525" dirty="0"/>
              <a:t> </a:t>
            </a:r>
            <a:r>
              <a:rPr dirty="0"/>
              <a:t>other</a:t>
            </a:r>
            <a:r>
              <a:rPr spc="545" dirty="0"/>
              <a:t> </a:t>
            </a:r>
            <a:r>
              <a:rPr dirty="0"/>
              <a:t>colors</a:t>
            </a:r>
            <a:r>
              <a:rPr spc="509" dirty="0"/>
              <a:t> </a:t>
            </a:r>
            <a:r>
              <a:rPr dirty="0"/>
              <a:t>may</a:t>
            </a:r>
            <a:r>
              <a:rPr spc="-110" dirty="0"/>
              <a:t>  </a:t>
            </a:r>
            <a:r>
              <a:rPr dirty="0"/>
              <a:t>differ</a:t>
            </a:r>
            <a:r>
              <a:rPr spc="540" dirty="0"/>
              <a:t> </a:t>
            </a:r>
            <a:r>
              <a:rPr dirty="0"/>
              <a:t>significantly</a:t>
            </a:r>
            <a:r>
              <a:rPr spc="535" dirty="0"/>
              <a:t> </a:t>
            </a:r>
            <a:r>
              <a:rPr dirty="0"/>
              <a:t>from</a:t>
            </a:r>
            <a:r>
              <a:rPr spc="525" dirty="0"/>
              <a:t> </a:t>
            </a:r>
            <a:r>
              <a:rPr dirty="0"/>
              <a:t>the</a:t>
            </a:r>
            <a:r>
              <a:rPr spc="525" dirty="0"/>
              <a:t> </a:t>
            </a:r>
            <a:r>
              <a:rPr spc="-10" dirty="0"/>
              <a:t>human 	</a:t>
            </a:r>
            <a:r>
              <a:rPr spc="-20" dirty="0"/>
              <a:t>eye.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1982" y="426127"/>
            <a:ext cx="73348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Spectral</a:t>
            </a:r>
            <a:r>
              <a:rPr spc="-50" dirty="0"/>
              <a:t> </a:t>
            </a:r>
            <a:r>
              <a:rPr dirty="0"/>
              <a:t>Response</a:t>
            </a:r>
            <a:r>
              <a:rPr spc="-45" dirty="0"/>
              <a:t> </a:t>
            </a:r>
            <a:r>
              <a:rPr spc="-10" dirty="0"/>
              <a:t>Curves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1029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General</a:t>
            </a:r>
            <a:r>
              <a:rPr sz="2200" b="1" spc="48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Comparison:</a:t>
            </a:r>
            <a:r>
              <a:rPr sz="2200" b="1" spc="45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sensitive 	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2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human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eye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2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extremes</a:t>
            </a:r>
            <a:r>
              <a:rPr sz="2200" spc="2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54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light 	spectrum.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Standard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Examples:</a:t>
            </a:r>
            <a:endParaRPr sz="2200">
              <a:latin typeface="Verdana"/>
              <a:cs typeface="Verdana"/>
            </a:endParaRPr>
          </a:p>
          <a:p>
            <a:pPr marL="1144905" lvl="1" indent="-50292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14490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Selenium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Cells: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Distinct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spectral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curves.</a:t>
            </a:r>
            <a:endParaRPr sz="2200">
              <a:latin typeface="Verdana"/>
              <a:cs typeface="Verdana"/>
            </a:endParaRPr>
          </a:p>
          <a:p>
            <a:pPr marL="1144905" marR="7620" lvl="1" indent="-502920">
              <a:lnSpc>
                <a:spcPct val="150000"/>
              </a:lnSpc>
              <a:buFont typeface="Wingdings"/>
              <a:buChar char=""/>
              <a:tabLst>
                <a:tab pos="114490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Photoresistive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Cells:</a:t>
            </a:r>
            <a:r>
              <a:rPr sz="2200" b="1" spc="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Differing</a:t>
            </a:r>
            <a:r>
              <a:rPr sz="2200" spc="-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patterns </a:t>
            </a:r>
            <a:r>
              <a:rPr sz="2200" dirty="0">
                <a:latin typeface="Verdana"/>
                <a:cs typeface="Verdana"/>
              </a:rPr>
              <a:t>compared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selenium.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3455" y="426127"/>
            <a:ext cx="73348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Spectral</a:t>
            </a:r>
            <a:r>
              <a:rPr spc="-50" dirty="0"/>
              <a:t> </a:t>
            </a:r>
            <a:r>
              <a:rPr dirty="0"/>
              <a:t>Response</a:t>
            </a:r>
            <a:r>
              <a:rPr spc="-45" dirty="0"/>
              <a:t> </a:t>
            </a:r>
            <a:r>
              <a:rPr spc="-10" dirty="0"/>
              <a:t>Curves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987" y="1569720"/>
            <a:ext cx="8727947" cy="55321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2445" y="426127"/>
            <a:ext cx="77724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Colour</a:t>
            </a:r>
            <a:r>
              <a:rPr spc="-65" dirty="0"/>
              <a:t> </a:t>
            </a:r>
            <a:r>
              <a:rPr dirty="0"/>
              <a:t>Matching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Filters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Challenge:</a:t>
            </a:r>
            <a:r>
              <a:rPr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Because</a:t>
            </a:r>
            <a:r>
              <a:rPr spc="-60" dirty="0"/>
              <a:t>  </a:t>
            </a:r>
            <a:r>
              <a:rPr dirty="0"/>
              <a:t>sensors</a:t>
            </a:r>
            <a:r>
              <a:rPr spc="-65" dirty="0"/>
              <a:t>  </a:t>
            </a:r>
            <a:r>
              <a:rPr dirty="0"/>
              <a:t>and</a:t>
            </a:r>
            <a:r>
              <a:rPr spc="-60" dirty="0"/>
              <a:t>  </a:t>
            </a:r>
            <a:r>
              <a:rPr dirty="0"/>
              <a:t>the</a:t>
            </a:r>
            <a:r>
              <a:rPr spc="-70" dirty="0"/>
              <a:t>  </a:t>
            </a:r>
            <a:r>
              <a:rPr dirty="0"/>
              <a:t>eye</a:t>
            </a:r>
            <a:r>
              <a:rPr spc="-60" dirty="0"/>
              <a:t>  </a:t>
            </a:r>
            <a:r>
              <a:rPr dirty="0"/>
              <a:t>perceive</a:t>
            </a:r>
            <a:r>
              <a:rPr spc="-70" dirty="0"/>
              <a:t>  </a:t>
            </a:r>
            <a:r>
              <a:rPr spc="-25" dirty="0"/>
              <a:t>the 	</a:t>
            </a:r>
            <a:r>
              <a:rPr dirty="0"/>
              <a:t>spectrum</a:t>
            </a:r>
            <a:r>
              <a:rPr spc="55" dirty="0"/>
              <a:t> </a:t>
            </a:r>
            <a:r>
              <a:rPr dirty="0"/>
              <a:t>differently,</a:t>
            </a:r>
            <a:r>
              <a:rPr spc="35" dirty="0"/>
              <a:t> </a:t>
            </a:r>
            <a:r>
              <a:rPr dirty="0"/>
              <a:t>direct</a:t>
            </a:r>
            <a:r>
              <a:rPr spc="35" dirty="0"/>
              <a:t> </a:t>
            </a:r>
            <a:r>
              <a:rPr dirty="0"/>
              <a:t>replacement</a:t>
            </a:r>
            <a:r>
              <a:rPr spc="35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visual</a:t>
            </a:r>
            <a:r>
              <a:rPr spc="30" dirty="0"/>
              <a:t> </a:t>
            </a:r>
            <a:r>
              <a:rPr dirty="0"/>
              <a:t>tasks</a:t>
            </a:r>
            <a:r>
              <a:rPr spc="35" dirty="0"/>
              <a:t> </a:t>
            </a:r>
            <a:r>
              <a:rPr spc="-25" dirty="0"/>
              <a:t>is 	</a:t>
            </a:r>
            <a:r>
              <a:rPr dirty="0"/>
              <a:t>not</a:t>
            </a:r>
            <a:r>
              <a:rPr spc="-75" dirty="0"/>
              <a:t> </a:t>
            </a:r>
            <a:r>
              <a:rPr dirty="0"/>
              <a:t>always</a:t>
            </a:r>
            <a:r>
              <a:rPr spc="-65" dirty="0"/>
              <a:t> </a:t>
            </a:r>
            <a:r>
              <a:rPr spc="-10" dirty="0"/>
              <a:t>successful.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Solution:</a:t>
            </a:r>
            <a:r>
              <a:rPr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applications</a:t>
            </a:r>
            <a:r>
              <a:rPr spc="15" dirty="0"/>
              <a:t> </a:t>
            </a:r>
            <a:r>
              <a:rPr dirty="0"/>
              <a:t>like</a:t>
            </a:r>
            <a:r>
              <a:rPr spc="5" dirty="0"/>
              <a:t> </a:t>
            </a:r>
            <a:r>
              <a:rPr dirty="0"/>
              <a:t>color</a:t>
            </a:r>
            <a:r>
              <a:rPr spc="5" dirty="0"/>
              <a:t> </a:t>
            </a:r>
            <a:r>
              <a:rPr dirty="0"/>
              <a:t>matching,</a:t>
            </a:r>
            <a:r>
              <a:rPr spc="5" dirty="0"/>
              <a:t> </a:t>
            </a: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filters</a:t>
            </a:r>
            <a:r>
              <a:rPr b="1" spc="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pc="-20" dirty="0"/>
              <a:t>must 	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placed</a:t>
            </a:r>
            <a:r>
              <a:rPr spc="-4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light</a:t>
            </a:r>
            <a:r>
              <a:rPr spc="-40" dirty="0"/>
              <a:t> </a:t>
            </a:r>
            <a:r>
              <a:rPr spc="-10" dirty="0"/>
              <a:t>path.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Goal:</a:t>
            </a:r>
            <a:r>
              <a:rPr b="1" spc="4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Filters</a:t>
            </a:r>
            <a:r>
              <a:rPr spc="415" dirty="0"/>
              <a:t> </a:t>
            </a:r>
            <a:r>
              <a:rPr dirty="0"/>
              <a:t>help</a:t>
            </a:r>
            <a:r>
              <a:rPr spc="409" dirty="0"/>
              <a:t> </a:t>
            </a:r>
            <a:r>
              <a:rPr dirty="0"/>
              <a:t>the</a:t>
            </a:r>
            <a:r>
              <a:rPr spc="430" dirty="0"/>
              <a:t> </a:t>
            </a:r>
            <a:r>
              <a:rPr dirty="0"/>
              <a:t>response</a:t>
            </a:r>
            <a:r>
              <a:rPr spc="425" dirty="0"/>
              <a:t> </a:t>
            </a:r>
            <a:r>
              <a:rPr dirty="0"/>
              <a:t>curve</a:t>
            </a:r>
            <a:r>
              <a:rPr spc="425" dirty="0"/>
              <a:t> </a:t>
            </a:r>
            <a:r>
              <a:rPr dirty="0"/>
              <a:t>match</a:t>
            </a:r>
            <a:r>
              <a:rPr spc="409" dirty="0"/>
              <a:t> </a:t>
            </a:r>
            <a:r>
              <a:rPr dirty="0"/>
              <a:t>the</a:t>
            </a:r>
            <a:r>
              <a:rPr spc="425" dirty="0"/>
              <a:t> </a:t>
            </a:r>
            <a:r>
              <a:rPr spc="-10" dirty="0"/>
              <a:t>human 	</a:t>
            </a:r>
            <a:r>
              <a:rPr dirty="0"/>
              <a:t>eye</a:t>
            </a:r>
            <a:r>
              <a:rPr spc="-50" dirty="0"/>
              <a:t> </a:t>
            </a:r>
            <a:r>
              <a:rPr dirty="0"/>
              <a:t>more</a:t>
            </a:r>
            <a:r>
              <a:rPr spc="-70" dirty="0"/>
              <a:t> </a:t>
            </a:r>
            <a:r>
              <a:rPr dirty="0"/>
              <a:t>evenly</a:t>
            </a:r>
            <a:r>
              <a:rPr spc="-60" dirty="0"/>
              <a:t> </a:t>
            </a:r>
            <a:r>
              <a:rPr dirty="0"/>
              <a:t>across</a:t>
            </a:r>
            <a:r>
              <a:rPr spc="-6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entire</a:t>
            </a:r>
            <a:r>
              <a:rPr spc="-90" dirty="0"/>
              <a:t> </a:t>
            </a:r>
            <a:r>
              <a:rPr spc="-10" dirty="0"/>
              <a:t>spectrum.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782340" y="426127"/>
            <a:ext cx="44913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Visual</a:t>
            </a:r>
            <a:r>
              <a:rPr spc="-3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1029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While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some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devices,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silicon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photodiodes,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have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peak 	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matching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human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eye,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fail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replicate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human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vision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perfectly.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3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3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3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3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non-</a:t>
            </a:r>
            <a:r>
              <a:rPr sz="2200" dirty="0">
                <a:latin typeface="Verdana"/>
                <a:cs typeface="Verdana"/>
              </a:rPr>
              <a:t>peak</a:t>
            </a:r>
            <a:r>
              <a:rPr sz="2200" spc="3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colors 	</a:t>
            </a:r>
            <a:r>
              <a:rPr sz="2200" dirty="0">
                <a:latin typeface="Verdana"/>
                <a:cs typeface="Verdana"/>
              </a:rPr>
              <a:t>frequently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follows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different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pattern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eye.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tend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red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violet 	</a:t>
            </a:r>
            <a:r>
              <a:rPr sz="2200" dirty="0">
                <a:latin typeface="Verdana"/>
                <a:cs typeface="Verdana"/>
              </a:rPr>
              <a:t>extremes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spectrum,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necessitating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filters 	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achieve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balanced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curve.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69327" y="426127"/>
            <a:ext cx="27165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Summary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317" y="1413861"/>
            <a:ext cx="2717165" cy="1383665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1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b="1" spc="-10" dirty="0">
                <a:solidFill>
                  <a:srgbClr val="FF0000"/>
                </a:solidFill>
                <a:latin typeface="Verdana"/>
                <a:cs typeface="Verdana"/>
              </a:rPr>
              <a:t>Proportionality:</a:t>
            </a:r>
            <a:endParaRPr sz="195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225"/>
              </a:spcBef>
            </a:pPr>
            <a:r>
              <a:rPr sz="1950" spc="-10" dirty="0">
                <a:latin typeface="Verdana"/>
                <a:cs typeface="Verdana"/>
              </a:rPr>
              <a:t>temperature.</a:t>
            </a:r>
            <a:endParaRPr sz="19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90525" algn="l"/>
                <a:tab pos="2301240" algn="l"/>
              </a:tabLst>
            </a:pPr>
            <a:r>
              <a:rPr sz="1950" b="1" spc="-10" dirty="0">
                <a:solidFill>
                  <a:srgbClr val="FF0000"/>
                </a:solidFill>
                <a:latin typeface="Verdana"/>
                <a:cs typeface="Verdana"/>
              </a:rPr>
              <a:t>Wavelength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1950" b="1" spc="-25" dirty="0">
                <a:solidFill>
                  <a:srgbClr val="FF0000"/>
                </a:solidFill>
                <a:latin typeface="Verdana"/>
                <a:cs typeface="Verdana"/>
              </a:rPr>
              <a:t>vs.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6263" y="1564687"/>
            <a:ext cx="39497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01420" algn="l"/>
                <a:tab pos="2687955" algn="l"/>
                <a:tab pos="3529965" algn="l"/>
              </a:tabLst>
            </a:pPr>
            <a:r>
              <a:rPr sz="1950" spc="-10" dirty="0">
                <a:latin typeface="Verdana"/>
                <a:cs typeface="Verdana"/>
              </a:rPr>
              <a:t>Energy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increases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with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65428" y="1488450"/>
            <a:ext cx="407034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925" spc="-37" baseline="-17094" dirty="0">
                <a:latin typeface="Verdana"/>
                <a:cs typeface="Verdana"/>
              </a:rPr>
              <a:t>4</a:t>
            </a:r>
            <a:r>
              <a:rPr sz="1300" spc="-25" dirty="0">
                <a:latin typeface="Verdana"/>
                <a:cs typeface="Verdana"/>
              </a:rPr>
              <a:t>th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1468" y="1564687"/>
            <a:ext cx="13462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90930" algn="l"/>
              </a:tabLst>
            </a:pPr>
            <a:r>
              <a:rPr sz="1950" spc="-10" dirty="0">
                <a:latin typeface="Verdana"/>
                <a:cs typeface="Verdana"/>
              </a:rPr>
              <a:t>power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6975" y="2469841"/>
            <a:ext cx="62230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67890" algn="l"/>
                <a:tab pos="2987675" algn="l"/>
                <a:tab pos="4655185" algn="l"/>
                <a:tab pos="5080000" algn="l"/>
              </a:tabLst>
            </a:pPr>
            <a:r>
              <a:rPr sz="1950" b="1" spc="-10" dirty="0">
                <a:solidFill>
                  <a:srgbClr val="FF0000"/>
                </a:solidFill>
                <a:latin typeface="Verdana"/>
                <a:cs typeface="Verdana"/>
              </a:rPr>
              <a:t>Temperature: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Peak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wavelength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is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inversely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117" y="2771714"/>
            <a:ext cx="9307195" cy="455168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466725" algn="just">
              <a:lnSpc>
                <a:spcPct val="100000"/>
              </a:lnSpc>
              <a:spcBef>
                <a:spcPts val="1315"/>
              </a:spcBef>
            </a:pPr>
            <a:r>
              <a:rPr sz="1950" dirty="0">
                <a:latin typeface="Verdana"/>
                <a:cs typeface="Verdana"/>
              </a:rPr>
              <a:t>proportional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absolute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temperature.</a:t>
            </a:r>
            <a:endParaRPr sz="1950">
              <a:latin typeface="Verdana"/>
              <a:cs typeface="Verdana"/>
            </a:endParaRPr>
          </a:p>
          <a:p>
            <a:pPr marL="466725" marR="96520" indent="-378460" algn="just">
              <a:lnSpc>
                <a:spcPct val="152300"/>
              </a:lnSpc>
              <a:buFont typeface="Wingdings"/>
              <a:buChar char=""/>
              <a:tabLst>
                <a:tab pos="4667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Spectrum</a:t>
            </a:r>
            <a:r>
              <a:rPr sz="195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Profile:</a:t>
            </a:r>
            <a:r>
              <a:rPr sz="195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Colour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temperature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provides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compact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way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to </a:t>
            </a:r>
            <a:r>
              <a:rPr sz="1950" dirty="0">
                <a:latin typeface="Verdana"/>
                <a:cs typeface="Verdana"/>
              </a:rPr>
              <a:t>describe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spectrum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any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radiation.</a:t>
            </a:r>
            <a:endParaRPr sz="1950">
              <a:latin typeface="Verdana"/>
              <a:cs typeface="Verdana"/>
            </a:endParaRPr>
          </a:p>
          <a:p>
            <a:pPr marL="466725" marR="93980" indent="-378460" algn="just">
              <a:lnSpc>
                <a:spcPct val="152300"/>
              </a:lnSpc>
              <a:buFont typeface="Wingdings"/>
              <a:buChar char=""/>
              <a:tabLst>
                <a:tab pos="4667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Sensitivity</a:t>
            </a:r>
            <a:r>
              <a:rPr sz="1950" b="1" spc="-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measurement:</a:t>
            </a:r>
            <a:r>
              <a:rPr sz="1950" b="1" spc="4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Quoted</a:t>
            </a:r>
            <a:r>
              <a:rPr sz="1950" spc="-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-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either</a:t>
            </a:r>
            <a:r>
              <a:rPr sz="1950" spc="4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lux</a:t>
            </a:r>
            <a:r>
              <a:rPr sz="1950" spc="-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(illumination)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or </a:t>
            </a:r>
            <a:r>
              <a:rPr sz="1950" dirty="0">
                <a:latin typeface="Verdana"/>
                <a:cs typeface="Verdana"/>
              </a:rPr>
              <a:t>mW/cm</a:t>
            </a:r>
            <a:r>
              <a:rPr sz="1950" baseline="25641" dirty="0">
                <a:latin typeface="Verdana"/>
                <a:cs typeface="Verdana"/>
              </a:rPr>
              <a:t>2</a:t>
            </a:r>
            <a:r>
              <a:rPr sz="1950" spc="442" baseline="25641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(irradiance).</a:t>
            </a:r>
            <a:endParaRPr sz="1950">
              <a:latin typeface="Verdana"/>
              <a:cs typeface="Verdana"/>
            </a:endParaRPr>
          </a:p>
          <a:p>
            <a:pPr marL="466725" marR="97155" indent="-378460" algn="just">
              <a:lnSpc>
                <a:spcPct val="152300"/>
              </a:lnSpc>
              <a:buFont typeface="Wingdings"/>
              <a:buChar char=""/>
              <a:tabLst>
                <a:tab pos="4667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Environmental</a:t>
            </a:r>
            <a:r>
              <a:rPr sz="1950" b="1" spc="22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context:</a:t>
            </a:r>
            <a:r>
              <a:rPr sz="1950" b="1" spc="2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Light</a:t>
            </a:r>
            <a:r>
              <a:rPr sz="1950" spc="22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levels</a:t>
            </a:r>
            <a:r>
              <a:rPr sz="1950" spc="1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range</a:t>
            </a:r>
            <a:r>
              <a:rPr sz="1950" spc="20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from</a:t>
            </a:r>
            <a:r>
              <a:rPr sz="1950" spc="2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50</a:t>
            </a:r>
            <a:r>
              <a:rPr sz="1950" spc="2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lux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(home)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to </a:t>
            </a:r>
            <a:r>
              <a:rPr sz="1950" dirty="0">
                <a:latin typeface="Verdana"/>
                <a:cs typeface="Verdana"/>
              </a:rPr>
              <a:t>100,000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lux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(sunlight).</a:t>
            </a:r>
            <a:endParaRPr sz="1950">
              <a:latin typeface="Verdana"/>
              <a:cs typeface="Verdana"/>
            </a:endParaRPr>
          </a:p>
          <a:p>
            <a:pPr marL="466725" marR="94615" indent="-378460" algn="just">
              <a:lnSpc>
                <a:spcPct val="152300"/>
              </a:lnSpc>
              <a:buFont typeface="Wingdings"/>
              <a:buChar char=""/>
              <a:tabLst>
                <a:tab pos="4667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Spectral</a:t>
            </a:r>
            <a:r>
              <a:rPr sz="1950" b="1" spc="3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limitations:</a:t>
            </a:r>
            <a:r>
              <a:rPr sz="1950" b="1" spc="4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Sensors</a:t>
            </a:r>
            <a:r>
              <a:rPr sz="1950" spc="3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often</a:t>
            </a:r>
            <a:r>
              <a:rPr sz="1950" spc="3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perceive</a:t>
            </a:r>
            <a:r>
              <a:rPr sz="1950" spc="37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colors</a:t>
            </a:r>
            <a:r>
              <a:rPr sz="1950" spc="3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at</a:t>
            </a:r>
            <a:r>
              <a:rPr sz="1950" spc="37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spectrum's</a:t>
            </a:r>
            <a:r>
              <a:rPr sz="1950" spc="4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edge</a:t>
            </a:r>
            <a:r>
              <a:rPr sz="1950" spc="4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more</a:t>
            </a:r>
            <a:r>
              <a:rPr sz="1950" spc="4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intensely</a:t>
            </a:r>
            <a:r>
              <a:rPr sz="1950" spc="4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than</a:t>
            </a:r>
            <a:r>
              <a:rPr sz="1950" spc="4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humans,</a:t>
            </a:r>
            <a:r>
              <a:rPr sz="1950" spc="4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requiring</a:t>
            </a:r>
            <a:r>
              <a:rPr sz="1950" spc="4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filters</a:t>
            </a:r>
            <a:r>
              <a:rPr sz="1950" spc="430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for </a:t>
            </a:r>
            <a:r>
              <a:rPr sz="1950" spc="-10" dirty="0">
                <a:latin typeface="Verdana"/>
                <a:cs typeface="Verdana"/>
              </a:rPr>
              <a:t>accuracy.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11" y="1437195"/>
            <a:ext cx="9212580" cy="525589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514350" indent="-501650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514350" algn="l"/>
              </a:tabLst>
            </a:pPr>
            <a:r>
              <a:rPr sz="1750" dirty="0">
                <a:latin typeface="Verdana"/>
                <a:cs typeface="Verdana"/>
              </a:rPr>
              <a:t>Define Colour </a:t>
            </a:r>
            <a:r>
              <a:rPr sz="1750" spc="-10" dirty="0">
                <a:latin typeface="Verdana"/>
                <a:cs typeface="Verdana"/>
              </a:rPr>
              <a:t>Temperature.</a:t>
            </a:r>
            <a:endParaRPr sz="1750">
              <a:latin typeface="Verdana"/>
              <a:cs typeface="Verdana"/>
            </a:endParaRPr>
          </a:p>
          <a:p>
            <a:pPr marL="514350" indent="-501650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514350" algn="l"/>
              </a:tabLst>
            </a:pPr>
            <a:r>
              <a:rPr sz="1750" dirty="0">
                <a:latin typeface="Verdana"/>
                <a:cs typeface="Verdana"/>
              </a:rPr>
              <a:t>State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relationship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between</a:t>
            </a:r>
            <a:r>
              <a:rPr sz="1750" spc="-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light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flux</a:t>
            </a:r>
            <a:r>
              <a:rPr sz="1750" spc="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irradiance.</a:t>
            </a:r>
            <a:endParaRPr sz="1750">
              <a:latin typeface="Verdana"/>
              <a:cs typeface="Verdana"/>
            </a:endParaRPr>
          </a:p>
          <a:p>
            <a:pPr marL="514984" marR="5080" indent="-502920">
              <a:lnSpc>
                <a:spcPct val="150900"/>
              </a:lnSpc>
              <a:buAutoNum type="arabicPeriod"/>
              <a:tabLst>
                <a:tab pos="514984" algn="l"/>
              </a:tabLst>
            </a:pPr>
            <a:r>
              <a:rPr sz="1750" dirty="0">
                <a:latin typeface="Verdana"/>
                <a:cs typeface="Verdana"/>
              </a:rPr>
              <a:t>Explain</a:t>
            </a:r>
            <a:r>
              <a:rPr sz="1750" spc="9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0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relationship</a:t>
            </a:r>
            <a:r>
              <a:rPr sz="1750" spc="1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between</a:t>
            </a:r>
            <a:r>
              <a:rPr sz="1750" spc="9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temperature,</a:t>
            </a:r>
            <a:r>
              <a:rPr sz="1750" spc="9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energy,</a:t>
            </a:r>
            <a:r>
              <a:rPr sz="1750" spc="9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1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wavelength</a:t>
            </a:r>
            <a:r>
              <a:rPr sz="1750" spc="80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shift </a:t>
            </a:r>
            <a:r>
              <a:rPr sz="1750" dirty="0">
                <a:latin typeface="Verdana"/>
                <a:cs typeface="Verdana"/>
              </a:rPr>
              <a:t>in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thermal </a:t>
            </a:r>
            <a:r>
              <a:rPr sz="1750" spc="-10" dirty="0">
                <a:latin typeface="Verdana"/>
                <a:cs typeface="Verdana"/>
              </a:rPr>
              <a:t>radiation.</a:t>
            </a:r>
            <a:endParaRPr sz="1750">
              <a:latin typeface="Verdana"/>
              <a:cs typeface="Verdana"/>
            </a:endParaRPr>
          </a:p>
          <a:p>
            <a:pPr marL="514984" marR="5715" indent="-502920">
              <a:lnSpc>
                <a:spcPct val="150900"/>
              </a:lnSpc>
              <a:buAutoNum type="arabicPeriod"/>
              <a:tabLst>
                <a:tab pos="514984" algn="l"/>
              </a:tabLst>
            </a:pPr>
            <a:r>
              <a:rPr sz="1750" dirty="0">
                <a:latin typeface="Verdana"/>
                <a:cs typeface="Verdana"/>
              </a:rPr>
              <a:t>Differentiate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between</a:t>
            </a:r>
            <a:r>
              <a:rPr sz="1750" spc="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radiant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flux</a:t>
            </a:r>
            <a:r>
              <a:rPr sz="1750" spc="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4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luminous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flux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in</a:t>
            </a:r>
            <a:r>
              <a:rPr sz="1750" spc="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context</a:t>
            </a:r>
            <a:r>
              <a:rPr sz="1750" spc="50" dirty="0">
                <a:latin typeface="Verdana"/>
                <a:cs typeface="Verdana"/>
              </a:rPr>
              <a:t>  </a:t>
            </a:r>
            <a:r>
              <a:rPr sz="1750" spc="-25" dirty="0">
                <a:latin typeface="Verdana"/>
                <a:cs typeface="Verdana"/>
              </a:rPr>
              <a:t>of </a:t>
            </a:r>
            <a:r>
              <a:rPr sz="1750" spc="-10" dirty="0">
                <a:latin typeface="Verdana"/>
                <a:cs typeface="Verdana"/>
              </a:rPr>
              <a:t>sensors.</a:t>
            </a:r>
            <a:endParaRPr sz="1750">
              <a:latin typeface="Verdana"/>
              <a:cs typeface="Verdana"/>
            </a:endParaRPr>
          </a:p>
          <a:p>
            <a:pPr marL="514984" marR="6985" indent="-502920">
              <a:lnSpc>
                <a:spcPct val="150900"/>
              </a:lnSpc>
              <a:buAutoNum type="arabicPeriod"/>
              <a:tabLst>
                <a:tab pos="514984" algn="l"/>
              </a:tabLst>
            </a:pPr>
            <a:r>
              <a:rPr sz="1750" dirty="0">
                <a:latin typeface="Verdana"/>
                <a:cs typeface="Verdana"/>
              </a:rPr>
              <a:t>Discuss</a:t>
            </a:r>
            <a:r>
              <a:rPr sz="1750" spc="2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22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physics</a:t>
            </a:r>
            <a:r>
              <a:rPr sz="1750" spc="2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254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light</a:t>
            </a:r>
            <a:r>
              <a:rPr sz="1750" spc="2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radiation</a:t>
            </a:r>
            <a:r>
              <a:rPr sz="1750" spc="22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254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colour</a:t>
            </a:r>
            <a:r>
              <a:rPr sz="1750" spc="2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temperature</a:t>
            </a:r>
            <a:r>
              <a:rPr sz="1750" spc="22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including</a:t>
            </a:r>
            <a:r>
              <a:rPr sz="1750" spc="235" dirty="0">
                <a:latin typeface="Verdana"/>
                <a:cs typeface="Verdana"/>
              </a:rPr>
              <a:t> </a:t>
            </a:r>
            <a:r>
              <a:rPr sz="1750" spc="-25" dirty="0">
                <a:latin typeface="Verdana"/>
                <a:cs typeface="Verdana"/>
              </a:rPr>
              <a:t>the </a:t>
            </a:r>
            <a:r>
              <a:rPr sz="1750" dirty="0">
                <a:latin typeface="Verdana"/>
                <a:cs typeface="Verdana"/>
              </a:rPr>
              <a:t>roles of</a:t>
            </a:r>
            <a:r>
              <a:rPr sz="1750" spc="-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frequency,</a:t>
            </a:r>
            <a:r>
              <a:rPr sz="1750" spc="-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wavelength,</a:t>
            </a:r>
            <a:r>
              <a:rPr sz="1750" spc="-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-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-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quantum</a:t>
            </a:r>
            <a:r>
              <a:rPr sz="1750" spc="-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nature</a:t>
            </a:r>
            <a:r>
              <a:rPr sz="1750" spc="-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light.</a:t>
            </a:r>
            <a:endParaRPr sz="1750">
              <a:latin typeface="Verdana"/>
              <a:cs typeface="Verdana"/>
            </a:endParaRPr>
          </a:p>
          <a:p>
            <a:pPr marL="514350" indent="-501650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514350" algn="l"/>
              </a:tabLst>
            </a:pPr>
            <a:r>
              <a:rPr sz="1750" dirty="0">
                <a:latin typeface="Verdana"/>
                <a:cs typeface="Verdana"/>
              </a:rPr>
              <a:t>Define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"Irradiance"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as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it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relates</a:t>
            </a:r>
            <a:r>
              <a:rPr sz="1750" spc="-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photocell</a:t>
            </a:r>
            <a:r>
              <a:rPr sz="1750" spc="-1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sensitivity.</a:t>
            </a:r>
            <a:endParaRPr sz="1750">
              <a:latin typeface="Verdana"/>
              <a:cs typeface="Verdana"/>
            </a:endParaRPr>
          </a:p>
          <a:p>
            <a:pPr marL="514984" marR="5080" indent="-502920">
              <a:lnSpc>
                <a:spcPct val="150900"/>
              </a:lnSpc>
              <a:buAutoNum type="arabicPeriod"/>
              <a:tabLst>
                <a:tab pos="514984" algn="l"/>
              </a:tabLst>
            </a:pPr>
            <a:r>
              <a:rPr sz="1750" dirty="0">
                <a:latin typeface="Verdana"/>
                <a:cs typeface="Verdana"/>
              </a:rPr>
              <a:t>Why</a:t>
            </a:r>
            <a:r>
              <a:rPr sz="1750" spc="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are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filters</a:t>
            </a:r>
            <a:r>
              <a:rPr sz="1750" spc="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sometimes</a:t>
            </a:r>
            <a:r>
              <a:rPr sz="1750" spc="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required</a:t>
            </a:r>
            <a:r>
              <a:rPr sz="1750" spc="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when</a:t>
            </a:r>
            <a:r>
              <a:rPr sz="1750" spc="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using</a:t>
            </a:r>
            <a:r>
              <a:rPr sz="1750" spc="2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photosensors</a:t>
            </a:r>
            <a:r>
              <a:rPr sz="1750" spc="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for</a:t>
            </a:r>
            <a:r>
              <a:rPr sz="1750" spc="30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color matching?</a:t>
            </a:r>
            <a:endParaRPr sz="1750">
              <a:latin typeface="Verdana"/>
              <a:cs typeface="Verdana"/>
            </a:endParaRPr>
          </a:p>
          <a:p>
            <a:pPr marL="514984" marR="6350" indent="-502920">
              <a:lnSpc>
                <a:spcPct val="150900"/>
              </a:lnSpc>
              <a:buAutoNum type="arabicPeriod"/>
              <a:tabLst>
                <a:tab pos="514984" algn="l"/>
              </a:tabLst>
            </a:pPr>
            <a:r>
              <a:rPr sz="1750" dirty="0">
                <a:latin typeface="Verdana"/>
                <a:cs typeface="Verdana"/>
              </a:rPr>
              <a:t>Discuss</a:t>
            </a:r>
            <a:r>
              <a:rPr sz="1750" spc="8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0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different</a:t>
            </a:r>
            <a:r>
              <a:rPr sz="1750" spc="8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ways</a:t>
            </a:r>
            <a:r>
              <a:rPr sz="1750" spc="1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photocell</a:t>
            </a:r>
            <a:r>
              <a:rPr sz="1750" spc="10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sensitivity</a:t>
            </a:r>
            <a:r>
              <a:rPr sz="1750" spc="10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is</a:t>
            </a:r>
            <a:r>
              <a:rPr sz="1750" spc="9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quoted</a:t>
            </a:r>
            <a:r>
              <a:rPr sz="1750" spc="10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10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00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challenges </a:t>
            </a:r>
            <a:r>
              <a:rPr sz="1750" dirty="0">
                <a:latin typeface="Verdana"/>
                <a:cs typeface="Verdana"/>
              </a:rPr>
              <a:t>of matching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response to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human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vision.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36303"/>
            <a:ext cx="88753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	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533</Words>
  <Application>Microsoft Office PowerPoint</Application>
  <PresentationFormat>Custom</PresentationFormat>
  <Paragraphs>121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Verdana</vt:lpstr>
      <vt:lpstr>Wingdings</vt:lpstr>
      <vt:lpstr>Office Theme</vt:lpstr>
      <vt:lpstr>UEC3942: Introduction to Sensors and Actuators</vt:lpstr>
      <vt:lpstr>PowerPoint Presentation</vt:lpstr>
      <vt:lpstr>Physics of Light Waves</vt:lpstr>
      <vt:lpstr>Energy and the Quantum Nature of Light</vt:lpstr>
      <vt:lpstr>Defining Colour Temperature</vt:lpstr>
      <vt:lpstr>Radiated Power and Temperature (Graph)</vt:lpstr>
      <vt:lpstr>The Stefan-Boltzmann Relationship</vt:lpstr>
      <vt:lpstr>The Shift from Infrared to Visible Light</vt:lpstr>
      <vt:lpstr>High Temperatures and "Cool" Light</vt:lpstr>
      <vt:lpstr>Key Misconceptions</vt:lpstr>
      <vt:lpstr>Introduction to Light Flux</vt:lpstr>
      <vt:lpstr>Understanding Illumination (Lux)</vt:lpstr>
      <vt:lpstr>Understanding Irradiance</vt:lpstr>
      <vt:lpstr>The Approximation Rule</vt:lpstr>
      <vt:lpstr>Wavelength and Peak Sensitivity</vt:lpstr>
      <vt:lpstr>Matching the Human Eye</vt:lpstr>
      <vt:lpstr>Spectral Response Curves</vt:lpstr>
      <vt:lpstr>Spectral Response Curves</vt:lpstr>
      <vt:lpstr>Colour Matching and Filters</vt:lpstr>
      <vt:lpstr>Visual Matching</vt:lpstr>
      <vt:lpstr>Summary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Colour Temperature and Light Flux</dc:title>
  <dc:creator>Karthie Alias Ayyadurai</dc:creator>
  <cp:lastModifiedBy>Microsoft account</cp:lastModifiedBy>
  <cp:revision>2</cp:revision>
  <dcterms:created xsi:type="dcterms:W3CDTF">2026-07-01T10:08:19Z</dcterms:created>
  <dcterms:modified xsi:type="dcterms:W3CDTF">2026-07-01T10:37:15Z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2026-01-27T00:00:00Z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