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172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FF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rgbClr val="FF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811" y="7368540"/>
            <a:ext cx="8057515" cy="264160"/>
          </a:xfrm>
          <a:custGeom>
            <a:avLst/>
            <a:gdLst/>
            <a:ahLst/>
            <a:cxnLst/>
            <a:rect l="l" t="t" r="r" b="b"/>
            <a:pathLst>
              <a:path w="8057515" h="264159">
                <a:moveTo>
                  <a:pt x="8057388" y="263652"/>
                </a:moveTo>
                <a:lnTo>
                  <a:pt x="0" y="263652"/>
                </a:lnTo>
                <a:lnTo>
                  <a:pt x="0" y="0"/>
                </a:lnTo>
                <a:lnTo>
                  <a:pt x="7906511" y="0"/>
                </a:lnTo>
                <a:lnTo>
                  <a:pt x="8057388" y="263652"/>
                </a:lnTo>
                <a:close/>
              </a:path>
            </a:pathLst>
          </a:custGeom>
          <a:solidFill>
            <a:srgbClr val="87BC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9812" y="7424928"/>
            <a:ext cx="8139430" cy="233679"/>
          </a:xfrm>
          <a:custGeom>
            <a:avLst/>
            <a:gdLst/>
            <a:ahLst/>
            <a:cxnLst/>
            <a:rect l="l" t="t" r="r" b="b"/>
            <a:pathLst>
              <a:path w="8139430" h="233679">
                <a:moveTo>
                  <a:pt x="8139228" y="233171"/>
                </a:moveTo>
                <a:lnTo>
                  <a:pt x="0" y="233171"/>
                </a:lnTo>
                <a:lnTo>
                  <a:pt x="0" y="0"/>
                </a:lnTo>
                <a:lnTo>
                  <a:pt x="8001000" y="0"/>
                </a:lnTo>
                <a:lnTo>
                  <a:pt x="8139228" y="233171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08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64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84" y="34290"/>
                </a:lnTo>
                <a:lnTo>
                  <a:pt x="61823" y="93141"/>
                </a:lnTo>
                <a:lnTo>
                  <a:pt x="56388" y="132588"/>
                </a:lnTo>
                <a:lnTo>
                  <a:pt x="60159" y="158711"/>
                </a:lnTo>
                <a:lnTo>
                  <a:pt x="72771" y="182689"/>
                </a:lnTo>
                <a:lnTo>
                  <a:pt x="96253" y="205244"/>
                </a:lnTo>
                <a:lnTo>
                  <a:pt x="132588" y="227076"/>
                </a:lnTo>
                <a:lnTo>
                  <a:pt x="207264" y="263652"/>
                </a:lnTo>
                <a:lnTo>
                  <a:pt x="221576" y="271678"/>
                </a:lnTo>
                <a:lnTo>
                  <a:pt x="233743" y="280987"/>
                </a:lnTo>
                <a:lnTo>
                  <a:pt x="242201" y="293446"/>
                </a:lnTo>
                <a:lnTo>
                  <a:pt x="245364" y="310896"/>
                </a:lnTo>
                <a:lnTo>
                  <a:pt x="240271" y="330504"/>
                </a:lnTo>
                <a:lnTo>
                  <a:pt x="226314" y="345376"/>
                </a:lnTo>
                <a:lnTo>
                  <a:pt x="205511" y="354838"/>
                </a:lnTo>
                <a:lnTo>
                  <a:pt x="179844" y="358140"/>
                </a:lnTo>
                <a:lnTo>
                  <a:pt x="158572" y="353402"/>
                </a:lnTo>
                <a:lnTo>
                  <a:pt x="140017" y="340804"/>
                </a:lnTo>
                <a:lnTo>
                  <a:pt x="126898" y="322783"/>
                </a:lnTo>
                <a:lnTo>
                  <a:pt x="121920" y="301752"/>
                </a:lnTo>
                <a:lnTo>
                  <a:pt x="121920" y="292608"/>
                </a:lnTo>
                <a:lnTo>
                  <a:pt x="0" y="292608"/>
                </a:lnTo>
                <a:lnTo>
                  <a:pt x="0" y="310896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32" y="425196"/>
                </a:lnTo>
                <a:lnTo>
                  <a:pt x="236842" y="420624"/>
                </a:lnTo>
                <a:lnTo>
                  <a:pt x="285394" y="407416"/>
                </a:lnTo>
                <a:lnTo>
                  <a:pt x="324612" y="386334"/>
                </a:lnTo>
                <a:lnTo>
                  <a:pt x="353682" y="358140"/>
                </a:lnTo>
                <a:lnTo>
                  <a:pt x="371754" y="323596"/>
                </a:lnTo>
                <a:lnTo>
                  <a:pt x="377952" y="283464"/>
                </a:lnTo>
                <a:lnTo>
                  <a:pt x="372694" y="256628"/>
                </a:lnTo>
                <a:lnTo>
                  <a:pt x="357568" y="233362"/>
                </a:lnTo>
                <a:lnTo>
                  <a:pt x="333590" y="213817"/>
                </a:lnTo>
                <a:lnTo>
                  <a:pt x="301752" y="198120"/>
                </a:lnTo>
                <a:lnTo>
                  <a:pt x="227076" y="160020"/>
                </a:lnTo>
                <a:lnTo>
                  <a:pt x="207479" y="151434"/>
                </a:lnTo>
                <a:lnTo>
                  <a:pt x="192595" y="139255"/>
                </a:lnTo>
                <a:lnTo>
                  <a:pt x="183146" y="123380"/>
                </a:lnTo>
                <a:lnTo>
                  <a:pt x="179832" y="103632"/>
                </a:lnTo>
                <a:lnTo>
                  <a:pt x="184581" y="89966"/>
                </a:lnTo>
                <a:lnTo>
                  <a:pt x="197167" y="77724"/>
                </a:lnTo>
                <a:lnTo>
                  <a:pt x="215201" y="68922"/>
                </a:lnTo>
                <a:lnTo>
                  <a:pt x="236220" y="65532"/>
                </a:lnTo>
                <a:lnTo>
                  <a:pt x="255828" y="69062"/>
                </a:lnTo>
                <a:lnTo>
                  <a:pt x="270700" y="78867"/>
                </a:lnTo>
                <a:lnTo>
                  <a:pt x="280162" y="93827"/>
                </a:lnTo>
                <a:lnTo>
                  <a:pt x="283464" y="112776"/>
                </a:lnTo>
                <a:lnTo>
                  <a:pt x="283464" y="123380"/>
                </a:lnTo>
                <a:lnTo>
                  <a:pt x="406908" y="123380"/>
                </a:lnTo>
                <a:lnTo>
                  <a:pt x="406908" y="103632"/>
                </a:lnTo>
                <a:close/>
              </a:path>
              <a:path w="1039495" h="425450">
                <a:moveTo>
                  <a:pt x="670560" y="103632"/>
                </a:moveTo>
                <a:lnTo>
                  <a:pt x="661504" y="65532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40" y="0"/>
                </a:lnTo>
                <a:lnTo>
                  <a:pt x="471538" y="1574"/>
                </a:lnTo>
                <a:lnTo>
                  <a:pt x="438531" y="5715"/>
                </a:lnTo>
                <a:lnTo>
                  <a:pt x="410679" y="11582"/>
                </a:lnTo>
                <a:lnTo>
                  <a:pt x="387096" y="18288"/>
                </a:lnTo>
                <a:lnTo>
                  <a:pt x="401408" y="34632"/>
                </a:lnTo>
                <a:lnTo>
                  <a:pt x="413575" y="54102"/>
                </a:lnTo>
                <a:lnTo>
                  <a:pt x="422033" y="77012"/>
                </a:lnTo>
                <a:lnTo>
                  <a:pt x="422122" y="77724"/>
                </a:lnTo>
                <a:lnTo>
                  <a:pt x="425196" y="103632"/>
                </a:lnTo>
                <a:lnTo>
                  <a:pt x="425196" y="112776"/>
                </a:lnTo>
                <a:lnTo>
                  <a:pt x="416115" y="123380"/>
                </a:lnTo>
                <a:lnTo>
                  <a:pt x="416052" y="132588"/>
                </a:lnTo>
                <a:lnTo>
                  <a:pt x="312420" y="132588"/>
                </a:lnTo>
                <a:lnTo>
                  <a:pt x="317449" y="158711"/>
                </a:lnTo>
                <a:lnTo>
                  <a:pt x="332041" y="182689"/>
                </a:lnTo>
                <a:lnTo>
                  <a:pt x="355498" y="205244"/>
                </a:lnTo>
                <a:lnTo>
                  <a:pt x="387096" y="227076"/>
                </a:lnTo>
                <a:lnTo>
                  <a:pt x="463296" y="263652"/>
                </a:lnTo>
                <a:lnTo>
                  <a:pt x="476973" y="271678"/>
                </a:lnTo>
                <a:lnTo>
                  <a:pt x="489204" y="280987"/>
                </a:lnTo>
                <a:lnTo>
                  <a:pt x="498017" y="293446"/>
                </a:lnTo>
                <a:lnTo>
                  <a:pt x="501396" y="310896"/>
                </a:lnTo>
                <a:lnTo>
                  <a:pt x="497713" y="330504"/>
                </a:lnTo>
                <a:lnTo>
                  <a:pt x="486727" y="345376"/>
                </a:lnTo>
                <a:lnTo>
                  <a:pt x="468617" y="354838"/>
                </a:lnTo>
                <a:lnTo>
                  <a:pt x="443484" y="358140"/>
                </a:lnTo>
                <a:lnTo>
                  <a:pt x="419252" y="353402"/>
                </a:lnTo>
                <a:lnTo>
                  <a:pt x="401574" y="340804"/>
                </a:lnTo>
                <a:lnTo>
                  <a:pt x="390766" y="322783"/>
                </a:lnTo>
                <a:lnTo>
                  <a:pt x="387096" y="301752"/>
                </a:lnTo>
                <a:lnTo>
                  <a:pt x="387096" y="292608"/>
                </a:lnTo>
                <a:lnTo>
                  <a:pt x="382358" y="321017"/>
                </a:lnTo>
                <a:lnTo>
                  <a:pt x="369760" y="348424"/>
                </a:lnTo>
                <a:lnTo>
                  <a:pt x="351739" y="373837"/>
                </a:lnTo>
                <a:lnTo>
                  <a:pt x="330708" y="396240"/>
                </a:lnTo>
                <a:lnTo>
                  <a:pt x="321564" y="396240"/>
                </a:lnTo>
                <a:lnTo>
                  <a:pt x="312420" y="405384"/>
                </a:lnTo>
                <a:lnTo>
                  <a:pt x="336410" y="412991"/>
                </a:lnTo>
                <a:lnTo>
                  <a:pt x="365950" y="419290"/>
                </a:lnTo>
                <a:lnTo>
                  <a:pt x="399224" y="423608"/>
                </a:lnTo>
                <a:lnTo>
                  <a:pt x="434340" y="425196"/>
                </a:lnTo>
                <a:lnTo>
                  <a:pt x="491998" y="420624"/>
                </a:lnTo>
                <a:lnTo>
                  <a:pt x="540969" y="407416"/>
                </a:lnTo>
                <a:lnTo>
                  <a:pt x="580453" y="386334"/>
                </a:lnTo>
                <a:lnTo>
                  <a:pt x="609663" y="358140"/>
                </a:lnTo>
                <a:lnTo>
                  <a:pt x="627773" y="323596"/>
                </a:lnTo>
                <a:lnTo>
                  <a:pt x="633984" y="283464"/>
                </a:lnTo>
                <a:lnTo>
                  <a:pt x="630161" y="256628"/>
                </a:lnTo>
                <a:lnTo>
                  <a:pt x="597344" y="213817"/>
                </a:lnTo>
                <a:lnTo>
                  <a:pt x="490728" y="160020"/>
                </a:lnTo>
                <a:lnTo>
                  <a:pt x="471779" y="151434"/>
                </a:lnTo>
                <a:lnTo>
                  <a:pt x="456819" y="139255"/>
                </a:lnTo>
                <a:lnTo>
                  <a:pt x="447014" y="123380"/>
                </a:lnTo>
                <a:lnTo>
                  <a:pt x="443484" y="103632"/>
                </a:lnTo>
                <a:lnTo>
                  <a:pt x="447014" y="89966"/>
                </a:lnTo>
                <a:lnTo>
                  <a:pt x="456819" y="77724"/>
                </a:lnTo>
                <a:lnTo>
                  <a:pt x="471779" y="68922"/>
                </a:lnTo>
                <a:lnTo>
                  <a:pt x="490728" y="65532"/>
                </a:lnTo>
                <a:lnTo>
                  <a:pt x="515861" y="69062"/>
                </a:lnTo>
                <a:lnTo>
                  <a:pt x="533971" y="78867"/>
                </a:lnTo>
                <a:lnTo>
                  <a:pt x="544957" y="93827"/>
                </a:lnTo>
                <a:lnTo>
                  <a:pt x="548640" y="112776"/>
                </a:lnTo>
                <a:lnTo>
                  <a:pt x="538048" y="123380"/>
                </a:lnTo>
                <a:lnTo>
                  <a:pt x="670560" y="123380"/>
                </a:lnTo>
                <a:lnTo>
                  <a:pt x="670560" y="103632"/>
                </a:lnTo>
                <a:close/>
              </a:path>
              <a:path w="1039495" h="425450">
                <a:moveTo>
                  <a:pt x="1039368" y="103632"/>
                </a:moveTo>
                <a:lnTo>
                  <a:pt x="1030973" y="59804"/>
                </a:lnTo>
                <a:lnTo>
                  <a:pt x="1007554" y="27241"/>
                </a:lnTo>
                <a:lnTo>
                  <a:pt x="971867" y="6985"/>
                </a:lnTo>
                <a:lnTo>
                  <a:pt x="926592" y="0"/>
                </a:lnTo>
                <a:lnTo>
                  <a:pt x="882777" y="5410"/>
                </a:lnTo>
                <a:lnTo>
                  <a:pt x="837819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48" y="85344"/>
                </a:lnTo>
                <a:lnTo>
                  <a:pt x="860856" y="87236"/>
                </a:lnTo>
                <a:lnTo>
                  <a:pt x="875728" y="93535"/>
                </a:lnTo>
                <a:lnTo>
                  <a:pt x="885190" y="105283"/>
                </a:lnTo>
                <a:lnTo>
                  <a:pt x="888492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49" y="142875"/>
                </a:lnTo>
                <a:lnTo>
                  <a:pt x="884643" y="155600"/>
                </a:lnTo>
                <a:lnTo>
                  <a:pt x="879348" y="169164"/>
                </a:lnTo>
                <a:lnTo>
                  <a:pt x="822960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48" y="405384"/>
                </a:lnTo>
                <a:lnTo>
                  <a:pt x="1021080" y="179832"/>
                </a:lnTo>
                <a:lnTo>
                  <a:pt x="1030224" y="141732"/>
                </a:lnTo>
                <a:lnTo>
                  <a:pt x="1035519" y="133210"/>
                </a:lnTo>
                <a:lnTo>
                  <a:pt x="1038225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68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0823" y="426127"/>
            <a:ext cx="6956753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2996" y="2875359"/>
            <a:ext cx="8012407" cy="3363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FF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industry.plantautomation-technology.com/whitepapers/1485944904-acoustic-wave-technology-" TargetMode="External"/><Relationship Id="rId2" Type="http://schemas.openxmlformats.org/officeDocument/2006/relationships/hyperlink" Target="https://pmc.ncbi.nlm.nih.gov/articles/PMC6833005/pdf/sen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1670"/>
            <a:ext cx="9505905" cy="113642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22996" y="2875359"/>
            <a:ext cx="8012407" cy="34232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algn="ctr">
              <a:lnSpc>
                <a:spcPct val="100600"/>
              </a:lnSpc>
              <a:spcBef>
                <a:spcPts val="90"/>
              </a:spcBef>
            </a:pPr>
            <a:r>
              <a:rPr dirty="0"/>
              <a:t>Unit</a:t>
            </a:r>
            <a:r>
              <a:rPr spc="-10" dirty="0"/>
              <a:t> </a:t>
            </a:r>
            <a:r>
              <a:rPr dirty="0"/>
              <a:t>III:</a:t>
            </a:r>
            <a:r>
              <a:rPr spc="15" dirty="0"/>
              <a:t> </a:t>
            </a:r>
            <a:r>
              <a:rPr dirty="0"/>
              <a:t>Surface</a:t>
            </a:r>
            <a:r>
              <a:rPr spc="10" dirty="0"/>
              <a:t> </a:t>
            </a:r>
            <a:r>
              <a:rPr dirty="0"/>
              <a:t>Acoustic</a:t>
            </a:r>
            <a:r>
              <a:rPr spc="70" dirty="0"/>
              <a:t> </a:t>
            </a:r>
            <a:r>
              <a:rPr spc="-20" dirty="0"/>
              <a:t>Wave </a:t>
            </a:r>
            <a:r>
              <a:rPr dirty="0"/>
              <a:t>(SAW)</a:t>
            </a:r>
            <a:r>
              <a:rPr spc="5" dirty="0"/>
              <a:t> </a:t>
            </a:r>
            <a:r>
              <a:rPr spc="-10" dirty="0"/>
              <a:t>Sensors</a:t>
            </a:r>
          </a:p>
          <a:p>
            <a:pPr marL="2671445" marR="2664460" algn="ctr">
              <a:lnSpc>
                <a:spcPct val="121600"/>
              </a:lnSpc>
              <a:spcBef>
                <a:spcPts val="3254"/>
              </a:spcBef>
            </a:pPr>
            <a:r>
              <a:rPr sz="2500" b="0" dirty="0">
                <a:solidFill>
                  <a:srgbClr val="808080"/>
                </a:solidFill>
                <a:latin typeface="Verdana"/>
                <a:cs typeface="Verdana"/>
              </a:rPr>
              <a:t>Presentation</a:t>
            </a:r>
            <a:r>
              <a:rPr sz="2500" b="0" spc="12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b="0" spc="-25" dirty="0">
                <a:solidFill>
                  <a:srgbClr val="808080"/>
                </a:solidFill>
                <a:latin typeface="Verdana"/>
                <a:cs typeface="Verdana"/>
              </a:rPr>
              <a:t>by: </a:t>
            </a:r>
            <a:r>
              <a:rPr sz="2500" b="0" spc="-45" dirty="0">
                <a:solidFill>
                  <a:srgbClr val="808080"/>
                </a:solidFill>
                <a:latin typeface="Verdana"/>
                <a:cs typeface="Verdana"/>
              </a:rPr>
              <a:t>Dr.</a:t>
            </a:r>
            <a:r>
              <a:rPr sz="2500" b="0" spc="-8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lang="en-GB" sz="2500" b="0" dirty="0" smtClean="0">
                <a:solidFill>
                  <a:srgbClr val="808080"/>
                </a:solidFill>
                <a:latin typeface="Verdana"/>
                <a:cs typeface="Verdana"/>
              </a:rPr>
              <a:t>C. Annadurai</a:t>
            </a:r>
            <a:endParaRPr sz="2500" dirty="0">
              <a:latin typeface="Verdana"/>
              <a:cs typeface="Verdana"/>
            </a:endParaRPr>
          </a:p>
          <a:p>
            <a:pPr marL="1339850" marR="1330960" algn="ctr">
              <a:lnSpc>
                <a:spcPts val="3650"/>
              </a:lnSpc>
              <a:spcBef>
                <a:spcPts val="90"/>
              </a:spcBef>
            </a:pPr>
            <a:r>
              <a:rPr sz="2500" b="0" dirty="0">
                <a:solidFill>
                  <a:srgbClr val="808080"/>
                </a:solidFill>
                <a:latin typeface="Verdana"/>
                <a:cs typeface="Verdana"/>
              </a:rPr>
              <a:t>Associate</a:t>
            </a:r>
            <a:r>
              <a:rPr sz="2500" b="0" spc="11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b="0" dirty="0">
                <a:solidFill>
                  <a:srgbClr val="808080"/>
                </a:solidFill>
                <a:latin typeface="Verdana"/>
                <a:cs typeface="Verdana"/>
              </a:rPr>
              <a:t>Professor/Dept.</a:t>
            </a:r>
            <a:r>
              <a:rPr sz="2500" b="0" spc="14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b="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b="0" spc="9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b="0" spc="-25" dirty="0">
                <a:solidFill>
                  <a:srgbClr val="808080"/>
                </a:solidFill>
                <a:latin typeface="Verdana"/>
                <a:cs typeface="Verdana"/>
              </a:rPr>
              <a:t>ECE </a:t>
            </a:r>
            <a:r>
              <a:rPr sz="2500" b="0" dirty="0">
                <a:solidFill>
                  <a:srgbClr val="808080"/>
                </a:solidFill>
                <a:latin typeface="Verdana"/>
                <a:cs typeface="Verdana"/>
              </a:rPr>
              <a:t>SSN</a:t>
            </a:r>
            <a:r>
              <a:rPr sz="2500" b="0" spc="3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b="0" dirty="0">
                <a:solidFill>
                  <a:srgbClr val="808080"/>
                </a:solidFill>
                <a:latin typeface="Verdana"/>
                <a:cs typeface="Verdana"/>
              </a:rPr>
              <a:t>College</a:t>
            </a:r>
            <a:r>
              <a:rPr sz="2500" b="0" spc="7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b="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b="0" spc="3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b="0" spc="-10" dirty="0">
                <a:solidFill>
                  <a:srgbClr val="808080"/>
                </a:solidFill>
                <a:latin typeface="Verdana"/>
                <a:cs typeface="Verdana"/>
              </a:rPr>
              <a:t>Engineering</a:t>
            </a:r>
            <a:endParaRPr sz="25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927860"/>
          </a:xfrm>
          <a:custGeom>
            <a:avLst/>
            <a:gdLst/>
            <a:ahLst/>
            <a:cxnLst/>
            <a:rect l="l" t="t" r="r" b="b"/>
            <a:pathLst>
              <a:path w="10058400" h="1927860">
                <a:moveTo>
                  <a:pt x="10058400" y="1927859"/>
                </a:moveTo>
                <a:lnTo>
                  <a:pt x="0" y="1927859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927859"/>
                </a:lnTo>
                <a:close/>
              </a:path>
            </a:pathLst>
          </a:custGeom>
          <a:solidFill>
            <a:srgbClr val="335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7387" y="871727"/>
            <a:ext cx="9185275" cy="408940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lang="en-IN" sz="2650" dirty="0">
                <a:solidFill>
                  <a:srgbClr val="FF0000"/>
                </a:solidFill>
              </a:rPr>
              <a:t>UEC3942:</a:t>
            </a:r>
            <a:r>
              <a:rPr lang="en-IN" sz="2650" spc="-75" dirty="0">
                <a:solidFill>
                  <a:srgbClr val="FF0000"/>
                </a:solidFill>
              </a:rPr>
              <a:t> </a:t>
            </a:r>
            <a:r>
              <a:rPr sz="2650" dirty="0" smtClean="0">
                <a:solidFill>
                  <a:srgbClr val="FF0000"/>
                </a:solidFill>
              </a:rPr>
              <a:t>Introduction</a:t>
            </a:r>
            <a:r>
              <a:rPr sz="2650" spc="-135" dirty="0" smtClean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to</a:t>
            </a:r>
            <a:r>
              <a:rPr sz="2650" spc="-12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Sensors</a:t>
            </a:r>
            <a:r>
              <a:rPr sz="2650" spc="-120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and</a:t>
            </a:r>
            <a:r>
              <a:rPr sz="2650" spc="-130" dirty="0">
                <a:solidFill>
                  <a:srgbClr val="FF0000"/>
                </a:solidFill>
              </a:rPr>
              <a:t> </a:t>
            </a:r>
            <a:r>
              <a:rPr sz="2650" spc="-10" dirty="0">
                <a:solidFill>
                  <a:srgbClr val="FF0000"/>
                </a:solidFill>
              </a:rPr>
              <a:t>Actuators</a:t>
            </a:r>
            <a:endParaRPr sz="2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0836" y="1675295"/>
            <a:ext cx="8794115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To</a:t>
            </a:r>
            <a:r>
              <a:rPr sz="2200" spc="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understand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working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principle,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types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surface 	</a:t>
            </a:r>
            <a:r>
              <a:rPr sz="2200" dirty="0">
                <a:latin typeface="Verdana"/>
                <a:cs typeface="Verdana"/>
              </a:rPr>
              <a:t>waves,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limitations,</a:t>
            </a:r>
            <a:r>
              <a:rPr sz="2200" spc="-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applications</a:t>
            </a:r>
            <a:r>
              <a:rPr sz="2200" spc="-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Surface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Acoustic 	Wave</a:t>
            </a:r>
            <a:r>
              <a:rPr sz="2200" spc="-1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(SAW)</a:t>
            </a:r>
            <a:r>
              <a:rPr sz="2200" spc="-1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sensors.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280892" y="426127"/>
            <a:ext cx="54940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0836" y="1349151"/>
            <a:ext cx="8794750" cy="6060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35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Definition:</a:t>
            </a:r>
            <a:r>
              <a:rPr sz="2200" b="1" spc="-5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class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Micro-Electro-</a:t>
            </a:r>
            <a:r>
              <a:rPr sz="2200" dirty="0">
                <a:latin typeface="Verdana"/>
                <a:cs typeface="Verdana"/>
              </a:rPr>
              <a:t>Mechanical</a:t>
            </a:r>
            <a:r>
              <a:rPr sz="2200" spc="-6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Systems 	</a:t>
            </a:r>
            <a:r>
              <a:rPr sz="2200" dirty="0">
                <a:latin typeface="Verdana"/>
                <a:cs typeface="Verdana"/>
              </a:rPr>
              <a:t>(MEMS)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rely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modulation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surface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acoustic 	</a:t>
            </a:r>
            <a:r>
              <a:rPr sz="2200" dirty="0">
                <a:latin typeface="Verdana"/>
                <a:cs typeface="Verdana"/>
              </a:rPr>
              <a:t>waves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physical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chemical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phenomena.</a:t>
            </a:r>
            <a:endParaRPr sz="2200">
              <a:latin typeface="Verdana"/>
              <a:cs typeface="Verdana"/>
            </a:endParaRPr>
          </a:p>
          <a:p>
            <a:pPr marL="389255" marR="6350" indent="-377190" algn="just">
              <a:lnSpc>
                <a:spcPct val="150000"/>
              </a:lnSpc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spc="33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"Surface"</a:t>
            </a:r>
            <a:r>
              <a:rPr sz="2200" b="1" spc="33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Advantage:</a:t>
            </a:r>
            <a:r>
              <a:rPr sz="2200" b="1" spc="3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Because</a:t>
            </a:r>
            <a:r>
              <a:rPr sz="2200" spc="3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energy</a:t>
            </a:r>
            <a:r>
              <a:rPr sz="2200" spc="31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is 	</a:t>
            </a:r>
            <a:r>
              <a:rPr sz="2200" dirty="0">
                <a:latin typeface="Verdana"/>
                <a:cs typeface="Verdana"/>
              </a:rPr>
              <a:t>concentrated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surface,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sensor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13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extremely 	</a:t>
            </a:r>
            <a:r>
              <a:rPr sz="2200" dirty="0">
                <a:latin typeface="Verdana"/>
                <a:cs typeface="Verdana"/>
              </a:rPr>
              <a:t>sensitive</a:t>
            </a:r>
            <a:r>
              <a:rPr sz="2200" spc="2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2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any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surface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22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(mass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loading,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viscosity, 	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conductivity).</a:t>
            </a:r>
            <a:endParaRPr sz="2200">
              <a:latin typeface="Verdana"/>
              <a:cs typeface="Verdana"/>
            </a:endParaRPr>
          </a:p>
          <a:p>
            <a:pPr marL="389255" marR="7620" indent="-377190" algn="just">
              <a:lnSpc>
                <a:spcPct val="150000"/>
              </a:lnSpc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Frequency</a:t>
            </a:r>
            <a:r>
              <a:rPr sz="2200" b="1" spc="2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Range:</a:t>
            </a:r>
            <a:r>
              <a:rPr sz="2200" b="1" spc="2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Typically</a:t>
            </a:r>
            <a:r>
              <a:rPr sz="2200" spc="2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operates</a:t>
            </a:r>
            <a:r>
              <a:rPr sz="2200" spc="22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MHz</a:t>
            </a:r>
            <a:r>
              <a:rPr sz="2200" spc="2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23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GHz 	</a:t>
            </a:r>
            <a:r>
              <a:rPr sz="2200" spc="-10" dirty="0">
                <a:latin typeface="Verdana"/>
                <a:cs typeface="Verdana"/>
              </a:rPr>
              <a:t>range.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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While</a:t>
            </a:r>
            <a:r>
              <a:rPr sz="2200" spc="50" dirty="0"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QCM</a:t>
            </a:r>
            <a:r>
              <a:rPr sz="2200" b="1" spc="7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uses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waves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travel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through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50" dirty="0"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bulk</a:t>
            </a:r>
            <a:r>
              <a:rPr sz="2200" b="1" spc="5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crystal,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SAW</a:t>
            </a:r>
            <a:r>
              <a:rPr sz="2200" b="1" spc="30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2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</a:t>
            </a:r>
            <a:r>
              <a:rPr sz="2200" spc="2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waves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travel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strictly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along 	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surface</a:t>
            </a:r>
            <a:r>
              <a:rPr sz="2200" spc="-10" dirty="0">
                <a:latin typeface="Verdana"/>
                <a:cs typeface="Verdana"/>
              </a:rPr>
              <a:t>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15568" y="426127"/>
            <a:ext cx="92246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Introduction</a:t>
            </a:r>
            <a:r>
              <a:rPr spc="-6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SAW</a:t>
            </a:r>
            <a:r>
              <a:rPr spc="5" dirty="0"/>
              <a:t> </a:t>
            </a:r>
            <a:r>
              <a:rPr spc="-10" dirty="0"/>
              <a:t>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504849" y="426127"/>
            <a:ext cx="505206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Working</a:t>
            </a:r>
            <a:r>
              <a:rPr spc="-55" dirty="0"/>
              <a:t> </a:t>
            </a:r>
            <a:r>
              <a:rPr spc="-10" dirty="0"/>
              <a:t>Principle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709660" cy="5558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Piezoelectric</a:t>
            </a:r>
            <a:r>
              <a:rPr sz="2200" b="1" spc="5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Transduction:</a:t>
            </a:r>
            <a:r>
              <a:rPr sz="2200" b="1" spc="5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SAW</a:t>
            </a:r>
            <a:r>
              <a:rPr sz="2200" spc="48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48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consist</a:t>
            </a:r>
            <a:r>
              <a:rPr sz="2200" spc="4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480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a 	</a:t>
            </a:r>
            <a:r>
              <a:rPr sz="2200" dirty="0">
                <a:latin typeface="Verdana"/>
                <a:cs typeface="Verdana"/>
              </a:rPr>
              <a:t>piezoelectric</a:t>
            </a:r>
            <a:r>
              <a:rPr sz="2200" spc="14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substrate</a:t>
            </a:r>
            <a:r>
              <a:rPr sz="2200" spc="15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(like</a:t>
            </a:r>
            <a:r>
              <a:rPr sz="2200" spc="15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Lithium</a:t>
            </a:r>
            <a:r>
              <a:rPr sz="2200" spc="14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Niobate)</a:t>
            </a:r>
            <a:r>
              <a:rPr sz="2200" spc="155" dirty="0">
                <a:latin typeface="Verdana"/>
                <a:cs typeface="Verdana"/>
              </a:rPr>
              <a:t>   </a:t>
            </a:r>
            <a:r>
              <a:rPr sz="2200" spc="-20" dirty="0">
                <a:latin typeface="Verdana"/>
                <a:cs typeface="Verdana"/>
              </a:rPr>
              <a:t>with 	</a:t>
            </a:r>
            <a:r>
              <a:rPr sz="2200" dirty="0">
                <a:latin typeface="Verdana"/>
                <a:cs typeface="Verdana"/>
              </a:rPr>
              <a:t>Interdigital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Transducers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(IDTs)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surface.</a:t>
            </a:r>
            <a:endParaRPr sz="2200">
              <a:latin typeface="Verdana"/>
              <a:cs typeface="Verdana"/>
            </a:endParaRPr>
          </a:p>
          <a:p>
            <a:pPr marL="389890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Mechanism:</a:t>
            </a:r>
            <a:endParaRPr sz="2200">
              <a:latin typeface="Verdana"/>
              <a:cs typeface="Verdana"/>
            </a:endParaRPr>
          </a:p>
          <a:p>
            <a:pPr marL="784860" lvl="1" indent="-377825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784860" algn="l"/>
              </a:tabLst>
            </a:pPr>
            <a:r>
              <a:rPr sz="2200" dirty="0">
                <a:latin typeface="Verdana"/>
                <a:cs typeface="Verdana"/>
              </a:rPr>
              <a:t>An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electrical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signal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applied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0070BF"/>
                </a:solidFill>
                <a:latin typeface="Verdana"/>
                <a:cs typeface="Verdana"/>
              </a:rPr>
              <a:t>Input</a:t>
            </a:r>
            <a:r>
              <a:rPr sz="2200" spc="-5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0070BF"/>
                </a:solidFill>
                <a:latin typeface="Verdana"/>
                <a:cs typeface="Verdana"/>
              </a:rPr>
              <a:t>IDT.</a:t>
            </a:r>
            <a:endParaRPr sz="2200">
              <a:latin typeface="Verdana"/>
              <a:cs typeface="Verdana"/>
            </a:endParaRPr>
          </a:p>
          <a:p>
            <a:pPr marL="784860" marR="5715" lvl="1" indent="-378460">
              <a:lnSpc>
                <a:spcPct val="150000"/>
              </a:lnSpc>
              <a:buFont typeface="Arial MT"/>
              <a:buChar char="•"/>
              <a:tabLst>
                <a:tab pos="784860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4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inverse</a:t>
            </a:r>
            <a:r>
              <a:rPr sz="2200" spc="4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piezoelectric</a:t>
            </a:r>
            <a:r>
              <a:rPr sz="2200" spc="4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effect</a:t>
            </a:r>
            <a:r>
              <a:rPr sz="2200" spc="4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converts</a:t>
            </a:r>
            <a:r>
              <a:rPr sz="2200" spc="43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electrical </a:t>
            </a:r>
            <a:r>
              <a:rPr sz="2200" dirty="0">
                <a:latin typeface="Verdana"/>
                <a:cs typeface="Verdana"/>
              </a:rPr>
              <a:t>signal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mechanical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0070BF"/>
                </a:solidFill>
                <a:latin typeface="Verdana"/>
                <a:cs typeface="Verdana"/>
              </a:rPr>
              <a:t>Surface</a:t>
            </a:r>
            <a:r>
              <a:rPr sz="2200" spc="-6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0070BF"/>
                </a:solidFill>
                <a:latin typeface="Verdana"/>
                <a:cs typeface="Verdana"/>
              </a:rPr>
              <a:t>Wave.</a:t>
            </a:r>
            <a:endParaRPr sz="2200">
              <a:latin typeface="Verdana"/>
              <a:cs typeface="Verdana"/>
            </a:endParaRPr>
          </a:p>
          <a:p>
            <a:pPr marL="784860" marR="6350" lvl="1" indent="-378460">
              <a:lnSpc>
                <a:spcPct val="150000"/>
              </a:lnSpc>
              <a:buFont typeface="Arial MT"/>
              <a:buChar char="•"/>
              <a:tabLst>
                <a:tab pos="784860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wave</a:t>
            </a:r>
            <a:r>
              <a:rPr sz="2200" spc="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travels</a:t>
            </a:r>
            <a:r>
              <a:rPr sz="2200" spc="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across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"Delay</a:t>
            </a:r>
            <a:r>
              <a:rPr sz="2200" spc="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Line"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(sensing area).</a:t>
            </a:r>
            <a:endParaRPr sz="2200">
              <a:latin typeface="Verdana"/>
              <a:cs typeface="Verdana"/>
            </a:endParaRPr>
          </a:p>
          <a:p>
            <a:pPr marL="784860" marR="7620" lvl="1" indent="-378460">
              <a:lnSpc>
                <a:spcPct val="150000"/>
              </a:lnSpc>
              <a:buFont typeface="Arial MT"/>
              <a:buChar char="•"/>
              <a:tabLst>
                <a:tab pos="784860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0070BF"/>
                </a:solidFill>
                <a:latin typeface="Verdana"/>
                <a:cs typeface="Verdana"/>
              </a:rPr>
              <a:t>Output</a:t>
            </a:r>
            <a:r>
              <a:rPr sz="2200" spc="-5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0070BF"/>
                </a:solidFill>
                <a:latin typeface="Verdana"/>
                <a:cs typeface="Verdana"/>
              </a:rPr>
              <a:t>IDT</a:t>
            </a:r>
            <a:r>
              <a:rPr sz="2200" spc="-5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converts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mechanical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wave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back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into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electrical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signal.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504849" y="426127"/>
            <a:ext cx="505206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Working</a:t>
            </a:r>
            <a:r>
              <a:rPr spc="-55" dirty="0"/>
              <a:t> </a:t>
            </a:r>
            <a:r>
              <a:rPr spc="-10" dirty="0"/>
              <a:t>Principle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691" y="4753082"/>
            <a:ext cx="3599006" cy="246915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508" y="1527605"/>
            <a:ext cx="5042203" cy="28599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9991" y="5131715"/>
            <a:ext cx="4555507" cy="128820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836667" y="6441451"/>
            <a:ext cx="4506595" cy="7289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Surface</a:t>
            </a:r>
            <a:r>
              <a:rPr sz="1500" b="1" spc="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acoustic</a:t>
            </a:r>
            <a:r>
              <a:rPr sz="1500" b="1" spc="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wave</a:t>
            </a:r>
            <a:r>
              <a:rPr sz="1500" b="1" spc="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(SAW)</a:t>
            </a:r>
            <a:r>
              <a:rPr sz="1500" b="1" spc="1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spc="-10" dirty="0">
                <a:solidFill>
                  <a:srgbClr val="FF0000"/>
                </a:solidFill>
                <a:latin typeface="Verdana"/>
                <a:cs typeface="Verdana"/>
              </a:rPr>
              <a:t>device:</a:t>
            </a:r>
            <a:endParaRPr sz="1500">
              <a:latin typeface="Verdana"/>
              <a:cs typeface="Verdana"/>
            </a:endParaRPr>
          </a:p>
          <a:p>
            <a:pPr marL="12700" marR="5080">
              <a:lnSpc>
                <a:spcPct val="102699"/>
              </a:lnSpc>
            </a:pP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(a)</a:t>
            </a:r>
            <a:r>
              <a:rPr sz="1500" b="1" spc="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schematic</a:t>
            </a:r>
            <a:r>
              <a:rPr sz="1500" b="1" spc="1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layout,</a:t>
            </a:r>
            <a:r>
              <a:rPr sz="1500" b="1" spc="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(b)</a:t>
            </a:r>
            <a:r>
              <a:rPr sz="1500" b="1" spc="1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cross-</a:t>
            </a:r>
            <a:r>
              <a:rPr sz="1500" b="1" spc="-10" dirty="0">
                <a:solidFill>
                  <a:srgbClr val="FF0000"/>
                </a:solidFill>
                <a:latin typeface="Verdana"/>
                <a:cs typeface="Verdana"/>
              </a:rPr>
              <a:t>sectional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diagram,</a:t>
            </a:r>
            <a:r>
              <a:rPr sz="1500" b="1" spc="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and</a:t>
            </a:r>
            <a:r>
              <a:rPr sz="1500" b="1" spc="1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(c)</a:t>
            </a:r>
            <a:r>
              <a:rPr sz="1500" b="1" spc="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spc="-20" dirty="0">
                <a:solidFill>
                  <a:srgbClr val="FF0000"/>
                </a:solidFill>
                <a:latin typeface="Verdana"/>
                <a:cs typeface="Verdana"/>
              </a:rPr>
              <a:t>SAWs.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00115" y="1519428"/>
            <a:ext cx="4226051" cy="32628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504849" y="426127"/>
            <a:ext cx="505206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Working</a:t>
            </a:r>
            <a:r>
              <a:rPr spc="-55" dirty="0"/>
              <a:t> </a:t>
            </a:r>
            <a:r>
              <a:rPr spc="-10" dirty="0"/>
              <a:t>Principle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686516"/>
            <a:ext cx="24339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89890" algn="l"/>
                <a:tab pos="1355090" algn="l"/>
              </a:tabLst>
            </a:pPr>
            <a:r>
              <a:rPr sz="2200" spc="-25" dirty="0">
                <a:latin typeface="Verdana"/>
                <a:cs typeface="Verdana"/>
              </a:rPr>
              <a:t>SAW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sensors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49352" y="1686516"/>
            <a:ext cx="59810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97940" algn="l"/>
                <a:tab pos="1883410" algn="l"/>
                <a:tab pos="2656205" algn="l"/>
                <a:tab pos="4812030" algn="l"/>
              </a:tabLst>
            </a:pPr>
            <a:r>
              <a:rPr sz="2200" spc="-10" dirty="0">
                <a:latin typeface="Verdana"/>
                <a:cs typeface="Verdana"/>
              </a:rPr>
              <a:t>consist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gas-</a:t>
            </a:r>
            <a:r>
              <a:rPr sz="2200" spc="-10" dirty="0">
                <a:latin typeface="Verdana"/>
                <a:cs typeface="Verdana"/>
              </a:rPr>
              <a:t>sensitive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material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3202" y="2021185"/>
            <a:ext cx="8709660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7620" algn="just">
              <a:lnSpc>
                <a:spcPct val="150000"/>
              </a:lnSpc>
              <a:spcBef>
                <a:spcPts val="100"/>
              </a:spcBef>
            </a:pPr>
            <a:r>
              <a:rPr sz="2200" dirty="0">
                <a:latin typeface="Verdana"/>
                <a:cs typeface="Verdana"/>
              </a:rPr>
              <a:t>deposited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between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input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output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interdigitated </a:t>
            </a:r>
            <a:r>
              <a:rPr sz="2200" dirty="0">
                <a:latin typeface="Verdana"/>
                <a:cs typeface="Verdana"/>
              </a:rPr>
              <a:t>transducers</a:t>
            </a:r>
            <a:r>
              <a:rPr sz="2200" spc="-1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(IDTs).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input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IDT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creates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electric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fields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alternating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time</a:t>
            </a:r>
            <a:r>
              <a:rPr sz="2200" spc="-25" dirty="0">
                <a:latin typeface="Verdana"/>
                <a:cs typeface="Verdana"/>
              </a:rPr>
              <a:t> and 	</a:t>
            </a:r>
            <a:r>
              <a:rPr sz="2200" dirty="0">
                <a:latin typeface="Verdana"/>
                <a:cs typeface="Verdana"/>
              </a:rPr>
              <a:t>space,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which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penetrate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piezoelectric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substrate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and 	</a:t>
            </a:r>
            <a:r>
              <a:rPr sz="2200" dirty="0">
                <a:latin typeface="Verdana"/>
                <a:cs typeface="Verdana"/>
              </a:rPr>
              <a:t>generate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mechanical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stresses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through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piezoeffect.</a:t>
            </a:r>
            <a:endParaRPr sz="2200">
              <a:latin typeface="Verdana"/>
              <a:cs typeface="Verdana"/>
            </a:endParaRPr>
          </a:p>
          <a:p>
            <a:pPr marL="390525" marR="5080" indent="-378460" algn="just">
              <a:lnSpc>
                <a:spcPct val="150000"/>
              </a:lnSpc>
              <a:buFont typeface="Wingdings"/>
              <a:buChar char=""/>
              <a:tabLst>
                <a:tab pos="390525" algn="l"/>
                <a:tab pos="486409" algn="l"/>
              </a:tabLst>
            </a:pPr>
            <a:r>
              <a:rPr sz="2200" dirty="0">
                <a:latin typeface="Verdana"/>
                <a:cs typeface="Verdana"/>
              </a:rPr>
              <a:t>	In</a:t>
            </a:r>
            <a:r>
              <a:rPr sz="2200" spc="2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this</a:t>
            </a:r>
            <a:r>
              <a:rPr sz="2200" spc="2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way,</a:t>
            </a:r>
            <a:r>
              <a:rPr sz="2200" spc="2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transducer</a:t>
            </a:r>
            <a:r>
              <a:rPr sz="2200" spc="2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produces</a:t>
            </a:r>
            <a:r>
              <a:rPr sz="2200" spc="2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SAWs,</a:t>
            </a:r>
            <a:r>
              <a:rPr sz="2200" spc="22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which </a:t>
            </a:r>
            <a:r>
              <a:rPr sz="2200" dirty="0">
                <a:latin typeface="Verdana"/>
                <a:cs typeface="Verdana"/>
              </a:rPr>
              <a:t>propagate</a:t>
            </a:r>
            <a:r>
              <a:rPr sz="2200" spc="4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surface.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These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waves</a:t>
            </a:r>
            <a:r>
              <a:rPr sz="2200" spc="4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4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detected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by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output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transducer.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504849" y="426127"/>
            <a:ext cx="505206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Working</a:t>
            </a:r>
            <a:r>
              <a:rPr spc="-55" dirty="0"/>
              <a:t> </a:t>
            </a:r>
            <a:r>
              <a:rPr spc="-10" dirty="0"/>
              <a:t>Principle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18283"/>
            <a:ext cx="8710295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3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gas</a:t>
            </a:r>
            <a:r>
              <a:rPr sz="2200" spc="4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gets</a:t>
            </a:r>
            <a:r>
              <a:rPr sz="2200" spc="3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adsorbed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onto</a:t>
            </a:r>
            <a:r>
              <a:rPr sz="2200" spc="4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sensitive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film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40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SAW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exposed</a:t>
            </a:r>
            <a:r>
              <a:rPr sz="2200" spc="22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22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room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229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and/or 	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elevated</a:t>
            </a:r>
            <a:r>
              <a:rPr sz="2200" spc="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temperature,</a:t>
            </a:r>
            <a:r>
              <a:rPr sz="2200" spc="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which,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turn,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6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conductivity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film.</a:t>
            </a:r>
            <a:endParaRPr sz="2200">
              <a:latin typeface="Verdana"/>
              <a:cs typeface="Verdana"/>
            </a:endParaRPr>
          </a:p>
          <a:p>
            <a:pPr marL="389255" marR="571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This</a:t>
            </a:r>
            <a:r>
              <a:rPr sz="2200" spc="3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conductivity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</a:t>
            </a:r>
            <a:r>
              <a:rPr sz="2200" spc="3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affects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velocity</a:t>
            </a:r>
            <a:r>
              <a:rPr sz="2200" spc="3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3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SAW 	</a:t>
            </a:r>
            <a:r>
              <a:rPr sz="2200" dirty="0">
                <a:latin typeface="Verdana"/>
                <a:cs typeface="Verdana"/>
              </a:rPr>
              <a:t>traveling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across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film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gives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rise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frequency 	</a:t>
            </a:r>
            <a:r>
              <a:rPr sz="2200" dirty="0">
                <a:latin typeface="Verdana"/>
                <a:cs typeface="Verdana"/>
              </a:rPr>
              <a:t>change,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which</a:t>
            </a:r>
            <a:r>
              <a:rPr sz="2200" spc="3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corresponds</a:t>
            </a:r>
            <a:r>
              <a:rPr sz="2200" spc="3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percentage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3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gas 	</a:t>
            </a:r>
            <a:r>
              <a:rPr sz="2200" dirty="0">
                <a:latin typeface="Verdana"/>
                <a:cs typeface="Verdana"/>
              </a:rPr>
              <a:t>molecules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adsorbed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film.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547280" y="426127"/>
            <a:ext cx="296481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Delay</a:t>
            </a:r>
            <a:r>
              <a:rPr spc="-40" dirty="0"/>
              <a:t> </a:t>
            </a:r>
            <a:r>
              <a:rPr spc="-20" dirty="0"/>
              <a:t>Line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0502" y="1518283"/>
            <a:ext cx="8770620" cy="505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1955" marR="5270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403225" algn="l"/>
              </a:tabLst>
            </a:pPr>
            <a:r>
              <a:rPr sz="2200" dirty="0">
                <a:latin typeface="Verdana"/>
                <a:cs typeface="Verdana"/>
              </a:rPr>
              <a:t>A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delay</a:t>
            </a:r>
            <a:r>
              <a:rPr sz="2200" spc="1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line</a:t>
            </a:r>
            <a:r>
              <a:rPr sz="2200" spc="1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1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circuit</a:t>
            </a:r>
            <a:r>
              <a:rPr sz="2200" spc="1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designed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introduce</a:t>
            </a:r>
            <a:r>
              <a:rPr sz="2200" spc="1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calculated 	</a:t>
            </a:r>
            <a:r>
              <a:rPr sz="2200" dirty="0">
                <a:latin typeface="Verdana"/>
                <a:cs typeface="Verdana"/>
              </a:rPr>
              <a:t>delay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transmission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signal.</a:t>
            </a:r>
            <a:endParaRPr sz="2200">
              <a:latin typeface="Verdana"/>
              <a:cs typeface="Verdana"/>
            </a:endParaRPr>
          </a:p>
          <a:p>
            <a:pPr marL="401955" marR="52705" indent="-377190" algn="just">
              <a:lnSpc>
                <a:spcPct val="150000"/>
              </a:lnSpc>
              <a:buFont typeface="Wingdings"/>
              <a:buChar char=""/>
              <a:tabLst>
                <a:tab pos="403225" algn="l"/>
              </a:tabLst>
            </a:pPr>
            <a:r>
              <a:rPr sz="2200" dirty="0">
                <a:latin typeface="Verdana"/>
                <a:cs typeface="Verdana"/>
              </a:rPr>
              <a:t>An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acoustic</a:t>
            </a:r>
            <a:r>
              <a:rPr sz="2200" spc="2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delay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line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delays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propagation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sound 	</a:t>
            </a:r>
            <a:r>
              <a:rPr sz="2200" dirty="0">
                <a:latin typeface="Verdana"/>
                <a:cs typeface="Verdana"/>
              </a:rPr>
              <a:t>wave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circulating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through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liquid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solid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medium.</a:t>
            </a:r>
            <a:endParaRPr sz="2200">
              <a:latin typeface="Verdana"/>
              <a:cs typeface="Verdana"/>
            </a:endParaRPr>
          </a:p>
          <a:p>
            <a:pPr marL="401955" marR="53340" indent="-377190" algn="just">
              <a:lnSpc>
                <a:spcPct val="150000"/>
              </a:lnSpc>
              <a:buFont typeface="Wingdings"/>
              <a:buChar char=""/>
              <a:tabLst>
                <a:tab pos="403225" algn="l"/>
              </a:tabLst>
            </a:pPr>
            <a:r>
              <a:rPr sz="2200" dirty="0">
                <a:latin typeface="Verdana"/>
                <a:cs typeface="Verdana"/>
              </a:rPr>
              <a:t>SAW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delay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lines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sensitive</a:t>
            </a:r>
            <a:r>
              <a:rPr sz="2200" spc="2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mass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detectors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by 	</a:t>
            </a:r>
            <a:r>
              <a:rPr sz="2200" dirty="0">
                <a:latin typeface="Verdana"/>
                <a:cs typeface="Verdana"/>
              </a:rPr>
              <a:t>virtue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SAW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velocity.</a:t>
            </a:r>
            <a:endParaRPr sz="2200">
              <a:latin typeface="Verdana"/>
              <a:cs typeface="Verdana"/>
            </a:endParaRPr>
          </a:p>
          <a:p>
            <a:pPr marL="401955" marR="52705" indent="-377190" algn="just">
              <a:lnSpc>
                <a:spcPct val="150000"/>
              </a:lnSpc>
              <a:buFont typeface="Wingdings"/>
              <a:buChar char=""/>
              <a:tabLst>
                <a:tab pos="403225" algn="l"/>
              </a:tabLst>
            </a:pPr>
            <a:r>
              <a:rPr sz="2200" dirty="0">
                <a:latin typeface="Verdana"/>
                <a:cs typeface="Verdana"/>
              </a:rPr>
              <a:t>Decreasing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SAW</a:t>
            </a:r>
            <a:r>
              <a:rPr sz="2200" spc="3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device</a:t>
            </a:r>
            <a:r>
              <a:rPr sz="2200" spc="3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area</a:t>
            </a:r>
            <a:r>
              <a:rPr sz="2200" spc="3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increases</a:t>
            </a:r>
            <a:r>
              <a:rPr sz="2200" spc="3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operating 	</a:t>
            </a:r>
            <a:r>
              <a:rPr sz="2200" dirty="0">
                <a:latin typeface="Verdana"/>
                <a:cs typeface="Verdana"/>
              </a:rPr>
              <a:t>frequency</a:t>
            </a:r>
            <a:r>
              <a:rPr sz="2200" spc="2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(</a:t>
            </a:r>
            <a:r>
              <a:rPr sz="2200" i="1" dirty="0">
                <a:latin typeface="Verdana"/>
                <a:cs typeface="Verdana"/>
              </a:rPr>
              <a:t>f</a:t>
            </a:r>
            <a:r>
              <a:rPr sz="2200" dirty="0">
                <a:latin typeface="Verdana"/>
                <a:cs typeface="Verdana"/>
              </a:rPr>
              <a:t>)</a:t>
            </a:r>
            <a:r>
              <a:rPr sz="2200" spc="245" dirty="0">
                <a:latin typeface="Verdana"/>
                <a:cs typeface="Verdana"/>
              </a:rPr>
              <a:t>  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2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dramatically</a:t>
            </a:r>
            <a:r>
              <a:rPr sz="2200" spc="2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improves</a:t>
            </a:r>
            <a:r>
              <a:rPr sz="2200" spc="2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54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mass 	</a:t>
            </a:r>
            <a:r>
              <a:rPr sz="2200" dirty="0">
                <a:latin typeface="Verdana"/>
                <a:cs typeface="Verdana"/>
              </a:rPr>
              <a:t>sensitivity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(the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mass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detection limit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proportional to </a:t>
            </a:r>
            <a:r>
              <a:rPr sz="2200" spc="-10" dirty="0">
                <a:latin typeface="Verdana"/>
                <a:cs typeface="Verdana"/>
              </a:rPr>
              <a:t>1/</a:t>
            </a:r>
            <a:r>
              <a:rPr sz="2200" i="1" spc="-10" dirty="0">
                <a:latin typeface="Verdana"/>
                <a:cs typeface="Verdana"/>
              </a:rPr>
              <a:t>f</a:t>
            </a:r>
            <a:r>
              <a:rPr sz="2175" spc="-15" baseline="24904" dirty="0">
                <a:latin typeface="Verdana"/>
                <a:cs typeface="Verdana"/>
              </a:rPr>
              <a:t>3</a:t>
            </a:r>
            <a:r>
              <a:rPr sz="2200" spc="-10" dirty="0">
                <a:latin typeface="Verdana"/>
                <a:cs typeface="Verdana"/>
              </a:rPr>
              <a:t>, 	</a:t>
            </a:r>
            <a:r>
              <a:rPr sz="2200" dirty="0">
                <a:latin typeface="Verdana"/>
                <a:cs typeface="Verdana"/>
              </a:rPr>
              <a:t>assuming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noise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linear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i="1" spc="-25" dirty="0">
                <a:latin typeface="Verdana"/>
                <a:cs typeface="Verdana"/>
              </a:rPr>
              <a:t>f</a:t>
            </a:r>
            <a:r>
              <a:rPr sz="2200" spc="-25" dirty="0">
                <a:latin typeface="Verdana"/>
                <a:cs typeface="Verdana"/>
              </a:rPr>
              <a:t>).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43564" y="426127"/>
            <a:ext cx="737425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Key</a:t>
            </a:r>
            <a:r>
              <a:rPr spc="-35" dirty="0"/>
              <a:t> </a:t>
            </a:r>
            <a:r>
              <a:rPr dirty="0"/>
              <a:t>Components:</a:t>
            </a:r>
            <a:r>
              <a:rPr spc="-2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25" dirty="0"/>
              <a:t>IDT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53417"/>
            <a:ext cx="8959215" cy="455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35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Interdigital</a:t>
            </a:r>
            <a:r>
              <a:rPr sz="2200" b="1" spc="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Transducers</a:t>
            </a:r>
            <a:r>
              <a:rPr sz="2200" b="1" spc="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(IDTs):</a:t>
            </a:r>
            <a:r>
              <a:rPr sz="2200" b="1" spc="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These  are</a:t>
            </a:r>
            <a:r>
              <a:rPr sz="2200" spc="-10" dirty="0">
                <a:latin typeface="Verdana"/>
                <a:cs typeface="Verdana"/>
              </a:rPr>
              <a:t>  </a:t>
            </a:r>
            <a:r>
              <a:rPr sz="2200" spc="-15" dirty="0">
                <a:latin typeface="Verdana"/>
                <a:cs typeface="Verdana"/>
              </a:rPr>
              <a:t>comb-</a:t>
            </a:r>
            <a:r>
              <a:rPr sz="2200" spc="-20" dirty="0">
                <a:latin typeface="Verdana"/>
                <a:cs typeface="Verdana"/>
              </a:rPr>
              <a:t>like 	</a:t>
            </a:r>
            <a:r>
              <a:rPr sz="2200" dirty="0">
                <a:latin typeface="Verdana"/>
                <a:cs typeface="Verdana"/>
              </a:rPr>
              <a:t>metallic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structures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deposited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substrate.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Design</a:t>
            </a:r>
            <a:r>
              <a:rPr sz="2200"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Factors:</a:t>
            </a:r>
            <a:endParaRPr sz="2200">
              <a:latin typeface="Verdana"/>
              <a:cs typeface="Verdana"/>
            </a:endParaRPr>
          </a:p>
          <a:p>
            <a:pPr marL="784860" marR="5715" lvl="1" indent="-378460">
              <a:lnSpc>
                <a:spcPct val="150000"/>
              </a:lnSpc>
              <a:buFont typeface="Arial MT"/>
              <a:buChar char="•"/>
              <a:tabLst>
                <a:tab pos="784860" algn="l"/>
                <a:tab pos="2056764" algn="l"/>
                <a:tab pos="3237230" algn="l"/>
                <a:tab pos="5127625" algn="l"/>
                <a:tab pos="5855970" algn="l"/>
                <a:tab pos="7729855" algn="l"/>
                <a:tab pos="842835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Finger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Pitch: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Determines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wavelength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(</a:t>
            </a:r>
            <a:r>
              <a:rPr sz="2200" i="1" spc="-25" dirty="0">
                <a:latin typeface="Verdana"/>
                <a:cs typeface="Verdana"/>
              </a:rPr>
              <a:t>λ</a:t>
            </a:r>
            <a:r>
              <a:rPr sz="2200" spc="-25" dirty="0">
                <a:latin typeface="Verdana"/>
                <a:cs typeface="Verdana"/>
              </a:rPr>
              <a:t>)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 </a:t>
            </a:r>
            <a:r>
              <a:rPr sz="2200" dirty="0">
                <a:latin typeface="Verdana"/>
                <a:cs typeface="Verdana"/>
              </a:rPr>
              <a:t>operating</a:t>
            </a:r>
            <a:r>
              <a:rPr sz="2200" spc="-1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frequency.</a:t>
            </a:r>
            <a:endParaRPr sz="2200">
              <a:latin typeface="Verdana"/>
              <a:cs typeface="Verdana"/>
            </a:endParaRPr>
          </a:p>
          <a:p>
            <a:pPr marL="784860" marR="6985" lvl="1" indent="-378460">
              <a:lnSpc>
                <a:spcPct val="150000"/>
              </a:lnSpc>
              <a:buFont typeface="Arial MT"/>
              <a:buChar char="•"/>
              <a:tabLst>
                <a:tab pos="78486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Aperture:</a:t>
            </a:r>
            <a:r>
              <a:rPr sz="2200" b="1" spc="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overlap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fingers,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affecting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signal strength.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  <a:tab pos="2277110" algn="l"/>
                <a:tab pos="3180715" algn="l"/>
                <a:tab pos="4798060" algn="l"/>
                <a:tab pos="6574790" algn="l"/>
                <a:tab pos="7185659" algn="l"/>
                <a:tab pos="860488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Equation: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resonant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frequency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defined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by 	</a:t>
            </a:r>
            <a:r>
              <a:rPr sz="2200" i="1" dirty="0">
                <a:latin typeface="Verdana"/>
                <a:cs typeface="Verdana"/>
              </a:rPr>
              <a:t>f</a:t>
            </a:r>
            <a:r>
              <a:rPr sz="2200" i="1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=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ν/λ,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where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ν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phase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velocity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wave.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652978" y="426127"/>
            <a:ext cx="67513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Types</a:t>
            </a:r>
            <a:r>
              <a:rPr spc="-8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dirty="0"/>
              <a:t>Surface</a:t>
            </a:r>
            <a:r>
              <a:rPr spc="5" dirty="0"/>
              <a:t> </a:t>
            </a:r>
            <a:r>
              <a:rPr spc="-10" dirty="0"/>
              <a:t>Waves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33535"/>
            <a:ext cx="9295765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Rayleigh</a:t>
            </a:r>
            <a:r>
              <a:rPr sz="2200" b="1" spc="2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Waves:</a:t>
            </a:r>
            <a:r>
              <a:rPr sz="2200" b="1" spc="2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Common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24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gas-</a:t>
            </a:r>
            <a:r>
              <a:rPr sz="2200" dirty="0">
                <a:latin typeface="Verdana"/>
                <a:cs typeface="Verdana"/>
              </a:rPr>
              <a:t>phase</a:t>
            </a:r>
            <a:r>
              <a:rPr sz="2200" spc="2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sensing;</a:t>
            </a:r>
            <a:r>
              <a:rPr sz="2200" spc="22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have</a:t>
            </a:r>
            <a:r>
              <a:rPr sz="2200" spc="23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both 	</a:t>
            </a:r>
            <a:r>
              <a:rPr sz="2200" dirty="0">
                <a:latin typeface="Verdana"/>
                <a:cs typeface="Verdana"/>
              </a:rPr>
              <a:t>longitudinal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vertical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shear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components.</a:t>
            </a:r>
            <a:endParaRPr sz="2200">
              <a:latin typeface="Verdana"/>
              <a:cs typeface="Verdana"/>
            </a:endParaRPr>
          </a:p>
          <a:p>
            <a:pPr marL="389255" marR="698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Love</a:t>
            </a:r>
            <a:r>
              <a:rPr sz="2200" b="1" spc="1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Waves:</a:t>
            </a:r>
            <a:r>
              <a:rPr sz="2200" b="1" spc="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Shear-</a:t>
            </a:r>
            <a:r>
              <a:rPr sz="2200" dirty="0">
                <a:latin typeface="Verdana"/>
                <a:cs typeface="Verdana"/>
              </a:rPr>
              <a:t>horizontal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waves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guided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thin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layer; 	</a:t>
            </a:r>
            <a:r>
              <a:rPr sz="2200" dirty="0">
                <a:latin typeface="Verdana"/>
                <a:cs typeface="Verdana"/>
              </a:rPr>
              <a:t>ideal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2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liquid-</a:t>
            </a:r>
            <a:r>
              <a:rPr sz="2200" dirty="0">
                <a:latin typeface="Verdana"/>
                <a:cs typeface="Verdana"/>
              </a:rPr>
              <a:t>phase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sensing</a:t>
            </a:r>
            <a:r>
              <a:rPr sz="2200" spc="-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because</a:t>
            </a:r>
            <a:r>
              <a:rPr sz="2200" spc="-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they</a:t>
            </a:r>
            <a:r>
              <a:rPr sz="2200" spc="-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don't</a:t>
            </a:r>
            <a:r>
              <a:rPr sz="2200" spc="-2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dissipate 	</a:t>
            </a:r>
            <a:r>
              <a:rPr sz="2200" dirty="0">
                <a:latin typeface="Verdana"/>
                <a:cs typeface="Verdana"/>
              </a:rPr>
              <a:t>energy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fluid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easily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Rayleigh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waves.</a:t>
            </a:r>
            <a:endParaRPr sz="2200">
              <a:latin typeface="Verdana"/>
              <a:cs typeface="Verdana"/>
            </a:endParaRPr>
          </a:p>
          <a:p>
            <a:pPr marL="389255" marR="825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STW</a:t>
            </a:r>
            <a:r>
              <a:rPr sz="2200" b="1" spc="9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(Surface</a:t>
            </a:r>
            <a:r>
              <a:rPr sz="2200" b="1" spc="7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Transverse</a:t>
            </a:r>
            <a:r>
              <a:rPr sz="2200" b="1" spc="8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Waves):</a:t>
            </a:r>
            <a:r>
              <a:rPr sz="2200" b="1" spc="8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High-</a:t>
            </a:r>
            <a:r>
              <a:rPr sz="2200" dirty="0">
                <a:latin typeface="Verdana"/>
                <a:cs typeface="Verdana"/>
              </a:rPr>
              <a:t>velocity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waves 	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high-</a:t>
            </a:r>
            <a:r>
              <a:rPr sz="2200" dirty="0">
                <a:latin typeface="Verdana"/>
                <a:cs typeface="Verdana"/>
              </a:rPr>
              <a:t>sensitivity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applications.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085912" y="426127"/>
            <a:ext cx="588137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Sensing</a:t>
            </a:r>
            <a:r>
              <a:rPr spc="-45" dirty="0"/>
              <a:t> </a:t>
            </a:r>
            <a:r>
              <a:rPr spc="-10" dirty="0"/>
              <a:t>Mechanisms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33535"/>
            <a:ext cx="9296400" cy="455168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How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"detects"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changes:</a:t>
            </a:r>
            <a:endParaRPr sz="2200">
              <a:latin typeface="Verdana"/>
              <a:cs typeface="Verdana"/>
            </a:endParaRPr>
          </a:p>
          <a:p>
            <a:pPr marL="784860" marR="8890" lvl="1" indent="-378460">
              <a:lnSpc>
                <a:spcPct val="150000"/>
              </a:lnSpc>
              <a:buFont typeface="Wingdings"/>
              <a:buChar char=""/>
              <a:tabLst>
                <a:tab pos="78486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Mass</a:t>
            </a:r>
            <a:r>
              <a:rPr sz="2200" b="1" spc="1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Loading:</a:t>
            </a:r>
            <a:r>
              <a:rPr sz="2200" b="1" spc="1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Particles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landing</a:t>
            </a:r>
            <a:r>
              <a:rPr sz="2200" spc="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1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surface</a:t>
            </a:r>
            <a:r>
              <a:rPr sz="2200" spc="1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slow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down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wave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(frequency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shift).</a:t>
            </a:r>
            <a:endParaRPr sz="2200">
              <a:latin typeface="Verdana"/>
              <a:cs typeface="Verdana"/>
            </a:endParaRPr>
          </a:p>
          <a:p>
            <a:pPr marL="784860" marR="6350" lvl="1" indent="-378460">
              <a:lnSpc>
                <a:spcPct val="150000"/>
              </a:lnSpc>
              <a:buFont typeface="Wingdings"/>
              <a:buChar char=""/>
              <a:tabLst>
                <a:tab pos="78486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Viscoelastic</a:t>
            </a:r>
            <a:r>
              <a:rPr sz="2200" b="1" spc="-7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Changes:</a:t>
            </a:r>
            <a:r>
              <a:rPr sz="2200" b="1" spc="-7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"stickiness"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spc="-50" dirty="0">
                <a:latin typeface="Verdana"/>
                <a:cs typeface="Verdana"/>
              </a:rPr>
              <a:t>a </a:t>
            </a:r>
            <a:r>
              <a:rPr sz="2200" dirty="0">
                <a:latin typeface="Verdana"/>
                <a:cs typeface="Verdana"/>
              </a:rPr>
              <a:t>coating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attenuate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signal.</a:t>
            </a:r>
            <a:endParaRPr sz="2200">
              <a:latin typeface="Verdana"/>
              <a:cs typeface="Verdana"/>
            </a:endParaRPr>
          </a:p>
          <a:p>
            <a:pPr marL="784860" marR="6350" lvl="1" indent="-378460">
              <a:lnSpc>
                <a:spcPct val="150000"/>
              </a:lnSpc>
              <a:buFont typeface="Wingdings"/>
              <a:buChar char=""/>
              <a:tabLst>
                <a:tab pos="784860" algn="l"/>
                <a:tab pos="3587750" algn="l"/>
                <a:tab pos="4985385" algn="l"/>
                <a:tab pos="6566534" algn="l"/>
                <a:tab pos="7202170" algn="l"/>
                <a:tab pos="8033384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Acouso-electric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Effect: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Changes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electrical </a:t>
            </a:r>
            <a:r>
              <a:rPr sz="2200" dirty="0">
                <a:latin typeface="Verdana"/>
                <a:cs typeface="Verdana"/>
              </a:rPr>
              <a:t>conductivity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surface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layer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affect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wave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velocity.</a:t>
            </a:r>
            <a:endParaRPr sz="2200">
              <a:latin typeface="Verdana"/>
              <a:cs typeface="Verdana"/>
            </a:endParaRPr>
          </a:p>
          <a:p>
            <a:pPr marL="784860" marR="5080" lvl="1" indent="-378460">
              <a:lnSpc>
                <a:spcPct val="150000"/>
              </a:lnSpc>
              <a:buFont typeface="Wingdings"/>
              <a:buChar char=""/>
              <a:tabLst>
                <a:tab pos="784860" algn="l"/>
                <a:tab pos="3381375" algn="l"/>
                <a:tab pos="4959350" algn="l"/>
                <a:tab pos="7145655" algn="l"/>
                <a:tab pos="876300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Environmental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Factors: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Temperature,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pressure,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 </a:t>
            </a:r>
            <a:r>
              <a:rPr sz="2200" dirty="0">
                <a:latin typeface="Verdana"/>
                <a:cs typeface="Verdana"/>
              </a:rPr>
              <a:t>strain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alter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crystal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lattice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path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length.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14942" y="426127"/>
            <a:ext cx="783272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SAW</a:t>
            </a:r>
            <a:r>
              <a:rPr spc="20" dirty="0"/>
              <a:t> </a:t>
            </a:r>
            <a:r>
              <a:rPr dirty="0"/>
              <a:t>vs.</a:t>
            </a:r>
            <a:r>
              <a:rPr spc="-25" dirty="0"/>
              <a:t> </a:t>
            </a:r>
            <a:r>
              <a:rPr dirty="0"/>
              <a:t>QCM</a:t>
            </a:r>
            <a:r>
              <a:rPr spc="-40" dirty="0"/>
              <a:t> </a:t>
            </a:r>
            <a:r>
              <a:rPr spc="-10" dirty="0"/>
              <a:t>(Comparison)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97382" y="1859680"/>
            <a:ext cx="3708400" cy="337883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SAW</a:t>
            </a:r>
            <a:r>
              <a:rPr sz="2200" b="1" spc="-7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(Surface</a:t>
            </a:r>
            <a:r>
              <a:rPr sz="2200" b="1" spc="-4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spc="-20" dirty="0">
                <a:solidFill>
                  <a:srgbClr val="0070BF"/>
                </a:solidFill>
                <a:latin typeface="Verdana"/>
                <a:cs typeface="Verdana"/>
              </a:rPr>
              <a:t>Wave)</a:t>
            </a:r>
            <a:endParaRPr sz="2200">
              <a:latin typeface="Verdana"/>
              <a:cs typeface="Verdana"/>
            </a:endParaRPr>
          </a:p>
          <a:p>
            <a:pPr marL="12700" marR="1234440">
              <a:lnSpc>
                <a:spcPct val="150000"/>
              </a:lnSpc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Along</a:t>
            </a:r>
            <a:r>
              <a:rPr sz="2200" spc="-4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the</a:t>
            </a: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surface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100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MHz</a:t>
            </a: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–</a:t>
            </a: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2</a:t>
            </a: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GHz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Ultra-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High</a:t>
            </a:r>
            <a:r>
              <a:rPr sz="2200" spc="-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(Surface</a:t>
            </a:r>
            <a:r>
              <a:rPr sz="2200" spc="-3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focus)</a:t>
            </a:r>
            <a:endParaRPr sz="2200">
              <a:latin typeface="Verdana"/>
              <a:cs typeface="Verdana"/>
            </a:endParaRPr>
          </a:p>
          <a:p>
            <a:pPr marL="12700" marR="49022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Mostly</a:t>
            </a: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Gas</a:t>
            </a:r>
            <a:r>
              <a:rPr sz="2200" spc="-4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(Rayleigh)/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Liquid</a:t>
            </a:r>
            <a:r>
              <a:rPr sz="2200" spc="-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(Love)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Micro-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scale</a:t>
            </a:r>
            <a:r>
              <a:rPr sz="2200" spc="-6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(mm</a:t>
            </a:r>
            <a:r>
              <a:rPr sz="2200" spc="-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scale)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95951" y="1859680"/>
            <a:ext cx="2790190" cy="2037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QCM</a:t>
            </a:r>
            <a:r>
              <a:rPr sz="2200" b="1" spc="-3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(Bulk</a:t>
            </a:r>
            <a:r>
              <a:rPr sz="2200" b="1" spc="-20" dirty="0">
                <a:solidFill>
                  <a:srgbClr val="0070BF"/>
                </a:solidFill>
                <a:latin typeface="Verdana"/>
                <a:cs typeface="Verdana"/>
              </a:rPr>
              <a:t> Wave)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Through</a:t>
            </a:r>
            <a:r>
              <a:rPr sz="2200" spc="-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the</a:t>
            </a:r>
            <a:r>
              <a:rPr sz="2200" spc="-3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crystal </a:t>
            </a: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5–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30</a:t>
            </a:r>
            <a:r>
              <a:rPr sz="2200" spc="1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MHz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High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2825" y="1859680"/>
            <a:ext cx="1708150" cy="2037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Feature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Wave</a:t>
            </a:r>
            <a:r>
              <a:rPr sz="2200" b="1" spc="-5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spc="-20" dirty="0">
                <a:solidFill>
                  <a:srgbClr val="0070BF"/>
                </a:solidFill>
                <a:latin typeface="Verdana"/>
                <a:cs typeface="Verdana"/>
              </a:rPr>
              <a:t>Path </a:t>
            </a: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Frequency Sensitivity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95951" y="4207289"/>
            <a:ext cx="17862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Gas</a:t>
            </a:r>
            <a:r>
              <a:rPr sz="2200" spc="-3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&amp;</a:t>
            </a:r>
            <a:r>
              <a:rPr sz="2200" spc="-4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Liquid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2825" y="4207289"/>
            <a:ext cx="20269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Environment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95951" y="4877825"/>
            <a:ext cx="24949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Larger</a:t>
            </a:r>
            <a:r>
              <a:rPr sz="2200" spc="-7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(cm</a:t>
            </a:r>
            <a:r>
              <a:rPr sz="2200" spc="-4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scale)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2825" y="4877825"/>
            <a:ext cx="6711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20" dirty="0">
                <a:solidFill>
                  <a:srgbClr val="0070BF"/>
                </a:solidFill>
                <a:latin typeface="Verdana"/>
                <a:cs typeface="Verdana"/>
              </a:rPr>
              <a:t>Size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902" y="711797"/>
            <a:ext cx="2099945" cy="33972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Wingdings"/>
                <a:cs typeface="Wingdings"/>
              </a:rPr>
              <a:t></a:t>
            </a:r>
            <a:r>
              <a:rPr sz="2200" spc="55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Verdana"/>
                <a:cs typeface="Verdana"/>
              </a:rPr>
              <a:t>Introduction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45310" y="426127"/>
            <a:ext cx="836866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Wireless</a:t>
            </a:r>
            <a:r>
              <a:rPr spc="-5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Passive</a:t>
            </a:r>
            <a:r>
              <a:rPr spc="-10" dirty="0"/>
              <a:t> Sensing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53417"/>
            <a:ext cx="8961755" cy="3545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889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2200" b="1" spc="4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Unique</a:t>
            </a:r>
            <a:r>
              <a:rPr sz="2200" b="1" spc="4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Feature:</a:t>
            </a:r>
            <a:r>
              <a:rPr sz="2200" b="1" spc="4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SAW</a:t>
            </a:r>
            <a:r>
              <a:rPr sz="2200" spc="4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3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4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40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operated 	</a:t>
            </a:r>
            <a:r>
              <a:rPr sz="2200" dirty="0">
                <a:latin typeface="Verdana"/>
                <a:cs typeface="Verdana"/>
              </a:rPr>
              <a:t>wirelessly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without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battery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(passive).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How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it</a:t>
            </a: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works:</a:t>
            </a: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RF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pulse</a:t>
            </a:r>
            <a:r>
              <a:rPr sz="2200" spc="-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received</a:t>
            </a:r>
            <a:r>
              <a:rPr sz="2200" spc="-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-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antenna 	</a:t>
            </a:r>
            <a:r>
              <a:rPr sz="2200" dirty="0">
                <a:latin typeface="Verdana"/>
                <a:cs typeface="Verdana"/>
              </a:rPr>
              <a:t>connected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 </a:t>
            </a:r>
            <a:r>
              <a:rPr sz="2200" spc="-55" dirty="0">
                <a:latin typeface="Verdana"/>
                <a:cs typeface="Verdana"/>
              </a:rPr>
              <a:t>IDT,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converted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spc="-55" dirty="0">
                <a:latin typeface="Verdana"/>
                <a:cs typeface="Verdana"/>
              </a:rPr>
              <a:t>SAW,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reflected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back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by 	</a:t>
            </a:r>
            <a:r>
              <a:rPr sz="2200" dirty="0">
                <a:latin typeface="Verdana"/>
                <a:cs typeface="Verdana"/>
              </a:rPr>
              <a:t>"reflectors,"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re-</a:t>
            </a:r>
            <a:r>
              <a:rPr sz="2200" spc="-10" dirty="0">
                <a:latin typeface="Verdana"/>
                <a:cs typeface="Verdana"/>
              </a:rPr>
              <a:t>transmitted.</a:t>
            </a:r>
            <a:endParaRPr sz="2200">
              <a:latin typeface="Verdana"/>
              <a:cs typeface="Verdana"/>
            </a:endParaRPr>
          </a:p>
          <a:p>
            <a:pPr marL="389255" marR="571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Benefit:</a:t>
            </a:r>
            <a:r>
              <a:rPr sz="2200" b="1" spc="2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Ideal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harsh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environments</a:t>
            </a:r>
            <a:r>
              <a:rPr sz="2200" spc="2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(high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heat,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rotating 	</a:t>
            </a:r>
            <a:r>
              <a:rPr sz="2200" dirty="0">
                <a:latin typeface="Verdana"/>
                <a:cs typeface="Verdana"/>
              </a:rPr>
              <a:t>parts)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where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wiring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impossible.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902" y="711797"/>
            <a:ext cx="2099945" cy="33972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Wingdings"/>
                <a:cs typeface="Wingdings"/>
              </a:rPr>
              <a:t></a:t>
            </a:r>
            <a:r>
              <a:rPr sz="2200" spc="55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Verdana"/>
                <a:cs typeface="Verdana"/>
              </a:rPr>
              <a:t>Introduction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9101" y="426127"/>
            <a:ext cx="983932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Industrial</a:t>
            </a:r>
            <a:r>
              <a:rPr spc="-55" dirty="0"/>
              <a:t> </a:t>
            </a:r>
            <a:r>
              <a:rPr dirty="0"/>
              <a:t>&amp;</a:t>
            </a:r>
            <a:r>
              <a:rPr spc="-50" dirty="0"/>
              <a:t> </a:t>
            </a:r>
            <a:r>
              <a:rPr dirty="0"/>
              <a:t>Research</a:t>
            </a:r>
            <a:r>
              <a:rPr spc="-50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53417"/>
            <a:ext cx="8961120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Gas</a:t>
            </a:r>
            <a:r>
              <a:rPr sz="2200" b="1" spc="5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Sensing:</a:t>
            </a:r>
            <a:r>
              <a:rPr sz="2200" b="1" spc="5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Detecting</a:t>
            </a:r>
            <a:r>
              <a:rPr sz="2200" spc="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VOCs,</a:t>
            </a:r>
            <a:r>
              <a:rPr sz="2200" spc="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CO2,</a:t>
            </a:r>
            <a:r>
              <a:rPr sz="2200" spc="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humidity</a:t>
            </a:r>
            <a:r>
              <a:rPr sz="2200" spc="3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using 	</a:t>
            </a:r>
            <a:r>
              <a:rPr sz="2200" dirty="0">
                <a:latin typeface="Verdana"/>
                <a:cs typeface="Verdana"/>
              </a:rPr>
              <a:t>specialized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polymer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coatings.</a:t>
            </a:r>
            <a:endParaRPr sz="2200">
              <a:latin typeface="Verdana"/>
              <a:cs typeface="Verdana"/>
            </a:endParaRPr>
          </a:p>
          <a:p>
            <a:pPr marL="389255" marR="571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Automotive:</a:t>
            </a:r>
            <a:r>
              <a:rPr sz="2200" b="1" spc="-9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Real-</a:t>
            </a:r>
            <a:r>
              <a:rPr sz="2200" dirty="0">
                <a:latin typeface="Verdana"/>
                <a:cs typeface="Verdana"/>
              </a:rPr>
              <a:t>time</a:t>
            </a:r>
            <a:r>
              <a:rPr sz="2200" spc="5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Tire</a:t>
            </a:r>
            <a:r>
              <a:rPr sz="2200" spc="5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5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Monitoring</a:t>
            </a:r>
            <a:r>
              <a:rPr sz="2200" spc="5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Systems 	(TPMS).</a:t>
            </a:r>
            <a:endParaRPr sz="2200">
              <a:latin typeface="Verdana"/>
              <a:cs typeface="Verdana"/>
            </a:endParaRPr>
          </a:p>
          <a:p>
            <a:pPr marL="389255" marR="698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  <a:tab pos="2621280" algn="l"/>
                <a:tab pos="4436745" algn="l"/>
                <a:tab pos="6129655" algn="l"/>
                <a:tab pos="6796405" algn="l"/>
                <a:tab pos="865632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Biomedical: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Label-free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detection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pathogens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or 	</a:t>
            </a:r>
            <a:r>
              <a:rPr sz="2200" dirty="0">
                <a:latin typeface="Verdana"/>
                <a:cs typeface="Verdana"/>
              </a:rPr>
              <a:t>biomarkers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microfluidic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channels.</a:t>
            </a:r>
            <a:endParaRPr sz="2200">
              <a:latin typeface="Verdana"/>
              <a:cs typeface="Verdana"/>
            </a:endParaRPr>
          </a:p>
          <a:p>
            <a:pPr marL="389255" marR="635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  <a:tab pos="2491740" algn="l"/>
                <a:tab pos="4234815" algn="l"/>
                <a:tab pos="5462270" algn="l"/>
                <a:tab pos="7338695" algn="l"/>
                <a:tab pos="8214359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Aerospace: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Structural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health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monitoring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</a:t>
            </a:r>
            <a:r>
              <a:rPr sz="2200" dirty="0">
                <a:latin typeface="Verdana"/>
                <a:cs typeface="Verdana"/>
              </a:rPr>
              <a:t>	high-	temperature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turbine</a:t>
            </a:r>
            <a:r>
              <a:rPr sz="2200" spc="-1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sensing.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902" y="711797"/>
            <a:ext cx="2099945" cy="33972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Wingdings"/>
                <a:cs typeface="Wingdings"/>
              </a:rPr>
              <a:t></a:t>
            </a:r>
            <a:r>
              <a:rPr sz="2200" spc="55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Verdana"/>
                <a:cs typeface="Verdana"/>
              </a:rPr>
              <a:t>Introduction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14942" y="426127"/>
            <a:ext cx="78276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Conclusion</a:t>
            </a:r>
            <a:r>
              <a:rPr spc="-80" dirty="0"/>
              <a:t> </a:t>
            </a:r>
            <a:r>
              <a:rPr dirty="0"/>
              <a:t>&amp;</a:t>
            </a:r>
            <a:r>
              <a:rPr spc="10" dirty="0"/>
              <a:t> </a:t>
            </a:r>
            <a:r>
              <a:rPr dirty="0"/>
              <a:t>Future</a:t>
            </a:r>
            <a:r>
              <a:rPr spc="-35" dirty="0"/>
              <a:t> </a:t>
            </a:r>
            <a:r>
              <a:rPr spc="-10" dirty="0"/>
              <a:t>Trends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1822" y="1518283"/>
            <a:ext cx="9107170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2252345" algn="l"/>
                <a:tab pos="3153410" algn="l"/>
                <a:tab pos="4469765" algn="l"/>
                <a:tab pos="5373370" algn="l"/>
                <a:tab pos="6229350" algn="l"/>
                <a:tab pos="7969884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Summary: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SAW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sensors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offer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high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sensitivity,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wireless 	</a:t>
            </a:r>
            <a:r>
              <a:rPr sz="2200" spc="-20" dirty="0">
                <a:latin typeface="Verdana"/>
                <a:cs typeface="Verdana"/>
              </a:rPr>
              <a:t>capability,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small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footprint.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Future</a:t>
            </a: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Trends:</a:t>
            </a:r>
            <a:endParaRPr sz="2200">
              <a:latin typeface="Verdana"/>
              <a:cs typeface="Verdana"/>
            </a:endParaRPr>
          </a:p>
          <a:p>
            <a:pPr marL="784860" lvl="1" indent="-377825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784860" algn="l"/>
              </a:tabLst>
            </a:pPr>
            <a:r>
              <a:rPr sz="2200" dirty="0">
                <a:latin typeface="Verdana"/>
                <a:cs typeface="Verdana"/>
              </a:rPr>
              <a:t>Integration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CMOS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electronics.</a:t>
            </a:r>
            <a:endParaRPr sz="2200">
              <a:latin typeface="Verdana"/>
              <a:cs typeface="Verdana"/>
            </a:endParaRPr>
          </a:p>
          <a:p>
            <a:pPr marL="784860" marR="5080" lvl="1" indent="-378460">
              <a:lnSpc>
                <a:spcPct val="150000"/>
              </a:lnSpc>
              <a:buFont typeface="Arial MT"/>
              <a:buChar char="•"/>
              <a:tabLst>
                <a:tab pos="784860" algn="l"/>
              </a:tabLst>
            </a:pPr>
            <a:r>
              <a:rPr sz="2200" dirty="0">
                <a:latin typeface="Verdana"/>
                <a:cs typeface="Verdana"/>
              </a:rPr>
              <a:t>Development of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Nanomaterial coatings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(Graphene,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Carbon </a:t>
            </a:r>
            <a:r>
              <a:rPr sz="2200" dirty="0">
                <a:latin typeface="Verdana"/>
                <a:cs typeface="Verdana"/>
              </a:rPr>
              <a:t>Nanotubes)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sub-parts-</a:t>
            </a:r>
            <a:r>
              <a:rPr sz="2200" spc="-35" dirty="0">
                <a:latin typeface="Verdana"/>
                <a:cs typeface="Verdana"/>
              </a:rPr>
              <a:t>per-</a:t>
            </a:r>
            <a:r>
              <a:rPr sz="2200" dirty="0">
                <a:latin typeface="Verdana"/>
                <a:cs typeface="Verdana"/>
              </a:rPr>
              <a:t>billion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sensitivity.</a:t>
            </a:r>
            <a:endParaRPr sz="2200">
              <a:latin typeface="Verdana"/>
              <a:cs typeface="Verdana"/>
            </a:endParaRPr>
          </a:p>
          <a:p>
            <a:pPr marL="784860" lvl="1" indent="-377825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784860" algn="l"/>
              </a:tabLst>
            </a:pPr>
            <a:r>
              <a:rPr sz="2200" dirty="0">
                <a:latin typeface="Verdana"/>
                <a:cs typeface="Verdana"/>
              </a:rPr>
              <a:t>Use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5G/6G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filters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frequency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control.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3178" y="1374202"/>
            <a:ext cx="9211945" cy="5457190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515620" indent="-502920" algn="just">
              <a:lnSpc>
                <a:spcPct val="100000"/>
              </a:lnSpc>
              <a:spcBef>
                <a:spcPts val="1315"/>
              </a:spcBef>
              <a:buAutoNum type="arabicPeriod"/>
              <a:tabLst>
                <a:tab pos="515620" algn="l"/>
              </a:tabLst>
            </a:pPr>
            <a:r>
              <a:rPr sz="1950" dirty="0">
                <a:latin typeface="Verdana"/>
                <a:cs typeface="Verdana"/>
              </a:rPr>
              <a:t>Define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"Delay</a:t>
            </a:r>
            <a:r>
              <a:rPr sz="1950" spc="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Line"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configuration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in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SAW</a:t>
            </a:r>
            <a:r>
              <a:rPr sz="1950" spc="1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sensor.</a:t>
            </a:r>
            <a:endParaRPr sz="1950">
              <a:latin typeface="Verdana"/>
              <a:cs typeface="Verdana"/>
            </a:endParaRPr>
          </a:p>
          <a:p>
            <a:pPr marL="514984" marR="6985" indent="-502920" algn="just">
              <a:lnSpc>
                <a:spcPct val="152300"/>
              </a:lnSpc>
              <a:buAutoNum type="arabicPeriod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Mention</a:t>
            </a:r>
            <a:r>
              <a:rPr sz="1950" spc="1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two</a:t>
            </a:r>
            <a:r>
              <a:rPr sz="1950" spc="1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environmental</a:t>
            </a:r>
            <a:r>
              <a:rPr sz="1950" spc="1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factors</a:t>
            </a:r>
            <a:r>
              <a:rPr sz="1950" spc="1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that</a:t>
            </a:r>
            <a:r>
              <a:rPr sz="1950" spc="1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can</a:t>
            </a:r>
            <a:r>
              <a:rPr sz="1950" spc="1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cause</a:t>
            </a:r>
            <a:r>
              <a:rPr sz="1950" spc="1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</a:t>
            </a:r>
            <a:r>
              <a:rPr sz="1950" spc="1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frequency</a:t>
            </a:r>
            <a:r>
              <a:rPr sz="1950" spc="17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shift </a:t>
            </a:r>
            <a:r>
              <a:rPr sz="1950" dirty="0">
                <a:latin typeface="Verdana"/>
                <a:cs typeface="Verdana"/>
              </a:rPr>
              <a:t>in</a:t>
            </a:r>
            <a:r>
              <a:rPr sz="1950" spc="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 SAW</a:t>
            </a:r>
            <a:r>
              <a:rPr sz="1950" spc="-1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sensor.</a:t>
            </a:r>
            <a:endParaRPr sz="1950">
              <a:latin typeface="Verdana"/>
              <a:cs typeface="Verdana"/>
            </a:endParaRPr>
          </a:p>
          <a:p>
            <a:pPr marL="514984" marR="5715" indent="-502920" algn="just">
              <a:lnSpc>
                <a:spcPct val="152300"/>
              </a:lnSpc>
              <a:buAutoNum type="arabicPeriod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Explain</a:t>
            </a:r>
            <a:r>
              <a:rPr sz="1950" spc="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1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"Acousto-electric</a:t>
            </a:r>
            <a:r>
              <a:rPr sz="1950" spc="1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effect"</a:t>
            </a:r>
            <a:r>
              <a:rPr sz="1950" spc="1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its</a:t>
            </a:r>
            <a:r>
              <a:rPr sz="1950" spc="1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significance</a:t>
            </a:r>
            <a:r>
              <a:rPr sz="1950" spc="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in</a:t>
            </a:r>
            <a:r>
              <a:rPr sz="1950" spc="10" dirty="0">
                <a:latin typeface="Verdana"/>
                <a:cs typeface="Verdana"/>
              </a:rPr>
              <a:t>  </a:t>
            </a:r>
            <a:r>
              <a:rPr sz="1950" spc="-25" dirty="0">
                <a:latin typeface="Verdana"/>
                <a:cs typeface="Verdana"/>
              </a:rPr>
              <a:t>SAW </a:t>
            </a:r>
            <a:r>
              <a:rPr sz="1950" dirty="0">
                <a:latin typeface="Verdana"/>
                <a:cs typeface="Verdana"/>
              </a:rPr>
              <a:t>chemical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sensors.</a:t>
            </a:r>
            <a:endParaRPr sz="1950">
              <a:latin typeface="Verdana"/>
              <a:cs typeface="Verdana"/>
            </a:endParaRPr>
          </a:p>
          <a:p>
            <a:pPr marL="514984" marR="5080" indent="-502920" algn="just">
              <a:lnSpc>
                <a:spcPct val="152300"/>
              </a:lnSpc>
              <a:buAutoNum type="arabicPeriod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Compare</a:t>
            </a:r>
            <a:r>
              <a:rPr sz="1950" spc="7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Rayleigh</a:t>
            </a:r>
            <a:r>
              <a:rPr sz="1950" spc="8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waves</a:t>
            </a:r>
            <a:r>
              <a:rPr sz="1950" spc="7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7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Love</a:t>
            </a:r>
            <a:r>
              <a:rPr sz="1950" spc="6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waves</a:t>
            </a:r>
            <a:r>
              <a:rPr sz="1950" spc="8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in</a:t>
            </a:r>
            <a:r>
              <a:rPr sz="1950" spc="7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terms</a:t>
            </a:r>
            <a:r>
              <a:rPr sz="1950" spc="8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75" dirty="0">
                <a:latin typeface="Verdana"/>
                <a:cs typeface="Verdana"/>
              </a:rPr>
              <a:t>  </a:t>
            </a:r>
            <a:r>
              <a:rPr sz="1950" spc="-10" dirty="0">
                <a:latin typeface="Verdana"/>
                <a:cs typeface="Verdana"/>
              </a:rPr>
              <a:t>particle </a:t>
            </a:r>
            <a:r>
              <a:rPr sz="1950" dirty="0">
                <a:latin typeface="Verdana"/>
                <a:cs typeface="Verdana"/>
              </a:rPr>
              <a:t>displacement</a:t>
            </a:r>
            <a:r>
              <a:rPr sz="1950" spc="34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34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their</a:t>
            </a:r>
            <a:r>
              <a:rPr sz="1950" spc="33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suitability</a:t>
            </a:r>
            <a:r>
              <a:rPr sz="1950" spc="33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for</a:t>
            </a:r>
            <a:r>
              <a:rPr sz="1950" spc="33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biosensing</a:t>
            </a:r>
            <a:r>
              <a:rPr sz="1950" spc="34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in</a:t>
            </a:r>
            <a:r>
              <a:rPr sz="1950" spc="345" dirty="0">
                <a:latin typeface="Verdana"/>
                <a:cs typeface="Verdana"/>
              </a:rPr>
              <a:t>  </a:t>
            </a:r>
            <a:r>
              <a:rPr sz="1950" spc="-10" dirty="0">
                <a:latin typeface="Verdana"/>
                <a:cs typeface="Verdana"/>
              </a:rPr>
              <a:t>aqueous solutions.</a:t>
            </a:r>
            <a:endParaRPr sz="1950">
              <a:latin typeface="Verdana"/>
              <a:cs typeface="Verdana"/>
            </a:endParaRPr>
          </a:p>
          <a:p>
            <a:pPr marL="514984" marR="5080" indent="-502920" algn="just">
              <a:lnSpc>
                <a:spcPct val="152300"/>
              </a:lnSpc>
              <a:buAutoNum type="arabicPeriod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Using</a:t>
            </a:r>
            <a:r>
              <a:rPr sz="1950" spc="1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</a:t>
            </a:r>
            <a:r>
              <a:rPr sz="1950" spc="1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neat</a:t>
            </a:r>
            <a:r>
              <a:rPr sz="1950" spc="1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diagram,</a:t>
            </a:r>
            <a:r>
              <a:rPr sz="1950" spc="1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explain</a:t>
            </a:r>
            <a:r>
              <a:rPr sz="1950" spc="1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1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complete</a:t>
            </a:r>
            <a:r>
              <a:rPr sz="1950" spc="1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transduction</a:t>
            </a:r>
            <a:r>
              <a:rPr sz="1950" spc="1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process</a:t>
            </a:r>
            <a:r>
              <a:rPr sz="1950" spc="165" dirty="0">
                <a:latin typeface="Verdana"/>
                <a:cs typeface="Verdana"/>
              </a:rPr>
              <a:t> </a:t>
            </a:r>
            <a:r>
              <a:rPr sz="1950" spc="-25" dirty="0">
                <a:latin typeface="Verdana"/>
                <a:cs typeface="Verdana"/>
              </a:rPr>
              <a:t>in </a:t>
            </a:r>
            <a:r>
              <a:rPr sz="1950" dirty="0">
                <a:latin typeface="Verdana"/>
                <a:cs typeface="Verdana"/>
              </a:rPr>
              <a:t>a</a:t>
            </a:r>
            <a:r>
              <a:rPr sz="1950" spc="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SAW</a:t>
            </a:r>
            <a:r>
              <a:rPr sz="1950" spc="3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sensor</a:t>
            </a:r>
            <a:r>
              <a:rPr sz="1950" spc="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from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input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electrical</a:t>
            </a:r>
            <a:r>
              <a:rPr sz="1950" spc="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signal</a:t>
            </a:r>
            <a:r>
              <a:rPr sz="1950" spc="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to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output</a:t>
            </a:r>
            <a:r>
              <a:rPr sz="1950" spc="6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signal.</a:t>
            </a:r>
            <a:endParaRPr sz="1950">
              <a:latin typeface="Verdana"/>
              <a:cs typeface="Verdana"/>
            </a:endParaRPr>
          </a:p>
          <a:p>
            <a:pPr marL="514984" marR="5080" indent="-502920" algn="just">
              <a:lnSpc>
                <a:spcPct val="152300"/>
              </a:lnSpc>
              <a:buAutoNum type="arabicPeriod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Discuss</a:t>
            </a:r>
            <a:r>
              <a:rPr sz="1950" spc="3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how</a:t>
            </a:r>
            <a:r>
              <a:rPr sz="1950" spc="3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"Mass</a:t>
            </a:r>
            <a:r>
              <a:rPr sz="1950" spc="3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Loading"</a:t>
            </a:r>
            <a:r>
              <a:rPr sz="1950" spc="3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on</a:t>
            </a:r>
            <a:r>
              <a:rPr sz="1950" spc="3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3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sensing</a:t>
            </a:r>
            <a:r>
              <a:rPr sz="1950" spc="3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area</a:t>
            </a:r>
            <a:r>
              <a:rPr sz="1950" spc="3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translates</a:t>
            </a:r>
            <a:r>
              <a:rPr sz="1950" spc="3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into</a:t>
            </a:r>
            <a:r>
              <a:rPr sz="1950" spc="345" dirty="0">
                <a:latin typeface="Verdana"/>
                <a:cs typeface="Verdana"/>
              </a:rPr>
              <a:t> </a:t>
            </a:r>
            <a:r>
              <a:rPr sz="1950" spc="-50" dirty="0">
                <a:latin typeface="Verdana"/>
                <a:cs typeface="Verdana"/>
              </a:rPr>
              <a:t>a </a:t>
            </a:r>
            <a:r>
              <a:rPr sz="1950" dirty="0">
                <a:latin typeface="Verdana"/>
                <a:cs typeface="Verdana"/>
              </a:rPr>
              <a:t>measurable</a:t>
            </a:r>
            <a:r>
              <a:rPr sz="1950" spc="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frequency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shift.</a:t>
            </a:r>
            <a:endParaRPr sz="1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0836" y="1646290"/>
            <a:ext cx="8877300" cy="5255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D.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S.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Ballantine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et.</a:t>
            </a:r>
            <a:r>
              <a:rPr sz="2200" spc="-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al.,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Acoustic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Wave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Sensors: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Theory, 	</a:t>
            </a:r>
            <a:r>
              <a:rPr sz="2200" dirty="0">
                <a:latin typeface="Verdana"/>
                <a:cs typeface="Verdana"/>
              </a:rPr>
              <a:t>Design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Physico-</a:t>
            </a:r>
            <a:r>
              <a:rPr sz="2200" dirty="0">
                <a:latin typeface="Verdana"/>
                <a:cs typeface="Verdana"/>
              </a:rPr>
              <a:t>Chemical</a:t>
            </a:r>
            <a:r>
              <a:rPr sz="2200" spc="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Applications,</a:t>
            </a:r>
            <a:r>
              <a:rPr sz="2200" spc="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Academic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Press, 	1997.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spcBef>
                <a:spcPts val="525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Vinod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Kumar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Khanna,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Nanosensors: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Physical,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Chemical, 	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Biological,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CRC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Press,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Second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Edition,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2021.</a:t>
            </a:r>
            <a:endParaRPr sz="2200">
              <a:latin typeface="Verdana"/>
              <a:cs typeface="Verdana"/>
            </a:endParaRPr>
          </a:p>
          <a:p>
            <a:pPr marL="389255" marR="52705" indent="-377190" algn="just">
              <a:lnSpc>
                <a:spcPct val="150000"/>
              </a:lnSpc>
              <a:spcBef>
                <a:spcPts val="53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2"/>
              </a:rPr>
              <a:t>https://pmc.ncbi.nlm.nih.gov/articles/PMC6833005/pdf/sen</a:t>
            </a:r>
            <a:r>
              <a:rPr sz="2200" spc="-10" dirty="0">
                <a:latin typeface="Verdana"/>
                <a:cs typeface="Verdana"/>
              </a:rPr>
              <a:t> 	</a:t>
            </a:r>
            <a:r>
              <a:rPr sz="2200" u="sng" spc="-2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sors-</a:t>
            </a:r>
            <a:r>
              <a:rPr sz="2200" u="sng" spc="-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19-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04395.pdf</a:t>
            </a:r>
            <a:endParaRPr sz="2200">
              <a:latin typeface="Verdana"/>
              <a:cs typeface="Verdana"/>
            </a:endParaRPr>
          </a:p>
          <a:p>
            <a:pPr marL="389255" marR="963930" indent="-377190">
              <a:lnSpc>
                <a:spcPct val="150000"/>
              </a:lnSpc>
              <a:spcBef>
                <a:spcPts val="525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https://industry.plantautomation-technology.com/</a:t>
            </a:r>
            <a:r>
              <a:rPr sz="2200" spc="-10" dirty="0">
                <a:latin typeface="Verdana"/>
                <a:cs typeface="Verdana"/>
                <a:hlinkClick r:id="rId3"/>
              </a:rPr>
              <a:t> 	</a:t>
            </a:r>
            <a:r>
              <a:rPr sz="2200" u="sng" spc="-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whitepapers/1485944904-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acoustic-</a:t>
            </a:r>
            <a:r>
              <a:rPr sz="2200" u="sng" spc="-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wave-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technology-	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sensors.pdf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0690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References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89988" y="3371088"/>
            <a:ext cx="5741670" cy="1073150"/>
          </a:xfrm>
          <a:custGeom>
            <a:avLst/>
            <a:gdLst/>
            <a:ahLst/>
            <a:cxnLst/>
            <a:rect l="l" t="t" r="r" b="b"/>
            <a:pathLst>
              <a:path w="5741670" h="1073150">
                <a:moveTo>
                  <a:pt x="725709" y="848867"/>
                </a:moveTo>
                <a:lnTo>
                  <a:pt x="623315" y="848867"/>
                </a:lnTo>
                <a:lnTo>
                  <a:pt x="819340" y="0"/>
                </a:lnTo>
                <a:lnTo>
                  <a:pt x="921734" y="0"/>
                </a:lnTo>
                <a:lnTo>
                  <a:pt x="850868" y="307085"/>
                </a:lnTo>
                <a:lnTo>
                  <a:pt x="1220913" y="307085"/>
                </a:lnTo>
                <a:lnTo>
                  <a:pt x="1223343" y="311765"/>
                </a:lnTo>
                <a:lnTo>
                  <a:pt x="1224737" y="316991"/>
                </a:lnTo>
                <a:lnTo>
                  <a:pt x="1020127" y="316991"/>
                </a:lnTo>
                <a:lnTo>
                  <a:pt x="998803" y="318475"/>
                </a:lnTo>
                <a:lnTo>
                  <a:pt x="952940" y="329944"/>
                </a:lnTo>
                <a:lnTo>
                  <a:pt x="903541" y="352000"/>
                </a:lnTo>
                <a:lnTo>
                  <a:pt x="854678" y="379394"/>
                </a:lnTo>
                <a:lnTo>
                  <a:pt x="830675" y="394715"/>
                </a:lnTo>
                <a:lnTo>
                  <a:pt x="725709" y="848867"/>
                </a:lnTo>
                <a:close/>
              </a:path>
              <a:path w="5741670" h="1073150">
                <a:moveTo>
                  <a:pt x="687990" y="128015"/>
                </a:moveTo>
                <a:lnTo>
                  <a:pt x="0" y="128015"/>
                </a:lnTo>
                <a:lnTo>
                  <a:pt x="20669" y="36575"/>
                </a:lnTo>
                <a:lnTo>
                  <a:pt x="708660" y="36575"/>
                </a:lnTo>
                <a:lnTo>
                  <a:pt x="687990" y="128015"/>
                </a:lnTo>
                <a:close/>
              </a:path>
              <a:path w="5741670" h="1073150">
                <a:moveTo>
                  <a:pt x="232600" y="848867"/>
                </a:moveTo>
                <a:lnTo>
                  <a:pt x="123444" y="848867"/>
                </a:lnTo>
                <a:lnTo>
                  <a:pt x="290226" y="128015"/>
                </a:lnTo>
                <a:lnTo>
                  <a:pt x="399478" y="128015"/>
                </a:lnTo>
                <a:lnTo>
                  <a:pt x="232600" y="848867"/>
                </a:lnTo>
                <a:close/>
              </a:path>
              <a:path w="5741670" h="1073150">
                <a:moveTo>
                  <a:pt x="1220913" y="307085"/>
                </a:moveTo>
                <a:lnTo>
                  <a:pt x="850868" y="307085"/>
                </a:lnTo>
                <a:lnTo>
                  <a:pt x="879676" y="287849"/>
                </a:lnTo>
                <a:lnTo>
                  <a:pt x="934436" y="256521"/>
                </a:lnTo>
                <a:lnTo>
                  <a:pt x="986158" y="234893"/>
                </a:lnTo>
                <a:lnTo>
                  <a:pt x="1038737" y="223931"/>
                </a:lnTo>
                <a:lnTo>
                  <a:pt x="1065561" y="222503"/>
                </a:lnTo>
                <a:lnTo>
                  <a:pt x="1103282" y="225074"/>
                </a:lnTo>
                <a:lnTo>
                  <a:pt x="1165471" y="245180"/>
                </a:lnTo>
                <a:lnTo>
                  <a:pt x="1209445" y="285004"/>
                </a:lnTo>
                <a:lnTo>
                  <a:pt x="1220913" y="307085"/>
                </a:lnTo>
                <a:close/>
              </a:path>
              <a:path w="5741670" h="1073150">
                <a:moveTo>
                  <a:pt x="1133284" y="848867"/>
                </a:moveTo>
                <a:lnTo>
                  <a:pt x="1032224" y="848867"/>
                </a:lnTo>
                <a:lnTo>
                  <a:pt x="1111281" y="502348"/>
                </a:lnTo>
                <a:lnTo>
                  <a:pt x="1114316" y="488382"/>
                </a:lnTo>
                <a:lnTo>
                  <a:pt x="1122743" y="441339"/>
                </a:lnTo>
                <a:lnTo>
                  <a:pt x="1124712" y="409098"/>
                </a:lnTo>
                <a:lnTo>
                  <a:pt x="1123299" y="387703"/>
                </a:lnTo>
                <a:lnTo>
                  <a:pt x="1102042" y="340233"/>
                </a:lnTo>
                <a:lnTo>
                  <a:pt x="1070013" y="322790"/>
                </a:lnTo>
                <a:lnTo>
                  <a:pt x="1069821" y="322790"/>
                </a:lnTo>
                <a:lnTo>
                  <a:pt x="1047340" y="318475"/>
                </a:lnTo>
                <a:lnTo>
                  <a:pt x="1020127" y="316991"/>
                </a:lnTo>
                <a:lnTo>
                  <a:pt x="1224737" y="316991"/>
                </a:lnTo>
                <a:lnTo>
                  <a:pt x="1231668" y="342972"/>
                </a:lnTo>
                <a:lnTo>
                  <a:pt x="1234439" y="378618"/>
                </a:lnTo>
                <a:lnTo>
                  <a:pt x="1234294" y="385777"/>
                </a:lnTo>
                <a:lnTo>
                  <a:pt x="1230624" y="425005"/>
                </a:lnTo>
                <a:lnTo>
                  <a:pt x="1225105" y="453294"/>
                </a:lnTo>
                <a:lnTo>
                  <a:pt x="1133284" y="848867"/>
                </a:lnTo>
                <a:close/>
              </a:path>
              <a:path w="5741670" h="1073150">
                <a:moveTo>
                  <a:pt x="1459325" y="356615"/>
                </a:moveTo>
                <a:lnTo>
                  <a:pt x="1453896" y="356615"/>
                </a:lnTo>
                <a:lnTo>
                  <a:pt x="1473993" y="254412"/>
                </a:lnTo>
                <a:lnTo>
                  <a:pt x="1512296" y="245780"/>
                </a:lnTo>
                <a:lnTo>
                  <a:pt x="1564957" y="235934"/>
                </a:lnTo>
                <a:lnTo>
                  <a:pt x="1623691" y="228206"/>
                </a:lnTo>
                <a:lnTo>
                  <a:pt x="1679924" y="225551"/>
                </a:lnTo>
                <a:lnTo>
                  <a:pt x="1733036" y="227821"/>
                </a:lnTo>
                <a:lnTo>
                  <a:pt x="1779067" y="234493"/>
                </a:lnTo>
                <a:lnTo>
                  <a:pt x="1818008" y="245576"/>
                </a:lnTo>
                <a:lnTo>
                  <a:pt x="1874658" y="281384"/>
                </a:lnTo>
                <a:lnTo>
                  <a:pt x="1893766" y="310895"/>
                </a:lnTo>
                <a:lnTo>
                  <a:pt x="1661636" y="310895"/>
                </a:lnTo>
                <a:lnTo>
                  <a:pt x="1638368" y="311884"/>
                </a:lnTo>
                <a:lnTo>
                  <a:pt x="1637930" y="311884"/>
                </a:lnTo>
                <a:lnTo>
                  <a:pt x="1612058" y="314824"/>
                </a:lnTo>
                <a:lnTo>
                  <a:pt x="1555908" y="326326"/>
                </a:lnTo>
                <a:lnTo>
                  <a:pt x="1502044" y="341614"/>
                </a:lnTo>
                <a:lnTo>
                  <a:pt x="1479292" y="349150"/>
                </a:lnTo>
                <a:lnTo>
                  <a:pt x="1459325" y="356615"/>
                </a:lnTo>
                <a:close/>
              </a:path>
              <a:path w="5741670" h="1073150">
                <a:moveTo>
                  <a:pt x="1484185" y="865631"/>
                </a:moveTo>
                <a:lnTo>
                  <a:pt x="1418546" y="855106"/>
                </a:lnTo>
                <a:lnTo>
                  <a:pt x="1366551" y="823436"/>
                </a:lnTo>
                <a:lnTo>
                  <a:pt x="1332642" y="774644"/>
                </a:lnTo>
                <a:lnTo>
                  <a:pt x="1321420" y="714136"/>
                </a:lnTo>
                <a:lnTo>
                  <a:pt x="1321339" y="712309"/>
                </a:lnTo>
                <a:lnTo>
                  <a:pt x="1323305" y="678041"/>
                </a:lnTo>
                <a:lnTo>
                  <a:pt x="1339230" y="616852"/>
                </a:lnTo>
                <a:lnTo>
                  <a:pt x="1370963" y="566648"/>
                </a:lnTo>
                <a:lnTo>
                  <a:pt x="1418111" y="525785"/>
                </a:lnTo>
                <a:lnTo>
                  <a:pt x="1479725" y="494353"/>
                </a:lnTo>
                <a:lnTo>
                  <a:pt x="1553838" y="471921"/>
                </a:lnTo>
                <a:lnTo>
                  <a:pt x="1595628" y="463867"/>
                </a:lnTo>
                <a:lnTo>
                  <a:pt x="1640507" y="457582"/>
                </a:lnTo>
                <a:lnTo>
                  <a:pt x="1688413" y="452592"/>
                </a:lnTo>
                <a:lnTo>
                  <a:pt x="1739337" y="448905"/>
                </a:lnTo>
                <a:lnTo>
                  <a:pt x="1793271" y="446531"/>
                </a:lnTo>
                <a:lnTo>
                  <a:pt x="1795056" y="439193"/>
                </a:lnTo>
                <a:lnTo>
                  <a:pt x="1796689" y="432327"/>
                </a:lnTo>
                <a:lnTo>
                  <a:pt x="1798160" y="425944"/>
                </a:lnTo>
                <a:lnTo>
                  <a:pt x="1801035" y="412838"/>
                </a:lnTo>
                <a:lnTo>
                  <a:pt x="1801082" y="412622"/>
                </a:lnTo>
                <a:lnTo>
                  <a:pt x="1801844" y="404812"/>
                </a:lnTo>
                <a:lnTo>
                  <a:pt x="1801830" y="396457"/>
                </a:lnTo>
                <a:lnTo>
                  <a:pt x="1801199" y="384250"/>
                </a:lnTo>
                <a:lnTo>
                  <a:pt x="1799309" y="373284"/>
                </a:lnTo>
                <a:lnTo>
                  <a:pt x="1799260" y="372998"/>
                </a:lnTo>
                <a:lnTo>
                  <a:pt x="1778960" y="339423"/>
                </a:lnTo>
                <a:lnTo>
                  <a:pt x="1741151" y="319629"/>
                </a:lnTo>
                <a:lnTo>
                  <a:pt x="1690913" y="311884"/>
                </a:lnTo>
                <a:lnTo>
                  <a:pt x="1661636" y="310895"/>
                </a:lnTo>
                <a:lnTo>
                  <a:pt x="1893766" y="310895"/>
                </a:lnTo>
                <a:lnTo>
                  <a:pt x="1902986" y="337495"/>
                </a:lnTo>
                <a:lnTo>
                  <a:pt x="1906495" y="372998"/>
                </a:lnTo>
                <a:lnTo>
                  <a:pt x="1906523" y="373284"/>
                </a:lnTo>
                <a:lnTo>
                  <a:pt x="1902812" y="412622"/>
                </a:lnTo>
                <a:lnTo>
                  <a:pt x="1877021" y="528827"/>
                </a:lnTo>
                <a:lnTo>
                  <a:pt x="1774602" y="528827"/>
                </a:lnTo>
                <a:lnTo>
                  <a:pt x="1734029" y="530917"/>
                </a:lnTo>
                <a:lnTo>
                  <a:pt x="1695759" y="533757"/>
                </a:lnTo>
                <a:lnTo>
                  <a:pt x="1626203" y="541686"/>
                </a:lnTo>
                <a:lnTo>
                  <a:pt x="1566981" y="553319"/>
                </a:lnTo>
                <a:lnTo>
                  <a:pt x="1519047" y="569023"/>
                </a:lnTo>
                <a:lnTo>
                  <a:pt x="1480375" y="590216"/>
                </a:lnTo>
                <a:lnTo>
                  <a:pt x="1452276" y="617696"/>
                </a:lnTo>
                <a:lnTo>
                  <a:pt x="1435215" y="652117"/>
                </a:lnTo>
                <a:lnTo>
                  <a:pt x="1429512" y="693896"/>
                </a:lnTo>
                <a:lnTo>
                  <a:pt x="1431187" y="712309"/>
                </a:lnTo>
                <a:lnTo>
                  <a:pt x="1456181" y="753617"/>
                </a:lnTo>
                <a:lnTo>
                  <a:pt x="1512258" y="772871"/>
                </a:lnTo>
                <a:lnTo>
                  <a:pt x="1510908" y="772871"/>
                </a:lnTo>
                <a:lnTo>
                  <a:pt x="1538954" y="774192"/>
                </a:lnTo>
                <a:lnTo>
                  <a:pt x="1820773" y="774192"/>
                </a:lnTo>
                <a:lnTo>
                  <a:pt x="1818545" y="783907"/>
                </a:lnTo>
                <a:lnTo>
                  <a:pt x="1716786" y="783907"/>
                </a:lnTo>
                <a:lnTo>
                  <a:pt x="1699414" y="794551"/>
                </a:lnTo>
                <a:lnTo>
                  <a:pt x="1676685" y="808767"/>
                </a:lnTo>
                <a:lnTo>
                  <a:pt x="1663987" y="816536"/>
                </a:lnTo>
                <a:lnTo>
                  <a:pt x="1625250" y="836199"/>
                </a:lnTo>
                <a:lnTo>
                  <a:pt x="1579896" y="852782"/>
                </a:lnTo>
                <a:lnTo>
                  <a:pt x="1526274" y="863548"/>
                </a:lnTo>
                <a:lnTo>
                  <a:pt x="1505886" y="865112"/>
                </a:lnTo>
                <a:lnTo>
                  <a:pt x="1484185" y="865631"/>
                </a:lnTo>
                <a:close/>
              </a:path>
              <a:path w="5741670" h="1073150">
                <a:moveTo>
                  <a:pt x="1820773" y="774192"/>
                </a:moveTo>
                <a:lnTo>
                  <a:pt x="1538954" y="774192"/>
                </a:lnTo>
                <a:lnTo>
                  <a:pt x="1563851" y="772871"/>
                </a:lnTo>
                <a:lnTo>
                  <a:pt x="1588972" y="768774"/>
                </a:lnTo>
                <a:lnTo>
                  <a:pt x="1639919" y="752284"/>
                </a:lnTo>
                <a:lnTo>
                  <a:pt x="1689687" y="727995"/>
                </a:lnTo>
                <a:lnTo>
                  <a:pt x="1736026" y="699134"/>
                </a:lnTo>
                <a:lnTo>
                  <a:pt x="1774602" y="528827"/>
                </a:lnTo>
                <a:lnTo>
                  <a:pt x="1877021" y="528827"/>
                </a:lnTo>
                <a:lnTo>
                  <a:pt x="1820773" y="774192"/>
                </a:lnTo>
                <a:close/>
              </a:path>
              <a:path w="5741670" h="1073150">
                <a:moveTo>
                  <a:pt x="1803654" y="848867"/>
                </a:moveTo>
                <a:lnTo>
                  <a:pt x="1702022" y="848867"/>
                </a:lnTo>
                <a:lnTo>
                  <a:pt x="1716786" y="783907"/>
                </a:lnTo>
                <a:lnTo>
                  <a:pt x="1818545" y="783907"/>
                </a:lnTo>
                <a:lnTo>
                  <a:pt x="1803654" y="848867"/>
                </a:lnTo>
                <a:close/>
              </a:path>
              <a:path w="5741670" h="1073150">
                <a:moveTo>
                  <a:pt x="2598605" y="307181"/>
                </a:moveTo>
                <a:lnTo>
                  <a:pt x="2227992" y="307181"/>
                </a:lnTo>
                <a:lnTo>
                  <a:pt x="2256817" y="287875"/>
                </a:lnTo>
                <a:lnTo>
                  <a:pt x="2311681" y="256442"/>
                </a:lnTo>
                <a:lnTo>
                  <a:pt x="2363490" y="234813"/>
                </a:lnTo>
                <a:lnTo>
                  <a:pt x="2416172" y="223916"/>
                </a:lnTo>
                <a:lnTo>
                  <a:pt x="2443067" y="222503"/>
                </a:lnTo>
                <a:lnTo>
                  <a:pt x="2480802" y="225074"/>
                </a:lnTo>
                <a:lnTo>
                  <a:pt x="2543057" y="245180"/>
                </a:lnTo>
                <a:lnTo>
                  <a:pt x="2587061" y="285004"/>
                </a:lnTo>
                <a:lnTo>
                  <a:pt x="2598605" y="307181"/>
                </a:lnTo>
                <a:close/>
              </a:path>
              <a:path w="5741670" h="1073150">
                <a:moveTo>
                  <a:pt x="2103405" y="848867"/>
                </a:moveTo>
                <a:lnTo>
                  <a:pt x="2001012" y="848867"/>
                </a:lnTo>
                <a:lnTo>
                  <a:pt x="2141124" y="239267"/>
                </a:lnTo>
                <a:lnTo>
                  <a:pt x="2243613" y="239267"/>
                </a:lnTo>
                <a:lnTo>
                  <a:pt x="2227992" y="307181"/>
                </a:lnTo>
                <a:lnTo>
                  <a:pt x="2598605" y="307181"/>
                </a:lnTo>
                <a:lnTo>
                  <a:pt x="2600991" y="311765"/>
                </a:lnTo>
                <a:lnTo>
                  <a:pt x="2602391" y="316991"/>
                </a:lnTo>
                <a:lnTo>
                  <a:pt x="2397728" y="316991"/>
                </a:lnTo>
                <a:lnTo>
                  <a:pt x="2376347" y="318475"/>
                </a:lnTo>
                <a:lnTo>
                  <a:pt x="2330407" y="329944"/>
                </a:lnTo>
                <a:lnTo>
                  <a:pt x="2280826" y="352018"/>
                </a:lnTo>
                <a:lnTo>
                  <a:pt x="2231820" y="379554"/>
                </a:lnTo>
                <a:lnTo>
                  <a:pt x="2207799" y="395001"/>
                </a:lnTo>
                <a:lnTo>
                  <a:pt x="2103405" y="848867"/>
                </a:lnTo>
                <a:close/>
              </a:path>
              <a:path w="5741670" h="1073150">
                <a:moveTo>
                  <a:pt x="2512028" y="848867"/>
                </a:moveTo>
                <a:lnTo>
                  <a:pt x="2410968" y="848867"/>
                </a:lnTo>
                <a:lnTo>
                  <a:pt x="2489263" y="502348"/>
                </a:lnTo>
                <a:lnTo>
                  <a:pt x="2492283" y="488382"/>
                </a:lnTo>
                <a:lnTo>
                  <a:pt x="2500574" y="441339"/>
                </a:lnTo>
                <a:lnTo>
                  <a:pt x="2502402" y="414146"/>
                </a:lnTo>
                <a:lnTo>
                  <a:pt x="2502503" y="409098"/>
                </a:lnTo>
                <a:lnTo>
                  <a:pt x="2496835" y="369093"/>
                </a:lnTo>
                <a:lnTo>
                  <a:pt x="2466094" y="330105"/>
                </a:lnTo>
                <a:lnTo>
                  <a:pt x="2447697" y="322790"/>
                </a:lnTo>
                <a:lnTo>
                  <a:pt x="2447504" y="322790"/>
                </a:lnTo>
                <a:lnTo>
                  <a:pt x="2424995" y="318475"/>
                </a:lnTo>
                <a:lnTo>
                  <a:pt x="2397728" y="316991"/>
                </a:lnTo>
                <a:lnTo>
                  <a:pt x="2602391" y="316991"/>
                </a:lnTo>
                <a:lnTo>
                  <a:pt x="2609350" y="342972"/>
                </a:lnTo>
                <a:lnTo>
                  <a:pt x="2612136" y="378618"/>
                </a:lnTo>
                <a:lnTo>
                  <a:pt x="2612117" y="379554"/>
                </a:lnTo>
                <a:lnTo>
                  <a:pt x="2608415" y="425005"/>
                </a:lnTo>
                <a:lnTo>
                  <a:pt x="2602896" y="453294"/>
                </a:lnTo>
                <a:lnTo>
                  <a:pt x="2512028" y="848867"/>
                </a:lnTo>
                <a:close/>
              </a:path>
              <a:path w="5741670" h="1073150">
                <a:moveTo>
                  <a:pt x="2815971" y="848867"/>
                </a:moveTo>
                <a:lnTo>
                  <a:pt x="2712719" y="848867"/>
                </a:lnTo>
                <a:lnTo>
                  <a:pt x="2908744" y="0"/>
                </a:lnTo>
                <a:lnTo>
                  <a:pt x="3011995" y="0"/>
                </a:lnTo>
                <a:lnTo>
                  <a:pt x="2886265" y="543972"/>
                </a:lnTo>
                <a:lnTo>
                  <a:pt x="3042354" y="543972"/>
                </a:lnTo>
                <a:lnTo>
                  <a:pt x="3069920" y="581310"/>
                </a:lnTo>
                <a:lnTo>
                  <a:pt x="2948273" y="581310"/>
                </a:lnTo>
                <a:lnTo>
                  <a:pt x="2860738" y="652652"/>
                </a:lnTo>
                <a:lnTo>
                  <a:pt x="2815971" y="848867"/>
                </a:lnTo>
                <a:close/>
              </a:path>
              <a:path w="5741670" h="1073150">
                <a:moveTo>
                  <a:pt x="3042354" y="543972"/>
                </a:moveTo>
                <a:lnTo>
                  <a:pt x="2886265" y="543972"/>
                </a:lnTo>
                <a:lnTo>
                  <a:pt x="3241262" y="239267"/>
                </a:lnTo>
                <a:lnTo>
                  <a:pt x="3377183" y="239267"/>
                </a:lnTo>
                <a:lnTo>
                  <a:pt x="3030188" y="527494"/>
                </a:lnTo>
                <a:lnTo>
                  <a:pt x="3042354" y="543972"/>
                </a:lnTo>
                <a:close/>
              </a:path>
              <a:path w="5741670" h="1073150">
                <a:moveTo>
                  <a:pt x="3267456" y="848867"/>
                </a:moveTo>
                <a:lnTo>
                  <a:pt x="3142393" y="848867"/>
                </a:lnTo>
                <a:lnTo>
                  <a:pt x="2948273" y="581310"/>
                </a:lnTo>
                <a:lnTo>
                  <a:pt x="3069920" y="581310"/>
                </a:lnTo>
                <a:lnTo>
                  <a:pt x="3267456" y="848867"/>
                </a:lnTo>
                <a:close/>
              </a:path>
              <a:path w="5741670" h="1073150">
                <a:moveTo>
                  <a:pt x="3866483" y="1072895"/>
                </a:moveTo>
                <a:lnTo>
                  <a:pt x="3752088" y="1072895"/>
                </a:lnTo>
                <a:lnTo>
                  <a:pt x="3930015" y="811434"/>
                </a:lnTo>
                <a:lnTo>
                  <a:pt x="3820667" y="239267"/>
                </a:lnTo>
                <a:lnTo>
                  <a:pt x="3924586" y="239267"/>
                </a:lnTo>
                <a:lnTo>
                  <a:pt x="4010311" y="693419"/>
                </a:lnTo>
                <a:lnTo>
                  <a:pt x="4116186" y="693419"/>
                </a:lnTo>
                <a:lnTo>
                  <a:pt x="3866483" y="1072895"/>
                </a:lnTo>
                <a:close/>
              </a:path>
              <a:path w="5741670" h="1073150">
                <a:moveTo>
                  <a:pt x="4116186" y="693419"/>
                </a:moveTo>
                <a:lnTo>
                  <a:pt x="4010311" y="693419"/>
                </a:lnTo>
                <a:lnTo>
                  <a:pt x="4301871" y="239267"/>
                </a:lnTo>
                <a:lnTo>
                  <a:pt x="4415028" y="239267"/>
                </a:lnTo>
                <a:lnTo>
                  <a:pt x="4116186" y="693419"/>
                </a:lnTo>
                <a:close/>
              </a:path>
              <a:path w="5741670" h="1073150">
                <a:moveTo>
                  <a:pt x="4664868" y="865631"/>
                </a:moveTo>
                <a:lnTo>
                  <a:pt x="4613628" y="861786"/>
                </a:lnTo>
                <a:lnTo>
                  <a:pt x="4568344" y="850225"/>
                </a:lnTo>
                <a:lnTo>
                  <a:pt x="4529008" y="830913"/>
                </a:lnTo>
                <a:lnTo>
                  <a:pt x="4495609" y="803814"/>
                </a:lnTo>
                <a:lnTo>
                  <a:pt x="4469036" y="769919"/>
                </a:lnTo>
                <a:lnTo>
                  <a:pt x="4450044" y="730103"/>
                </a:lnTo>
                <a:lnTo>
                  <a:pt x="4438642" y="684375"/>
                </a:lnTo>
                <a:lnTo>
                  <a:pt x="4434840" y="632745"/>
                </a:lnTo>
                <a:lnTo>
                  <a:pt x="4436357" y="593324"/>
                </a:lnTo>
                <a:lnTo>
                  <a:pt x="4441055" y="552926"/>
                </a:lnTo>
                <a:lnTo>
                  <a:pt x="4448824" y="514418"/>
                </a:lnTo>
                <a:lnTo>
                  <a:pt x="4459700" y="476821"/>
                </a:lnTo>
                <a:lnTo>
                  <a:pt x="4473490" y="440761"/>
                </a:lnTo>
                <a:lnTo>
                  <a:pt x="4509287" y="374714"/>
                </a:lnTo>
                <a:lnTo>
                  <a:pt x="4555243" y="318367"/>
                </a:lnTo>
                <a:lnTo>
                  <a:pt x="4610717" y="273932"/>
                </a:lnTo>
                <a:lnTo>
                  <a:pt x="4675909" y="241323"/>
                </a:lnTo>
                <a:lnTo>
                  <a:pt x="4747709" y="224645"/>
                </a:lnTo>
                <a:lnTo>
                  <a:pt x="4785931" y="222503"/>
                </a:lnTo>
                <a:lnTo>
                  <a:pt x="4835884" y="226309"/>
                </a:lnTo>
                <a:lnTo>
                  <a:pt x="4880443" y="237589"/>
                </a:lnTo>
                <a:lnTo>
                  <a:pt x="4919609" y="256351"/>
                </a:lnTo>
                <a:lnTo>
                  <a:pt x="4953381" y="282606"/>
                </a:lnTo>
                <a:lnTo>
                  <a:pt x="4974003" y="307847"/>
                </a:lnTo>
                <a:lnTo>
                  <a:pt x="4769453" y="307847"/>
                </a:lnTo>
                <a:lnTo>
                  <a:pt x="4743770" y="309492"/>
                </a:lnTo>
                <a:lnTo>
                  <a:pt x="4696440" y="322247"/>
                </a:lnTo>
                <a:lnTo>
                  <a:pt x="4654556" y="347266"/>
                </a:lnTo>
                <a:lnTo>
                  <a:pt x="4618370" y="382050"/>
                </a:lnTo>
                <a:lnTo>
                  <a:pt x="4588581" y="425463"/>
                </a:lnTo>
                <a:lnTo>
                  <a:pt x="4566045" y="476041"/>
                </a:lnTo>
                <a:lnTo>
                  <a:pt x="4550441" y="533316"/>
                </a:lnTo>
                <a:lnTo>
                  <a:pt x="4542611" y="592362"/>
                </a:lnTo>
                <a:lnTo>
                  <a:pt x="4542517" y="593324"/>
                </a:lnTo>
                <a:lnTo>
                  <a:pt x="4543804" y="659670"/>
                </a:lnTo>
                <a:lnTo>
                  <a:pt x="4562053" y="717638"/>
                </a:lnTo>
                <a:lnTo>
                  <a:pt x="4598126" y="757677"/>
                </a:lnTo>
                <a:lnTo>
                  <a:pt x="4649808" y="777823"/>
                </a:lnTo>
                <a:lnTo>
                  <a:pt x="4681347" y="780287"/>
                </a:lnTo>
                <a:lnTo>
                  <a:pt x="4883964" y="780287"/>
                </a:lnTo>
                <a:lnTo>
                  <a:pt x="4868382" y="794527"/>
                </a:lnTo>
                <a:lnTo>
                  <a:pt x="4809934" y="833246"/>
                </a:lnTo>
                <a:lnTo>
                  <a:pt x="4742580" y="857547"/>
                </a:lnTo>
                <a:lnTo>
                  <a:pt x="4705015" y="863612"/>
                </a:lnTo>
                <a:lnTo>
                  <a:pt x="4664868" y="865631"/>
                </a:lnTo>
                <a:close/>
              </a:path>
              <a:path w="5741670" h="1073150">
                <a:moveTo>
                  <a:pt x="4883964" y="780287"/>
                </a:moveTo>
                <a:lnTo>
                  <a:pt x="4681347" y="780287"/>
                </a:lnTo>
                <a:lnTo>
                  <a:pt x="4706869" y="778771"/>
                </a:lnTo>
                <a:lnTo>
                  <a:pt x="4731151" y="774084"/>
                </a:lnTo>
                <a:lnTo>
                  <a:pt x="4776025" y="755237"/>
                </a:lnTo>
                <a:lnTo>
                  <a:pt x="4815328" y="725245"/>
                </a:lnTo>
                <a:lnTo>
                  <a:pt x="4848415" y="685323"/>
                </a:lnTo>
                <a:lnTo>
                  <a:pt x="4874347" y="638305"/>
                </a:lnTo>
                <a:lnTo>
                  <a:pt x="4893278" y="584358"/>
                </a:lnTo>
                <a:lnTo>
                  <a:pt x="4904934" y="525363"/>
                </a:lnTo>
                <a:lnTo>
                  <a:pt x="4908804" y="463010"/>
                </a:lnTo>
                <a:lnTo>
                  <a:pt x="4906533" y="427166"/>
                </a:lnTo>
                <a:lnTo>
                  <a:pt x="4888310" y="369302"/>
                </a:lnTo>
                <a:lnTo>
                  <a:pt x="4852231" y="330082"/>
                </a:lnTo>
                <a:lnTo>
                  <a:pt x="4800796" y="310366"/>
                </a:lnTo>
                <a:lnTo>
                  <a:pt x="4769453" y="307847"/>
                </a:lnTo>
                <a:lnTo>
                  <a:pt x="4974003" y="307847"/>
                </a:lnTo>
                <a:lnTo>
                  <a:pt x="4980564" y="315878"/>
                </a:lnTo>
                <a:lnTo>
                  <a:pt x="4999970" y="355687"/>
                </a:lnTo>
                <a:lnTo>
                  <a:pt x="5011607" y="402032"/>
                </a:lnTo>
                <a:lnTo>
                  <a:pt x="5015483" y="454913"/>
                </a:lnTo>
                <a:lnTo>
                  <a:pt x="5013961" y="494601"/>
                </a:lnTo>
                <a:lnTo>
                  <a:pt x="5009245" y="535209"/>
                </a:lnTo>
                <a:lnTo>
                  <a:pt x="5001419" y="574071"/>
                </a:lnTo>
                <a:lnTo>
                  <a:pt x="4990433" y="612076"/>
                </a:lnTo>
                <a:lnTo>
                  <a:pt x="4976573" y="648545"/>
                </a:lnTo>
                <a:lnTo>
                  <a:pt x="4941101" y="713982"/>
                </a:lnTo>
                <a:lnTo>
                  <a:pt x="4894896" y="770286"/>
                </a:lnTo>
                <a:lnTo>
                  <a:pt x="4883964" y="780287"/>
                </a:lnTo>
                <a:close/>
              </a:path>
              <a:path w="5741670" h="1073150">
                <a:moveTo>
                  <a:pt x="5297805" y="865631"/>
                </a:moveTo>
                <a:lnTo>
                  <a:pt x="5228034" y="855773"/>
                </a:lnTo>
                <a:lnTo>
                  <a:pt x="5175409" y="826198"/>
                </a:lnTo>
                <a:lnTo>
                  <a:pt x="5142357" y="777620"/>
                </a:lnTo>
                <a:lnTo>
                  <a:pt x="5131308" y="710755"/>
                </a:lnTo>
                <a:lnTo>
                  <a:pt x="5131343" y="708722"/>
                </a:lnTo>
                <a:lnTo>
                  <a:pt x="5135122" y="665729"/>
                </a:lnTo>
                <a:lnTo>
                  <a:pt x="5232368" y="239267"/>
                </a:lnTo>
                <a:lnTo>
                  <a:pt x="5334857" y="239267"/>
                </a:lnTo>
                <a:lnTo>
                  <a:pt x="5254275" y="586073"/>
                </a:lnTo>
                <a:lnTo>
                  <a:pt x="5251881" y="597035"/>
                </a:lnTo>
                <a:lnTo>
                  <a:pt x="5243146" y="647373"/>
                </a:lnTo>
                <a:lnTo>
                  <a:pt x="5240655" y="677417"/>
                </a:lnTo>
                <a:lnTo>
                  <a:pt x="5242137" y="699439"/>
                </a:lnTo>
                <a:lnTo>
                  <a:pt x="5264372" y="747807"/>
                </a:lnTo>
                <a:lnTo>
                  <a:pt x="5318633" y="769734"/>
                </a:lnTo>
                <a:lnTo>
                  <a:pt x="5345049" y="771143"/>
                </a:lnTo>
                <a:lnTo>
                  <a:pt x="5617603" y="771143"/>
                </a:lnTo>
                <a:lnTo>
                  <a:pt x="5615192" y="781526"/>
                </a:lnTo>
                <a:lnTo>
                  <a:pt x="5512689" y="781526"/>
                </a:lnTo>
                <a:lnTo>
                  <a:pt x="5484097" y="800281"/>
                </a:lnTo>
                <a:lnTo>
                  <a:pt x="5456479" y="816840"/>
                </a:lnTo>
                <a:lnTo>
                  <a:pt x="5404199" y="843438"/>
                </a:lnTo>
                <a:lnTo>
                  <a:pt x="5352431" y="860107"/>
                </a:lnTo>
                <a:lnTo>
                  <a:pt x="5325466" y="864253"/>
                </a:lnTo>
                <a:lnTo>
                  <a:pt x="5297805" y="865631"/>
                </a:lnTo>
                <a:close/>
              </a:path>
              <a:path w="5741670" h="1073150">
                <a:moveTo>
                  <a:pt x="5617603" y="771143"/>
                </a:moveTo>
                <a:lnTo>
                  <a:pt x="5345049" y="771143"/>
                </a:lnTo>
                <a:lnTo>
                  <a:pt x="5365910" y="769734"/>
                </a:lnTo>
                <a:lnTo>
                  <a:pt x="5388209" y="765369"/>
                </a:lnTo>
                <a:lnTo>
                  <a:pt x="5437155" y="747807"/>
                </a:lnTo>
                <a:lnTo>
                  <a:pt x="5487114" y="722637"/>
                </a:lnTo>
                <a:lnTo>
                  <a:pt x="5533072" y="693896"/>
                </a:lnTo>
                <a:lnTo>
                  <a:pt x="5638609" y="239267"/>
                </a:lnTo>
                <a:lnTo>
                  <a:pt x="5741098" y="239267"/>
                </a:lnTo>
                <a:lnTo>
                  <a:pt x="5617603" y="771143"/>
                </a:lnTo>
                <a:close/>
              </a:path>
              <a:path w="5741670" h="1073150">
                <a:moveTo>
                  <a:pt x="5599557" y="848867"/>
                </a:moveTo>
                <a:lnTo>
                  <a:pt x="5497067" y="848867"/>
                </a:lnTo>
                <a:lnTo>
                  <a:pt x="5512689" y="781526"/>
                </a:lnTo>
                <a:lnTo>
                  <a:pt x="5615192" y="781526"/>
                </a:lnTo>
                <a:lnTo>
                  <a:pt x="5599557" y="848867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451</Words>
  <Application>Microsoft Office PowerPoint</Application>
  <PresentationFormat>Custom</PresentationFormat>
  <Paragraphs>105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 MT</vt:lpstr>
      <vt:lpstr>Times New Roman</vt:lpstr>
      <vt:lpstr>Verdana</vt:lpstr>
      <vt:lpstr>Wingdings</vt:lpstr>
      <vt:lpstr>Office Theme</vt:lpstr>
      <vt:lpstr>UEC3942: Introduction to Sensors and Actuators</vt:lpstr>
      <vt:lpstr>Learning Outcomes</vt:lpstr>
      <vt:lpstr>Introduction to SAW Technology</vt:lpstr>
      <vt:lpstr>Working Principle</vt:lpstr>
      <vt:lpstr>Working Principle</vt:lpstr>
      <vt:lpstr>Working Principle</vt:lpstr>
      <vt:lpstr>Working Principle</vt:lpstr>
      <vt:lpstr>Delay Line</vt:lpstr>
      <vt:lpstr>Key Components: The IDT</vt:lpstr>
      <vt:lpstr>Types of Surface Waves</vt:lpstr>
      <vt:lpstr>Sensing Mechanisms</vt:lpstr>
      <vt:lpstr>SAW vs. QCM (Comparison)</vt:lpstr>
      <vt:lpstr>Wireless and Passive Sensing</vt:lpstr>
      <vt:lpstr>Industrial &amp; Research Applications</vt:lpstr>
      <vt:lpstr>Conclusion &amp; Future Trends</vt:lpstr>
      <vt:lpstr>Test your understanding</vt:lpstr>
      <vt:lpstr>References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Surface Acoustic Wave (SAW) Sensors</dc:title>
  <dc:creator>Karthie Alias Ayyadurai</dc:creator>
  <cp:lastModifiedBy>Microsoft account</cp:lastModifiedBy>
  <cp:revision>1</cp:revision>
  <dcterms:created xsi:type="dcterms:W3CDTF">2026-07-01T10:35:04Z</dcterms:created>
  <dcterms:modified xsi:type="dcterms:W3CDTF">2026-07-01T10:35:50Z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2026-03-19T00:00:00Z</vt:filetime>
  </property>
  <property fmtid="{D5CDD505-2E9C-101B-9397-08002B2CF9AE}" pid="4" name="LastSaved">
    <vt:filetime>2026-07-01T00:00:00Z</vt:filetime>
  </property>
  <property fmtid="{D5CDD505-2E9C-101B-9397-08002B2CF9AE}" pid="5" name="Producer">
    <vt:lpwstr>Microsoft: Print To PDF</vt:lpwstr>
  </property>
</Properties>
</file>