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7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9039" y="3898"/>
                </a:lnTo>
                <a:lnTo>
                  <a:pt x="142189" y="15417"/>
                </a:lnTo>
                <a:lnTo>
                  <a:pt x="105156" y="34290"/>
                </a:lnTo>
                <a:lnTo>
                  <a:pt x="61925" y="93141"/>
                </a:lnTo>
                <a:lnTo>
                  <a:pt x="56388" y="132588"/>
                </a:lnTo>
                <a:lnTo>
                  <a:pt x="60375" y="158711"/>
                </a:lnTo>
                <a:lnTo>
                  <a:pt x="73342" y="182689"/>
                </a:lnTo>
                <a:lnTo>
                  <a:pt x="96901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487" y="330504"/>
                </a:lnTo>
                <a:lnTo>
                  <a:pt x="226885" y="345376"/>
                </a:lnTo>
                <a:lnTo>
                  <a:pt x="206146" y="354838"/>
                </a:lnTo>
                <a:lnTo>
                  <a:pt x="179844" y="358140"/>
                </a:lnTo>
                <a:lnTo>
                  <a:pt x="158813" y="353402"/>
                </a:lnTo>
                <a:lnTo>
                  <a:pt x="140779" y="340804"/>
                </a:lnTo>
                <a:lnTo>
                  <a:pt x="128193" y="322783"/>
                </a:lnTo>
                <a:lnTo>
                  <a:pt x="123444" y="301752"/>
                </a:lnTo>
                <a:lnTo>
                  <a:pt x="123444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38" y="330504"/>
                </a:lnTo>
                <a:lnTo>
                  <a:pt x="486918" y="345376"/>
                </a:lnTo>
                <a:lnTo>
                  <a:pt x="469252" y="354838"/>
                </a:lnTo>
                <a:lnTo>
                  <a:pt x="445008" y="358140"/>
                </a:lnTo>
                <a:lnTo>
                  <a:pt x="419887" y="353402"/>
                </a:lnTo>
                <a:lnTo>
                  <a:pt x="401764" y="340804"/>
                </a:lnTo>
                <a:lnTo>
                  <a:pt x="390791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618172" y="233362"/>
                </a:lnTo>
                <a:lnTo>
                  <a:pt x="597344" y="213817"/>
                </a:lnTo>
                <a:lnTo>
                  <a:pt x="492252" y="160020"/>
                </a:lnTo>
                <a:lnTo>
                  <a:pt x="472655" y="151434"/>
                </a:lnTo>
                <a:lnTo>
                  <a:pt x="457771" y="139255"/>
                </a:lnTo>
                <a:lnTo>
                  <a:pt x="448322" y="123380"/>
                </a:lnTo>
                <a:lnTo>
                  <a:pt x="445008" y="103632"/>
                </a:lnTo>
                <a:lnTo>
                  <a:pt x="448322" y="89966"/>
                </a:lnTo>
                <a:lnTo>
                  <a:pt x="457771" y="77724"/>
                </a:lnTo>
                <a:lnTo>
                  <a:pt x="472655" y="68922"/>
                </a:lnTo>
                <a:lnTo>
                  <a:pt x="492252" y="65532"/>
                </a:lnTo>
                <a:lnTo>
                  <a:pt x="516496" y="69062"/>
                </a:lnTo>
                <a:lnTo>
                  <a:pt x="534162" y="78867"/>
                </a:lnTo>
                <a:lnTo>
                  <a:pt x="544982" y="93827"/>
                </a:lnTo>
                <a:lnTo>
                  <a:pt x="548640" y="112776"/>
                </a:lnTo>
                <a:lnTo>
                  <a:pt x="539559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88" y="48221"/>
                </a:lnTo>
                <a:lnTo>
                  <a:pt x="755916" y="85344"/>
                </a:lnTo>
                <a:lnTo>
                  <a:pt x="775728" y="9144"/>
                </a:lnTo>
                <a:lnTo>
                  <a:pt x="633996" y="9144"/>
                </a:lnTo>
                <a:lnTo>
                  <a:pt x="633996" y="18288"/>
                </a:lnTo>
                <a:lnTo>
                  <a:pt x="656805" y="34632"/>
                </a:lnTo>
                <a:lnTo>
                  <a:pt x="671334" y="54102"/>
                </a:lnTo>
                <a:lnTo>
                  <a:pt x="678992" y="77012"/>
                </a:lnTo>
                <a:lnTo>
                  <a:pt x="681240" y="103632"/>
                </a:lnTo>
                <a:lnTo>
                  <a:pt x="681240" y="132588"/>
                </a:lnTo>
                <a:lnTo>
                  <a:pt x="605040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25" y="160210"/>
                </a:lnTo>
                <a:lnTo>
                  <a:pt x="593458" y="174383"/>
                </a:lnTo>
                <a:lnTo>
                  <a:pt x="586752" y="188976"/>
                </a:lnTo>
                <a:lnTo>
                  <a:pt x="610984" y="209956"/>
                </a:lnTo>
                <a:lnTo>
                  <a:pt x="628662" y="232219"/>
                </a:lnTo>
                <a:lnTo>
                  <a:pt x="639470" y="256489"/>
                </a:lnTo>
                <a:lnTo>
                  <a:pt x="643140" y="283464"/>
                </a:lnTo>
                <a:lnTo>
                  <a:pt x="639470" y="317169"/>
                </a:lnTo>
                <a:lnTo>
                  <a:pt x="628662" y="347281"/>
                </a:lnTo>
                <a:lnTo>
                  <a:pt x="610984" y="373697"/>
                </a:lnTo>
                <a:lnTo>
                  <a:pt x="586752" y="396240"/>
                </a:lnTo>
                <a:lnTo>
                  <a:pt x="576084" y="405384"/>
                </a:lnTo>
                <a:lnTo>
                  <a:pt x="670572" y="405384"/>
                </a:lnTo>
                <a:lnTo>
                  <a:pt x="728484" y="198120"/>
                </a:lnTo>
                <a:lnTo>
                  <a:pt x="744601" y="156718"/>
                </a:lnTo>
                <a:lnTo>
                  <a:pt x="767156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3828" y="387096"/>
                </a:lnTo>
                <a:lnTo>
                  <a:pt x="813828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41400" cy="425450"/>
          </a:xfrm>
          <a:custGeom>
            <a:avLst/>
            <a:gdLst/>
            <a:ahLst/>
            <a:cxnLst/>
            <a:rect l="l" t="t" r="r" b="b"/>
            <a:pathLst>
              <a:path w="1041400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9039" y="3898"/>
                </a:lnTo>
                <a:lnTo>
                  <a:pt x="142189" y="15417"/>
                </a:lnTo>
                <a:lnTo>
                  <a:pt x="105156" y="34290"/>
                </a:lnTo>
                <a:lnTo>
                  <a:pt x="61925" y="93141"/>
                </a:lnTo>
                <a:lnTo>
                  <a:pt x="56388" y="132588"/>
                </a:lnTo>
                <a:lnTo>
                  <a:pt x="60375" y="158711"/>
                </a:lnTo>
                <a:lnTo>
                  <a:pt x="73342" y="182689"/>
                </a:lnTo>
                <a:lnTo>
                  <a:pt x="96901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487" y="330504"/>
                </a:lnTo>
                <a:lnTo>
                  <a:pt x="226885" y="345376"/>
                </a:lnTo>
                <a:lnTo>
                  <a:pt x="206146" y="354838"/>
                </a:lnTo>
                <a:lnTo>
                  <a:pt x="179844" y="358140"/>
                </a:lnTo>
                <a:lnTo>
                  <a:pt x="158813" y="353402"/>
                </a:lnTo>
                <a:lnTo>
                  <a:pt x="140779" y="340804"/>
                </a:lnTo>
                <a:lnTo>
                  <a:pt x="128193" y="322783"/>
                </a:lnTo>
                <a:lnTo>
                  <a:pt x="123444" y="301752"/>
                </a:lnTo>
                <a:lnTo>
                  <a:pt x="123444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41400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38" y="330504"/>
                </a:lnTo>
                <a:lnTo>
                  <a:pt x="486918" y="345376"/>
                </a:lnTo>
                <a:lnTo>
                  <a:pt x="469252" y="354838"/>
                </a:lnTo>
                <a:lnTo>
                  <a:pt x="445008" y="358140"/>
                </a:lnTo>
                <a:lnTo>
                  <a:pt x="419887" y="353402"/>
                </a:lnTo>
                <a:lnTo>
                  <a:pt x="401764" y="340804"/>
                </a:lnTo>
                <a:lnTo>
                  <a:pt x="390791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618172" y="233362"/>
                </a:lnTo>
                <a:lnTo>
                  <a:pt x="597344" y="213817"/>
                </a:lnTo>
                <a:lnTo>
                  <a:pt x="492252" y="160020"/>
                </a:lnTo>
                <a:lnTo>
                  <a:pt x="472655" y="151434"/>
                </a:lnTo>
                <a:lnTo>
                  <a:pt x="457771" y="139255"/>
                </a:lnTo>
                <a:lnTo>
                  <a:pt x="448322" y="123380"/>
                </a:lnTo>
                <a:lnTo>
                  <a:pt x="445008" y="103632"/>
                </a:lnTo>
                <a:lnTo>
                  <a:pt x="448322" y="89966"/>
                </a:lnTo>
                <a:lnTo>
                  <a:pt x="457771" y="77724"/>
                </a:lnTo>
                <a:lnTo>
                  <a:pt x="472655" y="68922"/>
                </a:lnTo>
                <a:lnTo>
                  <a:pt x="492252" y="65532"/>
                </a:lnTo>
                <a:lnTo>
                  <a:pt x="516496" y="69062"/>
                </a:lnTo>
                <a:lnTo>
                  <a:pt x="534162" y="78867"/>
                </a:lnTo>
                <a:lnTo>
                  <a:pt x="544982" y="93827"/>
                </a:lnTo>
                <a:lnTo>
                  <a:pt x="548640" y="112776"/>
                </a:lnTo>
                <a:lnTo>
                  <a:pt x="539559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41400" h="425450">
                <a:moveTo>
                  <a:pt x="1040904" y="103632"/>
                </a:moveTo>
                <a:lnTo>
                  <a:pt x="1032256" y="59804"/>
                </a:lnTo>
                <a:lnTo>
                  <a:pt x="1008329" y="27241"/>
                </a:lnTo>
                <a:lnTo>
                  <a:pt x="972108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88" y="48221"/>
                </a:lnTo>
                <a:lnTo>
                  <a:pt x="755916" y="85344"/>
                </a:lnTo>
                <a:lnTo>
                  <a:pt x="775728" y="9144"/>
                </a:lnTo>
                <a:lnTo>
                  <a:pt x="633996" y="9144"/>
                </a:lnTo>
                <a:lnTo>
                  <a:pt x="633996" y="18288"/>
                </a:lnTo>
                <a:lnTo>
                  <a:pt x="656805" y="34632"/>
                </a:lnTo>
                <a:lnTo>
                  <a:pt x="671334" y="54102"/>
                </a:lnTo>
                <a:lnTo>
                  <a:pt x="678992" y="77012"/>
                </a:lnTo>
                <a:lnTo>
                  <a:pt x="681240" y="103632"/>
                </a:lnTo>
                <a:lnTo>
                  <a:pt x="681240" y="132588"/>
                </a:lnTo>
                <a:lnTo>
                  <a:pt x="605040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25" y="160210"/>
                </a:lnTo>
                <a:lnTo>
                  <a:pt x="593458" y="174383"/>
                </a:lnTo>
                <a:lnTo>
                  <a:pt x="586752" y="188976"/>
                </a:lnTo>
                <a:lnTo>
                  <a:pt x="610984" y="209956"/>
                </a:lnTo>
                <a:lnTo>
                  <a:pt x="628662" y="232219"/>
                </a:lnTo>
                <a:lnTo>
                  <a:pt x="639470" y="256489"/>
                </a:lnTo>
                <a:lnTo>
                  <a:pt x="643140" y="283464"/>
                </a:lnTo>
                <a:lnTo>
                  <a:pt x="639470" y="317169"/>
                </a:lnTo>
                <a:lnTo>
                  <a:pt x="628662" y="347281"/>
                </a:lnTo>
                <a:lnTo>
                  <a:pt x="610984" y="373697"/>
                </a:lnTo>
                <a:lnTo>
                  <a:pt x="586752" y="396240"/>
                </a:lnTo>
                <a:lnTo>
                  <a:pt x="576084" y="405384"/>
                </a:lnTo>
                <a:lnTo>
                  <a:pt x="670572" y="405384"/>
                </a:lnTo>
                <a:lnTo>
                  <a:pt x="728484" y="198120"/>
                </a:lnTo>
                <a:lnTo>
                  <a:pt x="744601" y="156718"/>
                </a:lnTo>
                <a:lnTo>
                  <a:pt x="767156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3828" y="387096"/>
                </a:lnTo>
                <a:lnTo>
                  <a:pt x="813828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6396" y="133210"/>
                </a:lnTo>
                <a:lnTo>
                  <a:pt x="1039571" y="122682"/>
                </a:lnTo>
                <a:lnTo>
                  <a:pt x="1040726" y="112166"/>
                </a:lnTo>
                <a:lnTo>
                  <a:pt x="1040904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0047" y="426127"/>
            <a:ext cx="4798304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4700" y="1429904"/>
            <a:ext cx="9212580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y.plantautomation-technology.com/whitepapers/1485944904-acoustic-wave-technology-" TargetMode="External"/><Relationship Id="rId2" Type="http://schemas.openxmlformats.org/officeDocument/2006/relationships/hyperlink" Target="https://pmc.ncbi.nlm.nih.gov/articles/PMC6833005/pdf/se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9348" y="3143539"/>
            <a:ext cx="8096250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3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2715895" marR="2704465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384300" marR="137096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4115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spc="-55" dirty="0">
                <a:latin typeface="Verdana"/>
                <a:cs typeface="Verdana"/>
              </a:rPr>
              <a:t>To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  <a:tab pos="2577465" algn="l"/>
                <a:tab pos="4438015" algn="l"/>
                <a:tab pos="5210175" algn="l"/>
                <a:tab pos="7123430" algn="l"/>
                <a:tab pos="7644765" algn="l"/>
              </a:tabLst>
            </a:pPr>
            <a:r>
              <a:rPr sz="2200" spc="-10" dirty="0">
                <a:latin typeface="Verdana"/>
                <a:cs typeface="Verdana"/>
              </a:rPr>
              <a:t>principles,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technology,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applications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acoustic sensors,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technology: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overview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propagation modes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03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Brief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overview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(Physics,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Transduction,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Types,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Industry </a:t>
            </a:r>
            <a:r>
              <a:rPr sz="2200" spc="-20" dirty="0">
                <a:latin typeface="Verdana"/>
                <a:cs typeface="Verdana"/>
              </a:rPr>
              <a:t>use-</a:t>
            </a:r>
            <a:r>
              <a:rPr sz="2200" spc="-10" dirty="0">
                <a:latin typeface="Verdana"/>
                <a:cs typeface="Verdana"/>
              </a:rPr>
              <a:t>cases).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29108" y="426127"/>
            <a:ext cx="29946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29730" y="426127"/>
            <a:ext cx="80003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Acoustic </a:t>
            </a:r>
            <a:r>
              <a:rPr spc="-10" dirty="0"/>
              <a:t>Sensor?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555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Definition: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converts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sound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waves 	</a:t>
            </a:r>
            <a:r>
              <a:rPr sz="2200" dirty="0">
                <a:latin typeface="Verdana"/>
                <a:cs typeface="Verdana"/>
              </a:rPr>
              <a:t>(mechanical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energy)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signals.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"Microphone"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vs.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"Sensor"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distinction.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distinction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"microphone"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"sensor" 	</a:t>
            </a:r>
            <a:r>
              <a:rPr sz="2200" dirty="0">
                <a:latin typeface="Verdana"/>
                <a:cs typeface="Verdana"/>
              </a:rPr>
              <a:t>lies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scope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primary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function: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microphone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specialized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sound 	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signals,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whereas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spc="-25" dirty="0">
                <a:latin typeface="Verdana"/>
                <a:cs typeface="Verdana"/>
              </a:rPr>
              <a:t>broader,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top-</a:t>
            </a:r>
            <a:r>
              <a:rPr sz="2200" dirty="0">
                <a:latin typeface="Verdana"/>
                <a:cs typeface="Verdana"/>
              </a:rPr>
              <a:t>level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classification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detects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properties.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All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microphones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are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sensors,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but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not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all 	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are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microphones.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97565" y="426127"/>
            <a:ext cx="44634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Differences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11" y="1546912"/>
            <a:ext cx="9296400" cy="163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255" marR="5080" indent="-377190" algn="just">
              <a:lnSpc>
                <a:spcPct val="1509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Focus:</a:t>
            </a:r>
            <a:r>
              <a:rPr sz="1750"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microphone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focuses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on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quality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sound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capturing,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while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spc="-50" dirty="0">
                <a:latin typeface="Verdana"/>
                <a:cs typeface="Verdana"/>
              </a:rPr>
              <a:t>a 	</a:t>
            </a:r>
            <a:r>
              <a:rPr sz="1750" dirty="0">
                <a:latin typeface="Verdana"/>
                <a:cs typeface="Verdana"/>
              </a:rPr>
              <a:t>"sound</a:t>
            </a:r>
            <a:r>
              <a:rPr sz="1750" spc="4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sensor"</a:t>
            </a:r>
            <a:r>
              <a:rPr sz="1750" spc="43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(or</a:t>
            </a:r>
            <a:r>
              <a:rPr sz="1750" spc="4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acoustic</a:t>
            </a:r>
            <a:r>
              <a:rPr sz="1750" spc="4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sensor)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may</a:t>
            </a:r>
            <a:r>
              <a:rPr sz="1750" spc="4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focus</a:t>
            </a:r>
            <a:r>
              <a:rPr sz="1750" spc="43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</a:t>
            </a:r>
            <a:r>
              <a:rPr sz="1750" spc="40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detecting</a:t>
            </a:r>
            <a:r>
              <a:rPr sz="1750" spc="4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4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presence, 	</a:t>
            </a:r>
            <a:r>
              <a:rPr sz="1750" dirty="0">
                <a:latin typeface="Verdana"/>
                <a:cs typeface="Verdana"/>
              </a:rPr>
              <a:t>intensity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(decibels),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or</a:t>
            </a:r>
            <a:r>
              <a:rPr sz="1750" spc="-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specific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frequency</a:t>
            </a:r>
            <a:r>
              <a:rPr sz="1750" spc="-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-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-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sound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without</a:t>
            </a:r>
            <a:r>
              <a:rPr sz="1750" spc="-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high-</a:t>
            </a:r>
            <a:r>
              <a:rPr sz="1750" spc="-10" dirty="0">
                <a:latin typeface="Verdana"/>
                <a:cs typeface="Verdana"/>
              </a:rPr>
              <a:t>fidelity 	recording.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211" y="3156340"/>
            <a:ext cx="9295765" cy="83058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390525" algn="l"/>
                <a:tab pos="1520825" algn="l"/>
                <a:tab pos="3201035" algn="l"/>
                <a:tab pos="3835400" algn="l"/>
                <a:tab pos="5266690" algn="l"/>
                <a:tab pos="6071235" algn="l"/>
                <a:tab pos="6650990" algn="l"/>
                <a:tab pos="7533640" algn="l"/>
                <a:tab pos="8867140" algn="l"/>
              </a:tabLst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Usage: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Microphones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are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commonly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used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for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audio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recording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and</a:t>
            </a:r>
            <a:endParaRPr sz="17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065"/>
              </a:spcBef>
            </a:pPr>
            <a:r>
              <a:rPr sz="1750" spc="-25" dirty="0">
                <a:latin typeface="Verdana"/>
                <a:cs typeface="Verdana"/>
              </a:rPr>
              <a:t>and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1147" y="3558669"/>
            <a:ext cx="8241665" cy="830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900"/>
              </a:lnSpc>
              <a:spcBef>
                <a:spcPts val="95"/>
              </a:spcBef>
              <a:tabLst>
                <a:tab pos="2068830" algn="l"/>
                <a:tab pos="3222625" algn="l"/>
                <a:tab pos="3850004" algn="l"/>
                <a:tab pos="4640580" algn="l"/>
                <a:tab pos="5213985" algn="l"/>
                <a:tab pos="6591934" algn="l"/>
              </a:tabLst>
            </a:pPr>
            <a:r>
              <a:rPr sz="1750" spc="-10" dirty="0">
                <a:latin typeface="Verdana"/>
                <a:cs typeface="Verdana"/>
              </a:rPr>
              <a:t>communication.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Sensors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are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used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for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detection,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measurement, automation.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11" y="4363329"/>
            <a:ext cx="9295765" cy="284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255" marR="6350" indent="-377190" algn="just">
              <a:lnSpc>
                <a:spcPct val="1509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System</a:t>
            </a: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Role:</a:t>
            </a: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Sensors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are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often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considered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"input"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or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detector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spc="-50" dirty="0">
                <a:latin typeface="Verdana"/>
                <a:cs typeface="Verdana"/>
              </a:rPr>
              <a:t>a 	</a:t>
            </a:r>
            <a:r>
              <a:rPr sz="1750" dirty="0">
                <a:latin typeface="Verdana"/>
                <a:cs typeface="Verdana"/>
              </a:rPr>
              <a:t>system,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while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microphone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is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 input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transducer.</a:t>
            </a:r>
            <a:endParaRPr sz="175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900"/>
              </a:lnSpc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Example</a:t>
            </a:r>
            <a:r>
              <a:rPr sz="175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-</a:t>
            </a:r>
            <a:r>
              <a:rPr sz="1750" b="1" spc="3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Privacy:</a:t>
            </a:r>
            <a:r>
              <a:rPr sz="175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</a:t>
            </a:r>
            <a:r>
              <a:rPr sz="1750" spc="30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"acoustic</a:t>
            </a:r>
            <a:r>
              <a:rPr sz="1750" spc="3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sensor"</a:t>
            </a:r>
            <a:r>
              <a:rPr sz="1750" spc="29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30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30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camera</a:t>
            </a:r>
            <a:r>
              <a:rPr sz="1750" spc="29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might</a:t>
            </a:r>
            <a:r>
              <a:rPr sz="1750" spc="29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only</a:t>
            </a:r>
            <a:r>
              <a:rPr sz="1750" spc="31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measure 	</a:t>
            </a:r>
            <a:r>
              <a:rPr sz="1750" dirty="0">
                <a:latin typeface="Verdana"/>
                <a:cs typeface="Verdana"/>
              </a:rPr>
              <a:t>decibel</a:t>
            </a:r>
            <a:r>
              <a:rPr sz="1750" spc="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levels</a:t>
            </a:r>
            <a:r>
              <a:rPr sz="1750" spc="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(metadata)</a:t>
            </a:r>
            <a:r>
              <a:rPr sz="1750" spc="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trigger</a:t>
            </a:r>
            <a:r>
              <a:rPr sz="1750" spc="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</a:t>
            </a:r>
            <a:r>
              <a:rPr sz="1750" spc="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alert,</a:t>
            </a:r>
            <a:r>
              <a:rPr sz="1750" spc="6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while</a:t>
            </a:r>
            <a:r>
              <a:rPr sz="1750" spc="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5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microphone</a:t>
            </a:r>
            <a:r>
              <a:rPr sz="1750" spc="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would</a:t>
            </a:r>
            <a:r>
              <a:rPr sz="1750" spc="6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record 	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actual</a:t>
            </a:r>
            <a:r>
              <a:rPr sz="1750" spc="-10" dirty="0">
                <a:latin typeface="Verdana"/>
                <a:cs typeface="Verdana"/>
              </a:rPr>
              <a:t> audio.</a:t>
            </a:r>
            <a:endParaRPr sz="1750">
              <a:latin typeface="Verdana"/>
              <a:cs typeface="Verdana"/>
            </a:endParaRPr>
          </a:p>
          <a:p>
            <a:pPr marL="12700" marR="7620" algn="just">
              <a:lnSpc>
                <a:spcPct val="150900"/>
              </a:lnSpc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many</a:t>
            </a:r>
            <a:r>
              <a:rPr sz="175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applications,</a:t>
            </a:r>
            <a:r>
              <a:rPr sz="175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75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microphone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acts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as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sensing</a:t>
            </a:r>
            <a:r>
              <a:rPr sz="175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element</a:t>
            </a:r>
            <a:r>
              <a:rPr sz="175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within</a:t>
            </a:r>
            <a:r>
              <a:rPr sz="175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spc="-50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broader</a:t>
            </a:r>
            <a:r>
              <a:rPr sz="175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"sound sensor"</a:t>
            </a:r>
            <a:r>
              <a:rPr sz="175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package.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18873" y="426127"/>
            <a:ext cx="60204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Physics</a:t>
            </a:r>
            <a:r>
              <a:rPr spc="-3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Sound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745998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2200"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properties: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f</a:t>
            </a:r>
            <a:r>
              <a:rPr sz="2200" dirty="0">
                <a:latin typeface="Verdana"/>
                <a:cs typeface="Verdana"/>
              </a:rPr>
              <a:t>),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Wavelength 	Amplitude.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sound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media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dirty="0">
                <a:latin typeface="Cambria Math"/>
                <a:cs typeface="Cambria Math"/>
              </a:rPr>
              <a:t>ν</a:t>
            </a:r>
            <a:r>
              <a:rPr sz="2200" spc="9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90" dirty="0">
                <a:latin typeface="Cambria Math"/>
                <a:cs typeface="Cambria Math"/>
              </a:rPr>
              <a:t> </a:t>
            </a:r>
            <a:r>
              <a:rPr sz="2200" spc="-20" dirty="0">
                <a:latin typeface="Cambria Math"/>
                <a:cs typeface="Cambria Math"/>
              </a:rPr>
              <a:t>𝑓𝜆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87904" y="1721650"/>
            <a:ext cx="1293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λ</a:t>
            </a:r>
            <a:r>
              <a:rPr sz="2200" dirty="0">
                <a:latin typeface="Verdana"/>
                <a:cs typeface="Verdana"/>
              </a:rPr>
              <a:t>),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They</a:t>
            </a:r>
            <a:r>
              <a:rPr spc="-20" dirty="0"/>
              <a:t> </a:t>
            </a:r>
            <a:r>
              <a:rPr spc="-10" dirty="0"/>
              <a:t>Work?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324" y="1477158"/>
            <a:ext cx="9108440" cy="55575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Transduction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Principles: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How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vibration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voltage?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Main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types: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Piezoelectric,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Capacitive,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Optic.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Piezoelectric</a:t>
            </a:r>
            <a:r>
              <a:rPr sz="2200" b="1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endParaRPr sz="2200">
              <a:latin typeface="Verdana"/>
              <a:cs typeface="Verdana"/>
            </a:endParaRPr>
          </a:p>
          <a:p>
            <a:pPr marL="1396365" marR="8890" lvl="1" indent="-378460">
              <a:lnSpc>
                <a:spcPct val="150000"/>
              </a:lnSpc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Mechanism: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Quartz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PZT)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generating</a:t>
            </a:r>
            <a:r>
              <a:rPr sz="2200" spc="-50" dirty="0">
                <a:latin typeface="Verdana"/>
                <a:cs typeface="Verdana"/>
              </a:rPr>
              <a:t> a </a:t>
            </a:r>
            <a:r>
              <a:rPr sz="2200" dirty="0">
                <a:latin typeface="Verdana"/>
                <a:cs typeface="Verdana"/>
              </a:rPr>
              <a:t>charge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stress.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Pros: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Durable,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needed.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Capacitive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(Condenser)</a:t>
            </a:r>
            <a:r>
              <a:rPr sz="22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endParaRPr sz="2200">
              <a:latin typeface="Verdana"/>
              <a:cs typeface="Verdana"/>
            </a:endParaRPr>
          </a:p>
          <a:p>
            <a:pPr marL="1396365" marR="5080" lvl="1" indent="-378460">
              <a:lnSpc>
                <a:spcPct val="150000"/>
              </a:lnSpc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Mechanism: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flexible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diaphragm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plate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capacitor.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fidelity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audio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MEMS.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They</a:t>
            </a:r>
            <a:r>
              <a:rPr spc="-20" dirty="0"/>
              <a:t> </a:t>
            </a:r>
            <a:r>
              <a:rPr spc="-10" dirty="0"/>
              <a:t>Work?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324" y="1477158"/>
            <a:ext cx="9107170" cy="30435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MEMS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Technology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(Micro-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Electro-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Mechanical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Systems)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"silicon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revolution"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acoustics.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Why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your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phone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3+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tiny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sensors?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Specifications:</a:t>
            </a:r>
            <a:endParaRPr sz="2200">
              <a:latin typeface="Verdana"/>
              <a:cs typeface="Verdana"/>
            </a:endParaRPr>
          </a:p>
          <a:p>
            <a:pPr marL="1396365" marR="5080" lvl="1" indent="-378460">
              <a:lnSpc>
                <a:spcPct val="150000"/>
              </a:lnSpc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Sensitivity,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Signal-</a:t>
            </a:r>
            <a:r>
              <a:rPr sz="2200" spc="-20" dirty="0">
                <a:latin typeface="Verdana"/>
                <a:cs typeface="Verdana"/>
              </a:rPr>
              <a:t>to-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Ratio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(SNR),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Frequency </a:t>
            </a:r>
            <a:r>
              <a:rPr sz="2200" dirty="0">
                <a:latin typeface="Verdana"/>
                <a:cs typeface="Verdana"/>
              </a:rPr>
              <a:t>Response,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Dynamic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1313" y="124572"/>
            <a:ext cx="803275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9555" marR="5080" indent="-1507490">
              <a:lnSpc>
                <a:spcPct val="1002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your</a:t>
            </a:r>
            <a:r>
              <a:rPr spc="5" dirty="0"/>
              <a:t> </a:t>
            </a:r>
            <a:r>
              <a:rPr dirty="0"/>
              <a:t>phone</a:t>
            </a:r>
            <a:r>
              <a:rPr spc="-30" dirty="0"/>
              <a:t> </a:t>
            </a:r>
            <a:r>
              <a:rPr dirty="0"/>
              <a:t>has</a:t>
            </a:r>
            <a:r>
              <a:rPr spc="-25" dirty="0"/>
              <a:t> </a:t>
            </a:r>
            <a:r>
              <a:rPr dirty="0"/>
              <a:t>3+ </a:t>
            </a:r>
            <a:r>
              <a:rPr spc="-20" dirty="0"/>
              <a:t>tiny </a:t>
            </a:r>
            <a:r>
              <a:rPr dirty="0"/>
              <a:t>acoustic</a:t>
            </a:r>
            <a:r>
              <a:rPr spc="-50" dirty="0"/>
              <a:t> </a:t>
            </a:r>
            <a:r>
              <a:rPr spc="-10" dirty="0"/>
              <a:t>sensors?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324" y="1308026"/>
            <a:ext cx="9107170" cy="602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To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improve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audio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quality</a:t>
            </a:r>
            <a:r>
              <a:rPr sz="2200" spc="3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calls,</a:t>
            </a:r>
            <a:r>
              <a:rPr sz="2200" spc="3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video 	</a:t>
            </a:r>
            <a:r>
              <a:rPr sz="2200" dirty="0">
                <a:latin typeface="Verdana"/>
                <a:cs typeface="Verdana"/>
              </a:rPr>
              <a:t>recordings,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voice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assistant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interactions.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Instead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relying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microphone,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manufacturers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place 	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MEMS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locations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-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bottom,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top,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near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rear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cameras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-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achieve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several, 	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functions:</a:t>
            </a:r>
            <a:endParaRPr sz="2200">
              <a:latin typeface="Verdana"/>
              <a:cs typeface="Verdana"/>
            </a:endParaRPr>
          </a:p>
          <a:p>
            <a:pPr marL="1520825" lvl="1" indent="-50292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520825" algn="l"/>
              </a:tabLst>
            </a:pPr>
            <a:r>
              <a:rPr sz="2200" dirty="0">
                <a:latin typeface="Verdana"/>
                <a:cs typeface="Verdana"/>
              </a:rPr>
              <a:t>Active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Cancellation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(ANC)</a:t>
            </a:r>
            <a:endParaRPr sz="2200">
              <a:latin typeface="Verdana"/>
              <a:cs typeface="Verdana"/>
            </a:endParaRPr>
          </a:p>
          <a:p>
            <a:pPr marL="1520825" lvl="1" indent="-502920">
              <a:lnSpc>
                <a:spcPct val="100000"/>
              </a:lnSpc>
              <a:spcBef>
                <a:spcPts val="260"/>
              </a:spcBef>
              <a:buFont typeface="Wingdings"/>
              <a:buChar char=""/>
              <a:tabLst>
                <a:tab pos="1520825" algn="l"/>
              </a:tabLst>
            </a:pPr>
            <a:r>
              <a:rPr sz="2200" dirty="0">
                <a:latin typeface="Verdana"/>
                <a:cs typeface="Verdana"/>
              </a:rPr>
              <a:t>Improved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Video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Audio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(Stereo/Directional)</a:t>
            </a:r>
            <a:endParaRPr sz="2200">
              <a:latin typeface="Verdana"/>
              <a:cs typeface="Verdana"/>
            </a:endParaRPr>
          </a:p>
          <a:p>
            <a:pPr marL="1520825" lvl="1" indent="-502920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1520825" algn="l"/>
              </a:tabLst>
            </a:pPr>
            <a:r>
              <a:rPr sz="2200" dirty="0">
                <a:latin typeface="Verdana"/>
                <a:cs typeface="Verdana"/>
              </a:rPr>
              <a:t>Voice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Assistant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Accuracy</a:t>
            </a:r>
            <a:endParaRPr sz="2200">
              <a:latin typeface="Verdana"/>
              <a:cs typeface="Verdana"/>
            </a:endParaRPr>
          </a:p>
          <a:p>
            <a:pPr marL="1520825" lvl="1" indent="-502920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1520825" algn="l"/>
              </a:tabLst>
            </a:pPr>
            <a:r>
              <a:rPr sz="2200" dirty="0">
                <a:latin typeface="Verdana"/>
                <a:cs typeface="Verdana"/>
              </a:rPr>
              <a:t>Echo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Reduction:</a:t>
            </a:r>
            <a:endParaRPr sz="2200">
              <a:latin typeface="Verdana"/>
              <a:cs typeface="Verdana"/>
            </a:endParaRPr>
          </a:p>
          <a:p>
            <a:pPr marL="12700" marR="5715" algn="just">
              <a:lnSpc>
                <a:spcPts val="3960"/>
              </a:lnSpc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In</a:t>
            </a:r>
            <a:r>
              <a:rPr sz="2200" b="1" spc="22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summary,</a:t>
            </a:r>
            <a:r>
              <a:rPr sz="2200" b="1" spc="229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these</a:t>
            </a:r>
            <a:r>
              <a:rPr sz="2200" b="1" spc="24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microphones</a:t>
            </a:r>
            <a:r>
              <a:rPr sz="2200" b="1" spc="2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are</a:t>
            </a:r>
            <a:r>
              <a:rPr sz="2200" b="1" spc="2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strategically</a:t>
            </a:r>
            <a:r>
              <a:rPr sz="2200" b="1" spc="22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placed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to</a:t>
            </a:r>
            <a:r>
              <a:rPr sz="2200" b="1" spc="51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ensure</a:t>
            </a:r>
            <a:r>
              <a:rPr sz="2200" b="1" spc="51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clear</a:t>
            </a:r>
            <a:r>
              <a:rPr sz="2200" b="1" spc="52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communication,</a:t>
            </a:r>
            <a:r>
              <a:rPr sz="2200" b="1" spc="509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high-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fidelity</a:t>
            </a:r>
            <a:r>
              <a:rPr sz="2200" b="1" spc="51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video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recording,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and</a:t>
            </a:r>
            <a:r>
              <a:rPr sz="2200" b="1" spc="-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accurate</a:t>
            </a:r>
            <a:r>
              <a:rPr sz="2200" b="1" spc="-4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voice</a:t>
            </a:r>
            <a:r>
              <a:rPr sz="2200" b="1" spc="-6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recognition.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42091" y="426127"/>
            <a:ext cx="73748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Acoustic</a:t>
            </a:r>
            <a:r>
              <a:rPr spc="-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675295"/>
            <a:ext cx="8709660" cy="555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Classification</a:t>
            </a:r>
            <a:r>
              <a:rPr sz="2200" b="1" spc="1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by</a:t>
            </a:r>
            <a:r>
              <a:rPr sz="2200" b="1" spc="1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Frequency:</a:t>
            </a:r>
            <a:r>
              <a:rPr sz="2200" b="1" spc="1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Infrasonic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(&lt;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Hz), 	</a:t>
            </a:r>
            <a:r>
              <a:rPr sz="2200" dirty="0">
                <a:latin typeface="Verdana"/>
                <a:cs typeface="Verdana"/>
              </a:rPr>
              <a:t>Audible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(20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Hz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-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kHz),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Ultrasonic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(&gt;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kHz).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Ultrasonic</a:t>
            </a:r>
            <a:r>
              <a:rPr sz="2200" b="1" spc="2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r>
              <a:rPr sz="2200" b="1" spc="2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Proximity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distance 	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(Time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Flight).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Surface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2200" b="1" spc="3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(SAW)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r>
              <a:rPr sz="2200" b="1" spc="3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waves 	</a:t>
            </a:r>
            <a:r>
              <a:rPr sz="2200" dirty="0">
                <a:latin typeface="Verdana"/>
                <a:cs typeface="Verdana"/>
              </a:rPr>
              <a:t>traveling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along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gas, 	</a:t>
            </a:r>
            <a:r>
              <a:rPr sz="2200" dirty="0">
                <a:latin typeface="Verdana"/>
                <a:cs typeface="Verdana"/>
              </a:rPr>
              <a:t>temperature,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Hydrophones: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Underwater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sensing;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Geophones: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seismic 	</a:t>
            </a:r>
            <a:r>
              <a:rPr sz="2200" dirty="0">
                <a:latin typeface="Verdana"/>
                <a:cs typeface="Verdana"/>
              </a:rPr>
              <a:t>monitoring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oil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exploration.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69625" y="426127"/>
            <a:ext cx="4714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131" y="1349383"/>
            <a:ext cx="9213850" cy="5760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8255" indent="-378460">
              <a:lnSpc>
                <a:spcPct val="1532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  <a:tab pos="2132330" algn="l"/>
                <a:tab pos="4114800" algn="l"/>
                <a:tab pos="5059045" algn="l"/>
                <a:tab pos="6626225" algn="l"/>
                <a:tab pos="8498205" algn="l"/>
              </a:tabLst>
            </a:pP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Consumer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Electronics: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Voice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assistants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(Alexa/Siri),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noise </a:t>
            </a:r>
            <a:r>
              <a:rPr sz="2050" dirty="0">
                <a:latin typeface="Verdana"/>
                <a:cs typeface="Verdana"/>
              </a:rPr>
              <a:t>cancellation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(ANC),</a:t>
            </a:r>
            <a:r>
              <a:rPr sz="2050" spc="114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114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smartphones.</a:t>
            </a:r>
            <a:endParaRPr sz="2050">
              <a:latin typeface="Verdana"/>
              <a:cs typeface="Verdana"/>
            </a:endParaRPr>
          </a:p>
          <a:p>
            <a:pPr marL="390525" marR="8890" indent="-378460">
              <a:lnSpc>
                <a:spcPts val="3770"/>
              </a:lnSpc>
              <a:spcBef>
                <a:spcPts val="33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Industrial</a:t>
            </a:r>
            <a:r>
              <a:rPr sz="205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Maintenance</a:t>
            </a:r>
            <a:r>
              <a:rPr sz="205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(Condition</a:t>
            </a:r>
            <a:r>
              <a:rPr sz="205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Monitoring):</a:t>
            </a:r>
            <a:r>
              <a:rPr sz="2050" b="1" spc="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Detecting </a:t>
            </a:r>
            <a:r>
              <a:rPr sz="2050" dirty="0">
                <a:latin typeface="Verdana"/>
                <a:cs typeface="Verdana"/>
              </a:rPr>
              <a:t>bearing</a:t>
            </a:r>
            <a:r>
              <a:rPr sz="2050" spc="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failure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or</a:t>
            </a:r>
            <a:r>
              <a:rPr sz="2050" spc="8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gas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leaks</a:t>
            </a:r>
            <a:r>
              <a:rPr sz="2050" spc="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via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ultrasonic</a:t>
            </a:r>
            <a:r>
              <a:rPr sz="2050" spc="3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signatures.</a:t>
            </a:r>
            <a:endParaRPr sz="20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95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Healthcare</a:t>
            </a:r>
            <a:r>
              <a:rPr sz="205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5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Medical:</a:t>
            </a:r>
            <a:r>
              <a:rPr sz="205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Ultrasound</a:t>
            </a:r>
            <a:r>
              <a:rPr sz="2050" spc="1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imaging</a:t>
            </a:r>
            <a:r>
              <a:rPr sz="2050" spc="1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1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wearable</a:t>
            </a:r>
            <a:r>
              <a:rPr sz="2050" spc="20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heart-</a:t>
            </a:r>
            <a:endParaRPr sz="205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10"/>
              </a:spcBef>
            </a:pPr>
            <a:r>
              <a:rPr sz="2050" dirty="0">
                <a:latin typeface="Verdana"/>
                <a:cs typeface="Verdana"/>
              </a:rPr>
              <a:t>rate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monitors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(phonocardiography).</a:t>
            </a:r>
            <a:endParaRPr sz="2050">
              <a:latin typeface="Verdana"/>
              <a:cs typeface="Verdana"/>
            </a:endParaRPr>
          </a:p>
          <a:p>
            <a:pPr marL="390525" marR="6350" indent="-378460">
              <a:lnSpc>
                <a:spcPts val="3770"/>
              </a:lnSpc>
              <a:spcBef>
                <a:spcPts val="330"/>
              </a:spcBef>
              <a:buFont typeface="Wingdings"/>
              <a:buChar char=""/>
              <a:tabLst>
                <a:tab pos="390525" algn="l"/>
                <a:tab pos="2350135" algn="l"/>
                <a:tab pos="2813685" algn="l"/>
                <a:tab pos="4709160" algn="l"/>
                <a:tab pos="5939790" algn="l"/>
                <a:tab pos="7289800" algn="l"/>
                <a:tab pos="8419465" algn="l"/>
              </a:tabLst>
            </a:pP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Automotive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b="1" spc="-50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Aerospace: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Parking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sensors,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engine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knock </a:t>
            </a:r>
            <a:r>
              <a:rPr sz="2050" dirty="0">
                <a:latin typeface="Verdana"/>
                <a:cs typeface="Verdana"/>
              </a:rPr>
              <a:t>sensors,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structural</a:t>
            </a:r>
            <a:r>
              <a:rPr sz="2050" spc="8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health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monitoring.</a:t>
            </a:r>
            <a:endParaRPr sz="20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95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Defense</a:t>
            </a:r>
            <a:r>
              <a:rPr sz="2050" b="1" spc="1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50" b="1" spc="1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Security:</a:t>
            </a:r>
            <a:r>
              <a:rPr sz="2050" b="1" spc="1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Sonar,</a:t>
            </a:r>
            <a:r>
              <a:rPr sz="2050" spc="1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sniper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detection</a:t>
            </a:r>
            <a:r>
              <a:rPr sz="2050" spc="12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systems,</a:t>
            </a:r>
            <a:r>
              <a:rPr sz="2050" spc="135" dirty="0">
                <a:latin typeface="Verdana"/>
                <a:cs typeface="Verdana"/>
              </a:rPr>
              <a:t>  </a:t>
            </a:r>
            <a:r>
              <a:rPr sz="2050" spc="-25" dirty="0">
                <a:latin typeface="Verdana"/>
                <a:cs typeface="Verdana"/>
              </a:rPr>
              <a:t>and</a:t>
            </a:r>
            <a:endParaRPr sz="205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05"/>
              </a:spcBef>
            </a:pPr>
            <a:r>
              <a:rPr sz="2050" dirty="0">
                <a:latin typeface="Verdana"/>
                <a:cs typeface="Verdana"/>
              </a:rPr>
              <a:t>perimeter</a:t>
            </a:r>
            <a:r>
              <a:rPr sz="2050" spc="14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security.</a:t>
            </a:r>
            <a:endParaRPr sz="2050">
              <a:latin typeface="Verdana"/>
              <a:cs typeface="Verdana"/>
            </a:endParaRPr>
          </a:p>
          <a:p>
            <a:pPr marL="390525" marR="5080" indent="-378460">
              <a:lnSpc>
                <a:spcPts val="3770"/>
              </a:lnSpc>
              <a:spcBef>
                <a:spcPts val="13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Environmental</a:t>
            </a:r>
            <a:r>
              <a:rPr sz="2050" b="1" spc="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Monitoring:</a:t>
            </a:r>
            <a:r>
              <a:rPr sz="2050" b="1" spc="2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Tracking</a:t>
            </a:r>
            <a:r>
              <a:rPr sz="2050" spc="1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wildlife</a:t>
            </a:r>
            <a:r>
              <a:rPr sz="2050" spc="21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(bioacoustics)</a:t>
            </a:r>
            <a:r>
              <a:rPr sz="2050" spc="220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and </a:t>
            </a:r>
            <a:r>
              <a:rPr sz="2050" dirty="0">
                <a:latin typeface="Verdana"/>
                <a:cs typeface="Verdana"/>
              </a:rPr>
              <a:t>monitoring</a:t>
            </a:r>
            <a:r>
              <a:rPr sz="2050" spc="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noise</a:t>
            </a:r>
            <a:r>
              <a:rPr sz="2050" spc="11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pollution.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5650" y="124572"/>
            <a:ext cx="862266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1510" marR="5080" indent="-3179445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Acoustic</a:t>
            </a:r>
            <a:r>
              <a:rPr spc="-40" dirty="0"/>
              <a:t> </a:t>
            </a:r>
            <a:r>
              <a:rPr spc="-20" dirty="0"/>
              <a:t>Wave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75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3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Versatile</a:t>
            </a:r>
            <a:r>
              <a:rPr sz="2200" spc="3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3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3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3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detection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mechanism.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sz="2200"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propagate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material;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propagation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path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spc="-10" dirty="0">
                <a:latin typeface="Verdana"/>
                <a:cs typeface="Verdana"/>
              </a:rPr>
              <a:t>wave’s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and/or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amplitude.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Commercial</a:t>
            </a:r>
            <a:r>
              <a:rPr sz="2200" b="1" spc="4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Context:</a:t>
            </a:r>
            <a:r>
              <a:rPr sz="2200" b="1" spc="4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4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60</a:t>
            </a:r>
            <a:r>
              <a:rPr sz="2200" spc="4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years</a:t>
            </a:r>
            <a:r>
              <a:rPr sz="2200" spc="41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telecommunications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(filters),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now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emerging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automotive,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medical,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industrial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09048" y="124572"/>
            <a:ext cx="78403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7810" marR="5080" indent="-2785745">
              <a:lnSpc>
                <a:spcPct val="1002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dirty="0"/>
              <a:t>Advantages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Acoustic 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3"/>
            <a:ext cx="871029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314575" algn="l"/>
                <a:tab pos="2821940" algn="l"/>
                <a:tab pos="4777740" algn="l"/>
                <a:tab pos="6496050" algn="l"/>
                <a:tab pos="784860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Sensitivity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Reliability: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Inherently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rugged,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highly 	</a:t>
            </a:r>
            <a:r>
              <a:rPr sz="2200" dirty="0">
                <a:latin typeface="Verdana"/>
                <a:cs typeface="Verdana"/>
              </a:rPr>
              <a:t>sensitive,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intrinsically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reliable.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Competitive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Pricing: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30" dirty="0">
                <a:latin typeface="Verdana"/>
                <a:cs typeface="Verdana"/>
              </a:rPr>
              <a:t>Cost-</a:t>
            </a:r>
            <a:r>
              <a:rPr sz="2200" dirty="0">
                <a:latin typeface="Verdana"/>
                <a:cs typeface="Verdana"/>
              </a:rPr>
              <a:t>effective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other 	high-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technologies.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Passive</a:t>
            </a:r>
            <a:r>
              <a:rPr sz="2200" b="1" spc="1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Operation:</a:t>
            </a:r>
            <a:r>
              <a:rPr sz="2200" b="1" spc="1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designs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allow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wireless 	</a:t>
            </a:r>
            <a:r>
              <a:rPr sz="2200" dirty="0">
                <a:latin typeface="Verdana"/>
                <a:cs typeface="Verdana"/>
              </a:rPr>
              <a:t>interrogation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source.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Broad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r>
              <a:rPr sz="2200" b="1" spc="4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Capable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measuring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torque,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tire 	</a:t>
            </a:r>
            <a:r>
              <a:rPr sz="2200" dirty="0">
                <a:latin typeface="Verdana"/>
                <a:cs typeface="Verdana"/>
              </a:rPr>
              <a:t>pressure,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vapors,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humidity,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temperature,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mass.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40207" y="426127"/>
            <a:ext cx="85756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Physics</a:t>
            </a:r>
            <a:r>
              <a:rPr spc="-3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Piezoelectricity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930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Discovery:</a:t>
            </a:r>
            <a:r>
              <a:rPr sz="2200" b="1" spc="3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Discovered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Pierre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spc="-45" dirty="0">
                <a:latin typeface="Verdana"/>
                <a:cs typeface="Verdana"/>
              </a:rPr>
              <a:t>Paul-</a:t>
            </a:r>
            <a:r>
              <a:rPr sz="2200" dirty="0">
                <a:latin typeface="Verdana"/>
                <a:cs typeface="Verdana"/>
              </a:rPr>
              <a:t>Jacques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Curie 	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1880.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Piezoelectric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spc="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production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electrical 	</a:t>
            </a:r>
            <a:r>
              <a:rPr sz="2200" dirty="0">
                <a:latin typeface="Verdana"/>
                <a:cs typeface="Verdana"/>
              </a:rPr>
              <a:t>charges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Reciprocity: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Applying</a:t>
            </a:r>
            <a:r>
              <a:rPr sz="2200" spc="2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2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27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26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creates 	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vice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versa.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r>
              <a:rPr sz="22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oscillating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creates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propagates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substrate 	</a:t>
            </a:r>
            <a:r>
              <a:rPr sz="2200" dirty="0">
                <a:latin typeface="Verdana"/>
                <a:cs typeface="Verdana"/>
              </a:rPr>
              <a:t>before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being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converted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back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spc="-10" dirty="0">
                <a:latin typeface="Verdana"/>
                <a:cs typeface="Verdana"/>
              </a:rPr>
              <a:t>measurement.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33714" y="426127"/>
            <a:ext cx="81895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</a:t>
            </a:r>
            <a:r>
              <a:rPr spc="-50" dirty="0"/>
              <a:t> </a:t>
            </a:r>
            <a:r>
              <a:rPr dirty="0"/>
              <a:t>Substrate</a:t>
            </a:r>
            <a:r>
              <a:rPr spc="-10" dirty="0"/>
              <a:t> Materials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551" y="1518283"/>
            <a:ext cx="909701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 marR="304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Quartz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(SiO</a:t>
            </a:r>
            <a:r>
              <a:rPr sz="2175" b="1" baseline="-21072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):</a:t>
            </a:r>
            <a:r>
              <a:rPr sz="2200"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common;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unique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"cut 	</a:t>
            </a:r>
            <a:r>
              <a:rPr sz="2200" dirty="0">
                <a:latin typeface="Verdana"/>
                <a:cs typeface="Verdana"/>
              </a:rPr>
              <a:t>angles"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minimize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dependence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maximize 	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sensing.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551" y="3027125"/>
            <a:ext cx="19443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 marR="304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159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Lithium 	(LiNbO</a:t>
            </a:r>
            <a:r>
              <a:rPr sz="2175" b="1" spc="-15" baseline="-21072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):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4865" y="3027125"/>
            <a:ext cx="7292975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93980" algn="r">
              <a:lnSpc>
                <a:spcPct val="100000"/>
              </a:lnSpc>
              <a:spcBef>
                <a:spcPts val="1420"/>
              </a:spcBef>
              <a:tabLst>
                <a:tab pos="1882139" algn="l"/>
                <a:tab pos="3605529" algn="l"/>
                <a:tab pos="4244340" algn="l"/>
                <a:tab pos="583374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Tantalate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(LiTaO</a:t>
            </a:r>
            <a:r>
              <a:rPr sz="2175" b="1" spc="-15" baseline="-21072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Lithium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Niobate</a:t>
            </a:r>
            <a:endParaRPr sz="2200">
              <a:latin typeface="Verdana"/>
              <a:cs typeface="Verdana"/>
            </a:endParaRPr>
          </a:p>
          <a:p>
            <a:pPr marR="90170" algn="r">
              <a:lnSpc>
                <a:spcPct val="100000"/>
              </a:lnSpc>
              <a:spcBef>
                <a:spcPts val="1320"/>
              </a:spcBef>
              <a:tabLst>
                <a:tab pos="1801495" algn="l"/>
                <a:tab pos="2774315" algn="l"/>
                <a:tab pos="3541395" algn="l"/>
                <a:tab pos="4799330" algn="l"/>
                <a:tab pos="6057265" algn="l"/>
              </a:tabLst>
            </a:pPr>
            <a:r>
              <a:rPr sz="2200" spc="-10" dirty="0">
                <a:latin typeface="Verdana"/>
                <a:cs typeface="Verdana"/>
              </a:rPr>
              <a:t>Frequently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but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always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exhibit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linear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951" y="4032929"/>
            <a:ext cx="9043670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dependence.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Emerging</a:t>
            </a:r>
            <a:r>
              <a:rPr sz="2200" b="1" spc="4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sz="2200" b="1" spc="4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Gallium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arsenide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(GaAs),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zinc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oxide 	</a:t>
            </a:r>
            <a:r>
              <a:rPr sz="2200" dirty="0">
                <a:latin typeface="Verdana"/>
                <a:cs typeface="Verdana"/>
              </a:rPr>
              <a:t>(ZnO),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zirconium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titanate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(PZT).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50442" y="426127"/>
            <a:ext cx="55543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Fabrication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6951" y="1518283"/>
            <a:ext cx="904430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Photolithography: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Manufactured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process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similar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Integrated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(ICs),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junctions.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Step-by-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Step:</a:t>
            </a:r>
            <a:endParaRPr sz="220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Polishing/cleaning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substrate.</a:t>
            </a:r>
            <a:endParaRPr sz="220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Uniform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deposition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(usually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aluminum).</a:t>
            </a:r>
            <a:endParaRPr sz="220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UV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exposure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mask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define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pattern.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712595" algn="l"/>
                <a:tab pos="2560320" algn="l"/>
                <a:tab pos="4297680" algn="l"/>
                <a:tab pos="5421630" algn="l"/>
                <a:tab pos="6556375" algn="l"/>
                <a:tab pos="7234555" algn="l"/>
              </a:tabLst>
            </a:pPr>
            <a:r>
              <a:rPr sz="2200" spc="-10" dirty="0">
                <a:latin typeface="Verdana"/>
                <a:cs typeface="Verdana"/>
              </a:rPr>
              <a:t>Result: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remaining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metal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forms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Interdigital 	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Transducer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(IDT).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9039" y="3898"/>
                </a:lnTo>
                <a:lnTo>
                  <a:pt x="142189" y="15417"/>
                </a:lnTo>
                <a:lnTo>
                  <a:pt x="105156" y="34290"/>
                </a:lnTo>
                <a:lnTo>
                  <a:pt x="61925" y="93141"/>
                </a:lnTo>
                <a:lnTo>
                  <a:pt x="56388" y="132588"/>
                </a:lnTo>
                <a:lnTo>
                  <a:pt x="60375" y="158711"/>
                </a:lnTo>
                <a:lnTo>
                  <a:pt x="73342" y="182689"/>
                </a:lnTo>
                <a:lnTo>
                  <a:pt x="96901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487" y="330504"/>
                </a:lnTo>
                <a:lnTo>
                  <a:pt x="226885" y="345376"/>
                </a:lnTo>
                <a:lnTo>
                  <a:pt x="206146" y="354838"/>
                </a:lnTo>
                <a:lnTo>
                  <a:pt x="179844" y="358140"/>
                </a:lnTo>
                <a:lnTo>
                  <a:pt x="158813" y="353402"/>
                </a:lnTo>
                <a:lnTo>
                  <a:pt x="140779" y="340804"/>
                </a:lnTo>
                <a:lnTo>
                  <a:pt x="128193" y="322783"/>
                </a:lnTo>
                <a:lnTo>
                  <a:pt x="123444" y="301752"/>
                </a:lnTo>
                <a:lnTo>
                  <a:pt x="123444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38" y="330504"/>
                </a:lnTo>
                <a:lnTo>
                  <a:pt x="486918" y="345376"/>
                </a:lnTo>
                <a:lnTo>
                  <a:pt x="469252" y="354838"/>
                </a:lnTo>
                <a:lnTo>
                  <a:pt x="445008" y="358140"/>
                </a:lnTo>
                <a:lnTo>
                  <a:pt x="419887" y="353402"/>
                </a:lnTo>
                <a:lnTo>
                  <a:pt x="401764" y="340804"/>
                </a:lnTo>
                <a:lnTo>
                  <a:pt x="390791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618172" y="233362"/>
                </a:lnTo>
                <a:lnTo>
                  <a:pt x="597344" y="213817"/>
                </a:lnTo>
                <a:lnTo>
                  <a:pt x="492252" y="160020"/>
                </a:lnTo>
                <a:lnTo>
                  <a:pt x="472655" y="151434"/>
                </a:lnTo>
                <a:lnTo>
                  <a:pt x="457771" y="139255"/>
                </a:lnTo>
                <a:lnTo>
                  <a:pt x="448322" y="123380"/>
                </a:lnTo>
                <a:lnTo>
                  <a:pt x="445008" y="103632"/>
                </a:lnTo>
                <a:lnTo>
                  <a:pt x="448322" y="89966"/>
                </a:lnTo>
                <a:lnTo>
                  <a:pt x="457771" y="77724"/>
                </a:lnTo>
                <a:lnTo>
                  <a:pt x="472655" y="68922"/>
                </a:lnTo>
                <a:lnTo>
                  <a:pt x="492252" y="65532"/>
                </a:lnTo>
                <a:lnTo>
                  <a:pt x="516496" y="69062"/>
                </a:lnTo>
                <a:lnTo>
                  <a:pt x="534162" y="78867"/>
                </a:lnTo>
                <a:lnTo>
                  <a:pt x="544982" y="93827"/>
                </a:lnTo>
                <a:lnTo>
                  <a:pt x="548640" y="112776"/>
                </a:lnTo>
                <a:lnTo>
                  <a:pt x="539559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88" y="48221"/>
                </a:lnTo>
                <a:lnTo>
                  <a:pt x="755916" y="85344"/>
                </a:lnTo>
                <a:lnTo>
                  <a:pt x="775728" y="9144"/>
                </a:lnTo>
                <a:lnTo>
                  <a:pt x="633996" y="9144"/>
                </a:lnTo>
                <a:lnTo>
                  <a:pt x="633996" y="18288"/>
                </a:lnTo>
                <a:lnTo>
                  <a:pt x="656805" y="34632"/>
                </a:lnTo>
                <a:lnTo>
                  <a:pt x="671334" y="54102"/>
                </a:lnTo>
                <a:lnTo>
                  <a:pt x="678992" y="77012"/>
                </a:lnTo>
                <a:lnTo>
                  <a:pt x="681240" y="103632"/>
                </a:lnTo>
                <a:lnTo>
                  <a:pt x="681240" y="132588"/>
                </a:lnTo>
                <a:lnTo>
                  <a:pt x="605040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25" y="160210"/>
                </a:lnTo>
                <a:lnTo>
                  <a:pt x="593458" y="174383"/>
                </a:lnTo>
                <a:lnTo>
                  <a:pt x="586752" y="188976"/>
                </a:lnTo>
                <a:lnTo>
                  <a:pt x="610984" y="209956"/>
                </a:lnTo>
                <a:lnTo>
                  <a:pt x="628662" y="232219"/>
                </a:lnTo>
                <a:lnTo>
                  <a:pt x="639470" y="256489"/>
                </a:lnTo>
                <a:lnTo>
                  <a:pt x="643140" y="283464"/>
                </a:lnTo>
                <a:lnTo>
                  <a:pt x="639470" y="317169"/>
                </a:lnTo>
                <a:lnTo>
                  <a:pt x="628662" y="347281"/>
                </a:lnTo>
                <a:lnTo>
                  <a:pt x="610984" y="373697"/>
                </a:lnTo>
                <a:lnTo>
                  <a:pt x="586752" y="396240"/>
                </a:lnTo>
                <a:lnTo>
                  <a:pt x="576084" y="405384"/>
                </a:lnTo>
                <a:lnTo>
                  <a:pt x="670572" y="405384"/>
                </a:lnTo>
                <a:lnTo>
                  <a:pt x="728484" y="198120"/>
                </a:lnTo>
                <a:lnTo>
                  <a:pt x="744601" y="156718"/>
                </a:lnTo>
                <a:lnTo>
                  <a:pt x="767156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3828" y="387096"/>
                </a:lnTo>
                <a:lnTo>
                  <a:pt x="813828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55458" y="426127"/>
            <a:ext cx="95478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Interdigital</a:t>
            </a:r>
            <a:r>
              <a:rPr spc="-70" dirty="0"/>
              <a:t> </a:t>
            </a:r>
            <a:r>
              <a:rPr dirty="0"/>
              <a:t>Transducer</a:t>
            </a:r>
            <a:r>
              <a:rPr spc="-85" dirty="0"/>
              <a:t> </a:t>
            </a:r>
            <a:r>
              <a:rPr spc="-10" dirty="0"/>
              <a:t>(IDT)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One</a:t>
            </a:r>
            <a:r>
              <a:rPr spc="20" dirty="0"/>
              <a:t> </a:t>
            </a:r>
            <a:r>
              <a:rPr dirty="0"/>
              <a:t>IDT</a:t>
            </a:r>
            <a:r>
              <a:rPr spc="20" dirty="0"/>
              <a:t> </a:t>
            </a:r>
            <a:r>
              <a:rPr dirty="0"/>
              <a:t>converts</a:t>
            </a:r>
            <a:r>
              <a:rPr spc="30" dirty="0"/>
              <a:t> </a:t>
            </a:r>
            <a:r>
              <a:rPr dirty="0"/>
              <a:t>electrical</a:t>
            </a:r>
            <a:r>
              <a:rPr spc="25" dirty="0"/>
              <a:t> </a:t>
            </a:r>
            <a:r>
              <a:rPr dirty="0"/>
              <a:t>energy</a:t>
            </a:r>
            <a:r>
              <a:rPr spc="5" dirty="0"/>
              <a:t> </a:t>
            </a:r>
            <a:r>
              <a:rPr dirty="0"/>
              <a:t>into</a:t>
            </a:r>
            <a:r>
              <a:rPr spc="15" dirty="0"/>
              <a:t> </a:t>
            </a:r>
            <a:r>
              <a:rPr spc="-10" dirty="0"/>
              <a:t>mechanical 	</a:t>
            </a:r>
            <a:r>
              <a:rPr dirty="0"/>
              <a:t>wave</a:t>
            </a:r>
            <a:r>
              <a:rPr spc="-75" dirty="0"/>
              <a:t> </a:t>
            </a:r>
            <a:r>
              <a:rPr dirty="0"/>
              <a:t>energy;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other</a:t>
            </a:r>
            <a:r>
              <a:rPr spc="-90" dirty="0"/>
              <a:t> </a:t>
            </a:r>
            <a:r>
              <a:rPr dirty="0"/>
              <a:t>converts</a:t>
            </a:r>
            <a:r>
              <a:rPr spc="-60" dirty="0"/>
              <a:t> </a:t>
            </a:r>
            <a:r>
              <a:rPr dirty="0"/>
              <a:t>it</a:t>
            </a:r>
            <a:r>
              <a:rPr spc="-85" dirty="0"/>
              <a:t> </a:t>
            </a:r>
            <a:r>
              <a:rPr spc="-10" dirty="0"/>
              <a:t>back.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Design</a:t>
            </a:r>
            <a:r>
              <a:rPr b="1" spc="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Variables:</a:t>
            </a:r>
            <a:r>
              <a:rPr b="1" spc="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Sensor</a:t>
            </a:r>
            <a:r>
              <a:rPr spc="65" dirty="0"/>
              <a:t>  </a:t>
            </a:r>
            <a:r>
              <a:rPr dirty="0"/>
              <a:t>performance</a:t>
            </a:r>
            <a:r>
              <a:rPr spc="70" dirty="0"/>
              <a:t>  </a:t>
            </a:r>
            <a:r>
              <a:rPr dirty="0"/>
              <a:t>is</a:t>
            </a:r>
            <a:r>
              <a:rPr spc="70" dirty="0"/>
              <a:t>  </a:t>
            </a:r>
            <a:r>
              <a:rPr dirty="0"/>
              <a:t>maximized</a:t>
            </a:r>
            <a:r>
              <a:rPr spc="65" dirty="0"/>
              <a:t>  </a:t>
            </a:r>
            <a:r>
              <a:rPr spc="-25" dirty="0"/>
              <a:t>by 	</a:t>
            </a:r>
            <a:r>
              <a:rPr dirty="0"/>
              <a:t>adjusting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length,</a:t>
            </a:r>
            <a:r>
              <a:rPr spc="30" dirty="0"/>
              <a:t> </a:t>
            </a:r>
            <a:r>
              <a:rPr dirty="0"/>
              <a:t>width,</a:t>
            </a:r>
            <a:r>
              <a:rPr spc="30" dirty="0"/>
              <a:t> </a:t>
            </a:r>
            <a:r>
              <a:rPr dirty="0"/>
              <a:t>position,</a:t>
            </a:r>
            <a:r>
              <a:rPr spc="35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dirty="0"/>
              <a:t>thickness</a:t>
            </a:r>
            <a:r>
              <a:rPr spc="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5" dirty="0"/>
              <a:t>IDT 	</a:t>
            </a:r>
            <a:r>
              <a:rPr spc="-10" dirty="0"/>
              <a:t>fingers.</a:t>
            </a: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b="1" spc="45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Path:</a:t>
            </a:r>
            <a:r>
              <a:rPr b="1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455" dirty="0"/>
              <a:t> </a:t>
            </a:r>
            <a:r>
              <a:rPr dirty="0"/>
              <a:t>IDT</a:t>
            </a:r>
            <a:r>
              <a:rPr spc="430" dirty="0"/>
              <a:t> </a:t>
            </a:r>
            <a:r>
              <a:rPr dirty="0"/>
              <a:t>provides</a:t>
            </a:r>
            <a:r>
              <a:rPr spc="420" dirty="0"/>
              <a:t> </a:t>
            </a:r>
            <a:r>
              <a:rPr dirty="0"/>
              <a:t>the</a:t>
            </a:r>
            <a:r>
              <a:rPr spc="455" dirty="0"/>
              <a:t> </a:t>
            </a:r>
            <a:r>
              <a:rPr dirty="0"/>
              <a:t>electric</a:t>
            </a:r>
            <a:r>
              <a:rPr spc="440" dirty="0"/>
              <a:t> </a:t>
            </a:r>
            <a:r>
              <a:rPr dirty="0"/>
              <a:t>field</a:t>
            </a:r>
            <a:r>
              <a:rPr spc="440" dirty="0"/>
              <a:t> </a:t>
            </a:r>
            <a:r>
              <a:rPr dirty="0"/>
              <a:t>needed</a:t>
            </a:r>
            <a:r>
              <a:rPr spc="440" dirty="0"/>
              <a:t> </a:t>
            </a:r>
            <a:r>
              <a:rPr spc="-25" dirty="0"/>
              <a:t>to 	</a:t>
            </a:r>
            <a:r>
              <a:rPr dirty="0"/>
              <a:t>displace</a:t>
            </a:r>
            <a:r>
              <a:rPr spc="5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substrate,</a:t>
            </a:r>
            <a:r>
              <a:rPr spc="35" dirty="0"/>
              <a:t> </a:t>
            </a:r>
            <a:r>
              <a:rPr dirty="0"/>
              <a:t>launching</a:t>
            </a:r>
            <a:r>
              <a:rPr spc="3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wave</a:t>
            </a:r>
            <a:r>
              <a:rPr spc="35" dirty="0"/>
              <a:t> </a:t>
            </a:r>
            <a:r>
              <a:rPr dirty="0"/>
              <a:t>across</a:t>
            </a:r>
            <a:r>
              <a:rPr spc="4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sensing 	surface.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514" y="5173702"/>
            <a:ext cx="5299498" cy="2028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65637" y="124572"/>
            <a:ext cx="812927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9760" marR="5080" indent="-3147695">
              <a:lnSpc>
                <a:spcPct val="100200"/>
              </a:lnSpc>
              <a:spcBef>
                <a:spcPts val="100"/>
              </a:spcBef>
            </a:pPr>
            <a:r>
              <a:rPr dirty="0"/>
              <a:t>Classification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Propagation Modes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373527"/>
            <a:ext cx="9212580" cy="606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Bulk</a:t>
            </a:r>
            <a:r>
              <a:rPr sz="22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Waves: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Propagate through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interior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substrate. 	Example:</a:t>
            </a:r>
            <a:endParaRPr sz="2200">
              <a:latin typeface="Verdana"/>
              <a:cs typeface="Verdana"/>
            </a:endParaRPr>
          </a:p>
          <a:p>
            <a:pPr marL="1396365" marR="100330" lvl="1" indent="-378460">
              <a:lnSpc>
                <a:spcPct val="150000"/>
              </a:lnSpc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Quartz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Microbalance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(QCM)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Thickness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Shear </a:t>
            </a:r>
            <a:r>
              <a:rPr sz="2200" dirty="0">
                <a:latin typeface="Verdana"/>
                <a:cs typeface="Verdana"/>
              </a:rPr>
              <a:t>Mode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(TSM)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resonator.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spc="-25" dirty="0">
                <a:latin typeface="Verdana"/>
                <a:cs typeface="Verdana"/>
              </a:rPr>
              <a:t>shear-</a:t>
            </a:r>
            <a:r>
              <a:rPr sz="2200" dirty="0">
                <a:latin typeface="Verdana"/>
                <a:cs typeface="Verdana"/>
              </a:rPr>
              <a:t>horizontal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(SH-</a:t>
            </a:r>
            <a:r>
              <a:rPr sz="2200" spc="-10" dirty="0">
                <a:latin typeface="Verdana"/>
                <a:cs typeface="Verdana"/>
              </a:rPr>
              <a:t>APM).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882139" algn="l"/>
                <a:tab pos="3329940" algn="l"/>
                <a:tab pos="5045075" algn="l"/>
                <a:tab pos="6110605" algn="l"/>
                <a:tab pos="6863715" algn="l"/>
                <a:tab pos="8180070" algn="l"/>
                <a:tab pos="87458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Surface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Waves: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Propagate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along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surface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substrate.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Example:</a:t>
            </a:r>
            <a:endParaRPr sz="2200">
              <a:latin typeface="Verdana"/>
              <a:cs typeface="Verdana"/>
            </a:endParaRPr>
          </a:p>
          <a:p>
            <a:pPr marL="139573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730" algn="l"/>
              </a:tabLst>
            </a:pP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(SAW)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sensor.</a:t>
            </a:r>
            <a:endParaRPr sz="2200">
              <a:latin typeface="Verdana"/>
              <a:cs typeface="Verdana"/>
            </a:endParaRPr>
          </a:p>
          <a:p>
            <a:pPr marL="1395095" lvl="1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5095" algn="l"/>
              </a:tabLst>
            </a:pPr>
            <a:r>
              <a:rPr sz="2200" spc="-25" dirty="0">
                <a:latin typeface="Verdana"/>
                <a:cs typeface="Verdana"/>
              </a:rPr>
              <a:t>shear-</a:t>
            </a:r>
            <a:r>
              <a:rPr sz="2200" dirty="0">
                <a:latin typeface="Verdana"/>
                <a:cs typeface="Verdana"/>
              </a:rPr>
              <a:t>horizontal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(SH-</a:t>
            </a:r>
            <a:r>
              <a:rPr sz="2200" spc="-10" dirty="0">
                <a:latin typeface="Verdana"/>
                <a:cs typeface="Verdana"/>
              </a:rPr>
              <a:t>SAW).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Determining</a:t>
            </a:r>
            <a:r>
              <a:rPr sz="22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Factors: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distinguished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direction,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depending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boundary 	conditions.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76879" y="124572"/>
            <a:ext cx="79082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8945" marR="5080" indent="-2976880">
              <a:lnSpc>
                <a:spcPct val="100200"/>
              </a:lnSpc>
              <a:spcBef>
                <a:spcPts val="100"/>
              </a:spcBef>
            </a:pPr>
            <a:r>
              <a:rPr dirty="0"/>
              <a:t>Transverse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Shear</a:t>
            </a:r>
            <a:r>
              <a:rPr spc="-20" dirty="0"/>
              <a:t> Wave </a:t>
            </a:r>
            <a:r>
              <a:rPr spc="-10" dirty="0"/>
              <a:t>Motion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8925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Transverse/Shear</a:t>
            </a:r>
            <a:r>
              <a:rPr b="1" spc="3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Waves:</a:t>
            </a:r>
            <a:r>
              <a:rPr b="1" spc="3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Particle</a:t>
            </a:r>
            <a:r>
              <a:rPr spc="345" dirty="0"/>
              <a:t> </a:t>
            </a:r>
            <a:r>
              <a:rPr dirty="0"/>
              <a:t>displacement</a:t>
            </a:r>
            <a:r>
              <a:rPr spc="330" dirty="0"/>
              <a:t> </a:t>
            </a:r>
            <a:r>
              <a:rPr dirty="0"/>
              <a:t>is</a:t>
            </a:r>
            <a:r>
              <a:rPr spc="335" dirty="0"/>
              <a:t> </a:t>
            </a:r>
            <a:r>
              <a:rPr spc="-10" dirty="0"/>
              <a:t>normal 	</a:t>
            </a:r>
            <a:r>
              <a:rPr spc="-20" dirty="0"/>
              <a:t>(perpendicular)</a:t>
            </a:r>
            <a:r>
              <a:rPr spc="-12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spc="-10" dirty="0"/>
              <a:t>direction</a:t>
            </a:r>
            <a:r>
              <a:rPr spc="-13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wave</a:t>
            </a:r>
            <a:r>
              <a:rPr spc="-100" dirty="0"/>
              <a:t> </a:t>
            </a:r>
            <a:r>
              <a:rPr spc="-10" dirty="0"/>
              <a:t>propagation.</a:t>
            </a:r>
          </a:p>
          <a:p>
            <a:pPr marL="387350" marR="6350" indent="-377190">
              <a:lnSpc>
                <a:spcPct val="150000"/>
              </a:lnSpc>
              <a:buFont typeface="Wingdings"/>
              <a:buChar char=""/>
              <a:tabLst>
                <a:tab pos="38925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Shear</a:t>
            </a:r>
            <a:r>
              <a:rPr b="1" spc="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Horizontal</a:t>
            </a:r>
            <a:r>
              <a:rPr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(SH):</a:t>
            </a:r>
            <a:r>
              <a:rPr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Displacement</a:t>
            </a:r>
            <a:r>
              <a:rPr spc="75" dirty="0"/>
              <a:t>  </a:t>
            </a:r>
            <a:r>
              <a:rPr dirty="0"/>
              <a:t>is</a:t>
            </a:r>
            <a:r>
              <a:rPr spc="75" dirty="0"/>
              <a:t>  </a:t>
            </a:r>
            <a:r>
              <a:rPr dirty="0"/>
              <a:t>parallel</a:t>
            </a:r>
            <a:r>
              <a:rPr spc="70" dirty="0"/>
              <a:t>  </a:t>
            </a:r>
            <a:r>
              <a:rPr dirty="0"/>
              <a:t>to</a:t>
            </a:r>
            <a:r>
              <a:rPr spc="80" dirty="0"/>
              <a:t>  </a:t>
            </a:r>
            <a:r>
              <a:rPr spc="-25" dirty="0"/>
              <a:t>the 	</a:t>
            </a:r>
            <a:r>
              <a:rPr spc="-10" dirty="0"/>
              <a:t>sensing</a:t>
            </a:r>
            <a:r>
              <a:rPr spc="-135" dirty="0"/>
              <a:t> </a:t>
            </a:r>
            <a:r>
              <a:rPr spc="-10" dirty="0"/>
              <a:t>surface.</a:t>
            </a:r>
          </a:p>
          <a:p>
            <a:pPr marL="387350" marR="5080" indent="-377190">
              <a:lnSpc>
                <a:spcPct val="150000"/>
              </a:lnSpc>
              <a:buFont typeface="Wingdings"/>
              <a:buChar char=""/>
              <a:tabLst>
                <a:tab pos="38925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Shear</a:t>
            </a:r>
            <a:r>
              <a:rPr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Vertical:</a:t>
            </a:r>
            <a:r>
              <a:rPr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pc="-20" dirty="0"/>
              <a:t>Displacement</a:t>
            </a:r>
            <a:r>
              <a:rPr spc="-12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normal</a:t>
            </a:r>
            <a:r>
              <a:rPr spc="-85" dirty="0"/>
              <a:t> </a:t>
            </a:r>
            <a:r>
              <a:rPr spc="-20" dirty="0"/>
              <a:t>(perpendicular)</a:t>
            </a:r>
            <a:r>
              <a:rPr spc="-8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spc="-25" dirty="0"/>
              <a:t>the 	</a:t>
            </a:r>
            <a:r>
              <a:rPr spc="-10" dirty="0"/>
              <a:t>sensing</a:t>
            </a:r>
            <a:r>
              <a:rPr spc="-135" dirty="0"/>
              <a:t> </a:t>
            </a:r>
            <a:r>
              <a:rPr spc="-10" dirty="0"/>
              <a:t>surface.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74995" y="426127"/>
            <a:ext cx="91103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Types</a:t>
            </a:r>
            <a:r>
              <a:rPr spc="-8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Acoustic</a:t>
            </a:r>
            <a:r>
              <a:rPr spc="-15" dirty="0"/>
              <a:t> </a:t>
            </a:r>
            <a:r>
              <a:rPr dirty="0"/>
              <a:t>Wave</a:t>
            </a:r>
            <a:r>
              <a:rPr spc="-30" dirty="0"/>
              <a:t> </a:t>
            </a:r>
            <a:r>
              <a:rPr spc="-10" dirty="0"/>
              <a:t>Sensors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875" y="1702307"/>
            <a:ext cx="7472171" cy="55123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17097" y="426127"/>
            <a:ext cx="76263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Fluid</a:t>
            </a:r>
            <a:r>
              <a:rPr spc="-70" dirty="0"/>
              <a:t> </a:t>
            </a:r>
            <a:r>
              <a:rPr dirty="0"/>
              <a:t>Operation</a:t>
            </a:r>
            <a:r>
              <a:rPr spc="-30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445156"/>
            <a:ext cx="921512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952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Liquid</a:t>
            </a:r>
            <a:r>
              <a:rPr sz="2200" b="1" spc="25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Constraints:</a:t>
            </a:r>
            <a:r>
              <a:rPr sz="2200" b="1" spc="2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22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subset</a:t>
            </a:r>
            <a:r>
              <a:rPr sz="2200" spc="22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23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operate 	efficiently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contact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Shear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Horizontal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Motion: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TSM,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SH-</a:t>
            </a:r>
            <a:r>
              <a:rPr sz="2200" dirty="0">
                <a:latin typeface="Verdana"/>
                <a:cs typeface="Verdana"/>
              </a:rPr>
              <a:t>APM,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SH-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waves 	</a:t>
            </a:r>
            <a:r>
              <a:rPr sz="2200" dirty="0">
                <a:latin typeface="Verdana"/>
                <a:cs typeface="Verdana"/>
              </a:rPr>
              <a:t>propagate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primarily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shear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horizontal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motion,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does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not 	</a:t>
            </a:r>
            <a:r>
              <a:rPr sz="2200" dirty="0">
                <a:latin typeface="Verdana"/>
                <a:cs typeface="Verdana"/>
              </a:rPr>
              <a:t>radiate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significant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liquids,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liquid-</a:t>
            </a:r>
            <a:r>
              <a:rPr sz="2200" spc="-10" dirty="0">
                <a:latin typeface="Verdana"/>
                <a:cs typeface="Verdana"/>
              </a:rPr>
              <a:t>phase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excessive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damping.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SAW Limitations: </a:t>
            </a:r>
            <a:r>
              <a:rPr sz="2200" dirty="0">
                <a:latin typeface="Verdana"/>
                <a:cs typeface="Verdana"/>
              </a:rPr>
              <a:t>Standard SAW sensors have </a:t>
            </a:r>
            <a:r>
              <a:rPr sz="2200" spc="-10" dirty="0">
                <a:latin typeface="Verdana"/>
                <a:cs typeface="Verdana"/>
              </a:rPr>
              <a:t>surface-	</a:t>
            </a:r>
            <a:r>
              <a:rPr sz="2200" dirty="0">
                <a:latin typeface="Verdana"/>
                <a:cs typeface="Verdana"/>
              </a:rPr>
              <a:t>normal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radiates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compression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into 	</a:t>
            </a:r>
            <a:r>
              <a:rPr sz="2200" dirty="0">
                <a:latin typeface="Verdana"/>
                <a:cs typeface="Verdana"/>
              </a:rPr>
              <a:t>liquid,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causing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excessive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damping.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7164" y="124572"/>
            <a:ext cx="940435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4625" marR="5080" indent="-2702560">
              <a:lnSpc>
                <a:spcPct val="100200"/>
              </a:lnSpc>
              <a:spcBef>
                <a:spcPts val="100"/>
              </a:spcBef>
            </a:pPr>
            <a:r>
              <a:rPr dirty="0"/>
              <a:t>Comparative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Acoustic </a:t>
            </a:r>
            <a:r>
              <a:rPr dirty="0"/>
              <a:t>Wave</a:t>
            </a:r>
            <a:r>
              <a:rPr spc="-2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89973" y="2084290"/>
            <a:ext cx="2115820" cy="4327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Use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Case</a:t>
            </a:r>
            <a:endParaRPr sz="2200">
              <a:latin typeface="Verdana"/>
              <a:cs typeface="Verdana"/>
            </a:endParaRPr>
          </a:p>
          <a:p>
            <a:pPr marL="12700" marR="657860">
              <a:lnSpc>
                <a:spcPct val="100000"/>
              </a:lnSpc>
              <a:spcBef>
                <a:spcPts val="219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Metal deposition rates</a:t>
            </a:r>
            <a:endParaRPr sz="2200">
              <a:latin typeface="Verdana"/>
              <a:cs typeface="Verdana"/>
            </a:endParaRPr>
          </a:p>
          <a:p>
            <a:pPr marL="12700" marR="108585">
              <a:lnSpc>
                <a:spcPct val="100000"/>
              </a:lnSpc>
              <a:spcBef>
                <a:spcPts val="875"/>
              </a:spcBef>
            </a:pP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Telecommunic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ations</a:t>
            </a:r>
            <a:r>
              <a:rPr sz="220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filters</a:t>
            </a:r>
            <a:endParaRPr sz="2200">
              <a:latin typeface="Verdana"/>
              <a:cs typeface="Verdana"/>
            </a:endParaRPr>
          </a:p>
          <a:p>
            <a:pPr marL="12700" marR="116839">
              <a:lnSpc>
                <a:spcPct val="100000"/>
              </a:lnSpc>
              <a:spcBef>
                <a:spcPts val="890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Bio-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sensing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in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fluids</a:t>
            </a:r>
            <a:endParaRPr sz="2200">
              <a:latin typeface="Verdana"/>
              <a:cs typeface="Verdana"/>
            </a:endParaRPr>
          </a:p>
          <a:p>
            <a:pPr marL="12700" marR="760730">
              <a:lnSpc>
                <a:spcPct val="100000"/>
              </a:lnSpc>
              <a:spcBef>
                <a:spcPts val="87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Emerging research sensors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6847" y="1916656"/>
            <a:ext cx="20269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Best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Environment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3721" y="2084290"/>
            <a:ext cx="17449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595" y="2084290"/>
            <a:ext cx="1953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6847" y="3033716"/>
            <a:ext cx="1786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&amp;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3721" y="3033716"/>
            <a:ext cx="18059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Bulk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(Shear)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595" y="3033716"/>
            <a:ext cx="6775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TSM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6847" y="3815508"/>
            <a:ext cx="1786255" cy="1311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214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or </a:t>
            </a:r>
            <a:r>
              <a:rPr sz="2200" spc="-35" dirty="0">
                <a:solidFill>
                  <a:srgbClr val="1F1F1F"/>
                </a:solidFill>
                <a:latin typeface="Verdana"/>
                <a:cs typeface="Verdana"/>
              </a:rPr>
              <a:t>Vacuum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&amp;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63721" y="3983142"/>
            <a:ext cx="1097915" cy="1311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Surface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Surface (Shear)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595" y="3983142"/>
            <a:ext cx="755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SAW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595" y="4766568"/>
            <a:ext cx="13195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SH-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SAW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6847" y="5715994"/>
            <a:ext cx="1786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&amp;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3721" y="5715994"/>
            <a:ext cx="17132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Plate</a:t>
            </a:r>
            <a:r>
              <a:rPr sz="220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Waves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0595" y="5715994"/>
            <a:ext cx="17741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FPW/Lamb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77561" y="124572"/>
            <a:ext cx="770763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 marR="5080" indent="-2751455">
              <a:lnSpc>
                <a:spcPct val="100200"/>
              </a:lnSpc>
              <a:spcBef>
                <a:spcPts val="100"/>
              </a:spcBef>
            </a:pPr>
            <a:r>
              <a:rPr dirty="0"/>
              <a:t>Overview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Acoustic</a:t>
            </a:r>
            <a:r>
              <a:rPr spc="-45" dirty="0"/>
              <a:t> </a:t>
            </a:r>
            <a:r>
              <a:rPr spc="-20" dirty="0"/>
              <a:t>Wave </a:t>
            </a:r>
            <a:r>
              <a:rPr spc="-10" dirty="0"/>
              <a:t>Devices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756" y="1365504"/>
            <a:ext cx="9226295" cy="57241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2730" y="426127"/>
            <a:ext cx="92760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Emerging</a:t>
            </a:r>
            <a:r>
              <a:rPr spc="-45" dirty="0"/>
              <a:t> </a:t>
            </a:r>
            <a:r>
              <a:rPr spc="-10" dirty="0"/>
              <a:t>Trends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Versatility:</a:t>
            </a:r>
            <a:r>
              <a:rPr sz="2200" b="1" spc="55" dirty="0">
                <a:solidFill>
                  <a:srgbClr val="0099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competitively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priced, 	</a:t>
            </a:r>
            <a:r>
              <a:rPr sz="2200" dirty="0">
                <a:latin typeface="Verdana"/>
                <a:cs typeface="Verdana"/>
              </a:rPr>
              <a:t>rugged,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sensitive,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reliable.</a:t>
            </a:r>
            <a:endParaRPr sz="2200">
              <a:latin typeface="Verdana"/>
              <a:cs typeface="Verdana"/>
            </a:endParaRPr>
          </a:p>
          <a:p>
            <a:pPr marL="389255" marR="889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Wireless</a:t>
            </a:r>
            <a:r>
              <a:rPr sz="2200" b="1" spc="10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Capability:</a:t>
            </a:r>
            <a:r>
              <a:rPr sz="2200" b="1" spc="11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passively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wirelessly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interrogated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source.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Future</a:t>
            </a:r>
            <a:r>
              <a:rPr sz="2200" b="1" spc="45" dirty="0">
                <a:solidFill>
                  <a:srgbClr val="0099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Modes:</a:t>
            </a:r>
            <a:r>
              <a:rPr sz="2200" b="1" spc="40" dirty="0">
                <a:solidFill>
                  <a:srgbClr val="0099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Promising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new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modes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include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flexural 	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(FPW),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Love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Lamb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50823" y="426127"/>
            <a:ext cx="69557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75991"/>
            <a:ext cx="9211310" cy="601218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516255" indent="-50355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Define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reciprocal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nature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piezoelectric</a:t>
            </a:r>
            <a:r>
              <a:rPr sz="1850" spc="6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effect.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Distinguish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between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Bulk</a:t>
            </a:r>
            <a:r>
              <a:rPr sz="1850" spc="-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Wave</a:t>
            </a:r>
            <a:r>
              <a:rPr sz="1850" spc="-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Surface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Wave.</a:t>
            </a:r>
            <a:endParaRPr sz="1850">
              <a:latin typeface="Verdana"/>
              <a:cs typeface="Verdana"/>
            </a:endParaRPr>
          </a:p>
          <a:p>
            <a:pPr marL="514984" marR="6350" indent="-502920">
              <a:lnSpc>
                <a:spcPts val="3370"/>
              </a:lnSpc>
              <a:spcBef>
                <a:spcPts val="290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Name</a:t>
            </a:r>
            <a:r>
              <a:rPr sz="1850" spc="4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four</a:t>
            </a:r>
            <a:r>
              <a:rPr sz="1850" spc="4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emerging</a:t>
            </a:r>
            <a:r>
              <a:rPr sz="1850" spc="4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materials</a:t>
            </a:r>
            <a:r>
              <a:rPr sz="1850" spc="4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with</a:t>
            </a:r>
            <a:r>
              <a:rPr sz="1850" spc="43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commercial</a:t>
            </a:r>
            <a:r>
              <a:rPr sz="1850" spc="40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potential</a:t>
            </a:r>
            <a:r>
              <a:rPr sz="1850" spc="40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40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acoustic </a:t>
            </a:r>
            <a:r>
              <a:rPr sz="1850" dirty="0">
                <a:latin typeface="Verdana"/>
                <a:cs typeface="Verdana"/>
              </a:rPr>
              <a:t>wave</a:t>
            </a:r>
            <a:r>
              <a:rPr sz="1850" spc="-3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substrates.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Describe</a:t>
            </a:r>
            <a:r>
              <a:rPr sz="1850" spc="4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4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role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4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Interdigital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Transducers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(IDTs)</a:t>
            </a:r>
            <a:r>
              <a:rPr sz="1850" spc="4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4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acoustic</a:t>
            </a:r>
            <a:r>
              <a:rPr sz="1850" spc="465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wave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spc="-10" dirty="0">
                <a:latin typeface="Verdana"/>
                <a:cs typeface="Verdana"/>
              </a:rPr>
              <a:t>devices.</a:t>
            </a:r>
            <a:endParaRPr sz="1850">
              <a:latin typeface="Verdana"/>
              <a:cs typeface="Verdana"/>
            </a:endParaRPr>
          </a:p>
          <a:p>
            <a:pPr marL="514984" marR="5715" indent="-502920">
              <a:lnSpc>
                <a:spcPts val="3370"/>
              </a:lnSpc>
              <a:spcBef>
                <a:spcPts val="295"/>
              </a:spcBef>
              <a:buAutoNum type="arabicPeriod" startAt="5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Compare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suitability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60" dirty="0">
                <a:latin typeface="Verdana"/>
                <a:cs typeface="Verdana"/>
              </a:rPr>
              <a:t> </a:t>
            </a:r>
            <a:r>
              <a:rPr sz="1850" spc="-40" dirty="0">
                <a:latin typeface="Verdana"/>
                <a:cs typeface="Verdana"/>
              </a:rPr>
              <a:t>SAW,</a:t>
            </a:r>
            <a:r>
              <a:rPr sz="1850" spc="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TSM,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SH-</a:t>
            </a:r>
            <a:r>
              <a:rPr sz="1850" dirty="0">
                <a:latin typeface="Verdana"/>
                <a:cs typeface="Verdana"/>
              </a:rPr>
              <a:t>APM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sensors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operation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liquids.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 startAt="5"/>
              <a:tabLst>
                <a:tab pos="516255" algn="l"/>
                <a:tab pos="4289425" algn="l"/>
                <a:tab pos="5758815" algn="l"/>
                <a:tab pos="6873875" algn="l"/>
                <a:tab pos="7411084" algn="l"/>
                <a:tab pos="8585200" algn="l"/>
              </a:tabLst>
            </a:pPr>
            <a:r>
              <a:rPr sz="1850" dirty="0">
                <a:latin typeface="Verdana"/>
                <a:cs typeface="Verdana"/>
              </a:rPr>
              <a:t>Detail</a:t>
            </a:r>
            <a:r>
              <a:rPr sz="1850" spc="16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70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photolithographic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fabrication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process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for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acoustic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wave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spc="-10" dirty="0">
                <a:latin typeface="Verdana"/>
                <a:cs typeface="Verdana"/>
              </a:rPr>
              <a:t>devices.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ts val="3370"/>
              </a:lnSpc>
              <a:spcBef>
                <a:spcPts val="295"/>
              </a:spcBef>
              <a:buAutoNum type="arabicPeriod" startAt="7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Explain</a:t>
            </a:r>
            <a:r>
              <a:rPr sz="1850" spc="4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how</a:t>
            </a:r>
            <a:r>
              <a:rPr sz="1850" spc="4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acoustic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wave</a:t>
            </a:r>
            <a:r>
              <a:rPr sz="1850" spc="4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devices</a:t>
            </a:r>
            <a:r>
              <a:rPr sz="1850" spc="4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function</a:t>
            </a:r>
            <a:r>
              <a:rPr sz="1850" spc="4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as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sensors</a:t>
            </a:r>
            <a:r>
              <a:rPr sz="1850" spc="4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4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list</a:t>
            </a:r>
            <a:r>
              <a:rPr sz="1850" spc="45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their </a:t>
            </a:r>
            <a:r>
              <a:rPr sz="1850" dirty="0">
                <a:latin typeface="Verdana"/>
                <a:cs typeface="Verdana"/>
              </a:rPr>
              <a:t>industrial/commercial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applications.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 startAt="7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Discuss</a:t>
            </a:r>
            <a:r>
              <a:rPr sz="1850" spc="1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5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selection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piezoelectric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substrate</a:t>
            </a:r>
            <a:r>
              <a:rPr sz="1850" spc="15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materials</a:t>
            </a:r>
            <a:r>
              <a:rPr sz="1850" spc="1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the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dirty="0">
                <a:latin typeface="Verdana"/>
                <a:cs typeface="Verdana"/>
              </a:rPr>
              <a:t>specific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advantages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Quartz.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36" y="1842930"/>
            <a:ext cx="8877300" cy="4183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D.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Ballantine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et.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al.,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Sensors: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Theory, 	</a:t>
            </a:r>
            <a:r>
              <a:rPr sz="2200" dirty="0">
                <a:latin typeface="Verdana"/>
                <a:cs typeface="Verdana"/>
              </a:rPr>
              <a:t>Design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Physico-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Applications,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Academic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Press, 	1997.</a:t>
            </a:r>
            <a:endParaRPr sz="2200">
              <a:latin typeface="Verdana"/>
              <a:cs typeface="Verdana"/>
            </a:endParaRPr>
          </a:p>
          <a:p>
            <a:pPr marL="389255" marR="52705" indent="-377190" algn="just">
              <a:lnSpc>
                <a:spcPct val="150000"/>
              </a:lnSpc>
              <a:spcBef>
                <a:spcPts val="53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https://pmc.ncbi.nlm.nih.gov/articles/PMC6833005/pdf/sen</a:t>
            </a:r>
            <a:r>
              <a:rPr sz="2200" spc="-10" dirty="0">
                <a:latin typeface="Verdana"/>
                <a:cs typeface="Verdana"/>
              </a:rPr>
              <a:t> 	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sors-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04395.pdf</a:t>
            </a:r>
            <a:endParaRPr sz="2200">
              <a:latin typeface="Verdana"/>
              <a:cs typeface="Verdana"/>
            </a:endParaRPr>
          </a:p>
          <a:p>
            <a:pPr marL="389255" marR="963930" indent="-377190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https://industry.plantautomation-technology.com/</a:t>
            </a:r>
            <a:r>
              <a:rPr sz="2200" spc="-10" dirty="0">
                <a:latin typeface="Verdana"/>
                <a:cs typeface="Verdana"/>
                <a:hlinkClick r:id="rId3"/>
              </a:rPr>
              <a:t> 	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whitepapers/1485944904-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acoustic-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wave-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technology-	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sensors.pdf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2740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41400" cy="425450"/>
          </a:xfrm>
          <a:custGeom>
            <a:avLst/>
            <a:gdLst/>
            <a:ahLst/>
            <a:cxnLst/>
            <a:rect l="l" t="t" r="r" b="b"/>
            <a:pathLst>
              <a:path w="1041400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9039" y="3898"/>
                </a:lnTo>
                <a:lnTo>
                  <a:pt x="142189" y="15417"/>
                </a:lnTo>
                <a:lnTo>
                  <a:pt x="105156" y="34290"/>
                </a:lnTo>
                <a:lnTo>
                  <a:pt x="61925" y="93141"/>
                </a:lnTo>
                <a:lnTo>
                  <a:pt x="56388" y="132588"/>
                </a:lnTo>
                <a:lnTo>
                  <a:pt x="60375" y="158711"/>
                </a:lnTo>
                <a:lnTo>
                  <a:pt x="73342" y="182689"/>
                </a:lnTo>
                <a:lnTo>
                  <a:pt x="96901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487" y="330504"/>
                </a:lnTo>
                <a:lnTo>
                  <a:pt x="226885" y="345376"/>
                </a:lnTo>
                <a:lnTo>
                  <a:pt x="206146" y="354838"/>
                </a:lnTo>
                <a:lnTo>
                  <a:pt x="179844" y="358140"/>
                </a:lnTo>
                <a:lnTo>
                  <a:pt x="158813" y="353402"/>
                </a:lnTo>
                <a:lnTo>
                  <a:pt x="140779" y="340804"/>
                </a:lnTo>
                <a:lnTo>
                  <a:pt x="128193" y="322783"/>
                </a:lnTo>
                <a:lnTo>
                  <a:pt x="123444" y="301752"/>
                </a:lnTo>
                <a:lnTo>
                  <a:pt x="123444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41400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38" y="330504"/>
                </a:lnTo>
                <a:lnTo>
                  <a:pt x="486918" y="345376"/>
                </a:lnTo>
                <a:lnTo>
                  <a:pt x="469252" y="354838"/>
                </a:lnTo>
                <a:lnTo>
                  <a:pt x="445008" y="358140"/>
                </a:lnTo>
                <a:lnTo>
                  <a:pt x="419887" y="353402"/>
                </a:lnTo>
                <a:lnTo>
                  <a:pt x="401764" y="340804"/>
                </a:lnTo>
                <a:lnTo>
                  <a:pt x="390791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618172" y="233362"/>
                </a:lnTo>
                <a:lnTo>
                  <a:pt x="597344" y="213817"/>
                </a:lnTo>
                <a:lnTo>
                  <a:pt x="492252" y="160020"/>
                </a:lnTo>
                <a:lnTo>
                  <a:pt x="472655" y="151434"/>
                </a:lnTo>
                <a:lnTo>
                  <a:pt x="457771" y="139255"/>
                </a:lnTo>
                <a:lnTo>
                  <a:pt x="448322" y="123380"/>
                </a:lnTo>
                <a:lnTo>
                  <a:pt x="445008" y="103632"/>
                </a:lnTo>
                <a:lnTo>
                  <a:pt x="448322" y="89966"/>
                </a:lnTo>
                <a:lnTo>
                  <a:pt x="457771" y="77724"/>
                </a:lnTo>
                <a:lnTo>
                  <a:pt x="472655" y="68922"/>
                </a:lnTo>
                <a:lnTo>
                  <a:pt x="492252" y="65532"/>
                </a:lnTo>
                <a:lnTo>
                  <a:pt x="516496" y="69062"/>
                </a:lnTo>
                <a:lnTo>
                  <a:pt x="534162" y="78867"/>
                </a:lnTo>
                <a:lnTo>
                  <a:pt x="544982" y="93827"/>
                </a:lnTo>
                <a:lnTo>
                  <a:pt x="548640" y="112776"/>
                </a:lnTo>
                <a:lnTo>
                  <a:pt x="539559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41400" h="425450">
                <a:moveTo>
                  <a:pt x="1040904" y="103632"/>
                </a:moveTo>
                <a:lnTo>
                  <a:pt x="1032256" y="59804"/>
                </a:lnTo>
                <a:lnTo>
                  <a:pt x="1008329" y="27241"/>
                </a:lnTo>
                <a:lnTo>
                  <a:pt x="972108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88" y="48221"/>
                </a:lnTo>
                <a:lnTo>
                  <a:pt x="755916" y="85344"/>
                </a:lnTo>
                <a:lnTo>
                  <a:pt x="775728" y="9144"/>
                </a:lnTo>
                <a:lnTo>
                  <a:pt x="633996" y="9144"/>
                </a:lnTo>
                <a:lnTo>
                  <a:pt x="633996" y="18288"/>
                </a:lnTo>
                <a:lnTo>
                  <a:pt x="656805" y="34632"/>
                </a:lnTo>
                <a:lnTo>
                  <a:pt x="671334" y="54102"/>
                </a:lnTo>
                <a:lnTo>
                  <a:pt x="678992" y="77012"/>
                </a:lnTo>
                <a:lnTo>
                  <a:pt x="681240" y="103632"/>
                </a:lnTo>
                <a:lnTo>
                  <a:pt x="681240" y="132588"/>
                </a:lnTo>
                <a:lnTo>
                  <a:pt x="605040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25" y="160210"/>
                </a:lnTo>
                <a:lnTo>
                  <a:pt x="593458" y="174383"/>
                </a:lnTo>
                <a:lnTo>
                  <a:pt x="586752" y="188976"/>
                </a:lnTo>
                <a:lnTo>
                  <a:pt x="610984" y="209956"/>
                </a:lnTo>
                <a:lnTo>
                  <a:pt x="628662" y="232219"/>
                </a:lnTo>
                <a:lnTo>
                  <a:pt x="639470" y="256489"/>
                </a:lnTo>
                <a:lnTo>
                  <a:pt x="643140" y="283464"/>
                </a:lnTo>
                <a:lnTo>
                  <a:pt x="639470" y="317169"/>
                </a:lnTo>
                <a:lnTo>
                  <a:pt x="628662" y="347281"/>
                </a:lnTo>
                <a:lnTo>
                  <a:pt x="610984" y="373697"/>
                </a:lnTo>
                <a:lnTo>
                  <a:pt x="586752" y="396240"/>
                </a:lnTo>
                <a:lnTo>
                  <a:pt x="576084" y="405384"/>
                </a:lnTo>
                <a:lnTo>
                  <a:pt x="670572" y="405384"/>
                </a:lnTo>
                <a:lnTo>
                  <a:pt x="728484" y="198120"/>
                </a:lnTo>
                <a:lnTo>
                  <a:pt x="744601" y="156718"/>
                </a:lnTo>
                <a:lnTo>
                  <a:pt x="767156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3828" y="387096"/>
                </a:lnTo>
                <a:lnTo>
                  <a:pt x="813828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6396" y="133210"/>
                </a:lnTo>
                <a:lnTo>
                  <a:pt x="1039571" y="122682"/>
                </a:lnTo>
                <a:lnTo>
                  <a:pt x="1040726" y="112166"/>
                </a:lnTo>
                <a:lnTo>
                  <a:pt x="1040904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545</Words>
  <Application>Microsoft Office PowerPoint</Application>
  <PresentationFormat>Custom</PresentationFormat>
  <Paragraphs>181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Cambria Math</vt:lpstr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Objectives</vt:lpstr>
      <vt:lpstr>What is an Acoustic Sensor?</vt:lpstr>
      <vt:lpstr>Key Differences</vt:lpstr>
      <vt:lpstr>The Physics of Sound</vt:lpstr>
      <vt:lpstr>How They Work?</vt:lpstr>
      <vt:lpstr>How They Work?</vt:lpstr>
      <vt:lpstr>Why your phone has 3+ tiny acoustic sensors?</vt:lpstr>
      <vt:lpstr>Types of Acoustic Sensors</vt:lpstr>
      <vt:lpstr>Key Applications</vt:lpstr>
      <vt:lpstr>Introduction to Acoustic Wave Sensors</vt:lpstr>
      <vt:lpstr>Key Advantages of Acoustic Sensors</vt:lpstr>
      <vt:lpstr>The Physics of Piezoelectricity</vt:lpstr>
      <vt:lpstr>Common Substrate Materials</vt:lpstr>
      <vt:lpstr>Fabrication Process</vt:lpstr>
      <vt:lpstr>The Interdigital Transducer (IDT)</vt:lpstr>
      <vt:lpstr>Classification of Propagation Modes</vt:lpstr>
      <vt:lpstr>Transverse and Shear Wave Motion</vt:lpstr>
      <vt:lpstr>Types of Acoustic Wave Sensors</vt:lpstr>
      <vt:lpstr>Fluid Operation Challenges</vt:lpstr>
      <vt:lpstr>Comparative Analysis of Acoustic Wave Sensors</vt:lpstr>
      <vt:lpstr>Overview of Acoustic Wave Devices</vt:lpstr>
      <vt:lpstr>Conclusion and Emerging Trends</vt:lpstr>
      <vt:lpstr>Test your understanding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Acoustic Wave Sensors</dc:title>
  <dc:creator>Karthie Alias Ayyadurai</dc:creator>
  <cp:lastModifiedBy>Microsoft account</cp:lastModifiedBy>
  <cp:revision>1</cp:revision>
  <dcterms:created xsi:type="dcterms:W3CDTF">2026-07-01T10:28:45Z</dcterms:created>
  <dcterms:modified xsi:type="dcterms:W3CDTF">2026-07-01T10:29:48Z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2026-02-05T00:00:00Z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