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3" r:id="rId28"/>
    <p:sldId id="284" r:id="rId29"/>
    <p:sldId id="285" r:id="rId30"/>
    <p:sldId id="286" r:id="rId31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1548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9811" y="7368540"/>
            <a:ext cx="8057515" cy="264160"/>
          </a:xfrm>
          <a:custGeom>
            <a:avLst/>
            <a:gdLst/>
            <a:ahLst/>
            <a:cxnLst/>
            <a:rect l="l" t="t" r="r" b="b"/>
            <a:pathLst>
              <a:path w="8057515" h="264159">
                <a:moveTo>
                  <a:pt x="8057388" y="263651"/>
                </a:moveTo>
                <a:lnTo>
                  <a:pt x="0" y="263651"/>
                </a:lnTo>
                <a:lnTo>
                  <a:pt x="0" y="0"/>
                </a:lnTo>
                <a:lnTo>
                  <a:pt x="7906512" y="0"/>
                </a:lnTo>
                <a:lnTo>
                  <a:pt x="8057388" y="263651"/>
                </a:lnTo>
                <a:close/>
              </a:path>
            </a:pathLst>
          </a:custGeom>
          <a:solidFill>
            <a:srgbClr val="87BC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9812" y="7424928"/>
            <a:ext cx="8139430" cy="233679"/>
          </a:xfrm>
          <a:custGeom>
            <a:avLst/>
            <a:gdLst/>
            <a:ahLst/>
            <a:cxnLst/>
            <a:rect l="l" t="t" r="r" b="b"/>
            <a:pathLst>
              <a:path w="8139430" h="233679">
                <a:moveTo>
                  <a:pt x="8139228" y="233172"/>
                </a:moveTo>
                <a:lnTo>
                  <a:pt x="0" y="233172"/>
                </a:lnTo>
                <a:lnTo>
                  <a:pt x="0" y="0"/>
                </a:lnTo>
                <a:lnTo>
                  <a:pt x="8001000" y="0"/>
                </a:lnTo>
                <a:lnTo>
                  <a:pt x="8139228" y="233172"/>
                </a:lnTo>
                <a:close/>
              </a:path>
            </a:pathLst>
          </a:custGeom>
          <a:solidFill>
            <a:srgbClr val="004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616683" y="7094219"/>
            <a:ext cx="1039494" cy="425450"/>
          </a:xfrm>
          <a:custGeom>
            <a:avLst/>
            <a:gdLst/>
            <a:ahLst/>
            <a:cxnLst/>
            <a:rect l="l" t="t" r="r" b="b"/>
            <a:pathLst>
              <a:path w="1039495" h="425450">
                <a:moveTo>
                  <a:pt x="406920" y="103632"/>
                </a:moveTo>
                <a:lnTo>
                  <a:pt x="398614" y="65532"/>
                </a:lnTo>
                <a:lnTo>
                  <a:pt x="397433" y="60083"/>
                </a:lnTo>
                <a:lnTo>
                  <a:pt x="371995" y="30289"/>
                </a:lnTo>
                <a:lnTo>
                  <a:pt x="335153" y="11899"/>
                </a:lnTo>
                <a:lnTo>
                  <a:pt x="291426" y="2590"/>
                </a:lnTo>
                <a:lnTo>
                  <a:pt x="245376" y="0"/>
                </a:lnTo>
                <a:lnTo>
                  <a:pt x="188506" y="3898"/>
                </a:lnTo>
                <a:lnTo>
                  <a:pt x="141516" y="15417"/>
                </a:lnTo>
                <a:lnTo>
                  <a:pt x="104597" y="34290"/>
                </a:lnTo>
                <a:lnTo>
                  <a:pt x="61823" y="93141"/>
                </a:lnTo>
                <a:lnTo>
                  <a:pt x="56400" y="132588"/>
                </a:lnTo>
                <a:lnTo>
                  <a:pt x="60159" y="158711"/>
                </a:lnTo>
                <a:lnTo>
                  <a:pt x="72783" y="182702"/>
                </a:lnTo>
                <a:lnTo>
                  <a:pt x="96253" y="205244"/>
                </a:lnTo>
                <a:lnTo>
                  <a:pt x="132600" y="227088"/>
                </a:lnTo>
                <a:lnTo>
                  <a:pt x="207276" y="263664"/>
                </a:lnTo>
                <a:lnTo>
                  <a:pt x="221576" y="271678"/>
                </a:lnTo>
                <a:lnTo>
                  <a:pt x="233756" y="281000"/>
                </a:lnTo>
                <a:lnTo>
                  <a:pt x="242201" y="293446"/>
                </a:lnTo>
                <a:lnTo>
                  <a:pt x="245376" y="310908"/>
                </a:lnTo>
                <a:lnTo>
                  <a:pt x="240271" y="330504"/>
                </a:lnTo>
                <a:lnTo>
                  <a:pt x="226326" y="345389"/>
                </a:lnTo>
                <a:lnTo>
                  <a:pt x="205511" y="354838"/>
                </a:lnTo>
                <a:lnTo>
                  <a:pt x="179844" y="358152"/>
                </a:lnTo>
                <a:lnTo>
                  <a:pt x="158572" y="353402"/>
                </a:lnTo>
                <a:lnTo>
                  <a:pt x="140030" y="340817"/>
                </a:lnTo>
                <a:lnTo>
                  <a:pt x="126898" y="322783"/>
                </a:lnTo>
                <a:lnTo>
                  <a:pt x="121932" y="301764"/>
                </a:lnTo>
                <a:lnTo>
                  <a:pt x="121932" y="292620"/>
                </a:lnTo>
                <a:lnTo>
                  <a:pt x="0" y="292620"/>
                </a:lnTo>
                <a:lnTo>
                  <a:pt x="0" y="310908"/>
                </a:lnTo>
                <a:lnTo>
                  <a:pt x="1892" y="337743"/>
                </a:lnTo>
                <a:lnTo>
                  <a:pt x="19939" y="380555"/>
                </a:lnTo>
                <a:lnTo>
                  <a:pt x="62395" y="409130"/>
                </a:lnTo>
                <a:lnTo>
                  <a:pt x="133261" y="423468"/>
                </a:lnTo>
                <a:lnTo>
                  <a:pt x="179844" y="425208"/>
                </a:lnTo>
                <a:lnTo>
                  <a:pt x="236842" y="420636"/>
                </a:lnTo>
                <a:lnTo>
                  <a:pt x="285394" y="407428"/>
                </a:lnTo>
                <a:lnTo>
                  <a:pt x="324624" y="386346"/>
                </a:lnTo>
                <a:lnTo>
                  <a:pt x="353682" y="358152"/>
                </a:lnTo>
                <a:lnTo>
                  <a:pt x="371754" y="323608"/>
                </a:lnTo>
                <a:lnTo>
                  <a:pt x="371881" y="322783"/>
                </a:lnTo>
                <a:lnTo>
                  <a:pt x="377964" y="283476"/>
                </a:lnTo>
                <a:lnTo>
                  <a:pt x="372694" y="256628"/>
                </a:lnTo>
                <a:lnTo>
                  <a:pt x="357581" y="233375"/>
                </a:lnTo>
                <a:lnTo>
                  <a:pt x="333590" y="213817"/>
                </a:lnTo>
                <a:lnTo>
                  <a:pt x="301764" y="198132"/>
                </a:lnTo>
                <a:lnTo>
                  <a:pt x="227088" y="160032"/>
                </a:lnTo>
                <a:lnTo>
                  <a:pt x="207479" y="151434"/>
                </a:lnTo>
                <a:lnTo>
                  <a:pt x="192608" y="139268"/>
                </a:lnTo>
                <a:lnTo>
                  <a:pt x="183146" y="123380"/>
                </a:lnTo>
                <a:lnTo>
                  <a:pt x="179844" y="103632"/>
                </a:lnTo>
                <a:lnTo>
                  <a:pt x="184581" y="89966"/>
                </a:lnTo>
                <a:lnTo>
                  <a:pt x="197180" y="77724"/>
                </a:lnTo>
                <a:lnTo>
                  <a:pt x="215201" y="68922"/>
                </a:lnTo>
                <a:lnTo>
                  <a:pt x="236232" y="65532"/>
                </a:lnTo>
                <a:lnTo>
                  <a:pt x="255828" y="69062"/>
                </a:lnTo>
                <a:lnTo>
                  <a:pt x="270713" y="78867"/>
                </a:lnTo>
                <a:lnTo>
                  <a:pt x="280162" y="93827"/>
                </a:lnTo>
                <a:lnTo>
                  <a:pt x="283476" y="112776"/>
                </a:lnTo>
                <a:lnTo>
                  <a:pt x="283476" y="123380"/>
                </a:lnTo>
                <a:lnTo>
                  <a:pt x="406920" y="123380"/>
                </a:lnTo>
                <a:lnTo>
                  <a:pt x="406920" y="103632"/>
                </a:lnTo>
                <a:close/>
              </a:path>
              <a:path w="1039495" h="425450">
                <a:moveTo>
                  <a:pt x="670572" y="103644"/>
                </a:moveTo>
                <a:lnTo>
                  <a:pt x="661504" y="65544"/>
                </a:lnTo>
                <a:lnTo>
                  <a:pt x="660209" y="60083"/>
                </a:lnTo>
                <a:lnTo>
                  <a:pt x="633107" y="30289"/>
                </a:lnTo>
                <a:lnTo>
                  <a:pt x="595185" y="11899"/>
                </a:lnTo>
                <a:lnTo>
                  <a:pt x="552348" y="2590"/>
                </a:lnTo>
                <a:lnTo>
                  <a:pt x="510552" y="0"/>
                </a:lnTo>
                <a:lnTo>
                  <a:pt x="471538" y="1574"/>
                </a:lnTo>
                <a:lnTo>
                  <a:pt x="438531" y="5727"/>
                </a:lnTo>
                <a:lnTo>
                  <a:pt x="410679" y="11582"/>
                </a:lnTo>
                <a:lnTo>
                  <a:pt x="387096" y="18300"/>
                </a:lnTo>
                <a:lnTo>
                  <a:pt x="401408" y="34632"/>
                </a:lnTo>
                <a:lnTo>
                  <a:pt x="413575" y="54114"/>
                </a:lnTo>
                <a:lnTo>
                  <a:pt x="422033" y="77012"/>
                </a:lnTo>
                <a:lnTo>
                  <a:pt x="422122" y="77736"/>
                </a:lnTo>
                <a:lnTo>
                  <a:pt x="425196" y="103644"/>
                </a:lnTo>
                <a:lnTo>
                  <a:pt x="425196" y="112788"/>
                </a:lnTo>
                <a:lnTo>
                  <a:pt x="416115" y="123380"/>
                </a:lnTo>
                <a:lnTo>
                  <a:pt x="416052" y="132600"/>
                </a:lnTo>
                <a:lnTo>
                  <a:pt x="312420" y="132600"/>
                </a:lnTo>
                <a:lnTo>
                  <a:pt x="317449" y="158711"/>
                </a:lnTo>
                <a:lnTo>
                  <a:pt x="332041" y="182702"/>
                </a:lnTo>
                <a:lnTo>
                  <a:pt x="355498" y="205244"/>
                </a:lnTo>
                <a:lnTo>
                  <a:pt x="387096" y="227088"/>
                </a:lnTo>
                <a:lnTo>
                  <a:pt x="463296" y="263664"/>
                </a:lnTo>
                <a:lnTo>
                  <a:pt x="476973" y="271678"/>
                </a:lnTo>
                <a:lnTo>
                  <a:pt x="489204" y="281000"/>
                </a:lnTo>
                <a:lnTo>
                  <a:pt x="498017" y="293446"/>
                </a:lnTo>
                <a:lnTo>
                  <a:pt x="501396" y="310908"/>
                </a:lnTo>
                <a:lnTo>
                  <a:pt x="497713" y="330504"/>
                </a:lnTo>
                <a:lnTo>
                  <a:pt x="486727" y="345389"/>
                </a:lnTo>
                <a:lnTo>
                  <a:pt x="468617" y="354838"/>
                </a:lnTo>
                <a:lnTo>
                  <a:pt x="443484" y="358152"/>
                </a:lnTo>
                <a:lnTo>
                  <a:pt x="419252" y="353402"/>
                </a:lnTo>
                <a:lnTo>
                  <a:pt x="401574" y="340817"/>
                </a:lnTo>
                <a:lnTo>
                  <a:pt x="390766" y="322783"/>
                </a:lnTo>
                <a:lnTo>
                  <a:pt x="387096" y="301764"/>
                </a:lnTo>
                <a:lnTo>
                  <a:pt x="387096" y="292620"/>
                </a:lnTo>
                <a:lnTo>
                  <a:pt x="382358" y="321017"/>
                </a:lnTo>
                <a:lnTo>
                  <a:pt x="369760" y="348437"/>
                </a:lnTo>
                <a:lnTo>
                  <a:pt x="351739" y="373837"/>
                </a:lnTo>
                <a:lnTo>
                  <a:pt x="330708" y="396252"/>
                </a:lnTo>
                <a:lnTo>
                  <a:pt x="321564" y="396252"/>
                </a:lnTo>
                <a:lnTo>
                  <a:pt x="312420" y="405396"/>
                </a:lnTo>
                <a:lnTo>
                  <a:pt x="336410" y="412991"/>
                </a:lnTo>
                <a:lnTo>
                  <a:pt x="365950" y="419303"/>
                </a:lnTo>
                <a:lnTo>
                  <a:pt x="399224" y="423608"/>
                </a:lnTo>
                <a:lnTo>
                  <a:pt x="434340" y="425208"/>
                </a:lnTo>
                <a:lnTo>
                  <a:pt x="491998" y="420636"/>
                </a:lnTo>
                <a:lnTo>
                  <a:pt x="540969" y="407428"/>
                </a:lnTo>
                <a:lnTo>
                  <a:pt x="580466" y="386346"/>
                </a:lnTo>
                <a:lnTo>
                  <a:pt x="609663" y="358152"/>
                </a:lnTo>
                <a:lnTo>
                  <a:pt x="627773" y="323608"/>
                </a:lnTo>
                <a:lnTo>
                  <a:pt x="627900" y="322783"/>
                </a:lnTo>
                <a:lnTo>
                  <a:pt x="633996" y="283476"/>
                </a:lnTo>
                <a:lnTo>
                  <a:pt x="618185" y="233375"/>
                </a:lnTo>
                <a:lnTo>
                  <a:pt x="566940" y="198132"/>
                </a:lnTo>
                <a:lnTo>
                  <a:pt x="490728" y="160032"/>
                </a:lnTo>
                <a:lnTo>
                  <a:pt x="471779" y="151434"/>
                </a:lnTo>
                <a:lnTo>
                  <a:pt x="456819" y="139268"/>
                </a:lnTo>
                <a:lnTo>
                  <a:pt x="447014" y="123380"/>
                </a:lnTo>
                <a:lnTo>
                  <a:pt x="443484" y="103644"/>
                </a:lnTo>
                <a:lnTo>
                  <a:pt x="447014" y="89966"/>
                </a:lnTo>
                <a:lnTo>
                  <a:pt x="456819" y="77736"/>
                </a:lnTo>
                <a:lnTo>
                  <a:pt x="471779" y="68922"/>
                </a:lnTo>
                <a:lnTo>
                  <a:pt x="490728" y="65544"/>
                </a:lnTo>
                <a:lnTo>
                  <a:pt x="515861" y="69062"/>
                </a:lnTo>
                <a:lnTo>
                  <a:pt x="533984" y="78879"/>
                </a:lnTo>
                <a:lnTo>
                  <a:pt x="544957" y="93827"/>
                </a:lnTo>
                <a:lnTo>
                  <a:pt x="548652" y="112788"/>
                </a:lnTo>
                <a:lnTo>
                  <a:pt x="538048" y="123380"/>
                </a:lnTo>
                <a:lnTo>
                  <a:pt x="670572" y="123380"/>
                </a:lnTo>
                <a:lnTo>
                  <a:pt x="670572" y="103644"/>
                </a:lnTo>
                <a:close/>
              </a:path>
              <a:path w="1039495" h="425450">
                <a:moveTo>
                  <a:pt x="1039380" y="103632"/>
                </a:moveTo>
                <a:lnTo>
                  <a:pt x="1030973" y="59804"/>
                </a:lnTo>
                <a:lnTo>
                  <a:pt x="1007567" y="27241"/>
                </a:lnTo>
                <a:lnTo>
                  <a:pt x="971867" y="6985"/>
                </a:lnTo>
                <a:lnTo>
                  <a:pt x="926604" y="0"/>
                </a:lnTo>
                <a:lnTo>
                  <a:pt x="882789" y="5410"/>
                </a:lnTo>
                <a:lnTo>
                  <a:pt x="837831" y="21526"/>
                </a:lnTo>
                <a:lnTo>
                  <a:pt x="794575" y="48221"/>
                </a:lnTo>
                <a:lnTo>
                  <a:pt x="755904" y="85344"/>
                </a:lnTo>
                <a:lnTo>
                  <a:pt x="775716" y="9144"/>
                </a:lnTo>
                <a:lnTo>
                  <a:pt x="633984" y="9144"/>
                </a:lnTo>
                <a:lnTo>
                  <a:pt x="633984" y="18288"/>
                </a:lnTo>
                <a:lnTo>
                  <a:pt x="656805" y="34632"/>
                </a:lnTo>
                <a:lnTo>
                  <a:pt x="671322" y="54102"/>
                </a:lnTo>
                <a:lnTo>
                  <a:pt x="678992" y="77012"/>
                </a:lnTo>
                <a:lnTo>
                  <a:pt x="681228" y="103632"/>
                </a:lnTo>
                <a:lnTo>
                  <a:pt x="681228" y="132588"/>
                </a:lnTo>
                <a:lnTo>
                  <a:pt x="605028" y="132588"/>
                </a:lnTo>
                <a:lnTo>
                  <a:pt x="604964" y="133210"/>
                </a:lnTo>
                <a:lnTo>
                  <a:pt x="603465" y="146329"/>
                </a:lnTo>
                <a:lnTo>
                  <a:pt x="599313" y="160210"/>
                </a:lnTo>
                <a:lnTo>
                  <a:pt x="593458" y="174383"/>
                </a:lnTo>
                <a:lnTo>
                  <a:pt x="586740" y="188976"/>
                </a:lnTo>
                <a:lnTo>
                  <a:pt x="610984" y="209956"/>
                </a:lnTo>
                <a:lnTo>
                  <a:pt x="628650" y="232219"/>
                </a:lnTo>
                <a:lnTo>
                  <a:pt x="639470" y="256489"/>
                </a:lnTo>
                <a:lnTo>
                  <a:pt x="643128" y="283464"/>
                </a:lnTo>
                <a:lnTo>
                  <a:pt x="639470" y="317169"/>
                </a:lnTo>
                <a:lnTo>
                  <a:pt x="628650" y="347281"/>
                </a:lnTo>
                <a:lnTo>
                  <a:pt x="610984" y="373697"/>
                </a:lnTo>
                <a:lnTo>
                  <a:pt x="586740" y="396240"/>
                </a:lnTo>
                <a:lnTo>
                  <a:pt x="576072" y="405384"/>
                </a:lnTo>
                <a:lnTo>
                  <a:pt x="670560" y="405384"/>
                </a:lnTo>
                <a:lnTo>
                  <a:pt x="728472" y="198120"/>
                </a:lnTo>
                <a:lnTo>
                  <a:pt x="744601" y="156718"/>
                </a:lnTo>
                <a:lnTo>
                  <a:pt x="767143" y="120586"/>
                </a:lnTo>
                <a:lnTo>
                  <a:pt x="798563" y="95046"/>
                </a:lnTo>
                <a:lnTo>
                  <a:pt x="841260" y="85344"/>
                </a:lnTo>
                <a:lnTo>
                  <a:pt x="860856" y="87236"/>
                </a:lnTo>
                <a:lnTo>
                  <a:pt x="875741" y="93535"/>
                </a:lnTo>
                <a:lnTo>
                  <a:pt x="885190" y="105283"/>
                </a:lnTo>
                <a:lnTo>
                  <a:pt x="888504" y="123444"/>
                </a:lnTo>
                <a:lnTo>
                  <a:pt x="888352" y="131876"/>
                </a:lnTo>
                <a:lnTo>
                  <a:pt x="888238" y="133210"/>
                </a:lnTo>
                <a:lnTo>
                  <a:pt x="887361" y="142875"/>
                </a:lnTo>
                <a:lnTo>
                  <a:pt x="884643" y="155600"/>
                </a:lnTo>
                <a:lnTo>
                  <a:pt x="879360" y="169164"/>
                </a:lnTo>
                <a:lnTo>
                  <a:pt x="822972" y="358140"/>
                </a:lnTo>
                <a:lnTo>
                  <a:pt x="812292" y="387096"/>
                </a:lnTo>
                <a:lnTo>
                  <a:pt x="812292" y="405384"/>
                </a:lnTo>
                <a:lnTo>
                  <a:pt x="955560" y="405384"/>
                </a:lnTo>
                <a:lnTo>
                  <a:pt x="1021092" y="179832"/>
                </a:lnTo>
                <a:lnTo>
                  <a:pt x="1030236" y="141732"/>
                </a:lnTo>
                <a:lnTo>
                  <a:pt x="1035519" y="133210"/>
                </a:lnTo>
                <a:lnTo>
                  <a:pt x="1038237" y="122682"/>
                </a:lnTo>
                <a:lnTo>
                  <a:pt x="1039228" y="112166"/>
                </a:lnTo>
                <a:lnTo>
                  <a:pt x="1039342" y="105283"/>
                </a:lnTo>
                <a:lnTo>
                  <a:pt x="1039380" y="103632"/>
                </a:lnTo>
                <a:close/>
              </a:path>
            </a:pathLst>
          </a:custGeom>
          <a:solidFill>
            <a:srgbClr val="004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50823" y="426127"/>
            <a:ext cx="6956753" cy="629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4585" y="1726907"/>
            <a:ext cx="8709660" cy="3546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jp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21670"/>
            <a:ext cx="9505905" cy="113642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685119" y="3143539"/>
            <a:ext cx="6684645" cy="309499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4"/>
              </a:spcBef>
            </a:pPr>
            <a:r>
              <a:rPr sz="3500" b="1" dirty="0">
                <a:solidFill>
                  <a:srgbClr val="FF0000"/>
                </a:solidFill>
                <a:latin typeface="Verdana"/>
                <a:cs typeface="Verdana"/>
              </a:rPr>
              <a:t>Unit</a:t>
            </a:r>
            <a:r>
              <a:rPr sz="3500" b="1" spc="-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500" b="1" dirty="0">
                <a:solidFill>
                  <a:srgbClr val="FF0000"/>
                </a:solidFill>
                <a:latin typeface="Verdana"/>
                <a:cs typeface="Verdana"/>
              </a:rPr>
              <a:t>I:</a:t>
            </a:r>
            <a:r>
              <a:rPr sz="3500" b="1" spc="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500" b="1" dirty="0">
                <a:solidFill>
                  <a:srgbClr val="FF0000"/>
                </a:solidFill>
                <a:latin typeface="Verdana"/>
                <a:cs typeface="Verdana"/>
              </a:rPr>
              <a:t>Fibre</a:t>
            </a:r>
            <a:r>
              <a:rPr sz="3500" b="1" spc="1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500" b="1" dirty="0">
                <a:solidFill>
                  <a:srgbClr val="FF0000"/>
                </a:solidFill>
                <a:latin typeface="Verdana"/>
                <a:cs typeface="Verdana"/>
              </a:rPr>
              <a:t>Optic</a:t>
            </a:r>
            <a:r>
              <a:rPr sz="3500" b="1" spc="7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500" b="1" spc="-10" dirty="0">
                <a:solidFill>
                  <a:srgbClr val="FF0000"/>
                </a:solidFill>
                <a:latin typeface="Verdana"/>
                <a:cs typeface="Verdana"/>
              </a:rPr>
              <a:t>Sensors</a:t>
            </a:r>
            <a:endParaRPr sz="35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115"/>
              </a:spcBef>
            </a:pPr>
            <a:endParaRPr sz="3500" dirty="0">
              <a:latin typeface="Verdana"/>
              <a:cs typeface="Verdana"/>
            </a:endParaRPr>
          </a:p>
          <a:p>
            <a:pPr marL="2010410" marR="1998980" algn="ctr">
              <a:lnSpc>
                <a:spcPct val="121600"/>
              </a:lnSpc>
            </a:pP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Presentation</a:t>
            </a:r>
            <a:r>
              <a:rPr sz="2500" spc="12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spc="-25" dirty="0">
                <a:solidFill>
                  <a:srgbClr val="808080"/>
                </a:solidFill>
                <a:latin typeface="Verdana"/>
                <a:cs typeface="Verdana"/>
              </a:rPr>
              <a:t>by: </a:t>
            </a:r>
            <a:r>
              <a:rPr sz="2500" spc="-45" dirty="0">
                <a:solidFill>
                  <a:srgbClr val="808080"/>
                </a:solidFill>
                <a:latin typeface="Verdana"/>
                <a:cs typeface="Verdana"/>
              </a:rPr>
              <a:t>Dr.</a:t>
            </a:r>
            <a:r>
              <a:rPr sz="2500" spc="-8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lang="en-IN" sz="2500" spc="-85" dirty="0">
                <a:solidFill>
                  <a:srgbClr val="808080"/>
                </a:solidFill>
                <a:latin typeface="Verdana"/>
                <a:cs typeface="Verdana"/>
              </a:rPr>
              <a:t>C. Annadurai</a:t>
            </a:r>
            <a:endParaRPr sz="2500" dirty="0">
              <a:latin typeface="Verdana"/>
              <a:cs typeface="Verdana"/>
            </a:endParaRPr>
          </a:p>
          <a:p>
            <a:pPr marL="678180" marR="666115" algn="ctr">
              <a:lnSpc>
                <a:spcPts val="3650"/>
              </a:lnSpc>
              <a:spcBef>
                <a:spcPts val="90"/>
              </a:spcBef>
            </a:pP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Associate</a:t>
            </a:r>
            <a:r>
              <a:rPr sz="2500" spc="11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Professor/Dept.</a:t>
            </a:r>
            <a:r>
              <a:rPr sz="2500" spc="14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of</a:t>
            </a:r>
            <a:r>
              <a:rPr sz="2500" spc="9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spc="-25" dirty="0">
                <a:solidFill>
                  <a:srgbClr val="808080"/>
                </a:solidFill>
                <a:latin typeface="Verdana"/>
                <a:cs typeface="Verdana"/>
              </a:rPr>
              <a:t>ECE </a:t>
            </a: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SSN</a:t>
            </a:r>
            <a:r>
              <a:rPr sz="2500" spc="3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College</a:t>
            </a:r>
            <a:r>
              <a:rPr sz="2500" spc="7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of</a:t>
            </a:r>
            <a:r>
              <a:rPr sz="2500" spc="3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spc="-10" dirty="0">
                <a:solidFill>
                  <a:srgbClr val="808080"/>
                </a:solidFill>
                <a:latin typeface="Verdana"/>
                <a:cs typeface="Verdana"/>
              </a:rPr>
              <a:t>Engineering</a:t>
            </a:r>
            <a:endParaRPr sz="2500" dirty="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14300"/>
            <a:ext cx="10058400" cy="1927860"/>
          </a:xfrm>
          <a:custGeom>
            <a:avLst/>
            <a:gdLst/>
            <a:ahLst/>
            <a:cxnLst/>
            <a:rect l="l" t="t" r="r" b="b"/>
            <a:pathLst>
              <a:path w="10058400" h="1927860">
                <a:moveTo>
                  <a:pt x="10058400" y="1927860"/>
                </a:moveTo>
                <a:lnTo>
                  <a:pt x="0" y="192786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927860"/>
                </a:lnTo>
                <a:close/>
              </a:path>
            </a:pathLst>
          </a:custGeom>
          <a:solidFill>
            <a:srgbClr val="33529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37387" y="871727"/>
            <a:ext cx="9185275" cy="408940"/>
          </a:xfrm>
          <a:prstGeom prst="rect">
            <a:avLst/>
          </a:prstGeom>
          <a:solidFill>
            <a:srgbClr val="00FF00"/>
          </a:solidFill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2650" dirty="0">
                <a:solidFill>
                  <a:srgbClr val="FF0000"/>
                </a:solidFill>
              </a:rPr>
              <a:t>UEC</a:t>
            </a:r>
            <a:r>
              <a:rPr lang="en-IN" sz="2650" dirty="0">
                <a:solidFill>
                  <a:srgbClr val="FF0000"/>
                </a:solidFill>
              </a:rPr>
              <a:t>3942</a:t>
            </a:r>
            <a:r>
              <a:rPr sz="2650" dirty="0">
                <a:solidFill>
                  <a:srgbClr val="FF0000"/>
                </a:solidFill>
              </a:rPr>
              <a:t>:</a:t>
            </a:r>
            <a:r>
              <a:rPr sz="2650" spc="-75" dirty="0">
                <a:solidFill>
                  <a:srgbClr val="FF0000"/>
                </a:solidFill>
              </a:rPr>
              <a:t> </a:t>
            </a:r>
            <a:r>
              <a:rPr sz="2650" dirty="0">
                <a:solidFill>
                  <a:srgbClr val="FF0000"/>
                </a:solidFill>
              </a:rPr>
              <a:t>Introduction</a:t>
            </a:r>
            <a:r>
              <a:rPr sz="2650" spc="-135" dirty="0">
                <a:solidFill>
                  <a:srgbClr val="FF0000"/>
                </a:solidFill>
              </a:rPr>
              <a:t> </a:t>
            </a:r>
            <a:r>
              <a:rPr sz="2650" dirty="0">
                <a:solidFill>
                  <a:srgbClr val="FF0000"/>
                </a:solidFill>
              </a:rPr>
              <a:t>to</a:t>
            </a:r>
            <a:r>
              <a:rPr sz="2650" spc="-125" dirty="0">
                <a:solidFill>
                  <a:srgbClr val="FF0000"/>
                </a:solidFill>
              </a:rPr>
              <a:t> </a:t>
            </a:r>
            <a:r>
              <a:rPr sz="2650" dirty="0">
                <a:solidFill>
                  <a:srgbClr val="FF0000"/>
                </a:solidFill>
              </a:rPr>
              <a:t>Sensors</a:t>
            </a:r>
            <a:r>
              <a:rPr sz="2650" spc="-120" dirty="0">
                <a:solidFill>
                  <a:srgbClr val="FF0000"/>
                </a:solidFill>
              </a:rPr>
              <a:t> </a:t>
            </a:r>
            <a:r>
              <a:rPr sz="2650" dirty="0">
                <a:solidFill>
                  <a:srgbClr val="FF0000"/>
                </a:solidFill>
              </a:rPr>
              <a:t>and</a:t>
            </a:r>
            <a:r>
              <a:rPr sz="2650" spc="-130" dirty="0">
                <a:solidFill>
                  <a:srgbClr val="FF0000"/>
                </a:solidFill>
              </a:rPr>
              <a:t> </a:t>
            </a:r>
            <a:r>
              <a:rPr sz="2650" spc="-10" dirty="0">
                <a:solidFill>
                  <a:srgbClr val="FF0000"/>
                </a:solidFill>
              </a:rPr>
              <a:t>Actuators</a:t>
            </a:r>
            <a:endParaRPr sz="2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47832" y="400909"/>
            <a:ext cx="2964180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Overview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0836" y="1675296"/>
            <a:ext cx="171640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  <a:tabLst>
                <a:tab pos="522605" algn="l"/>
                <a:tab pos="1186180" algn="l"/>
              </a:tabLst>
            </a:pPr>
            <a:r>
              <a:rPr sz="2200" spc="-25" dirty="0">
                <a:latin typeface="Verdana"/>
                <a:cs typeface="Verdana"/>
              </a:rPr>
              <a:t>At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end </a:t>
            </a:r>
            <a:r>
              <a:rPr sz="2200" spc="-10" dirty="0">
                <a:latin typeface="Verdana"/>
                <a:cs typeface="Verdana"/>
              </a:rPr>
              <a:t>understand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92870" y="1675296"/>
            <a:ext cx="559943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925" marR="5080" indent="-22860">
              <a:lnSpc>
                <a:spcPct val="150000"/>
              </a:lnSpc>
              <a:spcBef>
                <a:spcPts val="100"/>
              </a:spcBef>
              <a:tabLst>
                <a:tab pos="492125" algn="l"/>
                <a:tab pos="826769" algn="l"/>
                <a:tab pos="1158875" algn="l"/>
                <a:tab pos="2279650" algn="l"/>
                <a:tab pos="2497455" algn="l"/>
                <a:tab pos="3158490" algn="l"/>
                <a:tab pos="4572000" algn="l"/>
                <a:tab pos="5247005" algn="l"/>
              </a:tabLst>
            </a:pPr>
            <a:r>
              <a:rPr sz="2200" spc="-25" dirty="0">
                <a:latin typeface="Verdana"/>
                <a:cs typeface="Verdana"/>
              </a:rPr>
              <a:t>of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session,</a:t>
            </a:r>
            <a:r>
              <a:rPr sz="2200" dirty="0">
                <a:latin typeface="Verdana"/>
                <a:cs typeface="Verdana"/>
              </a:rPr>
              <a:t>		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students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will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35" dirty="0">
                <a:latin typeface="Verdana"/>
                <a:cs typeface="Verdana"/>
              </a:rPr>
              <a:t>be 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	</a:t>
            </a:r>
            <a:r>
              <a:rPr sz="2200" spc="-10" dirty="0">
                <a:latin typeface="Verdana"/>
                <a:cs typeface="Verdana"/>
              </a:rPr>
              <a:t>working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principle,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79848" y="1843529"/>
            <a:ext cx="11010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10260" algn="l"/>
              </a:tabLst>
            </a:pPr>
            <a:r>
              <a:rPr sz="2200" spc="-20" dirty="0">
                <a:latin typeface="Verdana"/>
                <a:cs typeface="Verdana"/>
              </a:rPr>
              <a:t>able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to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88970" y="2346430"/>
            <a:ext cx="299402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461260" algn="l"/>
              </a:tabLst>
            </a:pPr>
            <a:r>
              <a:rPr sz="2200" spc="-10" dirty="0">
                <a:latin typeface="Verdana"/>
                <a:cs typeface="Verdana"/>
              </a:rPr>
              <a:t>characteristics,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and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0836" y="2849332"/>
            <a:ext cx="48209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Verdana"/>
                <a:cs typeface="Verdana"/>
              </a:rPr>
              <a:t>applications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fibre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optic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sensors.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280892" y="426127"/>
            <a:ext cx="549402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Learning</a:t>
            </a:r>
            <a:r>
              <a:rPr spc="-40" dirty="0"/>
              <a:t> </a:t>
            </a:r>
            <a:r>
              <a:rPr spc="-10" dirty="0"/>
              <a:t>Outcomes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55488" y="124572"/>
            <a:ext cx="6948170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3210" marR="5080" indent="-1541145">
              <a:lnSpc>
                <a:spcPct val="100200"/>
              </a:lnSpc>
              <a:spcBef>
                <a:spcPts val="100"/>
              </a:spcBef>
            </a:pPr>
            <a:r>
              <a:rPr dirty="0"/>
              <a:t>Introduction</a:t>
            </a:r>
            <a:r>
              <a:rPr spc="-55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spc="-10" dirty="0"/>
              <a:t>Distance Measurement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80434" rIns="0" bIns="0" rtlCol="0">
            <a:spAutoFit/>
          </a:bodyPr>
          <a:lstStyle/>
          <a:p>
            <a:pPr marL="390525" indent="-377825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390525" algn="l"/>
              </a:tabLst>
            </a:pPr>
            <a:r>
              <a:rPr dirty="0"/>
              <a:t>Overview</a:t>
            </a:r>
            <a:r>
              <a:rPr spc="-80" dirty="0"/>
              <a:t> </a:t>
            </a:r>
            <a:r>
              <a:rPr dirty="0"/>
              <a:t>of</a:t>
            </a:r>
            <a:r>
              <a:rPr spc="-105" dirty="0"/>
              <a:t> </a:t>
            </a:r>
            <a:r>
              <a:rPr spc="-10" dirty="0"/>
              <a:t>non-</a:t>
            </a:r>
            <a:r>
              <a:rPr dirty="0"/>
              <a:t>contact</a:t>
            </a:r>
            <a:r>
              <a:rPr spc="-95" dirty="0"/>
              <a:t> </a:t>
            </a:r>
            <a:r>
              <a:rPr dirty="0"/>
              <a:t>measurement</a:t>
            </a:r>
            <a:r>
              <a:rPr spc="-90" dirty="0"/>
              <a:t> </a:t>
            </a:r>
            <a:r>
              <a:rPr spc="-10" dirty="0"/>
              <a:t>techniques.</a:t>
            </a:r>
          </a:p>
          <a:p>
            <a:pPr>
              <a:lnSpc>
                <a:spcPct val="100000"/>
              </a:lnSpc>
              <a:spcBef>
                <a:spcPts val="1285"/>
              </a:spcBef>
              <a:buFont typeface="Wingdings"/>
              <a:buChar char=""/>
            </a:pPr>
            <a:endParaRPr spc="-10" dirty="0"/>
          </a:p>
          <a:p>
            <a:pPr marL="390525" marR="5080" indent="-378460">
              <a:lnSpc>
                <a:spcPct val="150000"/>
              </a:lnSpc>
              <a:buFont typeface="Wingdings"/>
              <a:buChar char=""/>
              <a:tabLst>
                <a:tab pos="390525" algn="l"/>
                <a:tab pos="1070610" algn="l"/>
                <a:tab pos="2562860" algn="l"/>
                <a:tab pos="3385820" algn="l"/>
                <a:tab pos="4972685" algn="l"/>
                <a:tab pos="7172959" algn="l"/>
                <a:tab pos="7619365" algn="l"/>
              </a:tabLst>
            </a:pPr>
            <a:r>
              <a:rPr spc="-25" dirty="0"/>
              <a:t>The</a:t>
            </a:r>
            <a:r>
              <a:rPr dirty="0"/>
              <a:t>	</a:t>
            </a:r>
            <a:r>
              <a:rPr spc="-10" dirty="0"/>
              <a:t>transition</a:t>
            </a:r>
            <a:r>
              <a:rPr dirty="0"/>
              <a:t>	</a:t>
            </a:r>
            <a:r>
              <a:rPr spc="-20" dirty="0"/>
              <a:t>from</a:t>
            </a:r>
            <a:r>
              <a:rPr dirty="0"/>
              <a:t>	</a:t>
            </a:r>
            <a:r>
              <a:rPr spc="-10" dirty="0"/>
              <a:t>traditional</a:t>
            </a:r>
            <a:r>
              <a:rPr dirty="0"/>
              <a:t>	</a:t>
            </a:r>
            <a:r>
              <a:rPr spc="-10" dirty="0"/>
              <a:t>interferometry</a:t>
            </a:r>
            <a:r>
              <a:rPr dirty="0"/>
              <a:t>	</a:t>
            </a:r>
            <a:r>
              <a:rPr spc="-25" dirty="0"/>
              <a:t>to</a:t>
            </a:r>
            <a:r>
              <a:rPr dirty="0"/>
              <a:t>	</a:t>
            </a:r>
            <a:r>
              <a:rPr spc="-10" dirty="0"/>
              <a:t>modern </a:t>
            </a:r>
            <a:r>
              <a:rPr dirty="0"/>
              <a:t>fibre</a:t>
            </a:r>
            <a:r>
              <a:rPr spc="-65" dirty="0"/>
              <a:t> </a:t>
            </a:r>
            <a:r>
              <a:rPr dirty="0"/>
              <a:t>optic</a:t>
            </a:r>
            <a:r>
              <a:rPr spc="-35" dirty="0"/>
              <a:t> </a:t>
            </a:r>
            <a:r>
              <a:rPr spc="-10" dirty="0"/>
              <a:t>methods.</a:t>
            </a:r>
          </a:p>
          <a:p>
            <a:pPr>
              <a:lnSpc>
                <a:spcPct val="100000"/>
              </a:lnSpc>
              <a:spcBef>
                <a:spcPts val="2605"/>
              </a:spcBef>
              <a:buFont typeface="Wingdings"/>
              <a:buChar char=""/>
            </a:pPr>
            <a:endParaRPr spc="-10" dirty="0"/>
          </a:p>
          <a:p>
            <a:pPr marL="390525" indent="-377825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390525" algn="l"/>
              </a:tabLst>
            </a:pPr>
            <a:r>
              <a:rPr dirty="0"/>
              <a:t>Measuring</a:t>
            </a:r>
            <a:r>
              <a:rPr spc="-85" dirty="0"/>
              <a:t> </a:t>
            </a:r>
            <a:r>
              <a:rPr dirty="0"/>
              <a:t>strain,</a:t>
            </a:r>
            <a:r>
              <a:rPr spc="-85" dirty="0"/>
              <a:t> </a:t>
            </a:r>
            <a:r>
              <a:rPr dirty="0"/>
              <a:t>pressure,</a:t>
            </a:r>
            <a:r>
              <a:rPr spc="-85" dirty="0"/>
              <a:t> </a:t>
            </a:r>
            <a:r>
              <a:rPr dirty="0"/>
              <a:t>and</a:t>
            </a:r>
            <a:r>
              <a:rPr spc="-85" dirty="0"/>
              <a:t> </a:t>
            </a:r>
            <a:r>
              <a:rPr dirty="0"/>
              <a:t>small</a:t>
            </a:r>
            <a:r>
              <a:rPr spc="-65" dirty="0"/>
              <a:t> </a:t>
            </a:r>
            <a:r>
              <a:rPr spc="-10" dirty="0"/>
              <a:t>movements.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51038" y="426127"/>
            <a:ext cx="955167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Principles</a:t>
            </a:r>
            <a:r>
              <a:rPr spc="-80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Light</a:t>
            </a:r>
            <a:r>
              <a:rPr spc="5" dirty="0"/>
              <a:t> </a:t>
            </a:r>
            <a:r>
              <a:rPr spc="-10" dirty="0"/>
              <a:t>Interferometry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8255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Basic</a:t>
            </a:r>
            <a:r>
              <a:rPr b="1" spc="-7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Setup:</a:t>
            </a:r>
            <a:r>
              <a:rPr b="1" spc="-7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dirty="0"/>
              <a:t>Light</a:t>
            </a:r>
            <a:r>
              <a:rPr spc="-90" dirty="0"/>
              <a:t>  </a:t>
            </a:r>
            <a:r>
              <a:rPr dirty="0"/>
              <a:t>from</a:t>
            </a:r>
            <a:r>
              <a:rPr spc="-90" dirty="0"/>
              <a:t>  </a:t>
            </a:r>
            <a:r>
              <a:rPr dirty="0"/>
              <a:t>a</a:t>
            </a:r>
            <a:r>
              <a:rPr spc="-90" dirty="0"/>
              <a:t>  </a:t>
            </a:r>
            <a:r>
              <a:rPr dirty="0"/>
              <a:t>laser</a:t>
            </a:r>
            <a:r>
              <a:rPr spc="-95" dirty="0"/>
              <a:t>  </a:t>
            </a:r>
            <a:r>
              <a:rPr dirty="0"/>
              <a:t>passes</a:t>
            </a:r>
            <a:r>
              <a:rPr spc="-95" dirty="0"/>
              <a:t>  </a:t>
            </a:r>
            <a:r>
              <a:rPr dirty="0"/>
              <a:t>through</a:t>
            </a:r>
            <a:r>
              <a:rPr spc="-100" dirty="0"/>
              <a:t>  </a:t>
            </a:r>
            <a:r>
              <a:rPr spc="-10" dirty="0"/>
              <a:t>semi- 	</a:t>
            </a:r>
            <a:r>
              <a:rPr dirty="0"/>
              <a:t>reflecting</a:t>
            </a:r>
            <a:r>
              <a:rPr spc="-90" dirty="0"/>
              <a:t> </a:t>
            </a:r>
            <a:r>
              <a:rPr dirty="0"/>
              <a:t>glass</a:t>
            </a:r>
            <a:r>
              <a:rPr spc="-80" dirty="0"/>
              <a:t> </a:t>
            </a:r>
            <a:r>
              <a:rPr spc="-10" dirty="0"/>
              <a:t>plates.</a:t>
            </a: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Mechanism:</a:t>
            </a:r>
            <a:r>
              <a:rPr b="1" spc="3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/>
              <a:t>An</a:t>
            </a:r>
            <a:r>
              <a:rPr spc="340" dirty="0"/>
              <a:t> </a:t>
            </a:r>
            <a:r>
              <a:rPr dirty="0"/>
              <a:t>interference</a:t>
            </a:r>
            <a:r>
              <a:rPr spc="340" dirty="0"/>
              <a:t> </a:t>
            </a:r>
            <a:r>
              <a:rPr dirty="0"/>
              <a:t>pattern</a:t>
            </a:r>
            <a:r>
              <a:rPr spc="340" dirty="0"/>
              <a:t> </a:t>
            </a:r>
            <a:r>
              <a:rPr dirty="0"/>
              <a:t>is</a:t>
            </a:r>
            <a:r>
              <a:rPr spc="345" dirty="0"/>
              <a:t> </a:t>
            </a:r>
            <a:r>
              <a:rPr dirty="0"/>
              <a:t>created</a:t>
            </a:r>
            <a:r>
              <a:rPr spc="355" dirty="0"/>
              <a:t> </a:t>
            </a:r>
            <a:r>
              <a:rPr spc="-10" dirty="0"/>
              <a:t>between 	</a:t>
            </a:r>
            <a:r>
              <a:rPr dirty="0"/>
              <a:t>light</a:t>
            </a:r>
            <a:r>
              <a:rPr spc="-30" dirty="0"/>
              <a:t>  </a:t>
            </a:r>
            <a:r>
              <a:rPr dirty="0"/>
              <a:t>reflected</a:t>
            </a:r>
            <a:r>
              <a:rPr spc="-35" dirty="0"/>
              <a:t>  </a:t>
            </a:r>
            <a:r>
              <a:rPr dirty="0"/>
              <a:t>from</a:t>
            </a:r>
            <a:r>
              <a:rPr spc="-35" dirty="0"/>
              <a:t>  </a:t>
            </a:r>
            <a:r>
              <a:rPr dirty="0"/>
              <a:t>an</a:t>
            </a:r>
            <a:r>
              <a:rPr spc="-25" dirty="0"/>
              <a:t>  </a:t>
            </a:r>
            <a:r>
              <a:rPr dirty="0"/>
              <a:t>outward</a:t>
            </a:r>
            <a:r>
              <a:rPr spc="-20" dirty="0"/>
              <a:t>  </a:t>
            </a:r>
            <a:r>
              <a:rPr dirty="0"/>
              <a:t>beam</a:t>
            </a:r>
            <a:r>
              <a:rPr spc="-25" dirty="0"/>
              <a:t>  </a:t>
            </a:r>
            <a:r>
              <a:rPr dirty="0"/>
              <a:t>and</a:t>
            </a:r>
            <a:r>
              <a:rPr spc="-25" dirty="0"/>
              <a:t>  </a:t>
            </a:r>
            <a:r>
              <a:rPr dirty="0"/>
              <a:t>a</a:t>
            </a:r>
            <a:r>
              <a:rPr spc="-35" dirty="0"/>
              <a:t>  </a:t>
            </a:r>
            <a:r>
              <a:rPr spc="-10" dirty="0"/>
              <a:t>returning 	beam.</a:t>
            </a:r>
          </a:p>
          <a:p>
            <a:pPr marL="389255" marR="6985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Detection:</a:t>
            </a:r>
            <a:r>
              <a:rPr b="1" spc="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dirty="0"/>
              <a:t>Bright</a:t>
            </a:r>
            <a:r>
              <a:rPr spc="-25" dirty="0"/>
              <a:t>  </a:t>
            </a:r>
            <a:r>
              <a:rPr dirty="0"/>
              <a:t>and</a:t>
            </a:r>
            <a:r>
              <a:rPr spc="-10" dirty="0"/>
              <a:t>  </a:t>
            </a:r>
            <a:r>
              <a:rPr dirty="0"/>
              <a:t>dark</a:t>
            </a:r>
            <a:r>
              <a:rPr spc="-20" dirty="0"/>
              <a:t>  </a:t>
            </a:r>
            <a:r>
              <a:rPr dirty="0"/>
              <a:t>illumination</a:t>
            </a:r>
            <a:r>
              <a:rPr spc="-15" dirty="0"/>
              <a:t>  </a:t>
            </a:r>
            <a:r>
              <a:rPr dirty="0"/>
              <a:t>changes</a:t>
            </a:r>
            <a:r>
              <a:rPr spc="-10" dirty="0"/>
              <a:t>  </a:t>
            </a:r>
            <a:r>
              <a:rPr dirty="0"/>
              <a:t>on</a:t>
            </a:r>
            <a:r>
              <a:rPr spc="-20" dirty="0"/>
              <a:t>  </a:t>
            </a:r>
            <a:r>
              <a:rPr spc="-50" dirty="0"/>
              <a:t>a 	</a:t>
            </a:r>
            <a:r>
              <a:rPr dirty="0"/>
              <a:t>screen</a:t>
            </a:r>
            <a:r>
              <a:rPr spc="-90" dirty="0"/>
              <a:t> </a:t>
            </a:r>
            <a:r>
              <a:rPr dirty="0"/>
              <a:t>correspond</a:t>
            </a:r>
            <a:r>
              <a:rPr spc="-85" dirty="0"/>
              <a:t> </a:t>
            </a:r>
            <a:r>
              <a:rPr dirty="0"/>
              <a:t>to</a:t>
            </a:r>
            <a:r>
              <a:rPr spc="-95" dirty="0"/>
              <a:t> </a:t>
            </a:r>
            <a:r>
              <a:rPr spc="-10" dirty="0"/>
              <a:t>movement.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84137" y="124572"/>
            <a:ext cx="7485380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1770" marR="5080" indent="-1449705">
              <a:lnSpc>
                <a:spcPct val="100200"/>
              </a:lnSpc>
              <a:spcBef>
                <a:spcPts val="100"/>
              </a:spcBef>
            </a:pPr>
            <a:r>
              <a:rPr dirty="0"/>
              <a:t>Measuring</a:t>
            </a:r>
            <a:r>
              <a:rPr spc="-75" dirty="0"/>
              <a:t> </a:t>
            </a:r>
            <a:r>
              <a:rPr dirty="0"/>
              <a:t>Movement</a:t>
            </a:r>
            <a:r>
              <a:rPr spc="-5" dirty="0"/>
              <a:t> </a:t>
            </a:r>
            <a:r>
              <a:rPr spc="-20" dirty="0"/>
              <a:t>with </a:t>
            </a:r>
            <a:r>
              <a:rPr spc="-10" dirty="0"/>
              <a:t>Interferometers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4585" y="1726907"/>
            <a:ext cx="8710295" cy="2540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7620" indent="-37846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Sensitivity:</a:t>
            </a:r>
            <a:r>
              <a:rPr sz="2200" b="1" spc="-1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Movement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1/4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wavelength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light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changes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light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path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by</a:t>
            </a:r>
            <a:r>
              <a:rPr sz="2200" spc="-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1/2</a:t>
            </a:r>
            <a:r>
              <a:rPr sz="2200" spc="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wavelength.</a:t>
            </a:r>
            <a:endParaRPr sz="2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85"/>
              </a:spcBef>
              <a:buClr>
                <a:srgbClr val="FF0000"/>
              </a:buClr>
              <a:buFont typeface="Wingdings"/>
              <a:buChar char=""/>
            </a:pPr>
            <a:endParaRPr sz="2200">
              <a:latin typeface="Verdana"/>
              <a:cs typeface="Verdana"/>
            </a:endParaRPr>
          </a:p>
          <a:p>
            <a:pPr marL="390525" marR="5080" indent="-37846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Digital</a:t>
            </a:r>
            <a:r>
              <a:rPr sz="2200" b="1" spc="2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Counting:</a:t>
            </a:r>
            <a:r>
              <a:rPr sz="2200" b="1" spc="1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1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photocell</a:t>
            </a:r>
            <a:r>
              <a:rPr sz="2200" spc="1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1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amplifier</a:t>
            </a:r>
            <a:r>
              <a:rPr sz="2200" spc="1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convert</a:t>
            </a:r>
            <a:r>
              <a:rPr sz="2200" spc="1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light </a:t>
            </a:r>
            <a:r>
              <a:rPr sz="2200" dirty="0">
                <a:latin typeface="Verdana"/>
                <a:cs typeface="Verdana"/>
              </a:rPr>
              <a:t>changes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into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electronic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measurements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movement.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701846" y="124572"/>
            <a:ext cx="6653530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98245" marR="5080" indent="-1186180">
              <a:lnSpc>
                <a:spcPct val="100200"/>
              </a:lnSpc>
              <a:spcBef>
                <a:spcPts val="100"/>
              </a:spcBef>
            </a:pPr>
            <a:r>
              <a:rPr dirty="0"/>
              <a:t>Limitations</a:t>
            </a:r>
            <a:r>
              <a:rPr spc="-55" dirty="0"/>
              <a:t> </a:t>
            </a:r>
            <a:r>
              <a:rPr dirty="0"/>
              <a:t>of </a:t>
            </a:r>
            <a:r>
              <a:rPr spc="-10" dirty="0"/>
              <a:t>Standard Interferometry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4585" y="1726907"/>
            <a:ext cx="8709025" cy="404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5080" indent="-37846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  <a:tab pos="2632710" algn="l"/>
                <a:tab pos="4613275" algn="l"/>
                <a:tab pos="6144260" algn="l"/>
                <a:tab pos="8244205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Temperature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Sensitivity: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Changing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temperatures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are </a:t>
            </a:r>
            <a:r>
              <a:rPr sz="2200" dirty="0">
                <a:latin typeface="Verdana"/>
                <a:cs typeface="Verdana"/>
              </a:rPr>
              <a:t>difficult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compensate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for.</a:t>
            </a:r>
            <a:endParaRPr sz="2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85"/>
              </a:spcBef>
              <a:buClr>
                <a:srgbClr val="FF0000"/>
              </a:buClr>
              <a:buFont typeface="Wingdings"/>
              <a:buChar char=""/>
            </a:pPr>
            <a:endParaRPr sz="2200">
              <a:latin typeface="Verdana"/>
              <a:cs typeface="Verdana"/>
            </a:endParaRPr>
          </a:p>
          <a:p>
            <a:pPr marL="390525" marR="5080" indent="-378460">
              <a:lnSpc>
                <a:spcPct val="150000"/>
              </a:lnSpc>
              <a:buFont typeface="Wingdings"/>
              <a:buChar char=""/>
              <a:tabLst>
                <a:tab pos="390525" algn="l"/>
                <a:tab pos="2476500" algn="l"/>
                <a:tab pos="3902075" algn="l"/>
                <a:tab pos="5433060" algn="l"/>
                <a:tab pos="6261100" algn="l"/>
                <a:tab pos="7251065" algn="l"/>
                <a:tab pos="7747634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Complexity: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Requires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elaborate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light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paths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to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ensure </a:t>
            </a:r>
            <a:r>
              <a:rPr sz="2200" dirty="0">
                <a:latin typeface="Verdana"/>
                <a:cs typeface="Verdana"/>
              </a:rPr>
              <a:t>interfering</a:t>
            </a:r>
            <a:r>
              <a:rPr sz="2200" spc="-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beams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travel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equal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distances.</a:t>
            </a:r>
            <a:endParaRPr sz="2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85"/>
              </a:spcBef>
              <a:buClr>
                <a:srgbClr val="FF0000"/>
              </a:buClr>
              <a:buFont typeface="Wingdings"/>
              <a:buChar char=""/>
            </a:pPr>
            <a:endParaRPr sz="2200">
              <a:latin typeface="Verdana"/>
              <a:cs typeface="Verdana"/>
            </a:endParaRPr>
          </a:p>
          <a:p>
            <a:pPr marL="390525" marR="5080" indent="-378460">
              <a:lnSpc>
                <a:spcPct val="150000"/>
              </a:lnSpc>
              <a:buFont typeface="Wingdings"/>
              <a:buChar char=""/>
              <a:tabLst>
                <a:tab pos="390525" algn="l"/>
                <a:tab pos="2111375" algn="l"/>
                <a:tab pos="4223385" algn="l"/>
                <a:tab pos="5620385" algn="l"/>
                <a:tab pos="6325870" algn="l"/>
                <a:tab pos="7140575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Distance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Constraint: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Limited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by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"coherence </a:t>
            </a:r>
            <a:r>
              <a:rPr sz="2200" dirty="0">
                <a:latin typeface="Verdana"/>
                <a:cs typeface="Verdana"/>
              </a:rPr>
              <a:t>distance"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laser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source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(usually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several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meters)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61654" y="124572"/>
            <a:ext cx="7932420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37740" marR="5080" indent="-2225675">
              <a:lnSpc>
                <a:spcPct val="100200"/>
              </a:lnSpc>
              <a:spcBef>
                <a:spcPts val="100"/>
              </a:spcBef>
            </a:pPr>
            <a:r>
              <a:rPr dirty="0"/>
              <a:t>Advantages</a:t>
            </a:r>
            <a:r>
              <a:rPr spc="-40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Non-</a:t>
            </a:r>
            <a:r>
              <a:rPr spc="-10" dirty="0"/>
              <a:t>Physical Connections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5080" indent="-37846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  <a:tab pos="959485" algn="l"/>
                <a:tab pos="2275840" algn="l"/>
                <a:tab pos="3204210" algn="l"/>
                <a:tab pos="3681095" algn="l"/>
                <a:tab pos="5918200" algn="l"/>
                <a:tab pos="6880225" algn="l"/>
                <a:tab pos="7521575" algn="l"/>
              </a:tabLst>
            </a:pPr>
            <a:r>
              <a:rPr spc="-25" dirty="0"/>
              <a:t>No</a:t>
            </a:r>
            <a:r>
              <a:rPr dirty="0"/>
              <a:t>	</a:t>
            </a:r>
            <a:r>
              <a:rPr spc="-10" dirty="0"/>
              <a:t>physical</a:t>
            </a:r>
            <a:r>
              <a:rPr dirty="0"/>
              <a:t>	</a:t>
            </a:r>
            <a:r>
              <a:rPr spc="-20" dirty="0"/>
              <a:t>wires</a:t>
            </a:r>
            <a:r>
              <a:rPr dirty="0"/>
              <a:t>	</a:t>
            </a:r>
            <a:r>
              <a:rPr spc="-25" dirty="0"/>
              <a:t>or</a:t>
            </a:r>
            <a:r>
              <a:rPr dirty="0"/>
              <a:t>	</a:t>
            </a:r>
            <a:r>
              <a:rPr spc="-10" dirty="0"/>
              <a:t>semiconductor</a:t>
            </a:r>
            <a:r>
              <a:rPr dirty="0"/>
              <a:t>	</a:t>
            </a:r>
            <a:r>
              <a:rPr spc="-10" dirty="0"/>
              <a:t>strips</a:t>
            </a:r>
            <a:r>
              <a:rPr dirty="0"/>
              <a:t>	</a:t>
            </a:r>
            <a:r>
              <a:rPr spc="-25" dirty="0"/>
              <a:t>are</a:t>
            </a:r>
            <a:r>
              <a:rPr dirty="0"/>
              <a:t>	</a:t>
            </a:r>
            <a:r>
              <a:rPr spc="-10" dirty="0"/>
              <a:t>required </a:t>
            </a:r>
            <a:r>
              <a:rPr dirty="0"/>
              <a:t>between</a:t>
            </a:r>
            <a:r>
              <a:rPr spc="-100" dirty="0"/>
              <a:t> </a:t>
            </a:r>
            <a:r>
              <a:rPr dirty="0"/>
              <a:t>measured</a:t>
            </a:r>
            <a:r>
              <a:rPr spc="-100" dirty="0"/>
              <a:t> </a:t>
            </a:r>
            <a:r>
              <a:rPr spc="-10" dirty="0"/>
              <a:t>points.</a:t>
            </a:r>
          </a:p>
          <a:p>
            <a:pPr>
              <a:lnSpc>
                <a:spcPct val="100000"/>
              </a:lnSpc>
              <a:spcBef>
                <a:spcPts val="1285"/>
              </a:spcBef>
              <a:buFont typeface="Wingdings"/>
              <a:buChar char=""/>
            </a:pPr>
            <a:endParaRPr spc="-10" dirty="0"/>
          </a:p>
          <a:p>
            <a:pPr marL="390525" marR="5080" indent="-37846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dirty="0"/>
              <a:t>The</a:t>
            </a:r>
            <a:r>
              <a:rPr spc="315" dirty="0"/>
              <a:t> </a:t>
            </a:r>
            <a:r>
              <a:rPr dirty="0"/>
              <a:t>main</a:t>
            </a:r>
            <a:r>
              <a:rPr spc="325" dirty="0"/>
              <a:t> </a:t>
            </a:r>
            <a:r>
              <a:rPr dirty="0"/>
              <a:t>body</a:t>
            </a:r>
            <a:r>
              <a:rPr spc="300" dirty="0"/>
              <a:t> </a:t>
            </a:r>
            <a:r>
              <a:rPr dirty="0"/>
              <a:t>of</a:t>
            </a:r>
            <a:r>
              <a:rPr spc="330" dirty="0"/>
              <a:t> </a:t>
            </a:r>
            <a:r>
              <a:rPr dirty="0"/>
              <a:t>the</a:t>
            </a:r>
            <a:r>
              <a:rPr spc="315" dirty="0"/>
              <a:t> </a:t>
            </a:r>
            <a:r>
              <a:rPr dirty="0"/>
              <a:t>device</a:t>
            </a:r>
            <a:r>
              <a:rPr spc="320" dirty="0"/>
              <a:t> </a:t>
            </a:r>
            <a:r>
              <a:rPr dirty="0"/>
              <a:t>and</a:t>
            </a:r>
            <a:r>
              <a:rPr spc="295" dirty="0"/>
              <a:t> </a:t>
            </a:r>
            <a:r>
              <a:rPr dirty="0"/>
              <a:t>the</a:t>
            </a:r>
            <a:r>
              <a:rPr spc="320" dirty="0"/>
              <a:t> </a:t>
            </a:r>
            <a:r>
              <a:rPr dirty="0"/>
              <a:t>reflector</a:t>
            </a:r>
            <a:r>
              <a:rPr spc="315" dirty="0"/>
              <a:t> </a:t>
            </a:r>
            <a:r>
              <a:rPr dirty="0"/>
              <a:t>can</a:t>
            </a:r>
            <a:r>
              <a:rPr spc="320" dirty="0"/>
              <a:t> </a:t>
            </a:r>
            <a:r>
              <a:rPr dirty="0"/>
              <a:t>be</a:t>
            </a:r>
            <a:r>
              <a:rPr spc="320" dirty="0"/>
              <a:t> </a:t>
            </a:r>
            <a:r>
              <a:rPr spc="-25" dirty="0"/>
              <a:t>in </a:t>
            </a:r>
            <a:r>
              <a:rPr dirty="0"/>
              <a:t>different</a:t>
            </a:r>
            <a:r>
              <a:rPr spc="-85" dirty="0"/>
              <a:t> </a:t>
            </a:r>
            <a:r>
              <a:rPr spc="-10" dirty="0"/>
              <a:t>locations.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421111" y="426127"/>
            <a:ext cx="521462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Fiber</a:t>
            </a:r>
            <a:r>
              <a:rPr spc="-45" dirty="0"/>
              <a:t> </a:t>
            </a:r>
            <a:r>
              <a:rPr dirty="0"/>
              <a:t>Optic</a:t>
            </a:r>
            <a:r>
              <a:rPr spc="-35" dirty="0"/>
              <a:t> </a:t>
            </a:r>
            <a:r>
              <a:rPr spc="-10" dirty="0"/>
              <a:t>Sensor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49711" y="1548787"/>
            <a:ext cx="8961755" cy="404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A</a:t>
            </a:r>
            <a:r>
              <a:rPr sz="2200" spc="254" dirty="0"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fibre</a:t>
            </a:r>
            <a:r>
              <a:rPr sz="2200" b="1" spc="28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optic</a:t>
            </a:r>
            <a:r>
              <a:rPr sz="2200" b="1" spc="29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sensor</a:t>
            </a:r>
            <a:r>
              <a:rPr sz="2200" b="1" spc="28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2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2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device</a:t>
            </a:r>
            <a:r>
              <a:rPr sz="2200" spc="2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that</a:t>
            </a:r>
            <a:r>
              <a:rPr sz="2200" spc="2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uses</a:t>
            </a:r>
            <a:r>
              <a:rPr sz="2200" spc="2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optical</a:t>
            </a:r>
            <a:r>
              <a:rPr sz="2200" spc="2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fiber</a:t>
            </a:r>
            <a:r>
              <a:rPr sz="2200" spc="254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to 	</a:t>
            </a:r>
            <a:r>
              <a:rPr sz="2200" dirty="0">
                <a:latin typeface="Verdana"/>
                <a:cs typeface="Verdana"/>
              </a:rPr>
              <a:t>measure</a:t>
            </a:r>
            <a:r>
              <a:rPr sz="2200" spc="420" dirty="0">
                <a:latin typeface="Verdana"/>
                <a:cs typeface="Verdana"/>
              </a:rPr>
              <a:t>   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430" dirty="0">
                <a:latin typeface="Verdana"/>
                <a:cs typeface="Verdana"/>
              </a:rPr>
              <a:t>    </a:t>
            </a:r>
            <a:r>
              <a:rPr sz="2200" dirty="0">
                <a:latin typeface="Verdana"/>
                <a:cs typeface="Verdana"/>
              </a:rPr>
              <a:t>variety</a:t>
            </a:r>
            <a:r>
              <a:rPr sz="2200" spc="420" dirty="0">
                <a:latin typeface="Verdana"/>
                <a:cs typeface="Verdana"/>
              </a:rPr>
              <a:t>   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425" dirty="0">
                <a:latin typeface="Verdana"/>
                <a:cs typeface="Verdana"/>
              </a:rPr>
              <a:t>    </a:t>
            </a:r>
            <a:r>
              <a:rPr sz="2200" b="1" dirty="0">
                <a:solidFill>
                  <a:srgbClr val="FF6600"/>
                </a:solidFill>
                <a:latin typeface="Verdana"/>
                <a:cs typeface="Verdana"/>
              </a:rPr>
              <a:t>physical</a:t>
            </a:r>
            <a:r>
              <a:rPr sz="2200" b="1" spc="440" dirty="0">
                <a:solidFill>
                  <a:srgbClr val="FF6600"/>
                </a:solidFill>
                <a:latin typeface="Verdana"/>
                <a:cs typeface="Verdana"/>
              </a:rPr>
              <a:t>    </a:t>
            </a:r>
            <a:r>
              <a:rPr sz="2200" b="1" spc="-10" dirty="0">
                <a:solidFill>
                  <a:srgbClr val="FF6600"/>
                </a:solidFill>
                <a:latin typeface="Verdana"/>
                <a:cs typeface="Verdana"/>
              </a:rPr>
              <a:t>quantities 	</a:t>
            </a:r>
            <a:r>
              <a:rPr sz="2200" b="1" dirty="0">
                <a:solidFill>
                  <a:srgbClr val="FF6600"/>
                </a:solidFill>
                <a:latin typeface="Verdana"/>
                <a:cs typeface="Verdana"/>
              </a:rPr>
              <a:t>like</a:t>
            </a:r>
            <a:r>
              <a:rPr sz="2200" b="1" spc="-70" dirty="0">
                <a:solidFill>
                  <a:srgbClr val="FF66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6600"/>
                </a:solidFill>
                <a:latin typeface="Verdana"/>
                <a:cs typeface="Verdana"/>
              </a:rPr>
              <a:t>temperature,</a:t>
            </a:r>
            <a:r>
              <a:rPr sz="2200" b="1" spc="-60" dirty="0">
                <a:solidFill>
                  <a:srgbClr val="FF66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6600"/>
                </a:solidFill>
                <a:latin typeface="Verdana"/>
                <a:cs typeface="Verdana"/>
              </a:rPr>
              <a:t>strain,</a:t>
            </a:r>
            <a:r>
              <a:rPr sz="2200" b="1" spc="-70" dirty="0">
                <a:solidFill>
                  <a:srgbClr val="FF66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6600"/>
                </a:solidFill>
                <a:latin typeface="Verdana"/>
                <a:cs typeface="Verdana"/>
              </a:rPr>
              <a:t>pressure,</a:t>
            </a:r>
            <a:r>
              <a:rPr sz="2200" b="1" spc="-75" dirty="0">
                <a:solidFill>
                  <a:srgbClr val="FF66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6600"/>
                </a:solidFill>
                <a:latin typeface="Verdana"/>
                <a:cs typeface="Verdana"/>
              </a:rPr>
              <a:t>displacement,</a:t>
            </a:r>
            <a:r>
              <a:rPr sz="2200" b="1" spc="-70" dirty="0">
                <a:solidFill>
                  <a:srgbClr val="FF6600"/>
                </a:solidFill>
                <a:latin typeface="Verdana"/>
                <a:cs typeface="Verdana"/>
              </a:rPr>
              <a:t>  </a:t>
            </a:r>
            <a:r>
              <a:rPr sz="2200" b="1" spc="-25" dirty="0">
                <a:solidFill>
                  <a:srgbClr val="FF6600"/>
                </a:solidFill>
                <a:latin typeface="Verdana"/>
                <a:cs typeface="Verdana"/>
              </a:rPr>
              <a:t>or 	</a:t>
            </a:r>
            <a:r>
              <a:rPr sz="2200" b="1" dirty="0">
                <a:solidFill>
                  <a:srgbClr val="FF6600"/>
                </a:solidFill>
                <a:latin typeface="Verdana"/>
                <a:cs typeface="Verdana"/>
              </a:rPr>
              <a:t>chemical</a:t>
            </a:r>
            <a:r>
              <a:rPr sz="2200" b="1" spc="-75" dirty="0">
                <a:solidFill>
                  <a:srgbClr val="FF6600"/>
                </a:solidFill>
                <a:latin typeface="Verdana"/>
                <a:cs typeface="Verdana"/>
              </a:rPr>
              <a:t> </a:t>
            </a:r>
            <a:r>
              <a:rPr sz="2200" b="1" spc="-10" dirty="0">
                <a:solidFill>
                  <a:srgbClr val="FF6600"/>
                </a:solidFill>
                <a:latin typeface="Verdana"/>
                <a:cs typeface="Verdana"/>
              </a:rPr>
              <a:t>concentrations.</a:t>
            </a:r>
            <a:endParaRPr sz="2200">
              <a:latin typeface="Verdana"/>
              <a:cs typeface="Verdana"/>
            </a:endParaRPr>
          </a:p>
          <a:p>
            <a:pPr marL="390525" marR="5080" indent="-378460" algn="just">
              <a:lnSpc>
                <a:spcPct val="150000"/>
              </a:lnSpc>
              <a:buFont typeface="Wingdings"/>
              <a:buChar char=""/>
              <a:tabLst>
                <a:tab pos="390525" algn="l"/>
                <a:tab pos="486409" algn="l"/>
              </a:tabLst>
            </a:pPr>
            <a:r>
              <a:rPr sz="2200" dirty="0">
                <a:latin typeface="Verdana"/>
                <a:cs typeface="Verdana"/>
              </a:rPr>
              <a:t>	The</a:t>
            </a:r>
            <a:r>
              <a:rPr sz="2200" spc="4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sensor</a:t>
            </a:r>
            <a:r>
              <a:rPr sz="2200" spc="4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works</a:t>
            </a:r>
            <a:r>
              <a:rPr sz="2200" spc="4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by</a:t>
            </a:r>
            <a:r>
              <a:rPr sz="2200" spc="4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sending</a:t>
            </a:r>
            <a:r>
              <a:rPr sz="2200" spc="43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light</a:t>
            </a:r>
            <a:r>
              <a:rPr sz="2200" spc="4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through</a:t>
            </a:r>
            <a:r>
              <a:rPr sz="2200" spc="4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4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fiber</a:t>
            </a:r>
            <a:r>
              <a:rPr sz="2200" spc="44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and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detecting</a:t>
            </a:r>
            <a:r>
              <a:rPr sz="2200" b="1" spc="2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changes</a:t>
            </a:r>
            <a:r>
              <a:rPr sz="2200" b="1" spc="2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in</a:t>
            </a:r>
            <a:r>
              <a:rPr sz="2200" b="1" spc="18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the</a:t>
            </a:r>
            <a:r>
              <a:rPr sz="2200" b="1" spc="18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light's</a:t>
            </a:r>
            <a:r>
              <a:rPr sz="2200" b="1" spc="2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properties</a:t>
            </a:r>
            <a:r>
              <a:rPr sz="2200" b="1" spc="18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(intensity,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phase,</a:t>
            </a:r>
            <a:r>
              <a:rPr sz="2200" b="1" spc="18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polarization,</a:t>
            </a:r>
            <a:r>
              <a:rPr sz="2200" b="1" spc="18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or</a:t>
            </a:r>
            <a:r>
              <a:rPr sz="2200" b="1" spc="19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wavelength)</a:t>
            </a:r>
            <a:r>
              <a:rPr sz="2200" b="1" spc="18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caused</a:t>
            </a:r>
            <a:r>
              <a:rPr sz="2200" spc="1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by</a:t>
            </a:r>
            <a:r>
              <a:rPr sz="2200" spc="160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the </a:t>
            </a:r>
            <a:r>
              <a:rPr sz="2200" dirty="0">
                <a:latin typeface="Verdana"/>
                <a:cs typeface="Verdana"/>
              </a:rPr>
              <a:t>external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influence.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24386" y="426127"/>
            <a:ext cx="461073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How</a:t>
            </a:r>
            <a:r>
              <a:rPr spc="-35" dirty="0"/>
              <a:t> </a:t>
            </a:r>
            <a:r>
              <a:rPr dirty="0"/>
              <a:t>they</a:t>
            </a:r>
            <a:r>
              <a:rPr spc="-25" dirty="0"/>
              <a:t> </a:t>
            </a:r>
            <a:r>
              <a:rPr spc="-10" dirty="0"/>
              <a:t>work?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49711" y="1548787"/>
            <a:ext cx="8960485" cy="5557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2200" dirty="0">
                <a:latin typeface="Verdana"/>
                <a:cs typeface="Verdana"/>
              </a:rPr>
              <a:t>A</a:t>
            </a:r>
            <a:r>
              <a:rPr sz="2200" spc="1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basic</a:t>
            </a:r>
            <a:r>
              <a:rPr sz="2200" spc="1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fiber</a:t>
            </a:r>
            <a:r>
              <a:rPr sz="2200" spc="1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optic</a:t>
            </a:r>
            <a:r>
              <a:rPr sz="2200" spc="1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sensor</a:t>
            </a:r>
            <a:r>
              <a:rPr sz="2200" spc="1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system</a:t>
            </a:r>
            <a:r>
              <a:rPr sz="2200" spc="1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consists</a:t>
            </a:r>
            <a:r>
              <a:rPr sz="2200" spc="1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1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</a:t>
            </a:r>
            <a:r>
              <a:rPr sz="2200" spc="1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optical</a:t>
            </a:r>
            <a:r>
              <a:rPr sz="2200" spc="1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source </a:t>
            </a:r>
            <a:r>
              <a:rPr sz="2200" dirty="0">
                <a:latin typeface="Verdana"/>
                <a:cs typeface="Verdana"/>
              </a:rPr>
              <a:t>(like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LED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laser),</a:t>
            </a:r>
            <a:r>
              <a:rPr sz="2200" spc="-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optical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fiber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itself,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sensing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element </a:t>
            </a:r>
            <a:r>
              <a:rPr sz="2200" dirty="0">
                <a:latin typeface="Verdana"/>
                <a:cs typeface="Verdana"/>
              </a:rPr>
              <a:t>(or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transducer),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optical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35" dirty="0">
                <a:latin typeface="Verdana"/>
                <a:cs typeface="Verdana"/>
              </a:rPr>
              <a:t>detector,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processing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unit.</a:t>
            </a:r>
            <a:endParaRPr sz="2200">
              <a:latin typeface="Verdana"/>
              <a:cs typeface="Verdana"/>
            </a:endParaRPr>
          </a:p>
          <a:p>
            <a:pPr marL="389890" indent="-377190" algn="just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b="1" dirty="0">
                <a:solidFill>
                  <a:srgbClr val="FF6600"/>
                </a:solidFill>
                <a:latin typeface="Verdana"/>
                <a:cs typeface="Verdana"/>
              </a:rPr>
              <a:t>Principle</a:t>
            </a:r>
            <a:r>
              <a:rPr sz="2200" b="1" spc="-15" dirty="0">
                <a:solidFill>
                  <a:srgbClr val="FF66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6600"/>
                </a:solidFill>
                <a:latin typeface="Verdana"/>
                <a:cs typeface="Verdana"/>
              </a:rPr>
              <a:t>of</a:t>
            </a:r>
            <a:r>
              <a:rPr sz="2200" b="1" spc="-30" dirty="0">
                <a:solidFill>
                  <a:srgbClr val="FF6600"/>
                </a:solidFill>
                <a:latin typeface="Verdana"/>
                <a:cs typeface="Verdana"/>
              </a:rPr>
              <a:t> </a:t>
            </a:r>
            <a:r>
              <a:rPr sz="2200" b="1" spc="-10" dirty="0">
                <a:solidFill>
                  <a:srgbClr val="FF6600"/>
                </a:solidFill>
                <a:latin typeface="Verdana"/>
                <a:cs typeface="Verdana"/>
              </a:rPr>
              <a:t>Operation:</a:t>
            </a:r>
            <a:endParaRPr sz="2200">
              <a:latin typeface="Verdana"/>
              <a:cs typeface="Verdana"/>
            </a:endParaRPr>
          </a:p>
          <a:p>
            <a:pPr marL="803275" marR="7620" lvl="1" indent="-395605" algn="just">
              <a:lnSpc>
                <a:spcPct val="150000"/>
              </a:lnSpc>
              <a:buFont typeface="Wingdings"/>
              <a:buChar char=""/>
              <a:tabLst>
                <a:tab pos="804545" algn="l"/>
              </a:tabLst>
            </a:pPr>
            <a:r>
              <a:rPr sz="2200" dirty="0">
                <a:latin typeface="Verdana"/>
                <a:cs typeface="Verdana"/>
              </a:rPr>
              <a:t>Light</a:t>
            </a:r>
            <a:r>
              <a:rPr sz="2200" spc="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travels</a:t>
            </a:r>
            <a:r>
              <a:rPr sz="2200" spc="3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through</a:t>
            </a:r>
            <a:r>
              <a:rPr sz="2200" spc="2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fiber</a:t>
            </a:r>
            <a:r>
              <a:rPr sz="2200" spc="2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core</a:t>
            </a:r>
            <a:r>
              <a:rPr sz="2200" spc="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by</a:t>
            </a:r>
            <a:r>
              <a:rPr sz="2200" spc="3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total</a:t>
            </a:r>
            <a:r>
              <a:rPr sz="2200" spc="2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internal 	reflection.</a:t>
            </a:r>
            <a:endParaRPr sz="2200">
              <a:latin typeface="Verdana"/>
              <a:cs typeface="Verdana"/>
            </a:endParaRPr>
          </a:p>
          <a:p>
            <a:pPr marL="803275" marR="5080" lvl="1" indent="-395605" algn="just">
              <a:lnSpc>
                <a:spcPct val="150000"/>
              </a:lnSpc>
              <a:buFont typeface="Wingdings"/>
              <a:buChar char=""/>
              <a:tabLst>
                <a:tab pos="804545" algn="l"/>
              </a:tabLst>
            </a:pPr>
            <a:r>
              <a:rPr sz="2200" dirty="0">
                <a:latin typeface="Verdana"/>
                <a:cs typeface="Verdana"/>
              </a:rPr>
              <a:t>The</a:t>
            </a:r>
            <a:r>
              <a:rPr sz="2200" spc="110" dirty="0"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external</a:t>
            </a:r>
            <a:r>
              <a:rPr sz="2200" spc="120" dirty="0"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physical</a:t>
            </a:r>
            <a:r>
              <a:rPr sz="2200" spc="114" dirty="0"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parameter</a:t>
            </a:r>
            <a:r>
              <a:rPr sz="2200" spc="110" dirty="0"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being</a:t>
            </a:r>
            <a:r>
              <a:rPr sz="2200" spc="114" dirty="0">
                <a:latin typeface="Verdana"/>
                <a:cs typeface="Verdana"/>
              </a:rPr>
              <a:t>   </a:t>
            </a:r>
            <a:r>
              <a:rPr sz="2200" spc="-10" dirty="0">
                <a:latin typeface="Verdana"/>
                <a:cs typeface="Verdana"/>
              </a:rPr>
              <a:t>measured 	</a:t>
            </a:r>
            <a:r>
              <a:rPr sz="2200" dirty="0">
                <a:latin typeface="Verdana"/>
                <a:cs typeface="Verdana"/>
              </a:rPr>
              <a:t>modulates</a:t>
            </a:r>
            <a:r>
              <a:rPr sz="2200" spc="-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one</a:t>
            </a:r>
            <a:r>
              <a:rPr sz="2200" spc="-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-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more</a:t>
            </a:r>
            <a:r>
              <a:rPr sz="2200" spc="-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properties</a:t>
            </a:r>
            <a:r>
              <a:rPr sz="2200" spc="-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this</a:t>
            </a:r>
            <a:r>
              <a:rPr sz="2200" spc="-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light</a:t>
            </a:r>
            <a:r>
              <a:rPr sz="2200" spc="-5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signal 	</a:t>
            </a:r>
            <a:r>
              <a:rPr sz="2200" dirty="0">
                <a:latin typeface="Verdana"/>
                <a:cs typeface="Verdana"/>
              </a:rPr>
              <a:t>within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fiber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attached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external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component.</a:t>
            </a:r>
            <a:endParaRPr sz="2200">
              <a:latin typeface="Verdana"/>
              <a:cs typeface="Verdana"/>
            </a:endParaRPr>
          </a:p>
          <a:p>
            <a:pPr marL="803275" marR="5080" lvl="1" indent="-395605" algn="just">
              <a:lnSpc>
                <a:spcPct val="150000"/>
              </a:lnSpc>
              <a:buFont typeface="Wingdings"/>
              <a:buChar char=""/>
              <a:tabLst>
                <a:tab pos="804545" algn="l"/>
              </a:tabLst>
            </a:pPr>
            <a:r>
              <a:rPr sz="2200" dirty="0">
                <a:latin typeface="Verdana"/>
                <a:cs typeface="Verdana"/>
              </a:rPr>
              <a:t>The</a:t>
            </a:r>
            <a:r>
              <a:rPr sz="2200" spc="1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detector</a:t>
            </a:r>
            <a:r>
              <a:rPr sz="2200" spc="1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then</a:t>
            </a:r>
            <a:r>
              <a:rPr sz="2200" spc="1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measures</a:t>
            </a:r>
            <a:r>
              <a:rPr sz="2200" spc="1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these</a:t>
            </a:r>
            <a:r>
              <a:rPr sz="2200" spc="1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changes</a:t>
            </a:r>
            <a:r>
              <a:rPr sz="2200" spc="1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13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determine 	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value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physical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quantity.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94614" y="426127"/>
            <a:ext cx="806894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Types</a:t>
            </a:r>
            <a:r>
              <a:rPr spc="-75" dirty="0"/>
              <a:t> </a:t>
            </a:r>
            <a:r>
              <a:rPr dirty="0"/>
              <a:t>of</a:t>
            </a:r>
            <a:r>
              <a:rPr spc="20" dirty="0"/>
              <a:t> </a:t>
            </a:r>
            <a:r>
              <a:rPr dirty="0"/>
              <a:t>Fiber</a:t>
            </a:r>
            <a:r>
              <a:rPr spc="-40" dirty="0"/>
              <a:t> </a:t>
            </a:r>
            <a:r>
              <a:rPr dirty="0"/>
              <a:t>Optic</a:t>
            </a:r>
            <a:r>
              <a:rPr spc="-45" dirty="0"/>
              <a:t> </a:t>
            </a:r>
            <a:r>
              <a:rPr spc="-10" dirty="0"/>
              <a:t>Sensors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49711" y="1358276"/>
            <a:ext cx="8962390" cy="6060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985" algn="just">
              <a:lnSpc>
                <a:spcPct val="150000"/>
              </a:lnSpc>
              <a:spcBef>
                <a:spcPts val="100"/>
              </a:spcBef>
            </a:pPr>
            <a:r>
              <a:rPr sz="2200" dirty="0">
                <a:latin typeface="Verdana"/>
                <a:cs typeface="Verdana"/>
              </a:rPr>
              <a:t>Fiber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optic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sensors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broadly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classified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based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on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b="1" spc="-10" dirty="0">
                <a:solidFill>
                  <a:srgbClr val="00AF50"/>
                </a:solidFill>
                <a:latin typeface="Verdana"/>
                <a:cs typeface="Verdana"/>
              </a:rPr>
              <a:t>sensing </a:t>
            </a:r>
            <a:r>
              <a:rPr sz="2200" b="1" dirty="0">
                <a:solidFill>
                  <a:srgbClr val="00AF50"/>
                </a:solidFill>
                <a:latin typeface="Verdana"/>
                <a:cs typeface="Verdana"/>
              </a:rPr>
              <a:t>location</a:t>
            </a:r>
            <a:r>
              <a:rPr sz="2200" b="1" spc="330" dirty="0">
                <a:solidFill>
                  <a:srgbClr val="00AF5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(intrinsic</a:t>
            </a:r>
            <a:r>
              <a:rPr sz="2200" spc="2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2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extrinsic)</a:t>
            </a:r>
            <a:r>
              <a:rPr sz="2200" spc="3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3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300" dirty="0"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00AF50"/>
                </a:solidFill>
                <a:latin typeface="Verdana"/>
                <a:cs typeface="Verdana"/>
              </a:rPr>
              <a:t>operating</a:t>
            </a:r>
            <a:r>
              <a:rPr sz="2200" b="1" spc="345" dirty="0">
                <a:solidFill>
                  <a:srgbClr val="00AF50"/>
                </a:solidFill>
                <a:latin typeface="Verdana"/>
                <a:cs typeface="Verdana"/>
              </a:rPr>
              <a:t> </a:t>
            </a:r>
            <a:r>
              <a:rPr sz="2200" b="1" spc="-10" dirty="0">
                <a:solidFill>
                  <a:srgbClr val="00AF50"/>
                </a:solidFill>
                <a:latin typeface="Verdana"/>
                <a:cs typeface="Verdana"/>
              </a:rPr>
              <a:t>principle </a:t>
            </a:r>
            <a:r>
              <a:rPr sz="2200" spc="-10" dirty="0">
                <a:latin typeface="Verdana"/>
                <a:cs typeface="Verdana"/>
              </a:rPr>
              <a:t>(intensity,</a:t>
            </a:r>
            <a:r>
              <a:rPr sz="2200" spc="-11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phase,</a:t>
            </a:r>
            <a:r>
              <a:rPr sz="2200" spc="-1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-11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wavelength</a:t>
            </a:r>
            <a:r>
              <a:rPr sz="2200" spc="-10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modulation).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6600"/>
                </a:solidFill>
                <a:latin typeface="Verdana"/>
                <a:cs typeface="Verdana"/>
              </a:rPr>
              <a:t>Intrinsic Sensors:</a:t>
            </a:r>
            <a:r>
              <a:rPr sz="2200" b="1" spc="-5" dirty="0">
                <a:solidFill>
                  <a:srgbClr val="FF66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this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type,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optical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fiber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itself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the 	</a:t>
            </a:r>
            <a:r>
              <a:rPr sz="2200" dirty="0">
                <a:latin typeface="Verdana"/>
                <a:cs typeface="Verdana"/>
              </a:rPr>
              <a:t>sensing</a:t>
            </a:r>
            <a:r>
              <a:rPr sz="2200" spc="4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element.</a:t>
            </a:r>
            <a:r>
              <a:rPr sz="2200" spc="4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4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physical</a:t>
            </a:r>
            <a:r>
              <a:rPr sz="2200" spc="4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quantity</a:t>
            </a:r>
            <a:r>
              <a:rPr sz="2200" spc="409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(e.g.,</a:t>
            </a:r>
            <a:r>
              <a:rPr sz="2200" spc="42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temperature 	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3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strain)</a:t>
            </a:r>
            <a:r>
              <a:rPr sz="2200" spc="3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directly</a:t>
            </a:r>
            <a:r>
              <a:rPr sz="2200" spc="3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acts</a:t>
            </a:r>
            <a:r>
              <a:rPr sz="2200" spc="3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upon</a:t>
            </a:r>
            <a:r>
              <a:rPr sz="2200" spc="3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3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fiber</a:t>
            </a:r>
            <a:r>
              <a:rPr sz="2200" spc="3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3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modify</a:t>
            </a:r>
            <a:r>
              <a:rPr sz="2200" spc="3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33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light's 	</a:t>
            </a:r>
            <a:r>
              <a:rPr sz="2200" dirty="0">
                <a:latin typeface="Verdana"/>
                <a:cs typeface="Verdana"/>
              </a:rPr>
              <a:t>properties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within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fiber.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6600"/>
                </a:solidFill>
                <a:latin typeface="Verdana"/>
                <a:cs typeface="Verdana"/>
              </a:rPr>
              <a:t>Extrinsic</a:t>
            </a:r>
            <a:r>
              <a:rPr sz="2200" b="1" spc="-50" dirty="0">
                <a:solidFill>
                  <a:srgbClr val="FF66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6600"/>
                </a:solidFill>
                <a:latin typeface="Verdana"/>
                <a:cs typeface="Verdana"/>
              </a:rPr>
              <a:t>Sensors:</a:t>
            </a:r>
            <a:r>
              <a:rPr sz="2200" b="1" spc="-55" dirty="0">
                <a:solidFill>
                  <a:srgbClr val="FF66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Here,</a:t>
            </a:r>
            <a:r>
              <a:rPr sz="2200" spc="-8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8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fiber</a:t>
            </a:r>
            <a:r>
              <a:rPr sz="2200" spc="-8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acts</a:t>
            </a:r>
            <a:r>
              <a:rPr sz="2200" spc="-8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as</a:t>
            </a:r>
            <a:r>
              <a:rPr sz="2200" spc="-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8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conduit</a:t>
            </a:r>
            <a:r>
              <a:rPr sz="2200" spc="-75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to 	</a:t>
            </a:r>
            <a:r>
              <a:rPr sz="2200" dirty="0">
                <a:latin typeface="Verdana"/>
                <a:cs typeface="Verdana"/>
              </a:rPr>
              <a:t>carry</a:t>
            </a:r>
            <a:r>
              <a:rPr sz="2200" spc="3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light</a:t>
            </a:r>
            <a:r>
              <a:rPr sz="2200" spc="3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3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3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from</a:t>
            </a:r>
            <a:r>
              <a:rPr sz="2200" spc="3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</a:t>
            </a:r>
            <a:r>
              <a:rPr sz="2200" spc="3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external</a:t>
            </a:r>
            <a:r>
              <a:rPr sz="2200" spc="3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sensing</a:t>
            </a:r>
            <a:r>
              <a:rPr sz="2200" spc="3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device,</a:t>
            </a:r>
            <a:r>
              <a:rPr sz="2200" spc="38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where 	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3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actual</a:t>
            </a:r>
            <a:r>
              <a:rPr sz="2200" spc="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measurement</a:t>
            </a:r>
            <a:r>
              <a:rPr sz="2200" spc="5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takes</a:t>
            </a:r>
            <a:r>
              <a:rPr sz="2200" spc="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place.</a:t>
            </a:r>
            <a:r>
              <a:rPr sz="2200" spc="5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This</a:t>
            </a:r>
            <a:r>
              <a:rPr sz="2200" spc="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useful</a:t>
            </a:r>
            <a:r>
              <a:rPr sz="2200" spc="50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for 	</a:t>
            </a:r>
            <a:r>
              <a:rPr sz="2200" dirty="0">
                <a:latin typeface="Verdana"/>
                <a:cs typeface="Verdana"/>
              </a:rPr>
              <a:t>measurements</a:t>
            </a:r>
            <a:r>
              <a:rPr sz="2200" spc="20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2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inaccessible</a:t>
            </a:r>
            <a:r>
              <a:rPr sz="2200" spc="2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places,</a:t>
            </a:r>
            <a:r>
              <a:rPr sz="2200" spc="2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like</a:t>
            </a:r>
            <a:r>
              <a:rPr sz="2200" spc="2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inside</a:t>
            </a:r>
            <a:r>
              <a:rPr sz="2200" spc="2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</a:t>
            </a:r>
            <a:r>
              <a:rPr sz="2200" spc="20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aircraft 	</a:t>
            </a:r>
            <a:r>
              <a:rPr sz="2200" dirty="0">
                <a:latin typeface="Verdana"/>
                <a:cs typeface="Verdana"/>
              </a:rPr>
              <a:t>jet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engine.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37671" y="426127"/>
            <a:ext cx="738441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Optical</a:t>
            </a:r>
            <a:r>
              <a:rPr spc="-45" dirty="0"/>
              <a:t> </a:t>
            </a:r>
            <a:r>
              <a:rPr dirty="0"/>
              <a:t>Fibre</a:t>
            </a:r>
            <a:r>
              <a:rPr spc="-35" dirty="0"/>
              <a:t> </a:t>
            </a:r>
            <a:r>
              <a:rPr spc="-10" dirty="0"/>
              <a:t>Construction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4700" y="1429904"/>
            <a:ext cx="8708390" cy="3546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5080" indent="-37846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  <a:tab pos="2170430" algn="l"/>
                <a:tab pos="3855085" algn="l"/>
                <a:tab pos="4340225" algn="l"/>
                <a:tab pos="5528310" algn="l"/>
                <a:tab pos="6582409" algn="l"/>
                <a:tab pos="7067550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Materials: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Composed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35" dirty="0">
                <a:latin typeface="Verdana"/>
                <a:cs typeface="Verdana"/>
              </a:rPr>
              <a:t>of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coaxial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layers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of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transparent </a:t>
            </a:r>
            <a:r>
              <a:rPr sz="2200" dirty="0">
                <a:latin typeface="Verdana"/>
                <a:cs typeface="Verdana"/>
              </a:rPr>
              <a:t>glass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plastics.</a:t>
            </a:r>
            <a:endParaRPr sz="2200">
              <a:latin typeface="Verdana"/>
              <a:cs typeface="Verdana"/>
            </a:endParaRPr>
          </a:p>
          <a:p>
            <a:pPr marL="390525" marR="5715" indent="-378460">
              <a:lnSpc>
                <a:spcPct val="150000"/>
              </a:lnSpc>
              <a:buFont typeface="Wingdings"/>
              <a:buChar char=""/>
              <a:tabLst>
                <a:tab pos="390525" algn="l"/>
                <a:tab pos="2156460" algn="l"/>
                <a:tab pos="3489960" algn="l"/>
                <a:tab pos="3924935" algn="l"/>
                <a:tab pos="4443730" algn="l"/>
                <a:tab pos="5497830" algn="l"/>
                <a:tab pos="6504305" algn="l"/>
                <a:tab pos="7661275" algn="l"/>
                <a:tab pos="8350250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Structure: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Consists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of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an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"Inner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glass"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(core)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and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an </a:t>
            </a:r>
            <a:r>
              <a:rPr sz="2200" dirty="0">
                <a:latin typeface="Verdana"/>
                <a:cs typeface="Verdana"/>
              </a:rPr>
              <a:t>"Outer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glass"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(cladding).</a:t>
            </a:r>
            <a:endParaRPr sz="2200">
              <a:latin typeface="Verdana"/>
              <a:cs typeface="Verdana"/>
            </a:endParaRPr>
          </a:p>
          <a:p>
            <a:pPr marL="892810" lvl="1" indent="-377825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892810" algn="l"/>
              </a:tabLst>
            </a:pPr>
            <a:r>
              <a:rPr sz="2200" b="1" dirty="0">
                <a:solidFill>
                  <a:srgbClr val="335295"/>
                </a:solidFill>
                <a:latin typeface="Verdana"/>
                <a:cs typeface="Verdana"/>
              </a:rPr>
              <a:t>Core</a:t>
            </a:r>
            <a:r>
              <a:rPr sz="2200" b="1" spc="-25" dirty="0">
                <a:solidFill>
                  <a:srgbClr val="335295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335295"/>
                </a:solidFill>
                <a:latin typeface="Verdana"/>
                <a:cs typeface="Verdana"/>
              </a:rPr>
              <a:t>–</a:t>
            </a:r>
            <a:r>
              <a:rPr sz="2200" b="1" spc="-15" dirty="0">
                <a:solidFill>
                  <a:srgbClr val="335295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335295"/>
                </a:solidFill>
                <a:latin typeface="Verdana"/>
                <a:cs typeface="Verdana"/>
              </a:rPr>
              <a:t>Inner</a:t>
            </a:r>
            <a:r>
              <a:rPr sz="2200" b="1" spc="-30" dirty="0">
                <a:solidFill>
                  <a:srgbClr val="335295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335295"/>
                </a:solidFill>
                <a:latin typeface="Verdana"/>
                <a:cs typeface="Verdana"/>
              </a:rPr>
              <a:t>light carrying</a:t>
            </a:r>
            <a:r>
              <a:rPr sz="2200" b="1" spc="-15" dirty="0">
                <a:solidFill>
                  <a:srgbClr val="335295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335295"/>
                </a:solidFill>
                <a:latin typeface="Verdana"/>
                <a:cs typeface="Verdana"/>
              </a:rPr>
              <a:t>path</a:t>
            </a:r>
            <a:r>
              <a:rPr sz="2200" b="1" spc="5" dirty="0">
                <a:solidFill>
                  <a:srgbClr val="335295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335295"/>
                </a:solidFill>
                <a:latin typeface="Verdana"/>
                <a:cs typeface="Verdana"/>
              </a:rPr>
              <a:t>in</a:t>
            </a:r>
            <a:r>
              <a:rPr sz="2200" b="1" spc="-40" dirty="0">
                <a:solidFill>
                  <a:srgbClr val="335295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335295"/>
                </a:solidFill>
                <a:latin typeface="Verdana"/>
                <a:cs typeface="Verdana"/>
              </a:rPr>
              <a:t>the</a:t>
            </a:r>
            <a:r>
              <a:rPr sz="2200" b="1" spc="-25" dirty="0">
                <a:solidFill>
                  <a:srgbClr val="335295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335295"/>
                </a:solidFill>
                <a:latin typeface="Verdana"/>
                <a:cs typeface="Verdana"/>
              </a:rPr>
              <a:t>inner</a:t>
            </a:r>
            <a:r>
              <a:rPr sz="2200" b="1" spc="-5" dirty="0">
                <a:solidFill>
                  <a:srgbClr val="335295"/>
                </a:solidFill>
                <a:latin typeface="Verdana"/>
                <a:cs typeface="Verdana"/>
              </a:rPr>
              <a:t> </a:t>
            </a:r>
            <a:r>
              <a:rPr sz="2200" b="1" spc="-10" dirty="0">
                <a:solidFill>
                  <a:srgbClr val="335295"/>
                </a:solidFill>
                <a:latin typeface="Verdana"/>
                <a:cs typeface="Verdana"/>
              </a:rPr>
              <a:t>layer</a:t>
            </a:r>
            <a:endParaRPr sz="2200">
              <a:latin typeface="Verdana"/>
              <a:cs typeface="Verdana"/>
            </a:endParaRPr>
          </a:p>
          <a:p>
            <a:pPr marL="893444" marR="5080" lvl="1" indent="-378460">
              <a:lnSpc>
                <a:spcPct val="150000"/>
              </a:lnSpc>
              <a:buFont typeface="Wingdings"/>
              <a:buChar char=""/>
              <a:tabLst>
                <a:tab pos="893444" algn="l"/>
                <a:tab pos="2443480" algn="l"/>
                <a:tab pos="2825750" algn="l"/>
                <a:tab pos="3899535" algn="l"/>
                <a:tab pos="4875530" algn="l"/>
                <a:tab pos="5701030" algn="l"/>
                <a:tab pos="6805295" algn="l"/>
                <a:tab pos="7703820" algn="l"/>
                <a:tab pos="8183245" algn="l"/>
              </a:tabLst>
            </a:pPr>
            <a:r>
              <a:rPr sz="2200" b="1" spc="-10" dirty="0">
                <a:solidFill>
                  <a:srgbClr val="335295"/>
                </a:solidFill>
                <a:latin typeface="Verdana"/>
                <a:cs typeface="Verdana"/>
              </a:rPr>
              <a:t>Cladding</a:t>
            </a:r>
            <a:r>
              <a:rPr sz="2200" b="1" dirty="0">
                <a:solidFill>
                  <a:srgbClr val="335295"/>
                </a:solidFill>
                <a:latin typeface="Verdana"/>
                <a:cs typeface="Verdana"/>
              </a:rPr>
              <a:t>	</a:t>
            </a:r>
            <a:r>
              <a:rPr sz="2200" b="1" spc="-50" dirty="0">
                <a:solidFill>
                  <a:srgbClr val="335295"/>
                </a:solidFill>
                <a:latin typeface="Verdana"/>
                <a:cs typeface="Verdana"/>
              </a:rPr>
              <a:t>–</a:t>
            </a:r>
            <a:r>
              <a:rPr sz="2200" b="1" dirty="0">
                <a:solidFill>
                  <a:srgbClr val="335295"/>
                </a:solidFill>
                <a:latin typeface="Verdana"/>
                <a:cs typeface="Verdana"/>
              </a:rPr>
              <a:t>	</a:t>
            </a:r>
            <a:r>
              <a:rPr sz="2200" b="1" spc="-20" dirty="0">
                <a:solidFill>
                  <a:srgbClr val="335295"/>
                </a:solidFill>
                <a:latin typeface="Verdana"/>
                <a:cs typeface="Verdana"/>
              </a:rPr>
              <a:t>Outer</a:t>
            </a:r>
            <a:r>
              <a:rPr sz="2200" b="1" dirty="0">
                <a:solidFill>
                  <a:srgbClr val="335295"/>
                </a:solidFill>
                <a:latin typeface="Verdana"/>
                <a:cs typeface="Verdana"/>
              </a:rPr>
              <a:t>	</a:t>
            </a:r>
            <a:r>
              <a:rPr sz="2200" b="1" spc="-10" dirty="0">
                <a:solidFill>
                  <a:srgbClr val="335295"/>
                </a:solidFill>
                <a:latin typeface="Verdana"/>
                <a:cs typeface="Verdana"/>
              </a:rPr>
              <a:t>layer</a:t>
            </a:r>
            <a:r>
              <a:rPr sz="2200" b="1" dirty="0">
                <a:solidFill>
                  <a:srgbClr val="335295"/>
                </a:solidFill>
                <a:latin typeface="Verdana"/>
                <a:cs typeface="Verdana"/>
              </a:rPr>
              <a:t>	</a:t>
            </a:r>
            <a:r>
              <a:rPr sz="2200" b="1" spc="-20" dirty="0">
                <a:solidFill>
                  <a:srgbClr val="335295"/>
                </a:solidFill>
                <a:latin typeface="Verdana"/>
                <a:cs typeface="Verdana"/>
              </a:rPr>
              <a:t>that</a:t>
            </a:r>
            <a:r>
              <a:rPr sz="2200" b="1" dirty="0">
                <a:solidFill>
                  <a:srgbClr val="335295"/>
                </a:solidFill>
                <a:latin typeface="Verdana"/>
                <a:cs typeface="Verdana"/>
              </a:rPr>
              <a:t>	</a:t>
            </a:r>
            <a:r>
              <a:rPr sz="2200" b="1" spc="-10" dirty="0">
                <a:solidFill>
                  <a:srgbClr val="335295"/>
                </a:solidFill>
                <a:latin typeface="Verdana"/>
                <a:cs typeface="Verdana"/>
              </a:rPr>
              <a:t>keeps</a:t>
            </a:r>
            <a:r>
              <a:rPr sz="2200" b="1" dirty="0">
                <a:solidFill>
                  <a:srgbClr val="335295"/>
                </a:solidFill>
                <a:latin typeface="Verdana"/>
                <a:cs typeface="Verdana"/>
              </a:rPr>
              <a:t>	</a:t>
            </a:r>
            <a:r>
              <a:rPr sz="2200" b="1" spc="-10" dirty="0">
                <a:solidFill>
                  <a:srgbClr val="335295"/>
                </a:solidFill>
                <a:latin typeface="Verdana"/>
                <a:cs typeface="Verdana"/>
              </a:rPr>
              <a:t>light</a:t>
            </a:r>
            <a:r>
              <a:rPr sz="2200" b="1" dirty="0">
                <a:solidFill>
                  <a:srgbClr val="335295"/>
                </a:solidFill>
                <a:latin typeface="Verdana"/>
                <a:cs typeface="Verdana"/>
              </a:rPr>
              <a:t>	</a:t>
            </a:r>
            <a:r>
              <a:rPr sz="2200" b="1" spc="-25" dirty="0">
                <a:solidFill>
                  <a:srgbClr val="335295"/>
                </a:solidFill>
                <a:latin typeface="Verdana"/>
                <a:cs typeface="Verdana"/>
              </a:rPr>
              <a:t>in</a:t>
            </a:r>
            <a:r>
              <a:rPr sz="2200" b="1" dirty="0">
                <a:solidFill>
                  <a:srgbClr val="335295"/>
                </a:solidFill>
                <a:latin typeface="Verdana"/>
                <a:cs typeface="Verdana"/>
              </a:rPr>
              <a:t>	</a:t>
            </a:r>
            <a:r>
              <a:rPr sz="2200" b="1" spc="-25" dirty="0">
                <a:solidFill>
                  <a:srgbClr val="335295"/>
                </a:solidFill>
                <a:latin typeface="Verdana"/>
                <a:cs typeface="Verdana"/>
              </a:rPr>
              <a:t>the </a:t>
            </a:r>
            <a:r>
              <a:rPr sz="2200" b="1" dirty="0">
                <a:solidFill>
                  <a:srgbClr val="335295"/>
                </a:solidFill>
                <a:latin typeface="Verdana"/>
                <a:cs typeface="Verdana"/>
              </a:rPr>
              <a:t>core</a:t>
            </a:r>
            <a:r>
              <a:rPr sz="2200" b="1" spc="-25" dirty="0">
                <a:solidFill>
                  <a:srgbClr val="335295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335295"/>
                </a:solidFill>
                <a:latin typeface="Verdana"/>
                <a:cs typeface="Verdana"/>
              </a:rPr>
              <a:t>via</a:t>
            </a:r>
            <a:r>
              <a:rPr sz="2200" b="1" spc="-5" dirty="0">
                <a:solidFill>
                  <a:srgbClr val="335295"/>
                </a:solidFill>
                <a:latin typeface="Verdana"/>
                <a:cs typeface="Verdana"/>
              </a:rPr>
              <a:t> </a:t>
            </a:r>
            <a:r>
              <a:rPr sz="2200" b="1" spc="-10" dirty="0">
                <a:solidFill>
                  <a:srgbClr val="335295"/>
                </a:solidFill>
                <a:latin typeface="Verdana"/>
                <a:cs typeface="Verdana"/>
              </a:rPr>
              <a:t>reflection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4813" y="5160264"/>
            <a:ext cx="2627902" cy="18293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53928" y="5086522"/>
            <a:ext cx="4620946" cy="19607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78952" y="124572"/>
            <a:ext cx="8300720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1050" marR="5080" indent="-3308985">
              <a:lnSpc>
                <a:spcPct val="100200"/>
              </a:lnSpc>
              <a:spcBef>
                <a:spcPts val="100"/>
              </a:spcBef>
            </a:pPr>
            <a:r>
              <a:rPr dirty="0"/>
              <a:t>Working</a:t>
            </a:r>
            <a:r>
              <a:rPr spc="-65" dirty="0"/>
              <a:t> </a:t>
            </a:r>
            <a:r>
              <a:rPr dirty="0"/>
              <a:t>Principle:</a:t>
            </a:r>
            <a:r>
              <a:rPr spc="-65" dirty="0"/>
              <a:t> </a:t>
            </a:r>
            <a:r>
              <a:rPr spc="-10" dirty="0"/>
              <a:t>Refractive Index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4585" y="1726907"/>
            <a:ext cx="8710295" cy="4552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The</a:t>
            </a:r>
            <a:r>
              <a:rPr sz="2200" spc="3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outer</a:t>
            </a:r>
            <a:r>
              <a:rPr sz="2200" spc="3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glass</a:t>
            </a:r>
            <a:r>
              <a:rPr sz="2200" spc="3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layer</a:t>
            </a:r>
            <a:r>
              <a:rPr sz="2200" spc="3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has</a:t>
            </a:r>
            <a:r>
              <a:rPr sz="2200" spc="3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3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lower</a:t>
            </a:r>
            <a:r>
              <a:rPr sz="2200" spc="3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refractive</a:t>
            </a:r>
            <a:r>
              <a:rPr sz="2200" spc="3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index</a:t>
            </a:r>
            <a:r>
              <a:rPr sz="2200" spc="37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(R.I.) 	</a:t>
            </a:r>
            <a:r>
              <a:rPr sz="2200" dirty="0">
                <a:latin typeface="Verdana"/>
                <a:cs typeface="Verdana"/>
              </a:rPr>
              <a:t>than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inner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layer.</a:t>
            </a:r>
            <a:endParaRPr sz="2200">
              <a:latin typeface="Verdana"/>
              <a:cs typeface="Verdana"/>
            </a:endParaRPr>
          </a:p>
          <a:p>
            <a:pPr marL="389255" marR="762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This</a:t>
            </a:r>
            <a:r>
              <a:rPr sz="2200" spc="-7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difference</a:t>
            </a:r>
            <a:r>
              <a:rPr sz="2200" spc="-6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6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"refractivity"</a:t>
            </a:r>
            <a:r>
              <a:rPr sz="2200" spc="-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ensures</a:t>
            </a:r>
            <a:r>
              <a:rPr sz="2200" spc="-6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light</a:t>
            </a:r>
            <a:r>
              <a:rPr sz="2200" spc="-6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-6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trapped 	</a:t>
            </a:r>
            <a:r>
              <a:rPr sz="2200" dirty="0">
                <a:latin typeface="Verdana"/>
                <a:cs typeface="Verdana"/>
              </a:rPr>
              <a:t>within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core.</a:t>
            </a:r>
            <a:endParaRPr sz="2200">
              <a:latin typeface="Verdana"/>
              <a:cs typeface="Verdana"/>
            </a:endParaRPr>
          </a:p>
          <a:p>
            <a:pPr marL="389255" marR="5715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Light</a:t>
            </a:r>
            <a:r>
              <a:rPr sz="2200" spc="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passing</a:t>
            </a:r>
            <a:r>
              <a:rPr sz="2200" spc="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from</a:t>
            </a:r>
            <a:r>
              <a:rPr sz="2200" spc="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dense</a:t>
            </a:r>
            <a:r>
              <a:rPr sz="2200" spc="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material</a:t>
            </a:r>
            <a:r>
              <a:rPr sz="2200" spc="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(inner</a:t>
            </a:r>
            <a:r>
              <a:rPr sz="2200" spc="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glass)</a:t>
            </a:r>
            <a:r>
              <a:rPr sz="2200" spc="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3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less 	</a:t>
            </a:r>
            <a:r>
              <a:rPr sz="2200" dirty="0">
                <a:latin typeface="Verdana"/>
                <a:cs typeface="Verdana"/>
              </a:rPr>
              <a:t>dense</a:t>
            </a:r>
            <a:r>
              <a:rPr sz="2200" spc="29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material</a:t>
            </a:r>
            <a:r>
              <a:rPr sz="2200" spc="30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29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refracted</a:t>
            </a:r>
            <a:r>
              <a:rPr sz="2200" spc="30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away</a:t>
            </a:r>
            <a:r>
              <a:rPr sz="2200" spc="30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from</a:t>
            </a:r>
            <a:r>
              <a:rPr sz="2200" spc="30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29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original 	direction.</a:t>
            </a:r>
            <a:endParaRPr sz="2200">
              <a:latin typeface="Verdana"/>
              <a:cs typeface="Verdana"/>
            </a:endParaRPr>
          </a:p>
          <a:p>
            <a:pPr marL="389255" marR="5715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At</a:t>
            </a:r>
            <a:r>
              <a:rPr sz="2200" spc="8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specific</a:t>
            </a:r>
            <a:r>
              <a:rPr sz="2200" spc="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"glancing</a:t>
            </a:r>
            <a:r>
              <a:rPr sz="2200" spc="8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angles,"</a:t>
            </a:r>
            <a:r>
              <a:rPr sz="2200" spc="7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beam</a:t>
            </a:r>
            <a:r>
              <a:rPr sz="2200" spc="9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8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completely 	</a:t>
            </a:r>
            <a:r>
              <a:rPr sz="2200" dirty="0">
                <a:latin typeface="Verdana"/>
                <a:cs typeface="Verdana"/>
              </a:rPr>
              <a:t>reflected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back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into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fibre.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73604" y="426127"/>
            <a:ext cx="851154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Fibre</a:t>
            </a:r>
            <a:r>
              <a:rPr spc="-40" dirty="0"/>
              <a:t> </a:t>
            </a:r>
            <a:r>
              <a:rPr dirty="0"/>
              <a:t>Bending</a:t>
            </a:r>
            <a:r>
              <a:rPr spc="-55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Light</a:t>
            </a:r>
            <a:r>
              <a:rPr spc="-40" dirty="0"/>
              <a:t> </a:t>
            </a:r>
            <a:r>
              <a:rPr spc="-10" dirty="0"/>
              <a:t>Paths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4585" y="1895276"/>
            <a:ext cx="8707755" cy="4384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0525" indent="-377825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Straight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Fibre:</a:t>
            </a:r>
            <a:r>
              <a:rPr sz="2200" b="1" spc="-4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Low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number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internal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reflections.</a:t>
            </a:r>
            <a:endParaRPr sz="2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85"/>
              </a:spcBef>
              <a:buFont typeface="Wingdings"/>
              <a:buChar char=""/>
            </a:pPr>
            <a:endParaRPr sz="2200">
              <a:latin typeface="Verdana"/>
              <a:cs typeface="Verdana"/>
            </a:endParaRPr>
          </a:p>
          <a:p>
            <a:pPr marL="390525" marR="5080" indent="-37846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Bent</a:t>
            </a:r>
            <a:r>
              <a:rPr sz="2200" b="1" spc="1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Fibre:</a:t>
            </a:r>
            <a:r>
              <a:rPr sz="2200" b="1" spc="9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Increased</a:t>
            </a:r>
            <a:r>
              <a:rPr sz="2200" spc="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number</a:t>
            </a:r>
            <a:r>
              <a:rPr sz="2200" spc="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reflections,</a:t>
            </a:r>
            <a:r>
              <a:rPr sz="2200" spc="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leading</a:t>
            </a:r>
            <a:r>
              <a:rPr sz="2200" spc="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100" dirty="0">
                <a:latin typeface="Verdana"/>
                <a:cs typeface="Verdana"/>
              </a:rPr>
              <a:t> </a:t>
            </a:r>
            <a:r>
              <a:rPr sz="2200" spc="-50" dirty="0">
                <a:latin typeface="Verdana"/>
                <a:cs typeface="Verdana"/>
              </a:rPr>
              <a:t>a </a:t>
            </a:r>
            <a:r>
              <a:rPr sz="2200" dirty="0">
                <a:latin typeface="Verdana"/>
                <a:cs typeface="Verdana"/>
              </a:rPr>
              <a:t>longer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travel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distance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light.</a:t>
            </a:r>
            <a:endParaRPr sz="2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85"/>
              </a:spcBef>
              <a:buFont typeface="Wingdings"/>
              <a:buChar char=""/>
            </a:pPr>
            <a:endParaRPr sz="2200">
              <a:latin typeface="Verdana"/>
              <a:cs typeface="Verdana"/>
            </a:endParaRPr>
          </a:p>
          <a:p>
            <a:pPr marL="390525" marR="5080" indent="-378460">
              <a:lnSpc>
                <a:spcPct val="150000"/>
              </a:lnSpc>
              <a:spcBef>
                <a:spcPts val="5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Increased</a:t>
            </a:r>
            <a:r>
              <a:rPr sz="2200" spc="1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travel</a:t>
            </a:r>
            <a:r>
              <a:rPr sz="2200" spc="2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distance</a:t>
            </a:r>
            <a:r>
              <a:rPr sz="2200" spc="1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1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1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bent</a:t>
            </a:r>
            <a:r>
              <a:rPr sz="2200" spc="1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fibre</a:t>
            </a:r>
            <a:r>
              <a:rPr sz="2200" spc="20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causes</a:t>
            </a:r>
            <a:r>
              <a:rPr sz="2200" spc="1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17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change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time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needed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light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pass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through.</a:t>
            </a:r>
            <a:endParaRPr sz="2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605"/>
              </a:spcBef>
              <a:buFont typeface="Wingdings"/>
              <a:buChar char=""/>
            </a:pPr>
            <a:endParaRPr sz="2200">
              <a:latin typeface="Verdana"/>
              <a:cs typeface="Verdana"/>
            </a:endParaRPr>
          </a:p>
          <a:p>
            <a:pPr marL="390525" indent="-377825">
              <a:lnSpc>
                <a:spcPct val="10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This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results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detectable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"change</a:t>
            </a:r>
            <a:r>
              <a:rPr sz="2200" b="1" spc="-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of</a:t>
            </a:r>
            <a:r>
              <a:rPr sz="2200" b="1" spc="-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phase".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56962" y="426127"/>
            <a:ext cx="694690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Total</a:t>
            </a:r>
            <a:r>
              <a:rPr spc="-55" dirty="0"/>
              <a:t> </a:t>
            </a:r>
            <a:r>
              <a:rPr dirty="0"/>
              <a:t>Internal</a:t>
            </a:r>
            <a:r>
              <a:rPr spc="-55" dirty="0"/>
              <a:t> </a:t>
            </a:r>
            <a:r>
              <a:rPr spc="-10" dirty="0"/>
              <a:t>Reflection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279" y="1581911"/>
            <a:ext cx="9242136" cy="540562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53959" y="426127"/>
            <a:ext cx="854900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Fibre</a:t>
            </a:r>
            <a:r>
              <a:rPr spc="-45" dirty="0"/>
              <a:t> </a:t>
            </a:r>
            <a:r>
              <a:rPr dirty="0"/>
              <a:t>Optic</a:t>
            </a:r>
            <a:r>
              <a:rPr spc="-55" dirty="0"/>
              <a:t> </a:t>
            </a:r>
            <a:r>
              <a:rPr dirty="0"/>
              <a:t>Sensor</a:t>
            </a:r>
            <a:r>
              <a:rPr spc="-10" dirty="0"/>
              <a:t> Mechanism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202" y="1276024"/>
            <a:ext cx="9044940" cy="6060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635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Setup:</a:t>
            </a:r>
            <a:r>
              <a:rPr sz="2200" b="1" spc="54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One</a:t>
            </a:r>
            <a:r>
              <a:rPr sz="2200" spc="5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"static</a:t>
            </a:r>
            <a:r>
              <a:rPr sz="2200" spc="5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fibre"</a:t>
            </a:r>
            <a:r>
              <a:rPr sz="2200" spc="5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(reference)</a:t>
            </a:r>
            <a:r>
              <a:rPr sz="2200" spc="5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5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one</a:t>
            </a:r>
            <a:r>
              <a:rPr sz="2200" spc="52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"measuring 	fibre".</a:t>
            </a:r>
            <a:endParaRPr sz="2200">
              <a:latin typeface="Verdana"/>
              <a:cs typeface="Verdana"/>
            </a:endParaRPr>
          </a:p>
          <a:p>
            <a:pPr marL="389255" marR="5715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Operation:</a:t>
            </a:r>
            <a:r>
              <a:rPr sz="2200" b="1" spc="5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Moving</a:t>
            </a:r>
            <a:r>
              <a:rPr sz="2200" spc="5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jaws</a:t>
            </a:r>
            <a:r>
              <a:rPr sz="2200" spc="5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force</a:t>
            </a:r>
            <a:r>
              <a:rPr sz="2200" spc="5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5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measuring</a:t>
            </a:r>
            <a:r>
              <a:rPr sz="2200" spc="5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fibre</a:t>
            </a:r>
            <a:r>
              <a:rPr sz="2200" spc="5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into</a:t>
            </a:r>
            <a:r>
              <a:rPr sz="2200" spc="515" dirty="0">
                <a:latin typeface="Verdana"/>
                <a:cs typeface="Verdana"/>
              </a:rPr>
              <a:t> </a:t>
            </a:r>
            <a:r>
              <a:rPr sz="2200" spc="-50" dirty="0">
                <a:latin typeface="Verdana"/>
                <a:cs typeface="Verdana"/>
              </a:rPr>
              <a:t>a 	</a:t>
            </a:r>
            <a:r>
              <a:rPr sz="2200" dirty="0">
                <a:latin typeface="Verdana"/>
                <a:cs typeface="Verdana"/>
              </a:rPr>
              <a:t>corrugated</a:t>
            </a:r>
            <a:r>
              <a:rPr sz="2200" spc="-13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shape.</a:t>
            </a:r>
            <a:endParaRPr sz="2200">
              <a:latin typeface="Verdana"/>
              <a:cs typeface="Verdana"/>
            </a:endParaRPr>
          </a:p>
          <a:p>
            <a:pPr marL="389255" marR="762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Light</a:t>
            </a:r>
            <a:r>
              <a:rPr sz="2200" spc="2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from</a:t>
            </a:r>
            <a:r>
              <a:rPr sz="2200" spc="2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2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distorted</a:t>
            </a:r>
            <a:r>
              <a:rPr sz="2200" spc="229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fibre</a:t>
            </a:r>
            <a:r>
              <a:rPr sz="2200" spc="2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229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compared</a:t>
            </a:r>
            <a:r>
              <a:rPr sz="2200" spc="229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2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light</a:t>
            </a:r>
            <a:r>
              <a:rPr sz="2200" spc="2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from</a:t>
            </a:r>
            <a:r>
              <a:rPr sz="2200" spc="254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the 	</a:t>
            </a:r>
            <a:r>
              <a:rPr sz="2200" dirty="0">
                <a:latin typeface="Verdana"/>
                <a:cs typeface="Verdana"/>
              </a:rPr>
              <a:t>static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fibre.</a:t>
            </a:r>
            <a:endParaRPr sz="2200">
              <a:latin typeface="Verdana"/>
              <a:cs typeface="Verdana"/>
            </a:endParaRPr>
          </a:p>
          <a:p>
            <a:pPr marL="389255" marR="6985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335295"/>
                </a:solidFill>
                <a:latin typeface="Verdana"/>
                <a:cs typeface="Verdana"/>
              </a:rPr>
              <a:t>If</a:t>
            </a:r>
            <a:r>
              <a:rPr sz="2200" b="1" spc="220" dirty="0">
                <a:solidFill>
                  <a:srgbClr val="335295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335295"/>
                </a:solidFill>
                <a:latin typeface="Verdana"/>
                <a:cs typeface="Verdana"/>
              </a:rPr>
              <a:t>the</a:t>
            </a:r>
            <a:r>
              <a:rPr sz="2200" b="1" spc="220" dirty="0">
                <a:solidFill>
                  <a:srgbClr val="335295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335295"/>
                </a:solidFill>
                <a:latin typeface="Verdana"/>
                <a:cs typeface="Verdana"/>
              </a:rPr>
              <a:t>sensing</a:t>
            </a:r>
            <a:r>
              <a:rPr sz="2200" b="1" spc="254" dirty="0">
                <a:solidFill>
                  <a:srgbClr val="335295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335295"/>
                </a:solidFill>
                <a:latin typeface="Verdana"/>
                <a:cs typeface="Verdana"/>
              </a:rPr>
              <a:t>path</a:t>
            </a:r>
            <a:r>
              <a:rPr sz="2200" b="1" spc="220" dirty="0">
                <a:solidFill>
                  <a:srgbClr val="335295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335295"/>
                </a:solidFill>
                <a:latin typeface="Verdana"/>
                <a:cs typeface="Verdana"/>
              </a:rPr>
              <a:t>changes</a:t>
            </a:r>
            <a:r>
              <a:rPr sz="2200" b="1" spc="245" dirty="0">
                <a:solidFill>
                  <a:srgbClr val="335295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335295"/>
                </a:solidFill>
                <a:latin typeface="Verdana"/>
                <a:cs typeface="Verdana"/>
              </a:rPr>
              <a:t>by</a:t>
            </a:r>
            <a:r>
              <a:rPr sz="2200" b="1" spc="229" dirty="0">
                <a:solidFill>
                  <a:srgbClr val="335295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335295"/>
                </a:solidFill>
                <a:latin typeface="Verdana"/>
                <a:cs typeface="Verdana"/>
              </a:rPr>
              <a:t>even</a:t>
            </a:r>
            <a:r>
              <a:rPr sz="2200" b="1" spc="220" dirty="0">
                <a:solidFill>
                  <a:srgbClr val="335295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335295"/>
                </a:solidFill>
                <a:latin typeface="Verdana"/>
                <a:cs typeface="Verdana"/>
              </a:rPr>
              <a:t>a</a:t>
            </a:r>
            <a:r>
              <a:rPr sz="2200" b="1" spc="254" dirty="0">
                <a:solidFill>
                  <a:srgbClr val="335295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335295"/>
                </a:solidFill>
                <a:latin typeface="Verdana"/>
                <a:cs typeface="Verdana"/>
              </a:rPr>
              <a:t>fraction</a:t>
            </a:r>
            <a:r>
              <a:rPr sz="2200" b="1" spc="225" dirty="0">
                <a:solidFill>
                  <a:srgbClr val="335295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335295"/>
                </a:solidFill>
                <a:latin typeface="Verdana"/>
                <a:cs typeface="Verdana"/>
              </a:rPr>
              <a:t>of</a:t>
            </a:r>
            <a:r>
              <a:rPr sz="2200" b="1" spc="220" dirty="0">
                <a:solidFill>
                  <a:srgbClr val="335295"/>
                </a:solidFill>
                <a:latin typeface="Verdana"/>
                <a:cs typeface="Verdana"/>
              </a:rPr>
              <a:t> </a:t>
            </a:r>
            <a:r>
              <a:rPr sz="2200" b="1" spc="-25" dirty="0">
                <a:solidFill>
                  <a:srgbClr val="335295"/>
                </a:solidFill>
                <a:latin typeface="Verdana"/>
                <a:cs typeface="Verdana"/>
              </a:rPr>
              <a:t>the 	</a:t>
            </a:r>
            <a:r>
              <a:rPr sz="2200" b="1" dirty="0">
                <a:solidFill>
                  <a:srgbClr val="335295"/>
                </a:solidFill>
                <a:latin typeface="Verdana"/>
                <a:cs typeface="Verdana"/>
              </a:rPr>
              <a:t>wavelength,</a:t>
            </a:r>
            <a:r>
              <a:rPr sz="2200" b="1" spc="400" dirty="0">
                <a:solidFill>
                  <a:srgbClr val="335295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335295"/>
                </a:solidFill>
                <a:latin typeface="Verdana"/>
                <a:cs typeface="Verdana"/>
              </a:rPr>
              <a:t>the</a:t>
            </a:r>
            <a:r>
              <a:rPr sz="2200" b="1" spc="415" dirty="0">
                <a:solidFill>
                  <a:srgbClr val="335295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335295"/>
                </a:solidFill>
                <a:latin typeface="Verdana"/>
                <a:cs typeface="Verdana"/>
              </a:rPr>
              <a:t>interference</a:t>
            </a:r>
            <a:r>
              <a:rPr sz="2200" b="1" spc="400" dirty="0">
                <a:solidFill>
                  <a:srgbClr val="335295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335295"/>
                </a:solidFill>
                <a:latin typeface="Verdana"/>
                <a:cs typeface="Verdana"/>
              </a:rPr>
              <a:t>pattern</a:t>
            </a:r>
            <a:r>
              <a:rPr sz="2200" b="1" spc="400" dirty="0">
                <a:solidFill>
                  <a:srgbClr val="335295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335295"/>
                </a:solidFill>
                <a:latin typeface="Verdana"/>
                <a:cs typeface="Verdana"/>
              </a:rPr>
              <a:t>shifts</a:t>
            </a:r>
            <a:r>
              <a:rPr sz="2200" b="1" spc="400" dirty="0">
                <a:solidFill>
                  <a:srgbClr val="335295"/>
                </a:solidFill>
                <a:latin typeface="Verdana"/>
                <a:cs typeface="Verdana"/>
              </a:rPr>
              <a:t>  </a:t>
            </a:r>
            <a:r>
              <a:rPr sz="2200" b="1" spc="-20" dirty="0">
                <a:solidFill>
                  <a:srgbClr val="335295"/>
                </a:solidFill>
                <a:latin typeface="Verdana"/>
                <a:cs typeface="Verdana"/>
              </a:rPr>
              <a:t>from 	</a:t>
            </a:r>
            <a:r>
              <a:rPr sz="2200" b="1" dirty="0">
                <a:solidFill>
                  <a:srgbClr val="335295"/>
                </a:solidFill>
                <a:latin typeface="Verdana"/>
                <a:cs typeface="Verdana"/>
              </a:rPr>
              <a:t>bright</a:t>
            </a:r>
            <a:r>
              <a:rPr sz="2200" b="1" spc="25" dirty="0">
                <a:solidFill>
                  <a:srgbClr val="335295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335295"/>
                </a:solidFill>
                <a:latin typeface="Verdana"/>
                <a:cs typeface="Verdana"/>
              </a:rPr>
              <a:t>to</a:t>
            </a:r>
            <a:r>
              <a:rPr sz="2200" b="1" spc="35" dirty="0">
                <a:solidFill>
                  <a:srgbClr val="335295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335295"/>
                </a:solidFill>
                <a:latin typeface="Verdana"/>
                <a:cs typeface="Verdana"/>
              </a:rPr>
              <a:t>dark.</a:t>
            </a:r>
            <a:r>
              <a:rPr sz="2200" b="1" spc="35" dirty="0">
                <a:solidFill>
                  <a:srgbClr val="335295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335295"/>
                </a:solidFill>
                <a:latin typeface="Verdana"/>
                <a:cs typeface="Verdana"/>
              </a:rPr>
              <a:t>This</a:t>
            </a:r>
            <a:r>
              <a:rPr sz="2200" b="1" spc="30" dirty="0">
                <a:solidFill>
                  <a:srgbClr val="335295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335295"/>
                </a:solidFill>
                <a:latin typeface="Verdana"/>
                <a:cs typeface="Verdana"/>
              </a:rPr>
              <a:t>allows</a:t>
            </a:r>
            <a:r>
              <a:rPr sz="2200" b="1" spc="40" dirty="0">
                <a:solidFill>
                  <a:srgbClr val="335295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335295"/>
                </a:solidFill>
                <a:latin typeface="Verdana"/>
                <a:cs typeface="Verdana"/>
              </a:rPr>
              <a:t>for</a:t>
            </a:r>
            <a:r>
              <a:rPr sz="2200" b="1" spc="25" dirty="0">
                <a:solidFill>
                  <a:srgbClr val="335295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335295"/>
                </a:solidFill>
                <a:latin typeface="Verdana"/>
                <a:cs typeface="Verdana"/>
              </a:rPr>
              <a:t>detecting</a:t>
            </a:r>
            <a:r>
              <a:rPr sz="2200" b="1" spc="35" dirty="0">
                <a:solidFill>
                  <a:srgbClr val="335295"/>
                </a:solidFill>
                <a:latin typeface="Verdana"/>
                <a:cs typeface="Verdana"/>
              </a:rPr>
              <a:t>  </a:t>
            </a:r>
            <a:r>
              <a:rPr sz="2200" b="1" spc="-10" dirty="0">
                <a:solidFill>
                  <a:srgbClr val="335295"/>
                </a:solidFill>
                <a:latin typeface="Verdana"/>
                <a:cs typeface="Verdana"/>
              </a:rPr>
              <a:t>incredibly 	</a:t>
            </a:r>
            <a:r>
              <a:rPr sz="2200" b="1" dirty="0">
                <a:solidFill>
                  <a:srgbClr val="335295"/>
                </a:solidFill>
                <a:latin typeface="Verdana"/>
                <a:cs typeface="Verdana"/>
              </a:rPr>
              <a:t>small</a:t>
            </a:r>
            <a:r>
              <a:rPr sz="2200" b="1" spc="-25" dirty="0">
                <a:solidFill>
                  <a:srgbClr val="335295"/>
                </a:solidFill>
                <a:latin typeface="Verdana"/>
                <a:cs typeface="Verdana"/>
              </a:rPr>
              <a:t> </a:t>
            </a:r>
            <a:r>
              <a:rPr sz="2200" b="1" spc="-10" dirty="0">
                <a:solidFill>
                  <a:srgbClr val="335295"/>
                </a:solidFill>
                <a:latin typeface="Verdana"/>
                <a:cs typeface="Verdana"/>
              </a:rPr>
              <a:t>movements.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A</a:t>
            </a:r>
            <a:r>
              <a:rPr sz="2200" spc="3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prism</a:t>
            </a:r>
            <a:r>
              <a:rPr sz="2200" spc="3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2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photocell</a:t>
            </a:r>
            <a:r>
              <a:rPr sz="2200" spc="3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3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used</a:t>
            </a:r>
            <a:r>
              <a:rPr sz="2200" spc="3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3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obtain</a:t>
            </a:r>
            <a:r>
              <a:rPr sz="2200" spc="3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3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measure</a:t>
            </a:r>
            <a:r>
              <a:rPr sz="2200" spc="31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the 	</a:t>
            </a:r>
            <a:r>
              <a:rPr sz="2200" dirty="0">
                <a:latin typeface="Verdana"/>
                <a:cs typeface="Verdana"/>
              </a:rPr>
              <a:t>resulting</a:t>
            </a:r>
            <a:r>
              <a:rPr sz="2200" spc="-1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interference</a:t>
            </a:r>
            <a:r>
              <a:rPr sz="2200" spc="-11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pattern.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26101" y="124572"/>
            <a:ext cx="8205470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6135" marR="5080" indent="-814069">
              <a:lnSpc>
                <a:spcPct val="100200"/>
              </a:lnSpc>
              <a:spcBef>
                <a:spcPts val="100"/>
              </a:spcBef>
            </a:pPr>
            <a:r>
              <a:rPr dirty="0"/>
              <a:t>Using</a:t>
            </a:r>
            <a:r>
              <a:rPr spc="-30" dirty="0"/>
              <a:t> </a:t>
            </a:r>
            <a:r>
              <a:rPr dirty="0"/>
              <a:t>Optical</a:t>
            </a:r>
            <a:r>
              <a:rPr spc="-25" dirty="0"/>
              <a:t> </a:t>
            </a:r>
            <a:r>
              <a:rPr dirty="0"/>
              <a:t>Fibres</a:t>
            </a:r>
            <a:r>
              <a:rPr spc="-70" dirty="0"/>
              <a:t> </a:t>
            </a:r>
            <a:r>
              <a:rPr dirty="0"/>
              <a:t>to </a:t>
            </a:r>
            <a:r>
              <a:rPr spc="-10" dirty="0"/>
              <a:t>sense </a:t>
            </a:r>
            <a:r>
              <a:rPr dirty="0"/>
              <a:t>small</a:t>
            </a:r>
            <a:r>
              <a:rPr spc="-40" dirty="0"/>
              <a:t> </a:t>
            </a:r>
            <a:r>
              <a:rPr dirty="0"/>
              <a:t>distance</a:t>
            </a:r>
            <a:r>
              <a:rPr spc="-30" dirty="0"/>
              <a:t> </a:t>
            </a:r>
            <a:r>
              <a:rPr spc="-10" dirty="0"/>
              <a:t>changes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5088" y="1545336"/>
            <a:ext cx="7050023" cy="571804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767412" y="426127"/>
            <a:ext cx="652462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Sensitivity</a:t>
            </a:r>
            <a:r>
              <a:rPr spc="-70" dirty="0"/>
              <a:t> </a:t>
            </a:r>
            <a:r>
              <a:rPr spc="-10" dirty="0"/>
              <a:t>Comparison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6985" indent="-37846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dirty="0"/>
              <a:t>Fibre</a:t>
            </a:r>
            <a:r>
              <a:rPr spc="95" dirty="0"/>
              <a:t> </a:t>
            </a:r>
            <a:r>
              <a:rPr dirty="0"/>
              <a:t>optic</a:t>
            </a:r>
            <a:r>
              <a:rPr spc="105" dirty="0"/>
              <a:t> </a:t>
            </a:r>
            <a:r>
              <a:rPr dirty="0"/>
              <a:t>sensors</a:t>
            </a:r>
            <a:r>
              <a:rPr spc="85" dirty="0"/>
              <a:t> </a:t>
            </a:r>
            <a:r>
              <a:rPr dirty="0"/>
              <a:t>are</a:t>
            </a:r>
            <a:r>
              <a:rPr spc="95" dirty="0"/>
              <a:t> </a:t>
            </a:r>
            <a:r>
              <a:rPr dirty="0"/>
              <a:t>generally</a:t>
            </a:r>
            <a:r>
              <a:rPr spc="80" dirty="0"/>
              <a:t> </a:t>
            </a:r>
            <a:r>
              <a:rPr dirty="0"/>
              <a:t>less</a:t>
            </a:r>
            <a:r>
              <a:rPr spc="85" dirty="0"/>
              <a:t> </a:t>
            </a:r>
            <a:r>
              <a:rPr dirty="0"/>
              <a:t>sensitive</a:t>
            </a:r>
            <a:r>
              <a:rPr spc="95" dirty="0"/>
              <a:t> </a:t>
            </a:r>
            <a:r>
              <a:rPr dirty="0"/>
              <a:t>than</a:t>
            </a:r>
            <a:r>
              <a:rPr spc="100" dirty="0"/>
              <a:t> </a:t>
            </a:r>
            <a:r>
              <a:rPr spc="-10" dirty="0"/>
              <a:t>direct </a:t>
            </a:r>
            <a:r>
              <a:rPr spc="-20" dirty="0"/>
              <a:t>(open-</a:t>
            </a:r>
            <a:r>
              <a:rPr dirty="0"/>
              <a:t>path)</a:t>
            </a:r>
            <a:r>
              <a:rPr spc="30" dirty="0"/>
              <a:t> </a:t>
            </a:r>
            <a:r>
              <a:rPr spc="-10" dirty="0"/>
              <a:t>interferometry.</a:t>
            </a:r>
          </a:p>
          <a:p>
            <a:pPr>
              <a:lnSpc>
                <a:spcPct val="100000"/>
              </a:lnSpc>
              <a:spcBef>
                <a:spcPts val="1285"/>
              </a:spcBef>
              <a:buFont typeface="Wingdings"/>
              <a:buChar char=""/>
            </a:pPr>
            <a:endParaRPr spc="-10" dirty="0"/>
          </a:p>
          <a:p>
            <a:pPr marL="390525" marR="5080" indent="-378460">
              <a:lnSpc>
                <a:spcPct val="150000"/>
              </a:lnSpc>
              <a:buFont typeface="Wingdings"/>
              <a:buChar char=""/>
              <a:tabLst>
                <a:tab pos="390525" algn="l"/>
                <a:tab pos="1935480" algn="l"/>
                <a:tab pos="2813685" algn="l"/>
                <a:tab pos="3528060" algn="l"/>
                <a:tab pos="4518025" algn="l"/>
                <a:tab pos="5970905" algn="l"/>
                <a:tab pos="6615430" algn="l"/>
                <a:tab pos="8176895" algn="l"/>
              </a:tabLst>
            </a:pPr>
            <a:r>
              <a:rPr spc="-10" dirty="0"/>
              <a:t>However,</a:t>
            </a:r>
            <a:r>
              <a:rPr dirty="0"/>
              <a:t>	</a:t>
            </a:r>
            <a:r>
              <a:rPr spc="-20" dirty="0"/>
              <a:t>they</a:t>
            </a:r>
            <a:r>
              <a:rPr dirty="0"/>
              <a:t>	</a:t>
            </a:r>
            <a:r>
              <a:rPr spc="-25" dirty="0"/>
              <a:t>are</a:t>
            </a:r>
            <a:r>
              <a:rPr dirty="0"/>
              <a:t>	</a:t>
            </a:r>
            <a:r>
              <a:rPr spc="-20" dirty="0"/>
              <a:t>more</a:t>
            </a:r>
            <a:r>
              <a:rPr dirty="0"/>
              <a:t>	</a:t>
            </a:r>
            <a:r>
              <a:rPr spc="-10" dirty="0"/>
              <a:t>versatile</a:t>
            </a:r>
            <a:r>
              <a:rPr dirty="0"/>
              <a:t>	</a:t>
            </a:r>
            <a:r>
              <a:rPr spc="-25" dirty="0"/>
              <a:t>for</a:t>
            </a:r>
            <a:r>
              <a:rPr dirty="0"/>
              <a:t>	</a:t>
            </a:r>
            <a:r>
              <a:rPr spc="-10" dirty="0"/>
              <a:t>industrial</a:t>
            </a:r>
            <a:r>
              <a:rPr dirty="0"/>
              <a:t>	</a:t>
            </a:r>
            <a:r>
              <a:rPr spc="-25" dirty="0"/>
              <a:t>and </a:t>
            </a:r>
            <a:r>
              <a:rPr dirty="0"/>
              <a:t>environmental</a:t>
            </a:r>
            <a:r>
              <a:rPr spc="-135" dirty="0"/>
              <a:t> </a:t>
            </a:r>
            <a:r>
              <a:rPr spc="-20" dirty="0"/>
              <a:t>use.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18571" y="426127"/>
            <a:ext cx="762127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Environmental</a:t>
            </a:r>
            <a:r>
              <a:rPr spc="-55" dirty="0"/>
              <a:t> </a:t>
            </a:r>
            <a:r>
              <a:rPr spc="-10" dirty="0"/>
              <a:t>Advantages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4585" y="1726907"/>
            <a:ext cx="8710930" cy="2540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6350" indent="-37846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  <a:tab pos="1821180" algn="l"/>
                <a:tab pos="2306320" algn="l"/>
                <a:tab pos="4367530" algn="l"/>
                <a:tab pos="5455285" algn="l"/>
                <a:tab pos="6922134" algn="l"/>
                <a:tab pos="7769859" algn="l"/>
              </a:tabLst>
            </a:pPr>
            <a:r>
              <a:rPr sz="2200" spc="-10" dirty="0">
                <a:latin typeface="Verdana"/>
                <a:cs typeface="Verdana"/>
              </a:rPr>
              <a:t>Effective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in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surroundings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where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standard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light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beams </a:t>
            </a:r>
            <a:r>
              <a:rPr sz="2200" dirty="0">
                <a:latin typeface="Verdana"/>
                <a:cs typeface="Verdana"/>
              </a:rPr>
              <a:t>cannot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penetrate,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such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as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dark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liquids.</a:t>
            </a:r>
            <a:endParaRPr sz="2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85"/>
              </a:spcBef>
              <a:buFont typeface="Wingdings"/>
              <a:buChar char=""/>
            </a:pPr>
            <a:endParaRPr sz="2200">
              <a:latin typeface="Verdana"/>
              <a:cs typeface="Verdana"/>
            </a:endParaRPr>
          </a:p>
          <a:p>
            <a:pPr marL="390525" marR="5080" indent="-378460">
              <a:lnSpc>
                <a:spcPct val="150000"/>
              </a:lnSpc>
              <a:buFont typeface="Wingdings"/>
              <a:buChar char=""/>
              <a:tabLst>
                <a:tab pos="390525" algn="l"/>
                <a:tab pos="1809750" algn="l"/>
                <a:tab pos="2370455" algn="l"/>
                <a:tab pos="3996690" algn="l"/>
                <a:tab pos="4545965" algn="l"/>
                <a:tab pos="5628005" algn="l"/>
                <a:tab pos="7839709" algn="l"/>
              </a:tabLst>
            </a:pPr>
            <a:r>
              <a:rPr sz="2200" spc="-10" dirty="0">
                <a:latin typeface="Verdana"/>
                <a:cs typeface="Verdana"/>
              </a:rPr>
              <a:t>Capable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of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operating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in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harsh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environments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where </a:t>
            </a:r>
            <a:r>
              <a:rPr sz="2200" dirty="0">
                <a:latin typeface="Verdana"/>
                <a:cs typeface="Verdana"/>
              </a:rPr>
              <a:t>mechanical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connections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impractical.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418217" y="426127"/>
            <a:ext cx="722439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Calibration</a:t>
            </a:r>
            <a:r>
              <a:rPr spc="-65" dirty="0"/>
              <a:t> </a:t>
            </a:r>
            <a:r>
              <a:rPr spc="-10" dirty="0"/>
              <a:t>Requirements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4585" y="1726907"/>
            <a:ext cx="8707755" cy="2540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5080" indent="-37846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  <a:tab pos="1374775" algn="l"/>
                <a:tab pos="1781810" algn="l"/>
                <a:tab pos="2312035" algn="l"/>
                <a:tab pos="3410585" algn="l"/>
                <a:tab pos="4378325" algn="l"/>
                <a:tab pos="6199505" algn="l"/>
                <a:tab pos="7569200" algn="l"/>
              </a:tabLst>
            </a:pPr>
            <a:r>
              <a:rPr sz="2200" spc="-10" dirty="0">
                <a:latin typeface="Verdana"/>
                <a:cs typeface="Verdana"/>
              </a:rPr>
              <a:t>There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is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no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simple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linear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relationship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between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physical </a:t>
            </a:r>
            <a:r>
              <a:rPr sz="2200" dirty="0">
                <a:latin typeface="Verdana"/>
                <a:cs typeface="Verdana"/>
              </a:rPr>
              <a:t>movement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light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delay.</a:t>
            </a:r>
            <a:endParaRPr sz="2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85"/>
              </a:spcBef>
              <a:buFont typeface="Wingdings"/>
              <a:buChar char=""/>
            </a:pPr>
            <a:endParaRPr sz="2200">
              <a:latin typeface="Verdana"/>
              <a:cs typeface="Verdana"/>
            </a:endParaRPr>
          </a:p>
          <a:p>
            <a:pPr marL="390525" marR="5080" indent="-37846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The</a:t>
            </a:r>
            <a:r>
              <a:rPr sz="2200" spc="2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sensor</a:t>
            </a:r>
            <a:r>
              <a:rPr sz="2200" spc="2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must</a:t>
            </a:r>
            <a:r>
              <a:rPr sz="2200" spc="2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be</a:t>
            </a:r>
            <a:r>
              <a:rPr sz="2200" spc="2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calibrated</a:t>
            </a:r>
            <a:r>
              <a:rPr sz="2200" spc="2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over</a:t>
            </a:r>
            <a:r>
              <a:rPr sz="2200" spc="2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its</a:t>
            </a:r>
            <a:r>
              <a:rPr sz="2200" spc="2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entire</a:t>
            </a:r>
            <a:r>
              <a:rPr sz="2200" spc="2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operational </a:t>
            </a:r>
            <a:r>
              <a:rPr sz="2200" dirty="0">
                <a:latin typeface="Verdana"/>
                <a:cs typeface="Verdana"/>
              </a:rPr>
              <a:t>range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ensure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accuracy.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84137" y="426127"/>
            <a:ext cx="7490459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Fibre</a:t>
            </a:r>
            <a:r>
              <a:rPr spc="-35" dirty="0"/>
              <a:t> </a:t>
            </a:r>
            <a:r>
              <a:rPr dirty="0"/>
              <a:t>Optic</a:t>
            </a:r>
            <a:r>
              <a:rPr spc="-40" dirty="0"/>
              <a:t> </a:t>
            </a:r>
            <a:r>
              <a:rPr spc="-10" dirty="0"/>
              <a:t>Characteristics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8140" y="1545336"/>
            <a:ext cx="4331208" cy="261823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74564" y="1562100"/>
            <a:ext cx="4119372" cy="261823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28672" y="4274820"/>
            <a:ext cx="5402580" cy="297179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51889" y="426127"/>
            <a:ext cx="455358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Key</a:t>
            </a:r>
            <a:r>
              <a:rPr spc="-35" dirty="0"/>
              <a:t> </a:t>
            </a:r>
            <a:r>
              <a:rPr spc="-10" dirty="0"/>
              <a:t>Advantages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90836" y="1518284"/>
            <a:ext cx="8793480" cy="2540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890" algn="just">
              <a:lnSpc>
                <a:spcPct val="150000"/>
              </a:lnSpc>
              <a:spcBef>
                <a:spcPts val="100"/>
              </a:spcBef>
            </a:pPr>
            <a:r>
              <a:rPr sz="2200" dirty="0">
                <a:latin typeface="Verdana"/>
                <a:cs typeface="Verdana"/>
              </a:rPr>
              <a:t>Fiber</a:t>
            </a:r>
            <a:r>
              <a:rPr sz="2200" spc="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optic</a:t>
            </a:r>
            <a:r>
              <a:rPr sz="2200" spc="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sensors</a:t>
            </a:r>
            <a:r>
              <a:rPr sz="2200" spc="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offer</a:t>
            </a:r>
            <a:r>
              <a:rPr sz="2200" spc="6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several</a:t>
            </a:r>
            <a:r>
              <a:rPr sz="2200" spc="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benefits</a:t>
            </a:r>
            <a:r>
              <a:rPr sz="2200" spc="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over</a:t>
            </a:r>
            <a:r>
              <a:rPr sz="2200" spc="4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traditional </a:t>
            </a:r>
            <a:r>
              <a:rPr sz="2200" dirty="0">
                <a:latin typeface="Verdana"/>
                <a:cs typeface="Verdana"/>
              </a:rPr>
              <a:t>electronic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sensors,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particularly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harsh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environments: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00AF50"/>
                </a:solidFill>
                <a:latin typeface="Verdana"/>
                <a:cs typeface="Verdana"/>
              </a:rPr>
              <a:t>Immunity</a:t>
            </a:r>
            <a:r>
              <a:rPr sz="2200" b="1" spc="170" dirty="0">
                <a:solidFill>
                  <a:srgbClr val="00AF5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00AF50"/>
                </a:solidFill>
                <a:latin typeface="Verdana"/>
                <a:cs typeface="Verdana"/>
              </a:rPr>
              <a:t>to</a:t>
            </a:r>
            <a:r>
              <a:rPr sz="2200" b="1" spc="165" dirty="0">
                <a:solidFill>
                  <a:srgbClr val="00AF5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00AF50"/>
                </a:solidFill>
                <a:latin typeface="Verdana"/>
                <a:cs typeface="Verdana"/>
              </a:rPr>
              <a:t>Electromagnetic</a:t>
            </a:r>
            <a:r>
              <a:rPr sz="2200" b="1" spc="160" dirty="0">
                <a:solidFill>
                  <a:srgbClr val="00AF5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00AF50"/>
                </a:solidFill>
                <a:latin typeface="Verdana"/>
                <a:cs typeface="Verdana"/>
              </a:rPr>
              <a:t>Interference</a:t>
            </a:r>
            <a:r>
              <a:rPr sz="2200" b="1" spc="180" dirty="0">
                <a:solidFill>
                  <a:srgbClr val="00AF50"/>
                </a:solidFill>
                <a:latin typeface="Verdana"/>
                <a:cs typeface="Verdana"/>
              </a:rPr>
              <a:t>  </a:t>
            </a:r>
            <a:r>
              <a:rPr sz="2200" b="1" spc="-10" dirty="0">
                <a:solidFill>
                  <a:srgbClr val="00AF50"/>
                </a:solidFill>
                <a:latin typeface="Verdana"/>
                <a:cs typeface="Verdana"/>
              </a:rPr>
              <a:t>(EMI): 	</a:t>
            </a:r>
            <a:r>
              <a:rPr sz="2200" dirty="0">
                <a:latin typeface="Verdana"/>
                <a:cs typeface="Verdana"/>
              </a:rPr>
              <a:t>Because</a:t>
            </a:r>
            <a:r>
              <a:rPr sz="2200" spc="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they</a:t>
            </a:r>
            <a:r>
              <a:rPr sz="2200" spc="11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use</a:t>
            </a:r>
            <a:r>
              <a:rPr sz="2200" spc="1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light</a:t>
            </a:r>
            <a:r>
              <a:rPr sz="2200" spc="1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signals</a:t>
            </a:r>
            <a:r>
              <a:rPr sz="2200" spc="1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instead</a:t>
            </a:r>
            <a:r>
              <a:rPr sz="2200" spc="1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1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electrical</a:t>
            </a:r>
            <a:r>
              <a:rPr sz="2200" spc="11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signals, 	</a:t>
            </a:r>
            <a:r>
              <a:rPr sz="2200" dirty="0">
                <a:latin typeface="Verdana"/>
                <a:cs typeface="Verdana"/>
              </a:rPr>
              <a:t>they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not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affected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by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electrical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noise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magnetic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fields.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0836" y="4032928"/>
            <a:ext cx="879157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5080" indent="-37846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  <a:tab pos="1664970" algn="l"/>
                <a:tab pos="1821180" algn="l"/>
                <a:tab pos="2239010" algn="l"/>
                <a:tab pos="3505200" algn="l"/>
                <a:tab pos="4127500" algn="l"/>
                <a:tab pos="4183379" algn="l"/>
                <a:tab pos="6743700" algn="l"/>
                <a:tab pos="7703184" algn="l"/>
                <a:tab pos="8322309" algn="l"/>
              </a:tabLst>
            </a:pPr>
            <a:r>
              <a:rPr sz="2200" b="1" spc="-10" dirty="0">
                <a:solidFill>
                  <a:srgbClr val="00AF50"/>
                </a:solidFill>
                <a:latin typeface="Verdana"/>
                <a:cs typeface="Verdana"/>
              </a:rPr>
              <a:t>Safety</a:t>
            </a:r>
            <a:r>
              <a:rPr sz="2200" b="1" dirty="0">
                <a:solidFill>
                  <a:srgbClr val="00AF50"/>
                </a:solidFill>
                <a:latin typeface="Verdana"/>
                <a:cs typeface="Verdana"/>
              </a:rPr>
              <a:t>	</a:t>
            </a:r>
            <a:r>
              <a:rPr sz="2200" b="1" spc="-25" dirty="0">
                <a:solidFill>
                  <a:srgbClr val="00AF50"/>
                </a:solidFill>
                <a:latin typeface="Verdana"/>
                <a:cs typeface="Verdana"/>
              </a:rPr>
              <a:t>in</a:t>
            </a:r>
            <a:r>
              <a:rPr sz="2200" b="1" dirty="0">
                <a:solidFill>
                  <a:srgbClr val="00AF50"/>
                </a:solidFill>
                <a:latin typeface="Verdana"/>
                <a:cs typeface="Verdana"/>
              </a:rPr>
              <a:t>	</a:t>
            </a:r>
            <a:r>
              <a:rPr sz="2200" b="1" spc="-10" dirty="0">
                <a:solidFill>
                  <a:srgbClr val="00AF50"/>
                </a:solidFill>
                <a:latin typeface="Verdana"/>
                <a:cs typeface="Verdana"/>
              </a:rPr>
              <a:t>Hazardous</a:t>
            </a:r>
            <a:r>
              <a:rPr sz="2200" b="1" dirty="0">
                <a:solidFill>
                  <a:srgbClr val="00AF50"/>
                </a:solidFill>
                <a:latin typeface="Verdana"/>
                <a:cs typeface="Verdana"/>
              </a:rPr>
              <a:t>		</a:t>
            </a:r>
            <a:r>
              <a:rPr sz="2200" b="1" spc="-10" dirty="0">
                <a:solidFill>
                  <a:srgbClr val="00AF50"/>
                </a:solidFill>
                <a:latin typeface="Verdana"/>
                <a:cs typeface="Verdana"/>
              </a:rPr>
              <a:t>Environments:</a:t>
            </a:r>
            <a:r>
              <a:rPr sz="2200" b="1" dirty="0">
                <a:solidFill>
                  <a:srgbClr val="00AF50"/>
                </a:solidFill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They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do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not </a:t>
            </a:r>
            <a:r>
              <a:rPr sz="2200" spc="-10" dirty="0">
                <a:latin typeface="Verdana"/>
                <a:cs typeface="Verdana"/>
              </a:rPr>
              <a:t>conduct</a:t>
            </a:r>
            <a:r>
              <a:rPr sz="2200" dirty="0">
                <a:latin typeface="Verdana"/>
                <a:cs typeface="Verdana"/>
              </a:rPr>
              <a:t>		</a:t>
            </a:r>
            <a:r>
              <a:rPr sz="2200" spc="-10" dirty="0">
                <a:latin typeface="Verdana"/>
                <a:cs typeface="Verdana"/>
              </a:rPr>
              <a:t>electricity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or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create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12655" y="4535830"/>
            <a:ext cx="366966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00660">
              <a:lnSpc>
                <a:spcPct val="150000"/>
              </a:lnSpc>
              <a:spcBef>
                <a:spcPts val="100"/>
              </a:spcBef>
              <a:tabLst>
                <a:tab pos="1562735" algn="l"/>
                <a:tab pos="1772285" algn="l"/>
                <a:tab pos="2349500" algn="l"/>
                <a:tab pos="2929255" algn="l"/>
              </a:tabLst>
            </a:pPr>
            <a:r>
              <a:rPr sz="2200" spc="-10" dirty="0">
                <a:latin typeface="Verdana"/>
                <a:cs typeface="Verdana"/>
              </a:rPr>
              <a:t>sparks,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making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them </a:t>
            </a:r>
            <a:r>
              <a:rPr sz="2200" spc="-10" dirty="0">
                <a:latin typeface="Verdana"/>
                <a:cs typeface="Verdana"/>
              </a:rPr>
              <a:t>flammable</a:t>
            </a:r>
            <a:r>
              <a:rPr sz="2200" dirty="0">
                <a:latin typeface="Verdana"/>
                <a:cs typeface="Verdana"/>
              </a:rPr>
              <a:t>		</a:t>
            </a:r>
            <a:r>
              <a:rPr sz="2200" spc="-25" dirty="0">
                <a:latin typeface="Verdana"/>
                <a:cs typeface="Verdana"/>
              </a:rPr>
              <a:t>or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explosive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68727" y="5206965"/>
            <a:ext cx="447738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892300" algn="l"/>
                <a:tab pos="2756535" algn="l"/>
                <a:tab pos="3434079" algn="l"/>
                <a:tab pos="4209415" algn="l"/>
              </a:tabLst>
            </a:pPr>
            <a:r>
              <a:rPr sz="2200" spc="-10" dirty="0">
                <a:latin typeface="Verdana"/>
                <a:cs typeface="Verdana"/>
              </a:rPr>
              <a:t>intrinsically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safe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for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use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in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68727" y="5709866"/>
            <a:ext cx="716089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Verdana"/>
                <a:cs typeface="Verdana"/>
              </a:rPr>
              <a:t>environments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(e.g.,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coal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mines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near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jet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fuel).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51889" y="426127"/>
            <a:ext cx="455358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Key</a:t>
            </a:r>
            <a:r>
              <a:rPr spc="-35" dirty="0"/>
              <a:t> </a:t>
            </a:r>
            <a:r>
              <a:rPr spc="-10" dirty="0"/>
              <a:t>Advantages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202" y="1561043"/>
            <a:ext cx="9051290" cy="5557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00AF50"/>
                </a:solidFill>
                <a:latin typeface="Verdana"/>
                <a:cs typeface="Verdana"/>
              </a:rPr>
              <a:t>Environmental</a:t>
            </a:r>
            <a:r>
              <a:rPr sz="2200" b="1" spc="340" dirty="0">
                <a:solidFill>
                  <a:srgbClr val="00AF5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00AF50"/>
                </a:solidFill>
                <a:latin typeface="Verdana"/>
                <a:cs typeface="Verdana"/>
              </a:rPr>
              <a:t>Resilience:</a:t>
            </a:r>
            <a:r>
              <a:rPr sz="2200" b="1" spc="335" dirty="0">
                <a:solidFill>
                  <a:srgbClr val="00AF5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They</a:t>
            </a:r>
            <a:r>
              <a:rPr sz="2200" spc="3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can</a:t>
            </a:r>
            <a:r>
              <a:rPr sz="2200" spc="3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operate</a:t>
            </a:r>
            <a:r>
              <a:rPr sz="2200" spc="3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over</a:t>
            </a:r>
            <a:r>
              <a:rPr sz="2200" spc="3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30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very 	</a:t>
            </a:r>
            <a:r>
              <a:rPr sz="2200" dirty="0">
                <a:latin typeface="Verdana"/>
                <a:cs typeface="Verdana"/>
              </a:rPr>
              <a:t>wide</a:t>
            </a:r>
            <a:r>
              <a:rPr sz="2200" spc="1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temperature</a:t>
            </a:r>
            <a:r>
              <a:rPr sz="2200" spc="19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range</a:t>
            </a:r>
            <a:r>
              <a:rPr sz="2200" spc="18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19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19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resistant</a:t>
            </a:r>
            <a:r>
              <a:rPr sz="2200" spc="18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19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chemical 	</a:t>
            </a:r>
            <a:r>
              <a:rPr sz="2200" dirty="0">
                <a:latin typeface="Verdana"/>
                <a:cs typeface="Verdana"/>
              </a:rPr>
              <a:t>corrosion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radiation.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00AF50"/>
                </a:solidFill>
                <a:latin typeface="Verdana"/>
                <a:cs typeface="Verdana"/>
              </a:rPr>
              <a:t>Remote</a:t>
            </a:r>
            <a:r>
              <a:rPr sz="2200" b="1" spc="140" dirty="0">
                <a:solidFill>
                  <a:srgbClr val="00AF5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00AF50"/>
                </a:solidFill>
                <a:latin typeface="Verdana"/>
                <a:cs typeface="Verdana"/>
              </a:rPr>
              <a:t>and</a:t>
            </a:r>
            <a:r>
              <a:rPr sz="2200" b="1" spc="135" dirty="0">
                <a:solidFill>
                  <a:srgbClr val="00AF5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00AF50"/>
                </a:solidFill>
                <a:latin typeface="Verdana"/>
                <a:cs typeface="Verdana"/>
              </a:rPr>
              <a:t>Distributed</a:t>
            </a:r>
            <a:r>
              <a:rPr sz="2200" b="1" spc="150" dirty="0">
                <a:solidFill>
                  <a:srgbClr val="00AF5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00AF50"/>
                </a:solidFill>
                <a:latin typeface="Verdana"/>
                <a:cs typeface="Verdana"/>
              </a:rPr>
              <a:t>Sensing:</a:t>
            </a:r>
            <a:r>
              <a:rPr sz="2200" b="1" spc="140" dirty="0">
                <a:solidFill>
                  <a:srgbClr val="00AF5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1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single</a:t>
            </a:r>
            <a:r>
              <a:rPr sz="2200" spc="10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fiber</a:t>
            </a:r>
            <a:r>
              <a:rPr sz="2200" spc="120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can 	</a:t>
            </a:r>
            <a:r>
              <a:rPr sz="2200" dirty="0">
                <a:latin typeface="Verdana"/>
                <a:cs typeface="Verdana"/>
              </a:rPr>
              <a:t>support</a:t>
            </a:r>
            <a:r>
              <a:rPr sz="2200" spc="4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multiple</a:t>
            </a:r>
            <a:r>
              <a:rPr sz="2200" spc="43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sensors</a:t>
            </a:r>
            <a:r>
              <a:rPr sz="2200" spc="4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along</a:t>
            </a:r>
            <a:r>
              <a:rPr sz="2200" spc="459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its</a:t>
            </a:r>
            <a:r>
              <a:rPr sz="2200" spc="4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length</a:t>
            </a:r>
            <a:r>
              <a:rPr sz="2200" spc="4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(multiplexing)</a:t>
            </a:r>
            <a:r>
              <a:rPr sz="2200" spc="45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or 	</a:t>
            </a:r>
            <a:r>
              <a:rPr sz="2200" dirty="0">
                <a:latin typeface="Verdana"/>
                <a:cs typeface="Verdana"/>
              </a:rPr>
              <a:t>act</a:t>
            </a:r>
            <a:r>
              <a:rPr sz="2200" spc="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as</a:t>
            </a:r>
            <a:r>
              <a:rPr sz="2200" spc="-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one</a:t>
            </a:r>
            <a:r>
              <a:rPr sz="2200" spc="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continuous,</a:t>
            </a:r>
            <a:r>
              <a:rPr sz="2200" spc="1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long-</a:t>
            </a:r>
            <a:r>
              <a:rPr sz="2200" dirty="0">
                <a:latin typeface="Verdana"/>
                <a:cs typeface="Verdana"/>
              </a:rPr>
              <a:t>distance</a:t>
            </a:r>
            <a:r>
              <a:rPr sz="2200" spc="10" dirty="0">
                <a:latin typeface="Verdana"/>
                <a:cs typeface="Verdana"/>
              </a:rPr>
              <a:t> </a:t>
            </a:r>
            <a:r>
              <a:rPr sz="2200" spc="-30" dirty="0">
                <a:latin typeface="Verdana"/>
                <a:cs typeface="Verdana"/>
              </a:rPr>
              <a:t>sensor,</a:t>
            </a:r>
            <a:r>
              <a:rPr sz="2200" spc="-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which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allows</a:t>
            </a:r>
            <a:r>
              <a:rPr sz="2200" spc="-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for 	</a:t>
            </a:r>
            <a:r>
              <a:rPr sz="2200" dirty="0">
                <a:latin typeface="Verdana"/>
                <a:cs typeface="Verdana"/>
              </a:rPr>
              <a:t>monitoring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over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many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kilometers.</a:t>
            </a:r>
            <a:endParaRPr sz="2200">
              <a:latin typeface="Verdana"/>
              <a:cs typeface="Verdana"/>
            </a:endParaRPr>
          </a:p>
          <a:p>
            <a:pPr marL="389255" marR="635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00AF50"/>
                </a:solidFill>
                <a:latin typeface="Verdana"/>
                <a:cs typeface="Verdana"/>
              </a:rPr>
              <a:t>Compactness</a:t>
            </a:r>
            <a:r>
              <a:rPr sz="2200" b="1" spc="215" dirty="0">
                <a:solidFill>
                  <a:srgbClr val="00AF5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00AF50"/>
                </a:solidFill>
                <a:latin typeface="Verdana"/>
                <a:cs typeface="Verdana"/>
              </a:rPr>
              <a:t>and</a:t>
            </a:r>
            <a:r>
              <a:rPr sz="2200" b="1" spc="204" dirty="0">
                <a:solidFill>
                  <a:srgbClr val="00AF5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00AF50"/>
                </a:solidFill>
                <a:latin typeface="Verdana"/>
                <a:cs typeface="Verdana"/>
              </a:rPr>
              <a:t>Lightweight:</a:t>
            </a:r>
            <a:r>
              <a:rPr sz="2200" b="1" spc="204" dirty="0">
                <a:solidFill>
                  <a:srgbClr val="00AF5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Their</a:t>
            </a:r>
            <a:r>
              <a:rPr sz="2200" spc="1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small</a:t>
            </a:r>
            <a:r>
              <a:rPr sz="2200" spc="18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size</a:t>
            </a:r>
            <a:r>
              <a:rPr sz="2200" spc="180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and 	</a:t>
            </a:r>
            <a:r>
              <a:rPr sz="2200" dirty="0">
                <a:latin typeface="Verdana"/>
                <a:cs typeface="Verdana"/>
              </a:rPr>
              <a:t>flexibility</a:t>
            </a:r>
            <a:r>
              <a:rPr sz="2200" spc="1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allow</a:t>
            </a:r>
            <a:r>
              <a:rPr sz="2200" spc="1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them</a:t>
            </a:r>
            <a:r>
              <a:rPr sz="2200" spc="1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1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be</a:t>
            </a:r>
            <a:r>
              <a:rPr sz="2200" spc="1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integrated</a:t>
            </a:r>
            <a:r>
              <a:rPr sz="2200" spc="1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into</a:t>
            </a:r>
            <a:r>
              <a:rPr sz="2200" spc="1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complex</a:t>
            </a:r>
            <a:r>
              <a:rPr sz="2200" spc="2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19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small 	</a:t>
            </a:r>
            <a:r>
              <a:rPr sz="2200" dirty="0">
                <a:latin typeface="Verdana"/>
                <a:cs typeface="Verdana"/>
              </a:rPr>
              <a:t>structures,</a:t>
            </a:r>
            <a:r>
              <a:rPr sz="2200" spc="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such</a:t>
            </a:r>
            <a:r>
              <a:rPr sz="2200" spc="7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as</a:t>
            </a:r>
            <a:r>
              <a:rPr sz="2200" spc="6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8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medical</a:t>
            </a:r>
            <a:r>
              <a:rPr sz="2200" spc="8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devices</a:t>
            </a:r>
            <a:r>
              <a:rPr sz="2200" spc="7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wings</a:t>
            </a:r>
            <a:r>
              <a:rPr sz="2200" spc="65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of 	</a:t>
            </a:r>
            <a:r>
              <a:rPr sz="2200" spc="-10" dirty="0">
                <a:latin typeface="Verdana"/>
                <a:cs typeface="Verdana"/>
              </a:rPr>
              <a:t>airplanes.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956253" y="426127"/>
            <a:ext cx="614807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Common</a:t>
            </a:r>
            <a:r>
              <a:rPr spc="-10" dirty="0"/>
              <a:t> Applications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39389" y="1353123"/>
            <a:ext cx="9464675" cy="6012180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245"/>
              </a:spcBef>
            </a:pPr>
            <a:r>
              <a:rPr sz="1850" dirty="0">
                <a:latin typeface="Verdana"/>
                <a:cs typeface="Verdana"/>
              </a:rPr>
              <a:t>Fibre</a:t>
            </a:r>
            <a:r>
              <a:rPr sz="1850" spc="1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optic</a:t>
            </a:r>
            <a:r>
              <a:rPr sz="1850" spc="6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sensors</a:t>
            </a:r>
            <a:r>
              <a:rPr sz="1850" spc="2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are</a:t>
            </a:r>
            <a:r>
              <a:rPr sz="1850" spc="3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used</a:t>
            </a:r>
            <a:r>
              <a:rPr sz="1850" spc="2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across</a:t>
            </a:r>
            <a:r>
              <a:rPr sz="1850" spc="3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many</a:t>
            </a:r>
            <a:r>
              <a:rPr sz="1850" spc="25" dirty="0">
                <a:latin typeface="Verdana"/>
                <a:cs typeface="Verdana"/>
              </a:rPr>
              <a:t> </a:t>
            </a:r>
            <a:r>
              <a:rPr sz="1850" spc="-10" dirty="0">
                <a:latin typeface="Verdana"/>
                <a:cs typeface="Verdana"/>
              </a:rPr>
              <a:t>industries:</a:t>
            </a:r>
            <a:endParaRPr sz="1850">
              <a:latin typeface="Verdana"/>
              <a:cs typeface="Verdana"/>
            </a:endParaRPr>
          </a:p>
          <a:p>
            <a:pPr marL="389255" marR="6985" indent="-377190" algn="just">
              <a:lnSpc>
                <a:spcPct val="151600"/>
              </a:lnSpc>
              <a:spcBef>
                <a:spcPts val="10"/>
              </a:spcBef>
              <a:buFont typeface="Wingdings"/>
              <a:buChar char=""/>
              <a:tabLst>
                <a:tab pos="390525" algn="l"/>
              </a:tabLst>
            </a:pPr>
            <a:r>
              <a:rPr sz="1850" b="1" dirty="0">
                <a:solidFill>
                  <a:srgbClr val="00AF50"/>
                </a:solidFill>
                <a:latin typeface="Verdana"/>
                <a:cs typeface="Verdana"/>
              </a:rPr>
              <a:t>Structural</a:t>
            </a:r>
            <a:r>
              <a:rPr sz="1850" b="1" spc="459" dirty="0">
                <a:solidFill>
                  <a:srgbClr val="00AF50"/>
                </a:solidFill>
                <a:latin typeface="Verdana"/>
                <a:cs typeface="Verdana"/>
              </a:rPr>
              <a:t>  </a:t>
            </a:r>
            <a:r>
              <a:rPr sz="1850" b="1" dirty="0">
                <a:solidFill>
                  <a:srgbClr val="00AF50"/>
                </a:solidFill>
                <a:latin typeface="Verdana"/>
                <a:cs typeface="Verdana"/>
              </a:rPr>
              <a:t>Health</a:t>
            </a:r>
            <a:r>
              <a:rPr sz="1850" b="1" spc="450" dirty="0">
                <a:solidFill>
                  <a:srgbClr val="00AF50"/>
                </a:solidFill>
                <a:latin typeface="Verdana"/>
                <a:cs typeface="Verdana"/>
              </a:rPr>
              <a:t>  </a:t>
            </a:r>
            <a:r>
              <a:rPr sz="1850" b="1" dirty="0">
                <a:solidFill>
                  <a:srgbClr val="00AF50"/>
                </a:solidFill>
                <a:latin typeface="Verdana"/>
                <a:cs typeface="Verdana"/>
              </a:rPr>
              <a:t>Monitoring:</a:t>
            </a:r>
            <a:r>
              <a:rPr sz="1850" b="1" spc="459" dirty="0">
                <a:solidFill>
                  <a:srgbClr val="00AF50"/>
                </a:solidFill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Embedded</a:t>
            </a:r>
            <a:r>
              <a:rPr sz="1850" spc="440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within</a:t>
            </a:r>
            <a:r>
              <a:rPr sz="1850" spc="440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bridges,</a:t>
            </a:r>
            <a:r>
              <a:rPr sz="1850" spc="434" dirty="0">
                <a:latin typeface="Verdana"/>
                <a:cs typeface="Verdana"/>
              </a:rPr>
              <a:t>  </a:t>
            </a:r>
            <a:r>
              <a:rPr sz="1850" spc="-10" dirty="0">
                <a:latin typeface="Verdana"/>
                <a:cs typeface="Verdana"/>
              </a:rPr>
              <a:t>dams, 	</a:t>
            </a:r>
            <a:r>
              <a:rPr sz="1850" dirty="0">
                <a:latin typeface="Verdana"/>
                <a:cs typeface="Verdana"/>
              </a:rPr>
              <a:t>pipelines,</a:t>
            </a:r>
            <a:r>
              <a:rPr sz="1850" spc="434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and</a:t>
            </a:r>
            <a:r>
              <a:rPr sz="1850" spc="42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buildings</a:t>
            </a:r>
            <a:r>
              <a:rPr sz="1850" spc="42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to</a:t>
            </a:r>
            <a:r>
              <a:rPr sz="1850" spc="409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monitor</a:t>
            </a:r>
            <a:r>
              <a:rPr sz="1850" spc="45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strain,</a:t>
            </a:r>
            <a:r>
              <a:rPr sz="1850" spc="42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vibration,</a:t>
            </a:r>
            <a:r>
              <a:rPr sz="1850" spc="42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and</a:t>
            </a:r>
            <a:r>
              <a:rPr sz="1850" spc="42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temperature</a:t>
            </a:r>
            <a:r>
              <a:rPr sz="1850" spc="400" dirty="0">
                <a:latin typeface="Verdana"/>
                <a:cs typeface="Verdana"/>
              </a:rPr>
              <a:t> </a:t>
            </a:r>
            <a:r>
              <a:rPr sz="1850" spc="-25" dirty="0">
                <a:latin typeface="Verdana"/>
                <a:cs typeface="Verdana"/>
              </a:rPr>
              <a:t>in 	</a:t>
            </a:r>
            <a:r>
              <a:rPr sz="1850" dirty="0">
                <a:latin typeface="Verdana"/>
                <a:cs typeface="Verdana"/>
              </a:rPr>
              <a:t>real-</a:t>
            </a:r>
            <a:r>
              <a:rPr sz="1850" spc="-20" dirty="0">
                <a:latin typeface="Verdana"/>
                <a:cs typeface="Verdana"/>
              </a:rPr>
              <a:t>time.</a:t>
            </a:r>
            <a:endParaRPr sz="1850">
              <a:latin typeface="Verdana"/>
              <a:cs typeface="Verdana"/>
            </a:endParaRPr>
          </a:p>
          <a:p>
            <a:pPr marL="389255" marR="6350" indent="-377190" algn="just">
              <a:lnSpc>
                <a:spcPts val="3370"/>
              </a:lnSpc>
              <a:spcBef>
                <a:spcPts val="290"/>
              </a:spcBef>
              <a:buFont typeface="Wingdings"/>
              <a:buChar char=""/>
              <a:tabLst>
                <a:tab pos="390525" algn="l"/>
              </a:tabLst>
            </a:pPr>
            <a:r>
              <a:rPr sz="1850" b="1" dirty="0">
                <a:solidFill>
                  <a:srgbClr val="00AF50"/>
                </a:solidFill>
                <a:latin typeface="Verdana"/>
                <a:cs typeface="Verdana"/>
              </a:rPr>
              <a:t>Energy</a:t>
            </a:r>
            <a:r>
              <a:rPr sz="1850" b="1" spc="185" dirty="0">
                <a:solidFill>
                  <a:srgbClr val="00AF50"/>
                </a:solidFill>
                <a:latin typeface="Verdana"/>
                <a:cs typeface="Verdana"/>
              </a:rPr>
              <a:t>   </a:t>
            </a:r>
            <a:r>
              <a:rPr sz="1850" b="1" dirty="0">
                <a:solidFill>
                  <a:srgbClr val="00AF50"/>
                </a:solidFill>
                <a:latin typeface="Verdana"/>
                <a:cs typeface="Verdana"/>
              </a:rPr>
              <a:t>Sector:</a:t>
            </a:r>
            <a:r>
              <a:rPr sz="1850" b="1" spc="195" dirty="0">
                <a:solidFill>
                  <a:srgbClr val="00AF50"/>
                </a:solidFill>
                <a:latin typeface="Verdana"/>
                <a:cs typeface="Verdana"/>
              </a:rPr>
              <a:t>   </a:t>
            </a:r>
            <a:r>
              <a:rPr sz="1850" dirty="0">
                <a:latin typeface="Verdana"/>
                <a:cs typeface="Verdana"/>
              </a:rPr>
              <a:t>Used</a:t>
            </a:r>
            <a:r>
              <a:rPr sz="1850" spc="170" dirty="0">
                <a:latin typeface="Verdana"/>
                <a:cs typeface="Verdana"/>
              </a:rPr>
              <a:t>   </a:t>
            </a:r>
            <a:r>
              <a:rPr sz="1850" dirty="0">
                <a:latin typeface="Verdana"/>
                <a:cs typeface="Verdana"/>
              </a:rPr>
              <a:t>for</a:t>
            </a:r>
            <a:r>
              <a:rPr sz="1850" spc="175" dirty="0">
                <a:latin typeface="Verdana"/>
                <a:cs typeface="Verdana"/>
              </a:rPr>
              <a:t>   </a:t>
            </a:r>
            <a:r>
              <a:rPr sz="1850" dirty="0">
                <a:latin typeface="Verdana"/>
                <a:cs typeface="Verdana"/>
              </a:rPr>
              <a:t>downhole</a:t>
            </a:r>
            <a:r>
              <a:rPr sz="1850" spc="175" dirty="0">
                <a:latin typeface="Verdana"/>
                <a:cs typeface="Verdana"/>
              </a:rPr>
              <a:t>   </a:t>
            </a:r>
            <a:r>
              <a:rPr sz="1850" dirty="0">
                <a:latin typeface="Verdana"/>
                <a:cs typeface="Verdana"/>
              </a:rPr>
              <a:t>temperature</a:t>
            </a:r>
            <a:r>
              <a:rPr sz="1850" spc="165" dirty="0">
                <a:latin typeface="Verdana"/>
                <a:cs typeface="Verdana"/>
              </a:rPr>
              <a:t>   </a:t>
            </a:r>
            <a:r>
              <a:rPr sz="1850" dirty="0">
                <a:latin typeface="Verdana"/>
                <a:cs typeface="Verdana"/>
              </a:rPr>
              <a:t>and</a:t>
            </a:r>
            <a:r>
              <a:rPr sz="1850" spc="170" dirty="0">
                <a:latin typeface="Verdana"/>
                <a:cs typeface="Verdana"/>
              </a:rPr>
              <a:t>   </a:t>
            </a:r>
            <a:r>
              <a:rPr sz="1850" spc="-10" dirty="0">
                <a:latin typeface="Verdana"/>
                <a:cs typeface="Verdana"/>
              </a:rPr>
              <a:t>pressure 	</a:t>
            </a:r>
            <a:r>
              <a:rPr sz="1850" dirty="0">
                <a:latin typeface="Verdana"/>
                <a:cs typeface="Verdana"/>
              </a:rPr>
              <a:t>measurements</a:t>
            </a:r>
            <a:r>
              <a:rPr sz="1850" spc="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in</a:t>
            </a:r>
            <a:r>
              <a:rPr sz="1850" spc="2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oil</a:t>
            </a:r>
            <a:r>
              <a:rPr sz="1850" spc="4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and</a:t>
            </a:r>
            <a:r>
              <a:rPr sz="1850" spc="2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gas</a:t>
            </a:r>
            <a:r>
              <a:rPr sz="1850" spc="2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wells,</a:t>
            </a:r>
            <a:r>
              <a:rPr sz="1850" spc="4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where</a:t>
            </a:r>
            <a:r>
              <a:rPr sz="1850" spc="1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conditions</a:t>
            </a:r>
            <a:r>
              <a:rPr sz="1850" spc="6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are</a:t>
            </a:r>
            <a:r>
              <a:rPr sz="1850" spc="1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extremely</a:t>
            </a:r>
            <a:r>
              <a:rPr sz="1850" spc="5" dirty="0">
                <a:latin typeface="Verdana"/>
                <a:cs typeface="Verdana"/>
              </a:rPr>
              <a:t> </a:t>
            </a:r>
            <a:r>
              <a:rPr sz="1850" spc="-10" dirty="0">
                <a:latin typeface="Verdana"/>
                <a:cs typeface="Verdana"/>
              </a:rPr>
              <a:t>harsh.</a:t>
            </a:r>
            <a:endParaRPr sz="1850">
              <a:latin typeface="Verdana"/>
              <a:cs typeface="Verdana"/>
            </a:endParaRPr>
          </a:p>
          <a:p>
            <a:pPr marL="389890" indent="-377190" algn="just">
              <a:lnSpc>
                <a:spcPct val="100000"/>
              </a:lnSpc>
              <a:spcBef>
                <a:spcPts val="840"/>
              </a:spcBef>
              <a:buFont typeface="Wingdings"/>
              <a:buChar char=""/>
              <a:tabLst>
                <a:tab pos="389890" algn="l"/>
              </a:tabLst>
            </a:pPr>
            <a:r>
              <a:rPr sz="1850" b="1" dirty="0">
                <a:solidFill>
                  <a:srgbClr val="00AF50"/>
                </a:solidFill>
                <a:latin typeface="Verdana"/>
                <a:cs typeface="Verdana"/>
              </a:rPr>
              <a:t>Biomedical</a:t>
            </a:r>
            <a:r>
              <a:rPr sz="1850" b="1" spc="150" dirty="0">
                <a:solidFill>
                  <a:srgbClr val="00AF50"/>
                </a:solidFill>
                <a:latin typeface="Verdana"/>
                <a:cs typeface="Verdana"/>
              </a:rPr>
              <a:t> </a:t>
            </a:r>
            <a:r>
              <a:rPr sz="1850" b="1" dirty="0">
                <a:solidFill>
                  <a:srgbClr val="00AF50"/>
                </a:solidFill>
                <a:latin typeface="Verdana"/>
                <a:cs typeface="Verdana"/>
              </a:rPr>
              <a:t>Field:</a:t>
            </a:r>
            <a:r>
              <a:rPr sz="1850" b="1" spc="180" dirty="0">
                <a:solidFill>
                  <a:srgbClr val="00AF50"/>
                </a:solidFill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Employed</a:t>
            </a:r>
            <a:r>
              <a:rPr sz="1850" spc="15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in</a:t>
            </a:r>
            <a:r>
              <a:rPr sz="1850" spc="13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medical</a:t>
            </a:r>
            <a:r>
              <a:rPr sz="1850" spc="14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devices</a:t>
            </a:r>
            <a:r>
              <a:rPr sz="1850" spc="15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for</a:t>
            </a:r>
            <a:r>
              <a:rPr sz="1850" spc="16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in</a:t>
            </a:r>
            <a:r>
              <a:rPr sz="1850" spc="14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vivo</a:t>
            </a:r>
            <a:r>
              <a:rPr sz="1850" spc="16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sensing,</a:t>
            </a:r>
            <a:r>
              <a:rPr sz="1850" spc="145" dirty="0">
                <a:latin typeface="Verdana"/>
                <a:cs typeface="Verdana"/>
              </a:rPr>
              <a:t> </a:t>
            </a:r>
            <a:r>
              <a:rPr sz="1850" spc="-10" dirty="0">
                <a:latin typeface="Verdana"/>
                <a:cs typeface="Verdana"/>
              </a:rPr>
              <a:t>blood</a:t>
            </a:r>
            <a:endParaRPr sz="1850">
              <a:latin typeface="Verdana"/>
              <a:cs typeface="Verdana"/>
            </a:endParaRPr>
          </a:p>
          <a:p>
            <a:pPr marL="390525" marR="5080" algn="just">
              <a:lnSpc>
                <a:spcPct val="151400"/>
              </a:lnSpc>
              <a:spcBef>
                <a:spcPts val="10"/>
              </a:spcBef>
            </a:pPr>
            <a:r>
              <a:rPr sz="1850" dirty="0">
                <a:latin typeface="Verdana"/>
                <a:cs typeface="Verdana"/>
              </a:rPr>
              <a:t>flow</a:t>
            </a:r>
            <a:r>
              <a:rPr sz="1850" spc="9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measurement,</a:t>
            </a:r>
            <a:r>
              <a:rPr sz="1850" spc="8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and</a:t>
            </a:r>
            <a:r>
              <a:rPr sz="1850" spc="8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monitoring</a:t>
            </a:r>
            <a:r>
              <a:rPr sz="1850" spc="8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physiological</a:t>
            </a:r>
            <a:r>
              <a:rPr sz="1850" spc="8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parameters</a:t>
            </a:r>
            <a:r>
              <a:rPr sz="1850" spc="9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like</a:t>
            </a:r>
            <a:r>
              <a:rPr sz="1850" spc="8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heart</a:t>
            </a:r>
            <a:r>
              <a:rPr sz="1850" spc="85" dirty="0">
                <a:latin typeface="Verdana"/>
                <a:cs typeface="Verdana"/>
              </a:rPr>
              <a:t> </a:t>
            </a:r>
            <a:r>
              <a:rPr sz="1850" spc="-25" dirty="0">
                <a:latin typeface="Verdana"/>
                <a:cs typeface="Verdana"/>
              </a:rPr>
              <a:t>and </a:t>
            </a:r>
            <a:r>
              <a:rPr sz="1850" dirty="0">
                <a:latin typeface="Verdana"/>
                <a:cs typeface="Verdana"/>
              </a:rPr>
              <a:t>respiratory</a:t>
            </a:r>
            <a:r>
              <a:rPr sz="1850" spc="15" dirty="0">
                <a:latin typeface="Verdana"/>
                <a:cs typeface="Verdana"/>
              </a:rPr>
              <a:t> </a:t>
            </a:r>
            <a:r>
              <a:rPr sz="1850" spc="-10" dirty="0">
                <a:latin typeface="Verdana"/>
                <a:cs typeface="Verdana"/>
              </a:rPr>
              <a:t>rates.</a:t>
            </a:r>
            <a:endParaRPr sz="1850">
              <a:latin typeface="Verdana"/>
              <a:cs typeface="Verdana"/>
            </a:endParaRPr>
          </a:p>
          <a:p>
            <a:pPr marL="389255" marR="5715" indent="-377190" algn="just">
              <a:lnSpc>
                <a:spcPct val="151400"/>
              </a:lnSpc>
              <a:spcBef>
                <a:spcPts val="10"/>
              </a:spcBef>
              <a:buFont typeface="Wingdings"/>
              <a:buChar char=""/>
              <a:tabLst>
                <a:tab pos="390525" algn="l"/>
              </a:tabLst>
            </a:pPr>
            <a:r>
              <a:rPr sz="1850" b="1" dirty="0">
                <a:solidFill>
                  <a:srgbClr val="00AF50"/>
                </a:solidFill>
                <a:latin typeface="Verdana"/>
                <a:cs typeface="Verdana"/>
              </a:rPr>
              <a:t>Industrial</a:t>
            </a:r>
            <a:r>
              <a:rPr sz="1850" b="1" spc="-35" dirty="0">
                <a:solidFill>
                  <a:srgbClr val="00AF50"/>
                </a:solidFill>
                <a:latin typeface="Verdana"/>
                <a:cs typeface="Verdana"/>
              </a:rPr>
              <a:t>  </a:t>
            </a:r>
            <a:r>
              <a:rPr sz="1850" b="1" dirty="0">
                <a:solidFill>
                  <a:srgbClr val="00AF50"/>
                </a:solidFill>
                <a:latin typeface="Verdana"/>
                <a:cs typeface="Verdana"/>
              </a:rPr>
              <a:t>Automation:</a:t>
            </a:r>
            <a:r>
              <a:rPr sz="1850" b="1" spc="-25" dirty="0">
                <a:solidFill>
                  <a:srgbClr val="00AF50"/>
                </a:solidFill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Used</a:t>
            </a:r>
            <a:r>
              <a:rPr sz="1850" spc="-50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for</a:t>
            </a:r>
            <a:r>
              <a:rPr sz="1850" spc="-30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precise</a:t>
            </a:r>
            <a:r>
              <a:rPr sz="1850" spc="-45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object</a:t>
            </a:r>
            <a:r>
              <a:rPr sz="1850" spc="-40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detection,</a:t>
            </a:r>
            <a:r>
              <a:rPr sz="1850" spc="-40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liquid</a:t>
            </a:r>
            <a:r>
              <a:rPr sz="1850" spc="-40" dirty="0">
                <a:latin typeface="Verdana"/>
                <a:cs typeface="Verdana"/>
              </a:rPr>
              <a:t>  </a:t>
            </a:r>
            <a:r>
              <a:rPr sz="1850" spc="-10" dirty="0">
                <a:latin typeface="Verdana"/>
                <a:cs typeface="Verdana"/>
              </a:rPr>
              <a:t>level 	</a:t>
            </a:r>
            <a:r>
              <a:rPr sz="1850" dirty="0">
                <a:latin typeface="Verdana"/>
                <a:cs typeface="Verdana"/>
              </a:rPr>
              <a:t>sensing,</a:t>
            </a:r>
            <a:r>
              <a:rPr sz="1850" spc="3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and</a:t>
            </a:r>
            <a:r>
              <a:rPr sz="1850" spc="1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monitoring</a:t>
            </a:r>
            <a:r>
              <a:rPr sz="1850" spc="4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in</a:t>
            </a:r>
            <a:r>
              <a:rPr sz="1850" spc="1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chemical-processing</a:t>
            </a:r>
            <a:r>
              <a:rPr sz="1850" spc="40" dirty="0">
                <a:latin typeface="Verdana"/>
                <a:cs typeface="Verdana"/>
              </a:rPr>
              <a:t> </a:t>
            </a:r>
            <a:r>
              <a:rPr sz="1850" spc="-10" dirty="0">
                <a:latin typeface="Verdana"/>
                <a:cs typeface="Verdana"/>
              </a:rPr>
              <a:t>plants.</a:t>
            </a:r>
            <a:endParaRPr sz="1850">
              <a:latin typeface="Verdana"/>
              <a:cs typeface="Verdana"/>
            </a:endParaRPr>
          </a:p>
          <a:p>
            <a:pPr marL="389255" marR="6350" indent="-377190" algn="just">
              <a:lnSpc>
                <a:spcPct val="151600"/>
              </a:lnSpc>
              <a:spcBef>
                <a:spcPts val="10"/>
              </a:spcBef>
              <a:buFont typeface="Wingdings"/>
              <a:buChar char=""/>
              <a:tabLst>
                <a:tab pos="390525" algn="l"/>
              </a:tabLst>
            </a:pPr>
            <a:r>
              <a:rPr sz="1850" b="1" dirty="0">
                <a:solidFill>
                  <a:srgbClr val="00AF50"/>
                </a:solidFill>
                <a:latin typeface="Verdana"/>
                <a:cs typeface="Verdana"/>
              </a:rPr>
              <a:t>Electrical</a:t>
            </a:r>
            <a:r>
              <a:rPr sz="1850" b="1" spc="430" dirty="0">
                <a:solidFill>
                  <a:srgbClr val="00AF50"/>
                </a:solidFill>
                <a:latin typeface="Verdana"/>
                <a:cs typeface="Verdana"/>
              </a:rPr>
              <a:t>  </a:t>
            </a:r>
            <a:r>
              <a:rPr sz="1850" b="1" dirty="0">
                <a:solidFill>
                  <a:srgbClr val="00AF50"/>
                </a:solidFill>
                <a:latin typeface="Verdana"/>
                <a:cs typeface="Verdana"/>
              </a:rPr>
              <a:t>Infrastructure:</a:t>
            </a:r>
            <a:r>
              <a:rPr sz="1850" b="1" spc="440" dirty="0">
                <a:solidFill>
                  <a:srgbClr val="00AF50"/>
                </a:solidFill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For</a:t>
            </a:r>
            <a:r>
              <a:rPr sz="1850" spc="425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monitoring</a:t>
            </a:r>
            <a:r>
              <a:rPr sz="1850" spc="420" dirty="0">
                <a:latin typeface="Verdana"/>
                <a:cs typeface="Verdana"/>
              </a:rPr>
              <a:t>  </a:t>
            </a:r>
            <a:r>
              <a:rPr sz="1850" spc="-20" dirty="0">
                <a:latin typeface="Verdana"/>
                <a:cs typeface="Verdana"/>
              </a:rPr>
              <a:t>high-</a:t>
            </a:r>
            <a:r>
              <a:rPr sz="1850" dirty="0">
                <a:latin typeface="Verdana"/>
                <a:cs typeface="Verdana"/>
              </a:rPr>
              <a:t>voltage</a:t>
            </a:r>
            <a:r>
              <a:rPr sz="1850" spc="415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areas</a:t>
            </a:r>
            <a:r>
              <a:rPr sz="1850" spc="420" dirty="0">
                <a:latin typeface="Verdana"/>
                <a:cs typeface="Verdana"/>
              </a:rPr>
              <a:t>  </a:t>
            </a:r>
            <a:r>
              <a:rPr sz="1850" spc="-20" dirty="0">
                <a:latin typeface="Verdana"/>
                <a:cs typeface="Verdana"/>
              </a:rPr>
              <a:t>like 	</a:t>
            </a:r>
            <a:r>
              <a:rPr sz="1850" dirty="0">
                <a:latin typeface="Verdana"/>
                <a:cs typeface="Verdana"/>
              </a:rPr>
              <a:t>transformers</a:t>
            </a:r>
            <a:r>
              <a:rPr sz="1850" spc="14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and</a:t>
            </a:r>
            <a:r>
              <a:rPr sz="1850" spc="16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switchgear,</a:t>
            </a:r>
            <a:r>
              <a:rPr sz="1850" spc="16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where</a:t>
            </a:r>
            <a:r>
              <a:rPr sz="1850" spc="15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EMI</a:t>
            </a:r>
            <a:r>
              <a:rPr sz="1850" spc="14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would</a:t>
            </a:r>
            <a:r>
              <a:rPr sz="1850" spc="16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interfere</a:t>
            </a:r>
            <a:r>
              <a:rPr sz="1850" spc="15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with</a:t>
            </a:r>
            <a:r>
              <a:rPr sz="1850" spc="160" dirty="0">
                <a:latin typeface="Verdana"/>
                <a:cs typeface="Verdana"/>
              </a:rPr>
              <a:t> </a:t>
            </a:r>
            <a:r>
              <a:rPr sz="1850" spc="-10" dirty="0">
                <a:latin typeface="Verdana"/>
                <a:cs typeface="Verdana"/>
              </a:rPr>
              <a:t>conventional 	sensors.</a:t>
            </a:r>
            <a:endParaRPr sz="18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110522" y="426127"/>
            <a:ext cx="783780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Summary</a:t>
            </a:r>
            <a:r>
              <a:rPr spc="-30" dirty="0"/>
              <a:t> </a:t>
            </a:r>
            <a:r>
              <a:rPr dirty="0"/>
              <a:t>of</a:t>
            </a:r>
            <a:r>
              <a:rPr spc="15" dirty="0"/>
              <a:t> </a:t>
            </a:r>
            <a:r>
              <a:rPr spc="-10" dirty="0"/>
              <a:t>Characteristics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4585" y="1696676"/>
            <a:ext cx="870966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5080" indent="-37846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  <a:tab pos="2656205" algn="l"/>
                <a:tab pos="3270250" algn="l"/>
                <a:tab pos="4237990" algn="l"/>
                <a:tab pos="5654675" algn="l"/>
                <a:tab pos="6340475" algn="l"/>
                <a:tab pos="7492365" algn="l"/>
                <a:tab pos="8242934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Non-contact: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No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wires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between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sensor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and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 </a:t>
            </a:r>
            <a:r>
              <a:rPr sz="2200" spc="-10" dirty="0">
                <a:latin typeface="Verdana"/>
                <a:cs typeface="Verdana"/>
              </a:rPr>
              <a:t>target.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20121" y="2870712"/>
            <a:ext cx="226314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22605" algn="l"/>
                <a:tab pos="1981200" algn="l"/>
              </a:tabLst>
            </a:pPr>
            <a:r>
              <a:rPr sz="2200" spc="-25" dirty="0">
                <a:latin typeface="Verdana"/>
                <a:cs typeface="Verdana"/>
              </a:rPr>
              <a:t>in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fractions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of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4585" y="2702479"/>
            <a:ext cx="6463665" cy="1534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252095" indent="-37846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  <a:tab pos="1372235" algn="l"/>
                <a:tab pos="3395345" algn="l"/>
                <a:tab pos="4709160" algn="l"/>
              </a:tabLst>
            </a:pPr>
            <a:r>
              <a:rPr sz="2200" b="1" spc="-20" dirty="0">
                <a:solidFill>
                  <a:srgbClr val="FF0000"/>
                </a:solidFill>
                <a:latin typeface="Verdana"/>
                <a:cs typeface="Verdana"/>
              </a:rPr>
              <a:t>High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Sensitivity: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Detects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movement wavelengths.</a:t>
            </a:r>
            <a:endParaRPr sz="2200">
              <a:latin typeface="Verdana"/>
              <a:cs typeface="Verdana"/>
            </a:endParaRPr>
          </a:p>
          <a:p>
            <a:pPr marL="390525" indent="-377825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Versatile:</a:t>
            </a:r>
            <a:r>
              <a:rPr sz="2200" b="1" spc="-6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Works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opaque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environments.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4585" y="4211184"/>
            <a:ext cx="870712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5080" indent="-37846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  <a:tab pos="1839595" algn="l"/>
                <a:tab pos="2846705" algn="l"/>
                <a:tab pos="4516755" algn="l"/>
                <a:tab pos="5640705" algn="l"/>
                <a:tab pos="6268720" algn="l"/>
                <a:tab pos="8310245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Stable: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Uses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reference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fibres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to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compensate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30" dirty="0">
                <a:latin typeface="Verdana"/>
                <a:cs typeface="Verdana"/>
              </a:rPr>
              <a:t>for </a:t>
            </a:r>
            <a:r>
              <a:rPr sz="2200" dirty="0">
                <a:latin typeface="Verdana"/>
                <a:cs typeface="Verdana"/>
              </a:rPr>
              <a:t>environmental</a:t>
            </a:r>
            <a:r>
              <a:rPr sz="2200" spc="-13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changes.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95707" y="426127"/>
            <a:ext cx="667067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251200" algn="l"/>
              </a:tabLst>
            </a:pPr>
            <a:r>
              <a:rPr spc="-10" dirty="0"/>
              <a:t>Summary:</a:t>
            </a:r>
            <a:r>
              <a:rPr dirty="0"/>
              <a:t>	Pros &amp;</a:t>
            </a:r>
            <a:r>
              <a:rPr spc="-30" dirty="0"/>
              <a:t> </a:t>
            </a:r>
            <a:r>
              <a:rPr spc="-20" dirty="0"/>
              <a:t>Cons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9184" y="1586483"/>
            <a:ext cx="4783835" cy="406035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96840" y="3145535"/>
            <a:ext cx="4721352" cy="405993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76442" y="426127"/>
            <a:ext cx="810831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Conclusion</a:t>
            </a:r>
            <a:r>
              <a:rPr spc="-80" dirty="0"/>
              <a:t> </a:t>
            </a:r>
            <a:r>
              <a:rPr dirty="0"/>
              <a:t>&amp;</a:t>
            </a:r>
            <a:r>
              <a:rPr spc="10" dirty="0"/>
              <a:t> </a:t>
            </a:r>
            <a:r>
              <a:rPr dirty="0"/>
              <a:t>Future</a:t>
            </a:r>
            <a:r>
              <a:rPr spc="-35" dirty="0"/>
              <a:t> </a:t>
            </a:r>
            <a:r>
              <a:rPr spc="-10" dirty="0"/>
              <a:t>Outlook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8890" indent="-37846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  <a:tab pos="1369060" algn="l"/>
                <a:tab pos="2328545" algn="l"/>
                <a:tab pos="3678554" algn="l"/>
                <a:tab pos="5005705" algn="l"/>
                <a:tab pos="5455285" algn="l"/>
                <a:tab pos="6631940" algn="l"/>
                <a:tab pos="8413750" algn="l"/>
              </a:tabLst>
            </a:pPr>
            <a:r>
              <a:rPr spc="-10" dirty="0"/>
              <a:t>Fibre</a:t>
            </a:r>
            <a:r>
              <a:rPr dirty="0"/>
              <a:t>	</a:t>
            </a:r>
            <a:r>
              <a:rPr spc="-10" dirty="0"/>
              <a:t>optic</a:t>
            </a:r>
            <a:r>
              <a:rPr dirty="0"/>
              <a:t>	</a:t>
            </a:r>
            <a:r>
              <a:rPr spc="-10" dirty="0"/>
              <a:t>sensors</a:t>
            </a:r>
            <a:r>
              <a:rPr dirty="0"/>
              <a:t>	</a:t>
            </a:r>
            <a:r>
              <a:rPr spc="-10" dirty="0"/>
              <a:t>provide</a:t>
            </a:r>
            <a:r>
              <a:rPr dirty="0"/>
              <a:t>	</a:t>
            </a:r>
            <a:r>
              <a:rPr spc="-50" dirty="0"/>
              <a:t>a</a:t>
            </a:r>
            <a:r>
              <a:rPr dirty="0"/>
              <a:t>	</a:t>
            </a:r>
            <a:r>
              <a:rPr spc="-10" dirty="0"/>
              <a:t>robust</a:t>
            </a:r>
            <a:r>
              <a:rPr dirty="0"/>
              <a:t>	</a:t>
            </a:r>
            <a:r>
              <a:rPr spc="-10" dirty="0"/>
              <a:t>alternative</a:t>
            </a:r>
            <a:r>
              <a:rPr dirty="0"/>
              <a:t>	</a:t>
            </a:r>
            <a:r>
              <a:rPr spc="-25" dirty="0"/>
              <a:t>to </a:t>
            </a:r>
            <a:r>
              <a:rPr dirty="0"/>
              <a:t>electronic</a:t>
            </a:r>
            <a:r>
              <a:rPr spc="-110" dirty="0"/>
              <a:t> </a:t>
            </a:r>
            <a:r>
              <a:rPr dirty="0"/>
              <a:t>strain</a:t>
            </a:r>
            <a:r>
              <a:rPr spc="-100" dirty="0"/>
              <a:t> </a:t>
            </a:r>
            <a:r>
              <a:rPr spc="-10" dirty="0"/>
              <a:t>gauges.</a:t>
            </a:r>
          </a:p>
          <a:p>
            <a:pPr>
              <a:lnSpc>
                <a:spcPct val="100000"/>
              </a:lnSpc>
              <a:spcBef>
                <a:spcPts val="1285"/>
              </a:spcBef>
              <a:buFont typeface="Wingdings"/>
              <a:buChar char=""/>
            </a:pPr>
            <a:endParaRPr spc="-10" dirty="0"/>
          </a:p>
          <a:p>
            <a:pPr marL="390525" marR="5080" indent="-378460">
              <a:lnSpc>
                <a:spcPct val="150000"/>
              </a:lnSpc>
              <a:buFont typeface="Wingdings"/>
              <a:buChar char=""/>
              <a:tabLst>
                <a:tab pos="390525" algn="l"/>
                <a:tab pos="1809750" algn="l"/>
                <a:tab pos="4018915" algn="l"/>
                <a:tab pos="4523740" algn="l"/>
                <a:tab pos="5480050" algn="l"/>
                <a:tab pos="6249670" algn="l"/>
                <a:tab pos="7393305" algn="l"/>
              </a:tabLst>
            </a:pPr>
            <a:r>
              <a:rPr spc="-10" dirty="0"/>
              <a:t>Ongoing</a:t>
            </a:r>
            <a:r>
              <a:rPr dirty="0"/>
              <a:t>	</a:t>
            </a:r>
            <a:r>
              <a:rPr spc="-10" dirty="0"/>
              <a:t>developments</a:t>
            </a:r>
            <a:r>
              <a:rPr dirty="0"/>
              <a:t>	</a:t>
            </a:r>
            <a:r>
              <a:rPr spc="-25" dirty="0"/>
              <a:t>in</a:t>
            </a:r>
            <a:r>
              <a:rPr dirty="0"/>
              <a:t>	</a:t>
            </a:r>
            <a:r>
              <a:rPr spc="-10" dirty="0"/>
              <a:t>glass</a:t>
            </a:r>
            <a:r>
              <a:rPr dirty="0"/>
              <a:t>	</a:t>
            </a:r>
            <a:r>
              <a:rPr spc="-25" dirty="0"/>
              <a:t>and</a:t>
            </a:r>
            <a:r>
              <a:rPr dirty="0"/>
              <a:t>	</a:t>
            </a:r>
            <a:r>
              <a:rPr spc="-10" dirty="0"/>
              <a:t>plastic</a:t>
            </a:r>
            <a:r>
              <a:rPr dirty="0"/>
              <a:t>	</a:t>
            </a:r>
            <a:r>
              <a:rPr spc="-10" dirty="0"/>
              <a:t>materials </a:t>
            </a:r>
            <a:r>
              <a:rPr dirty="0"/>
              <a:t>continue</a:t>
            </a:r>
            <a:r>
              <a:rPr spc="-60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expand</a:t>
            </a:r>
            <a:r>
              <a:rPr spc="-30" dirty="0"/>
              <a:t> </a:t>
            </a:r>
            <a:r>
              <a:rPr dirty="0"/>
              <a:t>their</a:t>
            </a:r>
            <a:r>
              <a:rPr spc="-60" dirty="0"/>
              <a:t> </a:t>
            </a:r>
            <a:r>
              <a:rPr spc="-10" dirty="0"/>
              <a:t>utility.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Test</a:t>
            </a:r>
            <a:r>
              <a:rPr spc="-25" dirty="0"/>
              <a:t> </a:t>
            </a:r>
            <a:r>
              <a:rPr dirty="0"/>
              <a:t>your</a:t>
            </a:r>
            <a:r>
              <a:rPr spc="-20" dirty="0"/>
              <a:t> </a:t>
            </a:r>
            <a:r>
              <a:rPr spc="-10" dirty="0"/>
              <a:t>understanding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3202" y="1591274"/>
            <a:ext cx="9213215" cy="4552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4984" marR="5080" indent="-502920">
              <a:lnSpc>
                <a:spcPct val="150000"/>
              </a:lnSpc>
              <a:spcBef>
                <a:spcPts val="100"/>
              </a:spcBef>
              <a:buAutoNum type="arabicPeriod"/>
              <a:tabLst>
                <a:tab pos="514984" algn="l"/>
              </a:tabLst>
            </a:pPr>
            <a:r>
              <a:rPr sz="2200" dirty="0">
                <a:latin typeface="Verdana"/>
                <a:cs typeface="Verdana"/>
              </a:rPr>
              <a:t>Define</a:t>
            </a:r>
            <a:r>
              <a:rPr sz="2200" spc="2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Pressure</a:t>
            </a:r>
            <a:r>
              <a:rPr sz="2200" spc="2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2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Stress:</a:t>
            </a:r>
            <a:r>
              <a:rPr sz="2200" spc="2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Explain</a:t>
            </a:r>
            <a:r>
              <a:rPr sz="2200" spc="2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2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distinction</a:t>
            </a:r>
            <a:r>
              <a:rPr sz="2200" spc="25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between </a:t>
            </a:r>
            <a:r>
              <a:rPr sz="2200" dirty="0">
                <a:latin typeface="Verdana"/>
                <a:cs typeface="Verdana"/>
              </a:rPr>
              <a:t>these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two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terms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as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applied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liquids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solids.</a:t>
            </a:r>
            <a:endParaRPr sz="2200">
              <a:latin typeface="Verdana"/>
              <a:cs typeface="Verdana"/>
            </a:endParaRPr>
          </a:p>
          <a:p>
            <a:pPr marL="514984" marR="5080" indent="-502920">
              <a:lnSpc>
                <a:spcPct val="150000"/>
              </a:lnSpc>
              <a:buAutoNum type="arabicPeriod"/>
              <a:tabLst>
                <a:tab pos="514984" algn="l"/>
                <a:tab pos="1682750" algn="l"/>
                <a:tab pos="2287905" algn="l"/>
                <a:tab pos="4048125" algn="l"/>
                <a:tab pos="5531485" algn="l"/>
                <a:tab pos="5949950" algn="l"/>
                <a:tab pos="6270625" algn="l"/>
                <a:tab pos="7224395" algn="l"/>
                <a:tab pos="7994015" algn="l"/>
                <a:tab pos="8370570" algn="l"/>
                <a:tab pos="9031605" algn="l"/>
              </a:tabLst>
            </a:pPr>
            <a:r>
              <a:rPr sz="2200" spc="-10" dirty="0">
                <a:latin typeface="Verdana"/>
                <a:cs typeface="Verdana"/>
              </a:rPr>
              <a:t>Explain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"Coherence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Distance"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of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50" dirty="0">
                <a:latin typeface="Verdana"/>
                <a:cs typeface="Verdana"/>
              </a:rPr>
              <a:t>a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laser: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Why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is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this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50" dirty="0">
                <a:latin typeface="Verdana"/>
                <a:cs typeface="Verdana"/>
              </a:rPr>
              <a:t>a </a:t>
            </a:r>
            <a:r>
              <a:rPr sz="2200" dirty="0">
                <a:latin typeface="Verdana"/>
                <a:cs typeface="Verdana"/>
              </a:rPr>
              <a:t>limiting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factor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interferometers?</a:t>
            </a:r>
            <a:endParaRPr sz="2200">
              <a:latin typeface="Verdana"/>
              <a:cs typeface="Verdana"/>
            </a:endParaRPr>
          </a:p>
          <a:p>
            <a:pPr marL="514984" marR="5080" indent="-502920">
              <a:lnSpc>
                <a:spcPct val="150000"/>
              </a:lnSpc>
              <a:buAutoNum type="arabicPeriod"/>
              <a:tabLst>
                <a:tab pos="514984" algn="l"/>
              </a:tabLst>
            </a:pPr>
            <a:r>
              <a:rPr sz="2200" dirty="0">
                <a:latin typeface="Verdana"/>
                <a:cs typeface="Verdana"/>
              </a:rPr>
              <a:t>State</a:t>
            </a:r>
            <a:r>
              <a:rPr sz="2200" spc="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function</a:t>
            </a:r>
            <a:r>
              <a:rPr sz="2200" spc="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photocell</a:t>
            </a:r>
            <a:r>
              <a:rPr sz="2200" spc="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</a:t>
            </a:r>
            <a:r>
              <a:rPr sz="2200" spc="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interferometer:</a:t>
            </a:r>
            <a:r>
              <a:rPr sz="2200" spc="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How</a:t>
            </a:r>
            <a:r>
              <a:rPr sz="2200" spc="4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is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light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signal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converted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measurement?</a:t>
            </a:r>
            <a:endParaRPr sz="2200">
              <a:latin typeface="Verdana"/>
              <a:cs typeface="Verdana"/>
            </a:endParaRPr>
          </a:p>
          <a:p>
            <a:pPr marL="514984" marR="5080" indent="-502920">
              <a:lnSpc>
                <a:spcPct val="150000"/>
              </a:lnSpc>
              <a:buAutoNum type="arabicPeriod"/>
              <a:tabLst>
                <a:tab pos="514984" algn="l"/>
                <a:tab pos="1417955" algn="l"/>
                <a:tab pos="2773045" algn="l"/>
                <a:tab pos="3225165" algn="l"/>
                <a:tab pos="4011929" algn="l"/>
                <a:tab pos="5634990" algn="l"/>
                <a:tab pos="6555105" algn="l"/>
                <a:tab pos="7073900" algn="l"/>
                <a:tab pos="8169909" algn="l"/>
                <a:tab pos="8975725" algn="l"/>
              </a:tabLst>
            </a:pPr>
            <a:r>
              <a:rPr sz="2200" spc="-20" dirty="0">
                <a:latin typeface="Verdana"/>
                <a:cs typeface="Verdana"/>
              </a:rPr>
              <a:t>What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happens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to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light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reflections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when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an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optical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fibre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is </a:t>
            </a:r>
            <a:r>
              <a:rPr sz="2200" dirty="0">
                <a:latin typeface="Verdana"/>
                <a:cs typeface="Verdana"/>
              </a:rPr>
              <a:t>bent?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Describe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impact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on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light's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travel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distance.</a:t>
            </a:r>
            <a:endParaRPr sz="2200">
              <a:latin typeface="Verdana"/>
              <a:cs typeface="Verdana"/>
            </a:endParaRPr>
          </a:p>
          <a:p>
            <a:pPr marL="514350" indent="-501650">
              <a:lnSpc>
                <a:spcPct val="100000"/>
              </a:lnSpc>
              <a:spcBef>
                <a:spcPts val="1320"/>
              </a:spcBef>
              <a:buAutoNum type="arabicPeriod"/>
              <a:tabLst>
                <a:tab pos="514350" algn="l"/>
              </a:tabLst>
            </a:pPr>
            <a:r>
              <a:rPr sz="2200" dirty="0">
                <a:latin typeface="Verdana"/>
                <a:cs typeface="Verdana"/>
              </a:rPr>
              <a:t>Describe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construction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optical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fibre.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Test</a:t>
            </a:r>
            <a:r>
              <a:rPr spc="-25" dirty="0"/>
              <a:t> </a:t>
            </a:r>
            <a:r>
              <a:rPr dirty="0"/>
              <a:t>your</a:t>
            </a:r>
            <a:r>
              <a:rPr spc="-20" dirty="0"/>
              <a:t> </a:t>
            </a:r>
            <a:r>
              <a:rPr spc="-10" dirty="0"/>
              <a:t>understanding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3202" y="1591274"/>
            <a:ext cx="9210675" cy="354647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87985" indent="-375285">
              <a:lnSpc>
                <a:spcPct val="100000"/>
              </a:lnSpc>
              <a:spcBef>
                <a:spcPts val="1420"/>
              </a:spcBef>
              <a:buAutoNum type="arabicPeriod" startAt="6"/>
              <a:tabLst>
                <a:tab pos="387985" algn="l"/>
              </a:tabLst>
            </a:pPr>
            <a:r>
              <a:rPr sz="2200" dirty="0">
                <a:latin typeface="Verdana"/>
                <a:cs typeface="Verdana"/>
              </a:rPr>
              <a:t>Explain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working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principle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total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internal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reflection.</a:t>
            </a:r>
            <a:endParaRPr sz="2200">
              <a:latin typeface="Verdana"/>
              <a:cs typeface="Verdana"/>
            </a:endParaRPr>
          </a:p>
          <a:p>
            <a:pPr marL="387985" indent="-375285">
              <a:lnSpc>
                <a:spcPct val="100000"/>
              </a:lnSpc>
              <a:spcBef>
                <a:spcPts val="1320"/>
              </a:spcBef>
              <a:buAutoNum type="arabicPeriod" startAt="6"/>
              <a:tabLst>
                <a:tab pos="387985" algn="l"/>
              </a:tabLst>
            </a:pPr>
            <a:r>
              <a:rPr sz="2200" dirty="0">
                <a:latin typeface="Verdana"/>
                <a:cs typeface="Verdana"/>
              </a:rPr>
              <a:t>Compare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standard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interferometry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with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fibre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optic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methods.</a:t>
            </a:r>
            <a:endParaRPr sz="2200">
              <a:latin typeface="Verdana"/>
              <a:cs typeface="Verdana"/>
            </a:endParaRPr>
          </a:p>
          <a:p>
            <a:pPr marL="387985" indent="-375285">
              <a:lnSpc>
                <a:spcPct val="100000"/>
              </a:lnSpc>
              <a:spcBef>
                <a:spcPts val="1320"/>
              </a:spcBef>
              <a:buAutoNum type="arabicPeriod" startAt="6"/>
              <a:tabLst>
                <a:tab pos="387985" algn="l"/>
              </a:tabLst>
            </a:pPr>
            <a:r>
              <a:rPr sz="2200" dirty="0">
                <a:latin typeface="Verdana"/>
                <a:cs typeface="Verdana"/>
              </a:rPr>
              <a:t>Discuss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use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"static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fibre"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sensing.</a:t>
            </a:r>
            <a:endParaRPr sz="2200">
              <a:latin typeface="Verdana"/>
              <a:cs typeface="Verdana"/>
            </a:endParaRPr>
          </a:p>
          <a:p>
            <a:pPr marL="434975" marR="5080" indent="-422909">
              <a:lnSpc>
                <a:spcPct val="150000"/>
              </a:lnSpc>
              <a:buAutoNum type="arabicPeriod" startAt="6"/>
              <a:tabLst>
                <a:tab pos="514984" algn="l"/>
                <a:tab pos="7344409" algn="l"/>
              </a:tabLst>
            </a:pPr>
            <a:r>
              <a:rPr sz="2200" dirty="0">
                <a:latin typeface="Verdana"/>
                <a:cs typeface="Verdana"/>
              </a:rPr>
              <a:t>Explain</a:t>
            </a:r>
            <a:r>
              <a:rPr sz="2200" spc="3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3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complete</a:t>
            </a:r>
            <a:r>
              <a:rPr sz="2200" spc="3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working</a:t>
            </a:r>
            <a:r>
              <a:rPr sz="2200" spc="3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mechanism</a:t>
            </a:r>
            <a:r>
              <a:rPr sz="2200" spc="3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305" dirty="0">
                <a:latin typeface="Verdana"/>
                <a:cs typeface="Verdana"/>
              </a:rPr>
              <a:t> </a:t>
            </a:r>
            <a:r>
              <a:rPr sz="2200" spc="-50" dirty="0">
                <a:latin typeface="Verdana"/>
                <a:cs typeface="Verdana"/>
              </a:rPr>
              <a:t>a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displacement 	</a:t>
            </a:r>
            <a:r>
              <a:rPr sz="2200" dirty="0">
                <a:latin typeface="Verdana"/>
                <a:cs typeface="Verdana"/>
              </a:rPr>
              <a:t>sensor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using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optical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fibres.</a:t>
            </a:r>
            <a:endParaRPr sz="2200">
              <a:latin typeface="Verdana"/>
              <a:cs typeface="Verdana"/>
            </a:endParaRPr>
          </a:p>
          <a:p>
            <a:pPr marL="514984" marR="5080" indent="-502920">
              <a:lnSpc>
                <a:spcPct val="150000"/>
              </a:lnSpc>
              <a:buAutoNum type="arabicPeriod" startAt="6"/>
              <a:tabLst>
                <a:tab pos="514984" algn="l"/>
                <a:tab pos="591185" algn="l"/>
              </a:tabLst>
            </a:pPr>
            <a:r>
              <a:rPr sz="2200" dirty="0">
                <a:latin typeface="Verdana"/>
                <a:cs typeface="Verdana"/>
              </a:rPr>
              <a:t>	Analyze</a:t>
            </a:r>
            <a:r>
              <a:rPr sz="2200" spc="1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challenges</a:t>
            </a:r>
            <a:r>
              <a:rPr sz="2200" spc="1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1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solutions</a:t>
            </a:r>
            <a:r>
              <a:rPr sz="2200" spc="1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1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laser</a:t>
            </a:r>
            <a:r>
              <a:rPr sz="2200" spc="1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interferometry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measurement.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167255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Textbook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90836" y="1760542"/>
            <a:ext cx="8875395" cy="1702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5080" indent="-378460">
              <a:lnSpc>
                <a:spcPct val="12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Ian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Sinclair, </a:t>
            </a:r>
            <a:r>
              <a:rPr sz="2200" dirty="0">
                <a:latin typeface="Verdana"/>
                <a:cs typeface="Verdana"/>
              </a:rPr>
              <a:t>Sensors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20" dirty="0">
                <a:latin typeface="Verdana"/>
                <a:cs typeface="Verdana"/>
              </a:rPr>
              <a:t> Transducers,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Third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Edition,</a:t>
            </a:r>
            <a:r>
              <a:rPr sz="2200" spc="-20" dirty="0">
                <a:latin typeface="Verdana"/>
                <a:cs typeface="Verdana"/>
              </a:rPr>
              <a:t> 2001 </a:t>
            </a:r>
            <a:r>
              <a:rPr sz="2200" dirty="0">
                <a:latin typeface="Verdana"/>
                <a:cs typeface="Verdana"/>
              </a:rPr>
              <a:t>(Units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&amp;</a:t>
            </a:r>
            <a:r>
              <a:rPr sz="2200" spc="-20" dirty="0">
                <a:latin typeface="Verdana"/>
                <a:cs typeface="Verdana"/>
              </a:rPr>
              <a:t> II).</a:t>
            </a:r>
            <a:endParaRPr sz="2200">
              <a:latin typeface="Verdana"/>
              <a:cs typeface="Verdana"/>
            </a:endParaRPr>
          </a:p>
          <a:p>
            <a:pPr marL="390525" marR="5080" indent="-378460">
              <a:lnSpc>
                <a:spcPct val="120000"/>
              </a:lnSpc>
              <a:spcBef>
                <a:spcPts val="525"/>
              </a:spcBef>
              <a:buFont typeface="Wingdings"/>
              <a:buChar char=""/>
              <a:tabLst>
                <a:tab pos="390525" algn="l"/>
                <a:tab pos="1527810" algn="l"/>
                <a:tab pos="3376929" algn="l"/>
                <a:tab pos="4191635" algn="l"/>
                <a:tab pos="4674235" algn="l"/>
                <a:tab pos="5494020" algn="l"/>
                <a:tab pos="6043295" algn="l"/>
                <a:tab pos="7317740" algn="l"/>
                <a:tab pos="8001000" algn="l"/>
              </a:tabLst>
            </a:pPr>
            <a:r>
              <a:rPr sz="2200" spc="-10" dirty="0">
                <a:latin typeface="Verdana"/>
                <a:cs typeface="Verdana"/>
              </a:rPr>
              <a:t>Ramon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PallásAreny,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John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G.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Webster,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Sensors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and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Signal </a:t>
            </a:r>
            <a:r>
              <a:rPr sz="2200" dirty="0">
                <a:latin typeface="Verdana"/>
                <a:cs typeface="Verdana"/>
              </a:rPr>
              <a:t>conditioning,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John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Wiley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Sons,</a:t>
            </a:r>
            <a:r>
              <a:rPr sz="2200" dirty="0">
                <a:latin typeface="Verdana"/>
                <a:cs typeface="Verdana"/>
              </a:rPr>
              <a:t>	Second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Edition,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2000.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811" y="7368540"/>
            <a:ext cx="8139430" cy="289560"/>
            <a:chOff x="19811" y="7368540"/>
            <a:chExt cx="8139430" cy="289560"/>
          </a:xfrm>
        </p:grpSpPr>
        <p:sp>
          <p:nvSpPr>
            <p:cNvPr id="3" name="object 3"/>
            <p:cNvSpPr/>
            <p:nvPr/>
          </p:nvSpPr>
          <p:spPr>
            <a:xfrm>
              <a:off x="19811" y="7368540"/>
              <a:ext cx="8057515" cy="264160"/>
            </a:xfrm>
            <a:custGeom>
              <a:avLst/>
              <a:gdLst/>
              <a:ahLst/>
              <a:cxnLst/>
              <a:rect l="l" t="t" r="r" b="b"/>
              <a:pathLst>
                <a:path w="8057515" h="264159">
                  <a:moveTo>
                    <a:pt x="8057388" y="263651"/>
                  </a:moveTo>
                  <a:lnTo>
                    <a:pt x="0" y="263651"/>
                  </a:lnTo>
                  <a:lnTo>
                    <a:pt x="0" y="0"/>
                  </a:lnTo>
                  <a:lnTo>
                    <a:pt x="7906512" y="0"/>
                  </a:lnTo>
                  <a:lnTo>
                    <a:pt x="8057388" y="263651"/>
                  </a:lnTo>
                  <a:close/>
                </a:path>
              </a:pathLst>
            </a:custGeom>
            <a:solidFill>
              <a:srgbClr val="87BC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9812" y="7424928"/>
              <a:ext cx="8139430" cy="233679"/>
            </a:xfrm>
            <a:custGeom>
              <a:avLst/>
              <a:gdLst/>
              <a:ahLst/>
              <a:cxnLst/>
              <a:rect l="l" t="t" r="r" b="b"/>
              <a:pathLst>
                <a:path w="8139430" h="233679">
                  <a:moveTo>
                    <a:pt x="8139228" y="233172"/>
                  </a:moveTo>
                  <a:lnTo>
                    <a:pt x="0" y="233172"/>
                  </a:lnTo>
                  <a:lnTo>
                    <a:pt x="0" y="0"/>
                  </a:lnTo>
                  <a:lnTo>
                    <a:pt x="8001000" y="0"/>
                  </a:lnTo>
                  <a:lnTo>
                    <a:pt x="8139228" y="233172"/>
                  </a:lnTo>
                  <a:close/>
                </a:path>
              </a:pathLst>
            </a:custGeom>
            <a:solidFill>
              <a:srgbClr val="0048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8616683" y="7094219"/>
            <a:ext cx="1039494" cy="425450"/>
          </a:xfrm>
          <a:custGeom>
            <a:avLst/>
            <a:gdLst/>
            <a:ahLst/>
            <a:cxnLst/>
            <a:rect l="l" t="t" r="r" b="b"/>
            <a:pathLst>
              <a:path w="1039495" h="425450">
                <a:moveTo>
                  <a:pt x="406920" y="103632"/>
                </a:moveTo>
                <a:lnTo>
                  <a:pt x="398614" y="65532"/>
                </a:lnTo>
                <a:lnTo>
                  <a:pt x="397433" y="60083"/>
                </a:lnTo>
                <a:lnTo>
                  <a:pt x="371995" y="30289"/>
                </a:lnTo>
                <a:lnTo>
                  <a:pt x="335153" y="11899"/>
                </a:lnTo>
                <a:lnTo>
                  <a:pt x="291426" y="2590"/>
                </a:lnTo>
                <a:lnTo>
                  <a:pt x="245376" y="0"/>
                </a:lnTo>
                <a:lnTo>
                  <a:pt x="188506" y="3898"/>
                </a:lnTo>
                <a:lnTo>
                  <a:pt x="141516" y="15417"/>
                </a:lnTo>
                <a:lnTo>
                  <a:pt x="104597" y="34290"/>
                </a:lnTo>
                <a:lnTo>
                  <a:pt x="61823" y="93141"/>
                </a:lnTo>
                <a:lnTo>
                  <a:pt x="56400" y="132588"/>
                </a:lnTo>
                <a:lnTo>
                  <a:pt x="60159" y="158711"/>
                </a:lnTo>
                <a:lnTo>
                  <a:pt x="72783" y="182702"/>
                </a:lnTo>
                <a:lnTo>
                  <a:pt x="96253" y="205244"/>
                </a:lnTo>
                <a:lnTo>
                  <a:pt x="132600" y="227088"/>
                </a:lnTo>
                <a:lnTo>
                  <a:pt x="207276" y="263664"/>
                </a:lnTo>
                <a:lnTo>
                  <a:pt x="221576" y="271678"/>
                </a:lnTo>
                <a:lnTo>
                  <a:pt x="233756" y="281000"/>
                </a:lnTo>
                <a:lnTo>
                  <a:pt x="242201" y="293446"/>
                </a:lnTo>
                <a:lnTo>
                  <a:pt x="245376" y="310908"/>
                </a:lnTo>
                <a:lnTo>
                  <a:pt x="240271" y="330504"/>
                </a:lnTo>
                <a:lnTo>
                  <a:pt x="226326" y="345389"/>
                </a:lnTo>
                <a:lnTo>
                  <a:pt x="205511" y="354838"/>
                </a:lnTo>
                <a:lnTo>
                  <a:pt x="179844" y="358152"/>
                </a:lnTo>
                <a:lnTo>
                  <a:pt x="158572" y="353402"/>
                </a:lnTo>
                <a:lnTo>
                  <a:pt x="140030" y="340817"/>
                </a:lnTo>
                <a:lnTo>
                  <a:pt x="126898" y="322783"/>
                </a:lnTo>
                <a:lnTo>
                  <a:pt x="121932" y="301764"/>
                </a:lnTo>
                <a:lnTo>
                  <a:pt x="121932" y="292620"/>
                </a:lnTo>
                <a:lnTo>
                  <a:pt x="0" y="292620"/>
                </a:lnTo>
                <a:lnTo>
                  <a:pt x="0" y="310908"/>
                </a:lnTo>
                <a:lnTo>
                  <a:pt x="1892" y="337743"/>
                </a:lnTo>
                <a:lnTo>
                  <a:pt x="19939" y="380555"/>
                </a:lnTo>
                <a:lnTo>
                  <a:pt x="62395" y="409130"/>
                </a:lnTo>
                <a:lnTo>
                  <a:pt x="133261" y="423468"/>
                </a:lnTo>
                <a:lnTo>
                  <a:pt x="179844" y="425208"/>
                </a:lnTo>
                <a:lnTo>
                  <a:pt x="236842" y="420636"/>
                </a:lnTo>
                <a:lnTo>
                  <a:pt x="285394" y="407428"/>
                </a:lnTo>
                <a:lnTo>
                  <a:pt x="324624" y="386346"/>
                </a:lnTo>
                <a:lnTo>
                  <a:pt x="353682" y="358152"/>
                </a:lnTo>
                <a:lnTo>
                  <a:pt x="371754" y="323608"/>
                </a:lnTo>
                <a:lnTo>
                  <a:pt x="371881" y="322783"/>
                </a:lnTo>
                <a:lnTo>
                  <a:pt x="377964" y="283476"/>
                </a:lnTo>
                <a:lnTo>
                  <a:pt x="372694" y="256628"/>
                </a:lnTo>
                <a:lnTo>
                  <a:pt x="357581" y="233375"/>
                </a:lnTo>
                <a:lnTo>
                  <a:pt x="333590" y="213817"/>
                </a:lnTo>
                <a:lnTo>
                  <a:pt x="301764" y="198132"/>
                </a:lnTo>
                <a:lnTo>
                  <a:pt x="227088" y="160032"/>
                </a:lnTo>
                <a:lnTo>
                  <a:pt x="207479" y="151434"/>
                </a:lnTo>
                <a:lnTo>
                  <a:pt x="192608" y="139268"/>
                </a:lnTo>
                <a:lnTo>
                  <a:pt x="183146" y="123380"/>
                </a:lnTo>
                <a:lnTo>
                  <a:pt x="179844" y="103632"/>
                </a:lnTo>
                <a:lnTo>
                  <a:pt x="184581" y="89966"/>
                </a:lnTo>
                <a:lnTo>
                  <a:pt x="197180" y="77724"/>
                </a:lnTo>
                <a:lnTo>
                  <a:pt x="215201" y="68922"/>
                </a:lnTo>
                <a:lnTo>
                  <a:pt x="236232" y="65532"/>
                </a:lnTo>
                <a:lnTo>
                  <a:pt x="255828" y="69062"/>
                </a:lnTo>
                <a:lnTo>
                  <a:pt x="270713" y="78867"/>
                </a:lnTo>
                <a:lnTo>
                  <a:pt x="280162" y="93827"/>
                </a:lnTo>
                <a:lnTo>
                  <a:pt x="283476" y="112776"/>
                </a:lnTo>
                <a:lnTo>
                  <a:pt x="283476" y="123380"/>
                </a:lnTo>
                <a:lnTo>
                  <a:pt x="406920" y="123380"/>
                </a:lnTo>
                <a:lnTo>
                  <a:pt x="406920" y="103632"/>
                </a:lnTo>
                <a:close/>
              </a:path>
              <a:path w="1039495" h="425450">
                <a:moveTo>
                  <a:pt x="670572" y="103644"/>
                </a:moveTo>
                <a:lnTo>
                  <a:pt x="661504" y="65544"/>
                </a:lnTo>
                <a:lnTo>
                  <a:pt x="660209" y="60083"/>
                </a:lnTo>
                <a:lnTo>
                  <a:pt x="633107" y="30289"/>
                </a:lnTo>
                <a:lnTo>
                  <a:pt x="595185" y="11899"/>
                </a:lnTo>
                <a:lnTo>
                  <a:pt x="552348" y="2590"/>
                </a:lnTo>
                <a:lnTo>
                  <a:pt x="510552" y="0"/>
                </a:lnTo>
                <a:lnTo>
                  <a:pt x="471538" y="1574"/>
                </a:lnTo>
                <a:lnTo>
                  <a:pt x="438531" y="5727"/>
                </a:lnTo>
                <a:lnTo>
                  <a:pt x="410679" y="11582"/>
                </a:lnTo>
                <a:lnTo>
                  <a:pt x="387096" y="18300"/>
                </a:lnTo>
                <a:lnTo>
                  <a:pt x="401408" y="34632"/>
                </a:lnTo>
                <a:lnTo>
                  <a:pt x="413575" y="54114"/>
                </a:lnTo>
                <a:lnTo>
                  <a:pt x="422033" y="77012"/>
                </a:lnTo>
                <a:lnTo>
                  <a:pt x="422122" y="77736"/>
                </a:lnTo>
                <a:lnTo>
                  <a:pt x="425196" y="103644"/>
                </a:lnTo>
                <a:lnTo>
                  <a:pt x="425196" y="112788"/>
                </a:lnTo>
                <a:lnTo>
                  <a:pt x="416115" y="123380"/>
                </a:lnTo>
                <a:lnTo>
                  <a:pt x="416052" y="132600"/>
                </a:lnTo>
                <a:lnTo>
                  <a:pt x="312420" y="132600"/>
                </a:lnTo>
                <a:lnTo>
                  <a:pt x="317449" y="158711"/>
                </a:lnTo>
                <a:lnTo>
                  <a:pt x="332041" y="182702"/>
                </a:lnTo>
                <a:lnTo>
                  <a:pt x="355498" y="205244"/>
                </a:lnTo>
                <a:lnTo>
                  <a:pt x="387096" y="227088"/>
                </a:lnTo>
                <a:lnTo>
                  <a:pt x="463296" y="263664"/>
                </a:lnTo>
                <a:lnTo>
                  <a:pt x="476973" y="271678"/>
                </a:lnTo>
                <a:lnTo>
                  <a:pt x="489204" y="281000"/>
                </a:lnTo>
                <a:lnTo>
                  <a:pt x="498017" y="293446"/>
                </a:lnTo>
                <a:lnTo>
                  <a:pt x="501396" y="310908"/>
                </a:lnTo>
                <a:lnTo>
                  <a:pt x="497713" y="330504"/>
                </a:lnTo>
                <a:lnTo>
                  <a:pt x="486727" y="345389"/>
                </a:lnTo>
                <a:lnTo>
                  <a:pt x="468617" y="354838"/>
                </a:lnTo>
                <a:lnTo>
                  <a:pt x="443484" y="358152"/>
                </a:lnTo>
                <a:lnTo>
                  <a:pt x="419252" y="353402"/>
                </a:lnTo>
                <a:lnTo>
                  <a:pt x="401574" y="340817"/>
                </a:lnTo>
                <a:lnTo>
                  <a:pt x="390766" y="322783"/>
                </a:lnTo>
                <a:lnTo>
                  <a:pt x="387096" y="301764"/>
                </a:lnTo>
                <a:lnTo>
                  <a:pt x="387096" y="292620"/>
                </a:lnTo>
                <a:lnTo>
                  <a:pt x="382358" y="321017"/>
                </a:lnTo>
                <a:lnTo>
                  <a:pt x="369760" y="348437"/>
                </a:lnTo>
                <a:lnTo>
                  <a:pt x="351739" y="373837"/>
                </a:lnTo>
                <a:lnTo>
                  <a:pt x="330708" y="396252"/>
                </a:lnTo>
                <a:lnTo>
                  <a:pt x="321564" y="396252"/>
                </a:lnTo>
                <a:lnTo>
                  <a:pt x="312420" y="405396"/>
                </a:lnTo>
                <a:lnTo>
                  <a:pt x="336410" y="412991"/>
                </a:lnTo>
                <a:lnTo>
                  <a:pt x="365950" y="419303"/>
                </a:lnTo>
                <a:lnTo>
                  <a:pt x="399224" y="423608"/>
                </a:lnTo>
                <a:lnTo>
                  <a:pt x="434340" y="425208"/>
                </a:lnTo>
                <a:lnTo>
                  <a:pt x="491998" y="420636"/>
                </a:lnTo>
                <a:lnTo>
                  <a:pt x="540969" y="407428"/>
                </a:lnTo>
                <a:lnTo>
                  <a:pt x="580466" y="386346"/>
                </a:lnTo>
                <a:lnTo>
                  <a:pt x="609663" y="358152"/>
                </a:lnTo>
                <a:lnTo>
                  <a:pt x="627773" y="323608"/>
                </a:lnTo>
                <a:lnTo>
                  <a:pt x="627900" y="322783"/>
                </a:lnTo>
                <a:lnTo>
                  <a:pt x="633996" y="283476"/>
                </a:lnTo>
                <a:lnTo>
                  <a:pt x="618185" y="233375"/>
                </a:lnTo>
                <a:lnTo>
                  <a:pt x="566940" y="198132"/>
                </a:lnTo>
                <a:lnTo>
                  <a:pt x="490728" y="160032"/>
                </a:lnTo>
                <a:lnTo>
                  <a:pt x="471779" y="151434"/>
                </a:lnTo>
                <a:lnTo>
                  <a:pt x="456819" y="139268"/>
                </a:lnTo>
                <a:lnTo>
                  <a:pt x="447014" y="123380"/>
                </a:lnTo>
                <a:lnTo>
                  <a:pt x="443484" y="103644"/>
                </a:lnTo>
                <a:lnTo>
                  <a:pt x="447014" y="89966"/>
                </a:lnTo>
                <a:lnTo>
                  <a:pt x="456819" y="77736"/>
                </a:lnTo>
                <a:lnTo>
                  <a:pt x="471779" y="68922"/>
                </a:lnTo>
                <a:lnTo>
                  <a:pt x="490728" y="65544"/>
                </a:lnTo>
                <a:lnTo>
                  <a:pt x="515861" y="69062"/>
                </a:lnTo>
                <a:lnTo>
                  <a:pt x="533984" y="78879"/>
                </a:lnTo>
                <a:lnTo>
                  <a:pt x="544957" y="93827"/>
                </a:lnTo>
                <a:lnTo>
                  <a:pt x="548652" y="112788"/>
                </a:lnTo>
                <a:lnTo>
                  <a:pt x="538048" y="123380"/>
                </a:lnTo>
                <a:lnTo>
                  <a:pt x="670572" y="123380"/>
                </a:lnTo>
                <a:lnTo>
                  <a:pt x="670572" y="103644"/>
                </a:lnTo>
                <a:close/>
              </a:path>
              <a:path w="1039495" h="425450">
                <a:moveTo>
                  <a:pt x="1039380" y="103632"/>
                </a:moveTo>
                <a:lnTo>
                  <a:pt x="1030973" y="59804"/>
                </a:lnTo>
                <a:lnTo>
                  <a:pt x="1007567" y="27241"/>
                </a:lnTo>
                <a:lnTo>
                  <a:pt x="971867" y="6985"/>
                </a:lnTo>
                <a:lnTo>
                  <a:pt x="926604" y="0"/>
                </a:lnTo>
                <a:lnTo>
                  <a:pt x="882789" y="5410"/>
                </a:lnTo>
                <a:lnTo>
                  <a:pt x="837831" y="21526"/>
                </a:lnTo>
                <a:lnTo>
                  <a:pt x="794575" y="48221"/>
                </a:lnTo>
                <a:lnTo>
                  <a:pt x="755904" y="85344"/>
                </a:lnTo>
                <a:lnTo>
                  <a:pt x="775716" y="9144"/>
                </a:lnTo>
                <a:lnTo>
                  <a:pt x="633984" y="9144"/>
                </a:lnTo>
                <a:lnTo>
                  <a:pt x="633984" y="18288"/>
                </a:lnTo>
                <a:lnTo>
                  <a:pt x="656805" y="34632"/>
                </a:lnTo>
                <a:lnTo>
                  <a:pt x="671322" y="54102"/>
                </a:lnTo>
                <a:lnTo>
                  <a:pt x="678992" y="77012"/>
                </a:lnTo>
                <a:lnTo>
                  <a:pt x="681228" y="103632"/>
                </a:lnTo>
                <a:lnTo>
                  <a:pt x="681228" y="132588"/>
                </a:lnTo>
                <a:lnTo>
                  <a:pt x="605028" y="132588"/>
                </a:lnTo>
                <a:lnTo>
                  <a:pt x="604964" y="133210"/>
                </a:lnTo>
                <a:lnTo>
                  <a:pt x="603465" y="146329"/>
                </a:lnTo>
                <a:lnTo>
                  <a:pt x="599313" y="160210"/>
                </a:lnTo>
                <a:lnTo>
                  <a:pt x="593458" y="174383"/>
                </a:lnTo>
                <a:lnTo>
                  <a:pt x="586740" y="188976"/>
                </a:lnTo>
                <a:lnTo>
                  <a:pt x="610984" y="209956"/>
                </a:lnTo>
                <a:lnTo>
                  <a:pt x="628650" y="232219"/>
                </a:lnTo>
                <a:lnTo>
                  <a:pt x="639470" y="256489"/>
                </a:lnTo>
                <a:lnTo>
                  <a:pt x="643128" y="283464"/>
                </a:lnTo>
                <a:lnTo>
                  <a:pt x="639470" y="317169"/>
                </a:lnTo>
                <a:lnTo>
                  <a:pt x="628650" y="347281"/>
                </a:lnTo>
                <a:lnTo>
                  <a:pt x="610984" y="373697"/>
                </a:lnTo>
                <a:lnTo>
                  <a:pt x="586740" y="396240"/>
                </a:lnTo>
                <a:lnTo>
                  <a:pt x="576072" y="405384"/>
                </a:lnTo>
                <a:lnTo>
                  <a:pt x="670560" y="405384"/>
                </a:lnTo>
                <a:lnTo>
                  <a:pt x="728472" y="198120"/>
                </a:lnTo>
                <a:lnTo>
                  <a:pt x="744601" y="156718"/>
                </a:lnTo>
                <a:lnTo>
                  <a:pt x="767143" y="120586"/>
                </a:lnTo>
                <a:lnTo>
                  <a:pt x="798563" y="95046"/>
                </a:lnTo>
                <a:lnTo>
                  <a:pt x="841260" y="85344"/>
                </a:lnTo>
                <a:lnTo>
                  <a:pt x="860856" y="87236"/>
                </a:lnTo>
                <a:lnTo>
                  <a:pt x="875741" y="93535"/>
                </a:lnTo>
                <a:lnTo>
                  <a:pt x="885190" y="105283"/>
                </a:lnTo>
                <a:lnTo>
                  <a:pt x="888504" y="123444"/>
                </a:lnTo>
                <a:lnTo>
                  <a:pt x="888352" y="131876"/>
                </a:lnTo>
                <a:lnTo>
                  <a:pt x="888238" y="133210"/>
                </a:lnTo>
                <a:lnTo>
                  <a:pt x="887361" y="142875"/>
                </a:lnTo>
                <a:lnTo>
                  <a:pt x="884643" y="155600"/>
                </a:lnTo>
                <a:lnTo>
                  <a:pt x="879360" y="169164"/>
                </a:lnTo>
                <a:lnTo>
                  <a:pt x="822972" y="358140"/>
                </a:lnTo>
                <a:lnTo>
                  <a:pt x="812292" y="387096"/>
                </a:lnTo>
                <a:lnTo>
                  <a:pt x="812292" y="405384"/>
                </a:lnTo>
                <a:lnTo>
                  <a:pt x="955560" y="405384"/>
                </a:lnTo>
                <a:lnTo>
                  <a:pt x="1021092" y="179832"/>
                </a:lnTo>
                <a:lnTo>
                  <a:pt x="1030236" y="141732"/>
                </a:lnTo>
                <a:lnTo>
                  <a:pt x="1035519" y="133210"/>
                </a:lnTo>
                <a:lnTo>
                  <a:pt x="1038237" y="122682"/>
                </a:lnTo>
                <a:lnTo>
                  <a:pt x="1039228" y="112166"/>
                </a:lnTo>
                <a:lnTo>
                  <a:pt x="1039342" y="105283"/>
                </a:lnTo>
                <a:lnTo>
                  <a:pt x="1039380" y="103632"/>
                </a:lnTo>
                <a:close/>
              </a:path>
            </a:pathLst>
          </a:custGeom>
          <a:solidFill>
            <a:srgbClr val="004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189988" y="3371088"/>
            <a:ext cx="5741670" cy="1073150"/>
          </a:xfrm>
          <a:custGeom>
            <a:avLst/>
            <a:gdLst/>
            <a:ahLst/>
            <a:cxnLst/>
            <a:rect l="l" t="t" r="r" b="b"/>
            <a:pathLst>
              <a:path w="5741670" h="1073150">
                <a:moveTo>
                  <a:pt x="725709" y="848868"/>
                </a:moveTo>
                <a:lnTo>
                  <a:pt x="623316" y="848868"/>
                </a:lnTo>
                <a:lnTo>
                  <a:pt x="819340" y="0"/>
                </a:lnTo>
                <a:lnTo>
                  <a:pt x="921734" y="0"/>
                </a:lnTo>
                <a:lnTo>
                  <a:pt x="850868" y="307086"/>
                </a:lnTo>
                <a:lnTo>
                  <a:pt x="1220913" y="307086"/>
                </a:lnTo>
                <a:lnTo>
                  <a:pt x="1223343" y="311765"/>
                </a:lnTo>
                <a:lnTo>
                  <a:pt x="1224737" y="316992"/>
                </a:lnTo>
                <a:lnTo>
                  <a:pt x="1020127" y="316992"/>
                </a:lnTo>
                <a:lnTo>
                  <a:pt x="998803" y="318475"/>
                </a:lnTo>
                <a:lnTo>
                  <a:pt x="952940" y="329944"/>
                </a:lnTo>
                <a:lnTo>
                  <a:pt x="903541" y="352000"/>
                </a:lnTo>
                <a:lnTo>
                  <a:pt x="854678" y="379394"/>
                </a:lnTo>
                <a:lnTo>
                  <a:pt x="830675" y="394716"/>
                </a:lnTo>
                <a:lnTo>
                  <a:pt x="725709" y="848868"/>
                </a:lnTo>
                <a:close/>
              </a:path>
              <a:path w="5741670" h="1073150">
                <a:moveTo>
                  <a:pt x="687990" y="128016"/>
                </a:moveTo>
                <a:lnTo>
                  <a:pt x="0" y="128016"/>
                </a:lnTo>
                <a:lnTo>
                  <a:pt x="20669" y="36576"/>
                </a:lnTo>
                <a:lnTo>
                  <a:pt x="708660" y="36576"/>
                </a:lnTo>
                <a:lnTo>
                  <a:pt x="687990" y="128016"/>
                </a:lnTo>
                <a:close/>
              </a:path>
              <a:path w="5741670" h="1073150">
                <a:moveTo>
                  <a:pt x="232600" y="848868"/>
                </a:moveTo>
                <a:lnTo>
                  <a:pt x="123444" y="848868"/>
                </a:lnTo>
                <a:lnTo>
                  <a:pt x="290226" y="128016"/>
                </a:lnTo>
                <a:lnTo>
                  <a:pt x="399478" y="128016"/>
                </a:lnTo>
                <a:lnTo>
                  <a:pt x="232600" y="848868"/>
                </a:lnTo>
                <a:close/>
              </a:path>
              <a:path w="5741670" h="1073150">
                <a:moveTo>
                  <a:pt x="1220913" y="307086"/>
                </a:moveTo>
                <a:lnTo>
                  <a:pt x="850868" y="307086"/>
                </a:lnTo>
                <a:lnTo>
                  <a:pt x="879676" y="287849"/>
                </a:lnTo>
                <a:lnTo>
                  <a:pt x="934436" y="256521"/>
                </a:lnTo>
                <a:lnTo>
                  <a:pt x="986158" y="234893"/>
                </a:lnTo>
                <a:lnTo>
                  <a:pt x="1038736" y="223931"/>
                </a:lnTo>
                <a:lnTo>
                  <a:pt x="1065561" y="222504"/>
                </a:lnTo>
                <a:lnTo>
                  <a:pt x="1103282" y="225074"/>
                </a:lnTo>
                <a:lnTo>
                  <a:pt x="1165471" y="245180"/>
                </a:lnTo>
                <a:lnTo>
                  <a:pt x="1209445" y="285004"/>
                </a:lnTo>
                <a:lnTo>
                  <a:pt x="1220913" y="307086"/>
                </a:lnTo>
                <a:close/>
              </a:path>
              <a:path w="5741670" h="1073150">
                <a:moveTo>
                  <a:pt x="1133284" y="848868"/>
                </a:moveTo>
                <a:lnTo>
                  <a:pt x="1032224" y="848868"/>
                </a:lnTo>
                <a:lnTo>
                  <a:pt x="1111281" y="502348"/>
                </a:lnTo>
                <a:lnTo>
                  <a:pt x="1114316" y="488382"/>
                </a:lnTo>
                <a:lnTo>
                  <a:pt x="1122743" y="441339"/>
                </a:lnTo>
                <a:lnTo>
                  <a:pt x="1124610" y="414147"/>
                </a:lnTo>
                <a:lnTo>
                  <a:pt x="1124712" y="409098"/>
                </a:lnTo>
                <a:lnTo>
                  <a:pt x="1119056" y="369093"/>
                </a:lnTo>
                <a:lnTo>
                  <a:pt x="1088399" y="330105"/>
                </a:lnTo>
                <a:lnTo>
                  <a:pt x="1070013" y="322790"/>
                </a:lnTo>
                <a:lnTo>
                  <a:pt x="1069821" y="322790"/>
                </a:lnTo>
                <a:lnTo>
                  <a:pt x="1047339" y="318475"/>
                </a:lnTo>
                <a:lnTo>
                  <a:pt x="1020127" y="316992"/>
                </a:lnTo>
                <a:lnTo>
                  <a:pt x="1224737" y="316992"/>
                </a:lnTo>
                <a:lnTo>
                  <a:pt x="1231668" y="342972"/>
                </a:lnTo>
                <a:lnTo>
                  <a:pt x="1234440" y="378618"/>
                </a:lnTo>
                <a:lnTo>
                  <a:pt x="1234294" y="385777"/>
                </a:lnTo>
                <a:lnTo>
                  <a:pt x="1230624" y="425005"/>
                </a:lnTo>
                <a:lnTo>
                  <a:pt x="1225105" y="453294"/>
                </a:lnTo>
                <a:lnTo>
                  <a:pt x="1133284" y="848868"/>
                </a:lnTo>
                <a:close/>
              </a:path>
              <a:path w="5741670" h="1073150">
                <a:moveTo>
                  <a:pt x="1459325" y="356616"/>
                </a:moveTo>
                <a:lnTo>
                  <a:pt x="1453896" y="356616"/>
                </a:lnTo>
                <a:lnTo>
                  <a:pt x="1473993" y="254412"/>
                </a:lnTo>
                <a:lnTo>
                  <a:pt x="1512296" y="245780"/>
                </a:lnTo>
                <a:lnTo>
                  <a:pt x="1564957" y="235934"/>
                </a:lnTo>
                <a:lnTo>
                  <a:pt x="1623691" y="228207"/>
                </a:lnTo>
                <a:lnTo>
                  <a:pt x="1679924" y="225552"/>
                </a:lnTo>
                <a:lnTo>
                  <a:pt x="1733036" y="227821"/>
                </a:lnTo>
                <a:lnTo>
                  <a:pt x="1779067" y="234493"/>
                </a:lnTo>
                <a:lnTo>
                  <a:pt x="1818008" y="245576"/>
                </a:lnTo>
                <a:lnTo>
                  <a:pt x="1874658" y="281384"/>
                </a:lnTo>
                <a:lnTo>
                  <a:pt x="1893766" y="310896"/>
                </a:lnTo>
                <a:lnTo>
                  <a:pt x="1661636" y="310896"/>
                </a:lnTo>
                <a:lnTo>
                  <a:pt x="1638369" y="311884"/>
                </a:lnTo>
                <a:lnTo>
                  <a:pt x="1637930" y="311884"/>
                </a:lnTo>
                <a:lnTo>
                  <a:pt x="1612058" y="314825"/>
                </a:lnTo>
                <a:lnTo>
                  <a:pt x="1555908" y="326326"/>
                </a:lnTo>
                <a:lnTo>
                  <a:pt x="1502044" y="341614"/>
                </a:lnTo>
                <a:lnTo>
                  <a:pt x="1479292" y="349150"/>
                </a:lnTo>
                <a:lnTo>
                  <a:pt x="1459325" y="356616"/>
                </a:lnTo>
                <a:close/>
              </a:path>
              <a:path w="5741670" h="1073150">
                <a:moveTo>
                  <a:pt x="1484185" y="865632"/>
                </a:moveTo>
                <a:lnTo>
                  <a:pt x="1418546" y="855106"/>
                </a:lnTo>
                <a:lnTo>
                  <a:pt x="1366551" y="823436"/>
                </a:lnTo>
                <a:lnTo>
                  <a:pt x="1332642" y="774644"/>
                </a:lnTo>
                <a:lnTo>
                  <a:pt x="1321420" y="714136"/>
                </a:lnTo>
                <a:lnTo>
                  <a:pt x="1321339" y="712309"/>
                </a:lnTo>
                <a:lnTo>
                  <a:pt x="1323305" y="678041"/>
                </a:lnTo>
                <a:lnTo>
                  <a:pt x="1339229" y="616852"/>
                </a:lnTo>
                <a:lnTo>
                  <a:pt x="1370963" y="566648"/>
                </a:lnTo>
                <a:lnTo>
                  <a:pt x="1418111" y="525785"/>
                </a:lnTo>
                <a:lnTo>
                  <a:pt x="1479725" y="494353"/>
                </a:lnTo>
                <a:lnTo>
                  <a:pt x="1553838" y="471922"/>
                </a:lnTo>
                <a:lnTo>
                  <a:pt x="1595628" y="463867"/>
                </a:lnTo>
                <a:lnTo>
                  <a:pt x="1640507" y="457582"/>
                </a:lnTo>
                <a:lnTo>
                  <a:pt x="1688413" y="452592"/>
                </a:lnTo>
                <a:lnTo>
                  <a:pt x="1739337" y="448905"/>
                </a:lnTo>
                <a:lnTo>
                  <a:pt x="1793271" y="446532"/>
                </a:lnTo>
                <a:lnTo>
                  <a:pt x="1795056" y="439193"/>
                </a:lnTo>
                <a:lnTo>
                  <a:pt x="1801844" y="404812"/>
                </a:lnTo>
                <a:lnTo>
                  <a:pt x="1801830" y="396457"/>
                </a:lnTo>
                <a:lnTo>
                  <a:pt x="1791462" y="354139"/>
                </a:lnTo>
                <a:lnTo>
                  <a:pt x="1762029" y="327850"/>
                </a:lnTo>
                <a:lnTo>
                  <a:pt x="1717548" y="314515"/>
                </a:lnTo>
                <a:lnTo>
                  <a:pt x="1676600" y="311180"/>
                </a:lnTo>
                <a:lnTo>
                  <a:pt x="1661636" y="310896"/>
                </a:lnTo>
                <a:lnTo>
                  <a:pt x="1893766" y="310896"/>
                </a:lnTo>
                <a:lnTo>
                  <a:pt x="1902986" y="337496"/>
                </a:lnTo>
                <a:lnTo>
                  <a:pt x="1906495" y="372999"/>
                </a:lnTo>
                <a:lnTo>
                  <a:pt x="1906524" y="373284"/>
                </a:lnTo>
                <a:lnTo>
                  <a:pt x="1902812" y="412623"/>
                </a:lnTo>
                <a:lnTo>
                  <a:pt x="1877021" y="528828"/>
                </a:lnTo>
                <a:lnTo>
                  <a:pt x="1774602" y="528828"/>
                </a:lnTo>
                <a:lnTo>
                  <a:pt x="1734029" y="530917"/>
                </a:lnTo>
                <a:lnTo>
                  <a:pt x="1695759" y="533757"/>
                </a:lnTo>
                <a:lnTo>
                  <a:pt x="1626203" y="541686"/>
                </a:lnTo>
                <a:lnTo>
                  <a:pt x="1566981" y="553319"/>
                </a:lnTo>
                <a:lnTo>
                  <a:pt x="1519047" y="569023"/>
                </a:lnTo>
                <a:lnTo>
                  <a:pt x="1480375" y="590216"/>
                </a:lnTo>
                <a:lnTo>
                  <a:pt x="1452276" y="617696"/>
                </a:lnTo>
                <a:lnTo>
                  <a:pt x="1435215" y="652117"/>
                </a:lnTo>
                <a:lnTo>
                  <a:pt x="1429512" y="693896"/>
                </a:lnTo>
                <a:lnTo>
                  <a:pt x="1431187" y="712309"/>
                </a:lnTo>
                <a:lnTo>
                  <a:pt x="1456182" y="753618"/>
                </a:lnTo>
                <a:lnTo>
                  <a:pt x="1512258" y="772871"/>
                </a:lnTo>
                <a:lnTo>
                  <a:pt x="1510908" y="772871"/>
                </a:lnTo>
                <a:lnTo>
                  <a:pt x="1538954" y="774192"/>
                </a:lnTo>
                <a:lnTo>
                  <a:pt x="1820773" y="774192"/>
                </a:lnTo>
                <a:lnTo>
                  <a:pt x="1818545" y="783907"/>
                </a:lnTo>
                <a:lnTo>
                  <a:pt x="1716786" y="783907"/>
                </a:lnTo>
                <a:lnTo>
                  <a:pt x="1699414" y="794551"/>
                </a:lnTo>
                <a:lnTo>
                  <a:pt x="1676685" y="808767"/>
                </a:lnTo>
                <a:lnTo>
                  <a:pt x="1663987" y="816536"/>
                </a:lnTo>
                <a:lnTo>
                  <a:pt x="1625250" y="836199"/>
                </a:lnTo>
                <a:lnTo>
                  <a:pt x="1579896" y="852782"/>
                </a:lnTo>
                <a:lnTo>
                  <a:pt x="1526274" y="863548"/>
                </a:lnTo>
                <a:lnTo>
                  <a:pt x="1505886" y="865112"/>
                </a:lnTo>
                <a:lnTo>
                  <a:pt x="1484185" y="865632"/>
                </a:lnTo>
                <a:close/>
              </a:path>
              <a:path w="5741670" h="1073150">
                <a:moveTo>
                  <a:pt x="1820773" y="774192"/>
                </a:moveTo>
                <a:lnTo>
                  <a:pt x="1538954" y="774192"/>
                </a:lnTo>
                <a:lnTo>
                  <a:pt x="1563851" y="772871"/>
                </a:lnTo>
                <a:lnTo>
                  <a:pt x="1588972" y="768774"/>
                </a:lnTo>
                <a:lnTo>
                  <a:pt x="1639919" y="752284"/>
                </a:lnTo>
                <a:lnTo>
                  <a:pt x="1689687" y="727995"/>
                </a:lnTo>
                <a:lnTo>
                  <a:pt x="1736026" y="699135"/>
                </a:lnTo>
                <a:lnTo>
                  <a:pt x="1774602" y="528828"/>
                </a:lnTo>
                <a:lnTo>
                  <a:pt x="1877021" y="528828"/>
                </a:lnTo>
                <a:lnTo>
                  <a:pt x="1820773" y="774192"/>
                </a:lnTo>
                <a:close/>
              </a:path>
              <a:path w="5741670" h="1073150">
                <a:moveTo>
                  <a:pt x="1803654" y="848868"/>
                </a:moveTo>
                <a:lnTo>
                  <a:pt x="1702022" y="848868"/>
                </a:lnTo>
                <a:lnTo>
                  <a:pt x="1716786" y="783907"/>
                </a:lnTo>
                <a:lnTo>
                  <a:pt x="1818545" y="783907"/>
                </a:lnTo>
                <a:lnTo>
                  <a:pt x="1803654" y="848868"/>
                </a:lnTo>
                <a:close/>
              </a:path>
              <a:path w="5741670" h="1073150">
                <a:moveTo>
                  <a:pt x="2598605" y="307181"/>
                </a:moveTo>
                <a:lnTo>
                  <a:pt x="2227992" y="307181"/>
                </a:lnTo>
                <a:lnTo>
                  <a:pt x="2256817" y="287875"/>
                </a:lnTo>
                <a:lnTo>
                  <a:pt x="2311681" y="256442"/>
                </a:lnTo>
                <a:lnTo>
                  <a:pt x="2363490" y="234813"/>
                </a:lnTo>
                <a:lnTo>
                  <a:pt x="2416172" y="223916"/>
                </a:lnTo>
                <a:lnTo>
                  <a:pt x="2443067" y="222504"/>
                </a:lnTo>
                <a:lnTo>
                  <a:pt x="2480802" y="225074"/>
                </a:lnTo>
                <a:lnTo>
                  <a:pt x="2543057" y="245180"/>
                </a:lnTo>
                <a:lnTo>
                  <a:pt x="2587061" y="285004"/>
                </a:lnTo>
                <a:lnTo>
                  <a:pt x="2598605" y="307181"/>
                </a:lnTo>
                <a:close/>
              </a:path>
              <a:path w="5741670" h="1073150">
                <a:moveTo>
                  <a:pt x="2103405" y="848868"/>
                </a:moveTo>
                <a:lnTo>
                  <a:pt x="2001012" y="848868"/>
                </a:lnTo>
                <a:lnTo>
                  <a:pt x="2141124" y="239268"/>
                </a:lnTo>
                <a:lnTo>
                  <a:pt x="2243613" y="239268"/>
                </a:lnTo>
                <a:lnTo>
                  <a:pt x="2227992" y="307181"/>
                </a:lnTo>
                <a:lnTo>
                  <a:pt x="2598605" y="307181"/>
                </a:lnTo>
                <a:lnTo>
                  <a:pt x="2600991" y="311765"/>
                </a:lnTo>
                <a:lnTo>
                  <a:pt x="2602391" y="316992"/>
                </a:lnTo>
                <a:lnTo>
                  <a:pt x="2397728" y="316992"/>
                </a:lnTo>
                <a:lnTo>
                  <a:pt x="2376347" y="318475"/>
                </a:lnTo>
                <a:lnTo>
                  <a:pt x="2330407" y="329944"/>
                </a:lnTo>
                <a:lnTo>
                  <a:pt x="2280826" y="352018"/>
                </a:lnTo>
                <a:lnTo>
                  <a:pt x="2231820" y="379554"/>
                </a:lnTo>
                <a:lnTo>
                  <a:pt x="2207799" y="395001"/>
                </a:lnTo>
                <a:lnTo>
                  <a:pt x="2103405" y="848868"/>
                </a:lnTo>
                <a:close/>
              </a:path>
              <a:path w="5741670" h="1073150">
                <a:moveTo>
                  <a:pt x="2512028" y="848868"/>
                </a:moveTo>
                <a:lnTo>
                  <a:pt x="2410968" y="848868"/>
                </a:lnTo>
                <a:lnTo>
                  <a:pt x="2489263" y="502348"/>
                </a:lnTo>
                <a:lnTo>
                  <a:pt x="2492283" y="488382"/>
                </a:lnTo>
                <a:lnTo>
                  <a:pt x="2500574" y="441339"/>
                </a:lnTo>
                <a:lnTo>
                  <a:pt x="2502402" y="414147"/>
                </a:lnTo>
                <a:lnTo>
                  <a:pt x="2502503" y="409098"/>
                </a:lnTo>
                <a:lnTo>
                  <a:pt x="2496835" y="369093"/>
                </a:lnTo>
                <a:lnTo>
                  <a:pt x="2466094" y="330105"/>
                </a:lnTo>
                <a:lnTo>
                  <a:pt x="2447697" y="322790"/>
                </a:lnTo>
                <a:lnTo>
                  <a:pt x="2447504" y="322790"/>
                </a:lnTo>
                <a:lnTo>
                  <a:pt x="2424995" y="318475"/>
                </a:lnTo>
                <a:lnTo>
                  <a:pt x="2397728" y="316992"/>
                </a:lnTo>
                <a:lnTo>
                  <a:pt x="2602391" y="316992"/>
                </a:lnTo>
                <a:lnTo>
                  <a:pt x="2609350" y="342972"/>
                </a:lnTo>
                <a:lnTo>
                  <a:pt x="2612136" y="378618"/>
                </a:lnTo>
                <a:lnTo>
                  <a:pt x="2612117" y="379554"/>
                </a:lnTo>
                <a:lnTo>
                  <a:pt x="2611991" y="385777"/>
                </a:lnTo>
                <a:lnTo>
                  <a:pt x="2608415" y="425005"/>
                </a:lnTo>
                <a:lnTo>
                  <a:pt x="2602896" y="453294"/>
                </a:lnTo>
                <a:lnTo>
                  <a:pt x="2512028" y="848868"/>
                </a:lnTo>
                <a:close/>
              </a:path>
              <a:path w="5741670" h="1073150">
                <a:moveTo>
                  <a:pt x="2815971" y="848868"/>
                </a:moveTo>
                <a:lnTo>
                  <a:pt x="2712720" y="848868"/>
                </a:lnTo>
                <a:lnTo>
                  <a:pt x="2908744" y="0"/>
                </a:lnTo>
                <a:lnTo>
                  <a:pt x="3011995" y="0"/>
                </a:lnTo>
                <a:lnTo>
                  <a:pt x="2886265" y="543972"/>
                </a:lnTo>
                <a:lnTo>
                  <a:pt x="3042354" y="543972"/>
                </a:lnTo>
                <a:lnTo>
                  <a:pt x="3069920" y="581310"/>
                </a:lnTo>
                <a:lnTo>
                  <a:pt x="2948273" y="581310"/>
                </a:lnTo>
                <a:lnTo>
                  <a:pt x="2860738" y="652653"/>
                </a:lnTo>
                <a:lnTo>
                  <a:pt x="2815971" y="848868"/>
                </a:lnTo>
                <a:close/>
              </a:path>
              <a:path w="5741670" h="1073150">
                <a:moveTo>
                  <a:pt x="3042354" y="543972"/>
                </a:moveTo>
                <a:lnTo>
                  <a:pt x="2886265" y="543972"/>
                </a:lnTo>
                <a:lnTo>
                  <a:pt x="3241262" y="239268"/>
                </a:lnTo>
                <a:lnTo>
                  <a:pt x="3377184" y="239268"/>
                </a:lnTo>
                <a:lnTo>
                  <a:pt x="3030188" y="527494"/>
                </a:lnTo>
                <a:lnTo>
                  <a:pt x="3042354" y="543972"/>
                </a:lnTo>
                <a:close/>
              </a:path>
              <a:path w="5741670" h="1073150">
                <a:moveTo>
                  <a:pt x="3267456" y="848868"/>
                </a:moveTo>
                <a:lnTo>
                  <a:pt x="3142392" y="848868"/>
                </a:lnTo>
                <a:lnTo>
                  <a:pt x="2948273" y="581310"/>
                </a:lnTo>
                <a:lnTo>
                  <a:pt x="3069920" y="581310"/>
                </a:lnTo>
                <a:lnTo>
                  <a:pt x="3267456" y="848868"/>
                </a:lnTo>
                <a:close/>
              </a:path>
              <a:path w="5741670" h="1073150">
                <a:moveTo>
                  <a:pt x="3866483" y="1072896"/>
                </a:moveTo>
                <a:lnTo>
                  <a:pt x="3752088" y="1072896"/>
                </a:lnTo>
                <a:lnTo>
                  <a:pt x="3930015" y="811434"/>
                </a:lnTo>
                <a:lnTo>
                  <a:pt x="3820668" y="239268"/>
                </a:lnTo>
                <a:lnTo>
                  <a:pt x="3924585" y="239268"/>
                </a:lnTo>
                <a:lnTo>
                  <a:pt x="4010310" y="693420"/>
                </a:lnTo>
                <a:lnTo>
                  <a:pt x="4116186" y="693420"/>
                </a:lnTo>
                <a:lnTo>
                  <a:pt x="3866483" y="1072896"/>
                </a:lnTo>
                <a:close/>
              </a:path>
              <a:path w="5741670" h="1073150">
                <a:moveTo>
                  <a:pt x="4116186" y="693420"/>
                </a:moveTo>
                <a:lnTo>
                  <a:pt x="4010310" y="693420"/>
                </a:lnTo>
                <a:lnTo>
                  <a:pt x="4301871" y="239268"/>
                </a:lnTo>
                <a:lnTo>
                  <a:pt x="4415028" y="239268"/>
                </a:lnTo>
                <a:lnTo>
                  <a:pt x="4116186" y="693420"/>
                </a:lnTo>
                <a:close/>
              </a:path>
              <a:path w="5741670" h="1073150">
                <a:moveTo>
                  <a:pt x="4664868" y="865632"/>
                </a:moveTo>
                <a:lnTo>
                  <a:pt x="4613628" y="861786"/>
                </a:lnTo>
                <a:lnTo>
                  <a:pt x="4568344" y="850225"/>
                </a:lnTo>
                <a:lnTo>
                  <a:pt x="4529008" y="830913"/>
                </a:lnTo>
                <a:lnTo>
                  <a:pt x="4495609" y="803814"/>
                </a:lnTo>
                <a:lnTo>
                  <a:pt x="4469036" y="769919"/>
                </a:lnTo>
                <a:lnTo>
                  <a:pt x="4450044" y="730103"/>
                </a:lnTo>
                <a:lnTo>
                  <a:pt x="4438642" y="684375"/>
                </a:lnTo>
                <a:lnTo>
                  <a:pt x="4434840" y="632745"/>
                </a:lnTo>
                <a:lnTo>
                  <a:pt x="4436356" y="593324"/>
                </a:lnTo>
                <a:lnTo>
                  <a:pt x="4441055" y="552926"/>
                </a:lnTo>
                <a:lnTo>
                  <a:pt x="4448824" y="514418"/>
                </a:lnTo>
                <a:lnTo>
                  <a:pt x="4459700" y="476821"/>
                </a:lnTo>
                <a:lnTo>
                  <a:pt x="4473490" y="440761"/>
                </a:lnTo>
                <a:lnTo>
                  <a:pt x="4509286" y="374714"/>
                </a:lnTo>
                <a:lnTo>
                  <a:pt x="4555243" y="318367"/>
                </a:lnTo>
                <a:lnTo>
                  <a:pt x="4610717" y="273933"/>
                </a:lnTo>
                <a:lnTo>
                  <a:pt x="4675908" y="241323"/>
                </a:lnTo>
                <a:lnTo>
                  <a:pt x="4747709" y="224645"/>
                </a:lnTo>
                <a:lnTo>
                  <a:pt x="4785931" y="222504"/>
                </a:lnTo>
                <a:lnTo>
                  <a:pt x="4835884" y="226309"/>
                </a:lnTo>
                <a:lnTo>
                  <a:pt x="4880443" y="237589"/>
                </a:lnTo>
                <a:lnTo>
                  <a:pt x="4919609" y="256351"/>
                </a:lnTo>
                <a:lnTo>
                  <a:pt x="4953381" y="282606"/>
                </a:lnTo>
                <a:lnTo>
                  <a:pt x="4974003" y="307848"/>
                </a:lnTo>
                <a:lnTo>
                  <a:pt x="4769453" y="307848"/>
                </a:lnTo>
                <a:lnTo>
                  <a:pt x="4743770" y="309492"/>
                </a:lnTo>
                <a:lnTo>
                  <a:pt x="4696439" y="322247"/>
                </a:lnTo>
                <a:lnTo>
                  <a:pt x="4654556" y="347266"/>
                </a:lnTo>
                <a:lnTo>
                  <a:pt x="4618370" y="382050"/>
                </a:lnTo>
                <a:lnTo>
                  <a:pt x="4588581" y="425463"/>
                </a:lnTo>
                <a:lnTo>
                  <a:pt x="4566045" y="476041"/>
                </a:lnTo>
                <a:lnTo>
                  <a:pt x="4550440" y="533316"/>
                </a:lnTo>
                <a:lnTo>
                  <a:pt x="4542611" y="592362"/>
                </a:lnTo>
                <a:lnTo>
                  <a:pt x="4542517" y="593324"/>
                </a:lnTo>
                <a:lnTo>
                  <a:pt x="4543804" y="659670"/>
                </a:lnTo>
                <a:lnTo>
                  <a:pt x="4562053" y="717638"/>
                </a:lnTo>
                <a:lnTo>
                  <a:pt x="4598126" y="757678"/>
                </a:lnTo>
                <a:lnTo>
                  <a:pt x="4649808" y="777823"/>
                </a:lnTo>
                <a:lnTo>
                  <a:pt x="4681347" y="780288"/>
                </a:lnTo>
                <a:lnTo>
                  <a:pt x="4883964" y="780288"/>
                </a:lnTo>
                <a:lnTo>
                  <a:pt x="4868382" y="794527"/>
                </a:lnTo>
                <a:lnTo>
                  <a:pt x="4809934" y="833247"/>
                </a:lnTo>
                <a:lnTo>
                  <a:pt x="4742580" y="857547"/>
                </a:lnTo>
                <a:lnTo>
                  <a:pt x="4705015" y="863612"/>
                </a:lnTo>
                <a:lnTo>
                  <a:pt x="4664868" y="865632"/>
                </a:lnTo>
                <a:close/>
              </a:path>
              <a:path w="5741670" h="1073150">
                <a:moveTo>
                  <a:pt x="4883964" y="780288"/>
                </a:moveTo>
                <a:lnTo>
                  <a:pt x="4681347" y="780288"/>
                </a:lnTo>
                <a:lnTo>
                  <a:pt x="4706869" y="778771"/>
                </a:lnTo>
                <a:lnTo>
                  <a:pt x="4731150" y="774084"/>
                </a:lnTo>
                <a:lnTo>
                  <a:pt x="4776025" y="755237"/>
                </a:lnTo>
                <a:lnTo>
                  <a:pt x="4815328" y="725245"/>
                </a:lnTo>
                <a:lnTo>
                  <a:pt x="4848415" y="685323"/>
                </a:lnTo>
                <a:lnTo>
                  <a:pt x="4874347" y="638305"/>
                </a:lnTo>
                <a:lnTo>
                  <a:pt x="4893278" y="584358"/>
                </a:lnTo>
                <a:lnTo>
                  <a:pt x="4904934" y="525363"/>
                </a:lnTo>
                <a:lnTo>
                  <a:pt x="4908804" y="463010"/>
                </a:lnTo>
                <a:lnTo>
                  <a:pt x="4906533" y="427166"/>
                </a:lnTo>
                <a:lnTo>
                  <a:pt x="4888310" y="369302"/>
                </a:lnTo>
                <a:lnTo>
                  <a:pt x="4852231" y="330082"/>
                </a:lnTo>
                <a:lnTo>
                  <a:pt x="4800796" y="310366"/>
                </a:lnTo>
                <a:lnTo>
                  <a:pt x="4769453" y="307848"/>
                </a:lnTo>
                <a:lnTo>
                  <a:pt x="4974003" y="307848"/>
                </a:lnTo>
                <a:lnTo>
                  <a:pt x="4980564" y="315878"/>
                </a:lnTo>
                <a:lnTo>
                  <a:pt x="4999970" y="355687"/>
                </a:lnTo>
                <a:lnTo>
                  <a:pt x="5011607" y="402032"/>
                </a:lnTo>
                <a:lnTo>
                  <a:pt x="5015484" y="454914"/>
                </a:lnTo>
                <a:lnTo>
                  <a:pt x="5013961" y="494602"/>
                </a:lnTo>
                <a:lnTo>
                  <a:pt x="5013927" y="495490"/>
                </a:lnTo>
                <a:lnTo>
                  <a:pt x="5009245" y="535209"/>
                </a:lnTo>
                <a:lnTo>
                  <a:pt x="5001419" y="574071"/>
                </a:lnTo>
                <a:lnTo>
                  <a:pt x="4990433" y="612076"/>
                </a:lnTo>
                <a:lnTo>
                  <a:pt x="4976573" y="648545"/>
                </a:lnTo>
                <a:lnTo>
                  <a:pt x="4941101" y="713982"/>
                </a:lnTo>
                <a:lnTo>
                  <a:pt x="4894896" y="770286"/>
                </a:lnTo>
                <a:lnTo>
                  <a:pt x="4883964" y="780288"/>
                </a:lnTo>
                <a:close/>
              </a:path>
              <a:path w="5741670" h="1073150">
                <a:moveTo>
                  <a:pt x="5297805" y="865632"/>
                </a:moveTo>
                <a:lnTo>
                  <a:pt x="5228034" y="855773"/>
                </a:lnTo>
                <a:lnTo>
                  <a:pt x="5175408" y="826198"/>
                </a:lnTo>
                <a:lnTo>
                  <a:pt x="5142357" y="777621"/>
                </a:lnTo>
                <a:lnTo>
                  <a:pt x="5131308" y="710755"/>
                </a:lnTo>
                <a:lnTo>
                  <a:pt x="5131343" y="708722"/>
                </a:lnTo>
                <a:lnTo>
                  <a:pt x="5131467" y="701593"/>
                </a:lnTo>
                <a:lnTo>
                  <a:pt x="5136701" y="656082"/>
                </a:lnTo>
                <a:lnTo>
                  <a:pt x="5232368" y="239268"/>
                </a:lnTo>
                <a:lnTo>
                  <a:pt x="5334857" y="239268"/>
                </a:lnTo>
                <a:lnTo>
                  <a:pt x="5254275" y="586073"/>
                </a:lnTo>
                <a:lnTo>
                  <a:pt x="5251881" y="597035"/>
                </a:lnTo>
                <a:lnTo>
                  <a:pt x="5243146" y="647374"/>
                </a:lnTo>
                <a:lnTo>
                  <a:pt x="5240655" y="677418"/>
                </a:lnTo>
                <a:lnTo>
                  <a:pt x="5242137" y="699440"/>
                </a:lnTo>
                <a:lnTo>
                  <a:pt x="5264372" y="747807"/>
                </a:lnTo>
                <a:lnTo>
                  <a:pt x="5318633" y="769734"/>
                </a:lnTo>
                <a:lnTo>
                  <a:pt x="5345049" y="771144"/>
                </a:lnTo>
                <a:lnTo>
                  <a:pt x="5617603" y="771144"/>
                </a:lnTo>
                <a:lnTo>
                  <a:pt x="5615193" y="781526"/>
                </a:lnTo>
                <a:lnTo>
                  <a:pt x="5512689" y="781526"/>
                </a:lnTo>
                <a:lnTo>
                  <a:pt x="5484097" y="800281"/>
                </a:lnTo>
                <a:lnTo>
                  <a:pt x="5456479" y="816840"/>
                </a:lnTo>
                <a:lnTo>
                  <a:pt x="5404199" y="843438"/>
                </a:lnTo>
                <a:lnTo>
                  <a:pt x="5352431" y="860107"/>
                </a:lnTo>
                <a:lnTo>
                  <a:pt x="5325466" y="864253"/>
                </a:lnTo>
                <a:lnTo>
                  <a:pt x="5297805" y="865632"/>
                </a:lnTo>
                <a:close/>
              </a:path>
              <a:path w="5741670" h="1073150">
                <a:moveTo>
                  <a:pt x="5617603" y="771144"/>
                </a:moveTo>
                <a:lnTo>
                  <a:pt x="5345049" y="771144"/>
                </a:lnTo>
                <a:lnTo>
                  <a:pt x="5365910" y="769734"/>
                </a:lnTo>
                <a:lnTo>
                  <a:pt x="5388209" y="765369"/>
                </a:lnTo>
                <a:lnTo>
                  <a:pt x="5437155" y="747807"/>
                </a:lnTo>
                <a:lnTo>
                  <a:pt x="5487114" y="722637"/>
                </a:lnTo>
                <a:lnTo>
                  <a:pt x="5533072" y="693896"/>
                </a:lnTo>
                <a:lnTo>
                  <a:pt x="5638609" y="239268"/>
                </a:lnTo>
                <a:lnTo>
                  <a:pt x="5741098" y="239268"/>
                </a:lnTo>
                <a:lnTo>
                  <a:pt x="5617603" y="771144"/>
                </a:lnTo>
                <a:close/>
              </a:path>
              <a:path w="5741670" h="1073150">
                <a:moveTo>
                  <a:pt x="5599557" y="848868"/>
                </a:moveTo>
                <a:lnTo>
                  <a:pt x="5497068" y="848868"/>
                </a:lnTo>
                <a:lnTo>
                  <a:pt x="5512689" y="781526"/>
                </a:lnTo>
                <a:lnTo>
                  <a:pt x="5615193" y="781526"/>
                </a:lnTo>
                <a:lnTo>
                  <a:pt x="5599557" y="848868"/>
                </a:lnTo>
                <a:close/>
              </a:path>
            </a:pathLst>
          </a:custGeom>
          <a:solidFill>
            <a:srgbClr val="0070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1734</Words>
  <Application>Microsoft Office PowerPoint</Application>
  <PresentationFormat>Custom</PresentationFormat>
  <Paragraphs>157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Verdana</vt:lpstr>
      <vt:lpstr>Wingdings</vt:lpstr>
      <vt:lpstr>Office Theme</vt:lpstr>
      <vt:lpstr>UEC3942: Introduction to Sensors and Actuators</vt:lpstr>
      <vt:lpstr>Learning Outcomes</vt:lpstr>
      <vt:lpstr>Introduction to Distance Measurement</vt:lpstr>
      <vt:lpstr>Principles of Light Interferometry</vt:lpstr>
      <vt:lpstr>Measuring Movement with Interferometers</vt:lpstr>
      <vt:lpstr>Limitations of Standard Interferometry</vt:lpstr>
      <vt:lpstr>Advantages of Non-Physical Connections</vt:lpstr>
      <vt:lpstr>Fiber Optic Sensor</vt:lpstr>
      <vt:lpstr>How they work?</vt:lpstr>
      <vt:lpstr>Types of Fiber Optic Sensors</vt:lpstr>
      <vt:lpstr>Optical Fibre Construction</vt:lpstr>
      <vt:lpstr>Working Principle: Refractive Index</vt:lpstr>
      <vt:lpstr>Fibre Bending and Light Paths</vt:lpstr>
      <vt:lpstr>Total Internal Reflection</vt:lpstr>
      <vt:lpstr>Fibre Optic Sensor Mechanism</vt:lpstr>
      <vt:lpstr>Using Optical Fibres to sense small distance changes</vt:lpstr>
      <vt:lpstr>Sensitivity Comparison</vt:lpstr>
      <vt:lpstr>Environmental Advantages</vt:lpstr>
      <vt:lpstr>Calibration Requirements</vt:lpstr>
      <vt:lpstr>Fibre Optic Characteristics</vt:lpstr>
      <vt:lpstr>Key Advantages</vt:lpstr>
      <vt:lpstr>Key Advantages</vt:lpstr>
      <vt:lpstr>Common Applications</vt:lpstr>
      <vt:lpstr>Summary of Characteristics</vt:lpstr>
      <vt:lpstr>Summary: Pros &amp; Cons</vt:lpstr>
      <vt:lpstr>Conclusion &amp; Future Outlook</vt:lpstr>
      <vt:lpstr>Test your understanding</vt:lpstr>
      <vt:lpstr>Test your understanding</vt:lpstr>
      <vt:lpstr>Textbook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Fibre Optic Sensors</dc:title>
  <dc:creator>Karthie Alias Ayyadurai</dc:creator>
  <cp:lastModifiedBy>Annadurai C</cp:lastModifiedBy>
  <cp:revision>2</cp:revision>
  <dcterms:created xsi:type="dcterms:W3CDTF">2026-06-24T07:54:12Z</dcterms:created>
  <dcterms:modified xsi:type="dcterms:W3CDTF">2026-07-08T03:40:09Z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2026-01-02T00:00:00Z</vt:filetime>
  </property>
  <property fmtid="{D5CDD505-2E9C-101B-9397-08002B2CF9AE}" pid="3" name="LastSaved">
    <vt:filetime>2026-06-24T00:00:00Z</vt:filetime>
  </property>
  <property fmtid="{D5CDD505-2E9C-101B-9397-08002B2CF9AE}" pid="4" name="Producer">
    <vt:lpwstr>3-Heights(TM) PDF Security Shell 4.8.25.2 (http://www.pdf-tools.com)</vt:lpwstr>
  </property>
</Properties>
</file>