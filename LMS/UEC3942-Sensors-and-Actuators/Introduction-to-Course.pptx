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86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1"/>
                </a:moveTo>
                <a:lnTo>
                  <a:pt x="0" y="263651"/>
                </a:lnTo>
                <a:lnTo>
                  <a:pt x="0" y="0"/>
                </a:lnTo>
                <a:lnTo>
                  <a:pt x="7906512" y="0"/>
                </a:lnTo>
                <a:lnTo>
                  <a:pt x="8057388" y="263651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2"/>
                </a:moveTo>
                <a:lnTo>
                  <a:pt x="0" y="233172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54200" y="426127"/>
            <a:ext cx="4749999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2053" y="1779388"/>
            <a:ext cx="9214293" cy="3849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758" y="2729059"/>
            <a:ext cx="8764905" cy="16344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90"/>
              </a:spcBef>
            </a:pPr>
            <a:r>
              <a:rPr sz="3500" dirty="0">
                <a:solidFill>
                  <a:srgbClr val="FF0000"/>
                </a:solidFill>
              </a:rPr>
              <a:t>UEC</a:t>
            </a:r>
            <a:r>
              <a:rPr lang="en-IN" sz="3500" dirty="0">
                <a:solidFill>
                  <a:srgbClr val="FF0000"/>
                </a:solidFill>
              </a:rPr>
              <a:t>3942</a:t>
            </a:r>
            <a:r>
              <a:rPr sz="3500" dirty="0">
                <a:solidFill>
                  <a:srgbClr val="FF0000"/>
                </a:solidFill>
              </a:rPr>
              <a:t>:</a:t>
            </a:r>
            <a:r>
              <a:rPr sz="3500" spc="10" dirty="0">
                <a:solidFill>
                  <a:srgbClr val="FF0000"/>
                </a:solidFill>
              </a:rPr>
              <a:t> </a:t>
            </a:r>
            <a:r>
              <a:rPr sz="3500" dirty="0">
                <a:solidFill>
                  <a:srgbClr val="FF0000"/>
                </a:solidFill>
              </a:rPr>
              <a:t>Introduction</a:t>
            </a:r>
            <a:r>
              <a:rPr sz="3500" spc="60" dirty="0">
                <a:solidFill>
                  <a:srgbClr val="FF0000"/>
                </a:solidFill>
              </a:rPr>
              <a:t> </a:t>
            </a:r>
            <a:r>
              <a:rPr sz="3500" dirty="0">
                <a:solidFill>
                  <a:srgbClr val="FF0000"/>
                </a:solidFill>
              </a:rPr>
              <a:t>to</a:t>
            </a:r>
            <a:r>
              <a:rPr sz="3500" spc="-20" dirty="0">
                <a:solidFill>
                  <a:srgbClr val="FF0000"/>
                </a:solidFill>
              </a:rPr>
              <a:t> </a:t>
            </a:r>
            <a:r>
              <a:rPr sz="3500" spc="-10" dirty="0">
                <a:solidFill>
                  <a:srgbClr val="FF0000"/>
                </a:solidFill>
              </a:rPr>
              <a:t>Sensors, </a:t>
            </a:r>
            <a:r>
              <a:rPr sz="3500" dirty="0">
                <a:solidFill>
                  <a:srgbClr val="FF0000"/>
                </a:solidFill>
              </a:rPr>
              <a:t>and</a:t>
            </a:r>
            <a:r>
              <a:rPr sz="3500" spc="-5" dirty="0">
                <a:solidFill>
                  <a:srgbClr val="FF0000"/>
                </a:solidFill>
              </a:rPr>
              <a:t> </a:t>
            </a:r>
            <a:r>
              <a:rPr sz="3500" spc="-10" dirty="0">
                <a:solidFill>
                  <a:srgbClr val="FF0000"/>
                </a:solidFill>
              </a:rPr>
              <a:t>Actuators</a:t>
            </a:r>
            <a:endParaRPr sz="3500" dirty="0"/>
          </a:p>
          <a:p>
            <a:pPr marL="3175" algn="ctr">
              <a:lnSpc>
                <a:spcPct val="100000"/>
              </a:lnSpc>
              <a:spcBef>
                <a:spcPts val="25"/>
              </a:spcBef>
            </a:pPr>
            <a:r>
              <a:rPr sz="3500" dirty="0">
                <a:solidFill>
                  <a:srgbClr val="FF0000"/>
                </a:solidFill>
              </a:rPr>
              <a:t>(An</a:t>
            </a:r>
            <a:r>
              <a:rPr sz="3500" spc="-5" dirty="0">
                <a:solidFill>
                  <a:srgbClr val="FF0000"/>
                </a:solidFill>
              </a:rPr>
              <a:t> </a:t>
            </a:r>
            <a:r>
              <a:rPr sz="3500" dirty="0">
                <a:solidFill>
                  <a:srgbClr val="FF0000"/>
                </a:solidFill>
              </a:rPr>
              <a:t>Introduction</a:t>
            </a:r>
            <a:r>
              <a:rPr sz="3500" spc="45" dirty="0">
                <a:solidFill>
                  <a:srgbClr val="FF0000"/>
                </a:solidFill>
              </a:rPr>
              <a:t> </a:t>
            </a:r>
            <a:r>
              <a:rPr sz="3500" dirty="0">
                <a:solidFill>
                  <a:srgbClr val="FF0000"/>
                </a:solidFill>
              </a:rPr>
              <a:t>to</a:t>
            </a:r>
            <a:r>
              <a:rPr sz="3500" spc="30" dirty="0">
                <a:solidFill>
                  <a:srgbClr val="FF0000"/>
                </a:solidFill>
              </a:rPr>
              <a:t> </a:t>
            </a:r>
            <a:r>
              <a:rPr sz="3500" spc="-10" dirty="0">
                <a:solidFill>
                  <a:srgbClr val="FF0000"/>
                </a:solidFill>
              </a:rPr>
              <a:t>Course)</a:t>
            </a:r>
            <a:endParaRPr sz="3500" dirty="0"/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60"/>
                </a:moveTo>
                <a:lnTo>
                  <a:pt x="0" y="192786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60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36690" y="4676576"/>
            <a:ext cx="5585460" cy="1958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8905" marR="1393190" algn="ctr">
              <a:lnSpc>
                <a:spcPct val="119600"/>
              </a:lnSpc>
              <a:spcBef>
                <a:spcPts val="100"/>
              </a:spcBef>
            </a:pP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650" spc="-15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650" spc="-100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650" spc="-9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IN" sz="2650" spc="-90" dirty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650" dirty="0">
              <a:latin typeface="Verdana"/>
              <a:cs typeface="Verdana"/>
            </a:endParaRPr>
          </a:p>
          <a:p>
            <a:pPr marL="12700" marR="5080" algn="ctr">
              <a:lnSpc>
                <a:spcPct val="119600"/>
              </a:lnSpc>
            </a:pP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650" spc="-12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650" spc="-9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650" spc="-9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650" spc="-6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65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650" spc="-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65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6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05147" y="426127"/>
            <a:ext cx="7048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Big</a:t>
            </a:r>
            <a:r>
              <a:rPr spc="-40" dirty="0"/>
              <a:t> </a:t>
            </a:r>
            <a:r>
              <a:rPr dirty="0"/>
              <a:t>Picture</a:t>
            </a:r>
            <a:r>
              <a:rPr spc="-4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-10" dirty="0"/>
              <a:t> Course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424173" y="1651761"/>
            <a:ext cx="3210560" cy="4511675"/>
            <a:chOff x="3424173" y="1651761"/>
            <a:chExt cx="3210560" cy="45116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3571" y="2962655"/>
              <a:ext cx="3192779" cy="31912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38143" y="2968751"/>
              <a:ext cx="3182620" cy="3180715"/>
            </a:xfrm>
            <a:custGeom>
              <a:avLst/>
              <a:gdLst/>
              <a:ahLst/>
              <a:cxnLst/>
              <a:rect l="l" t="t" r="r" b="b"/>
              <a:pathLst>
                <a:path w="3182620" h="3180715">
                  <a:moveTo>
                    <a:pt x="0" y="1589532"/>
                  </a:moveTo>
                  <a:lnTo>
                    <a:pt x="730" y="1540938"/>
                  </a:lnTo>
                  <a:lnTo>
                    <a:pt x="2907" y="1492707"/>
                  </a:lnTo>
                  <a:lnTo>
                    <a:pt x="6509" y="1444859"/>
                  </a:lnTo>
                  <a:lnTo>
                    <a:pt x="11517" y="1397416"/>
                  </a:lnTo>
                  <a:lnTo>
                    <a:pt x="17908" y="1350397"/>
                  </a:lnTo>
                  <a:lnTo>
                    <a:pt x="25663" y="1303824"/>
                  </a:lnTo>
                  <a:lnTo>
                    <a:pt x="34760" y="1257718"/>
                  </a:lnTo>
                  <a:lnTo>
                    <a:pt x="45177" y="1212099"/>
                  </a:lnTo>
                  <a:lnTo>
                    <a:pt x="56895" y="1166988"/>
                  </a:lnTo>
                  <a:lnTo>
                    <a:pt x="69893" y="1122406"/>
                  </a:lnTo>
                  <a:lnTo>
                    <a:pt x="84149" y="1078374"/>
                  </a:lnTo>
                  <a:lnTo>
                    <a:pt x="99643" y="1034913"/>
                  </a:lnTo>
                  <a:lnTo>
                    <a:pt x="116353" y="992042"/>
                  </a:lnTo>
                  <a:lnTo>
                    <a:pt x="134259" y="949784"/>
                  </a:lnTo>
                  <a:lnTo>
                    <a:pt x="153340" y="908158"/>
                  </a:lnTo>
                  <a:lnTo>
                    <a:pt x="173575" y="867186"/>
                  </a:lnTo>
                  <a:lnTo>
                    <a:pt x="194943" y="826889"/>
                  </a:lnTo>
                  <a:lnTo>
                    <a:pt x="217423" y="787287"/>
                  </a:lnTo>
                  <a:lnTo>
                    <a:pt x="240995" y="748400"/>
                  </a:lnTo>
                  <a:lnTo>
                    <a:pt x="265637" y="710251"/>
                  </a:lnTo>
                  <a:lnTo>
                    <a:pt x="291328" y="672859"/>
                  </a:lnTo>
                  <a:lnTo>
                    <a:pt x="318048" y="636246"/>
                  </a:lnTo>
                  <a:lnTo>
                    <a:pt x="345775" y="600431"/>
                  </a:lnTo>
                  <a:lnTo>
                    <a:pt x="374490" y="565437"/>
                  </a:lnTo>
                  <a:lnTo>
                    <a:pt x="404170" y="531283"/>
                  </a:lnTo>
                  <a:lnTo>
                    <a:pt x="434795" y="497991"/>
                  </a:lnTo>
                  <a:lnTo>
                    <a:pt x="466343" y="465582"/>
                  </a:lnTo>
                  <a:lnTo>
                    <a:pt x="498796" y="434075"/>
                  </a:lnTo>
                  <a:lnTo>
                    <a:pt x="532130" y="403492"/>
                  </a:lnTo>
                  <a:lnTo>
                    <a:pt x="566325" y="373854"/>
                  </a:lnTo>
                  <a:lnTo>
                    <a:pt x="601361" y="345181"/>
                  </a:lnTo>
                  <a:lnTo>
                    <a:pt x="637217" y="317495"/>
                  </a:lnTo>
                  <a:lnTo>
                    <a:pt x="673871" y="290816"/>
                  </a:lnTo>
                  <a:lnTo>
                    <a:pt x="711303" y="265165"/>
                  </a:lnTo>
                  <a:lnTo>
                    <a:pt x="749491" y="240562"/>
                  </a:lnTo>
                  <a:lnTo>
                    <a:pt x="788415" y="217028"/>
                  </a:lnTo>
                  <a:lnTo>
                    <a:pt x="828055" y="194585"/>
                  </a:lnTo>
                  <a:lnTo>
                    <a:pt x="868388" y="173253"/>
                  </a:lnTo>
                  <a:lnTo>
                    <a:pt x="909395" y="153053"/>
                  </a:lnTo>
                  <a:lnTo>
                    <a:pt x="951054" y="134005"/>
                  </a:lnTo>
                  <a:lnTo>
                    <a:pt x="993344" y="116131"/>
                  </a:lnTo>
                  <a:lnTo>
                    <a:pt x="1036244" y="99450"/>
                  </a:lnTo>
                  <a:lnTo>
                    <a:pt x="1079734" y="83985"/>
                  </a:lnTo>
                  <a:lnTo>
                    <a:pt x="1123793" y="69756"/>
                  </a:lnTo>
                  <a:lnTo>
                    <a:pt x="1168399" y="56783"/>
                  </a:lnTo>
                  <a:lnTo>
                    <a:pt x="1213533" y="45087"/>
                  </a:lnTo>
                  <a:lnTo>
                    <a:pt x="1259172" y="34689"/>
                  </a:lnTo>
                  <a:lnTo>
                    <a:pt x="1305296" y="25611"/>
                  </a:lnTo>
                  <a:lnTo>
                    <a:pt x="1351884" y="17872"/>
                  </a:lnTo>
                  <a:lnTo>
                    <a:pt x="1398916" y="11493"/>
                  </a:lnTo>
                  <a:lnTo>
                    <a:pt x="1446370" y="6496"/>
                  </a:lnTo>
                  <a:lnTo>
                    <a:pt x="1494225" y="2901"/>
                  </a:lnTo>
                  <a:lnTo>
                    <a:pt x="1542460" y="728"/>
                  </a:lnTo>
                  <a:lnTo>
                    <a:pt x="1591056" y="0"/>
                  </a:lnTo>
                  <a:lnTo>
                    <a:pt x="1639732" y="728"/>
                  </a:lnTo>
                  <a:lnTo>
                    <a:pt x="1688043" y="2901"/>
                  </a:lnTo>
                  <a:lnTo>
                    <a:pt x="1735968" y="6496"/>
                  </a:lnTo>
                  <a:lnTo>
                    <a:pt x="1783486" y="11493"/>
                  </a:lnTo>
                  <a:lnTo>
                    <a:pt x="1830575" y="17872"/>
                  </a:lnTo>
                  <a:lnTo>
                    <a:pt x="1877216" y="25611"/>
                  </a:lnTo>
                  <a:lnTo>
                    <a:pt x="1923388" y="34689"/>
                  </a:lnTo>
                  <a:lnTo>
                    <a:pt x="1969070" y="45087"/>
                  </a:lnTo>
                  <a:lnTo>
                    <a:pt x="2014241" y="56783"/>
                  </a:lnTo>
                  <a:lnTo>
                    <a:pt x="2058880" y="69756"/>
                  </a:lnTo>
                  <a:lnTo>
                    <a:pt x="2102967" y="83985"/>
                  </a:lnTo>
                  <a:lnTo>
                    <a:pt x="2146481" y="99450"/>
                  </a:lnTo>
                  <a:lnTo>
                    <a:pt x="2189402" y="116131"/>
                  </a:lnTo>
                  <a:lnTo>
                    <a:pt x="2231708" y="134005"/>
                  </a:lnTo>
                  <a:lnTo>
                    <a:pt x="2273379" y="153053"/>
                  </a:lnTo>
                  <a:lnTo>
                    <a:pt x="2314394" y="173253"/>
                  </a:lnTo>
                  <a:lnTo>
                    <a:pt x="2354732" y="194585"/>
                  </a:lnTo>
                  <a:lnTo>
                    <a:pt x="2394373" y="217028"/>
                  </a:lnTo>
                  <a:lnTo>
                    <a:pt x="2433296" y="240562"/>
                  </a:lnTo>
                  <a:lnTo>
                    <a:pt x="2471480" y="265165"/>
                  </a:lnTo>
                  <a:lnTo>
                    <a:pt x="2508904" y="290816"/>
                  </a:lnTo>
                  <a:lnTo>
                    <a:pt x="2545548" y="317495"/>
                  </a:lnTo>
                  <a:lnTo>
                    <a:pt x="2581391" y="345181"/>
                  </a:lnTo>
                  <a:lnTo>
                    <a:pt x="2616413" y="373854"/>
                  </a:lnTo>
                  <a:lnTo>
                    <a:pt x="2650592" y="403492"/>
                  </a:lnTo>
                  <a:lnTo>
                    <a:pt x="2683907" y="434075"/>
                  </a:lnTo>
                  <a:lnTo>
                    <a:pt x="2716339" y="465582"/>
                  </a:lnTo>
                  <a:lnTo>
                    <a:pt x="2747866" y="497991"/>
                  </a:lnTo>
                  <a:lnTo>
                    <a:pt x="2778468" y="531283"/>
                  </a:lnTo>
                  <a:lnTo>
                    <a:pt x="2808123" y="565437"/>
                  </a:lnTo>
                  <a:lnTo>
                    <a:pt x="2836812" y="600431"/>
                  </a:lnTo>
                  <a:lnTo>
                    <a:pt x="2864513" y="636246"/>
                  </a:lnTo>
                  <a:lnTo>
                    <a:pt x="2891205" y="672859"/>
                  </a:lnTo>
                  <a:lnTo>
                    <a:pt x="2916869" y="710251"/>
                  </a:lnTo>
                  <a:lnTo>
                    <a:pt x="2941483" y="748400"/>
                  </a:lnTo>
                  <a:lnTo>
                    <a:pt x="2965026" y="787287"/>
                  </a:lnTo>
                  <a:lnTo>
                    <a:pt x="2987478" y="826889"/>
                  </a:lnTo>
                  <a:lnTo>
                    <a:pt x="3008818" y="867186"/>
                  </a:lnTo>
                  <a:lnTo>
                    <a:pt x="3029026" y="908158"/>
                  </a:lnTo>
                  <a:lnTo>
                    <a:pt x="3048079" y="949784"/>
                  </a:lnTo>
                  <a:lnTo>
                    <a:pt x="3065959" y="992042"/>
                  </a:lnTo>
                  <a:lnTo>
                    <a:pt x="3082644" y="1034913"/>
                  </a:lnTo>
                  <a:lnTo>
                    <a:pt x="3098113" y="1078374"/>
                  </a:lnTo>
                  <a:lnTo>
                    <a:pt x="3112346" y="1122406"/>
                  </a:lnTo>
                  <a:lnTo>
                    <a:pt x="3125321" y="1166988"/>
                  </a:lnTo>
                  <a:lnTo>
                    <a:pt x="3137019" y="1212099"/>
                  </a:lnTo>
                  <a:lnTo>
                    <a:pt x="3147418" y="1257718"/>
                  </a:lnTo>
                  <a:lnTo>
                    <a:pt x="3156498" y="1303824"/>
                  </a:lnTo>
                  <a:lnTo>
                    <a:pt x="3164238" y="1350397"/>
                  </a:lnTo>
                  <a:lnTo>
                    <a:pt x="3170617" y="1397416"/>
                  </a:lnTo>
                  <a:lnTo>
                    <a:pt x="3175615" y="1444859"/>
                  </a:lnTo>
                  <a:lnTo>
                    <a:pt x="3179210" y="1492707"/>
                  </a:lnTo>
                  <a:lnTo>
                    <a:pt x="3181383" y="1540938"/>
                  </a:lnTo>
                  <a:lnTo>
                    <a:pt x="3182112" y="1589532"/>
                  </a:lnTo>
                  <a:lnTo>
                    <a:pt x="3181383" y="1638208"/>
                  </a:lnTo>
                  <a:lnTo>
                    <a:pt x="3179210" y="1686519"/>
                  </a:lnTo>
                  <a:lnTo>
                    <a:pt x="3175615" y="1734444"/>
                  </a:lnTo>
                  <a:lnTo>
                    <a:pt x="3170617" y="1781962"/>
                  </a:lnTo>
                  <a:lnTo>
                    <a:pt x="3164238" y="1829051"/>
                  </a:lnTo>
                  <a:lnTo>
                    <a:pt x="3156498" y="1875692"/>
                  </a:lnTo>
                  <a:lnTo>
                    <a:pt x="3147418" y="1921864"/>
                  </a:lnTo>
                  <a:lnTo>
                    <a:pt x="3137019" y="1967546"/>
                  </a:lnTo>
                  <a:lnTo>
                    <a:pt x="3125321" y="2012717"/>
                  </a:lnTo>
                  <a:lnTo>
                    <a:pt x="3112346" y="2057356"/>
                  </a:lnTo>
                  <a:lnTo>
                    <a:pt x="3098113" y="2101443"/>
                  </a:lnTo>
                  <a:lnTo>
                    <a:pt x="3082644" y="2144957"/>
                  </a:lnTo>
                  <a:lnTo>
                    <a:pt x="3065959" y="2187878"/>
                  </a:lnTo>
                  <a:lnTo>
                    <a:pt x="3048079" y="2230184"/>
                  </a:lnTo>
                  <a:lnTo>
                    <a:pt x="3029026" y="2271855"/>
                  </a:lnTo>
                  <a:lnTo>
                    <a:pt x="3008818" y="2312870"/>
                  </a:lnTo>
                  <a:lnTo>
                    <a:pt x="2987478" y="2353208"/>
                  </a:lnTo>
                  <a:lnTo>
                    <a:pt x="2965026" y="2392849"/>
                  </a:lnTo>
                  <a:lnTo>
                    <a:pt x="2941483" y="2431772"/>
                  </a:lnTo>
                  <a:lnTo>
                    <a:pt x="2916869" y="2469956"/>
                  </a:lnTo>
                  <a:lnTo>
                    <a:pt x="2891205" y="2507380"/>
                  </a:lnTo>
                  <a:lnTo>
                    <a:pt x="2864513" y="2544024"/>
                  </a:lnTo>
                  <a:lnTo>
                    <a:pt x="2836812" y="2579867"/>
                  </a:lnTo>
                  <a:lnTo>
                    <a:pt x="2808123" y="2614889"/>
                  </a:lnTo>
                  <a:lnTo>
                    <a:pt x="2778468" y="2649068"/>
                  </a:lnTo>
                  <a:lnTo>
                    <a:pt x="2747866" y="2682383"/>
                  </a:lnTo>
                  <a:lnTo>
                    <a:pt x="2716339" y="2714815"/>
                  </a:lnTo>
                  <a:lnTo>
                    <a:pt x="2683907" y="2746342"/>
                  </a:lnTo>
                  <a:lnTo>
                    <a:pt x="2650592" y="2776944"/>
                  </a:lnTo>
                  <a:lnTo>
                    <a:pt x="2616413" y="2806599"/>
                  </a:lnTo>
                  <a:lnTo>
                    <a:pt x="2581391" y="2835288"/>
                  </a:lnTo>
                  <a:lnTo>
                    <a:pt x="2545548" y="2862989"/>
                  </a:lnTo>
                  <a:lnTo>
                    <a:pt x="2508904" y="2889681"/>
                  </a:lnTo>
                  <a:lnTo>
                    <a:pt x="2471480" y="2915345"/>
                  </a:lnTo>
                  <a:lnTo>
                    <a:pt x="2433296" y="2939959"/>
                  </a:lnTo>
                  <a:lnTo>
                    <a:pt x="2394373" y="2963502"/>
                  </a:lnTo>
                  <a:lnTo>
                    <a:pt x="2354732" y="2985954"/>
                  </a:lnTo>
                  <a:lnTo>
                    <a:pt x="2314394" y="3007294"/>
                  </a:lnTo>
                  <a:lnTo>
                    <a:pt x="2273379" y="3027502"/>
                  </a:lnTo>
                  <a:lnTo>
                    <a:pt x="2231708" y="3046555"/>
                  </a:lnTo>
                  <a:lnTo>
                    <a:pt x="2189402" y="3064435"/>
                  </a:lnTo>
                  <a:lnTo>
                    <a:pt x="2146481" y="3081120"/>
                  </a:lnTo>
                  <a:lnTo>
                    <a:pt x="2102967" y="3096589"/>
                  </a:lnTo>
                  <a:lnTo>
                    <a:pt x="2058880" y="3110822"/>
                  </a:lnTo>
                  <a:lnTo>
                    <a:pt x="2014241" y="3123797"/>
                  </a:lnTo>
                  <a:lnTo>
                    <a:pt x="1969070" y="3135495"/>
                  </a:lnTo>
                  <a:lnTo>
                    <a:pt x="1923388" y="3145894"/>
                  </a:lnTo>
                  <a:lnTo>
                    <a:pt x="1877216" y="3154974"/>
                  </a:lnTo>
                  <a:lnTo>
                    <a:pt x="1830575" y="3162714"/>
                  </a:lnTo>
                  <a:lnTo>
                    <a:pt x="1783486" y="3169093"/>
                  </a:lnTo>
                  <a:lnTo>
                    <a:pt x="1735968" y="3174091"/>
                  </a:lnTo>
                  <a:lnTo>
                    <a:pt x="1688043" y="3177686"/>
                  </a:lnTo>
                  <a:lnTo>
                    <a:pt x="1639732" y="3179859"/>
                  </a:lnTo>
                  <a:lnTo>
                    <a:pt x="1591056" y="3180588"/>
                  </a:lnTo>
                  <a:lnTo>
                    <a:pt x="1542460" y="3179859"/>
                  </a:lnTo>
                  <a:lnTo>
                    <a:pt x="1494225" y="3177686"/>
                  </a:lnTo>
                  <a:lnTo>
                    <a:pt x="1446370" y="3174091"/>
                  </a:lnTo>
                  <a:lnTo>
                    <a:pt x="1398916" y="3169093"/>
                  </a:lnTo>
                  <a:lnTo>
                    <a:pt x="1351884" y="3162714"/>
                  </a:lnTo>
                  <a:lnTo>
                    <a:pt x="1305296" y="3154974"/>
                  </a:lnTo>
                  <a:lnTo>
                    <a:pt x="1259172" y="3145894"/>
                  </a:lnTo>
                  <a:lnTo>
                    <a:pt x="1213533" y="3135495"/>
                  </a:lnTo>
                  <a:lnTo>
                    <a:pt x="1168400" y="3123797"/>
                  </a:lnTo>
                  <a:lnTo>
                    <a:pt x="1123793" y="3110822"/>
                  </a:lnTo>
                  <a:lnTo>
                    <a:pt x="1079734" y="3096589"/>
                  </a:lnTo>
                  <a:lnTo>
                    <a:pt x="1036244" y="3081120"/>
                  </a:lnTo>
                  <a:lnTo>
                    <a:pt x="993344" y="3064435"/>
                  </a:lnTo>
                  <a:lnTo>
                    <a:pt x="951054" y="3046555"/>
                  </a:lnTo>
                  <a:lnTo>
                    <a:pt x="909395" y="3027502"/>
                  </a:lnTo>
                  <a:lnTo>
                    <a:pt x="868388" y="3007294"/>
                  </a:lnTo>
                  <a:lnTo>
                    <a:pt x="828055" y="2985954"/>
                  </a:lnTo>
                  <a:lnTo>
                    <a:pt x="788416" y="2963502"/>
                  </a:lnTo>
                  <a:lnTo>
                    <a:pt x="749491" y="2939959"/>
                  </a:lnTo>
                  <a:lnTo>
                    <a:pt x="711303" y="2915345"/>
                  </a:lnTo>
                  <a:lnTo>
                    <a:pt x="673871" y="2889681"/>
                  </a:lnTo>
                  <a:lnTo>
                    <a:pt x="637217" y="2862989"/>
                  </a:lnTo>
                  <a:lnTo>
                    <a:pt x="601361" y="2835288"/>
                  </a:lnTo>
                  <a:lnTo>
                    <a:pt x="566325" y="2806599"/>
                  </a:lnTo>
                  <a:lnTo>
                    <a:pt x="532130" y="2776944"/>
                  </a:lnTo>
                  <a:lnTo>
                    <a:pt x="498796" y="2746342"/>
                  </a:lnTo>
                  <a:lnTo>
                    <a:pt x="466344" y="2714815"/>
                  </a:lnTo>
                  <a:lnTo>
                    <a:pt x="434795" y="2682383"/>
                  </a:lnTo>
                  <a:lnTo>
                    <a:pt x="404170" y="2649068"/>
                  </a:lnTo>
                  <a:lnTo>
                    <a:pt x="374490" y="2614889"/>
                  </a:lnTo>
                  <a:lnTo>
                    <a:pt x="345775" y="2579867"/>
                  </a:lnTo>
                  <a:lnTo>
                    <a:pt x="318048" y="2544024"/>
                  </a:lnTo>
                  <a:lnTo>
                    <a:pt x="291328" y="2507380"/>
                  </a:lnTo>
                  <a:lnTo>
                    <a:pt x="265637" y="2469956"/>
                  </a:lnTo>
                  <a:lnTo>
                    <a:pt x="240995" y="2431772"/>
                  </a:lnTo>
                  <a:lnTo>
                    <a:pt x="217424" y="2392849"/>
                  </a:lnTo>
                  <a:lnTo>
                    <a:pt x="194943" y="2353208"/>
                  </a:lnTo>
                  <a:lnTo>
                    <a:pt x="173575" y="2312870"/>
                  </a:lnTo>
                  <a:lnTo>
                    <a:pt x="153340" y="2271855"/>
                  </a:lnTo>
                  <a:lnTo>
                    <a:pt x="134259" y="2230184"/>
                  </a:lnTo>
                  <a:lnTo>
                    <a:pt x="116353" y="2187878"/>
                  </a:lnTo>
                  <a:lnTo>
                    <a:pt x="99643" y="2144957"/>
                  </a:lnTo>
                  <a:lnTo>
                    <a:pt x="84149" y="2101443"/>
                  </a:lnTo>
                  <a:lnTo>
                    <a:pt x="69893" y="2057356"/>
                  </a:lnTo>
                  <a:lnTo>
                    <a:pt x="56896" y="2012717"/>
                  </a:lnTo>
                  <a:lnTo>
                    <a:pt x="45177" y="1967546"/>
                  </a:lnTo>
                  <a:lnTo>
                    <a:pt x="34760" y="1921864"/>
                  </a:lnTo>
                  <a:lnTo>
                    <a:pt x="25663" y="1875692"/>
                  </a:lnTo>
                  <a:lnTo>
                    <a:pt x="17908" y="1829051"/>
                  </a:lnTo>
                  <a:lnTo>
                    <a:pt x="11517" y="1781962"/>
                  </a:lnTo>
                  <a:lnTo>
                    <a:pt x="6509" y="1734444"/>
                  </a:lnTo>
                  <a:lnTo>
                    <a:pt x="2907" y="1686519"/>
                  </a:lnTo>
                  <a:lnTo>
                    <a:pt x="730" y="1638208"/>
                  </a:lnTo>
                  <a:lnTo>
                    <a:pt x="0" y="1589532"/>
                  </a:lnTo>
                </a:path>
              </a:pathLst>
            </a:custGeom>
            <a:ln w="274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3903" y="1661159"/>
              <a:ext cx="1978152" cy="18409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808475" y="1665731"/>
              <a:ext cx="1969135" cy="1833880"/>
            </a:xfrm>
            <a:custGeom>
              <a:avLst/>
              <a:gdLst/>
              <a:ahLst/>
              <a:cxnLst/>
              <a:rect l="l" t="t" r="r" b="b"/>
              <a:pathLst>
                <a:path w="1969135" h="1833879">
                  <a:moveTo>
                    <a:pt x="0" y="915924"/>
                  </a:moveTo>
                  <a:lnTo>
                    <a:pt x="1203" y="870200"/>
                  </a:lnTo>
                  <a:lnTo>
                    <a:pt x="4778" y="825057"/>
                  </a:lnTo>
                  <a:lnTo>
                    <a:pt x="10666" y="780549"/>
                  </a:lnTo>
                  <a:lnTo>
                    <a:pt x="18813" y="736726"/>
                  </a:lnTo>
                  <a:lnTo>
                    <a:pt x="29161" y="693642"/>
                  </a:lnTo>
                  <a:lnTo>
                    <a:pt x="41655" y="651350"/>
                  </a:lnTo>
                  <a:lnTo>
                    <a:pt x="56238" y="609901"/>
                  </a:lnTo>
                  <a:lnTo>
                    <a:pt x="72854" y="569347"/>
                  </a:lnTo>
                  <a:lnTo>
                    <a:pt x="91446" y="529742"/>
                  </a:lnTo>
                  <a:lnTo>
                    <a:pt x="111960" y="491138"/>
                  </a:lnTo>
                  <a:lnTo>
                    <a:pt x="134337" y="453587"/>
                  </a:lnTo>
                  <a:lnTo>
                    <a:pt x="158523" y="417142"/>
                  </a:lnTo>
                  <a:lnTo>
                    <a:pt x="184461" y="381854"/>
                  </a:lnTo>
                  <a:lnTo>
                    <a:pt x="212094" y="347777"/>
                  </a:lnTo>
                  <a:lnTo>
                    <a:pt x="241366" y="314963"/>
                  </a:lnTo>
                  <a:lnTo>
                    <a:pt x="272222" y="283463"/>
                  </a:lnTo>
                  <a:lnTo>
                    <a:pt x="304605" y="253332"/>
                  </a:lnTo>
                  <a:lnTo>
                    <a:pt x="338458" y="224621"/>
                  </a:lnTo>
                  <a:lnTo>
                    <a:pt x="373726" y="197382"/>
                  </a:lnTo>
                  <a:lnTo>
                    <a:pt x="410352" y="171668"/>
                  </a:lnTo>
                  <a:lnTo>
                    <a:pt x="448280" y="147531"/>
                  </a:lnTo>
                  <a:lnTo>
                    <a:pt x="487454" y="125024"/>
                  </a:lnTo>
                  <a:lnTo>
                    <a:pt x="527817" y="104199"/>
                  </a:lnTo>
                  <a:lnTo>
                    <a:pt x="569314" y="85109"/>
                  </a:lnTo>
                  <a:lnTo>
                    <a:pt x="611887" y="67805"/>
                  </a:lnTo>
                  <a:lnTo>
                    <a:pt x="655482" y="52341"/>
                  </a:lnTo>
                  <a:lnTo>
                    <a:pt x="700041" y="38769"/>
                  </a:lnTo>
                  <a:lnTo>
                    <a:pt x="745509" y="27141"/>
                  </a:lnTo>
                  <a:lnTo>
                    <a:pt x="791828" y="17510"/>
                  </a:lnTo>
                  <a:lnTo>
                    <a:pt x="838944" y="9928"/>
                  </a:lnTo>
                  <a:lnTo>
                    <a:pt x="886799" y="4447"/>
                  </a:lnTo>
                  <a:lnTo>
                    <a:pt x="935338" y="1120"/>
                  </a:lnTo>
                  <a:lnTo>
                    <a:pt x="984504" y="0"/>
                  </a:lnTo>
                  <a:lnTo>
                    <a:pt x="1033669" y="1120"/>
                  </a:lnTo>
                  <a:lnTo>
                    <a:pt x="1082208" y="4447"/>
                  </a:lnTo>
                  <a:lnTo>
                    <a:pt x="1130063" y="9928"/>
                  </a:lnTo>
                  <a:lnTo>
                    <a:pt x="1177179" y="17510"/>
                  </a:lnTo>
                  <a:lnTo>
                    <a:pt x="1223498" y="27141"/>
                  </a:lnTo>
                  <a:lnTo>
                    <a:pt x="1268966" y="38769"/>
                  </a:lnTo>
                  <a:lnTo>
                    <a:pt x="1313525" y="52341"/>
                  </a:lnTo>
                  <a:lnTo>
                    <a:pt x="1357120" y="67805"/>
                  </a:lnTo>
                  <a:lnTo>
                    <a:pt x="1399693" y="85109"/>
                  </a:lnTo>
                  <a:lnTo>
                    <a:pt x="1441190" y="104199"/>
                  </a:lnTo>
                  <a:lnTo>
                    <a:pt x="1481553" y="125024"/>
                  </a:lnTo>
                  <a:lnTo>
                    <a:pt x="1520727" y="147531"/>
                  </a:lnTo>
                  <a:lnTo>
                    <a:pt x="1558655" y="171668"/>
                  </a:lnTo>
                  <a:lnTo>
                    <a:pt x="1595281" y="197382"/>
                  </a:lnTo>
                  <a:lnTo>
                    <a:pt x="1630549" y="224621"/>
                  </a:lnTo>
                  <a:lnTo>
                    <a:pt x="1664402" y="253332"/>
                  </a:lnTo>
                  <a:lnTo>
                    <a:pt x="1696785" y="283463"/>
                  </a:lnTo>
                  <a:lnTo>
                    <a:pt x="1727641" y="314963"/>
                  </a:lnTo>
                  <a:lnTo>
                    <a:pt x="1756913" y="347777"/>
                  </a:lnTo>
                  <a:lnTo>
                    <a:pt x="1784546" y="381854"/>
                  </a:lnTo>
                  <a:lnTo>
                    <a:pt x="1810484" y="417142"/>
                  </a:lnTo>
                  <a:lnTo>
                    <a:pt x="1834670" y="453587"/>
                  </a:lnTo>
                  <a:lnTo>
                    <a:pt x="1857047" y="491138"/>
                  </a:lnTo>
                  <a:lnTo>
                    <a:pt x="1877561" y="529742"/>
                  </a:lnTo>
                  <a:lnTo>
                    <a:pt x="1896153" y="569347"/>
                  </a:lnTo>
                  <a:lnTo>
                    <a:pt x="1912769" y="609901"/>
                  </a:lnTo>
                  <a:lnTo>
                    <a:pt x="1927352" y="651350"/>
                  </a:lnTo>
                  <a:lnTo>
                    <a:pt x="1939846" y="693642"/>
                  </a:lnTo>
                  <a:lnTo>
                    <a:pt x="1950194" y="736726"/>
                  </a:lnTo>
                  <a:lnTo>
                    <a:pt x="1958341" y="780549"/>
                  </a:lnTo>
                  <a:lnTo>
                    <a:pt x="1964229" y="825057"/>
                  </a:lnTo>
                  <a:lnTo>
                    <a:pt x="1967804" y="870200"/>
                  </a:lnTo>
                  <a:lnTo>
                    <a:pt x="1969008" y="915924"/>
                  </a:lnTo>
                  <a:lnTo>
                    <a:pt x="1967804" y="961651"/>
                  </a:lnTo>
                  <a:lnTo>
                    <a:pt x="1964229" y="1006806"/>
                  </a:lnTo>
                  <a:lnTo>
                    <a:pt x="1958341" y="1051334"/>
                  </a:lnTo>
                  <a:lnTo>
                    <a:pt x="1950194" y="1095183"/>
                  </a:lnTo>
                  <a:lnTo>
                    <a:pt x="1939846" y="1138299"/>
                  </a:lnTo>
                  <a:lnTo>
                    <a:pt x="1927352" y="1180630"/>
                  </a:lnTo>
                  <a:lnTo>
                    <a:pt x="1912769" y="1222123"/>
                  </a:lnTo>
                  <a:lnTo>
                    <a:pt x="1896153" y="1262725"/>
                  </a:lnTo>
                  <a:lnTo>
                    <a:pt x="1877561" y="1302383"/>
                  </a:lnTo>
                  <a:lnTo>
                    <a:pt x="1857047" y="1341044"/>
                  </a:lnTo>
                  <a:lnTo>
                    <a:pt x="1834670" y="1378655"/>
                  </a:lnTo>
                  <a:lnTo>
                    <a:pt x="1810484" y="1415163"/>
                  </a:lnTo>
                  <a:lnTo>
                    <a:pt x="1784546" y="1450516"/>
                  </a:lnTo>
                  <a:lnTo>
                    <a:pt x="1756913" y="1484660"/>
                  </a:lnTo>
                  <a:lnTo>
                    <a:pt x="1727641" y="1517543"/>
                  </a:lnTo>
                  <a:lnTo>
                    <a:pt x="1696785" y="1549111"/>
                  </a:lnTo>
                  <a:lnTo>
                    <a:pt x="1664402" y="1579312"/>
                  </a:lnTo>
                  <a:lnTo>
                    <a:pt x="1630549" y="1608092"/>
                  </a:lnTo>
                  <a:lnTo>
                    <a:pt x="1595281" y="1635399"/>
                  </a:lnTo>
                  <a:lnTo>
                    <a:pt x="1558655" y="1661180"/>
                  </a:lnTo>
                  <a:lnTo>
                    <a:pt x="1520727" y="1685382"/>
                  </a:lnTo>
                  <a:lnTo>
                    <a:pt x="1481553" y="1707952"/>
                  </a:lnTo>
                  <a:lnTo>
                    <a:pt x="1441190" y="1728837"/>
                  </a:lnTo>
                  <a:lnTo>
                    <a:pt x="1399693" y="1747984"/>
                  </a:lnTo>
                  <a:lnTo>
                    <a:pt x="1357120" y="1765340"/>
                  </a:lnTo>
                  <a:lnTo>
                    <a:pt x="1313525" y="1780853"/>
                  </a:lnTo>
                  <a:lnTo>
                    <a:pt x="1268966" y="1794469"/>
                  </a:lnTo>
                  <a:lnTo>
                    <a:pt x="1223498" y="1806135"/>
                  </a:lnTo>
                  <a:lnTo>
                    <a:pt x="1177179" y="1815799"/>
                  </a:lnTo>
                  <a:lnTo>
                    <a:pt x="1130063" y="1823408"/>
                  </a:lnTo>
                  <a:lnTo>
                    <a:pt x="1082208" y="1828908"/>
                  </a:lnTo>
                  <a:lnTo>
                    <a:pt x="1033669" y="1832247"/>
                  </a:lnTo>
                  <a:lnTo>
                    <a:pt x="984504" y="1833372"/>
                  </a:lnTo>
                  <a:lnTo>
                    <a:pt x="935338" y="1832247"/>
                  </a:lnTo>
                  <a:lnTo>
                    <a:pt x="886799" y="1828908"/>
                  </a:lnTo>
                  <a:lnTo>
                    <a:pt x="838944" y="1823408"/>
                  </a:lnTo>
                  <a:lnTo>
                    <a:pt x="791828" y="1815799"/>
                  </a:lnTo>
                  <a:lnTo>
                    <a:pt x="745509" y="1806135"/>
                  </a:lnTo>
                  <a:lnTo>
                    <a:pt x="700041" y="1794469"/>
                  </a:lnTo>
                  <a:lnTo>
                    <a:pt x="655482" y="1780853"/>
                  </a:lnTo>
                  <a:lnTo>
                    <a:pt x="611887" y="1765340"/>
                  </a:lnTo>
                  <a:lnTo>
                    <a:pt x="569314" y="1747984"/>
                  </a:lnTo>
                  <a:lnTo>
                    <a:pt x="527817" y="1728837"/>
                  </a:lnTo>
                  <a:lnTo>
                    <a:pt x="487454" y="1707952"/>
                  </a:lnTo>
                  <a:lnTo>
                    <a:pt x="448280" y="1685382"/>
                  </a:lnTo>
                  <a:lnTo>
                    <a:pt x="410352" y="1661180"/>
                  </a:lnTo>
                  <a:lnTo>
                    <a:pt x="373726" y="1635399"/>
                  </a:lnTo>
                  <a:lnTo>
                    <a:pt x="338458" y="1608092"/>
                  </a:lnTo>
                  <a:lnTo>
                    <a:pt x="304605" y="1579312"/>
                  </a:lnTo>
                  <a:lnTo>
                    <a:pt x="272222" y="1549111"/>
                  </a:lnTo>
                  <a:lnTo>
                    <a:pt x="241366" y="1517543"/>
                  </a:lnTo>
                  <a:lnTo>
                    <a:pt x="212094" y="1484660"/>
                  </a:lnTo>
                  <a:lnTo>
                    <a:pt x="184461" y="1450516"/>
                  </a:lnTo>
                  <a:lnTo>
                    <a:pt x="158523" y="1415163"/>
                  </a:lnTo>
                  <a:lnTo>
                    <a:pt x="134337" y="1378655"/>
                  </a:lnTo>
                  <a:lnTo>
                    <a:pt x="111960" y="1341044"/>
                  </a:lnTo>
                  <a:lnTo>
                    <a:pt x="91446" y="1302383"/>
                  </a:lnTo>
                  <a:lnTo>
                    <a:pt x="72854" y="1262725"/>
                  </a:lnTo>
                  <a:lnTo>
                    <a:pt x="56238" y="1222123"/>
                  </a:lnTo>
                  <a:lnTo>
                    <a:pt x="41655" y="1180630"/>
                  </a:lnTo>
                  <a:lnTo>
                    <a:pt x="29161" y="1138299"/>
                  </a:lnTo>
                  <a:lnTo>
                    <a:pt x="18813" y="1095183"/>
                  </a:lnTo>
                  <a:lnTo>
                    <a:pt x="10666" y="1051334"/>
                  </a:lnTo>
                  <a:lnTo>
                    <a:pt x="4778" y="1006806"/>
                  </a:lnTo>
                  <a:lnTo>
                    <a:pt x="1203" y="961651"/>
                  </a:lnTo>
                  <a:lnTo>
                    <a:pt x="0" y="915924"/>
                  </a:lnTo>
                </a:path>
              </a:pathLst>
            </a:custGeom>
            <a:ln w="274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43247" y="1927351"/>
            <a:ext cx="1302385" cy="12827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algn="ctr">
              <a:lnSpc>
                <a:spcPct val="93700"/>
              </a:lnSpc>
              <a:spcBef>
                <a:spcPts val="250"/>
              </a:spcBef>
            </a:pPr>
            <a:r>
              <a:rPr sz="1500" spc="-10" dirty="0">
                <a:latin typeface="Verdana"/>
                <a:cs typeface="Verdana"/>
              </a:rPr>
              <a:t>Strain, </a:t>
            </a:r>
            <a:r>
              <a:rPr sz="1500" dirty="0">
                <a:latin typeface="Verdana"/>
                <a:cs typeface="Verdana"/>
              </a:rPr>
              <a:t>Pressure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and </a:t>
            </a:r>
            <a:r>
              <a:rPr sz="1500" spc="-10" dirty="0">
                <a:latin typeface="Verdana"/>
                <a:cs typeface="Verdana"/>
              </a:rPr>
              <a:t>Temperature</a:t>
            </a:r>
            <a:endParaRPr sz="1500">
              <a:latin typeface="Verdana"/>
              <a:cs typeface="Verdana"/>
            </a:endParaRPr>
          </a:p>
          <a:p>
            <a:pPr marL="260985" marR="252095" algn="ctr">
              <a:lnSpc>
                <a:spcPct val="130000"/>
              </a:lnSpc>
            </a:pPr>
            <a:r>
              <a:rPr sz="1500" spc="-10" dirty="0">
                <a:latin typeface="Verdana"/>
                <a:cs typeface="Verdana"/>
              </a:rPr>
              <a:t>Sensors </a:t>
            </a:r>
            <a:r>
              <a:rPr sz="1500" dirty="0">
                <a:latin typeface="Verdana"/>
                <a:cs typeface="Verdana"/>
              </a:rPr>
              <a:t>(Unit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I)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59279" y="2871216"/>
            <a:ext cx="6311265" cy="4291965"/>
            <a:chOff x="1859279" y="2871216"/>
            <a:chExt cx="6311265" cy="42919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4288" y="2878836"/>
              <a:ext cx="2045207" cy="20162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18859" y="2884932"/>
              <a:ext cx="2037714" cy="2004060"/>
            </a:xfrm>
            <a:custGeom>
              <a:avLst/>
              <a:gdLst/>
              <a:ahLst/>
              <a:cxnLst/>
              <a:rect l="l" t="t" r="r" b="b"/>
              <a:pathLst>
                <a:path w="2037715" h="2004060">
                  <a:moveTo>
                    <a:pt x="0" y="1001268"/>
                  </a:moveTo>
                  <a:lnTo>
                    <a:pt x="1111" y="954115"/>
                  </a:lnTo>
                  <a:lnTo>
                    <a:pt x="4413" y="907525"/>
                  </a:lnTo>
                  <a:lnTo>
                    <a:pt x="9855" y="861547"/>
                  </a:lnTo>
                  <a:lnTo>
                    <a:pt x="17389" y="816227"/>
                  </a:lnTo>
                  <a:lnTo>
                    <a:pt x="26965" y="771614"/>
                  </a:lnTo>
                  <a:lnTo>
                    <a:pt x="38534" y="727757"/>
                  </a:lnTo>
                  <a:lnTo>
                    <a:pt x="52047" y="684702"/>
                  </a:lnTo>
                  <a:lnTo>
                    <a:pt x="67455" y="642499"/>
                  </a:lnTo>
                  <a:lnTo>
                    <a:pt x="84707" y="601194"/>
                  </a:lnTo>
                  <a:lnTo>
                    <a:pt x="103756" y="560836"/>
                  </a:lnTo>
                  <a:lnTo>
                    <a:pt x="124551" y="521473"/>
                  </a:lnTo>
                  <a:lnTo>
                    <a:pt x="147044" y="483153"/>
                  </a:lnTo>
                  <a:lnTo>
                    <a:pt x="171185" y="445924"/>
                  </a:lnTo>
                  <a:lnTo>
                    <a:pt x="196925" y="409834"/>
                  </a:lnTo>
                  <a:lnTo>
                    <a:pt x="224214" y="374930"/>
                  </a:lnTo>
                  <a:lnTo>
                    <a:pt x="253004" y="341262"/>
                  </a:lnTo>
                  <a:lnTo>
                    <a:pt x="283245" y="308876"/>
                  </a:lnTo>
                  <a:lnTo>
                    <a:pt x="314888" y="277821"/>
                  </a:lnTo>
                  <a:lnTo>
                    <a:pt x="347883" y="248145"/>
                  </a:lnTo>
                  <a:lnTo>
                    <a:pt x="382181" y="219895"/>
                  </a:lnTo>
                  <a:lnTo>
                    <a:pt x="417734" y="193121"/>
                  </a:lnTo>
                  <a:lnTo>
                    <a:pt x="454491" y="167869"/>
                  </a:lnTo>
                  <a:lnTo>
                    <a:pt x="492404" y="144188"/>
                  </a:lnTo>
                  <a:lnTo>
                    <a:pt x="531423" y="122125"/>
                  </a:lnTo>
                  <a:lnTo>
                    <a:pt x="571499" y="101730"/>
                  </a:lnTo>
                  <a:lnTo>
                    <a:pt x="612583" y="83049"/>
                  </a:lnTo>
                  <a:lnTo>
                    <a:pt x="654626" y="66131"/>
                  </a:lnTo>
                  <a:lnTo>
                    <a:pt x="697577" y="51023"/>
                  </a:lnTo>
                  <a:lnTo>
                    <a:pt x="741388" y="37774"/>
                  </a:lnTo>
                  <a:lnTo>
                    <a:pt x="786010" y="26432"/>
                  </a:lnTo>
                  <a:lnTo>
                    <a:pt x="831394" y="17044"/>
                  </a:lnTo>
                  <a:lnTo>
                    <a:pt x="877489" y="9659"/>
                  </a:lnTo>
                  <a:lnTo>
                    <a:pt x="924247" y="4325"/>
                  </a:lnTo>
                  <a:lnTo>
                    <a:pt x="971619" y="1089"/>
                  </a:lnTo>
                  <a:lnTo>
                    <a:pt x="1019556" y="0"/>
                  </a:lnTo>
                  <a:lnTo>
                    <a:pt x="1067488" y="1089"/>
                  </a:lnTo>
                  <a:lnTo>
                    <a:pt x="1114849" y="4325"/>
                  </a:lnTo>
                  <a:lnTo>
                    <a:pt x="1161590" y="9659"/>
                  </a:lnTo>
                  <a:lnTo>
                    <a:pt x="1207662" y="17044"/>
                  </a:lnTo>
                  <a:lnTo>
                    <a:pt x="1253016" y="26432"/>
                  </a:lnTo>
                  <a:lnTo>
                    <a:pt x="1297604" y="37774"/>
                  </a:lnTo>
                  <a:lnTo>
                    <a:pt x="1341376" y="51023"/>
                  </a:lnTo>
                  <a:lnTo>
                    <a:pt x="1384283" y="66131"/>
                  </a:lnTo>
                  <a:lnTo>
                    <a:pt x="1426277" y="83049"/>
                  </a:lnTo>
                  <a:lnTo>
                    <a:pt x="1467309" y="101730"/>
                  </a:lnTo>
                  <a:lnTo>
                    <a:pt x="1507331" y="122125"/>
                  </a:lnTo>
                  <a:lnTo>
                    <a:pt x="1546292" y="144188"/>
                  </a:lnTo>
                  <a:lnTo>
                    <a:pt x="1584145" y="167869"/>
                  </a:lnTo>
                  <a:lnTo>
                    <a:pt x="1620841" y="193121"/>
                  </a:lnTo>
                  <a:lnTo>
                    <a:pt x="1656330" y="219895"/>
                  </a:lnTo>
                  <a:lnTo>
                    <a:pt x="1690564" y="248145"/>
                  </a:lnTo>
                  <a:lnTo>
                    <a:pt x="1723494" y="277821"/>
                  </a:lnTo>
                  <a:lnTo>
                    <a:pt x="1755072" y="308876"/>
                  </a:lnTo>
                  <a:lnTo>
                    <a:pt x="1785247" y="341262"/>
                  </a:lnTo>
                  <a:lnTo>
                    <a:pt x="1813973" y="374930"/>
                  </a:lnTo>
                  <a:lnTo>
                    <a:pt x="1841199" y="409834"/>
                  </a:lnTo>
                  <a:lnTo>
                    <a:pt x="1866877" y="445924"/>
                  </a:lnTo>
                  <a:lnTo>
                    <a:pt x="1890958" y="483153"/>
                  </a:lnTo>
                  <a:lnTo>
                    <a:pt x="1913393" y="521473"/>
                  </a:lnTo>
                  <a:lnTo>
                    <a:pt x="1934133" y="560836"/>
                  </a:lnTo>
                  <a:lnTo>
                    <a:pt x="1953130" y="601194"/>
                  </a:lnTo>
                  <a:lnTo>
                    <a:pt x="1970335" y="642499"/>
                  </a:lnTo>
                  <a:lnTo>
                    <a:pt x="1985698" y="684702"/>
                  </a:lnTo>
                  <a:lnTo>
                    <a:pt x="1999172" y="727757"/>
                  </a:lnTo>
                  <a:lnTo>
                    <a:pt x="2010706" y="771614"/>
                  </a:lnTo>
                  <a:lnTo>
                    <a:pt x="2020253" y="816227"/>
                  </a:lnTo>
                  <a:lnTo>
                    <a:pt x="2027764" y="861547"/>
                  </a:lnTo>
                  <a:lnTo>
                    <a:pt x="2033189" y="907525"/>
                  </a:lnTo>
                  <a:lnTo>
                    <a:pt x="2036480" y="954115"/>
                  </a:lnTo>
                  <a:lnTo>
                    <a:pt x="2037588" y="1001268"/>
                  </a:lnTo>
                  <a:lnTo>
                    <a:pt x="2036480" y="1048547"/>
                  </a:lnTo>
                  <a:lnTo>
                    <a:pt x="2033189" y="1095256"/>
                  </a:lnTo>
                  <a:lnTo>
                    <a:pt x="2027764" y="1141348"/>
                  </a:lnTo>
                  <a:lnTo>
                    <a:pt x="2020253" y="1186773"/>
                  </a:lnTo>
                  <a:lnTo>
                    <a:pt x="2010706" y="1231485"/>
                  </a:lnTo>
                  <a:lnTo>
                    <a:pt x="1999172" y="1275435"/>
                  </a:lnTo>
                  <a:lnTo>
                    <a:pt x="1985698" y="1318576"/>
                  </a:lnTo>
                  <a:lnTo>
                    <a:pt x="1970335" y="1360861"/>
                  </a:lnTo>
                  <a:lnTo>
                    <a:pt x="1953130" y="1402240"/>
                  </a:lnTo>
                  <a:lnTo>
                    <a:pt x="1934133" y="1442668"/>
                  </a:lnTo>
                  <a:lnTo>
                    <a:pt x="1913393" y="1482095"/>
                  </a:lnTo>
                  <a:lnTo>
                    <a:pt x="1890958" y="1520474"/>
                  </a:lnTo>
                  <a:lnTo>
                    <a:pt x="1866877" y="1557757"/>
                  </a:lnTo>
                  <a:lnTo>
                    <a:pt x="1841199" y="1593896"/>
                  </a:lnTo>
                  <a:lnTo>
                    <a:pt x="1813973" y="1628844"/>
                  </a:lnTo>
                  <a:lnTo>
                    <a:pt x="1785247" y="1662554"/>
                  </a:lnTo>
                  <a:lnTo>
                    <a:pt x="1755072" y="1694976"/>
                  </a:lnTo>
                  <a:lnTo>
                    <a:pt x="1723494" y="1726063"/>
                  </a:lnTo>
                  <a:lnTo>
                    <a:pt x="1690564" y="1755769"/>
                  </a:lnTo>
                  <a:lnTo>
                    <a:pt x="1656330" y="1784044"/>
                  </a:lnTo>
                  <a:lnTo>
                    <a:pt x="1620841" y="1810841"/>
                  </a:lnTo>
                  <a:lnTo>
                    <a:pt x="1584145" y="1836112"/>
                  </a:lnTo>
                  <a:lnTo>
                    <a:pt x="1546292" y="1859810"/>
                  </a:lnTo>
                  <a:lnTo>
                    <a:pt x="1507331" y="1881886"/>
                  </a:lnTo>
                  <a:lnTo>
                    <a:pt x="1467309" y="1902294"/>
                  </a:lnTo>
                  <a:lnTo>
                    <a:pt x="1426277" y="1920984"/>
                  </a:lnTo>
                  <a:lnTo>
                    <a:pt x="1384283" y="1937910"/>
                  </a:lnTo>
                  <a:lnTo>
                    <a:pt x="1341376" y="1953024"/>
                  </a:lnTo>
                  <a:lnTo>
                    <a:pt x="1297604" y="1966277"/>
                  </a:lnTo>
                  <a:lnTo>
                    <a:pt x="1253016" y="1977623"/>
                  </a:lnTo>
                  <a:lnTo>
                    <a:pt x="1207662" y="1987013"/>
                  </a:lnTo>
                  <a:lnTo>
                    <a:pt x="1161590" y="1994399"/>
                  </a:lnTo>
                  <a:lnTo>
                    <a:pt x="1114849" y="1999734"/>
                  </a:lnTo>
                  <a:lnTo>
                    <a:pt x="1067488" y="2002970"/>
                  </a:lnTo>
                  <a:lnTo>
                    <a:pt x="1019556" y="2004060"/>
                  </a:lnTo>
                  <a:lnTo>
                    <a:pt x="971619" y="2002970"/>
                  </a:lnTo>
                  <a:lnTo>
                    <a:pt x="924247" y="1999734"/>
                  </a:lnTo>
                  <a:lnTo>
                    <a:pt x="877489" y="1994399"/>
                  </a:lnTo>
                  <a:lnTo>
                    <a:pt x="831394" y="1987013"/>
                  </a:lnTo>
                  <a:lnTo>
                    <a:pt x="786010" y="1977623"/>
                  </a:lnTo>
                  <a:lnTo>
                    <a:pt x="741388" y="1966277"/>
                  </a:lnTo>
                  <a:lnTo>
                    <a:pt x="697577" y="1953024"/>
                  </a:lnTo>
                  <a:lnTo>
                    <a:pt x="654626" y="1937910"/>
                  </a:lnTo>
                  <a:lnTo>
                    <a:pt x="612583" y="1920984"/>
                  </a:lnTo>
                  <a:lnTo>
                    <a:pt x="571500" y="1902294"/>
                  </a:lnTo>
                  <a:lnTo>
                    <a:pt x="531423" y="1881886"/>
                  </a:lnTo>
                  <a:lnTo>
                    <a:pt x="492404" y="1859810"/>
                  </a:lnTo>
                  <a:lnTo>
                    <a:pt x="454491" y="1836112"/>
                  </a:lnTo>
                  <a:lnTo>
                    <a:pt x="417734" y="1810841"/>
                  </a:lnTo>
                  <a:lnTo>
                    <a:pt x="382181" y="1784044"/>
                  </a:lnTo>
                  <a:lnTo>
                    <a:pt x="347883" y="1755769"/>
                  </a:lnTo>
                  <a:lnTo>
                    <a:pt x="314888" y="1726063"/>
                  </a:lnTo>
                  <a:lnTo>
                    <a:pt x="283245" y="1694976"/>
                  </a:lnTo>
                  <a:lnTo>
                    <a:pt x="253004" y="1662554"/>
                  </a:lnTo>
                  <a:lnTo>
                    <a:pt x="224214" y="1628844"/>
                  </a:lnTo>
                  <a:lnTo>
                    <a:pt x="196925" y="1593896"/>
                  </a:lnTo>
                  <a:lnTo>
                    <a:pt x="171185" y="1557757"/>
                  </a:lnTo>
                  <a:lnTo>
                    <a:pt x="147044" y="1520474"/>
                  </a:lnTo>
                  <a:lnTo>
                    <a:pt x="124551" y="1482095"/>
                  </a:lnTo>
                  <a:lnTo>
                    <a:pt x="103756" y="1442668"/>
                  </a:lnTo>
                  <a:lnTo>
                    <a:pt x="84707" y="1402240"/>
                  </a:lnTo>
                  <a:lnTo>
                    <a:pt x="67455" y="1360861"/>
                  </a:lnTo>
                  <a:lnTo>
                    <a:pt x="52047" y="1318576"/>
                  </a:lnTo>
                  <a:lnTo>
                    <a:pt x="38534" y="1275435"/>
                  </a:lnTo>
                  <a:lnTo>
                    <a:pt x="26965" y="1231485"/>
                  </a:lnTo>
                  <a:lnTo>
                    <a:pt x="17389" y="1186773"/>
                  </a:lnTo>
                  <a:lnTo>
                    <a:pt x="9855" y="1141348"/>
                  </a:lnTo>
                  <a:lnTo>
                    <a:pt x="4413" y="1095256"/>
                  </a:lnTo>
                  <a:lnTo>
                    <a:pt x="1111" y="1048547"/>
                  </a:lnTo>
                  <a:lnTo>
                    <a:pt x="0" y="1001268"/>
                  </a:lnTo>
                </a:path>
              </a:pathLst>
            </a:custGeom>
            <a:ln w="274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65647" y="5160264"/>
              <a:ext cx="1903476" cy="18211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70220" y="5164836"/>
              <a:ext cx="1896110" cy="1811020"/>
            </a:xfrm>
            <a:custGeom>
              <a:avLst/>
              <a:gdLst/>
              <a:ahLst/>
              <a:cxnLst/>
              <a:rect l="l" t="t" r="r" b="b"/>
              <a:pathLst>
                <a:path w="1896109" h="1811020">
                  <a:moveTo>
                    <a:pt x="0" y="905256"/>
                  </a:moveTo>
                  <a:lnTo>
                    <a:pt x="1235" y="858679"/>
                  </a:lnTo>
                  <a:lnTo>
                    <a:pt x="4902" y="812713"/>
                  </a:lnTo>
                  <a:lnTo>
                    <a:pt x="10941" y="767414"/>
                  </a:lnTo>
                  <a:lnTo>
                    <a:pt x="19291" y="722840"/>
                  </a:lnTo>
                  <a:lnTo>
                    <a:pt x="29892" y="679047"/>
                  </a:lnTo>
                  <a:lnTo>
                    <a:pt x="42685" y="636092"/>
                  </a:lnTo>
                  <a:lnTo>
                    <a:pt x="57609" y="594033"/>
                  </a:lnTo>
                  <a:lnTo>
                    <a:pt x="74604" y="552926"/>
                  </a:lnTo>
                  <a:lnTo>
                    <a:pt x="93611" y="512828"/>
                  </a:lnTo>
                  <a:lnTo>
                    <a:pt x="114569" y="473795"/>
                  </a:lnTo>
                  <a:lnTo>
                    <a:pt x="137419" y="435886"/>
                  </a:lnTo>
                  <a:lnTo>
                    <a:pt x="162100" y="399157"/>
                  </a:lnTo>
                  <a:lnTo>
                    <a:pt x="188553" y="363664"/>
                  </a:lnTo>
                  <a:lnTo>
                    <a:pt x="216717" y="329465"/>
                  </a:lnTo>
                  <a:lnTo>
                    <a:pt x="246532" y="296616"/>
                  </a:lnTo>
                  <a:lnTo>
                    <a:pt x="277939" y="265176"/>
                  </a:lnTo>
                  <a:lnTo>
                    <a:pt x="310877" y="235199"/>
                  </a:lnTo>
                  <a:lnTo>
                    <a:pt x="345287" y="206744"/>
                  </a:lnTo>
                  <a:lnTo>
                    <a:pt x="381108" y="179867"/>
                  </a:lnTo>
                  <a:lnTo>
                    <a:pt x="418281" y="154626"/>
                  </a:lnTo>
                  <a:lnTo>
                    <a:pt x="456745" y="131077"/>
                  </a:lnTo>
                  <a:lnTo>
                    <a:pt x="496441" y="109277"/>
                  </a:lnTo>
                  <a:lnTo>
                    <a:pt x="537308" y="89282"/>
                  </a:lnTo>
                  <a:lnTo>
                    <a:pt x="579286" y="71151"/>
                  </a:lnTo>
                  <a:lnTo>
                    <a:pt x="622316" y="54940"/>
                  </a:lnTo>
                  <a:lnTo>
                    <a:pt x="666338" y="40705"/>
                  </a:lnTo>
                  <a:lnTo>
                    <a:pt x="711291" y="28505"/>
                  </a:lnTo>
                  <a:lnTo>
                    <a:pt x="757115" y="18395"/>
                  </a:lnTo>
                  <a:lnTo>
                    <a:pt x="803751" y="10432"/>
                  </a:lnTo>
                  <a:lnTo>
                    <a:pt x="851138" y="4674"/>
                  </a:lnTo>
                  <a:lnTo>
                    <a:pt x="899217" y="1178"/>
                  </a:lnTo>
                  <a:lnTo>
                    <a:pt x="947928" y="0"/>
                  </a:lnTo>
                  <a:lnTo>
                    <a:pt x="996772" y="1178"/>
                  </a:lnTo>
                  <a:lnTo>
                    <a:pt x="1044968" y="4674"/>
                  </a:lnTo>
                  <a:lnTo>
                    <a:pt x="1092456" y="10432"/>
                  </a:lnTo>
                  <a:lnTo>
                    <a:pt x="1139178" y="18395"/>
                  </a:lnTo>
                  <a:lnTo>
                    <a:pt x="1185073" y="28505"/>
                  </a:lnTo>
                  <a:lnTo>
                    <a:pt x="1230083" y="40705"/>
                  </a:lnTo>
                  <a:lnTo>
                    <a:pt x="1274149" y="54940"/>
                  </a:lnTo>
                  <a:lnTo>
                    <a:pt x="1317212" y="71151"/>
                  </a:lnTo>
                  <a:lnTo>
                    <a:pt x="1359212" y="89282"/>
                  </a:lnTo>
                  <a:lnTo>
                    <a:pt x="1400090" y="109277"/>
                  </a:lnTo>
                  <a:lnTo>
                    <a:pt x="1439787" y="131077"/>
                  </a:lnTo>
                  <a:lnTo>
                    <a:pt x="1478244" y="154626"/>
                  </a:lnTo>
                  <a:lnTo>
                    <a:pt x="1515402" y="179867"/>
                  </a:lnTo>
                  <a:lnTo>
                    <a:pt x="1551201" y="206744"/>
                  </a:lnTo>
                  <a:lnTo>
                    <a:pt x="1585583" y="235199"/>
                  </a:lnTo>
                  <a:lnTo>
                    <a:pt x="1618488" y="265176"/>
                  </a:lnTo>
                  <a:lnTo>
                    <a:pt x="1649857" y="296616"/>
                  </a:lnTo>
                  <a:lnTo>
                    <a:pt x="1679631" y="329465"/>
                  </a:lnTo>
                  <a:lnTo>
                    <a:pt x="1707750" y="363664"/>
                  </a:lnTo>
                  <a:lnTo>
                    <a:pt x="1734157" y="399157"/>
                  </a:lnTo>
                  <a:lnTo>
                    <a:pt x="1758791" y="435886"/>
                  </a:lnTo>
                  <a:lnTo>
                    <a:pt x="1781593" y="473795"/>
                  </a:lnTo>
                  <a:lnTo>
                    <a:pt x="1802504" y="512828"/>
                  </a:lnTo>
                  <a:lnTo>
                    <a:pt x="1821465" y="552926"/>
                  </a:lnTo>
                  <a:lnTo>
                    <a:pt x="1838417" y="594033"/>
                  </a:lnTo>
                  <a:lnTo>
                    <a:pt x="1853301" y="636092"/>
                  </a:lnTo>
                  <a:lnTo>
                    <a:pt x="1866057" y="679047"/>
                  </a:lnTo>
                  <a:lnTo>
                    <a:pt x="1876627" y="722840"/>
                  </a:lnTo>
                  <a:lnTo>
                    <a:pt x="1884951" y="767414"/>
                  </a:lnTo>
                  <a:lnTo>
                    <a:pt x="1890969" y="812713"/>
                  </a:lnTo>
                  <a:lnTo>
                    <a:pt x="1894624" y="858679"/>
                  </a:lnTo>
                  <a:lnTo>
                    <a:pt x="1895856" y="905256"/>
                  </a:lnTo>
                  <a:lnTo>
                    <a:pt x="1894624" y="951832"/>
                  </a:lnTo>
                  <a:lnTo>
                    <a:pt x="1890969" y="997798"/>
                  </a:lnTo>
                  <a:lnTo>
                    <a:pt x="1884951" y="1043097"/>
                  </a:lnTo>
                  <a:lnTo>
                    <a:pt x="1876627" y="1087671"/>
                  </a:lnTo>
                  <a:lnTo>
                    <a:pt x="1866057" y="1131464"/>
                  </a:lnTo>
                  <a:lnTo>
                    <a:pt x="1853301" y="1174419"/>
                  </a:lnTo>
                  <a:lnTo>
                    <a:pt x="1838417" y="1216478"/>
                  </a:lnTo>
                  <a:lnTo>
                    <a:pt x="1821465" y="1257585"/>
                  </a:lnTo>
                  <a:lnTo>
                    <a:pt x="1802504" y="1297683"/>
                  </a:lnTo>
                  <a:lnTo>
                    <a:pt x="1781593" y="1336716"/>
                  </a:lnTo>
                  <a:lnTo>
                    <a:pt x="1758791" y="1374625"/>
                  </a:lnTo>
                  <a:lnTo>
                    <a:pt x="1734157" y="1411354"/>
                  </a:lnTo>
                  <a:lnTo>
                    <a:pt x="1707750" y="1446847"/>
                  </a:lnTo>
                  <a:lnTo>
                    <a:pt x="1679631" y="1481046"/>
                  </a:lnTo>
                  <a:lnTo>
                    <a:pt x="1649857" y="1513895"/>
                  </a:lnTo>
                  <a:lnTo>
                    <a:pt x="1618487" y="1545336"/>
                  </a:lnTo>
                  <a:lnTo>
                    <a:pt x="1585583" y="1575312"/>
                  </a:lnTo>
                  <a:lnTo>
                    <a:pt x="1551201" y="1603767"/>
                  </a:lnTo>
                  <a:lnTo>
                    <a:pt x="1515402" y="1630644"/>
                  </a:lnTo>
                  <a:lnTo>
                    <a:pt x="1478244" y="1655885"/>
                  </a:lnTo>
                  <a:lnTo>
                    <a:pt x="1439787" y="1679434"/>
                  </a:lnTo>
                  <a:lnTo>
                    <a:pt x="1400090" y="1701234"/>
                  </a:lnTo>
                  <a:lnTo>
                    <a:pt x="1359212" y="1721229"/>
                  </a:lnTo>
                  <a:lnTo>
                    <a:pt x="1317212" y="1739360"/>
                  </a:lnTo>
                  <a:lnTo>
                    <a:pt x="1274149" y="1755571"/>
                  </a:lnTo>
                  <a:lnTo>
                    <a:pt x="1230083" y="1769806"/>
                  </a:lnTo>
                  <a:lnTo>
                    <a:pt x="1185073" y="1782006"/>
                  </a:lnTo>
                  <a:lnTo>
                    <a:pt x="1139178" y="1792116"/>
                  </a:lnTo>
                  <a:lnTo>
                    <a:pt x="1092456" y="1800079"/>
                  </a:lnTo>
                  <a:lnTo>
                    <a:pt x="1044968" y="1805837"/>
                  </a:lnTo>
                  <a:lnTo>
                    <a:pt x="996772" y="1809333"/>
                  </a:lnTo>
                  <a:lnTo>
                    <a:pt x="947928" y="1810512"/>
                  </a:lnTo>
                  <a:lnTo>
                    <a:pt x="899217" y="1809333"/>
                  </a:lnTo>
                  <a:lnTo>
                    <a:pt x="851138" y="1805837"/>
                  </a:lnTo>
                  <a:lnTo>
                    <a:pt x="803751" y="1800079"/>
                  </a:lnTo>
                  <a:lnTo>
                    <a:pt x="757115" y="1792116"/>
                  </a:lnTo>
                  <a:lnTo>
                    <a:pt x="711291" y="1782006"/>
                  </a:lnTo>
                  <a:lnTo>
                    <a:pt x="666338" y="1769806"/>
                  </a:lnTo>
                  <a:lnTo>
                    <a:pt x="622316" y="1755571"/>
                  </a:lnTo>
                  <a:lnTo>
                    <a:pt x="579286" y="1739360"/>
                  </a:lnTo>
                  <a:lnTo>
                    <a:pt x="537308" y="1721229"/>
                  </a:lnTo>
                  <a:lnTo>
                    <a:pt x="496441" y="1701234"/>
                  </a:lnTo>
                  <a:lnTo>
                    <a:pt x="456745" y="1679434"/>
                  </a:lnTo>
                  <a:lnTo>
                    <a:pt x="418281" y="1655885"/>
                  </a:lnTo>
                  <a:lnTo>
                    <a:pt x="381108" y="1630644"/>
                  </a:lnTo>
                  <a:lnTo>
                    <a:pt x="345287" y="1603767"/>
                  </a:lnTo>
                  <a:lnTo>
                    <a:pt x="310877" y="1575312"/>
                  </a:lnTo>
                  <a:lnTo>
                    <a:pt x="277939" y="1545336"/>
                  </a:lnTo>
                  <a:lnTo>
                    <a:pt x="246532" y="1513895"/>
                  </a:lnTo>
                  <a:lnTo>
                    <a:pt x="216717" y="1481046"/>
                  </a:lnTo>
                  <a:lnTo>
                    <a:pt x="188553" y="1446847"/>
                  </a:lnTo>
                  <a:lnTo>
                    <a:pt x="162100" y="1411354"/>
                  </a:lnTo>
                  <a:lnTo>
                    <a:pt x="137419" y="1374625"/>
                  </a:lnTo>
                  <a:lnTo>
                    <a:pt x="114569" y="1336716"/>
                  </a:lnTo>
                  <a:lnTo>
                    <a:pt x="93611" y="1297683"/>
                  </a:lnTo>
                  <a:lnTo>
                    <a:pt x="74604" y="1257585"/>
                  </a:lnTo>
                  <a:lnTo>
                    <a:pt x="57609" y="1216478"/>
                  </a:lnTo>
                  <a:lnTo>
                    <a:pt x="42685" y="1174419"/>
                  </a:lnTo>
                  <a:lnTo>
                    <a:pt x="29892" y="1131464"/>
                  </a:lnTo>
                  <a:lnTo>
                    <a:pt x="19291" y="1087671"/>
                  </a:lnTo>
                  <a:lnTo>
                    <a:pt x="10941" y="1043097"/>
                  </a:lnTo>
                  <a:lnTo>
                    <a:pt x="4902" y="997798"/>
                  </a:lnTo>
                  <a:lnTo>
                    <a:pt x="1235" y="951832"/>
                  </a:lnTo>
                  <a:lnTo>
                    <a:pt x="0" y="905256"/>
                  </a:lnTo>
                </a:path>
              </a:pathLst>
            </a:custGeom>
            <a:ln w="274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9607" y="5273039"/>
              <a:ext cx="1917191" cy="188213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64179" y="5276088"/>
              <a:ext cx="1908175" cy="1873250"/>
            </a:xfrm>
            <a:custGeom>
              <a:avLst/>
              <a:gdLst/>
              <a:ahLst/>
              <a:cxnLst/>
              <a:rect l="l" t="t" r="r" b="b"/>
              <a:pathLst>
                <a:path w="1908175" h="1873250">
                  <a:moveTo>
                    <a:pt x="0" y="935736"/>
                  </a:moveTo>
                  <a:lnTo>
                    <a:pt x="1240" y="887596"/>
                  </a:lnTo>
                  <a:lnTo>
                    <a:pt x="4921" y="840088"/>
                  </a:lnTo>
                  <a:lnTo>
                    <a:pt x="10982" y="793268"/>
                  </a:lnTo>
                  <a:lnTo>
                    <a:pt x="19365" y="747197"/>
                  </a:lnTo>
                  <a:lnTo>
                    <a:pt x="30009" y="701933"/>
                  </a:lnTo>
                  <a:lnTo>
                    <a:pt x="42855" y="657534"/>
                  </a:lnTo>
                  <a:lnTo>
                    <a:pt x="57843" y="614061"/>
                  </a:lnTo>
                  <a:lnTo>
                    <a:pt x="74914" y="571571"/>
                  </a:lnTo>
                  <a:lnTo>
                    <a:pt x="94007" y="530124"/>
                  </a:lnTo>
                  <a:lnTo>
                    <a:pt x="115062" y="489778"/>
                  </a:lnTo>
                  <a:lnTo>
                    <a:pt x="138021" y="450592"/>
                  </a:lnTo>
                  <a:lnTo>
                    <a:pt x="162823" y="412625"/>
                  </a:lnTo>
                  <a:lnTo>
                    <a:pt x="189409" y="375937"/>
                  </a:lnTo>
                  <a:lnTo>
                    <a:pt x="217719" y="340586"/>
                  </a:lnTo>
                  <a:lnTo>
                    <a:pt x="247694" y="306630"/>
                  </a:lnTo>
                  <a:lnTo>
                    <a:pt x="279273" y="274129"/>
                  </a:lnTo>
                  <a:lnTo>
                    <a:pt x="312396" y="243142"/>
                  </a:lnTo>
                  <a:lnTo>
                    <a:pt x="347005" y="213727"/>
                  </a:lnTo>
                  <a:lnTo>
                    <a:pt x="383039" y="185943"/>
                  </a:lnTo>
                  <a:lnTo>
                    <a:pt x="420439" y="159850"/>
                  </a:lnTo>
                  <a:lnTo>
                    <a:pt x="459145" y="135506"/>
                  </a:lnTo>
                  <a:lnTo>
                    <a:pt x="499097" y="112969"/>
                  </a:lnTo>
                  <a:lnTo>
                    <a:pt x="540235" y="92300"/>
                  </a:lnTo>
                  <a:lnTo>
                    <a:pt x="582501" y="73556"/>
                  </a:lnTo>
                  <a:lnTo>
                    <a:pt x="625833" y="56797"/>
                  </a:lnTo>
                  <a:lnTo>
                    <a:pt x="670173" y="42082"/>
                  </a:lnTo>
                  <a:lnTo>
                    <a:pt x="715461" y="29469"/>
                  </a:lnTo>
                  <a:lnTo>
                    <a:pt x="761636" y="19017"/>
                  </a:lnTo>
                  <a:lnTo>
                    <a:pt x="808640" y="10785"/>
                  </a:lnTo>
                  <a:lnTo>
                    <a:pt x="856412" y="4832"/>
                  </a:lnTo>
                  <a:lnTo>
                    <a:pt x="904893" y="1218"/>
                  </a:lnTo>
                  <a:lnTo>
                    <a:pt x="954024" y="0"/>
                  </a:lnTo>
                  <a:lnTo>
                    <a:pt x="1003154" y="1218"/>
                  </a:lnTo>
                  <a:lnTo>
                    <a:pt x="1051635" y="4832"/>
                  </a:lnTo>
                  <a:lnTo>
                    <a:pt x="1099407" y="10785"/>
                  </a:lnTo>
                  <a:lnTo>
                    <a:pt x="1146411" y="19017"/>
                  </a:lnTo>
                  <a:lnTo>
                    <a:pt x="1192586" y="29469"/>
                  </a:lnTo>
                  <a:lnTo>
                    <a:pt x="1237874" y="42082"/>
                  </a:lnTo>
                  <a:lnTo>
                    <a:pt x="1282214" y="56797"/>
                  </a:lnTo>
                  <a:lnTo>
                    <a:pt x="1325546" y="73556"/>
                  </a:lnTo>
                  <a:lnTo>
                    <a:pt x="1367812" y="92300"/>
                  </a:lnTo>
                  <a:lnTo>
                    <a:pt x="1408950" y="112969"/>
                  </a:lnTo>
                  <a:lnTo>
                    <a:pt x="1448902" y="135506"/>
                  </a:lnTo>
                  <a:lnTo>
                    <a:pt x="1487608" y="159850"/>
                  </a:lnTo>
                  <a:lnTo>
                    <a:pt x="1525008" y="185943"/>
                  </a:lnTo>
                  <a:lnTo>
                    <a:pt x="1561042" y="213727"/>
                  </a:lnTo>
                  <a:lnTo>
                    <a:pt x="1595651" y="243142"/>
                  </a:lnTo>
                  <a:lnTo>
                    <a:pt x="1628775" y="274129"/>
                  </a:lnTo>
                  <a:lnTo>
                    <a:pt x="1660353" y="306630"/>
                  </a:lnTo>
                  <a:lnTo>
                    <a:pt x="1690328" y="340586"/>
                  </a:lnTo>
                  <a:lnTo>
                    <a:pt x="1718638" y="375937"/>
                  </a:lnTo>
                  <a:lnTo>
                    <a:pt x="1745224" y="412625"/>
                  </a:lnTo>
                  <a:lnTo>
                    <a:pt x="1770026" y="450592"/>
                  </a:lnTo>
                  <a:lnTo>
                    <a:pt x="1792985" y="489778"/>
                  </a:lnTo>
                  <a:lnTo>
                    <a:pt x="1814040" y="530124"/>
                  </a:lnTo>
                  <a:lnTo>
                    <a:pt x="1833133" y="571571"/>
                  </a:lnTo>
                  <a:lnTo>
                    <a:pt x="1850204" y="614061"/>
                  </a:lnTo>
                  <a:lnTo>
                    <a:pt x="1865192" y="657534"/>
                  </a:lnTo>
                  <a:lnTo>
                    <a:pt x="1878038" y="701933"/>
                  </a:lnTo>
                  <a:lnTo>
                    <a:pt x="1888682" y="747197"/>
                  </a:lnTo>
                  <a:lnTo>
                    <a:pt x="1897065" y="793268"/>
                  </a:lnTo>
                  <a:lnTo>
                    <a:pt x="1903126" y="840088"/>
                  </a:lnTo>
                  <a:lnTo>
                    <a:pt x="1906807" y="887596"/>
                  </a:lnTo>
                  <a:lnTo>
                    <a:pt x="1908048" y="935736"/>
                  </a:lnTo>
                  <a:lnTo>
                    <a:pt x="1906807" y="984013"/>
                  </a:lnTo>
                  <a:lnTo>
                    <a:pt x="1903126" y="1031652"/>
                  </a:lnTo>
                  <a:lnTo>
                    <a:pt x="1897065" y="1078592"/>
                  </a:lnTo>
                  <a:lnTo>
                    <a:pt x="1888682" y="1124777"/>
                  </a:lnTo>
                  <a:lnTo>
                    <a:pt x="1878038" y="1170147"/>
                  </a:lnTo>
                  <a:lnTo>
                    <a:pt x="1865192" y="1214643"/>
                  </a:lnTo>
                  <a:lnTo>
                    <a:pt x="1850204" y="1258207"/>
                  </a:lnTo>
                  <a:lnTo>
                    <a:pt x="1833133" y="1300781"/>
                  </a:lnTo>
                  <a:lnTo>
                    <a:pt x="1814040" y="1342306"/>
                  </a:lnTo>
                  <a:lnTo>
                    <a:pt x="1792985" y="1382722"/>
                  </a:lnTo>
                  <a:lnTo>
                    <a:pt x="1770026" y="1421972"/>
                  </a:lnTo>
                  <a:lnTo>
                    <a:pt x="1745224" y="1459997"/>
                  </a:lnTo>
                  <a:lnTo>
                    <a:pt x="1718638" y="1496739"/>
                  </a:lnTo>
                  <a:lnTo>
                    <a:pt x="1690328" y="1532138"/>
                  </a:lnTo>
                  <a:lnTo>
                    <a:pt x="1660353" y="1566137"/>
                  </a:lnTo>
                  <a:lnTo>
                    <a:pt x="1628775" y="1598676"/>
                  </a:lnTo>
                  <a:lnTo>
                    <a:pt x="1595651" y="1629696"/>
                  </a:lnTo>
                  <a:lnTo>
                    <a:pt x="1561042" y="1659141"/>
                  </a:lnTo>
                  <a:lnTo>
                    <a:pt x="1525008" y="1686950"/>
                  </a:lnTo>
                  <a:lnTo>
                    <a:pt x="1487608" y="1713065"/>
                  </a:lnTo>
                  <a:lnTo>
                    <a:pt x="1448902" y="1737427"/>
                  </a:lnTo>
                  <a:lnTo>
                    <a:pt x="1408950" y="1759979"/>
                  </a:lnTo>
                  <a:lnTo>
                    <a:pt x="1367812" y="1780661"/>
                  </a:lnTo>
                  <a:lnTo>
                    <a:pt x="1325546" y="1799415"/>
                  </a:lnTo>
                  <a:lnTo>
                    <a:pt x="1282214" y="1816182"/>
                  </a:lnTo>
                  <a:lnTo>
                    <a:pt x="1237874" y="1830903"/>
                  </a:lnTo>
                  <a:lnTo>
                    <a:pt x="1192586" y="1843521"/>
                  </a:lnTo>
                  <a:lnTo>
                    <a:pt x="1146411" y="1853975"/>
                  </a:lnTo>
                  <a:lnTo>
                    <a:pt x="1099407" y="1862209"/>
                  </a:lnTo>
                  <a:lnTo>
                    <a:pt x="1051635" y="1868162"/>
                  </a:lnTo>
                  <a:lnTo>
                    <a:pt x="1003154" y="1871777"/>
                  </a:lnTo>
                  <a:lnTo>
                    <a:pt x="954024" y="1872996"/>
                  </a:lnTo>
                  <a:lnTo>
                    <a:pt x="904893" y="1871777"/>
                  </a:lnTo>
                  <a:lnTo>
                    <a:pt x="856412" y="1868162"/>
                  </a:lnTo>
                  <a:lnTo>
                    <a:pt x="808640" y="1862209"/>
                  </a:lnTo>
                  <a:lnTo>
                    <a:pt x="761636" y="1853975"/>
                  </a:lnTo>
                  <a:lnTo>
                    <a:pt x="715461" y="1843521"/>
                  </a:lnTo>
                  <a:lnTo>
                    <a:pt x="670173" y="1830903"/>
                  </a:lnTo>
                  <a:lnTo>
                    <a:pt x="625833" y="1816182"/>
                  </a:lnTo>
                  <a:lnTo>
                    <a:pt x="582501" y="1799415"/>
                  </a:lnTo>
                  <a:lnTo>
                    <a:pt x="540235" y="1780661"/>
                  </a:lnTo>
                  <a:lnTo>
                    <a:pt x="499097" y="1759979"/>
                  </a:lnTo>
                  <a:lnTo>
                    <a:pt x="459145" y="1737427"/>
                  </a:lnTo>
                  <a:lnTo>
                    <a:pt x="420439" y="1713065"/>
                  </a:lnTo>
                  <a:lnTo>
                    <a:pt x="383039" y="1686950"/>
                  </a:lnTo>
                  <a:lnTo>
                    <a:pt x="347005" y="1659141"/>
                  </a:lnTo>
                  <a:lnTo>
                    <a:pt x="312396" y="1629696"/>
                  </a:lnTo>
                  <a:lnTo>
                    <a:pt x="279273" y="1598676"/>
                  </a:lnTo>
                  <a:lnTo>
                    <a:pt x="247694" y="1566137"/>
                  </a:lnTo>
                  <a:lnTo>
                    <a:pt x="217719" y="1532138"/>
                  </a:lnTo>
                  <a:lnTo>
                    <a:pt x="189409" y="1496739"/>
                  </a:lnTo>
                  <a:lnTo>
                    <a:pt x="162823" y="1459997"/>
                  </a:lnTo>
                  <a:lnTo>
                    <a:pt x="138021" y="1421972"/>
                  </a:lnTo>
                  <a:lnTo>
                    <a:pt x="115062" y="1382722"/>
                  </a:lnTo>
                  <a:lnTo>
                    <a:pt x="94007" y="1342306"/>
                  </a:lnTo>
                  <a:lnTo>
                    <a:pt x="74914" y="1300781"/>
                  </a:lnTo>
                  <a:lnTo>
                    <a:pt x="57843" y="1258207"/>
                  </a:lnTo>
                  <a:lnTo>
                    <a:pt x="42855" y="1214643"/>
                  </a:lnTo>
                  <a:lnTo>
                    <a:pt x="30009" y="1170147"/>
                  </a:lnTo>
                  <a:lnTo>
                    <a:pt x="19365" y="1124777"/>
                  </a:lnTo>
                  <a:lnTo>
                    <a:pt x="10982" y="1078592"/>
                  </a:lnTo>
                  <a:lnTo>
                    <a:pt x="4921" y="1031652"/>
                  </a:lnTo>
                  <a:lnTo>
                    <a:pt x="1240" y="984013"/>
                  </a:lnTo>
                  <a:lnTo>
                    <a:pt x="0" y="935736"/>
                  </a:lnTo>
                </a:path>
              </a:pathLst>
            </a:custGeom>
            <a:ln w="274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6899" y="2982468"/>
              <a:ext cx="2065020" cy="198729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872995" y="2988564"/>
              <a:ext cx="2056130" cy="1975485"/>
            </a:xfrm>
            <a:custGeom>
              <a:avLst/>
              <a:gdLst/>
              <a:ahLst/>
              <a:cxnLst/>
              <a:rect l="l" t="t" r="r" b="b"/>
              <a:pathLst>
                <a:path w="2056129" h="1975485">
                  <a:moveTo>
                    <a:pt x="0" y="987551"/>
                  </a:moveTo>
                  <a:lnTo>
                    <a:pt x="1185" y="939689"/>
                  </a:lnTo>
                  <a:lnTo>
                    <a:pt x="4705" y="892415"/>
                  </a:lnTo>
                  <a:lnTo>
                    <a:pt x="10506" y="845783"/>
                  </a:lnTo>
                  <a:lnTo>
                    <a:pt x="18534" y="799844"/>
                  </a:lnTo>
                  <a:lnTo>
                    <a:pt x="28735" y="754649"/>
                  </a:lnTo>
                  <a:lnTo>
                    <a:pt x="41055" y="710250"/>
                  </a:lnTo>
                  <a:lnTo>
                    <a:pt x="55440" y="666699"/>
                  </a:lnTo>
                  <a:lnTo>
                    <a:pt x="71836" y="624047"/>
                  </a:lnTo>
                  <a:lnTo>
                    <a:pt x="90189" y="582347"/>
                  </a:lnTo>
                  <a:lnTo>
                    <a:pt x="110445" y="541649"/>
                  </a:lnTo>
                  <a:lnTo>
                    <a:pt x="132550" y="502005"/>
                  </a:lnTo>
                  <a:lnTo>
                    <a:pt x="156451" y="463468"/>
                  </a:lnTo>
                  <a:lnTo>
                    <a:pt x="182092" y="426088"/>
                  </a:lnTo>
                  <a:lnTo>
                    <a:pt x="209421" y="389918"/>
                  </a:lnTo>
                  <a:lnTo>
                    <a:pt x="238382" y="355008"/>
                  </a:lnTo>
                  <a:lnTo>
                    <a:pt x="268923" y="321411"/>
                  </a:lnTo>
                  <a:lnTo>
                    <a:pt x="300989" y="289178"/>
                  </a:lnTo>
                  <a:lnTo>
                    <a:pt x="334527" y="258362"/>
                  </a:lnTo>
                  <a:lnTo>
                    <a:pt x="369482" y="229012"/>
                  </a:lnTo>
                  <a:lnTo>
                    <a:pt x="405800" y="201182"/>
                  </a:lnTo>
                  <a:lnTo>
                    <a:pt x="443427" y="174923"/>
                  </a:lnTo>
                  <a:lnTo>
                    <a:pt x="482310" y="150286"/>
                  </a:lnTo>
                  <a:lnTo>
                    <a:pt x="522394" y="127324"/>
                  </a:lnTo>
                  <a:lnTo>
                    <a:pt x="563626" y="106087"/>
                  </a:lnTo>
                  <a:lnTo>
                    <a:pt x="605951" y="86628"/>
                  </a:lnTo>
                  <a:lnTo>
                    <a:pt x="649315" y="68997"/>
                  </a:lnTo>
                  <a:lnTo>
                    <a:pt x="693665" y="53248"/>
                  </a:lnTo>
                  <a:lnTo>
                    <a:pt x="738947" y="39431"/>
                  </a:lnTo>
                  <a:lnTo>
                    <a:pt x="785106" y="27597"/>
                  </a:lnTo>
                  <a:lnTo>
                    <a:pt x="832089" y="17800"/>
                  </a:lnTo>
                  <a:lnTo>
                    <a:pt x="879841" y="10090"/>
                  </a:lnTo>
                  <a:lnTo>
                    <a:pt x="928309" y="4518"/>
                  </a:lnTo>
                  <a:lnTo>
                    <a:pt x="977438" y="1138"/>
                  </a:lnTo>
                  <a:lnTo>
                    <a:pt x="1027176" y="0"/>
                  </a:lnTo>
                  <a:lnTo>
                    <a:pt x="1077043" y="1138"/>
                  </a:lnTo>
                  <a:lnTo>
                    <a:pt x="1126296" y="4518"/>
                  </a:lnTo>
                  <a:lnTo>
                    <a:pt x="1174879" y="10090"/>
                  </a:lnTo>
                  <a:lnTo>
                    <a:pt x="1222739" y="17800"/>
                  </a:lnTo>
                  <a:lnTo>
                    <a:pt x="1269823" y="27597"/>
                  </a:lnTo>
                  <a:lnTo>
                    <a:pt x="1316077" y="39431"/>
                  </a:lnTo>
                  <a:lnTo>
                    <a:pt x="1361446" y="53248"/>
                  </a:lnTo>
                  <a:lnTo>
                    <a:pt x="1405878" y="68997"/>
                  </a:lnTo>
                  <a:lnTo>
                    <a:pt x="1449318" y="86628"/>
                  </a:lnTo>
                  <a:lnTo>
                    <a:pt x="1491713" y="106087"/>
                  </a:lnTo>
                  <a:lnTo>
                    <a:pt x="1533009" y="127324"/>
                  </a:lnTo>
                  <a:lnTo>
                    <a:pt x="1573152" y="150286"/>
                  </a:lnTo>
                  <a:lnTo>
                    <a:pt x="1612089" y="174923"/>
                  </a:lnTo>
                  <a:lnTo>
                    <a:pt x="1649765" y="201182"/>
                  </a:lnTo>
                  <a:lnTo>
                    <a:pt x="1686127" y="229012"/>
                  </a:lnTo>
                  <a:lnTo>
                    <a:pt x="1721122" y="258362"/>
                  </a:lnTo>
                  <a:lnTo>
                    <a:pt x="1754695" y="289178"/>
                  </a:lnTo>
                  <a:lnTo>
                    <a:pt x="1786793" y="321411"/>
                  </a:lnTo>
                  <a:lnTo>
                    <a:pt x="1817362" y="355008"/>
                  </a:lnTo>
                  <a:lnTo>
                    <a:pt x="1846348" y="389918"/>
                  </a:lnTo>
                  <a:lnTo>
                    <a:pt x="1873698" y="426088"/>
                  </a:lnTo>
                  <a:lnTo>
                    <a:pt x="1899357" y="463468"/>
                  </a:lnTo>
                  <a:lnTo>
                    <a:pt x="1923273" y="502005"/>
                  </a:lnTo>
                  <a:lnTo>
                    <a:pt x="1945391" y="541649"/>
                  </a:lnTo>
                  <a:lnTo>
                    <a:pt x="1965657" y="582347"/>
                  </a:lnTo>
                  <a:lnTo>
                    <a:pt x="1984019" y="624047"/>
                  </a:lnTo>
                  <a:lnTo>
                    <a:pt x="2000421" y="666699"/>
                  </a:lnTo>
                  <a:lnTo>
                    <a:pt x="2014811" y="710250"/>
                  </a:lnTo>
                  <a:lnTo>
                    <a:pt x="2027135" y="754649"/>
                  </a:lnTo>
                  <a:lnTo>
                    <a:pt x="2037338" y="799844"/>
                  </a:lnTo>
                  <a:lnTo>
                    <a:pt x="2045368" y="845783"/>
                  </a:lnTo>
                  <a:lnTo>
                    <a:pt x="2051169" y="892415"/>
                  </a:lnTo>
                  <a:lnTo>
                    <a:pt x="2054690" y="939689"/>
                  </a:lnTo>
                  <a:lnTo>
                    <a:pt x="2055876" y="987551"/>
                  </a:lnTo>
                  <a:lnTo>
                    <a:pt x="2054690" y="1035414"/>
                  </a:lnTo>
                  <a:lnTo>
                    <a:pt x="2051169" y="1082688"/>
                  </a:lnTo>
                  <a:lnTo>
                    <a:pt x="2045368" y="1129320"/>
                  </a:lnTo>
                  <a:lnTo>
                    <a:pt x="2037338" y="1175259"/>
                  </a:lnTo>
                  <a:lnTo>
                    <a:pt x="2027135" y="1220454"/>
                  </a:lnTo>
                  <a:lnTo>
                    <a:pt x="2014811" y="1264853"/>
                  </a:lnTo>
                  <a:lnTo>
                    <a:pt x="2000421" y="1308404"/>
                  </a:lnTo>
                  <a:lnTo>
                    <a:pt x="1984019" y="1351056"/>
                  </a:lnTo>
                  <a:lnTo>
                    <a:pt x="1965657" y="1392756"/>
                  </a:lnTo>
                  <a:lnTo>
                    <a:pt x="1945391" y="1433454"/>
                  </a:lnTo>
                  <a:lnTo>
                    <a:pt x="1923273" y="1473098"/>
                  </a:lnTo>
                  <a:lnTo>
                    <a:pt x="1899357" y="1511635"/>
                  </a:lnTo>
                  <a:lnTo>
                    <a:pt x="1873698" y="1549015"/>
                  </a:lnTo>
                  <a:lnTo>
                    <a:pt x="1846348" y="1585185"/>
                  </a:lnTo>
                  <a:lnTo>
                    <a:pt x="1817362" y="1620095"/>
                  </a:lnTo>
                  <a:lnTo>
                    <a:pt x="1786793" y="1653692"/>
                  </a:lnTo>
                  <a:lnTo>
                    <a:pt x="1754695" y="1685925"/>
                  </a:lnTo>
                  <a:lnTo>
                    <a:pt x="1721122" y="1716741"/>
                  </a:lnTo>
                  <a:lnTo>
                    <a:pt x="1686127" y="1746091"/>
                  </a:lnTo>
                  <a:lnTo>
                    <a:pt x="1649765" y="1773921"/>
                  </a:lnTo>
                  <a:lnTo>
                    <a:pt x="1612089" y="1800180"/>
                  </a:lnTo>
                  <a:lnTo>
                    <a:pt x="1573152" y="1824817"/>
                  </a:lnTo>
                  <a:lnTo>
                    <a:pt x="1533009" y="1847779"/>
                  </a:lnTo>
                  <a:lnTo>
                    <a:pt x="1491713" y="1869016"/>
                  </a:lnTo>
                  <a:lnTo>
                    <a:pt x="1449318" y="1888475"/>
                  </a:lnTo>
                  <a:lnTo>
                    <a:pt x="1405878" y="1906106"/>
                  </a:lnTo>
                  <a:lnTo>
                    <a:pt x="1361446" y="1921855"/>
                  </a:lnTo>
                  <a:lnTo>
                    <a:pt x="1316077" y="1935672"/>
                  </a:lnTo>
                  <a:lnTo>
                    <a:pt x="1269823" y="1947506"/>
                  </a:lnTo>
                  <a:lnTo>
                    <a:pt x="1222739" y="1957303"/>
                  </a:lnTo>
                  <a:lnTo>
                    <a:pt x="1174879" y="1965013"/>
                  </a:lnTo>
                  <a:lnTo>
                    <a:pt x="1126296" y="1970585"/>
                  </a:lnTo>
                  <a:lnTo>
                    <a:pt x="1077043" y="1973965"/>
                  </a:lnTo>
                  <a:lnTo>
                    <a:pt x="1027176" y="1975103"/>
                  </a:lnTo>
                  <a:lnTo>
                    <a:pt x="977438" y="1973965"/>
                  </a:lnTo>
                  <a:lnTo>
                    <a:pt x="928309" y="1970585"/>
                  </a:lnTo>
                  <a:lnTo>
                    <a:pt x="879841" y="1965013"/>
                  </a:lnTo>
                  <a:lnTo>
                    <a:pt x="832089" y="1957303"/>
                  </a:lnTo>
                  <a:lnTo>
                    <a:pt x="785106" y="1947506"/>
                  </a:lnTo>
                  <a:lnTo>
                    <a:pt x="738947" y="1935672"/>
                  </a:lnTo>
                  <a:lnTo>
                    <a:pt x="693665" y="1921855"/>
                  </a:lnTo>
                  <a:lnTo>
                    <a:pt x="649315" y="1906106"/>
                  </a:lnTo>
                  <a:lnTo>
                    <a:pt x="605951" y="1888475"/>
                  </a:lnTo>
                  <a:lnTo>
                    <a:pt x="563626" y="1869016"/>
                  </a:lnTo>
                  <a:lnTo>
                    <a:pt x="522394" y="1847779"/>
                  </a:lnTo>
                  <a:lnTo>
                    <a:pt x="482310" y="1824817"/>
                  </a:lnTo>
                  <a:lnTo>
                    <a:pt x="443427" y="1800180"/>
                  </a:lnTo>
                  <a:lnTo>
                    <a:pt x="405800" y="1773921"/>
                  </a:lnTo>
                  <a:lnTo>
                    <a:pt x="369482" y="1746091"/>
                  </a:lnTo>
                  <a:lnTo>
                    <a:pt x="334527" y="1716741"/>
                  </a:lnTo>
                  <a:lnTo>
                    <a:pt x="300990" y="1685925"/>
                  </a:lnTo>
                  <a:lnTo>
                    <a:pt x="268923" y="1653692"/>
                  </a:lnTo>
                  <a:lnTo>
                    <a:pt x="238382" y="1620095"/>
                  </a:lnTo>
                  <a:lnTo>
                    <a:pt x="209421" y="1585185"/>
                  </a:lnTo>
                  <a:lnTo>
                    <a:pt x="182092" y="1549015"/>
                  </a:lnTo>
                  <a:lnTo>
                    <a:pt x="156451" y="1511635"/>
                  </a:lnTo>
                  <a:lnTo>
                    <a:pt x="132550" y="1473098"/>
                  </a:lnTo>
                  <a:lnTo>
                    <a:pt x="110445" y="1433454"/>
                  </a:lnTo>
                  <a:lnTo>
                    <a:pt x="90189" y="1392756"/>
                  </a:lnTo>
                  <a:lnTo>
                    <a:pt x="71836" y="1351056"/>
                  </a:lnTo>
                  <a:lnTo>
                    <a:pt x="55440" y="1308404"/>
                  </a:lnTo>
                  <a:lnTo>
                    <a:pt x="41055" y="1264853"/>
                  </a:lnTo>
                  <a:lnTo>
                    <a:pt x="28735" y="1220454"/>
                  </a:lnTo>
                  <a:lnTo>
                    <a:pt x="18534" y="1175259"/>
                  </a:lnTo>
                  <a:lnTo>
                    <a:pt x="10506" y="1129320"/>
                  </a:lnTo>
                  <a:lnTo>
                    <a:pt x="4705" y="1082688"/>
                  </a:lnTo>
                  <a:lnTo>
                    <a:pt x="1185" y="1035414"/>
                  </a:lnTo>
                  <a:lnTo>
                    <a:pt x="0" y="987551"/>
                  </a:lnTo>
                </a:path>
              </a:pathLst>
            </a:custGeom>
            <a:ln w="274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63027" y="3515360"/>
            <a:ext cx="834390" cy="728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3500" algn="just">
              <a:lnSpc>
                <a:spcPct val="102699"/>
              </a:lnSpc>
              <a:spcBef>
                <a:spcPts val="85"/>
              </a:spcBef>
            </a:pPr>
            <a:r>
              <a:rPr sz="1500" spc="-10" dirty="0">
                <a:latin typeface="Verdana"/>
                <a:cs typeface="Verdana"/>
              </a:rPr>
              <a:t>Optical Sensors </a:t>
            </a:r>
            <a:r>
              <a:rPr sz="1500" dirty="0">
                <a:latin typeface="Verdana"/>
                <a:cs typeface="Verdana"/>
              </a:rPr>
              <a:t>(Unit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II)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82132" y="5897395"/>
            <a:ext cx="1395095" cy="4946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53365" marR="5080" indent="-241300">
              <a:lnSpc>
                <a:spcPct val="102699"/>
              </a:lnSpc>
              <a:spcBef>
                <a:spcPts val="85"/>
              </a:spcBef>
            </a:pPr>
            <a:r>
              <a:rPr sz="1500" dirty="0">
                <a:latin typeface="Verdana"/>
                <a:cs typeface="Verdana"/>
              </a:rPr>
              <a:t>Micro</a:t>
            </a:r>
            <a:r>
              <a:rPr sz="1500" spc="6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Sensors </a:t>
            </a:r>
            <a:r>
              <a:rPr sz="1500" dirty="0">
                <a:latin typeface="Verdana"/>
                <a:cs typeface="Verdana"/>
              </a:rPr>
              <a:t>(Unit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III)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17823" y="5897395"/>
            <a:ext cx="960119" cy="728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indent="635" algn="ctr">
              <a:lnSpc>
                <a:spcPct val="102699"/>
              </a:lnSpc>
              <a:spcBef>
                <a:spcPts val="85"/>
              </a:spcBef>
            </a:pPr>
            <a:r>
              <a:rPr sz="1500" spc="-10" dirty="0">
                <a:latin typeface="Verdana"/>
                <a:cs typeface="Verdana"/>
              </a:rPr>
              <a:t>Micro Actuators </a:t>
            </a:r>
            <a:r>
              <a:rPr sz="1500" dirty="0">
                <a:latin typeface="Verdana"/>
                <a:cs typeface="Verdana"/>
              </a:rPr>
              <a:t>(Unit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IV)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53260" y="3500120"/>
            <a:ext cx="1625600" cy="11988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635" algn="ctr">
              <a:lnSpc>
                <a:spcPct val="102699"/>
              </a:lnSpc>
              <a:spcBef>
                <a:spcPts val="85"/>
              </a:spcBef>
            </a:pPr>
            <a:r>
              <a:rPr sz="1500" dirty="0">
                <a:latin typeface="Verdana"/>
                <a:cs typeface="Verdana"/>
              </a:rPr>
              <a:t>Packaging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and </a:t>
            </a:r>
            <a:r>
              <a:rPr sz="1500" spc="-10" dirty="0">
                <a:latin typeface="Verdana"/>
                <a:cs typeface="Verdana"/>
              </a:rPr>
              <a:t>Characterization </a:t>
            </a:r>
            <a:r>
              <a:rPr sz="1500" dirty="0">
                <a:latin typeface="Verdana"/>
                <a:cs typeface="Verdana"/>
              </a:rPr>
              <a:t>of</a:t>
            </a:r>
            <a:r>
              <a:rPr sz="1500" spc="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MEMS</a:t>
            </a:r>
            <a:r>
              <a:rPr sz="1500" spc="65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&amp; </a:t>
            </a:r>
            <a:r>
              <a:rPr sz="1500" spc="-20" dirty="0">
                <a:latin typeface="Verdana"/>
                <a:cs typeface="Verdana"/>
              </a:rPr>
              <a:t>NEMS</a:t>
            </a:r>
            <a:endParaRPr sz="15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500" dirty="0">
                <a:latin typeface="Verdana"/>
                <a:cs typeface="Verdana"/>
              </a:rPr>
              <a:t>(Unit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V)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80460" y="3683078"/>
            <a:ext cx="1774825" cy="163512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3170"/>
              </a:lnSpc>
              <a:spcBef>
                <a:spcPts val="190"/>
              </a:spcBef>
            </a:pPr>
            <a:r>
              <a:rPr sz="2650" spc="-20" dirty="0">
                <a:latin typeface="Arial"/>
                <a:cs typeface="Arial"/>
              </a:rPr>
              <a:t>Introduction </a:t>
            </a:r>
            <a:r>
              <a:rPr sz="2650" dirty="0">
                <a:latin typeface="Arial"/>
                <a:cs typeface="Arial"/>
              </a:rPr>
              <a:t>to</a:t>
            </a:r>
            <a:r>
              <a:rPr sz="2650" spc="-35" dirty="0">
                <a:latin typeface="Arial"/>
                <a:cs typeface="Arial"/>
              </a:rPr>
              <a:t> </a:t>
            </a:r>
            <a:r>
              <a:rPr sz="2650" spc="-10" dirty="0">
                <a:latin typeface="Arial"/>
                <a:cs typeface="Arial"/>
              </a:rPr>
              <a:t>Sensors </a:t>
            </a:r>
            <a:r>
              <a:rPr sz="2650" spc="-25" dirty="0">
                <a:latin typeface="Arial"/>
                <a:cs typeface="Arial"/>
              </a:rPr>
              <a:t>and </a:t>
            </a:r>
            <a:r>
              <a:rPr sz="2650" spc="-10" dirty="0">
                <a:latin typeface="Arial"/>
                <a:cs typeface="Arial"/>
              </a:rPr>
              <a:t>Actuators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76939" y="426127"/>
            <a:ext cx="27031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Preamble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9317" y="1719281"/>
            <a:ext cx="921258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889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109980" algn="l"/>
                <a:tab pos="2272665" algn="l"/>
                <a:tab pos="2643505" algn="l"/>
                <a:tab pos="4147185" algn="l"/>
                <a:tab pos="4576445" algn="l"/>
                <a:tab pos="5179060" algn="l"/>
                <a:tab pos="6765925" algn="l"/>
                <a:tab pos="8930005" algn="l"/>
              </a:tabLst>
            </a:pP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subject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dedicated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study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understanding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various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sensors</a:t>
            </a:r>
            <a:r>
              <a:rPr sz="2200" b="1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b="1" spc="-10" dirty="0">
                <a:latin typeface="Verdana"/>
                <a:cs typeface="Verdana"/>
              </a:rPr>
              <a:t>actuators</a:t>
            </a:r>
            <a:r>
              <a:rPr sz="2200" spc="-1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934085" algn="l"/>
                <a:tab pos="2150110" algn="l"/>
                <a:tab pos="2917190" algn="l"/>
                <a:tab pos="5343525" algn="l"/>
                <a:tab pos="7083425" algn="l"/>
                <a:tab pos="7914640" algn="l"/>
              </a:tabLst>
            </a:pPr>
            <a:r>
              <a:rPr sz="2200" spc="-25" dirty="0">
                <a:latin typeface="Verdana"/>
                <a:cs typeface="Verdana"/>
              </a:rPr>
              <a:t>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covers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characteristics,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operation,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real-</a:t>
            </a:r>
            <a:r>
              <a:rPr sz="2200" spc="-20" dirty="0">
                <a:latin typeface="Verdana"/>
                <a:cs typeface="Verdana"/>
              </a:rPr>
              <a:t>time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micro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actuators.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course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also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delves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characterization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available </a:t>
            </a:r>
            <a:r>
              <a:rPr sz="2200" dirty="0">
                <a:latin typeface="Verdana"/>
                <a:cs typeface="Verdana"/>
              </a:rPr>
              <a:t>packaging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techniques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MEMS/NEMS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devices.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69979" y="426127"/>
            <a:ext cx="51168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5568" y="1692046"/>
            <a:ext cx="9044940" cy="3546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spc="-55" dirty="0">
                <a:latin typeface="Verdana"/>
                <a:cs typeface="Verdana"/>
              </a:rPr>
              <a:t>To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study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actuators.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spc="-35" dirty="0">
                <a:latin typeface="Verdana"/>
                <a:cs typeface="Verdana"/>
              </a:rPr>
              <a:t>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knowledge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optical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practical applications.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889635" algn="l"/>
                <a:tab pos="2665730" algn="l"/>
                <a:tab pos="3307715" algn="l"/>
                <a:tab pos="4408805" algn="l"/>
                <a:tab pos="5828665" algn="l"/>
                <a:tab pos="6285865" algn="l"/>
                <a:tab pos="7256780" algn="l"/>
                <a:tab pos="8511540" algn="l"/>
              </a:tabLst>
            </a:pP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understand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design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concepts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micro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micro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actuators.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009650" algn="l"/>
                <a:tab pos="2903220" algn="l"/>
                <a:tab pos="3664585" algn="l"/>
                <a:tab pos="5393690" algn="l"/>
                <a:tab pos="6219190" algn="l"/>
                <a:tab pos="8762365" algn="l"/>
              </a:tabLst>
            </a:pP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understand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packaging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characterization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spc="-10" dirty="0">
                <a:latin typeface="Verdana"/>
                <a:cs typeface="Verdana"/>
              </a:rPr>
              <a:t>MEMS/NEMS.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10310" y="426127"/>
            <a:ext cx="16383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Unit</a:t>
            </a:r>
            <a:r>
              <a:rPr spc="-20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2253" y="1212363"/>
            <a:ext cx="9512935" cy="6207125"/>
          </a:xfrm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Strain,</a:t>
            </a:r>
            <a:r>
              <a:rPr sz="3050" b="1" spc="10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Pressure,</a:t>
            </a:r>
            <a:r>
              <a:rPr sz="3050" b="1" spc="10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and</a:t>
            </a:r>
            <a:r>
              <a:rPr sz="3050" b="1" spc="14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Temperature</a:t>
            </a:r>
            <a:r>
              <a:rPr sz="3050" b="1" spc="9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spc="-10" dirty="0">
                <a:solidFill>
                  <a:srgbClr val="00AF50"/>
                </a:solidFill>
                <a:latin typeface="Verdana"/>
                <a:cs typeface="Verdana"/>
              </a:rPr>
              <a:t>Sensors</a:t>
            </a:r>
            <a:endParaRPr sz="3050">
              <a:latin typeface="Verdana"/>
              <a:cs typeface="Verdana"/>
            </a:endParaRPr>
          </a:p>
          <a:p>
            <a:pPr marL="330835">
              <a:lnSpc>
                <a:spcPct val="100000"/>
              </a:lnSpc>
              <a:spcBef>
                <a:spcPts val="1360"/>
              </a:spcBef>
            </a:pPr>
            <a:r>
              <a:rPr sz="1950" b="1" dirty="0">
                <a:latin typeface="Verdana"/>
                <a:cs typeface="Verdana"/>
              </a:rPr>
              <a:t>Focus:</a:t>
            </a:r>
            <a:r>
              <a:rPr sz="1950" b="1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Measurement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fundamental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physical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variables</a:t>
            </a:r>
            <a:endParaRPr sz="1950">
              <a:latin typeface="Verdana"/>
              <a:cs typeface="Verdana"/>
            </a:endParaRPr>
          </a:p>
          <a:p>
            <a:pPr marL="330835">
              <a:lnSpc>
                <a:spcPct val="100000"/>
              </a:lnSpc>
              <a:spcBef>
                <a:spcPts val="1225"/>
              </a:spcBef>
            </a:pPr>
            <a:r>
              <a:rPr sz="1950" b="1" dirty="0">
                <a:latin typeface="Verdana"/>
                <a:cs typeface="Verdana"/>
              </a:rPr>
              <a:t>Key</a:t>
            </a:r>
            <a:r>
              <a:rPr sz="1950" b="1" spc="50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Topics:</a:t>
            </a:r>
            <a:endParaRPr sz="1950">
              <a:latin typeface="Verdana"/>
              <a:cs typeface="Verdana"/>
            </a:endParaRPr>
          </a:p>
          <a:p>
            <a:pPr marL="643890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643890" algn="l"/>
              </a:tabLst>
            </a:pPr>
            <a:r>
              <a:rPr sz="1950" b="1" dirty="0">
                <a:latin typeface="Verdana"/>
                <a:cs typeface="Verdana"/>
              </a:rPr>
              <a:t>Introduction</a:t>
            </a:r>
            <a:r>
              <a:rPr sz="1950" b="1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(to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unit's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concepts)</a:t>
            </a:r>
            <a:endParaRPr sz="1950">
              <a:latin typeface="Verdana"/>
              <a:cs typeface="Verdana"/>
            </a:endParaRPr>
          </a:p>
          <a:p>
            <a:pPr marL="643890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643890" algn="l"/>
              </a:tabLst>
            </a:pPr>
            <a:r>
              <a:rPr sz="1950" b="1" dirty="0">
                <a:latin typeface="Verdana"/>
                <a:cs typeface="Verdana"/>
              </a:rPr>
              <a:t>Stress</a:t>
            </a:r>
            <a:r>
              <a:rPr sz="1950" b="1" spc="45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&amp;</a:t>
            </a:r>
            <a:r>
              <a:rPr sz="1950" b="1" spc="45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Pressure</a:t>
            </a:r>
            <a:r>
              <a:rPr sz="1950" b="1" spc="65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Sensors: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dirty="0">
                <a:latin typeface="Verdana"/>
                <a:cs typeface="Verdana"/>
              </a:rPr>
              <a:t>Resistive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gauge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0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dirty="0">
                <a:latin typeface="Verdana"/>
                <a:cs typeface="Verdana"/>
              </a:rPr>
              <a:t>Piezoelectric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strain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spc="-10" dirty="0">
                <a:latin typeface="Verdana"/>
                <a:cs typeface="Verdana"/>
              </a:rPr>
              <a:t>Fiber-</a:t>
            </a:r>
            <a:r>
              <a:rPr sz="1950" dirty="0">
                <a:latin typeface="Verdana"/>
                <a:cs typeface="Verdana"/>
              </a:rPr>
              <a:t>optic</a:t>
            </a:r>
            <a:r>
              <a:rPr sz="1950" spc="1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gauges</a:t>
            </a:r>
            <a:endParaRPr sz="1950">
              <a:latin typeface="Verdana"/>
              <a:cs typeface="Verdana"/>
            </a:endParaRPr>
          </a:p>
          <a:p>
            <a:pPr marL="643890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643890" algn="l"/>
              </a:tabLst>
            </a:pPr>
            <a:r>
              <a:rPr sz="1950" b="1" dirty="0">
                <a:latin typeface="Verdana"/>
                <a:cs typeface="Verdana"/>
              </a:rPr>
              <a:t>Temperature</a:t>
            </a:r>
            <a:r>
              <a:rPr sz="1950" b="1" spc="140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Sensors: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dirty="0">
                <a:latin typeface="Verdana"/>
                <a:cs typeface="Verdana"/>
              </a:rPr>
              <a:t>Bimetallic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strip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0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dirty="0">
                <a:latin typeface="Verdana"/>
                <a:cs typeface="Verdana"/>
              </a:rPr>
              <a:t>Thermocouples,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Resistance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thermometers,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Thermistors</a:t>
            </a:r>
            <a:endParaRPr sz="1950">
              <a:latin typeface="Verdana"/>
              <a:cs typeface="Verdana"/>
            </a:endParaRPr>
          </a:p>
          <a:p>
            <a:pPr marL="1147445" lvl="1" indent="-31369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1147445" algn="l"/>
              </a:tabLst>
            </a:pPr>
            <a:r>
              <a:rPr sz="1950" dirty="0">
                <a:latin typeface="Verdana"/>
                <a:cs typeface="Verdana"/>
              </a:rPr>
              <a:t>Pyroelectric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detector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71565" y="426127"/>
            <a:ext cx="19145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Unit</a:t>
            </a:r>
            <a:r>
              <a:rPr spc="-20" dirty="0"/>
              <a:t> </a:t>
            </a:r>
            <a:r>
              <a:rPr spc="-25" dirty="0"/>
              <a:t>II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36530" y="1442664"/>
            <a:ext cx="3449954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Optical</a:t>
            </a:r>
            <a:r>
              <a:rPr sz="3050" b="1" spc="8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spc="-10" dirty="0">
                <a:solidFill>
                  <a:srgbClr val="00AF50"/>
                </a:solidFill>
                <a:latin typeface="Verdana"/>
                <a:cs typeface="Verdana"/>
              </a:rPr>
              <a:t>Sensors</a:t>
            </a:r>
            <a:endParaRPr sz="30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465" y="2207651"/>
            <a:ext cx="8865235" cy="455231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1950" b="1" dirty="0">
                <a:latin typeface="Verdana"/>
                <a:cs typeface="Verdana"/>
              </a:rPr>
              <a:t>Focus:</a:t>
            </a:r>
            <a:r>
              <a:rPr sz="1950" b="1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Sensing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based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on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light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optical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properties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950" b="1" dirty="0">
                <a:latin typeface="Verdana"/>
                <a:cs typeface="Verdana"/>
              </a:rPr>
              <a:t>Key</a:t>
            </a:r>
            <a:r>
              <a:rPr sz="1950" b="1" spc="50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Topics:</a:t>
            </a:r>
            <a:endParaRPr sz="19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Color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temperature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light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flux</a:t>
            </a:r>
            <a:endParaRPr sz="19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b="1" dirty="0">
                <a:latin typeface="Verdana"/>
                <a:cs typeface="Verdana"/>
              </a:rPr>
              <a:t>Photosensors</a:t>
            </a:r>
            <a:r>
              <a:rPr sz="1950" b="1" spc="105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and</a:t>
            </a:r>
            <a:r>
              <a:rPr sz="1950" b="1" spc="85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Devices:</a:t>
            </a:r>
            <a:endParaRPr sz="19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93444" algn="l"/>
              </a:tabLst>
            </a:pPr>
            <a:r>
              <a:rPr sz="1950" spc="-10" dirty="0">
                <a:latin typeface="Verdana"/>
                <a:cs typeface="Verdana"/>
              </a:rPr>
              <a:t>Photomultiplier</a:t>
            </a:r>
            <a:endParaRPr sz="19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220"/>
              </a:spcBef>
              <a:buFont typeface="Wingdings"/>
              <a:buChar char=""/>
              <a:tabLst>
                <a:tab pos="893444" algn="l"/>
              </a:tabLst>
            </a:pPr>
            <a:r>
              <a:rPr sz="1950" dirty="0">
                <a:latin typeface="Verdana"/>
                <a:cs typeface="Verdana"/>
              </a:rPr>
              <a:t>Photo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resistor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Photoconductors</a:t>
            </a:r>
            <a:endParaRPr sz="19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93444" algn="l"/>
              </a:tabLst>
            </a:pPr>
            <a:r>
              <a:rPr sz="1950" dirty="0">
                <a:latin typeface="Verdana"/>
                <a:cs typeface="Verdana"/>
              </a:rPr>
              <a:t>Photodiodes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Phototransistors</a:t>
            </a:r>
            <a:endParaRPr sz="19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93444" algn="l"/>
              </a:tabLst>
            </a:pPr>
            <a:r>
              <a:rPr sz="1950" dirty="0">
                <a:latin typeface="Verdana"/>
                <a:cs typeface="Verdana"/>
              </a:rPr>
              <a:t>Photovoltaic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devices</a:t>
            </a:r>
            <a:endParaRPr sz="19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spc="-10" dirty="0">
                <a:latin typeface="Verdana"/>
                <a:cs typeface="Verdana"/>
              </a:rPr>
              <a:t>Fiber-</a:t>
            </a:r>
            <a:r>
              <a:rPr sz="1950" dirty="0">
                <a:latin typeface="Verdana"/>
                <a:cs typeface="Verdana"/>
              </a:rPr>
              <a:t>optic</a:t>
            </a:r>
            <a:r>
              <a:rPr sz="1950" spc="1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applications</a:t>
            </a:r>
            <a:endParaRPr sz="19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dirty="0">
                <a:latin typeface="Verdana"/>
                <a:cs typeface="Verdana"/>
              </a:rPr>
              <a:t>Light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transducer,</a:t>
            </a:r>
            <a:r>
              <a:rPr sz="1950" spc="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solid-state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transducers,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liquid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crystal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devices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36012" y="426127"/>
            <a:ext cx="21863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Unit</a:t>
            </a:r>
            <a:r>
              <a:rPr spc="-20" dirty="0"/>
              <a:t> </a:t>
            </a:r>
            <a:r>
              <a:rPr spc="-25" dirty="0"/>
              <a:t>III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8620" y="1441134"/>
            <a:ext cx="8512175" cy="5234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9075" algn="ctr">
              <a:lnSpc>
                <a:spcPct val="100000"/>
              </a:lnSpc>
              <a:spcBef>
                <a:spcPts val="130"/>
              </a:spcBef>
            </a:pP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Micro</a:t>
            </a:r>
            <a:r>
              <a:rPr sz="3050" b="1" spc="3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spc="-10" dirty="0">
                <a:solidFill>
                  <a:srgbClr val="00AF50"/>
                </a:solidFill>
                <a:latin typeface="Verdana"/>
                <a:cs typeface="Verdana"/>
              </a:rPr>
              <a:t>Sensors</a:t>
            </a:r>
            <a:endParaRPr sz="3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905"/>
              </a:spcBef>
            </a:pPr>
            <a:r>
              <a:rPr sz="1950" b="1" dirty="0">
                <a:latin typeface="Verdana"/>
                <a:cs typeface="Verdana"/>
              </a:rPr>
              <a:t>Focus:</a:t>
            </a:r>
            <a:r>
              <a:rPr sz="1950" b="1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Understanding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miniaturized</a:t>
            </a:r>
            <a:r>
              <a:rPr sz="1950" spc="1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sensing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devices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(MEMS/NEMS)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950" b="1" dirty="0">
                <a:latin typeface="Verdana"/>
                <a:cs typeface="Verdana"/>
              </a:rPr>
              <a:t>Key</a:t>
            </a:r>
            <a:r>
              <a:rPr sz="1950" b="1" spc="50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Topics: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Acoustic</a:t>
            </a:r>
            <a:r>
              <a:rPr sz="1950" b="1" spc="95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Sensors:</a:t>
            </a:r>
            <a:endParaRPr sz="1950">
              <a:latin typeface="Verdana"/>
              <a:cs typeface="Verdana"/>
            </a:endParaRPr>
          </a:p>
          <a:p>
            <a:pPr marL="829310" lvl="1" indent="-314325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29310" algn="l"/>
              </a:tabLst>
            </a:pPr>
            <a:r>
              <a:rPr sz="1950" dirty="0">
                <a:latin typeface="Verdana"/>
                <a:cs typeface="Verdana"/>
              </a:rPr>
              <a:t>Quartz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crystal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microbalance</a:t>
            </a:r>
            <a:endParaRPr sz="1950">
              <a:latin typeface="Verdana"/>
              <a:cs typeface="Verdana"/>
            </a:endParaRPr>
          </a:p>
          <a:p>
            <a:pPr marL="829310" lvl="1" indent="-314325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29310" algn="l"/>
              </a:tabLst>
            </a:pPr>
            <a:r>
              <a:rPr sz="1950" dirty="0">
                <a:latin typeface="Verdana"/>
                <a:cs typeface="Verdana"/>
              </a:rPr>
              <a:t>Surface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acoustic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wave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(SAW)</a:t>
            </a:r>
            <a:endParaRPr sz="1950">
              <a:latin typeface="Verdana"/>
              <a:cs typeface="Verdana"/>
            </a:endParaRPr>
          </a:p>
          <a:p>
            <a:pPr marL="829310" lvl="1" indent="-314325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29310" algn="l"/>
              </a:tabLst>
            </a:pPr>
            <a:r>
              <a:rPr sz="1950" dirty="0">
                <a:latin typeface="Verdana"/>
                <a:cs typeface="Verdana"/>
              </a:rPr>
              <a:t>Flexural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plate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wave,</a:t>
            </a:r>
            <a:r>
              <a:rPr sz="1950" spc="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shear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horizontal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0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Vibratory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gyroscope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Pressure</a:t>
            </a:r>
            <a:r>
              <a:rPr sz="1950" b="1" spc="75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Sensors:</a:t>
            </a:r>
            <a:endParaRPr sz="1950">
              <a:latin typeface="Verdana"/>
              <a:cs typeface="Verdana"/>
            </a:endParaRPr>
          </a:p>
          <a:p>
            <a:pPr marL="829310" lvl="1" indent="-314325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29310" algn="l"/>
              </a:tabLst>
            </a:pPr>
            <a:r>
              <a:rPr sz="1950" dirty="0">
                <a:latin typeface="Verdana"/>
                <a:cs typeface="Verdana"/>
              </a:rPr>
              <a:t>Capacitive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sensors</a:t>
            </a:r>
            <a:endParaRPr sz="1950">
              <a:latin typeface="Verdana"/>
              <a:cs typeface="Verdana"/>
            </a:endParaRPr>
          </a:p>
          <a:p>
            <a:pPr marL="829310" lvl="1" indent="-314325">
              <a:lnSpc>
                <a:spcPct val="100000"/>
              </a:lnSpc>
              <a:spcBef>
                <a:spcPts val="1225"/>
              </a:spcBef>
              <a:buFont typeface="Wingdings"/>
              <a:buChar char=""/>
              <a:tabLst>
                <a:tab pos="829310" algn="l"/>
              </a:tabLst>
            </a:pPr>
            <a:r>
              <a:rPr sz="1950" dirty="0">
                <a:latin typeface="Verdana"/>
                <a:cs typeface="Verdana"/>
              </a:rPr>
              <a:t>Piezoresistive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sensors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18277" y="426127"/>
            <a:ext cx="20243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Unit</a:t>
            </a:r>
            <a:r>
              <a:rPr spc="-20" dirty="0"/>
              <a:t> </a:t>
            </a:r>
            <a:r>
              <a:rPr spc="-25" dirty="0"/>
              <a:t>IV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5224" y="1526620"/>
            <a:ext cx="8482330" cy="5092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8985" algn="ctr">
              <a:lnSpc>
                <a:spcPct val="100000"/>
              </a:lnSpc>
              <a:spcBef>
                <a:spcPts val="130"/>
              </a:spcBef>
            </a:pP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Micro</a:t>
            </a:r>
            <a:r>
              <a:rPr sz="3050" b="1" spc="3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spc="-10" dirty="0">
                <a:solidFill>
                  <a:srgbClr val="00AF50"/>
                </a:solidFill>
                <a:latin typeface="Verdana"/>
                <a:cs typeface="Verdana"/>
              </a:rPr>
              <a:t>Actuators</a:t>
            </a:r>
            <a:endParaRPr sz="3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1950" b="1" dirty="0">
                <a:latin typeface="Verdana"/>
                <a:cs typeface="Verdana"/>
              </a:rPr>
              <a:t>Focus:</a:t>
            </a:r>
            <a:r>
              <a:rPr sz="1950" b="1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Understanding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miniaturized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motion-generating</a:t>
            </a:r>
            <a:r>
              <a:rPr sz="1950" spc="13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devices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950" b="1" dirty="0">
                <a:latin typeface="Verdana"/>
                <a:cs typeface="Verdana"/>
              </a:rPr>
              <a:t>Key</a:t>
            </a:r>
            <a:r>
              <a:rPr sz="1950" b="1" spc="55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Actuator</a:t>
            </a:r>
            <a:r>
              <a:rPr sz="1950" b="1" spc="85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Principles:</a:t>
            </a:r>
            <a:endParaRPr sz="1950">
              <a:latin typeface="Verdana"/>
              <a:cs typeface="Verdana"/>
            </a:endParaRPr>
          </a:p>
          <a:p>
            <a:pPr marL="325120" marR="5080" indent="-313055">
              <a:lnSpc>
                <a:spcPct val="152300"/>
              </a:lnSpc>
              <a:buFont typeface="Wingdings"/>
              <a:buChar char=""/>
              <a:tabLst>
                <a:tab pos="326390" algn="l"/>
              </a:tabLst>
            </a:pPr>
            <a:r>
              <a:rPr sz="1950" b="1" dirty="0">
                <a:latin typeface="Verdana"/>
                <a:cs typeface="Verdana"/>
              </a:rPr>
              <a:t>Electrostatic</a:t>
            </a:r>
            <a:r>
              <a:rPr sz="1950" b="1" spc="5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Actuators:</a:t>
            </a:r>
            <a:r>
              <a:rPr sz="1950" b="1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Parallel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plate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capacitor,</a:t>
            </a:r>
            <a:r>
              <a:rPr sz="1950" spc="1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Interdigitated 	</a:t>
            </a:r>
            <a:r>
              <a:rPr sz="1950" dirty="0">
                <a:latin typeface="Verdana"/>
                <a:cs typeface="Verdana"/>
              </a:rPr>
              <a:t>finger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capacitors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Piezoelectric</a:t>
            </a:r>
            <a:r>
              <a:rPr sz="1950" b="1" spc="155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Actuators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0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b="1" dirty="0">
                <a:latin typeface="Verdana"/>
                <a:cs typeface="Verdana"/>
              </a:rPr>
              <a:t>Thermal</a:t>
            </a:r>
            <a:r>
              <a:rPr sz="1950" b="1" spc="70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Actuators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Actuators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using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shape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memory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alloys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(SMA)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spc="-10" dirty="0">
                <a:latin typeface="Verdana"/>
                <a:cs typeface="Verdana"/>
              </a:rPr>
              <a:t>Microgrippers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spc="-10" dirty="0">
                <a:latin typeface="Verdana"/>
                <a:cs typeface="Verdana"/>
              </a:rPr>
              <a:t>Micromotors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Microvalves,</a:t>
            </a:r>
            <a:r>
              <a:rPr sz="1950" spc="1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Micropumps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3830" y="426127"/>
            <a:ext cx="1747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Unit</a:t>
            </a:r>
            <a:r>
              <a:rPr spc="-20" dirty="0"/>
              <a:t> </a:t>
            </a:r>
            <a:r>
              <a:rPr spc="-50" dirty="0"/>
              <a:t>V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7024" y="1412256"/>
            <a:ext cx="8227059" cy="5801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4665" marR="5080" indent="-2372995">
              <a:lnSpc>
                <a:spcPct val="101000"/>
              </a:lnSpc>
              <a:spcBef>
                <a:spcPts val="95"/>
              </a:spcBef>
            </a:pP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Packaging</a:t>
            </a:r>
            <a:r>
              <a:rPr sz="3050" b="1" spc="114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and</a:t>
            </a:r>
            <a:r>
              <a:rPr sz="3050" b="1" spc="114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dirty="0">
                <a:solidFill>
                  <a:srgbClr val="00AF50"/>
                </a:solidFill>
                <a:latin typeface="Verdana"/>
                <a:cs typeface="Verdana"/>
              </a:rPr>
              <a:t>Characterization</a:t>
            </a:r>
            <a:r>
              <a:rPr sz="3050" b="1" spc="10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3050" b="1" spc="-25" dirty="0">
                <a:solidFill>
                  <a:srgbClr val="00AF50"/>
                </a:solidFill>
                <a:latin typeface="Verdana"/>
                <a:cs typeface="Verdana"/>
              </a:rPr>
              <a:t>of </a:t>
            </a:r>
            <a:r>
              <a:rPr sz="3050" b="1" spc="-10" dirty="0">
                <a:solidFill>
                  <a:srgbClr val="00AF50"/>
                </a:solidFill>
                <a:latin typeface="Verdana"/>
                <a:cs typeface="Verdana"/>
              </a:rPr>
              <a:t>MEMS/NEMS</a:t>
            </a:r>
            <a:endParaRPr sz="30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b="1" dirty="0">
                <a:latin typeface="Verdana"/>
                <a:cs typeface="Verdana"/>
              </a:rPr>
              <a:t>Focus:</a:t>
            </a:r>
            <a:r>
              <a:rPr sz="1950" b="1" spc="9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Post-</a:t>
            </a:r>
            <a:r>
              <a:rPr sz="1950" dirty="0">
                <a:latin typeface="Verdana"/>
                <a:cs typeface="Verdana"/>
              </a:rPr>
              <a:t>manufacturing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processes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micro/nano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systems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950" b="1" spc="-10" dirty="0">
                <a:latin typeface="Verdana"/>
                <a:cs typeface="Verdana"/>
              </a:rPr>
              <a:t>Packaging: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Micro/nano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systems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packaging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0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Essential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packaging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technologies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Selection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packaging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materials</a:t>
            </a:r>
            <a:endParaRPr sz="1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950" b="1" dirty="0">
                <a:latin typeface="Verdana"/>
                <a:cs typeface="Verdana"/>
              </a:rPr>
              <a:t>Nano</a:t>
            </a:r>
            <a:r>
              <a:rPr sz="1950" b="1" spc="6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Material</a:t>
            </a:r>
            <a:r>
              <a:rPr sz="1950" b="1" spc="100" dirty="0">
                <a:latin typeface="Verdana"/>
                <a:cs typeface="Verdana"/>
              </a:rPr>
              <a:t> </a:t>
            </a:r>
            <a:r>
              <a:rPr sz="1950" b="1" dirty="0">
                <a:latin typeface="Verdana"/>
                <a:cs typeface="Verdana"/>
              </a:rPr>
              <a:t>Characterization</a:t>
            </a:r>
            <a:r>
              <a:rPr sz="1950" b="1" spc="140" dirty="0">
                <a:latin typeface="Verdana"/>
                <a:cs typeface="Verdana"/>
              </a:rPr>
              <a:t> </a:t>
            </a:r>
            <a:r>
              <a:rPr sz="1950" b="1" spc="-10" dirty="0">
                <a:latin typeface="Verdana"/>
                <a:cs typeface="Verdana"/>
              </a:rPr>
              <a:t>Techniques: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Scanning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Electron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Microscopy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(SEM)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Transmission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Electron</a:t>
            </a:r>
            <a:r>
              <a:rPr sz="1950" spc="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Microscopy</a:t>
            </a:r>
            <a:r>
              <a:rPr sz="1950" spc="-2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(TEM)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0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Atomic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Force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Microscopy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(AFM)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dirty="0">
                <a:latin typeface="Verdana"/>
                <a:cs typeface="Verdana"/>
              </a:rPr>
              <a:t>Scanning</a:t>
            </a:r>
            <a:r>
              <a:rPr sz="1950" spc="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Tunneling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Microscopy</a:t>
            </a:r>
            <a:r>
              <a:rPr sz="1950" spc="-10" dirty="0">
                <a:latin typeface="Verdana"/>
                <a:cs typeface="Verdana"/>
              </a:rPr>
              <a:t> (STM)</a:t>
            </a:r>
            <a:endParaRPr sz="1950">
              <a:latin typeface="Verdana"/>
              <a:cs typeface="Verdana"/>
            </a:endParaRPr>
          </a:p>
          <a:p>
            <a:pPr marL="325755" indent="-313055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25755" algn="l"/>
              </a:tabLst>
            </a:pPr>
            <a:r>
              <a:rPr sz="1950" spc="-35" dirty="0">
                <a:latin typeface="Verdana"/>
                <a:cs typeface="Verdana"/>
              </a:rPr>
              <a:t>X-</a:t>
            </a:r>
            <a:r>
              <a:rPr sz="1950" dirty="0">
                <a:latin typeface="Verdana"/>
                <a:cs typeface="Verdana"/>
              </a:rPr>
              <a:t>Ray</a:t>
            </a:r>
            <a:r>
              <a:rPr sz="1950" spc="-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Diffraction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(XRD)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46104" y="426127"/>
            <a:ext cx="49663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Course</a:t>
            </a:r>
            <a:r>
              <a:rPr spc="-10" dirty="0"/>
              <a:t> Outcomes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715">
              <a:lnSpc>
                <a:spcPct val="153100"/>
              </a:lnSpc>
              <a:spcBef>
                <a:spcPts val="90"/>
              </a:spcBef>
              <a:tabLst>
                <a:tab pos="925830" algn="l"/>
                <a:tab pos="2601595" algn="l"/>
                <a:tab pos="4399915" algn="l"/>
                <a:tab pos="4831715" algn="l"/>
                <a:tab pos="5532120" algn="l"/>
                <a:tab pos="6762115" algn="l"/>
                <a:tab pos="7390765" algn="l"/>
                <a:tab pos="8669020" algn="l"/>
              </a:tabLst>
            </a:pPr>
            <a:r>
              <a:rPr spc="-20" dirty="0"/>
              <a:t>Upon</a:t>
            </a:r>
            <a:r>
              <a:rPr dirty="0"/>
              <a:t>	</a:t>
            </a:r>
            <a:r>
              <a:rPr spc="-10" dirty="0"/>
              <a:t>successful</a:t>
            </a:r>
            <a:r>
              <a:rPr dirty="0"/>
              <a:t>	</a:t>
            </a:r>
            <a:r>
              <a:rPr spc="-10" dirty="0"/>
              <a:t>completion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0" dirty="0"/>
              <a:t>this</a:t>
            </a:r>
            <a:r>
              <a:rPr dirty="0"/>
              <a:t>	</a:t>
            </a:r>
            <a:r>
              <a:rPr spc="-10" dirty="0"/>
              <a:t>course,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student</a:t>
            </a:r>
            <a:r>
              <a:rPr dirty="0"/>
              <a:t>	</a:t>
            </a:r>
            <a:r>
              <a:rPr spc="-20" dirty="0"/>
              <a:t>will </a:t>
            </a:r>
            <a:r>
              <a:rPr dirty="0"/>
              <a:t>be</a:t>
            </a:r>
            <a:r>
              <a:rPr spc="45" dirty="0"/>
              <a:t> </a:t>
            </a:r>
            <a:r>
              <a:rPr dirty="0"/>
              <a:t>able</a:t>
            </a:r>
            <a:r>
              <a:rPr spc="65" dirty="0"/>
              <a:t> </a:t>
            </a:r>
            <a:r>
              <a:rPr spc="-25" dirty="0"/>
              <a:t>to:</a:t>
            </a:r>
          </a:p>
          <a:p>
            <a:pPr marL="391160" marR="6350" indent="-378460">
              <a:lnSpc>
                <a:spcPts val="3770"/>
              </a:lnSpc>
              <a:spcBef>
                <a:spcPts val="330"/>
              </a:spcBef>
              <a:buFont typeface="Wingdings"/>
              <a:buChar char=""/>
              <a:tabLst>
                <a:tab pos="391795" algn="l"/>
                <a:tab pos="1243330" algn="l"/>
                <a:tab pos="2198370" algn="l"/>
                <a:tab pos="3348990" algn="l"/>
                <a:tab pos="3855720" algn="l"/>
                <a:tab pos="4425950" algn="l"/>
                <a:tab pos="6406515" algn="l"/>
                <a:tab pos="6798945" algn="l"/>
                <a:tab pos="8007984" algn="l"/>
              </a:tabLst>
            </a:pPr>
            <a:r>
              <a:rPr spc="-20" dirty="0"/>
              <a:t>CO1:</a:t>
            </a:r>
            <a:r>
              <a:rPr dirty="0"/>
              <a:t>	</a:t>
            </a:r>
            <a:r>
              <a:rPr b="0" spc="-10" dirty="0">
                <a:latin typeface="Verdana"/>
                <a:cs typeface="Verdana"/>
              </a:rPr>
              <a:t>Select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10" dirty="0">
                <a:latin typeface="Verdana"/>
                <a:cs typeface="Verdana"/>
              </a:rPr>
              <a:t>sensors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25" dirty="0">
                <a:latin typeface="Verdana"/>
                <a:cs typeface="Verdana"/>
              </a:rPr>
              <a:t>for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25" dirty="0">
                <a:latin typeface="Verdana"/>
                <a:cs typeface="Verdana"/>
              </a:rPr>
              <a:t>the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10" dirty="0">
                <a:latin typeface="Verdana"/>
                <a:cs typeface="Verdana"/>
              </a:rPr>
              <a:t>measurement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25" dirty="0">
                <a:latin typeface="Verdana"/>
                <a:cs typeface="Verdana"/>
              </a:rPr>
              <a:t>of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10" dirty="0">
                <a:latin typeface="Verdana"/>
                <a:cs typeface="Verdana"/>
              </a:rPr>
              <a:t>physical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10" dirty="0">
                <a:latin typeface="Verdana"/>
                <a:cs typeface="Verdana"/>
              </a:rPr>
              <a:t>variables </a:t>
            </a:r>
            <a:r>
              <a:rPr b="0" dirty="0">
                <a:latin typeface="Verdana"/>
                <a:cs typeface="Verdana"/>
              </a:rPr>
              <a:t>for</a:t>
            </a:r>
            <a:r>
              <a:rPr b="0" spc="70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real</a:t>
            </a:r>
            <a:r>
              <a:rPr b="0" spc="7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time</a:t>
            </a:r>
            <a:r>
              <a:rPr b="0" spc="9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applications.</a:t>
            </a:r>
            <a:r>
              <a:rPr b="0" spc="5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(Unit</a:t>
            </a:r>
            <a:r>
              <a:rPr b="0" spc="95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I)</a:t>
            </a:r>
          </a:p>
          <a:p>
            <a:pPr marL="391160" indent="-377825">
              <a:lnSpc>
                <a:spcPct val="100000"/>
              </a:lnSpc>
              <a:spcBef>
                <a:spcPts val="950"/>
              </a:spcBef>
              <a:buFont typeface="Wingdings"/>
              <a:buChar char=""/>
              <a:tabLst>
                <a:tab pos="391795" algn="l"/>
              </a:tabLst>
            </a:pPr>
            <a:r>
              <a:rPr dirty="0"/>
              <a:t>CO2:</a:t>
            </a:r>
            <a:r>
              <a:rPr spc="95" dirty="0"/>
              <a:t> </a:t>
            </a:r>
            <a:r>
              <a:rPr b="0" dirty="0">
                <a:latin typeface="Verdana"/>
                <a:cs typeface="Verdana"/>
              </a:rPr>
              <a:t>Use</a:t>
            </a:r>
            <a:r>
              <a:rPr b="0" spc="114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sensors</a:t>
            </a:r>
            <a:r>
              <a:rPr b="0" spc="7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for</a:t>
            </a:r>
            <a:r>
              <a:rPr b="0" spc="114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optoelectronic</a:t>
            </a:r>
            <a:r>
              <a:rPr b="0" spc="80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applications.</a:t>
            </a:r>
            <a:r>
              <a:rPr b="0" spc="9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(Unit</a:t>
            </a:r>
            <a:r>
              <a:rPr b="0" spc="120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II)</a:t>
            </a:r>
          </a:p>
          <a:p>
            <a:pPr marL="391160" indent="-377825">
              <a:lnSpc>
                <a:spcPct val="100000"/>
              </a:lnSpc>
              <a:spcBef>
                <a:spcPts val="1310"/>
              </a:spcBef>
              <a:buFont typeface="Wingdings"/>
              <a:buChar char=""/>
              <a:tabLst>
                <a:tab pos="391795" algn="l"/>
              </a:tabLst>
            </a:pPr>
            <a:r>
              <a:rPr dirty="0"/>
              <a:t>CO3:</a:t>
            </a:r>
            <a:r>
              <a:rPr spc="75" dirty="0"/>
              <a:t> </a:t>
            </a:r>
            <a:r>
              <a:rPr b="0" dirty="0">
                <a:latin typeface="Verdana"/>
                <a:cs typeface="Verdana"/>
              </a:rPr>
              <a:t>Apply</a:t>
            </a:r>
            <a:r>
              <a:rPr b="0" spc="130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actuators</a:t>
            </a:r>
            <a:r>
              <a:rPr b="0" spc="60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for</a:t>
            </a:r>
            <a:r>
              <a:rPr b="0" spc="7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engineering</a:t>
            </a:r>
            <a:r>
              <a:rPr b="0" spc="12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applications.</a:t>
            </a:r>
            <a:r>
              <a:rPr b="0" spc="60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(Unit</a:t>
            </a:r>
            <a:r>
              <a:rPr b="0" spc="7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III</a:t>
            </a:r>
            <a:r>
              <a:rPr b="0" spc="8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&amp;</a:t>
            </a:r>
            <a:r>
              <a:rPr b="0" spc="95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IV)</a:t>
            </a:r>
          </a:p>
          <a:p>
            <a:pPr marL="391160" marR="5080" indent="-378460">
              <a:lnSpc>
                <a:spcPts val="3770"/>
              </a:lnSpc>
              <a:spcBef>
                <a:spcPts val="130"/>
              </a:spcBef>
              <a:buFont typeface="Wingdings"/>
              <a:buChar char=""/>
              <a:tabLst>
                <a:tab pos="391795" algn="l"/>
                <a:tab pos="1242060" algn="l"/>
                <a:tab pos="2376805" algn="l"/>
                <a:tab pos="2944495" algn="l"/>
              </a:tabLst>
            </a:pPr>
            <a:r>
              <a:rPr spc="-20" dirty="0"/>
              <a:t>CO4:</a:t>
            </a:r>
            <a:r>
              <a:rPr dirty="0"/>
              <a:t>	</a:t>
            </a:r>
            <a:r>
              <a:rPr b="0" spc="-10" dirty="0">
                <a:latin typeface="Verdana"/>
                <a:cs typeface="Verdana"/>
              </a:rPr>
              <a:t>Explore</a:t>
            </a:r>
            <a:r>
              <a:rPr b="0" dirty="0">
                <a:latin typeface="Verdana"/>
                <a:cs typeface="Verdana"/>
              </a:rPr>
              <a:t>	</a:t>
            </a:r>
            <a:r>
              <a:rPr b="0" spc="-25" dirty="0">
                <a:latin typeface="Verdana"/>
                <a:cs typeface="Verdana"/>
              </a:rPr>
              <a:t>the</a:t>
            </a:r>
            <a:r>
              <a:rPr b="0" dirty="0">
                <a:latin typeface="Verdana"/>
                <a:cs typeface="Verdana"/>
              </a:rPr>
              <a:t>	packaging</a:t>
            </a:r>
            <a:r>
              <a:rPr b="0" spc="475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and</a:t>
            </a:r>
            <a:r>
              <a:rPr b="0" spc="484" dirty="0">
                <a:latin typeface="Verdana"/>
                <a:cs typeface="Verdana"/>
              </a:rPr>
              <a:t> </a:t>
            </a:r>
            <a:r>
              <a:rPr b="0" dirty="0">
                <a:latin typeface="Verdana"/>
                <a:cs typeface="Verdana"/>
              </a:rPr>
              <a:t>characterization</a:t>
            </a:r>
            <a:r>
              <a:rPr b="0" spc="484" dirty="0">
                <a:latin typeface="Verdana"/>
                <a:cs typeface="Verdana"/>
              </a:rPr>
              <a:t> </a:t>
            </a:r>
            <a:r>
              <a:rPr b="0" spc="-10" dirty="0">
                <a:latin typeface="Verdana"/>
                <a:cs typeface="Verdana"/>
              </a:rPr>
              <a:t>requirements. </a:t>
            </a:r>
            <a:r>
              <a:rPr b="0" dirty="0">
                <a:latin typeface="Verdana"/>
                <a:cs typeface="Verdana"/>
              </a:rPr>
              <a:t>(Unit</a:t>
            </a:r>
            <a:r>
              <a:rPr b="0" spc="70" dirty="0">
                <a:latin typeface="Verdana"/>
                <a:cs typeface="Verdana"/>
              </a:rPr>
              <a:t> </a:t>
            </a:r>
            <a:r>
              <a:rPr b="0" spc="-25" dirty="0">
                <a:latin typeface="Verdana"/>
                <a:cs typeface="Verdana"/>
              </a:rPr>
              <a:t>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1313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077" y="1603666"/>
            <a:ext cx="929576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080" marR="6350" indent="-501015" algn="just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Sinclair,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Transducers,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Newnes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publishers, 	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2001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(Unit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II).</a:t>
            </a:r>
            <a:endParaRPr sz="2200">
              <a:latin typeface="Verdana"/>
              <a:cs typeface="Verdana"/>
            </a:endParaRPr>
          </a:p>
          <a:p>
            <a:pPr marL="513080" marR="5080" indent="-501015" algn="just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Tai</a:t>
            </a:r>
            <a:r>
              <a:rPr sz="2200" spc="13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Ran</a:t>
            </a:r>
            <a:r>
              <a:rPr sz="2200" spc="12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Hsu,</a:t>
            </a:r>
            <a:r>
              <a:rPr sz="2200" spc="13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MEMS</a:t>
            </a:r>
            <a:r>
              <a:rPr sz="2200" spc="13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3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Microsystems</a:t>
            </a:r>
            <a:r>
              <a:rPr sz="2200" spc="14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Design</a:t>
            </a:r>
            <a:r>
              <a:rPr sz="2200" spc="140" dirty="0">
                <a:latin typeface="Verdana"/>
                <a:cs typeface="Verdana"/>
              </a:rPr>
              <a:t> 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Manufacture,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Tata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McGraw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Hill,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First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2002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(Unit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III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V).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317" y="1514420"/>
            <a:ext cx="9211945" cy="4792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4984" marR="6985" indent="-502920">
              <a:lnSpc>
                <a:spcPct val="152300"/>
              </a:lnSpc>
              <a:spcBef>
                <a:spcPts val="90"/>
              </a:spcBef>
              <a:buAutoNum type="arabicPeriod"/>
              <a:tabLst>
                <a:tab pos="514984" algn="l"/>
                <a:tab pos="1823085" algn="l"/>
                <a:tab pos="2190115" algn="l"/>
                <a:tab pos="2687955" algn="l"/>
                <a:tab pos="4601210" algn="l"/>
                <a:tab pos="5976620" algn="l"/>
                <a:tab pos="7568565" algn="l"/>
                <a:tab pos="8244840" algn="l"/>
              </a:tabLst>
            </a:pPr>
            <a:r>
              <a:rPr sz="1950" spc="-10" dirty="0">
                <a:latin typeface="Verdana"/>
                <a:cs typeface="Verdana"/>
              </a:rPr>
              <a:t>Doebelin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50" dirty="0">
                <a:latin typeface="Verdana"/>
                <a:cs typeface="Verdana"/>
              </a:rPr>
              <a:t>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Measurement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Systems,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Application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Design, </a:t>
            </a:r>
            <a:r>
              <a:rPr sz="1950" dirty="0">
                <a:latin typeface="Verdana"/>
                <a:cs typeface="Verdana"/>
              </a:rPr>
              <a:t>McGraw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Hill,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Fifth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Edition,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2004.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ct val="152300"/>
              </a:lnSpc>
              <a:spcBef>
                <a:spcPts val="470"/>
              </a:spcBef>
              <a:buAutoNum type="arabicPeriod"/>
              <a:tabLst>
                <a:tab pos="514984" algn="l"/>
                <a:tab pos="1397635" algn="l"/>
                <a:tab pos="2079625" algn="l"/>
                <a:tab pos="3281045" algn="l"/>
                <a:tab pos="3681095" algn="l"/>
                <a:tab pos="4249420" algn="l"/>
                <a:tab pos="4671695" algn="l"/>
                <a:tab pos="5501640" algn="l"/>
                <a:tab pos="6185535" algn="l"/>
                <a:tab pos="7274559" algn="l"/>
                <a:tab pos="7636509" algn="l"/>
                <a:tab pos="8956675" algn="l"/>
              </a:tabLst>
            </a:pPr>
            <a:r>
              <a:rPr sz="1950" spc="-10" dirty="0">
                <a:latin typeface="Verdana"/>
                <a:cs typeface="Verdana"/>
              </a:rPr>
              <a:t>Murty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B.S,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Shankar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P,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Raj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B,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Rath,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B.B,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Murday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J,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Textbook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 </a:t>
            </a:r>
            <a:r>
              <a:rPr sz="1950" dirty="0">
                <a:latin typeface="Verdana"/>
                <a:cs typeface="Verdana"/>
              </a:rPr>
              <a:t>Nanoscience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Nanotechnology,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Springer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publishing,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2013.</a:t>
            </a:r>
            <a:endParaRPr sz="1950">
              <a:latin typeface="Verdana"/>
              <a:cs typeface="Verdana"/>
            </a:endParaRPr>
          </a:p>
          <a:p>
            <a:pPr marL="514984" marR="6985" indent="-502920">
              <a:lnSpc>
                <a:spcPct val="152300"/>
              </a:lnSpc>
              <a:spcBef>
                <a:spcPts val="480"/>
              </a:spcBef>
              <a:buAutoNum type="arabicPeriod"/>
              <a:tabLst>
                <a:tab pos="514984" algn="l"/>
                <a:tab pos="1483360" algn="l"/>
                <a:tab pos="2580005" algn="l"/>
                <a:tab pos="3882390" algn="l"/>
                <a:tab pos="5866130" algn="l"/>
                <a:tab pos="7229475" algn="l"/>
                <a:tab pos="8730615" algn="l"/>
              </a:tabLst>
            </a:pPr>
            <a:r>
              <a:rPr sz="1950" spc="-10" dirty="0">
                <a:latin typeface="Verdana"/>
                <a:cs typeface="Verdana"/>
              </a:rPr>
              <a:t>Vinod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Kumar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Khanna,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Nanosensors: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Physical,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Chemical,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 </a:t>
            </a:r>
            <a:r>
              <a:rPr sz="1950" dirty="0">
                <a:latin typeface="Verdana"/>
                <a:cs typeface="Verdana"/>
              </a:rPr>
              <a:t>Biological,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CRC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press,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First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Edition,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2012.</a:t>
            </a:r>
            <a:endParaRPr sz="1950">
              <a:latin typeface="Verdana"/>
              <a:cs typeface="Verdana"/>
            </a:endParaRPr>
          </a:p>
          <a:p>
            <a:pPr marL="514984" marR="6985" indent="-502920">
              <a:lnSpc>
                <a:spcPct val="152300"/>
              </a:lnSpc>
              <a:spcBef>
                <a:spcPts val="480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Chang</a:t>
            </a:r>
            <a:r>
              <a:rPr sz="1950" spc="3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Liu,</a:t>
            </a:r>
            <a:r>
              <a:rPr sz="1950" spc="3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Foundations</a:t>
            </a:r>
            <a:r>
              <a:rPr sz="1950" spc="3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3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MEMS,</a:t>
            </a:r>
            <a:r>
              <a:rPr sz="1950" spc="33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Pearson</a:t>
            </a:r>
            <a:r>
              <a:rPr sz="1950" spc="3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education</a:t>
            </a:r>
            <a:r>
              <a:rPr sz="1950" spc="3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India</a:t>
            </a:r>
            <a:r>
              <a:rPr sz="1950" spc="33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limited, </a:t>
            </a:r>
            <a:r>
              <a:rPr sz="1950" dirty="0">
                <a:latin typeface="Verdana"/>
                <a:cs typeface="Verdana"/>
              </a:rPr>
              <a:t>Second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Edition,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2006.</a:t>
            </a:r>
            <a:endParaRPr sz="1950">
              <a:latin typeface="Verdana"/>
              <a:cs typeface="Verdana"/>
            </a:endParaRPr>
          </a:p>
          <a:p>
            <a:pPr marL="514984" marR="6350" indent="-502920">
              <a:lnSpc>
                <a:spcPct val="152300"/>
              </a:lnSpc>
              <a:spcBef>
                <a:spcPts val="470"/>
              </a:spcBef>
              <a:buAutoNum type="arabicPeriod"/>
              <a:tabLst>
                <a:tab pos="514984" algn="l"/>
                <a:tab pos="1576705" algn="l"/>
                <a:tab pos="2479040" algn="l"/>
                <a:tab pos="3394710" algn="l"/>
                <a:tab pos="4040504" algn="l"/>
                <a:tab pos="4807585" algn="l"/>
                <a:tab pos="5275580" algn="l"/>
                <a:tab pos="6590665" algn="l"/>
                <a:tab pos="7769859" algn="l"/>
                <a:tab pos="8416290" algn="l"/>
              </a:tabLst>
            </a:pPr>
            <a:r>
              <a:rPr sz="1950" spc="-10" dirty="0">
                <a:latin typeface="Verdana"/>
                <a:cs typeface="Verdana"/>
              </a:rPr>
              <a:t>Ramon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Pallas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Areny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John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G.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Webster,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Sensors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Signal </a:t>
            </a:r>
            <a:r>
              <a:rPr sz="1950" dirty="0">
                <a:latin typeface="Verdana"/>
                <a:cs typeface="Verdana"/>
              </a:rPr>
              <a:t>conditioning,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John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Wiley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Sons,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Second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Edition,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2000.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Reference</a:t>
            </a:r>
            <a:r>
              <a:rPr spc="-55" dirty="0"/>
              <a:t> </a:t>
            </a:r>
            <a:r>
              <a:rPr spc="-10" dirty="0"/>
              <a:t>Books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8"/>
                </a:moveTo>
                <a:lnTo>
                  <a:pt x="623316" y="848868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6"/>
                </a:lnTo>
                <a:lnTo>
                  <a:pt x="1220913" y="307086"/>
                </a:lnTo>
                <a:lnTo>
                  <a:pt x="1223343" y="311765"/>
                </a:lnTo>
                <a:lnTo>
                  <a:pt x="1224737" y="316992"/>
                </a:lnTo>
                <a:lnTo>
                  <a:pt x="1020127" y="316992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6"/>
                </a:lnTo>
                <a:lnTo>
                  <a:pt x="725709" y="848868"/>
                </a:lnTo>
                <a:close/>
              </a:path>
              <a:path w="5741670" h="1073150">
                <a:moveTo>
                  <a:pt x="687990" y="128016"/>
                </a:moveTo>
                <a:lnTo>
                  <a:pt x="0" y="128016"/>
                </a:lnTo>
                <a:lnTo>
                  <a:pt x="20669" y="36576"/>
                </a:lnTo>
                <a:lnTo>
                  <a:pt x="708660" y="36576"/>
                </a:lnTo>
                <a:lnTo>
                  <a:pt x="687990" y="128016"/>
                </a:lnTo>
                <a:close/>
              </a:path>
              <a:path w="5741670" h="1073150">
                <a:moveTo>
                  <a:pt x="232600" y="848868"/>
                </a:moveTo>
                <a:lnTo>
                  <a:pt x="123444" y="848868"/>
                </a:lnTo>
                <a:lnTo>
                  <a:pt x="290226" y="128016"/>
                </a:lnTo>
                <a:lnTo>
                  <a:pt x="399478" y="128016"/>
                </a:lnTo>
                <a:lnTo>
                  <a:pt x="232600" y="848868"/>
                </a:lnTo>
                <a:close/>
              </a:path>
              <a:path w="5741670" h="1073150">
                <a:moveTo>
                  <a:pt x="1220913" y="307086"/>
                </a:moveTo>
                <a:lnTo>
                  <a:pt x="850868" y="307086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6" y="223931"/>
                </a:lnTo>
                <a:lnTo>
                  <a:pt x="1065561" y="222504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6"/>
                </a:lnTo>
                <a:close/>
              </a:path>
              <a:path w="5741670" h="1073150">
                <a:moveTo>
                  <a:pt x="1133284" y="848868"/>
                </a:moveTo>
                <a:lnTo>
                  <a:pt x="1032224" y="848868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610" y="414147"/>
                </a:lnTo>
                <a:lnTo>
                  <a:pt x="1124712" y="409098"/>
                </a:lnTo>
                <a:lnTo>
                  <a:pt x="1119056" y="369093"/>
                </a:lnTo>
                <a:lnTo>
                  <a:pt x="1088399" y="330105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39" y="318475"/>
                </a:lnTo>
                <a:lnTo>
                  <a:pt x="1020127" y="316992"/>
                </a:lnTo>
                <a:lnTo>
                  <a:pt x="1224737" y="316992"/>
                </a:lnTo>
                <a:lnTo>
                  <a:pt x="1231668" y="342972"/>
                </a:lnTo>
                <a:lnTo>
                  <a:pt x="1234440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8"/>
                </a:lnTo>
                <a:close/>
              </a:path>
              <a:path w="5741670" h="1073150">
                <a:moveTo>
                  <a:pt x="1459325" y="356616"/>
                </a:moveTo>
                <a:lnTo>
                  <a:pt x="1453896" y="356616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7"/>
                </a:lnTo>
                <a:lnTo>
                  <a:pt x="1679924" y="225552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6"/>
                </a:lnTo>
                <a:lnTo>
                  <a:pt x="1661636" y="310896"/>
                </a:lnTo>
                <a:lnTo>
                  <a:pt x="1638369" y="311884"/>
                </a:lnTo>
                <a:lnTo>
                  <a:pt x="1637930" y="311884"/>
                </a:lnTo>
                <a:lnTo>
                  <a:pt x="1612058" y="314825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6"/>
                </a:lnTo>
                <a:close/>
              </a:path>
              <a:path w="5741670" h="1073150">
                <a:moveTo>
                  <a:pt x="1484185" y="865632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29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2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2"/>
                </a:lnTo>
                <a:lnTo>
                  <a:pt x="1795056" y="439193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791462" y="354139"/>
                </a:lnTo>
                <a:lnTo>
                  <a:pt x="1762029" y="327850"/>
                </a:lnTo>
                <a:lnTo>
                  <a:pt x="1717548" y="314515"/>
                </a:lnTo>
                <a:lnTo>
                  <a:pt x="1676600" y="311180"/>
                </a:lnTo>
                <a:lnTo>
                  <a:pt x="1661636" y="310896"/>
                </a:lnTo>
                <a:lnTo>
                  <a:pt x="1893766" y="310896"/>
                </a:lnTo>
                <a:lnTo>
                  <a:pt x="1902986" y="337496"/>
                </a:lnTo>
                <a:lnTo>
                  <a:pt x="1906495" y="372999"/>
                </a:lnTo>
                <a:lnTo>
                  <a:pt x="1906524" y="373284"/>
                </a:lnTo>
                <a:lnTo>
                  <a:pt x="1902812" y="412623"/>
                </a:lnTo>
                <a:lnTo>
                  <a:pt x="1877021" y="528828"/>
                </a:lnTo>
                <a:lnTo>
                  <a:pt x="1774602" y="528828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2" y="753618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2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5"/>
                </a:lnTo>
                <a:lnTo>
                  <a:pt x="1774602" y="528828"/>
                </a:lnTo>
                <a:lnTo>
                  <a:pt x="1877021" y="528828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8"/>
                </a:moveTo>
                <a:lnTo>
                  <a:pt x="1702022" y="848868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8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4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8"/>
                </a:moveTo>
                <a:lnTo>
                  <a:pt x="2001012" y="848868"/>
                </a:lnTo>
                <a:lnTo>
                  <a:pt x="2141124" y="239268"/>
                </a:lnTo>
                <a:lnTo>
                  <a:pt x="2243613" y="239268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2"/>
                </a:lnTo>
                <a:lnTo>
                  <a:pt x="2397728" y="316992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8"/>
                </a:lnTo>
                <a:close/>
              </a:path>
              <a:path w="5741670" h="1073150">
                <a:moveTo>
                  <a:pt x="2512028" y="848868"/>
                </a:moveTo>
                <a:lnTo>
                  <a:pt x="2410968" y="848868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7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2"/>
                </a:lnTo>
                <a:lnTo>
                  <a:pt x="2602391" y="316992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11991" y="385777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8"/>
                </a:lnTo>
                <a:close/>
              </a:path>
              <a:path w="5741670" h="1073150">
                <a:moveTo>
                  <a:pt x="2815971" y="848868"/>
                </a:moveTo>
                <a:lnTo>
                  <a:pt x="2712720" y="848868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3"/>
                </a:lnTo>
                <a:lnTo>
                  <a:pt x="2815971" y="848868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8"/>
                </a:lnTo>
                <a:lnTo>
                  <a:pt x="3377184" y="239268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8"/>
                </a:moveTo>
                <a:lnTo>
                  <a:pt x="3142392" y="848868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8"/>
                </a:lnTo>
                <a:close/>
              </a:path>
              <a:path w="5741670" h="1073150">
                <a:moveTo>
                  <a:pt x="3866483" y="1072896"/>
                </a:moveTo>
                <a:lnTo>
                  <a:pt x="3752088" y="1072896"/>
                </a:lnTo>
                <a:lnTo>
                  <a:pt x="3930015" y="811434"/>
                </a:lnTo>
                <a:lnTo>
                  <a:pt x="3820668" y="239268"/>
                </a:lnTo>
                <a:lnTo>
                  <a:pt x="3924585" y="239268"/>
                </a:lnTo>
                <a:lnTo>
                  <a:pt x="4010310" y="693420"/>
                </a:lnTo>
                <a:lnTo>
                  <a:pt x="4116186" y="693420"/>
                </a:lnTo>
                <a:lnTo>
                  <a:pt x="3866483" y="1072896"/>
                </a:lnTo>
                <a:close/>
              </a:path>
              <a:path w="5741670" h="1073150">
                <a:moveTo>
                  <a:pt x="4116186" y="693420"/>
                </a:moveTo>
                <a:lnTo>
                  <a:pt x="4010310" y="693420"/>
                </a:lnTo>
                <a:lnTo>
                  <a:pt x="4301871" y="239268"/>
                </a:lnTo>
                <a:lnTo>
                  <a:pt x="4415028" y="239268"/>
                </a:lnTo>
                <a:lnTo>
                  <a:pt x="4116186" y="693420"/>
                </a:lnTo>
                <a:close/>
              </a:path>
              <a:path w="5741670" h="1073150">
                <a:moveTo>
                  <a:pt x="4664868" y="865632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6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6" y="374714"/>
                </a:lnTo>
                <a:lnTo>
                  <a:pt x="4555243" y="318367"/>
                </a:lnTo>
                <a:lnTo>
                  <a:pt x="4610717" y="273933"/>
                </a:lnTo>
                <a:lnTo>
                  <a:pt x="4675908" y="241323"/>
                </a:lnTo>
                <a:lnTo>
                  <a:pt x="4747709" y="224645"/>
                </a:lnTo>
                <a:lnTo>
                  <a:pt x="4785931" y="222504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8"/>
                </a:lnTo>
                <a:lnTo>
                  <a:pt x="4769453" y="307848"/>
                </a:lnTo>
                <a:lnTo>
                  <a:pt x="4743770" y="309492"/>
                </a:lnTo>
                <a:lnTo>
                  <a:pt x="4696439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0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8"/>
                </a:lnTo>
                <a:lnTo>
                  <a:pt x="4649808" y="777823"/>
                </a:lnTo>
                <a:lnTo>
                  <a:pt x="4681347" y="780288"/>
                </a:lnTo>
                <a:lnTo>
                  <a:pt x="4883964" y="780288"/>
                </a:lnTo>
                <a:lnTo>
                  <a:pt x="4868382" y="794527"/>
                </a:lnTo>
                <a:lnTo>
                  <a:pt x="4809934" y="833247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2"/>
                </a:lnTo>
                <a:close/>
              </a:path>
              <a:path w="5741670" h="1073150">
                <a:moveTo>
                  <a:pt x="4883964" y="780288"/>
                </a:moveTo>
                <a:lnTo>
                  <a:pt x="4681347" y="780288"/>
                </a:lnTo>
                <a:lnTo>
                  <a:pt x="4706869" y="778771"/>
                </a:lnTo>
                <a:lnTo>
                  <a:pt x="4731150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8"/>
                </a:lnTo>
                <a:lnTo>
                  <a:pt x="4974003" y="307848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4" y="454914"/>
                </a:lnTo>
                <a:lnTo>
                  <a:pt x="5013961" y="494602"/>
                </a:lnTo>
                <a:lnTo>
                  <a:pt x="5013927" y="495490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8"/>
                </a:lnTo>
                <a:close/>
              </a:path>
              <a:path w="5741670" h="1073150">
                <a:moveTo>
                  <a:pt x="5297805" y="865632"/>
                </a:moveTo>
                <a:lnTo>
                  <a:pt x="5228034" y="855773"/>
                </a:lnTo>
                <a:lnTo>
                  <a:pt x="5175408" y="826198"/>
                </a:lnTo>
                <a:lnTo>
                  <a:pt x="5142357" y="777621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1467" y="701593"/>
                </a:lnTo>
                <a:lnTo>
                  <a:pt x="5136701" y="656082"/>
                </a:lnTo>
                <a:lnTo>
                  <a:pt x="5232368" y="239268"/>
                </a:lnTo>
                <a:lnTo>
                  <a:pt x="5334857" y="239268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4"/>
                </a:lnTo>
                <a:lnTo>
                  <a:pt x="5240655" y="677418"/>
                </a:lnTo>
                <a:lnTo>
                  <a:pt x="5242137" y="699440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4"/>
                </a:lnTo>
                <a:lnTo>
                  <a:pt x="5617603" y="771144"/>
                </a:lnTo>
                <a:lnTo>
                  <a:pt x="5615193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2"/>
                </a:lnTo>
                <a:close/>
              </a:path>
              <a:path w="5741670" h="1073150">
                <a:moveTo>
                  <a:pt x="5617603" y="771144"/>
                </a:moveTo>
                <a:lnTo>
                  <a:pt x="5345049" y="771144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8"/>
                </a:lnTo>
                <a:lnTo>
                  <a:pt x="5741098" y="239268"/>
                </a:lnTo>
                <a:lnTo>
                  <a:pt x="5617603" y="771144"/>
                </a:lnTo>
                <a:close/>
              </a:path>
              <a:path w="5741670" h="1073150">
                <a:moveTo>
                  <a:pt x="5599557" y="848868"/>
                </a:moveTo>
                <a:lnTo>
                  <a:pt x="5497068" y="848868"/>
                </a:lnTo>
                <a:lnTo>
                  <a:pt x="5512689" y="781526"/>
                </a:lnTo>
                <a:lnTo>
                  <a:pt x="5615193" y="781526"/>
                </a:lnTo>
                <a:lnTo>
                  <a:pt x="5599557" y="84886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765</Words>
  <Application>Microsoft Office PowerPoint</Application>
  <PresentationFormat>Custom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Verdana</vt:lpstr>
      <vt:lpstr>Wingdings</vt:lpstr>
      <vt:lpstr>Office Theme</vt:lpstr>
      <vt:lpstr>UEC3942: Introduction to Sensors, and Actuators (An Introduction to Course)</vt:lpstr>
      <vt:lpstr>Big Picture of the Course</vt:lpstr>
      <vt:lpstr>Preamble</vt:lpstr>
      <vt:lpstr>Course Objectives</vt:lpstr>
      <vt:lpstr>Unit I</vt:lpstr>
      <vt:lpstr>Unit II</vt:lpstr>
      <vt:lpstr>Unit III</vt:lpstr>
      <vt:lpstr>Unit IV</vt:lpstr>
      <vt:lpstr>Unit V</vt:lpstr>
      <vt:lpstr>Course Outcomes</vt:lpstr>
      <vt:lpstr>Textbooks</vt:lpstr>
      <vt:lpstr>Reference Books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UEC2045-Introduction to Course</dc:title>
  <dc:creator>Karthie Alias Ayyadurai</dc:creator>
  <cp:lastModifiedBy>Annadurai C</cp:lastModifiedBy>
  <cp:revision>1</cp:revision>
  <dcterms:created xsi:type="dcterms:W3CDTF">2026-06-24T07:49:21Z</dcterms:created>
  <dcterms:modified xsi:type="dcterms:W3CDTF">2026-06-24T07:50:21Z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2025-12-18T00:00:00Z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