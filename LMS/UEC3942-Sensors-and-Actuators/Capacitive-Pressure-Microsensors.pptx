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288"/>
            <a:ext cx="7319645" cy="237490"/>
          </a:xfrm>
          <a:custGeom>
            <a:avLst/>
            <a:gdLst/>
            <a:ahLst/>
            <a:cxnLst/>
            <a:rect l="l" t="t" r="r" b="b"/>
            <a:pathLst>
              <a:path w="7319645" h="237490">
                <a:moveTo>
                  <a:pt x="7181905" y="0"/>
                </a:moveTo>
                <a:lnTo>
                  <a:pt x="0" y="0"/>
                </a:lnTo>
                <a:lnTo>
                  <a:pt x="0" y="237309"/>
                </a:lnTo>
                <a:lnTo>
                  <a:pt x="7319308" y="237309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1136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7" y="0"/>
                </a:moveTo>
                <a:lnTo>
                  <a:pt x="0" y="0"/>
                </a:lnTo>
                <a:lnTo>
                  <a:pt x="0" y="216862"/>
                </a:lnTo>
                <a:lnTo>
                  <a:pt x="7398039" y="216862"/>
                </a:lnTo>
                <a:lnTo>
                  <a:pt x="7267827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4500"/>
            <a:ext cx="945515" cy="381635"/>
          </a:xfrm>
          <a:custGeom>
            <a:avLst/>
            <a:gdLst/>
            <a:ahLst/>
            <a:cxnLst/>
            <a:rect l="l" t="t" r="r" b="b"/>
            <a:pathLst>
              <a:path w="945515" h="381634">
                <a:moveTo>
                  <a:pt x="369366" y="93243"/>
                </a:moveTo>
                <a:lnTo>
                  <a:pt x="356209" y="46494"/>
                </a:lnTo>
                <a:lnTo>
                  <a:pt x="322122" y="18021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12"/>
                </a:lnTo>
                <a:lnTo>
                  <a:pt x="79819" y="43942"/>
                </a:lnTo>
                <a:lnTo>
                  <a:pt x="58635" y="77038"/>
                </a:lnTo>
                <a:lnTo>
                  <a:pt x="51473" y="118668"/>
                </a:lnTo>
                <a:lnTo>
                  <a:pt x="54978" y="142633"/>
                </a:lnTo>
                <a:lnTo>
                  <a:pt x="66548" y="164223"/>
                </a:lnTo>
                <a:lnTo>
                  <a:pt x="87769" y="184213"/>
                </a:lnTo>
                <a:lnTo>
                  <a:pt x="120230" y="203428"/>
                </a:lnTo>
                <a:lnTo>
                  <a:pt x="189001" y="237312"/>
                </a:lnTo>
                <a:lnTo>
                  <a:pt x="201599" y="243941"/>
                </a:lnTo>
                <a:lnTo>
                  <a:pt x="212598" y="252145"/>
                </a:lnTo>
                <a:lnTo>
                  <a:pt x="220370" y="263537"/>
                </a:lnTo>
                <a:lnTo>
                  <a:pt x="223316" y="279704"/>
                </a:lnTo>
                <a:lnTo>
                  <a:pt x="218821" y="296786"/>
                </a:lnTo>
                <a:lnTo>
                  <a:pt x="218744" y="297040"/>
                </a:lnTo>
                <a:lnTo>
                  <a:pt x="206133" y="310413"/>
                </a:lnTo>
                <a:lnTo>
                  <a:pt x="187071" y="319024"/>
                </a:lnTo>
                <a:lnTo>
                  <a:pt x="163195" y="322072"/>
                </a:lnTo>
                <a:lnTo>
                  <a:pt x="144272" y="317703"/>
                </a:lnTo>
                <a:lnTo>
                  <a:pt x="127787" y="306184"/>
                </a:lnTo>
                <a:lnTo>
                  <a:pt x="116128" y="289890"/>
                </a:lnTo>
                <a:lnTo>
                  <a:pt x="111721" y="271221"/>
                </a:lnTo>
                <a:lnTo>
                  <a:pt x="111721" y="262750"/>
                </a:lnTo>
                <a:lnTo>
                  <a:pt x="0" y="262750"/>
                </a:lnTo>
                <a:lnTo>
                  <a:pt x="0" y="279704"/>
                </a:lnTo>
                <a:lnTo>
                  <a:pt x="1727" y="303530"/>
                </a:lnTo>
                <a:lnTo>
                  <a:pt x="18072" y="341680"/>
                </a:lnTo>
                <a:lnTo>
                  <a:pt x="56883" y="367093"/>
                </a:lnTo>
                <a:lnTo>
                  <a:pt x="121323" y="379806"/>
                </a:lnTo>
                <a:lnTo>
                  <a:pt x="163195" y="381393"/>
                </a:lnTo>
                <a:lnTo>
                  <a:pt x="224853" y="375500"/>
                </a:lnTo>
                <a:lnTo>
                  <a:pt x="274955" y="358622"/>
                </a:lnTo>
                <a:lnTo>
                  <a:pt x="312254" y="331978"/>
                </a:lnTo>
                <a:lnTo>
                  <a:pt x="318795" y="322072"/>
                </a:lnTo>
                <a:lnTo>
                  <a:pt x="335534" y="296786"/>
                </a:lnTo>
                <a:lnTo>
                  <a:pt x="343560" y="254266"/>
                </a:lnTo>
                <a:lnTo>
                  <a:pt x="338874" y="230428"/>
                </a:lnTo>
                <a:lnTo>
                  <a:pt x="325348" y="209778"/>
                </a:lnTo>
                <a:lnTo>
                  <a:pt x="303771" y="192290"/>
                </a:lnTo>
                <a:lnTo>
                  <a:pt x="206159" y="144081"/>
                </a:lnTo>
                <a:lnTo>
                  <a:pt x="188556" y="136144"/>
                </a:lnTo>
                <a:lnTo>
                  <a:pt x="175006" y="125018"/>
                </a:lnTo>
                <a:lnTo>
                  <a:pt x="166281" y="110718"/>
                </a:lnTo>
                <a:lnTo>
                  <a:pt x="163195" y="93243"/>
                </a:lnTo>
                <a:lnTo>
                  <a:pt x="167627" y="80784"/>
                </a:lnTo>
                <a:lnTo>
                  <a:pt x="179324" y="69926"/>
                </a:lnTo>
                <a:lnTo>
                  <a:pt x="195846" y="62255"/>
                </a:lnTo>
                <a:lnTo>
                  <a:pt x="214795" y="59347"/>
                </a:lnTo>
                <a:lnTo>
                  <a:pt x="232346" y="62382"/>
                </a:lnTo>
                <a:lnTo>
                  <a:pt x="245910" y="70993"/>
                </a:lnTo>
                <a:lnTo>
                  <a:pt x="254660" y="84366"/>
                </a:lnTo>
                <a:lnTo>
                  <a:pt x="257759" y="101714"/>
                </a:lnTo>
                <a:lnTo>
                  <a:pt x="257759" y="110185"/>
                </a:lnTo>
                <a:lnTo>
                  <a:pt x="369366" y="110185"/>
                </a:lnTo>
                <a:lnTo>
                  <a:pt x="369366" y="93243"/>
                </a:lnTo>
                <a:close/>
              </a:path>
              <a:path w="945515" h="381634">
                <a:moveTo>
                  <a:pt x="609968" y="93243"/>
                </a:moveTo>
                <a:lnTo>
                  <a:pt x="595604" y="46494"/>
                </a:lnTo>
                <a:lnTo>
                  <a:pt x="559498" y="18021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31"/>
                </a:lnTo>
                <a:lnTo>
                  <a:pt x="352196" y="16954"/>
                </a:lnTo>
                <a:lnTo>
                  <a:pt x="364807" y="31267"/>
                </a:lnTo>
                <a:lnTo>
                  <a:pt x="375793" y="48742"/>
                </a:lnTo>
                <a:lnTo>
                  <a:pt x="383578" y="69405"/>
                </a:lnTo>
                <a:lnTo>
                  <a:pt x="386524" y="93243"/>
                </a:lnTo>
                <a:lnTo>
                  <a:pt x="386524" y="101714"/>
                </a:lnTo>
                <a:lnTo>
                  <a:pt x="378002" y="110185"/>
                </a:lnTo>
                <a:lnTo>
                  <a:pt x="378002" y="118668"/>
                </a:lnTo>
                <a:lnTo>
                  <a:pt x="283438" y="118668"/>
                </a:lnTo>
                <a:lnTo>
                  <a:pt x="288137" y="142633"/>
                </a:lnTo>
                <a:lnTo>
                  <a:pt x="301713" y="164223"/>
                </a:lnTo>
                <a:lnTo>
                  <a:pt x="323329" y="184213"/>
                </a:lnTo>
                <a:lnTo>
                  <a:pt x="352196" y="203428"/>
                </a:lnTo>
                <a:lnTo>
                  <a:pt x="420966" y="237312"/>
                </a:lnTo>
                <a:lnTo>
                  <a:pt x="433565" y="243941"/>
                </a:lnTo>
                <a:lnTo>
                  <a:pt x="444563" y="252145"/>
                </a:lnTo>
                <a:lnTo>
                  <a:pt x="452335" y="263537"/>
                </a:lnTo>
                <a:lnTo>
                  <a:pt x="455282" y="279704"/>
                </a:lnTo>
                <a:lnTo>
                  <a:pt x="452120" y="296786"/>
                </a:lnTo>
                <a:lnTo>
                  <a:pt x="452069" y="297040"/>
                </a:lnTo>
                <a:lnTo>
                  <a:pt x="442417" y="310413"/>
                </a:lnTo>
                <a:lnTo>
                  <a:pt x="426326" y="319024"/>
                </a:lnTo>
                <a:lnTo>
                  <a:pt x="403809" y="322072"/>
                </a:lnTo>
                <a:lnTo>
                  <a:pt x="381215" y="317703"/>
                </a:lnTo>
                <a:lnTo>
                  <a:pt x="365086" y="306184"/>
                </a:lnTo>
                <a:lnTo>
                  <a:pt x="355422" y="289890"/>
                </a:lnTo>
                <a:lnTo>
                  <a:pt x="352196" y="271221"/>
                </a:lnTo>
                <a:lnTo>
                  <a:pt x="352196" y="262750"/>
                </a:lnTo>
                <a:lnTo>
                  <a:pt x="347764" y="288036"/>
                </a:lnTo>
                <a:lnTo>
                  <a:pt x="336080" y="312534"/>
                </a:lnTo>
                <a:lnTo>
                  <a:pt x="319544" y="335445"/>
                </a:lnTo>
                <a:lnTo>
                  <a:pt x="300596" y="355981"/>
                </a:lnTo>
                <a:lnTo>
                  <a:pt x="292074" y="355981"/>
                </a:lnTo>
                <a:lnTo>
                  <a:pt x="283438" y="364439"/>
                </a:lnTo>
                <a:lnTo>
                  <a:pt x="305739" y="370674"/>
                </a:lnTo>
                <a:lnTo>
                  <a:pt x="332867" y="376097"/>
                </a:lnTo>
                <a:lnTo>
                  <a:pt x="363207" y="379945"/>
                </a:lnTo>
                <a:lnTo>
                  <a:pt x="395160" y="381393"/>
                </a:lnTo>
                <a:lnTo>
                  <a:pt x="456819" y="375500"/>
                </a:lnTo>
                <a:lnTo>
                  <a:pt x="506920" y="358622"/>
                </a:lnTo>
                <a:lnTo>
                  <a:pt x="544220" y="331978"/>
                </a:lnTo>
                <a:lnTo>
                  <a:pt x="550760" y="322072"/>
                </a:lnTo>
                <a:lnTo>
                  <a:pt x="567499" y="296786"/>
                </a:lnTo>
                <a:lnTo>
                  <a:pt x="575525" y="254266"/>
                </a:lnTo>
                <a:lnTo>
                  <a:pt x="572173" y="230428"/>
                </a:lnTo>
                <a:lnTo>
                  <a:pt x="561581" y="209778"/>
                </a:lnTo>
                <a:lnTo>
                  <a:pt x="542925" y="192290"/>
                </a:lnTo>
                <a:lnTo>
                  <a:pt x="515404" y="177990"/>
                </a:lnTo>
                <a:lnTo>
                  <a:pt x="446646" y="144081"/>
                </a:lnTo>
                <a:lnTo>
                  <a:pt x="429120" y="136144"/>
                </a:lnTo>
                <a:lnTo>
                  <a:pt x="415594" y="125018"/>
                </a:lnTo>
                <a:lnTo>
                  <a:pt x="406882" y="110718"/>
                </a:lnTo>
                <a:lnTo>
                  <a:pt x="403809" y="93243"/>
                </a:lnTo>
                <a:lnTo>
                  <a:pt x="406882" y="80784"/>
                </a:lnTo>
                <a:lnTo>
                  <a:pt x="415594" y="69926"/>
                </a:lnTo>
                <a:lnTo>
                  <a:pt x="429120" y="62255"/>
                </a:lnTo>
                <a:lnTo>
                  <a:pt x="446646" y="59347"/>
                </a:lnTo>
                <a:lnTo>
                  <a:pt x="469239" y="62382"/>
                </a:lnTo>
                <a:lnTo>
                  <a:pt x="485355" y="70993"/>
                </a:lnTo>
                <a:lnTo>
                  <a:pt x="495020" y="84366"/>
                </a:lnTo>
                <a:lnTo>
                  <a:pt x="498246" y="101714"/>
                </a:lnTo>
                <a:lnTo>
                  <a:pt x="489610" y="110185"/>
                </a:lnTo>
                <a:lnTo>
                  <a:pt x="609968" y="110185"/>
                </a:lnTo>
                <a:lnTo>
                  <a:pt x="609968" y="93243"/>
                </a:lnTo>
                <a:close/>
              </a:path>
              <a:path w="945515" h="381634">
                <a:moveTo>
                  <a:pt x="945019" y="93243"/>
                </a:moveTo>
                <a:lnTo>
                  <a:pt x="937361" y="53644"/>
                </a:lnTo>
                <a:lnTo>
                  <a:pt x="916025" y="24371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075"/>
                </a:lnTo>
                <a:lnTo>
                  <a:pt x="722287" y="42913"/>
                </a:lnTo>
                <a:lnTo>
                  <a:pt x="687247" y="76288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54"/>
                </a:lnTo>
                <a:lnTo>
                  <a:pt x="596773" y="31267"/>
                </a:lnTo>
                <a:lnTo>
                  <a:pt x="609917" y="48742"/>
                </a:lnTo>
                <a:lnTo>
                  <a:pt x="616623" y="69405"/>
                </a:lnTo>
                <a:lnTo>
                  <a:pt x="618490" y="93243"/>
                </a:lnTo>
                <a:lnTo>
                  <a:pt x="618490" y="118668"/>
                </a:lnTo>
                <a:lnTo>
                  <a:pt x="549846" y="118668"/>
                </a:lnTo>
                <a:lnTo>
                  <a:pt x="548360" y="131381"/>
                </a:lnTo>
                <a:lnTo>
                  <a:pt x="544449" y="144094"/>
                </a:lnTo>
                <a:lnTo>
                  <a:pt x="538911" y="156806"/>
                </a:lnTo>
                <a:lnTo>
                  <a:pt x="532561" y="169519"/>
                </a:lnTo>
                <a:lnTo>
                  <a:pt x="555155" y="188722"/>
                </a:lnTo>
                <a:lnTo>
                  <a:pt x="571284" y="208711"/>
                </a:lnTo>
                <a:lnTo>
                  <a:pt x="580948" y="230301"/>
                </a:lnTo>
                <a:lnTo>
                  <a:pt x="584161" y="254266"/>
                </a:lnTo>
                <a:lnTo>
                  <a:pt x="580948" y="284467"/>
                </a:lnTo>
                <a:lnTo>
                  <a:pt x="571284" y="311480"/>
                </a:lnTo>
                <a:lnTo>
                  <a:pt x="555155" y="335318"/>
                </a:lnTo>
                <a:lnTo>
                  <a:pt x="532561" y="355981"/>
                </a:lnTo>
                <a:lnTo>
                  <a:pt x="524040" y="364439"/>
                </a:lnTo>
                <a:lnTo>
                  <a:pt x="609968" y="364439"/>
                </a:lnTo>
                <a:lnTo>
                  <a:pt x="661454" y="177990"/>
                </a:lnTo>
                <a:lnTo>
                  <a:pt x="676338" y="140652"/>
                </a:lnTo>
                <a:lnTo>
                  <a:pt x="696874" y="108064"/>
                </a:lnTo>
                <a:lnTo>
                  <a:pt x="725474" y="85026"/>
                </a:lnTo>
                <a:lnTo>
                  <a:pt x="764527" y="76288"/>
                </a:lnTo>
                <a:lnTo>
                  <a:pt x="782129" y="78003"/>
                </a:lnTo>
                <a:lnTo>
                  <a:pt x="795693" y="83705"/>
                </a:lnTo>
                <a:lnTo>
                  <a:pt x="804405" y="94170"/>
                </a:lnTo>
                <a:lnTo>
                  <a:pt x="807491" y="110185"/>
                </a:lnTo>
                <a:lnTo>
                  <a:pt x="807364" y="118008"/>
                </a:lnTo>
                <a:lnTo>
                  <a:pt x="806526" y="127139"/>
                </a:lnTo>
                <a:lnTo>
                  <a:pt x="806424" y="128206"/>
                </a:lnTo>
                <a:lnTo>
                  <a:pt x="803897" y="139992"/>
                </a:lnTo>
                <a:lnTo>
                  <a:pt x="798969" y="152565"/>
                </a:lnTo>
                <a:lnTo>
                  <a:pt x="747369" y="322072"/>
                </a:lnTo>
                <a:lnTo>
                  <a:pt x="738733" y="347497"/>
                </a:lnTo>
                <a:lnTo>
                  <a:pt x="738733" y="364439"/>
                </a:lnTo>
                <a:lnTo>
                  <a:pt x="867613" y="364439"/>
                </a:lnTo>
                <a:lnTo>
                  <a:pt x="927735" y="161036"/>
                </a:lnTo>
                <a:lnTo>
                  <a:pt x="936371" y="127139"/>
                </a:lnTo>
                <a:lnTo>
                  <a:pt x="941374" y="119456"/>
                </a:lnTo>
                <a:lnTo>
                  <a:pt x="943940" y="110185"/>
                </a:lnTo>
                <a:lnTo>
                  <a:pt x="944880" y="100914"/>
                </a:lnTo>
                <a:lnTo>
                  <a:pt x="944994" y="94170"/>
                </a:lnTo>
                <a:lnTo>
                  <a:pt x="945019" y="93243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9533" y="281685"/>
            <a:ext cx="288493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4444" y="2508631"/>
            <a:ext cx="6595110" cy="3061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24654"/>
            <a:ext cx="8641732" cy="10333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marR="508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Unit</a:t>
            </a:r>
            <a:r>
              <a:rPr spc="-45" dirty="0"/>
              <a:t> </a:t>
            </a:r>
            <a:r>
              <a:rPr dirty="0"/>
              <a:t>III:</a:t>
            </a:r>
            <a:r>
              <a:rPr spc="-40" dirty="0"/>
              <a:t> </a:t>
            </a:r>
            <a:r>
              <a:rPr dirty="0"/>
              <a:t>Capacitive</a:t>
            </a:r>
            <a:r>
              <a:rPr spc="-45" dirty="0"/>
              <a:t> </a:t>
            </a:r>
            <a:r>
              <a:rPr spc="-10" dirty="0"/>
              <a:t>Pressure Microsensors</a:t>
            </a:r>
          </a:p>
          <a:p>
            <a:pPr marL="2080895" marR="2073910" algn="ctr">
              <a:lnSpc>
                <a:spcPct val="120000"/>
              </a:lnSpc>
              <a:spcBef>
                <a:spcPts val="2970"/>
              </a:spcBef>
            </a:pP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300" b="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300" b="0" spc="-7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300" b="0" spc="-6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300" b="0" dirty="0" smtClean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300" dirty="0">
              <a:latin typeface="Verdana"/>
              <a:cs typeface="Verdana"/>
            </a:endParaRPr>
          </a:p>
          <a:p>
            <a:pPr marL="872490" marR="862330" algn="ctr">
              <a:lnSpc>
                <a:spcPts val="3310"/>
              </a:lnSpc>
              <a:spcBef>
                <a:spcPts val="105"/>
              </a:spcBef>
            </a:pP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300" b="0" spc="-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300" b="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b="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300" b="0" spc="-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300" b="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b="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b="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900" y="688848"/>
            <a:ext cx="8362950" cy="37253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IN" sz="2400" dirty="0">
                <a:solidFill>
                  <a:srgbClr val="FF0000"/>
                </a:solidFill>
              </a:rPr>
              <a:t>UEC3942:</a:t>
            </a:r>
            <a:r>
              <a:rPr lang="en-IN" sz="2400" spc="-75" dirty="0">
                <a:solidFill>
                  <a:srgbClr val="FF0000"/>
                </a:solidFill>
              </a:rPr>
              <a:t> </a:t>
            </a:r>
            <a:r>
              <a:rPr sz="2400" dirty="0" smtClean="0">
                <a:solidFill>
                  <a:srgbClr val="FF0000"/>
                </a:solidFill>
              </a:rPr>
              <a:t>Introduction</a:t>
            </a:r>
            <a:r>
              <a:rPr sz="2400" spc="-30" dirty="0" smtClean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Sensors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and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Actuators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973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understand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construction,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working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principles,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spc="-20" dirty="0">
                <a:latin typeface="Verdana"/>
                <a:cs typeface="Verdana"/>
              </a:rPr>
              <a:t>real-</a:t>
            </a:r>
            <a:r>
              <a:rPr sz="2000" dirty="0">
                <a:latin typeface="Verdana"/>
                <a:cs typeface="Verdana"/>
              </a:rPr>
              <a:t>world</a:t>
            </a:r>
            <a:r>
              <a:rPr sz="2000" spc="365" dirty="0">
                <a:latin typeface="Verdana"/>
                <a:cs typeface="Verdana"/>
              </a:rPr>
              <a:t>    </a:t>
            </a:r>
            <a:r>
              <a:rPr sz="2000" dirty="0">
                <a:latin typeface="Verdana"/>
                <a:cs typeface="Verdana"/>
              </a:rPr>
              <a:t>applications</a:t>
            </a:r>
            <a:r>
              <a:rPr sz="2000" spc="355" dirty="0">
                <a:latin typeface="Verdana"/>
                <a:cs typeface="Verdana"/>
              </a:rPr>
              <a:t>  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360" dirty="0">
                <a:latin typeface="Verdana"/>
                <a:cs typeface="Verdana"/>
              </a:rPr>
              <a:t>    </a:t>
            </a:r>
            <a:r>
              <a:rPr sz="2000" dirty="0">
                <a:latin typeface="Verdana"/>
                <a:cs typeface="Verdana"/>
              </a:rPr>
              <a:t>Capacitive</a:t>
            </a:r>
            <a:r>
              <a:rPr sz="2000" spc="365" dirty="0">
                <a:latin typeface="Verdana"/>
                <a:cs typeface="Verdana"/>
              </a:rPr>
              <a:t>    </a:t>
            </a:r>
            <a:r>
              <a:rPr sz="2000" spc="-10" dirty="0">
                <a:latin typeface="Verdana"/>
                <a:cs typeface="Verdana"/>
              </a:rPr>
              <a:t>Pressure Microsensors.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73020" y="281685"/>
            <a:ext cx="5001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6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536815" cy="13982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Definition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(Micro-Electro-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10" dirty="0">
                <a:latin typeface="Verdana"/>
                <a:cs typeface="Verdana"/>
              </a:rPr>
              <a:t> Systems).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20" dirty="0">
                <a:latin typeface="Verdana"/>
                <a:cs typeface="Verdana"/>
              </a:rPr>
              <a:t>Transition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macro-</a:t>
            </a:r>
            <a:r>
              <a:rPr sz="2000" dirty="0">
                <a:latin typeface="Verdana"/>
                <a:cs typeface="Verdana"/>
              </a:rPr>
              <a:t>scale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sensors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micro-scale.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modern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electronics.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85341" y="281685"/>
            <a:ext cx="5974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Microsensor?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55216" y="281685"/>
            <a:ext cx="6431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dirty="0"/>
              <a:t>Capacitive</a:t>
            </a:r>
            <a:r>
              <a:rPr spc="-40" dirty="0"/>
              <a:t> </a:t>
            </a:r>
            <a:r>
              <a:rPr spc="-10" dirty="0"/>
              <a:t>Sensing?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465554"/>
            <a:ext cx="4204335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High</a:t>
            </a:r>
            <a:r>
              <a:rPr sz="2000" spc="-10" dirty="0">
                <a:latin typeface="Verdana"/>
                <a:cs typeface="Verdana"/>
              </a:rPr>
              <a:t> sensitivity.</a:t>
            </a:r>
            <a:endParaRPr sz="2000">
              <a:latin typeface="Verdana"/>
              <a:cs typeface="Verdana"/>
            </a:endParaRPr>
          </a:p>
          <a:p>
            <a:pPr marL="355600" marR="272415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  <a:tab pos="1187450" algn="l"/>
                <a:tab pos="2294255" algn="l"/>
              </a:tabLst>
            </a:pPr>
            <a:r>
              <a:rPr sz="2000" spc="-25" dirty="0">
                <a:latin typeface="Verdana"/>
                <a:cs typeface="Verdana"/>
              </a:rPr>
              <a:t>Low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power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consumption devices).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  <a:tab pos="1092835" algn="l"/>
                <a:tab pos="2908300" algn="l"/>
              </a:tabLst>
            </a:pPr>
            <a:r>
              <a:rPr sz="2000" spc="-25" dirty="0">
                <a:latin typeface="Verdana"/>
                <a:cs typeface="Verdana"/>
              </a:rPr>
              <a:t>Low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temperature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sensitivity sensors.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4196" y="2074545"/>
            <a:ext cx="39103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56005" algn="l"/>
                <a:tab pos="1736089" algn="l"/>
              </a:tabLst>
            </a:pPr>
            <a:r>
              <a:rPr sz="2000" spc="-10" dirty="0">
                <a:latin typeface="Verdana"/>
                <a:cs typeface="Verdana"/>
              </a:rPr>
              <a:t>(ideal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for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battery-operated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97933" y="2989326"/>
            <a:ext cx="3736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07490" algn="l"/>
                <a:tab pos="1995170" algn="l"/>
              </a:tabLst>
            </a:pPr>
            <a:r>
              <a:rPr sz="2000" spc="-10" dirty="0">
                <a:latin typeface="Verdana"/>
                <a:cs typeface="Verdana"/>
              </a:rPr>
              <a:t>compared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to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piezoresistive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92020" y="281685"/>
            <a:ext cx="5755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Construction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465554"/>
            <a:ext cx="8150859" cy="45986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Fundamental</a:t>
            </a:r>
            <a:r>
              <a:rPr sz="20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Structure</a:t>
            </a:r>
            <a:endParaRPr sz="2000">
              <a:latin typeface="Verdana"/>
              <a:cs typeface="Verdana"/>
            </a:endParaRPr>
          </a:p>
          <a:p>
            <a:pPr marL="715010" marR="5080" lvl="1" indent="-343535">
              <a:lnSpc>
                <a:spcPct val="150000"/>
              </a:lnSpc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3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consists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conductive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plates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separated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gap.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One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plate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fixed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(stiff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substrate).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One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flexible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diaphragm).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Materials</a:t>
            </a:r>
            <a:r>
              <a:rPr sz="20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Used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Substrate: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Glass.</a:t>
            </a:r>
            <a:endParaRPr sz="2000">
              <a:latin typeface="Verdana"/>
              <a:cs typeface="Verdana"/>
            </a:endParaRPr>
          </a:p>
          <a:p>
            <a:pPr marL="715010" marR="6985" lvl="1" indent="-343535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Diaphragm: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Polysilicon,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Nitride,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Monocrystalline Silicon.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Insulation: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Dioxide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92020" y="281685"/>
            <a:ext cx="5755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Construction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465554"/>
            <a:ext cx="7999095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Fabrication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Process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(The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"How")</a:t>
            </a:r>
            <a:endParaRPr sz="2000">
              <a:latin typeface="Verdana"/>
              <a:cs typeface="Verdana"/>
            </a:endParaRPr>
          </a:p>
          <a:p>
            <a:pPr marL="715010" marR="5715" lvl="1" indent="-343535">
              <a:lnSpc>
                <a:spcPct val="150000"/>
              </a:lnSpc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Surface</a:t>
            </a:r>
            <a:r>
              <a:rPr sz="2000" spc="4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Micromachining: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Building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layers</a:t>
            </a:r>
            <a:r>
              <a:rPr sz="2000" spc="40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top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wafer.</a:t>
            </a:r>
            <a:endParaRPr sz="2000">
              <a:latin typeface="Verdana"/>
              <a:cs typeface="Verdana"/>
            </a:endParaRPr>
          </a:p>
          <a:p>
            <a:pPr marL="715010" marR="5080" lvl="1" indent="-343535">
              <a:lnSpc>
                <a:spcPct val="150000"/>
              </a:lnSpc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Bulk</a:t>
            </a:r>
            <a:r>
              <a:rPr sz="2000" spc="4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Micromachining: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Etching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4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wafer</a:t>
            </a:r>
            <a:r>
              <a:rPr sz="2000" spc="40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3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create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cavity.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Wafer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Bonding: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Sealing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wafers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together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create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7150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vacuum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reference.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23922" y="281685"/>
            <a:ext cx="4999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Schematic</a:t>
            </a:r>
            <a:r>
              <a:rPr spc="-6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600200"/>
            <a:ext cx="6096000" cy="39334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33625" y="5634634"/>
            <a:ext cx="46596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Parallel-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plate</a:t>
            </a:r>
            <a:r>
              <a:rPr sz="14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capacitive</a:t>
            </a:r>
            <a:r>
              <a:rPr sz="14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14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Verdana"/>
                <a:cs typeface="Verdana"/>
              </a:rPr>
              <a:t>microsensor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61769" y="281685"/>
            <a:ext cx="521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6057900" cy="3683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Physics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0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Capacitance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basic</a:t>
            </a:r>
            <a:r>
              <a:rPr sz="2000" spc="-10" dirty="0">
                <a:latin typeface="Verdana"/>
                <a:cs typeface="Verdana"/>
              </a:rPr>
              <a:t> formula: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370"/>
              </a:spcBef>
              <a:buFont typeface="Wingdings"/>
              <a:buChar char=""/>
            </a:pPr>
            <a:endParaRPr sz="2000">
              <a:latin typeface="Verdana"/>
              <a:cs typeface="Verdana"/>
            </a:endParaRPr>
          </a:p>
          <a:p>
            <a:pPr marL="37211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where: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i="1" dirty="0">
                <a:latin typeface="Verdana"/>
                <a:cs typeface="Verdana"/>
              </a:rPr>
              <a:t>C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0" dirty="0">
                <a:latin typeface="Verdana"/>
                <a:cs typeface="Verdana"/>
              </a:rPr>
              <a:t> Capacitance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i="1" dirty="0">
                <a:latin typeface="Verdana"/>
                <a:cs typeface="Verdana"/>
              </a:rPr>
              <a:t>ε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Permittivity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material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gap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i="1" dirty="0">
                <a:latin typeface="Verdana"/>
                <a:cs typeface="Verdana"/>
              </a:rPr>
              <a:t>A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plates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Distance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between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plates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2850" y="2390720"/>
            <a:ext cx="1019175" cy="5236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473" y="5362648"/>
            <a:ext cx="7801346" cy="934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61769" y="281685"/>
            <a:ext cx="521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50225" cy="50558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1: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Application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External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flexible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diaphragm.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deflects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toward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fixed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backplate.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2: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Gap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Displacement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As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moves,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distance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decreases.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  <a:tab pos="1999614" algn="l"/>
                <a:tab pos="2388870" algn="l"/>
                <a:tab pos="2820035" algn="l"/>
                <a:tab pos="3280410" algn="l"/>
                <a:tab pos="3922395" algn="l"/>
                <a:tab pos="5824855" algn="l"/>
                <a:tab pos="7548245" algn="l"/>
              </a:tabLst>
            </a:pPr>
            <a:r>
              <a:rPr sz="2000" spc="-10" dirty="0">
                <a:latin typeface="Verdana"/>
                <a:cs typeface="Verdana"/>
              </a:rPr>
              <a:t>Because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i="1" spc="-50" dirty="0">
                <a:latin typeface="Verdana"/>
                <a:cs typeface="Verdana"/>
              </a:rPr>
              <a:t>d</a:t>
            </a:r>
            <a:r>
              <a:rPr sz="2000" i="1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is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in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denominator,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capacitance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(Δ</a:t>
            </a:r>
            <a:r>
              <a:rPr sz="2000" i="1" spc="-20" dirty="0">
                <a:latin typeface="Verdana"/>
                <a:cs typeface="Verdana"/>
              </a:rPr>
              <a:t>C</a:t>
            </a:r>
            <a:r>
              <a:rPr sz="2000" spc="-2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71501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latin typeface="Verdana"/>
                <a:cs typeface="Verdana"/>
              </a:rPr>
              <a:t>increases.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3: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Conversion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  in  capacitance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(Δ</a:t>
            </a:r>
            <a:r>
              <a:rPr sz="2000" i="1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converted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</a:t>
            </a:r>
            <a:endParaRPr sz="2000">
              <a:latin typeface="Verdana"/>
              <a:cs typeface="Verdana"/>
            </a:endParaRPr>
          </a:p>
          <a:p>
            <a:pPr marL="7150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(Voltage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Frequency).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usually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handled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on-</a:t>
            </a:r>
            <a:r>
              <a:rPr sz="2000" dirty="0">
                <a:latin typeface="Verdana"/>
                <a:cs typeface="Verdana"/>
              </a:rPr>
              <a:t>chip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CMOS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circuit.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0506" y="6807"/>
            <a:ext cx="75418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5630" marR="5080" indent="-1853564">
              <a:lnSpc>
                <a:spcPct val="100000"/>
              </a:lnSpc>
              <a:spcBef>
                <a:spcPts val="100"/>
              </a:spcBef>
            </a:pPr>
            <a:r>
              <a:rPr dirty="0"/>
              <a:t>Bridge</a:t>
            </a:r>
            <a:r>
              <a:rPr spc="-75" dirty="0"/>
              <a:t> </a:t>
            </a:r>
            <a:r>
              <a:rPr dirty="0"/>
              <a:t>circuit</a:t>
            </a:r>
            <a:r>
              <a:rPr spc="-9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capacitance measurements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676144"/>
            <a:ext cx="3325367" cy="29733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9679" y="1976627"/>
            <a:ext cx="2508504" cy="762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53212" y="1348057"/>
            <a:ext cx="793051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803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2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variable</a:t>
            </a:r>
            <a:r>
              <a:rPr sz="2000" spc="25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measured</a:t>
            </a:r>
            <a:r>
              <a:rPr sz="2000" spc="2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25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measuring</a:t>
            </a:r>
            <a:endParaRPr sz="200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voltage</a:t>
            </a:r>
            <a:r>
              <a:rPr sz="2000" spc="-25" dirty="0">
                <a:latin typeface="Verdana"/>
                <a:cs typeface="Verdana"/>
              </a:rPr>
              <a:t> V</a:t>
            </a:r>
            <a:r>
              <a:rPr sz="1950" spc="-37" baseline="-21367" dirty="0">
                <a:latin typeface="Verdana"/>
                <a:cs typeface="Verdana"/>
              </a:rPr>
              <a:t>0</a:t>
            </a:r>
            <a:r>
              <a:rPr sz="2000" spc="-25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9790" y="2941447"/>
            <a:ext cx="1905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4965" algn="l"/>
                <a:tab pos="1059180" algn="l"/>
              </a:tabLst>
            </a:pP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output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2872" y="2790142"/>
            <a:ext cx="101981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95"/>
              </a:spcBef>
            </a:pPr>
            <a:r>
              <a:rPr sz="2000" spc="-10" dirty="0">
                <a:latin typeface="Verdana"/>
                <a:cs typeface="Verdana"/>
              </a:rPr>
              <a:t>voltage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bridge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4084" y="3856101"/>
            <a:ext cx="20059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7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change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3953" y="2790142"/>
            <a:ext cx="1216660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95"/>
              </a:spcBef>
              <a:tabLst>
                <a:tab pos="831850" algn="l"/>
              </a:tabLst>
            </a:pPr>
            <a:r>
              <a:rPr sz="2000" spc="-20" dirty="0">
                <a:latin typeface="Verdana"/>
                <a:cs typeface="Verdana"/>
              </a:rPr>
              <a:t>from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5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circuit</a:t>
            </a:r>
            <a:r>
              <a:rPr sz="2000" spc="13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R="5715" algn="r">
              <a:lnSpc>
                <a:spcPct val="100000"/>
              </a:lnSpc>
              <a:spcBef>
                <a:spcPts val="1200"/>
              </a:spcBef>
            </a:pPr>
            <a:r>
              <a:rPr sz="2000" spc="-25" dirty="0">
                <a:latin typeface="Verdana"/>
                <a:cs typeface="Verdana"/>
              </a:rPr>
              <a:t>of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2690" y="3246176"/>
            <a:ext cx="152146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5"/>
              </a:spcBef>
            </a:pPr>
            <a:r>
              <a:rPr sz="2000" spc="-10" dirty="0">
                <a:latin typeface="Verdana"/>
                <a:cs typeface="Verdana"/>
              </a:rPr>
              <a:t>capacitance non-linear capacitance variation.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7633" y="4313301"/>
            <a:ext cx="22561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due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pressure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9790" y="5076342"/>
            <a:ext cx="429260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4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nonlinear</a:t>
            </a:r>
            <a:r>
              <a:rPr sz="2000" spc="105" dirty="0">
                <a:latin typeface="Verdana"/>
                <a:cs typeface="Verdana"/>
              </a:rPr>
              <a:t>   </a:t>
            </a:r>
            <a:r>
              <a:rPr sz="2000" spc="-10" dirty="0">
                <a:latin typeface="Verdana"/>
                <a:cs typeface="Verdana"/>
              </a:rPr>
              <a:t>input/output </a:t>
            </a:r>
            <a:r>
              <a:rPr sz="2000" dirty="0">
                <a:latin typeface="Verdana"/>
                <a:cs typeface="Verdana"/>
              </a:rPr>
              <a:t>relationship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indicated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above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equation.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4654" y="281685"/>
            <a:ext cx="477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Sensitivity</a:t>
            </a:r>
            <a:r>
              <a:rPr spc="-40" dirty="0"/>
              <a:t> </a:t>
            </a:r>
            <a:r>
              <a:rPr spc="-10" dirty="0"/>
              <a:t>Factors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6526530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thickness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(thinner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sensitive)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radius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Initial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gap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distance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39774" y="281685"/>
            <a:ext cx="7063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4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Comparison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9405"/>
            <a:ext cx="8454390" cy="45986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265" marR="3262629" indent="-342265" algn="r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422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Advantages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0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Capacitive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2000">
              <a:latin typeface="Verdana"/>
              <a:cs typeface="Verdana"/>
            </a:endParaRPr>
          </a:p>
          <a:p>
            <a:pPr marL="342900" marR="3286760" lvl="1" indent="-342900" algn="r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42900" algn="l"/>
              </a:tabLst>
            </a:pPr>
            <a:r>
              <a:rPr sz="2000" dirty="0">
                <a:latin typeface="Verdana"/>
                <a:cs typeface="Verdana"/>
              </a:rPr>
              <a:t>Power: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Extremely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power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draw.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Durability: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overpressure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capability.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Noise: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"thermal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noise"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resistive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counterparts.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Limitations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spc="-10" dirty="0">
                <a:latin typeface="Verdana"/>
                <a:cs typeface="Verdana"/>
              </a:rPr>
              <a:t>Non-</a:t>
            </a:r>
            <a:r>
              <a:rPr sz="2000" dirty="0">
                <a:latin typeface="Verdana"/>
                <a:cs typeface="Verdana"/>
              </a:rPr>
              <a:t>linearity: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1/</a:t>
            </a: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relationship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isn't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perfectly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linear.</a:t>
            </a:r>
            <a:endParaRPr sz="2000">
              <a:latin typeface="Verdana"/>
              <a:cs typeface="Verdana"/>
            </a:endParaRPr>
          </a:p>
          <a:p>
            <a:pPr marL="715010" marR="5715" lvl="1" indent="-343535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Stray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Capacitance: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Parasitic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signals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housing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can </a:t>
            </a:r>
            <a:r>
              <a:rPr sz="2000" spc="-10" dirty="0">
                <a:latin typeface="Verdana"/>
                <a:cs typeface="Verdana"/>
              </a:rPr>
              <a:t>interfere.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  <a:tab pos="2702560" algn="l"/>
                <a:tab pos="4243705" algn="l"/>
                <a:tab pos="5344160" algn="l"/>
                <a:tab pos="7456805" algn="l"/>
              </a:tabLst>
            </a:pPr>
            <a:r>
              <a:rPr sz="2000" spc="-10" dirty="0">
                <a:latin typeface="Verdana"/>
                <a:cs typeface="Verdana"/>
              </a:rPr>
              <a:t>Complexity: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Requires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more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sophisticated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readout</a:t>
            </a:r>
            <a:endParaRPr sz="2000">
              <a:latin typeface="Verdana"/>
              <a:cs typeface="Verdana"/>
            </a:endParaRPr>
          </a:p>
          <a:p>
            <a:pPr marL="71501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electronics.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80182" y="281685"/>
            <a:ext cx="318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127760"/>
            <a:ext cx="7762240" cy="53765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Automotive</a:t>
            </a:r>
            <a:r>
              <a:rPr sz="1800" b="1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Industry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TPMS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(Tire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Pressure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Monitoring</a:t>
            </a:r>
            <a:r>
              <a:rPr sz="1800" spc="-10" dirty="0">
                <a:latin typeface="Verdana"/>
                <a:cs typeface="Verdana"/>
              </a:rPr>
              <a:t> Systems).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Manifold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Absolute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Pressure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(MAP)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sensors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engine</a:t>
            </a:r>
            <a:r>
              <a:rPr sz="1800" spc="-10" dirty="0">
                <a:latin typeface="Verdana"/>
                <a:cs typeface="Verdana"/>
              </a:rPr>
              <a:t> control.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Consumer</a:t>
            </a:r>
            <a:r>
              <a:rPr sz="18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Electronics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Altimeters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smartphones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smartwatches.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spc="-10" dirty="0">
                <a:latin typeface="Verdana"/>
                <a:cs typeface="Verdana"/>
              </a:rPr>
              <a:t>Touchscreens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(specifically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force-</a:t>
            </a:r>
            <a:r>
              <a:rPr sz="1800" dirty="0">
                <a:latin typeface="Verdana"/>
                <a:cs typeface="Verdana"/>
              </a:rPr>
              <a:t>sensing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touch).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Medical</a:t>
            </a:r>
            <a:r>
              <a:rPr sz="18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Applications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Disposable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blood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pressure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sensors.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Intracranial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pressure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monitoring.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CPAP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machines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sleep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apnea.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Industrial</a:t>
            </a:r>
            <a:r>
              <a:rPr sz="18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18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Aerospace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HVAC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system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monitoring.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Aircraft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altimeters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airspeed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indicators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(Pitot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tubes).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63243"/>
            <a:ext cx="81502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Summary:</a:t>
            </a:r>
            <a:r>
              <a:rPr sz="20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Capacitive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microsensors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"gold</a:t>
            </a:r>
            <a:r>
              <a:rPr sz="2000" spc="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standard"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low-</a:t>
            </a:r>
            <a:r>
              <a:rPr sz="2000" spc="-30" dirty="0">
                <a:latin typeface="Verdana"/>
                <a:cs typeface="Verdana"/>
              </a:rPr>
              <a:t>power,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high-</a:t>
            </a:r>
            <a:r>
              <a:rPr sz="2000" dirty="0">
                <a:latin typeface="Verdana"/>
                <a:cs typeface="Verdana"/>
              </a:rPr>
              <a:t>precision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sensing.</a:t>
            </a:r>
            <a:endParaRPr sz="2000">
              <a:latin typeface="Verdana"/>
              <a:cs typeface="Verdana"/>
            </a:endParaRPr>
          </a:p>
          <a:p>
            <a:pPr marL="355600" marR="6985" indent="-342900">
              <a:lnSpc>
                <a:spcPts val="3600"/>
              </a:lnSpc>
              <a:spcBef>
                <a:spcPts val="1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Future:</a:t>
            </a:r>
            <a:r>
              <a:rPr sz="2000" b="1" spc="3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Integration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AI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"smart"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edge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sensing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further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miniaturization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(NEMS).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08557" y="281685"/>
            <a:ext cx="632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161135"/>
            <a:ext cx="8379459" cy="546798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Define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MEMS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context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sensing.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State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relationship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between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capacitance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diaphragm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deflection.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What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"Stray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Capacitance"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microsensors?</a:t>
            </a:r>
            <a:endParaRPr sz="1700">
              <a:latin typeface="Verdana"/>
              <a:cs typeface="Verdana"/>
            </a:endParaRPr>
          </a:p>
          <a:p>
            <a:pPr marL="469900" marR="6350" indent="-457834">
              <a:lnSpc>
                <a:spcPct val="150000"/>
              </a:lnSpc>
              <a:buAutoNum type="arabicPeriod"/>
              <a:tabLst>
                <a:tab pos="469900" algn="l"/>
                <a:tab pos="1821814" algn="l"/>
                <a:tab pos="2595880" algn="l"/>
                <a:tab pos="3853815" algn="l"/>
                <a:tab pos="5051425" algn="l"/>
                <a:tab pos="7118984" algn="l"/>
                <a:tab pos="7894320" algn="l"/>
              </a:tabLst>
            </a:pPr>
            <a:r>
              <a:rPr sz="1700" spc="-10" dirty="0">
                <a:latin typeface="Verdana"/>
                <a:cs typeface="Verdana"/>
              </a:rPr>
              <a:t>Compare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5" dirty="0">
                <a:latin typeface="Verdana"/>
                <a:cs typeface="Verdana"/>
              </a:rPr>
              <a:t>and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contrast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Surface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Micromachining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5" dirty="0">
                <a:latin typeface="Verdana"/>
                <a:cs typeface="Verdana"/>
              </a:rPr>
              <a:t>and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0" dirty="0">
                <a:latin typeface="Verdana"/>
                <a:cs typeface="Verdana"/>
              </a:rPr>
              <a:t>Bulk </a:t>
            </a:r>
            <a:r>
              <a:rPr sz="1700" spc="-10" dirty="0">
                <a:latin typeface="Verdana"/>
                <a:cs typeface="Verdana"/>
              </a:rPr>
              <a:t>Micromachining.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25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Describe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basic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construction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capacitive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microsensor.</a:t>
            </a:r>
            <a:endParaRPr sz="1700">
              <a:latin typeface="Verdana"/>
              <a:cs typeface="Verdana"/>
            </a:endParaRPr>
          </a:p>
          <a:p>
            <a:pPr marL="469900" marR="6350" indent="-457834">
              <a:lnSpc>
                <a:spcPct val="150000"/>
              </a:lnSpc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9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two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major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applications</a:t>
            </a:r>
            <a:r>
              <a:rPr sz="1700" spc="1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MEMS</a:t>
            </a:r>
            <a:r>
              <a:rPr sz="1700" spc="1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10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sensors</a:t>
            </a:r>
            <a:r>
              <a:rPr sz="1700" spc="1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95" dirty="0">
                <a:latin typeface="Verdana"/>
                <a:cs typeface="Verdana"/>
              </a:rPr>
              <a:t>  </a:t>
            </a:r>
            <a:r>
              <a:rPr sz="1700" spc="-25" dirty="0">
                <a:latin typeface="Verdana"/>
                <a:cs typeface="Verdana"/>
              </a:rPr>
              <a:t>the </a:t>
            </a:r>
            <a:r>
              <a:rPr sz="1700" dirty="0">
                <a:latin typeface="Verdana"/>
                <a:cs typeface="Verdana"/>
              </a:rPr>
              <a:t>automotive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industry.</a:t>
            </a:r>
            <a:endParaRPr sz="1700">
              <a:latin typeface="Verdana"/>
              <a:cs typeface="Verdana"/>
            </a:endParaRPr>
          </a:p>
          <a:p>
            <a:pPr marL="469900" marR="6350" indent="-457834">
              <a:lnSpc>
                <a:spcPts val="3060"/>
              </a:lnSpc>
              <a:spcBef>
                <a:spcPts val="27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3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complete</a:t>
            </a:r>
            <a:r>
              <a:rPr sz="1700" spc="3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working</a:t>
            </a:r>
            <a:r>
              <a:rPr sz="1700" spc="3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mechanism</a:t>
            </a:r>
            <a:r>
              <a:rPr sz="1700" spc="4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3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3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capacitive</a:t>
            </a:r>
            <a:r>
              <a:rPr sz="1700" spc="50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pressure </a:t>
            </a:r>
            <a:r>
              <a:rPr sz="1700" spc="-20" dirty="0">
                <a:latin typeface="Verdana"/>
                <a:cs typeface="Verdana"/>
              </a:rPr>
              <a:t>microsensor.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Supplement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your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answer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with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neat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schematic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diagram.</a:t>
            </a:r>
            <a:endParaRPr sz="1700">
              <a:latin typeface="Verdana"/>
              <a:cs typeface="Verdana"/>
            </a:endParaRPr>
          </a:p>
          <a:p>
            <a:pPr marL="469900" marR="5715" indent="-457834">
              <a:lnSpc>
                <a:spcPts val="306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Discuss</a:t>
            </a:r>
            <a:r>
              <a:rPr sz="1700" spc="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114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advantages</a:t>
            </a:r>
            <a:r>
              <a:rPr sz="1700" spc="1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1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limitations</a:t>
            </a:r>
            <a:r>
              <a:rPr sz="1700" spc="114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1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capacitive</a:t>
            </a:r>
            <a:r>
              <a:rPr sz="1700" spc="1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microsensors</a:t>
            </a:r>
            <a:r>
              <a:rPr sz="1700" spc="9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over </a:t>
            </a:r>
            <a:r>
              <a:rPr sz="1700" dirty="0">
                <a:latin typeface="Verdana"/>
                <a:cs typeface="Verdana"/>
              </a:rPr>
              <a:t>piezoresistive</a:t>
            </a:r>
            <a:r>
              <a:rPr sz="1700" spc="-10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microsensors.</a:t>
            </a:r>
            <a:endParaRPr sz="1700">
              <a:latin typeface="Verdana"/>
              <a:cs typeface="Verdana"/>
            </a:endParaRPr>
          </a:p>
          <a:p>
            <a:pPr marL="469900" marR="5080" indent="-457834">
              <a:lnSpc>
                <a:spcPts val="3060"/>
              </a:lnSpc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Why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are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capacitive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sensors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gaining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popularity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medical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mobile sectors?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1364"/>
            <a:ext cx="807402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55600" algn="l"/>
                <a:tab pos="1015365" algn="l"/>
                <a:tab pos="1784985" algn="l"/>
                <a:tab pos="2641600" algn="l"/>
                <a:tab pos="3686175" algn="l"/>
                <a:tab pos="4437380" algn="l"/>
                <a:tab pos="6440170" algn="l"/>
                <a:tab pos="7588250" algn="l"/>
              </a:tabLst>
            </a:pPr>
            <a:r>
              <a:rPr sz="2000" spc="-25" dirty="0">
                <a:latin typeface="Verdana"/>
                <a:cs typeface="Verdana"/>
              </a:rPr>
              <a:t>Tai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Ran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Hsu,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MEMS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and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Microsystems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Design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Manufacture,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Tata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McGraw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Hill,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First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Edition,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2002.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1029" y="2704033"/>
            <a:ext cx="53638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0" i="1" dirty="0">
                <a:solidFill>
                  <a:srgbClr val="006FC0"/>
                </a:solidFill>
                <a:latin typeface="Verdana"/>
                <a:cs typeface="Verdana"/>
              </a:rPr>
              <a:t>Thank</a:t>
            </a:r>
            <a:r>
              <a:rPr sz="8000" b="0" i="1" spc="-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8000" b="0" i="1" spc="-25" dirty="0">
                <a:solidFill>
                  <a:srgbClr val="006FC0"/>
                </a:solidFill>
                <a:latin typeface="Verdana"/>
                <a:cs typeface="Verdana"/>
              </a:rPr>
              <a:t>you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536</Words>
  <Application>Microsoft Office PowerPoint</Application>
  <PresentationFormat>On-screen Show (4:3)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What is a Microsensor?</vt:lpstr>
      <vt:lpstr>Why Capacitive Sensing?</vt:lpstr>
      <vt:lpstr>Construction &amp; Design</vt:lpstr>
      <vt:lpstr>Construction &amp; Design</vt:lpstr>
      <vt:lpstr>Schematic Diagram</vt:lpstr>
      <vt:lpstr>Working Mechanism</vt:lpstr>
      <vt:lpstr>Working Mechanism</vt:lpstr>
      <vt:lpstr>Bridge circuit for capacitance measurements</vt:lpstr>
      <vt:lpstr>Sensitivity Factors</vt:lpstr>
      <vt:lpstr>Performance &amp; Comparison</vt:lpstr>
      <vt:lpstr>Applications</vt:lpstr>
      <vt:lpstr>Conclusion</vt:lpstr>
      <vt:lpstr>Test your understanding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Microsoft account</cp:lastModifiedBy>
  <cp:revision>1</cp:revision>
  <dcterms:created xsi:type="dcterms:W3CDTF">2026-07-01T10:30:09Z</dcterms:created>
  <dcterms:modified xsi:type="dcterms:W3CDTF">2026-07-01T10:31:00Z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2026-07-01T00:00:00Z</vt:filetime>
  </property>
  <property fmtid="{D5CDD505-2E9C-101B-9397-08002B2CF9AE}" pid="6" name="Producer">
    <vt:lpwstr>Microsoft® PowerPoint® for Microsoft 365</vt:lpwstr>
  </property>
</Properties>
</file>