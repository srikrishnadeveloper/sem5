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72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2985" y="2875359"/>
            <a:ext cx="7252428" cy="3363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ndustry.plantautomation-technology.com/whitepapers/1485944904-acoustic-wave-technology-" TargetMode="External"/><Relationship Id="rId2" Type="http://schemas.openxmlformats.org/officeDocument/2006/relationships/hyperlink" Target="https://pmc.ncbi.nlm.nih.gov/articles/PMC6833005/pdf/se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02985" y="2875359"/>
            <a:ext cx="7252428" cy="3423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1905" algn="ctr">
              <a:lnSpc>
                <a:spcPct val="100600"/>
              </a:lnSpc>
              <a:spcBef>
                <a:spcPts val="90"/>
              </a:spcBef>
            </a:pPr>
            <a:r>
              <a:rPr dirty="0"/>
              <a:t>Unit</a:t>
            </a:r>
            <a:r>
              <a:rPr spc="5" dirty="0"/>
              <a:t> </a:t>
            </a:r>
            <a:r>
              <a:rPr dirty="0"/>
              <a:t>III:</a:t>
            </a:r>
            <a:r>
              <a:rPr spc="30" dirty="0"/>
              <a:t> </a:t>
            </a:r>
            <a:r>
              <a:rPr dirty="0"/>
              <a:t>Quartz</a:t>
            </a:r>
            <a:r>
              <a:rPr spc="15" dirty="0"/>
              <a:t> </a:t>
            </a:r>
            <a:r>
              <a:rPr spc="-10" dirty="0"/>
              <a:t>Crystal </a:t>
            </a:r>
            <a:r>
              <a:rPr dirty="0"/>
              <a:t>Microbalance</a:t>
            </a:r>
            <a:r>
              <a:rPr spc="45" dirty="0"/>
              <a:t> </a:t>
            </a:r>
            <a:r>
              <a:rPr dirty="0"/>
              <a:t>(QCM)</a:t>
            </a:r>
            <a:r>
              <a:rPr spc="15" dirty="0"/>
              <a:t> </a:t>
            </a:r>
            <a:r>
              <a:rPr spc="-10" dirty="0"/>
              <a:t>Sensors</a:t>
            </a:r>
          </a:p>
          <a:p>
            <a:pPr marL="2292350" marR="2284095" algn="ctr">
              <a:lnSpc>
                <a:spcPct val="121600"/>
              </a:lnSpc>
              <a:spcBef>
                <a:spcPts val="3254"/>
              </a:spcBef>
            </a:pP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b="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b="0" spc="-45" dirty="0" err="1" smtClean="0">
                <a:solidFill>
                  <a:srgbClr val="808080"/>
                </a:solidFill>
                <a:latin typeface="Verdana"/>
                <a:cs typeface="Verdana"/>
              </a:rPr>
              <a:t>Dr</a:t>
            </a:r>
            <a:r>
              <a:rPr lang="en-GB" sz="2500" b="0" spc="-45" dirty="0" smtClean="0">
                <a:solidFill>
                  <a:srgbClr val="808080"/>
                </a:solidFill>
                <a:latin typeface="Verdana"/>
                <a:cs typeface="Verdana"/>
              </a:rPr>
              <a:t>. C. Annadurai</a:t>
            </a:r>
            <a:endParaRPr sz="2500" dirty="0">
              <a:latin typeface="Verdana"/>
              <a:cs typeface="Verdana"/>
            </a:endParaRPr>
          </a:p>
          <a:p>
            <a:pPr marL="960119" marR="950594" algn="ctr">
              <a:lnSpc>
                <a:spcPts val="3650"/>
              </a:lnSpc>
              <a:spcBef>
                <a:spcPts val="90"/>
              </a:spcBef>
            </a:pP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b="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b="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b="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b="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b="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b="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284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To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working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principles,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technology,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Quartz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Microbalance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(QCM)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acoustic 	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336" y="1675295"/>
            <a:ext cx="8933180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 marR="819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4540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5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51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ultra-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5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weighing</a:t>
            </a:r>
            <a:r>
              <a:rPr sz="2200" spc="50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device</a:t>
            </a:r>
            <a:r>
              <a:rPr sz="2200" spc="51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that 	</a:t>
            </a:r>
            <a:r>
              <a:rPr sz="2200" dirty="0">
                <a:latin typeface="Verdana"/>
                <a:cs typeface="Verdana"/>
              </a:rPr>
              <a:t>measures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measuring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quartz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resonator.</a:t>
            </a:r>
            <a:endParaRPr sz="2200">
              <a:latin typeface="Verdana"/>
              <a:cs typeface="Verdana"/>
            </a:endParaRPr>
          </a:p>
          <a:p>
            <a:pPr marL="452755" marR="81280" indent="-377190" algn="just">
              <a:lnSpc>
                <a:spcPct val="150000"/>
              </a:lnSpc>
              <a:buFont typeface="Wingdings"/>
              <a:buChar char=""/>
              <a:tabLst>
                <a:tab pos="4540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Capable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nanogram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scale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(10</a:t>
            </a:r>
            <a:r>
              <a:rPr sz="2175" spc="-30" baseline="24904" dirty="0">
                <a:latin typeface="Verdana"/>
                <a:cs typeface="Verdana"/>
              </a:rPr>
              <a:t>-</a:t>
            </a:r>
            <a:r>
              <a:rPr sz="2175" baseline="24904" dirty="0">
                <a:latin typeface="Verdana"/>
                <a:cs typeface="Verdana"/>
              </a:rPr>
              <a:t>9 </a:t>
            </a:r>
            <a:r>
              <a:rPr sz="2200" spc="-10" dirty="0">
                <a:latin typeface="Verdana"/>
                <a:cs typeface="Verdana"/>
              </a:rPr>
              <a:t>grams).</a:t>
            </a:r>
            <a:endParaRPr sz="2200">
              <a:latin typeface="Verdana"/>
              <a:cs typeface="Verdana"/>
            </a:endParaRPr>
          </a:p>
          <a:p>
            <a:pPr marL="452755" marR="82550" indent="-377190" algn="just">
              <a:lnSpc>
                <a:spcPct val="150000"/>
              </a:lnSpc>
              <a:buFont typeface="Wingdings"/>
              <a:buChar char=""/>
              <a:tabLst>
                <a:tab pos="4540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Core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sz="22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utilizes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Wave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phenomenon, 	</a:t>
            </a:r>
            <a:r>
              <a:rPr sz="2200" dirty="0">
                <a:latin typeface="Verdana"/>
                <a:cs typeface="Verdana"/>
              </a:rPr>
              <a:t>specifically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Thickness</a:t>
            </a:r>
            <a:r>
              <a:rPr sz="2200" b="1" spc="17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Shear</a:t>
            </a:r>
            <a:r>
              <a:rPr sz="2200" b="1" spc="18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Mode</a:t>
            </a:r>
            <a:r>
              <a:rPr sz="2200" b="1" spc="17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(TSM)</a:t>
            </a:r>
            <a:r>
              <a:rPr sz="2200" b="1" spc="18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uses 	</a:t>
            </a:r>
            <a:r>
              <a:rPr sz="2200" dirty="0">
                <a:latin typeface="Verdana"/>
                <a:cs typeface="Verdana"/>
              </a:rPr>
              <a:t>waves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travel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bulk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crystal.</a:t>
            </a:r>
            <a:endParaRPr sz="2200">
              <a:latin typeface="Verdana"/>
              <a:cs typeface="Verdana"/>
            </a:endParaRPr>
          </a:p>
          <a:p>
            <a:pPr marL="452755" marR="80645" indent="-377190" algn="just">
              <a:lnSpc>
                <a:spcPct val="150000"/>
              </a:lnSpc>
              <a:buFont typeface="Wingdings"/>
              <a:buChar char=""/>
              <a:tabLst>
                <a:tab pos="4540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Application: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Precision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Piezoelectric 	Resonance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20403" y="426127"/>
            <a:ext cx="4414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20" dirty="0"/>
              <a:t>QCM?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17071" y="426127"/>
            <a:ext cx="66217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Piezoelectric</a:t>
            </a:r>
            <a:r>
              <a:rPr spc="-75" dirty="0"/>
              <a:t> </a:t>
            </a:r>
            <a:r>
              <a:rPr spc="-10" dirty="0"/>
              <a:t>Effect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895276"/>
            <a:ext cx="4146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9890" algn="l"/>
                <a:tab pos="1282700" algn="l"/>
                <a:tab pos="3482340" algn="l"/>
              </a:tabLst>
            </a:pP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Foundation: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QCM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5323" y="1895276"/>
            <a:ext cx="4267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83310" algn="l"/>
                <a:tab pos="1744345" algn="l"/>
                <a:tab pos="2516505" algn="l"/>
              </a:tabLst>
            </a:pPr>
            <a:r>
              <a:rPr sz="2200" spc="-10" dirty="0">
                <a:latin typeface="Verdana"/>
                <a:cs typeface="Verdana"/>
              </a:rPr>
              <a:t>relies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piezoelectric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4585" y="2230081"/>
            <a:ext cx="381127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Verdana"/>
                <a:cs typeface="Verdana"/>
              </a:rPr>
              <a:t>properties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quartz.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Inverse</a:t>
            </a:r>
            <a:r>
              <a:rPr sz="2200" b="1" spc="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Piezoelectric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64245" y="2901216"/>
            <a:ext cx="4719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Effect:</a:t>
            </a:r>
            <a:r>
              <a:rPr sz="2200"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Applying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  </a:t>
            </a:r>
            <a:r>
              <a:rPr sz="2200" spc="-10" dirty="0">
                <a:latin typeface="Verdana"/>
                <a:cs typeface="Verdana"/>
              </a:rPr>
              <a:t>alternating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4585" y="3235885"/>
            <a:ext cx="870775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762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(AC)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causes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</a:t>
            </a:r>
            <a:r>
              <a:rPr sz="2200" dirty="0">
                <a:latin typeface="Verdana"/>
                <a:cs typeface="Verdana"/>
              </a:rPr>
              <a:t>oscillate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(vibrate)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resonant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Why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Quartz?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stability,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 	</a:t>
            </a:r>
            <a:r>
              <a:rPr sz="2200" dirty="0">
                <a:latin typeface="Verdana"/>
                <a:cs typeface="Verdana"/>
              </a:rPr>
              <a:t>sensitivity </a:t>
            </a:r>
            <a:r>
              <a:rPr sz="2200" spc="-85" dirty="0">
                <a:latin typeface="Verdana"/>
                <a:cs typeface="Verdana"/>
              </a:rPr>
              <a:t>(AT-</a:t>
            </a:r>
            <a:r>
              <a:rPr sz="2200" dirty="0">
                <a:latin typeface="Verdana"/>
                <a:cs typeface="Verdana"/>
              </a:rPr>
              <a:t>cut crystals), and excellent </a:t>
            </a:r>
            <a:r>
              <a:rPr sz="2200" spc="-25" dirty="0">
                <a:latin typeface="Verdana"/>
                <a:cs typeface="Verdana"/>
              </a:rPr>
              <a:t>frequency-to-	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correlation.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3455" y="426127"/>
            <a:ext cx="733170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Anatomy</a:t>
            </a:r>
            <a:r>
              <a:rPr spc="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QCM</a:t>
            </a:r>
            <a:r>
              <a:rPr spc="-5" dirty="0"/>
              <a:t> </a:t>
            </a:r>
            <a:r>
              <a:rPr spc="-10" dirty="0"/>
              <a:t>Sensor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721650"/>
            <a:ext cx="24009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6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Crystal: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0838" y="1721650"/>
            <a:ext cx="6372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Typically,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thin,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circular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disk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spc="-90" dirty="0">
                <a:latin typeface="Verdana"/>
                <a:cs typeface="Verdana"/>
              </a:rPr>
              <a:t>"AT-</a:t>
            </a:r>
            <a:r>
              <a:rPr sz="2200" spc="-20" dirty="0">
                <a:latin typeface="Verdana"/>
                <a:cs typeface="Verdana"/>
              </a:rPr>
              <a:t>cut"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202" y="2056319"/>
            <a:ext cx="8959215" cy="2540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420"/>
              </a:spcBef>
            </a:pPr>
            <a:r>
              <a:rPr sz="2200" spc="-10" dirty="0">
                <a:latin typeface="Verdana"/>
                <a:cs typeface="Verdana"/>
              </a:rPr>
              <a:t>quartz.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46020" algn="l"/>
                <a:tab pos="3486150" algn="l"/>
                <a:tab pos="4641215" algn="l"/>
                <a:tab pos="5229225" algn="l"/>
                <a:tab pos="6755130" algn="l"/>
                <a:tab pos="84924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Electrodes: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Gold,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Silver,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Platinum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electrodes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 	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sides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provide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field.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Mounting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Held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specialized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both 	</a:t>
            </a:r>
            <a:r>
              <a:rPr sz="2200" dirty="0">
                <a:latin typeface="Verdana"/>
                <a:cs typeface="Verdana"/>
              </a:rPr>
              <a:t>sides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exposed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sample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(gas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3455" y="426127"/>
            <a:ext cx="733170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Anatomy</a:t>
            </a:r>
            <a:r>
              <a:rPr spc="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QCM</a:t>
            </a:r>
            <a:r>
              <a:rPr spc="-5" dirty="0"/>
              <a:t> </a:t>
            </a:r>
            <a:r>
              <a:rPr spc="-10" dirty="0"/>
              <a:t>Sensor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1418844"/>
            <a:ext cx="5783579" cy="58719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6099" y="3053427"/>
            <a:ext cx="1796011" cy="25111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3455" y="426127"/>
            <a:ext cx="733170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Anatomy</a:t>
            </a:r>
            <a:r>
              <a:rPr spc="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QCM</a:t>
            </a:r>
            <a:r>
              <a:rPr spc="-5" dirty="0"/>
              <a:t> </a:t>
            </a:r>
            <a:r>
              <a:rPr spc="-10" dirty="0"/>
              <a:t>Sensor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999" y="2385060"/>
            <a:ext cx="4288413" cy="31498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8985" y="2671544"/>
            <a:ext cx="4542638" cy="26343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17267" y="5943115"/>
            <a:ext cx="556831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QCM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(a)</a:t>
            </a:r>
            <a:r>
              <a:rPr sz="15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Schematic</a:t>
            </a:r>
            <a:r>
              <a:rPr sz="1500"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Diagram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5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(b)</a:t>
            </a:r>
            <a:r>
              <a:rPr sz="15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Cross-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section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34806" y="426127"/>
            <a:ext cx="6791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Sauerbrey</a:t>
            </a:r>
            <a:r>
              <a:rPr spc="-70" dirty="0"/>
              <a:t> </a:t>
            </a:r>
            <a:r>
              <a:rPr spc="-10" dirty="0"/>
              <a:t>Equation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701768"/>
            <a:ext cx="75330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89890" algn="l"/>
                <a:tab pos="1282700" algn="l"/>
                <a:tab pos="3717290" algn="l"/>
                <a:tab pos="4810125" algn="l"/>
                <a:tab pos="5423535" algn="l"/>
                <a:tab pos="6555740" algn="l"/>
              </a:tabLst>
            </a:pP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Mathematical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Link: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1959,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Günter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1878" y="1533535"/>
            <a:ext cx="217678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07390">
              <a:lnSpc>
                <a:spcPct val="150000"/>
              </a:lnSpc>
              <a:spcBef>
                <a:spcPts val="100"/>
              </a:spcBef>
            </a:pPr>
            <a:r>
              <a:rPr sz="2200" spc="-10" dirty="0">
                <a:latin typeface="Verdana"/>
                <a:cs typeface="Verdana"/>
              </a:rPr>
              <a:t>Sauerbrey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202" y="2036437"/>
            <a:ext cx="6922134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established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relationship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between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(Δ</a:t>
            </a:r>
            <a:r>
              <a:rPr sz="2200" i="1" dirty="0">
                <a:latin typeface="Verdana"/>
                <a:cs typeface="Verdana"/>
              </a:rPr>
              <a:t>f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(Δ</a:t>
            </a:r>
            <a:r>
              <a:rPr sz="2200" i="1" spc="-10" dirty="0">
                <a:latin typeface="Verdana"/>
                <a:cs typeface="Verdana"/>
              </a:rPr>
              <a:t>m</a:t>
            </a:r>
            <a:r>
              <a:rPr sz="2200" spc="-1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Equation: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5212" y="4038021"/>
            <a:ext cx="18034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403350" algn="l"/>
                <a:tab pos="1764664" algn="l"/>
              </a:tabLst>
            </a:pPr>
            <a:r>
              <a:rPr sz="2200" spc="-360" dirty="0">
                <a:latin typeface="Times New Roman"/>
                <a:cs typeface="Times New Roman"/>
              </a:rPr>
              <a:t>∆𝑓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spc="395" dirty="0">
                <a:latin typeface="Times New Roman"/>
                <a:cs typeface="Times New Roman"/>
              </a:rPr>
              <a:t>=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spc="395" dirty="0">
                <a:latin typeface="Times New Roman"/>
                <a:cs typeface="Times New Roman"/>
              </a:rPr>
              <a:t>−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1950" u="heavy" baseline="3846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50" u="heavy" spc="120" baseline="3846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950" u="heavy" baseline="3846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950" baseline="3846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5030" y="3949687"/>
            <a:ext cx="4248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00" spc="130" dirty="0">
                <a:latin typeface="Times New Roman"/>
                <a:cs typeface="Times New Roman"/>
              </a:rPr>
              <a:t>2ƒ</a:t>
            </a:r>
            <a:r>
              <a:rPr sz="1950" spc="195" baseline="27777" dirty="0">
                <a:latin typeface="Times New Roman"/>
                <a:cs typeface="Times New Roman"/>
              </a:rPr>
              <a:t>2</a:t>
            </a:r>
            <a:endParaRPr sz="1950" baseline="27777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43044" y="4319015"/>
            <a:ext cx="638810" cy="253365"/>
          </a:xfrm>
          <a:custGeom>
            <a:avLst/>
            <a:gdLst/>
            <a:ahLst/>
            <a:cxnLst/>
            <a:rect l="l" t="t" r="r" b="b"/>
            <a:pathLst>
              <a:path w="638810" h="253364">
                <a:moveTo>
                  <a:pt x="70103" y="252983"/>
                </a:moveTo>
                <a:lnTo>
                  <a:pt x="60959" y="252983"/>
                </a:lnTo>
                <a:lnTo>
                  <a:pt x="19811" y="164592"/>
                </a:lnTo>
                <a:lnTo>
                  <a:pt x="3047" y="172211"/>
                </a:lnTo>
                <a:lnTo>
                  <a:pt x="0" y="164592"/>
                </a:lnTo>
                <a:lnTo>
                  <a:pt x="32003" y="149352"/>
                </a:lnTo>
                <a:lnTo>
                  <a:pt x="67055" y="227076"/>
                </a:lnTo>
                <a:lnTo>
                  <a:pt x="128015" y="0"/>
                </a:lnTo>
                <a:lnTo>
                  <a:pt x="638555" y="0"/>
                </a:lnTo>
                <a:lnTo>
                  <a:pt x="638555" y="13716"/>
                </a:lnTo>
                <a:lnTo>
                  <a:pt x="147827" y="13716"/>
                </a:lnTo>
                <a:lnTo>
                  <a:pt x="147827" y="12192"/>
                </a:lnTo>
                <a:lnTo>
                  <a:pt x="135635" y="12192"/>
                </a:lnTo>
                <a:lnTo>
                  <a:pt x="70103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63234" y="4253021"/>
            <a:ext cx="848994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327025" algn="l"/>
              </a:tabLst>
            </a:pPr>
            <a:r>
              <a:rPr sz="1600" spc="-5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180" dirty="0">
                <a:latin typeface="Times New Roman"/>
                <a:cs typeface="Times New Roman"/>
              </a:rPr>
              <a:t>ρ</a:t>
            </a:r>
            <a:r>
              <a:rPr sz="1950" spc="270" baseline="-12820" dirty="0">
                <a:latin typeface="Times New Roman"/>
                <a:cs typeface="Times New Roman"/>
              </a:rPr>
              <a:t>g</a:t>
            </a:r>
            <a:r>
              <a:rPr sz="1600" spc="180" dirty="0">
                <a:latin typeface="Times New Roman"/>
                <a:cs typeface="Times New Roman"/>
              </a:rPr>
              <a:t>μ</a:t>
            </a:r>
            <a:r>
              <a:rPr sz="1950" spc="270" baseline="-12820" dirty="0">
                <a:latin typeface="Times New Roman"/>
                <a:cs typeface="Times New Roman"/>
              </a:rPr>
              <a:t>g</a:t>
            </a:r>
            <a:endParaRPr sz="1950" baseline="-1282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6474" y="4038021"/>
            <a:ext cx="425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75" dirty="0">
                <a:latin typeface="Times New Roman"/>
                <a:cs typeface="Times New Roman"/>
              </a:rPr>
              <a:t>∆𝑚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802" y="4488577"/>
            <a:ext cx="5229225" cy="2540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152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4152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Variables:</a:t>
            </a:r>
            <a:endParaRPr sz="2200">
              <a:latin typeface="Verdana"/>
              <a:cs typeface="Verdana"/>
            </a:endParaRPr>
          </a:p>
          <a:p>
            <a:pPr marL="1205230" lvl="1" indent="-37655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205230" algn="l"/>
              </a:tabLst>
            </a:pPr>
            <a:r>
              <a:rPr sz="2200" i="1" dirty="0">
                <a:latin typeface="Verdana"/>
                <a:cs typeface="Verdana"/>
              </a:rPr>
              <a:t>f</a:t>
            </a:r>
            <a:r>
              <a:rPr sz="2175" baseline="-21072" dirty="0">
                <a:latin typeface="Verdana"/>
                <a:cs typeface="Verdana"/>
              </a:rPr>
              <a:t>0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Resonant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</a:t>
            </a:r>
            <a:endParaRPr sz="2200">
              <a:latin typeface="Verdana"/>
              <a:cs typeface="Verdana"/>
            </a:endParaRPr>
          </a:p>
          <a:p>
            <a:pPr marL="1205230" lvl="1" indent="-37655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205230" algn="l"/>
              </a:tabLst>
            </a:pPr>
            <a:r>
              <a:rPr sz="2200" i="1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Active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vibrating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area</a:t>
            </a:r>
            <a:endParaRPr sz="2200">
              <a:latin typeface="Verdana"/>
              <a:cs typeface="Verdana"/>
            </a:endParaRPr>
          </a:p>
          <a:p>
            <a:pPr marL="1205230" lvl="1" indent="-37655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205230" algn="l"/>
              </a:tabLst>
            </a:pPr>
            <a:r>
              <a:rPr sz="2200" i="1" dirty="0">
                <a:latin typeface="Verdana"/>
                <a:cs typeface="Verdana"/>
              </a:rPr>
              <a:t>ρ</a:t>
            </a:r>
            <a:r>
              <a:rPr sz="2175" i="1" baseline="-21072" dirty="0">
                <a:latin typeface="Verdana"/>
                <a:cs typeface="Verdana"/>
              </a:rPr>
              <a:t>q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Density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quartz</a:t>
            </a:r>
            <a:endParaRPr sz="2200">
              <a:latin typeface="Verdana"/>
              <a:cs typeface="Verdana"/>
            </a:endParaRPr>
          </a:p>
          <a:p>
            <a:pPr marL="1205230" lvl="1" indent="-37655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205230" algn="l"/>
              </a:tabLst>
            </a:pPr>
            <a:r>
              <a:rPr sz="2200" i="1" dirty="0">
                <a:latin typeface="Verdana"/>
                <a:cs typeface="Verdana"/>
              </a:rPr>
              <a:t>µ</a:t>
            </a:r>
            <a:r>
              <a:rPr sz="2175" i="1" baseline="-21072" dirty="0">
                <a:latin typeface="Verdana"/>
                <a:cs typeface="Verdana"/>
              </a:rPr>
              <a:t>q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Shear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modulus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quartz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34806" y="426127"/>
            <a:ext cx="6791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Sauerbrey</a:t>
            </a:r>
            <a:r>
              <a:rPr spc="-70" dirty="0"/>
              <a:t> </a:t>
            </a:r>
            <a:r>
              <a:rPr spc="-10" dirty="0"/>
              <a:t>Equation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33535"/>
            <a:ext cx="9296400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According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Sauerbrey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equation,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rigid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layer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evenly 	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electrodes,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resonance 	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decreases</a:t>
            </a:r>
            <a:r>
              <a:rPr sz="2200" b="1" spc="2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proportionally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adsorbed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layer.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resonance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function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crystal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mass-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situated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central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part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resonator,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covering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approximately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two 	</a:t>
            </a:r>
            <a:r>
              <a:rPr sz="2200" dirty="0">
                <a:latin typeface="Verdana"/>
                <a:cs typeface="Verdana"/>
              </a:rPr>
              <a:t>electrodes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overlap.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29756" y="124572"/>
            <a:ext cx="899985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3740" marR="5080" indent="-701675">
              <a:lnSpc>
                <a:spcPct val="100200"/>
              </a:lnSpc>
              <a:spcBef>
                <a:spcPts val="100"/>
              </a:spcBef>
            </a:pPr>
            <a:r>
              <a:rPr dirty="0"/>
              <a:t>Under</a:t>
            </a:r>
            <a:r>
              <a:rPr spc="-60" dirty="0"/>
              <a:t> </a:t>
            </a:r>
            <a:r>
              <a:rPr dirty="0"/>
              <a:t>what</a:t>
            </a:r>
            <a:r>
              <a:rPr spc="-5" dirty="0"/>
              <a:t> </a:t>
            </a:r>
            <a:r>
              <a:rPr dirty="0"/>
              <a:t>conditions</a:t>
            </a:r>
            <a:r>
              <a:rPr spc="-35" dirty="0"/>
              <a:t> </a:t>
            </a:r>
            <a:r>
              <a:rPr dirty="0"/>
              <a:t>does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Sauerbrey</a:t>
            </a:r>
            <a:r>
              <a:rPr spc="-65" dirty="0"/>
              <a:t> </a:t>
            </a:r>
            <a:r>
              <a:rPr dirty="0"/>
              <a:t>equation</a:t>
            </a:r>
            <a:r>
              <a:rPr spc="-50" dirty="0"/>
              <a:t> </a:t>
            </a:r>
            <a:r>
              <a:rPr spc="-10" dirty="0"/>
              <a:t>apply?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33535"/>
            <a:ext cx="9295765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Sauerbrey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equation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derived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treating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deposited 	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though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were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extension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thickness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underlying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quartz.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Hence,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only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strictly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applicable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uniform,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rigid,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thin-</a:t>
            </a:r>
            <a:r>
              <a:rPr sz="2200" spc="-20" dirty="0">
                <a:latin typeface="Verdana"/>
                <a:cs typeface="Verdana"/>
              </a:rPr>
              <a:t>film 	</a:t>
            </a:r>
            <a:r>
              <a:rPr sz="2200" spc="-10" dirty="0">
                <a:latin typeface="Verdana"/>
                <a:cs typeface="Verdana"/>
              </a:rPr>
              <a:t>deposits.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In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certain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situations,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Sauerbrey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equation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does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hold; 	</a:t>
            </a:r>
            <a:r>
              <a:rPr sz="2200" dirty="0">
                <a:latin typeface="Verdana"/>
                <a:cs typeface="Verdana"/>
              </a:rPr>
              <a:t>citable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instances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added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</a:t>
            </a:r>
            <a:endParaRPr sz="2200">
              <a:latin typeface="Verdana"/>
              <a:cs typeface="Verdana"/>
            </a:endParaRPr>
          </a:p>
          <a:p>
            <a:pPr marL="1178560" lvl="1" indent="-375285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178560" algn="l"/>
              </a:tabLst>
            </a:pPr>
            <a:r>
              <a:rPr sz="2200" dirty="0">
                <a:latin typeface="Verdana"/>
                <a:cs typeface="Verdana"/>
              </a:rPr>
              <a:t>(i)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rigidly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electrode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surface(s),</a:t>
            </a:r>
            <a:endParaRPr sz="2200">
              <a:latin typeface="Verdana"/>
              <a:cs typeface="Verdana"/>
            </a:endParaRPr>
          </a:p>
          <a:p>
            <a:pPr marL="1178560" lvl="1" indent="-375285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178560" algn="l"/>
              </a:tabLst>
            </a:pPr>
            <a:r>
              <a:rPr sz="2200" dirty="0">
                <a:latin typeface="Verdana"/>
                <a:cs typeface="Verdana"/>
              </a:rPr>
              <a:t>(ii)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slips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or</a:t>
            </a:r>
            <a:endParaRPr sz="2200">
              <a:latin typeface="Verdana"/>
              <a:cs typeface="Verdana"/>
            </a:endParaRPr>
          </a:p>
          <a:p>
            <a:pPr marL="1178560" lvl="1" indent="-375285" algn="just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178560" algn="l"/>
              </a:tabLst>
            </a:pPr>
            <a:r>
              <a:rPr sz="2200" dirty="0">
                <a:latin typeface="Verdana"/>
                <a:cs typeface="Verdana"/>
              </a:rPr>
              <a:t>(iii)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evenly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electrode(s).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11969" y="426127"/>
            <a:ext cx="68319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QCM</a:t>
            </a:r>
            <a:r>
              <a:rPr spc="-25" dirty="0"/>
              <a:t> </a:t>
            </a:r>
            <a:r>
              <a:rPr dirty="0"/>
              <a:t>in Liquids</a:t>
            </a:r>
            <a:r>
              <a:rPr spc="-45" dirty="0"/>
              <a:t> </a:t>
            </a:r>
            <a:r>
              <a:rPr dirty="0"/>
              <a:t>(QCM-</a:t>
            </a:r>
            <a:r>
              <a:rPr spc="-25" dirty="0"/>
              <a:t>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175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Beyond</a:t>
            </a:r>
            <a:r>
              <a:rPr sz="2200" b="1" spc="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Mass:</a:t>
            </a:r>
            <a:r>
              <a:rPr sz="2200"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QCM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assumes  a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rigid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film.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liquids,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lost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medium.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Dissipation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2200" b="1" i="1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):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Measures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how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quickly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oscillations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die 	</a:t>
            </a:r>
            <a:r>
              <a:rPr sz="2200" dirty="0">
                <a:latin typeface="Verdana"/>
                <a:cs typeface="Verdana"/>
              </a:rPr>
              <a:t>out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cut.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Insights:</a:t>
            </a:r>
            <a:endParaRPr sz="2200">
              <a:latin typeface="Verdana"/>
              <a:cs typeface="Verdana"/>
            </a:endParaRPr>
          </a:p>
          <a:p>
            <a:pPr marL="1179830" lvl="1" indent="-37655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179830" algn="l"/>
              </a:tabLst>
            </a:pPr>
            <a:r>
              <a:rPr sz="2200" b="1" dirty="0">
                <a:latin typeface="Verdana"/>
                <a:cs typeface="Verdana"/>
              </a:rPr>
              <a:t>Low</a:t>
            </a:r>
            <a:r>
              <a:rPr sz="2200" b="1" spc="-15" dirty="0">
                <a:latin typeface="Verdana"/>
                <a:cs typeface="Verdana"/>
              </a:rPr>
              <a:t> </a:t>
            </a:r>
            <a:r>
              <a:rPr sz="2200" b="1" i="1" dirty="0">
                <a:latin typeface="Verdana"/>
                <a:cs typeface="Verdana"/>
              </a:rPr>
              <a:t>D</a:t>
            </a:r>
            <a:r>
              <a:rPr sz="2200" b="1" dirty="0">
                <a:latin typeface="Verdana"/>
                <a:cs typeface="Verdana"/>
              </a:rPr>
              <a:t>:</a:t>
            </a:r>
            <a:r>
              <a:rPr sz="2200" b="1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Rigid,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</a:t>
            </a:r>
            <a:r>
              <a:rPr sz="2200" spc="-10" dirty="0">
                <a:latin typeface="Verdana"/>
                <a:cs typeface="Verdana"/>
              </a:rPr>
              <a:t> film.</a:t>
            </a:r>
            <a:endParaRPr sz="2200">
              <a:latin typeface="Verdana"/>
              <a:cs typeface="Verdana"/>
            </a:endParaRPr>
          </a:p>
          <a:p>
            <a:pPr marL="1179830" marR="8255" lvl="1" indent="-376555">
              <a:lnSpc>
                <a:spcPct val="150000"/>
              </a:lnSpc>
              <a:buFont typeface="Wingdings"/>
              <a:buChar char=""/>
              <a:tabLst>
                <a:tab pos="1179830" algn="l"/>
              </a:tabLst>
            </a:pPr>
            <a:r>
              <a:rPr sz="2200" b="1" dirty="0">
                <a:latin typeface="Verdana"/>
                <a:cs typeface="Verdana"/>
              </a:rPr>
              <a:t>High</a:t>
            </a:r>
            <a:r>
              <a:rPr sz="2200" b="1" spc="145" dirty="0">
                <a:latin typeface="Verdana"/>
                <a:cs typeface="Verdana"/>
              </a:rPr>
              <a:t>  </a:t>
            </a:r>
            <a:r>
              <a:rPr sz="2200" b="1" i="1" dirty="0">
                <a:latin typeface="Verdana"/>
                <a:cs typeface="Verdana"/>
              </a:rPr>
              <a:t>D</a:t>
            </a:r>
            <a:r>
              <a:rPr sz="2200" b="1" dirty="0">
                <a:latin typeface="Verdana"/>
                <a:cs typeface="Verdana"/>
              </a:rPr>
              <a:t>:</a:t>
            </a:r>
            <a:r>
              <a:rPr sz="2200" b="1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Soft,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viscoelastic,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"floppy"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film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(e.g., </a:t>
            </a:r>
            <a:r>
              <a:rPr sz="2200" dirty="0">
                <a:latin typeface="Verdana"/>
                <a:cs typeface="Verdana"/>
              </a:rPr>
              <a:t>polymers,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cells).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42829" y="426127"/>
            <a:ext cx="55727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Experimental</a:t>
            </a:r>
            <a:r>
              <a:rPr spc="-65" dirty="0"/>
              <a:t> </a:t>
            </a:r>
            <a:r>
              <a:rPr spc="-10" dirty="0"/>
              <a:t>Setup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2390" cy="354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150110" algn="l"/>
                <a:tab pos="3546475" algn="l"/>
                <a:tab pos="4690110" algn="l"/>
                <a:tab pos="5403850" algn="l"/>
                <a:tab pos="6589395" algn="l"/>
                <a:tab pos="7127240" algn="l"/>
                <a:tab pos="77184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Oscillator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Circuit: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Drives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crystal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resonant 	frequency.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414905" algn="l"/>
                <a:tab pos="4166870" algn="l"/>
                <a:tab pos="5814695" algn="l"/>
                <a:tab pos="7488555" algn="l"/>
                <a:tab pos="863473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Frequency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Counter: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Captures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real-time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shifts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as 	</a:t>
            </a:r>
            <a:r>
              <a:rPr sz="2200" dirty="0">
                <a:latin typeface="Verdana"/>
                <a:cs typeface="Verdana"/>
              </a:rPr>
              <a:t>molecules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bind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Control: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Essential,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highly 	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fluctuations.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Flow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Cell: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analyte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69625" y="426127"/>
            <a:ext cx="47148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1822" y="1518283"/>
            <a:ext cx="910844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Biosensing:</a:t>
            </a:r>
            <a:r>
              <a:rPr sz="2200" b="1" spc="1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DNA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hybridization,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protein-protein 	</a:t>
            </a:r>
            <a:r>
              <a:rPr sz="2200" dirty="0">
                <a:latin typeface="Verdana"/>
                <a:cs typeface="Verdana"/>
              </a:rPr>
              <a:t>interactions,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antibody-</a:t>
            </a:r>
            <a:r>
              <a:rPr sz="2200" dirty="0">
                <a:latin typeface="Verdana"/>
                <a:cs typeface="Verdana"/>
              </a:rPr>
              <a:t>antigen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binding.</a:t>
            </a:r>
            <a:endParaRPr sz="2200">
              <a:latin typeface="Verdana"/>
              <a:cs typeface="Verdana"/>
            </a:endParaRPr>
          </a:p>
          <a:p>
            <a:pPr marL="389255" marR="762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Environmental:</a:t>
            </a:r>
            <a:r>
              <a:rPr sz="2200" b="1" spc="3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Monitoring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gas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pollutants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heavy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metals 	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water.</a:t>
            </a:r>
            <a:endParaRPr sz="2200">
              <a:latin typeface="Verdana"/>
              <a:cs typeface="Verdana"/>
            </a:endParaRPr>
          </a:p>
          <a:p>
            <a:pPr marL="389255" marR="889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Material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Science: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Studying</a:t>
            </a:r>
            <a:r>
              <a:rPr sz="2200" spc="5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polymer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thin-film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growth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electrochemical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deposition.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Vacuum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Processes: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Measuring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thin-</a:t>
            </a:r>
            <a:r>
              <a:rPr sz="2200" dirty="0">
                <a:latin typeface="Verdana"/>
                <a:cs typeface="Verdana"/>
              </a:rPr>
              <a:t>film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thickness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during 	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evaporation/sputtering.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86210" y="426127"/>
            <a:ext cx="78828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Advantages</a:t>
            </a:r>
            <a:r>
              <a:rPr spc="-5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42962" y="1859680"/>
            <a:ext cx="4285615" cy="3713479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Limitations</a:t>
            </a:r>
            <a:endParaRPr sz="2200">
              <a:latin typeface="Verdana"/>
              <a:cs typeface="Verdana"/>
            </a:endParaRPr>
          </a:p>
          <a:p>
            <a:pPr marL="12700" marR="118681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Highly</a:t>
            </a:r>
            <a:r>
              <a:rPr sz="2200" spc="-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sensitive</a:t>
            </a:r>
            <a:r>
              <a:rPr sz="2200" spc="-7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to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temperature/pressure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Maximum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mass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load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limits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Complex</a:t>
            </a:r>
            <a:r>
              <a:rPr sz="220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data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analysis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for</a:t>
            </a:r>
            <a:r>
              <a:rPr sz="2200" spc="-8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soft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films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Fragile</a:t>
            </a:r>
            <a:r>
              <a:rPr sz="2200" spc="-10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crystal</a:t>
            </a:r>
            <a:r>
              <a:rPr sz="2200" spc="-8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components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710" y="1859680"/>
            <a:ext cx="4023360" cy="388112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Advantages</a:t>
            </a:r>
            <a:endParaRPr sz="2200">
              <a:latin typeface="Verdana"/>
              <a:cs typeface="Verdana"/>
            </a:endParaRPr>
          </a:p>
          <a:p>
            <a:pPr marL="12700" marR="1116965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Real-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time,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label-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free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detection</a:t>
            </a:r>
            <a:endParaRPr sz="2200">
              <a:latin typeface="Verdana"/>
              <a:cs typeface="Verdana"/>
            </a:endParaRPr>
          </a:p>
          <a:p>
            <a:pPr marL="12700" marR="105664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Extremely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mass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sensitivity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Works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in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both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gas</a:t>
            </a:r>
            <a:r>
              <a:rPr sz="2200" spc="-7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and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liquid phases</a:t>
            </a:r>
            <a:endParaRPr sz="2200">
              <a:latin typeface="Verdana"/>
              <a:cs typeface="Verdana"/>
            </a:endParaRPr>
          </a:p>
          <a:p>
            <a:pPr marL="12700" marR="85026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Small</a:t>
            </a:r>
            <a:r>
              <a:rPr sz="220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sample</a:t>
            </a:r>
            <a:r>
              <a:rPr sz="2200" spc="-4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volumes required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02" y="711797"/>
            <a:ext cx="2099945" cy="339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Wingdings"/>
                <a:cs typeface="Wingdings"/>
              </a:rPr>
              <a:t>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Verdana"/>
                <a:cs typeface="Verdana"/>
              </a:rPr>
              <a:t>Introduction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81714" y="426127"/>
            <a:ext cx="30949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1120" cy="2540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QCM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versatile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tool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probing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"nanoworld."</a:t>
            </a:r>
            <a:endParaRPr sz="2200">
              <a:latin typeface="Verdana"/>
              <a:cs typeface="Verdana"/>
            </a:endParaRPr>
          </a:p>
          <a:p>
            <a:pPr marL="389255" marR="762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It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bridges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gap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simple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complex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characterization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(viscoelasticity).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Future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Outlook: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Integration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Lab-</a:t>
            </a:r>
            <a:r>
              <a:rPr sz="2200" spc="-30" dirty="0">
                <a:latin typeface="Verdana"/>
                <a:cs typeface="Verdana"/>
              </a:rPr>
              <a:t>on-</a:t>
            </a:r>
            <a:r>
              <a:rPr sz="2200" spc="-10" dirty="0">
                <a:latin typeface="Verdana"/>
                <a:cs typeface="Verdana"/>
              </a:rPr>
              <a:t>a-</a:t>
            </a:r>
            <a:r>
              <a:rPr sz="2200" dirty="0">
                <a:latin typeface="Verdana"/>
                <a:cs typeface="Verdana"/>
              </a:rPr>
              <a:t>Chip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devices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advanced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nanomaterial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coatings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selectivity.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3" y="1375991"/>
            <a:ext cx="9211945" cy="558355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516255" indent="-50355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Define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"Thickness</a:t>
            </a:r>
            <a:r>
              <a:rPr sz="1850" spc="-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Shear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Mode"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(TSM)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context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spc="-20" dirty="0">
                <a:latin typeface="Verdana"/>
                <a:cs typeface="Verdana"/>
              </a:rPr>
              <a:t>QCM.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Why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is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gold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commonly used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as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electrode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material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QCM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crystals?</a:t>
            </a:r>
            <a:endParaRPr sz="1850">
              <a:latin typeface="Verdana"/>
              <a:cs typeface="Verdana"/>
            </a:endParaRPr>
          </a:p>
          <a:p>
            <a:pPr marL="514984" marR="6350" indent="-502920">
              <a:lnSpc>
                <a:spcPts val="3370"/>
              </a:lnSpc>
              <a:spcBef>
                <a:spcPts val="290"/>
              </a:spcBef>
              <a:buAutoNum type="arabicPeriod"/>
              <a:tabLst>
                <a:tab pos="514984" algn="l"/>
                <a:tab pos="516255" algn="l"/>
                <a:tab pos="1393825" algn="l"/>
                <a:tab pos="2080895" algn="l"/>
                <a:tab pos="3176905" algn="l"/>
                <a:tab pos="3806825" algn="l"/>
                <a:tab pos="5278120" algn="l"/>
                <a:tab pos="6654800" algn="l"/>
                <a:tab pos="7520305" algn="l"/>
                <a:tab pos="8147684" algn="l"/>
                <a:tab pos="8778240" algn="l"/>
              </a:tabLst>
            </a:pP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State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and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explain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the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Sauerbrey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Equation.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What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are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the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key </a:t>
            </a:r>
            <a:r>
              <a:rPr sz="1850" dirty="0">
                <a:latin typeface="Verdana"/>
                <a:cs typeface="Verdana"/>
              </a:rPr>
              <a:t>assumptions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that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must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be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met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for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this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equation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to</a:t>
            </a:r>
            <a:r>
              <a:rPr sz="1850" spc="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remain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valid?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Compare</a:t>
            </a:r>
            <a:r>
              <a:rPr sz="1850" spc="2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behavior</a:t>
            </a:r>
            <a:r>
              <a:rPr sz="1850" spc="2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2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QCM</a:t>
            </a:r>
            <a:r>
              <a:rPr sz="1850" spc="2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sensor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2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2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vacuum/gas</a:t>
            </a:r>
            <a:r>
              <a:rPr sz="1850" spc="254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environment</a:t>
            </a:r>
            <a:endParaRPr sz="1850">
              <a:latin typeface="Verdana"/>
              <a:cs typeface="Verdana"/>
            </a:endParaRPr>
          </a:p>
          <a:p>
            <a:pPr marL="514984" algn="just">
              <a:lnSpc>
                <a:spcPct val="100000"/>
              </a:lnSpc>
              <a:spcBef>
                <a:spcPts val="1150"/>
              </a:spcBef>
            </a:pPr>
            <a:r>
              <a:rPr sz="1850" dirty="0">
                <a:latin typeface="Verdana"/>
                <a:cs typeface="Verdana"/>
              </a:rPr>
              <a:t>versus a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liquid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environment.</a:t>
            </a:r>
            <a:endParaRPr sz="1850">
              <a:latin typeface="Verdana"/>
              <a:cs typeface="Verdana"/>
            </a:endParaRPr>
          </a:p>
          <a:p>
            <a:pPr marL="514984" indent="-502920" algn="just">
              <a:lnSpc>
                <a:spcPct val="100000"/>
              </a:lnSpc>
              <a:spcBef>
                <a:spcPts val="1140"/>
              </a:spcBef>
              <a:buAutoNum type="arabicPeriod" startAt="5"/>
              <a:tabLst>
                <a:tab pos="514984" algn="l"/>
              </a:tabLst>
            </a:pPr>
            <a:r>
              <a:rPr sz="1850" dirty="0">
                <a:latin typeface="Verdana"/>
                <a:cs typeface="Verdana"/>
              </a:rPr>
              <a:t>Describe</a:t>
            </a:r>
            <a:r>
              <a:rPr sz="1850" spc="18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7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role</a:t>
            </a:r>
            <a:r>
              <a:rPr sz="1850" spc="1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"Dissipation</a:t>
            </a:r>
            <a:r>
              <a:rPr sz="1850" spc="1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monitoring"</a:t>
            </a:r>
            <a:r>
              <a:rPr sz="1850" spc="17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19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modern</a:t>
            </a:r>
            <a:r>
              <a:rPr sz="1850" spc="180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acoustic</a:t>
            </a:r>
            <a:endParaRPr sz="1850">
              <a:latin typeface="Verdana"/>
              <a:cs typeface="Verdana"/>
            </a:endParaRPr>
          </a:p>
          <a:p>
            <a:pPr marL="514984" marR="5080" algn="just">
              <a:lnSpc>
                <a:spcPct val="151400"/>
              </a:lnSpc>
              <a:spcBef>
                <a:spcPts val="15"/>
              </a:spcBef>
            </a:pPr>
            <a:r>
              <a:rPr sz="1850" dirty="0">
                <a:latin typeface="Verdana"/>
                <a:cs typeface="Verdana"/>
              </a:rPr>
              <a:t>sensing.</a:t>
            </a:r>
            <a:r>
              <a:rPr sz="1850" spc="4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How</a:t>
            </a:r>
            <a:r>
              <a:rPr sz="1850" spc="4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does</a:t>
            </a:r>
            <a:r>
              <a:rPr sz="1850" spc="3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it</a:t>
            </a:r>
            <a:r>
              <a:rPr sz="1850" spc="3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help</a:t>
            </a:r>
            <a:r>
              <a:rPr sz="1850" spc="3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differentiate</a:t>
            </a:r>
            <a:r>
              <a:rPr sz="1850" spc="4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between</a:t>
            </a:r>
            <a:r>
              <a:rPr sz="1850" spc="4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3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rigid</a:t>
            </a:r>
            <a:r>
              <a:rPr sz="1850" spc="3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biofilm</a:t>
            </a:r>
            <a:r>
              <a:rPr sz="1850" spc="3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385" dirty="0">
                <a:latin typeface="Verdana"/>
                <a:cs typeface="Verdana"/>
              </a:rPr>
              <a:t> </a:t>
            </a:r>
            <a:r>
              <a:rPr sz="1850" spc="-50" dirty="0">
                <a:latin typeface="Verdana"/>
                <a:cs typeface="Verdana"/>
              </a:rPr>
              <a:t>a </a:t>
            </a:r>
            <a:r>
              <a:rPr sz="1850" dirty="0">
                <a:latin typeface="Verdana"/>
                <a:cs typeface="Verdana"/>
              </a:rPr>
              <a:t>soft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polymer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layer?</a:t>
            </a:r>
            <a:endParaRPr sz="1850">
              <a:latin typeface="Verdana"/>
              <a:cs typeface="Verdana"/>
            </a:endParaRPr>
          </a:p>
          <a:p>
            <a:pPr marL="514984" marR="5080" indent="-502920" algn="just">
              <a:lnSpc>
                <a:spcPct val="151500"/>
              </a:lnSpc>
              <a:spcBef>
                <a:spcPts val="5"/>
              </a:spcBef>
              <a:buAutoNum type="arabicPeriod" startAt="6"/>
              <a:tabLst>
                <a:tab pos="514984" algn="l"/>
              </a:tabLst>
            </a:pPr>
            <a:r>
              <a:rPr sz="1850" dirty="0">
                <a:latin typeface="Verdana"/>
                <a:cs typeface="Verdana"/>
              </a:rPr>
              <a:t>Sketch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typical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experimental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setup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9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1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QCM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system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explain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the </a:t>
            </a:r>
            <a:r>
              <a:rPr sz="1850" dirty="0">
                <a:latin typeface="Verdana"/>
                <a:cs typeface="Verdana"/>
              </a:rPr>
              <a:t>function</a:t>
            </a:r>
            <a:r>
              <a:rPr sz="1850" spc="29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30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each</a:t>
            </a:r>
            <a:r>
              <a:rPr sz="1850" spc="30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component</a:t>
            </a:r>
            <a:r>
              <a:rPr sz="1850" spc="29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(the</a:t>
            </a:r>
            <a:r>
              <a:rPr sz="1850" spc="29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crystal,</a:t>
            </a:r>
            <a:r>
              <a:rPr sz="1850" spc="30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oscillator</a:t>
            </a:r>
            <a:r>
              <a:rPr sz="1850" spc="30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circuit,</a:t>
            </a:r>
            <a:r>
              <a:rPr sz="1850" spc="310" dirty="0">
                <a:latin typeface="Verdana"/>
                <a:cs typeface="Verdana"/>
              </a:rPr>
              <a:t>  </a:t>
            </a:r>
            <a:r>
              <a:rPr sz="1850" spc="-25" dirty="0">
                <a:latin typeface="Verdana"/>
                <a:cs typeface="Verdana"/>
              </a:rPr>
              <a:t>and </a:t>
            </a:r>
            <a:r>
              <a:rPr sz="1850" dirty="0">
                <a:latin typeface="Verdana"/>
                <a:cs typeface="Verdana"/>
              </a:rPr>
              <a:t>frequency</a:t>
            </a:r>
            <a:r>
              <a:rPr sz="1850" spc="3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counter).</a:t>
            </a:r>
            <a:r>
              <a:rPr sz="1850" spc="3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Discuss</a:t>
            </a:r>
            <a:r>
              <a:rPr sz="1850" spc="38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3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importance</a:t>
            </a:r>
            <a:r>
              <a:rPr sz="1850" spc="3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4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temperature</a:t>
            </a:r>
            <a:r>
              <a:rPr sz="1850" spc="3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control</a:t>
            </a:r>
            <a:r>
              <a:rPr sz="1850" spc="395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in </a:t>
            </a:r>
            <a:r>
              <a:rPr sz="1850" dirty="0">
                <a:latin typeface="Verdana"/>
                <a:cs typeface="Verdana"/>
              </a:rPr>
              <a:t>these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measurements.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2403" y="1374207"/>
            <a:ext cx="9315450" cy="17894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59105" marR="55880" indent="-396240" algn="just">
              <a:lnSpc>
                <a:spcPct val="151400"/>
              </a:lnSpc>
              <a:spcBef>
                <a:spcPts val="114"/>
              </a:spcBef>
            </a:pPr>
            <a:r>
              <a:rPr sz="1850" dirty="0">
                <a:latin typeface="Verdana"/>
                <a:cs typeface="Verdana"/>
              </a:rPr>
              <a:t>7.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Derive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or</a:t>
            </a:r>
            <a:r>
              <a:rPr sz="1850" spc="1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explain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physical</a:t>
            </a:r>
            <a:r>
              <a:rPr sz="1850" spc="1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significance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shear</a:t>
            </a:r>
            <a:r>
              <a:rPr sz="1850" spc="9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modulus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(</a:t>
            </a:r>
            <a:r>
              <a:rPr sz="1950" i="1" dirty="0">
                <a:latin typeface="Verdana"/>
                <a:cs typeface="Verdana"/>
              </a:rPr>
              <a:t>µ</a:t>
            </a:r>
            <a:r>
              <a:rPr sz="1950" i="1" baseline="-21367" dirty="0">
                <a:latin typeface="Verdana"/>
                <a:cs typeface="Verdana"/>
              </a:rPr>
              <a:t>q</a:t>
            </a:r>
            <a:r>
              <a:rPr sz="1850" dirty="0">
                <a:latin typeface="Verdana"/>
                <a:cs typeface="Verdana"/>
              </a:rPr>
              <a:t>)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and </a:t>
            </a:r>
            <a:r>
              <a:rPr sz="1850" dirty="0">
                <a:latin typeface="Verdana"/>
                <a:cs typeface="Verdana"/>
              </a:rPr>
              <a:t>density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(</a:t>
            </a:r>
            <a:r>
              <a:rPr sz="1950" i="1" dirty="0">
                <a:latin typeface="Verdana"/>
                <a:cs typeface="Verdana"/>
              </a:rPr>
              <a:t>ρ</a:t>
            </a:r>
            <a:r>
              <a:rPr sz="1950" i="1" baseline="-21367" dirty="0">
                <a:latin typeface="Verdana"/>
                <a:cs typeface="Verdana"/>
              </a:rPr>
              <a:t>q</a:t>
            </a:r>
            <a:r>
              <a:rPr sz="1850" dirty="0">
                <a:latin typeface="Verdana"/>
                <a:cs typeface="Verdana"/>
              </a:rPr>
              <a:t>)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quartz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determining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fundamental</a:t>
            </a:r>
            <a:r>
              <a:rPr sz="1850" spc="280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resonant </a:t>
            </a:r>
            <a:r>
              <a:rPr sz="1850" dirty="0">
                <a:latin typeface="Verdana"/>
                <a:cs typeface="Verdana"/>
              </a:rPr>
              <a:t>frequency.</a:t>
            </a:r>
            <a:r>
              <a:rPr sz="1850" spc="1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How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does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thickness</a:t>
            </a:r>
            <a:r>
              <a:rPr sz="1850" spc="1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quartz</a:t>
            </a:r>
            <a:r>
              <a:rPr sz="1850" spc="1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disk</a:t>
            </a:r>
            <a:r>
              <a:rPr sz="1850" spc="1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influence</a:t>
            </a:r>
            <a:r>
              <a:rPr sz="1850" spc="1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30" dirty="0">
                <a:latin typeface="Verdana"/>
                <a:cs typeface="Verdana"/>
              </a:rPr>
              <a:t> </a:t>
            </a:r>
            <a:r>
              <a:rPr sz="1850" spc="-20" dirty="0">
                <a:latin typeface="Verdana"/>
                <a:cs typeface="Verdana"/>
              </a:rPr>
              <a:t>base </a:t>
            </a:r>
            <a:r>
              <a:rPr sz="1850" dirty="0">
                <a:latin typeface="Verdana"/>
                <a:cs typeface="Verdana"/>
              </a:rPr>
              <a:t>frequency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resulting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mass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sensitivity?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36" y="1646290"/>
            <a:ext cx="8877300" cy="5255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D.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S.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Ballantine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et.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al.,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Acoustic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Wave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Sensors: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Theory, 	</a:t>
            </a:r>
            <a:r>
              <a:rPr sz="2200" dirty="0">
                <a:latin typeface="Verdana"/>
                <a:cs typeface="Verdana"/>
              </a:rPr>
              <a:t>Design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Physico-</a:t>
            </a:r>
            <a:r>
              <a:rPr sz="2200" dirty="0">
                <a:latin typeface="Verdana"/>
                <a:cs typeface="Verdana"/>
              </a:rPr>
              <a:t>Chemical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Applications,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Academic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Press, 	1997.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Vinod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Kumar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Khanna,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Nanosensors: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Physical,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Chemical,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Biological,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Second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2021.</a:t>
            </a:r>
            <a:endParaRPr sz="2200">
              <a:latin typeface="Verdana"/>
              <a:cs typeface="Verdana"/>
            </a:endParaRPr>
          </a:p>
          <a:p>
            <a:pPr marL="389255" marR="52705" indent="-377190" algn="just">
              <a:lnSpc>
                <a:spcPct val="150000"/>
              </a:lnSpc>
              <a:spcBef>
                <a:spcPts val="53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https://pmc.ncbi.nlm.nih.gov/articles/PMC6833005/pdf/sen</a:t>
            </a:r>
            <a:r>
              <a:rPr sz="2200" spc="-10" dirty="0">
                <a:latin typeface="Verdana"/>
                <a:cs typeface="Verdana"/>
              </a:rPr>
              <a:t> 	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sors-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04395.pdf</a:t>
            </a:r>
            <a:endParaRPr sz="2200">
              <a:latin typeface="Verdana"/>
              <a:cs typeface="Verdana"/>
            </a:endParaRPr>
          </a:p>
          <a:p>
            <a:pPr marL="389255" marR="963930" indent="-377190">
              <a:lnSpc>
                <a:spcPct val="15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https://industry.plantautomation-technology.com/</a:t>
            </a:r>
            <a:r>
              <a:rPr sz="2200" spc="-10" dirty="0">
                <a:latin typeface="Verdana"/>
                <a:cs typeface="Verdana"/>
                <a:hlinkClick r:id="rId3"/>
              </a:rPr>
              <a:t> 	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whitepapers/1485944904-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acoustic-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wave-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technology-	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sensors.pdf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690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443</Words>
  <Application>Microsoft Office PowerPoint</Application>
  <PresentationFormat>Custom</PresentationFormat>
  <Paragraphs>114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Times New Roman</vt:lpstr>
      <vt:lpstr>Verdana</vt:lpstr>
      <vt:lpstr>Wingdings</vt:lpstr>
      <vt:lpstr>Office Theme</vt:lpstr>
      <vt:lpstr>UEC3942: Introduction to Sensors and Actuators</vt:lpstr>
      <vt:lpstr>Learning Outcomes</vt:lpstr>
      <vt:lpstr>What is a QCM?</vt:lpstr>
      <vt:lpstr>The Piezoelectric Effect</vt:lpstr>
      <vt:lpstr>Anatomy of a QCM Sensor</vt:lpstr>
      <vt:lpstr>Anatomy of a QCM Sensor</vt:lpstr>
      <vt:lpstr>Anatomy of a QCM Sensor</vt:lpstr>
      <vt:lpstr>The Sauerbrey Equation</vt:lpstr>
      <vt:lpstr>The Sauerbrey Equation</vt:lpstr>
      <vt:lpstr>Under what conditions does the Sauerbrey equation apply?</vt:lpstr>
      <vt:lpstr>QCM in Liquids (QCM-D)</vt:lpstr>
      <vt:lpstr>Experimental Setup</vt:lpstr>
      <vt:lpstr>Key Applications</vt:lpstr>
      <vt:lpstr>Advantages and Limitations</vt:lpstr>
      <vt:lpstr>Conclusion</vt:lpstr>
      <vt:lpstr>Test your understanding</vt:lpstr>
      <vt:lpstr>Test your understanding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Quartz Crystal Microbalance (QCM) Sensors</dc:title>
  <dc:creator>Karthie Alias Ayyadurai</dc:creator>
  <cp:lastModifiedBy>Microsoft account</cp:lastModifiedBy>
  <cp:revision>1</cp:revision>
  <dcterms:created xsi:type="dcterms:W3CDTF">2026-07-01T10:32:59Z</dcterms:created>
  <dcterms:modified xsi:type="dcterms:W3CDTF">2026-07-01T10:33:45Z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2026-03-19T00:00:00Z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