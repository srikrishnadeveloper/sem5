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182" y="6590288"/>
            <a:ext cx="7319645" cy="237490"/>
          </a:xfrm>
          <a:custGeom>
            <a:avLst/>
            <a:gdLst/>
            <a:ahLst/>
            <a:cxnLst/>
            <a:rect l="l" t="t" r="r" b="b"/>
            <a:pathLst>
              <a:path w="7319645" h="237490">
                <a:moveTo>
                  <a:pt x="7181905" y="0"/>
                </a:moveTo>
                <a:lnTo>
                  <a:pt x="0" y="0"/>
                </a:lnTo>
                <a:lnTo>
                  <a:pt x="0" y="237309"/>
                </a:lnTo>
                <a:lnTo>
                  <a:pt x="7319308" y="237309"/>
                </a:lnTo>
                <a:lnTo>
                  <a:pt x="7181905" y="0"/>
                </a:lnTo>
                <a:close/>
              </a:path>
            </a:pathLst>
          </a:custGeom>
          <a:solidFill>
            <a:srgbClr val="86B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182" y="6641136"/>
            <a:ext cx="7398384" cy="217170"/>
          </a:xfrm>
          <a:custGeom>
            <a:avLst/>
            <a:gdLst/>
            <a:ahLst/>
            <a:cxnLst/>
            <a:rect l="l" t="t" r="r" b="b"/>
            <a:pathLst>
              <a:path w="7398384" h="217170">
                <a:moveTo>
                  <a:pt x="7267827" y="0"/>
                </a:moveTo>
                <a:lnTo>
                  <a:pt x="0" y="0"/>
                </a:lnTo>
                <a:lnTo>
                  <a:pt x="0" y="216862"/>
                </a:lnTo>
                <a:lnTo>
                  <a:pt x="7398039" y="216862"/>
                </a:lnTo>
                <a:lnTo>
                  <a:pt x="7267827" y="0"/>
                </a:lnTo>
                <a:close/>
              </a:path>
            </a:pathLst>
          </a:custGeom>
          <a:solidFill>
            <a:srgbClr val="0047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826223" y="6344500"/>
            <a:ext cx="945515" cy="381635"/>
          </a:xfrm>
          <a:custGeom>
            <a:avLst/>
            <a:gdLst/>
            <a:ahLst/>
            <a:cxnLst/>
            <a:rect l="l" t="t" r="r" b="b"/>
            <a:pathLst>
              <a:path w="945515" h="381634">
                <a:moveTo>
                  <a:pt x="369366" y="93243"/>
                </a:moveTo>
                <a:lnTo>
                  <a:pt x="356209" y="46494"/>
                </a:lnTo>
                <a:lnTo>
                  <a:pt x="322122" y="18021"/>
                </a:lnTo>
                <a:lnTo>
                  <a:pt x="275145" y="3848"/>
                </a:lnTo>
                <a:lnTo>
                  <a:pt x="223316" y="0"/>
                </a:lnTo>
                <a:lnTo>
                  <a:pt x="162598" y="5029"/>
                </a:lnTo>
                <a:lnTo>
                  <a:pt x="114617" y="19812"/>
                </a:lnTo>
                <a:lnTo>
                  <a:pt x="79819" y="43942"/>
                </a:lnTo>
                <a:lnTo>
                  <a:pt x="58635" y="77038"/>
                </a:lnTo>
                <a:lnTo>
                  <a:pt x="51473" y="118668"/>
                </a:lnTo>
                <a:lnTo>
                  <a:pt x="54978" y="142633"/>
                </a:lnTo>
                <a:lnTo>
                  <a:pt x="66548" y="164223"/>
                </a:lnTo>
                <a:lnTo>
                  <a:pt x="87769" y="184213"/>
                </a:lnTo>
                <a:lnTo>
                  <a:pt x="120230" y="203428"/>
                </a:lnTo>
                <a:lnTo>
                  <a:pt x="189001" y="237312"/>
                </a:lnTo>
                <a:lnTo>
                  <a:pt x="201599" y="243941"/>
                </a:lnTo>
                <a:lnTo>
                  <a:pt x="212598" y="252145"/>
                </a:lnTo>
                <a:lnTo>
                  <a:pt x="220370" y="263537"/>
                </a:lnTo>
                <a:lnTo>
                  <a:pt x="223316" y="279704"/>
                </a:lnTo>
                <a:lnTo>
                  <a:pt x="218821" y="296786"/>
                </a:lnTo>
                <a:lnTo>
                  <a:pt x="218744" y="297040"/>
                </a:lnTo>
                <a:lnTo>
                  <a:pt x="206133" y="310413"/>
                </a:lnTo>
                <a:lnTo>
                  <a:pt x="187071" y="319024"/>
                </a:lnTo>
                <a:lnTo>
                  <a:pt x="163195" y="322072"/>
                </a:lnTo>
                <a:lnTo>
                  <a:pt x="144272" y="317703"/>
                </a:lnTo>
                <a:lnTo>
                  <a:pt x="127787" y="306184"/>
                </a:lnTo>
                <a:lnTo>
                  <a:pt x="116128" y="289890"/>
                </a:lnTo>
                <a:lnTo>
                  <a:pt x="111721" y="271221"/>
                </a:lnTo>
                <a:lnTo>
                  <a:pt x="111721" y="262750"/>
                </a:lnTo>
                <a:lnTo>
                  <a:pt x="0" y="262750"/>
                </a:lnTo>
                <a:lnTo>
                  <a:pt x="0" y="279704"/>
                </a:lnTo>
                <a:lnTo>
                  <a:pt x="1727" y="303530"/>
                </a:lnTo>
                <a:lnTo>
                  <a:pt x="18072" y="341680"/>
                </a:lnTo>
                <a:lnTo>
                  <a:pt x="56883" y="367093"/>
                </a:lnTo>
                <a:lnTo>
                  <a:pt x="121323" y="379806"/>
                </a:lnTo>
                <a:lnTo>
                  <a:pt x="163195" y="381393"/>
                </a:lnTo>
                <a:lnTo>
                  <a:pt x="224853" y="375500"/>
                </a:lnTo>
                <a:lnTo>
                  <a:pt x="274955" y="358622"/>
                </a:lnTo>
                <a:lnTo>
                  <a:pt x="312254" y="331978"/>
                </a:lnTo>
                <a:lnTo>
                  <a:pt x="318795" y="322072"/>
                </a:lnTo>
                <a:lnTo>
                  <a:pt x="335534" y="296786"/>
                </a:lnTo>
                <a:lnTo>
                  <a:pt x="343560" y="254266"/>
                </a:lnTo>
                <a:lnTo>
                  <a:pt x="338874" y="230428"/>
                </a:lnTo>
                <a:lnTo>
                  <a:pt x="325348" y="209778"/>
                </a:lnTo>
                <a:lnTo>
                  <a:pt x="303771" y="192290"/>
                </a:lnTo>
                <a:lnTo>
                  <a:pt x="206159" y="144081"/>
                </a:lnTo>
                <a:lnTo>
                  <a:pt x="188556" y="136144"/>
                </a:lnTo>
                <a:lnTo>
                  <a:pt x="175006" y="125018"/>
                </a:lnTo>
                <a:lnTo>
                  <a:pt x="166281" y="110718"/>
                </a:lnTo>
                <a:lnTo>
                  <a:pt x="163195" y="93243"/>
                </a:lnTo>
                <a:lnTo>
                  <a:pt x="167627" y="80784"/>
                </a:lnTo>
                <a:lnTo>
                  <a:pt x="179324" y="69926"/>
                </a:lnTo>
                <a:lnTo>
                  <a:pt x="195846" y="62255"/>
                </a:lnTo>
                <a:lnTo>
                  <a:pt x="214795" y="59347"/>
                </a:lnTo>
                <a:lnTo>
                  <a:pt x="232346" y="62382"/>
                </a:lnTo>
                <a:lnTo>
                  <a:pt x="245910" y="70993"/>
                </a:lnTo>
                <a:lnTo>
                  <a:pt x="254660" y="84366"/>
                </a:lnTo>
                <a:lnTo>
                  <a:pt x="257759" y="101714"/>
                </a:lnTo>
                <a:lnTo>
                  <a:pt x="257759" y="110185"/>
                </a:lnTo>
                <a:lnTo>
                  <a:pt x="369366" y="110185"/>
                </a:lnTo>
                <a:lnTo>
                  <a:pt x="369366" y="93243"/>
                </a:lnTo>
                <a:close/>
              </a:path>
              <a:path w="945515" h="381634">
                <a:moveTo>
                  <a:pt x="609968" y="93243"/>
                </a:moveTo>
                <a:lnTo>
                  <a:pt x="595604" y="46494"/>
                </a:lnTo>
                <a:lnTo>
                  <a:pt x="559498" y="18021"/>
                </a:lnTo>
                <a:lnTo>
                  <a:pt x="512102" y="3848"/>
                </a:lnTo>
                <a:lnTo>
                  <a:pt x="463931" y="0"/>
                </a:lnTo>
                <a:lnTo>
                  <a:pt x="428332" y="1460"/>
                </a:lnTo>
                <a:lnTo>
                  <a:pt x="398386" y="5308"/>
                </a:lnTo>
                <a:lnTo>
                  <a:pt x="373291" y="10731"/>
                </a:lnTo>
                <a:lnTo>
                  <a:pt x="352196" y="16954"/>
                </a:lnTo>
                <a:lnTo>
                  <a:pt x="364807" y="31267"/>
                </a:lnTo>
                <a:lnTo>
                  <a:pt x="375793" y="48742"/>
                </a:lnTo>
                <a:lnTo>
                  <a:pt x="383578" y="69405"/>
                </a:lnTo>
                <a:lnTo>
                  <a:pt x="386524" y="93243"/>
                </a:lnTo>
                <a:lnTo>
                  <a:pt x="386524" y="101714"/>
                </a:lnTo>
                <a:lnTo>
                  <a:pt x="378002" y="110185"/>
                </a:lnTo>
                <a:lnTo>
                  <a:pt x="378002" y="118668"/>
                </a:lnTo>
                <a:lnTo>
                  <a:pt x="283438" y="118668"/>
                </a:lnTo>
                <a:lnTo>
                  <a:pt x="288137" y="142633"/>
                </a:lnTo>
                <a:lnTo>
                  <a:pt x="301713" y="164223"/>
                </a:lnTo>
                <a:lnTo>
                  <a:pt x="323329" y="184213"/>
                </a:lnTo>
                <a:lnTo>
                  <a:pt x="352196" y="203428"/>
                </a:lnTo>
                <a:lnTo>
                  <a:pt x="420966" y="237312"/>
                </a:lnTo>
                <a:lnTo>
                  <a:pt x="433565" y="243941"/>
                </a:lnTo>
                <a:lnTo>
                  <a:pt x="444563" y="252145"/>
                </a:lnTo>
                <a:lnTo>
                  <a:pt x="452335" y="263537"/>
                </a:lnTo>
                <a:lnTo>
                  <a:pt x="455282" y="279704"/>
                </a:lnTo>
                <a:lnTo>
                  <a:pt x="452120" y="296786"/>
                </a:lnTo>
                <a:lnTo>
                  <a:pt x="452069" y="297040"/>
                </a:lnTo>
                <a:lnTo>
                  <a:pt x="442417" y="310413"/>
                </a:lnTo>
                <a:lnTo>
                  <a:pt x="426326" y="319024"/>
                </a:lnTo>
                <a:lnTo>
                  <a:pt x="403809" y="322072"/>
                </a:lnTo>
                <a:lnTo>
                  <a:pt x="381215" y="317703"/>
                </a:lnTo>
                <a:lnTo>
                  <a:pt x="365086" y="306184"/>
                </a:lnTo>
                <a:lnTo>
                  <a:pt x="355422" y="289890"/>
                </a:lnTo>
                <a:lnTo>
                  <a:pt x="352196" y="271221"/>
                </a:lnTo>
                <a:lnTo>
                  <a:pt x="352196" y="262750"/>
                </a:lnTo>
                <a:lnTo>
                  <a:pt x="347764" y="288036"/>
                </a:lnTo>
                <a:lnTo>
                  <a:pt x="336080" y="312534"/>
                </a:lnTo>
                <a:lnTo>
                  <a:pt x="319544" y="335445"/>
                </a:lnTo>
                <a:lnTo>
                  <a:pt x="300596" y="355981"/>
                </a:lnTo>
                <a:lnTo>
                  <a:pt x="292074" y="355981"/>
                </a:lnTo>
                <a:lnTo>
                  <a:pt x="283438" y="364439"/>
                </a:lnTo>
                <a:lnTo>
                  <a:pt x="305739" y="370674"/>
                </a:lnTo>
                <a:lnTo>
                  <a:pt x="332867" y="376097"/>
                </a:lnTo>
                <a:lnTo>
                  <a:pt x="363207" y="379945"/>
                </a:lnTo>
                <a:lnTo>
                  <a:pt x="395160" y="381393"/>
                </a:lnTo>
                <a:lnTo>
                  <a:pt x="456819" y="375500"/>
                </a:lnTo>
                <a:lnTo>
                  <a:pt x="506920" y="358622"/>
                </a:lnTo>
                <a:lnTo>
                  <a:pt x="544220" y="331978"/>
                </a:lnTo>
                <a:lnTo>
                  <a:pt x="550760" y="322072"/>
                </a:lnTo>
                <a:lnTo>
                  <a:pt x="567499" y="296786"/>
                </a:lnTo>
                <a:lnTo>
                  <a:pt x="575525" y="254266"/>
                </a:lnTo>
                <a:lnTo>
                  <a:pt x="572173" y="230428"/>
                </a:lnTo>
                <a:lnTo>
                  <a:pt x="561581" y="209778"/>
                </a:lnTo>
                <a:lnTo>
                  <a:pt x="542925" y="192290"/>
                </a:lnTo>
                <a:lnTo>
                  <a:pt x="515404" y="177990"/>
                </a:lnTo>
                <a:lnTo>
                  <a:pt x="446646" y="144081"/>
                </a:lnTo>
                <a:lnTo>
                  <a:pt x="429120" y="136144"/>
                </a:lnTo>
                <a:lnTo>
                  <a:pt x="415594" y="125018"/>
                </a:lnTo>
                <a:lnTo>
                  <a:pt x="406882" y="110718"/>
                </a:lnTo>
                <a:lnTo>
                  <a:pt x="403809" y="93243"/>
                </a:lnTo>
                <a:lnTo>
                  <a:pt x="406882" y="80784"/>
                </a:lnTo>
                <a:lnTo>
                  <a:pt x="415594" y="69926"/>
                </a:lnTo>
                <a:lnTo>
                  <a:pt x="429120" y="62255"/>
                </a:lnTo>
                <a:lnTo>
                  <a:pt x="446646" y="59347"/>
                </a:lnTo>
                <a:lnTo>
                  <a:pt x="469239" y="62382"/>
                </a:lnTo>
                <a:lnTo>
                  <a:pt x="485355" y="70993"/>
                </a:lnTo>
                <a:lnTo>
                  <a:pt x="495020" y="84366"/>
                </a:lnTo>
                <a:lnTo>
                  <a:pt x="498246" y="101714"/>
                </a:lnTo>
                <a:lnTo>
                  <a:pt x="489610" y="110185"/>
                </a:lnTo>
                <a:lnTo>
                  <a:pt x="609968" y="110185"/>
                </a:lnTo>
                <a:lnTo>
                  <a:pt x="609968" y="93243"/>
                </a:lnTo>
                <a:close/>
              </a:path>
              <a:path w="945515" h="381634">
                <a:moveTo>
                  <a:pt x="945019" y="93243"/>
                </a:moveTo>
                <a:lnTo>
                  <a:pt x="937361" y="53644"/>
                </a:lnTo>
                <a:lnTo>
                  <a:pt x="916025" y="24371"/>
                </a:lnTo>
                <a:lnTo>
                  <a:pt x="883399" y="6235"/>
                </a:lnTo>
                <a:lnTo>
                  <a:pt x="841933" y="0"/>
                </a:lnTo>
                <a:lnTo>
                  <a:pt x="802030" y="4775"/>
                </a:lnTo>
                <a:lnTo>
                  <a:pt x="761352" y="19075"/>
                </a:lnTo>
                <a:lnTo>
                  <a:pt x="722287" y="42913"/>
                </a:lnTo>
                <a:lnTo>
                  <a:pt x="687247" y="76288"/>
                </a:lnTo>
                <a:lnTo>
                  <a:pt x="704405" y="8483"/>
                </a:lnTo>
                <a:lnTo>
                  <a:pt x="575525" y="8483"/>
                </a:lnTo>
                <a:lnTo>
                  <a:pt x="575525" y="16954"/>
                </a:lnTo>
                <a:lnTo>
                  <a:pt x="596773" y="31267"/>
                </a:lnTo>
                <a:lnTo>
                  <a:pt x="609917" y="48742"/>
                </a:lnTo>
                <a:lnTo>
                  <a:pt x="616623" y="69405"/>
                </a:lnTo>
                <a:lnTo>
                  <a:pt x="618490" y="93243"/>
                </a:lnTo>
                <a:lnTo>
                  <a:pt x="618490" y="118668"/>
                </a:lnTo>
                <a:lnTo>
                  <a:pt x="549846" y="118668"/>
                </a:lnTo>
                <a:lnTo>
                  <a:pt x="548360" y="131381"/>
                </a:lnTo>
                <a:lnTo>
                  <a:pt x="544449" y="144094"/>
                </a:lnTo>
                <a:lnTo>
                  <a:pt x="538911" y="156806"/>
                </a:lnTo>
                <a:lnTo>
                  <a:pt x="532561" y="169519"/>
                </a:lnTo>
                <a:lnTo>
                  <a:pt x="555155" y="188722"/>
                </a:lnTo>
                <a:lnTo>
                  <a:pt x="571284" y="208711"/>
                </a:lnTo>
                <a:lnTo>
                  <a:pt x="580948" y="230301"/>
                </a:lnTo>
                <a:lnTo>
                  <a:pt x="584161" y="254266"/>
                </a:lnTo>
                <a:lnTo>
                  <a:pt x="580948" y="284467"/>
                </a:lnTo>
                <a:lnTo>
                  <a:pt x="571284" y="311480"/>
                </a:lnTo>
                <a:lnTo>
                  <a:pt x="555155" y="335318"/>
                </a:lnTo>
                <a:lnTo>
                  <a:pt x="532561" y="355981"/>
                </a:lnTo>
                <a:lnTo>
                  <a:pt x="524040" y="364439"/>
                </a:lnTo>
                <a:lnTo>
                  <a:pt x="609968" y="364439"/>
                </a:lnTo>
                <a:lnTo>
                  <a:pt x="661454" y="177990"/>
                </a:lnTo>
                <a:lnTo>
                  <a:pt x="676338" y="140652"/>
                </a:lnTo>
                <a:lnTo>
                  <a:pt x="696874" y="108064"/>
                </a:lnTo>
                <a:lnTo>
                  <a:pt x="725474" y="85026"/>
                </a:lnTo>
                <a:lnTo>
                  <a:pt x="764527" y="76288"/>
                </a:lnTo>
                <a:lnTo>
                  <a:pt x="782129" y="78003"/>
                </a:lnTo>
                <a:lnTo>
                  <a:pt x="795693" y="83705"/>
                </a:lnTo>
                <a:lnTo>
                  <a:pt x="804405" y="94170"/>
                </a:lnTo>
                <a:lnTo>
                  <a:pt x="807491" y="110185"/>
                </a:lnTo>
                <a:lnTo>
                  <a:pt x="807364" y="118008"/>
                </a:lnTo>
                <a:lnTo>
                  <a:pt x="806526" y="127139"/>
                </a:lnTo>
                <a:lnTo>
                  <a:pt x="806424" y="128206"/>
                </a:lnTo>
                <a:lnTo>
                  <a:pt x="803897" y="139992"/>
                </a:lnTo>
                <a:lnTo>
                  <a:pt x="798969" y="152565"/>
                </a:lnTo>
                <a:lnTo>
                  <a:pt x="747369" y="322072"/>
                </a:lnTo>
                <a:lnTo>
                  <a:pt x="738733" y="347497"/>
                </a:lnTo>
                <a:lnTo>
                  <a:pt x="738733" y="364439"/>
                </a:lnTo>
                <a:lnTo>
                  <a:pt x="867613" y="364439"/>
                </a:lnTo>
                <a:lnTo>
                  <a:pt x="927735" y="161036"/>
                </a:lnTo>
                <a:lnTo>
                  <a:pt x="936371" y="127139"/>
                </a:lnTo>
                <a:lnTo>
                  <a:pt x="941374" y="119456"/>
                </a:lnTo>
                <a:lnTo>
                  <a:pt x="943940" y="110185"/>
                </a:lnTo>
                <a:lnTo>
                  <a:pt x="944880" y="100914"/>
                </a:lnTo>
                <a:lnTo>
                  <a:pt x="944994" y="94170"/>
                </a:lnTo>
                <a:lnTo>
                  <a:pt x="945019" y="93243"/>
                </a:lnTo>
                <a:close/>
              </a:path>
            </a:pathLst>
          </a:custGeom>
          <a:solidFill>
            <a:srgbClr val="0047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29533" y="281685"/>
            <a:ext cx="2884932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540" y="1274120"/>
            <a:ext cx="7997190" cy="3227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824654"/>
            <a:ext cx="8641732" cy="10333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62990" y="2508631"/>
            <a:ext cx="7417434" cy="306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200"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III:</a:t>
            </a:r>
            <a:r>
              <a:rPr sz="32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Piezoresistive</a:t>
            </a:r>
            <a:r>
              <a:rPr sz="32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Verdana"/>
                <a:cs typeface="Verdana"/>
              </a:rPr>
              <a:t>Pressure Microsensors</a:t>
            </a:r>
            <a:endParaRPr sz="3200" dirty="0">
              <a:latin typeface="Verdana"/>
              <a:cs typeface="Verdana"/>
            </a:endParaRPr>
          </a:p>
          <a:p>
            <a:pPr marL="2493645" marR="2485390" algn="ctr">
              <a:lnSpc>
                <a:spcPct val="120000"/>
              </a:lnSpc>
              <a:spcBef>
                <a:spcPts val="2970"/>
              </a:spcBef>
            </a:pP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300" spc="-7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300" spc="-75" dirty="0" err="1" smtClean="0">
                <a:solidFill>
                  <a:srgbClr val="808080"/>
                </a:solidFill>
                <a:latin typeface="Verdana"/>
                <a:cs typeface="Verdana"/>
              </a:rPr>
              <a:t>Dr</a:t>
            </a:r>
            <a:r>
              <a:rPr lang="en-GB" sz="2300" spc="-75" dirty="0" smtClean="0">
                <a:solidFill>
                  <a:srgbClr val="808080"/>
                </a:solidFill>
                <a:latin typeface="Verdana"/>
                <a:cs typeface="Verdana"/>
              </a:rPr>
              <a:t>. C. Annadurai</a:t>
            </a:r>
            <a:endParaRPr sz="2300" dirty="0">
              <a:latin typeface="Verdana"/>
              <a:cs typeface="Verdana"/>
            </a:endParaRPr>
          </a:p>
          <a:p>
            <a:pPr marL="1285240" marR="1273175" algn="ctr">
              <a:lnSpc>
                <a:spcPts val="3310"/>
              </a:lnSpc>
              <a:spcBef>
                <a:spcPts val="105"/>
              </a:spcBef>
            </a:pP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300" spc="-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300" spc="-7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300" spc="-7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300" spc="-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300" spc="-4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300" spc="-4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3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752600"/>
          </a:xfrm>
          <a:custGeom>
            <a:avLst/>
            <a:gdLst/>
            <a:ahLst/>
            <a:cxnLst/>
            <a:rect l="l" t="t" r="r" b="b"/>
            <a:pathLst>
              <a:path w="9144000" h="1752600">
                <a:moveTo>
                  <a:pt x="9144000" y="0"/>
                </a:moveTo>
                <a:lnTo>
                  <a:pt x="0" y="0"/>
                </a:lnTo>
                <a:lnTo>
                  <a:pt x="0" y="1752600"/>
                </a:lnTo>
                <a:lnTo>
                  <a:pt x="9144000" y="1752600"/>
                </a:lnTo>
                <a:lnTo>
                  <a:pt x="9144000" y="0"/>
                </a:lnTo>
                <a:close/>
              </a:path>
            </a:pathLst>
          </a:custGeom>
          <a:solidFill>
            <a:srgbClr val="335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96900" y="688848"/>
            <a:ext cx="8362950" cy="372538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lang="en-IN" sz="2400" dirty="0">
                <a:solidFill>
                  <a:srgbClr val="FF0000"/>
                </a:solidFill>
              </a:rPr>
              <a:t>UEC3942:</a:t>
            </a:r>
            <a:r>
              <a:rPr lang="en-IN" sz="2400" spc="-75" dirty="0">
                <a:solidFill>
                  <a:srgbClr val="FF0000"/>
                </a:solidFill>
              </a:rPr>
              <a:t> </a:t>
            </a:r>
            <a:r>
              <a:rPr sz="2400" dirty="0" smtClean="0">
                <a:solidFill>
                  <a:srgbClr val="FF0000"/>
                </a:solidFill>
              </a:rPr>
              <a:t>Introduction</a:t>
            </a:r>
            <a:r>
              <a:rPr sz="2400" spc="-30" dirty="0" smtClean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to</a:t>
            </a:r>
            <a:r>
              <a:rPr sz="2400" spc="-4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Sensors</a:t>
            </a:r>
            <a:r>
              <a:rPr sz="2400" spc="-4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and</a:t>
            </a:r>
            <a:r>
              <a:rPr sz="2400" spc="-40" dirty="0">
                <a:solidFill>
                  <a:srgbClr val="FF0000"/>
                </a:solidFill>
              </a:rPr>
              <a:t> </a:t>
            </a:r>
            <a:r>
              <a:rPr sz="2400" spc="-10" dirty="0">
                <a:solidFill>
                  <a:srgbClr val="FF0000"/>
                </a:solidFill>
              </a:rPr>
              <a:t>Actuators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9101" y="261180"/>
            <a:ext cx="2690495" cy="6172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Overview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17294"/>
            <a:ext cx="799973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501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To</a:t>
            </a:r>
            <a:r>
              <a:rPr sz="2000" spc="-6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understand</a:t>
            </a:r>
            <a:r>
              <a:rPr sz="2000" spc="-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construction,</a:t>
            </a:r>
            <a:r>
              <a:rPr sz="2000" spc="-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working</a:t>
            </a:r>
            <a:r>
              <a:rPr sz="2000" spc="-3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principles,</a:t>
            </a:r>
            <a:r>
              <a:rPr sz="2000" spc="-40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spc="-20" dirty="0">
                <a:latin typeface="Verdana"/>
                <a:cs typeface="Verdana"/>
              </a:rPr>
              <a:t>real-</a:t>
            </a:r>
            <a:r>
              <a:rPr sz="2000" dirty="0">
                <a:latin typeface="Verdana"/>
                <a:cs typeface="Verdana"/>
              </a:rPr>
              <a:t>world</a:t>
            </a:r>
            <a:r>
              <a:rPr sz="2000" spc="450" dirty="0">
                <a:latin typeface="Verdana"/>
                <a:cs typeface="Verdana"/>
              </a:rPr>
              <a:t>   </a:t>
            </a:r>
            <a:r>
              <a:rPr sz="2000" dirty="0">
                <a:latin typeface="Verdana"/>
                <a:cs typeface="Verdana"/>
              </a:rPr>
              <a:t>applications</a:t>
            </a:r>
            <a:r>
              <a:rPr sz="2000" spc="434" dirty="0">
                <a:latin typeface="Verdana"/>
                <a:cs typeface="Verdana"/>
              </a:rPr>
              <a:t>  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440" dirty="0">
                <a:latin typeface="Verdana"/>
                <a:cs typeface="Verdana"/>
              </a:rPr>
              <a:t>   </a:t>
            </a:r>
            <a:r>
              <a:rPr sz="2000" dirty="0">
                <a:latin typeface="Verdana"/>
                <a:cs typeface="Verdana"/>
              </a:rPr>
              <a:t>Piezoresistive</a:t>
            </a:r>
            <a:r>
              <a:rPr sz="2000" spc="440" dirty="0">
                <a:latin typeface="Verdana"/>
                <a:cs typeface="Verdana"/>
              </a:rPr>
              <a:t>   </a:t>
            </a:r>
            <a:r>
              <a:rPr sz="2000" spc="-10" dirty="0">
                <a:latin typeface="Verdana"/>
                <a:cs typeface="Verdana"/>
              </a:rPr>
              <a:t>Pressure Microsensors.</a:t>
            </a:r>
            <a:endParaRPr sz="2000"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spc="-5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explore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MEMS-</a:t>
            </a:r>
            <a:r>
              <a:rPr sz="2000" dirty="0">
                <a:latin typeface="Verdana"/>
                <a:cs typeface="Verdana"/>
              </a:rPr>
              <a:t>based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Pressure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Sensing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Technology.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073020" y="281685"/>
            <a:ext cx="5001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-6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9101" y="261180"/>
            <a:ext cx="2690495" cy="6172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Overview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17294"/>
            <a:ext cx="7999095" cy="23126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Definition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MEMS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(Micro-Electro-</a:t>
            </a:r>
            <a:r>
              <a:rPr sz="2000" dirty="0">
                <a:latin typeface="Verdana"/>
                <a:cs typeface="Verdana"/>
              </a:rPr>
              <a:t>Mechanical</a:t>
            </a:r>
            <a:r>
              <a:rPr sz="2000" spc="-10" dirty="0">
                <a:latin typeface="Verdana"/>
                <a:cs typeface="Verdana"/>
              </a:rPr>
              <a:t> Systems).</a:t>
            </a:r>
            <a:endParaRPr sz="20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spc="-20" dirty="0">
                <a:latin typeface="Verdana"/>
                <a:cs typeface="Verdana"/>
              </a:rPr>
              <a:t>Transition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macro-</a:t>
            </a:r>
            <a:r>
              <a:rPr sz="2000" dirty="0">
                <a:latin typeface="Verdana"/>
                <a:cs typeface="Verdana"/>
              </a:rPr>
              <a:t>scale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sensors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micro-scale.</a:t>
            </a:r>
            <a:endParaRPr sz="20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role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pressure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sensing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modern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electronics.</a:t>
            </a:r>
            <a:endParaRPr sz="20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  <a:tab pos="1221105" algn="l"/>
                <a:tab pos="1969770" algn="l"/>
                <a:tab pos="4003040" algn="l"/>
                <a:tab pos="5628005" algn="l"/>
                <a:tab pos="6629400" algn="l"/>
              </a:tabLst>
            </a:pPr>
            <a:r>
              <a:rPr sz="2000" spc="-25" dirty="0">
                <a:latin typeface="Verdana"/>
                <a:cs typeface="Verdana"/>
              </a:rPr>
              <a:t>Why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use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piezoresistive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materials?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(High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sensitivity,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established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manufacturing).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585341" y="281685"/>
            <a:ext cx="5974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3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Microsensor?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9849" y="281685"/>
            <a:ext cx="8601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Piezoresistive</a:t>
            </a:r>
            <a:r>
              <a:rPr spc="-50" dirty="0"/>
              <a:t> </a:t>
            </a:r>
            <a:r>
              <a:rPr spc="-10" dirty="0"/>
              <a:t>Effect?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238478"/>
            <a:ext cx="6798309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sz="2000" b="1" spc="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change</a:t>
            </a:r>
            <a:r>
              <a:rPr sz="2000" spc="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electrical</a:t>
            </a:r>
            <a:r>
              <a:rPr sz="2000" spc="30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resistivity </a:t>
            </a:r>
            <a:r>
              <a:rPr sz="2000" dirty="0">
                <a:latin typeface="Verdana"/>
                <a:cs typeface="Verdana"/>
              </a:rPr>
              <a:t>semiconductor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when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mechanical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strain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applied.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Key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Formula: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43393" y="1390269"/>
            <a:ext cx="11906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(</a:t>
            </a:r>
            <a:r>
              <a:rPr sz="2000" i="1" dirty="0">
                <a:latin typeface="Verdana"/>
                <a:cs typeface="Verdana"/>
              </a:rPr>
              <a:t>ρ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3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35" dirty="0">
                <a:latin typeface="Verdana"/>
                <a:cs typeface="Verdana"/>
              </a:rPr>
              <a:t>  </a:t>
            </a:r>
            <a:r>
              <a:rPr sz="2000" spc="-5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3067659"/>
            <a:ext cx="8150859" cy="32264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0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Mathematics</a:t>
            </a:r>
            <a:r>
              <a:rPr sz="20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sz="20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Piezoresistivity:</a:t>
            </a:r>
            <a:endParaRPr sz="2000">
              <a:latin typeface="Verdana"/>
              <a:cs typeface="Verdana"/>
            </a:endParaRPr>
          </a:p>
          <a:p>
            <a:pPr marL="927100" lvl="1" indent="-4572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927100" algn="l"/>
              </a:tabLst>
            </a:pPr>
            <a:r>
              <a:rPr sz="2000" dirty="0">
                <a:latin typeface="Verdana"/>
                <a:cs typeface="Verdana"/>
              </a:rPr>
              <a:t>The  resistance</a:t>
            </a:r>
            <a:r>
              <a:rPr sz="2000" spc="-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i="1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-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of  a</a:t>
            </a:r>
            <a:r>
              <a:rPr sz="2000" spc="-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conductor</a:t>
            </a:r>
            <a:r>
              <a:rPr sz="2000" spc="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is  defined  by</a:t>
            </a:r>
            <a:r>
              <a:rPr sz="2000" spc="5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its</a:t>
            </a:r>
            <a:endParaRPr sz="20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geometry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resistivity</a:t>
            </a:r>
            <a:r>
              <a:rPr sz="2000" spc="-1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2000">
              <a:latin typeface="Arial MT"/>
              <a:cs typeface="Arial MT"/>
            </a:endParaRPr>
          </a:p>
          <a:p>
            <a:pPr marL="927100" marR="5715" lvl="2" indent="-342900" algn="just">
              <a:lnSpc>
                <a:spcPct val="150100"/>
              </a:lnSpc>
              <a:buFont typeface="Wingdings"/>
              <a:buChar char=""/>
              <a:tabLst>
                <a:tab pos="927100" algn="l"/>
              </a:tabLst>
            </a:pPr>
            <a:r>
              <a:rPr sz="2000" dirty="0">
                <a:latin typeface="Verdana"/>
                <a:cs typeface="Verdana"/>
              </a:rPr>
              <a:t>where </a:t>
            </a:r>
            <a:r>
              <a:rPr sz="2000" i="1" dirty="0">
                <a:latin typeface="Verdana"/>
                <a:cs typeface="Verdana"/>
              </a:rPr>
              <a:t>ρ </a:t>
            </a:r>
            <a:r>
              <a:rPr sz="2000" dirty="0">
                <a:latin typeface="Verdana"/>
                <a:cs typeface="Verdana"/>
              </a:rPr>
              <a:t>is resistivity, </a:t>
            </a:r>
            <a:r>
              <a:rPr sz="2000" i="1" dirty="0">
                <a:latin typeface="Verdana"/>
                <a:cs typeface="Verdana"/>
              </a:rPr>
              <a:t>L </a:t>
            </a:r>
            <a:r>
              <a:rPr sz="2000" dirty="0">
                <a:latin typeface="Verdana"/>
                <a:cs typeface="Verdana"/>
              </a:rPr>
              <a:t>is length, and </a:t>
            </a:r>
            <a:r>
              <a:rPr sz="2000" i="1" dirty="0">
                <a:latin typeface="Verdana"/>
                <a:cs typeface="Verdana"/>
              </a:rPr>
              <a:t>A </a:t>
            </a:r>
            <a:r>
              <a:rPr sz="2000" dirty="0">
                <a:latin typeface="Verdana"/>
                <a:cs typeface="Verdana"/>
              </a:rPr>
              <a:t>is </a:t>
            </a:r>
            <a:r>
              <a:rPr sz="2000" spc="-10" dirty="0">
                <a:latin typeface="Verdana"/>
                <a:cs typeface="Verdana"/>
              </a:rPr>
              <a:t>cross-</a:t>
            </a:r>
            <a:r>
              <a:rPr sz="2000" dirty="0">
                <a:latin typeface="Verdana"/>
                <a:cs typeface="Verdana"/>
              </a:rPr>
              <a:t>sectional</a:t>
            </a:r>
            <a:r>
              <a:rPr sz="2000" spc="-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area.</a:t>
            </a:r>
            <a:r>
              <a:rPr sz="2000" spc="-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When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sensor</a:t>
            </a:r>
            <a:r>
              <a:rPr sz="2000" spc="-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strained,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all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three </a:t>
            </a:r>
            <a:r>
              <a:rPr sz="2000" dirty="0">
                <a:latin typeface="Verdana"/>
                <a:cs typeface="Verdana"/>
              </a:rPr>
              <a:t>variables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change.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3874" y="2432527"/>
            <a:ext cx="2509550" cy="4233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6262" y="4486147"/>
            <a:ext cx="682154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22198" y="6807"/>
            <a:ext cx="78974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1835" marR="5080" indent="-1969770">
              <a:lnSpc>
                <a:spcPct val="100000"/>
              </a:lnSpc>
              <a:spcBef>
                <a:spcPts val="100"/>
              </a:spcBef>
            </a:pPr>
            <a:r>
              <a:rPr dirty="0"/>
              <a:t>Expanded:</a:t>
            </a:r>
            <a:r>
              <a:rPr spc="-7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Mathematics</a:t>
            </a:r>
            <a:r>
              <a:rPr spc="-80" dirty="0"/>
              <a:t> </a:t>
            </a:r>
            <a:r>
              <a:rPr spc="-25" dirty="0"/>
              <a:t>of </a:t>
            </a:r>
            <a:r>
              <a:rPr spc="-10" dirty="0"/>
              <a:t>Piezoresistivity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194028"/>
            <a:ext cx="8149590" cy="23120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0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Fundamental</a:t>
            </a:r>
            <a:r>
              <a:rPr sz="20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Derivation</a:t>
            </a:r>
            <a:endParaRPr sz="2000">
              <a:latin typeface="Verdana"/>
              <a:cs typeface="Verdana"/>
            </a:endParaRPr>
          </a:p>
          <a:p>
            <a:pPr marL="5842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By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taking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natural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log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differentiating</a:t>
            </a:r>
            <a:r>
              <a:rPr sz="2000" spc="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resistance</a:t>
            </a:r>
            <a:endParaRPr sz="2000">
              <a:latin typeface="Verdana"/>
              <a:cs typeface="Verdana"/>
            </a:endParaRPr>
          </a:p>
          <a:p>
            <a:pPr marL="5842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formula,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arrive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relative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change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resistance: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370"/>
              </a:spcBef>
            </a:pP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Geometry</a:t>
            </a:r>
            <a:r>
              <a:rPr sz="20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vs.</a:t>
            </a:r>
            <a:r>
              <a:rPr sz="20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Material</a:t>
            </a:r>
            <a:r>
              <a:rPr sz="20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Properties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14488" y="3948810"/>
            <a:ext cx="226060" cy="17145"/>
          </a:xfrm>
          <a:custGeom>
            <a:avLst/>
            <a:gdLst/>
            <a:ahLst/>
            <a:cxnLst/>
            <a:rect l="l" t="t" r="r" b="b"/>
            <a:pathLst>
              <a:path w="226059" h="17145">
                <a:moveTo>
                  <a:pt x="225551" y="0"/>
                </a:moveTo>
                <a:lnTo>
                  <a:pt x="0" y="0"/>
                </a:lnTo>
                <a:lnTo>
                  <a:pt x="0" y="16763"/>
                </a:lnTo>
                <a:lnTo>
                  <a:pt x="225551" y="16763"/>
                </a:lnTo>
                <a:lnTo>
                  <a:pt x="2255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14755" y="3763136"/>
            <a:ext cx="749680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For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Poisson’s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ratio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dirty="0">
                <a:latin typeface="Cambria Math"/>
                <a:cs typeface="Cambria Math"/>
              </a:rPr>
              <a:t>𝜈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axial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strain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dirty="0">
                <a:latin typeface="Cambria Math"/>
                <a:cs typeface="Cambria Math"/>
              </a:rPr>
              <a:t>𝜖</a:t>
            </a:r>
            <a:r>
              <a:rPr sz="2000" spc="15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90" dirty="0">
                <a:latin typeface="Cambria Math"/>
                <a:cs typeface="Cambria Math"/>
              </a:rPr>
              <a:t> </a:t>
            </a:r>
            <a:r>
              <a:rPr sz="2175" spc="-30" baseline="45977" dirty="0">
                <a:latin typeface="Cambria Math"/>
                <a:cs typeface="Cambria Math"/>
              </a:rPr>
              <a:t>𝑑𝐿</a:t>
            </a:r>
            <a:r>
              <a:rPr sz="2000" spc="-20" dirty="0">
                <a:latin typeface="Verdana"/>
                <a:cs typeface="Verdana"/>
              </a:rPr>
              <a:t>):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3204" y="4289297"/>
            <a:ext cx="62763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Dimensional</a:t>
            </a:r>
            <a:r>
              <a:rPr sz="2000" b="1" spc="40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Change:</a:t>
            </a:r>
            <a:r>
              <a:rPr sz="2000" b="1" spc="39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3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term</a:t>
            </a:r>
            <a:r>
              <a:rPr sz="2000" spc="3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(1</a:t>
            </a:r>
            <a:r>
              <a:rPr sz="2000" spc="3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+</a:t>
            </a:r>
            <a:r>
              <a:rPr sz="2000" spc="37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2</a:t>
            </a:r>
            <a:r>
              <a:rPr sz="2000" spc="60" dirty="0">
                <a:latin typeface="Cambria Math"/>
                <a:cs typeface="Cambria Math"/>
              </a:rPr>
              <a:t>𝜈</a:t>
            </a:r>
            <a:r>
              <a:rPr sz="2000" spc="60" dirty="0">
                <a:latin typeface="Verdana"/>
                <a:cs typeface="Verdana"/>
              </a:rPr>
              <a:t>)</a:t>
            </a:r>
            <a:r>
              <a:rPr sz="2000" spc="60" dirty="0">
                <a:latin typeface="Cambria Math"/>
                <a:cs typeface="Cambria Math"/>
              </a:rPr>
              <a:t>𝜖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55942" y="3881578"/>
            <a:ext cx="1377315" cy="73914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R="28575" algn="ctr">
              <a:lnSpc>
                <a:spcPct val="100000"/>
              </a:lnSpc>
              <a:spcBef>
                <a:spcPts val="730"/>
              </a:spcBef>
            </a:pPr>
            <a:r>
              <a:rPr sz="1450" spc="-50" dirty="0">
                <a:latin typeface="Cambria Math"/>
                <a:cs typeface="Cambria Math"/>
              </a:rPr>
              <a:t>𝐿</a:t>
            </a:r>
            <a:endParaRPr sz="145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sz="2000" spc="-10" dirty="0">
                <a:latin typeface="Verdana"/>
                <a:cs typeface="Verdana"/>
              </a:rPr>
              <a:t>represents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3204" y="4594707"/>
            <a:ext cx="779081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85">
              <a:lnSpc>
                <a:spcPct val="15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how</a:t>
            </a:r>
            <a:r>
              <a:rPr sz="2000" spc="5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physical</a:t>
            </a:r>
            <a:r>
              <a:rPr sz="2000" spc="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shape</a:t>
            </a:r>
            <a:r>
              <a:rPr sz="2000" spc="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changes</a:t>
            </a:r>
            <a:r>
              <a:rPr sz="2000" spc="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(getting</a:t>
            </a:r>
            <a:r>
              <a:rPr sz="2000" spc="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longer</a:t>
            </a:r>
            <a:r>
              <a:rPr sz="2000" spc="50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spc="-10" dirty="0">
                <a:latin typeface="Verdana"/>
                <a:cs typeface="Verdana"/>
              </a:rPr>
              <a:t>thinner).</a:t>
            </a:r>
            <a:endParaRPr sz="2000">
              <a:latin typeface="Verdana"/>
              <a:cs typeface="Verdana"/>
            </a:endParaRPr>
          </a:p>
          <a:p>
            <a:pPr marL="355600" marR="5080" indent="-343535">
              <a:lnSpc>
                <a:spcPct val="150000"/>
              </a:lnSpc>
              <a:buFont typeface="Wingdings"/>
              <a:buChar char=""/>
              <a:tabLst>
                <a:tab pos="355600" algn="l"/>
              </a:tabLst>
            </a:pP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Piezoresistive</a:t>
            </a:r>
            <a:r>
              <a:rPr sz="2000" b="1" spc="38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Change:</a:t>
            </a:r>
            <a:r>
              <a:rPr sz="2000" b="1" spc="37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3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term</a:t>
            </a:r>
            <a:r>
              <a:rPr sz="2000" spc="36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dρ</a:t>
            </a:r>
            <a:r>
              <a:rPr sz="2000" dirty="0">
                <a:latin typeface="Verdana"/>
                <a:cs typeface="Verdana"/>
              </a:rPr>
              <a:t>/</a:t>
            </a:r>
            <a:r>
              <a:rPr sz="2000" i="1" dirty="0">
                <a:latin typeface="Verdana"/>
                <a:cs typeface="Verdana"/>
              </a:rPr>
              <a:t>ρ</a:t>
            </a:r>
            <a:r>
              <a:rPr sz="2000" i="1" spc="3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represents</a:t>
            </a:r>
            <a:r>
              <a:rPr sz="2000" spc="3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change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crystal's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internal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electrical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properties.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2508" y="2628900"/>
            <a:ext cx="1620012" cy="560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22198" y="6807"/>
            <a:ext cx="78974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1835" marR="5080" indent="-1969770">
              <a:lnSpc>
                <a:spcPct val="100000"/>
              </a:lnSpc>
              <a:spcBef>
                <a:spcPts val="100"/>
              </a:spcBef>
            </a:pPr>
            <a:r>
              <a:rPr dirty="0"/>
              <a:t>Expanded:</a:t>
            </a:r>
            <a:r>
              <a:rPr spc="-7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Mathematics</a:t>
            </a:r>
            <a:r>
              <a:rPr spc="-80" dirty="0"/>
              <a:t> </a:t>
            </a:r>
            <a:r>
              <a:rPr spc="-25" dirty="0"/>
              <a:t>of </a:t>
            </a:r>
            <a:r>
              <a:rPr spc="-10" dirty="0"/>
              <a:t>Piezoresistivity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206429"/>
            <a:ext cx="8148955" cy="139827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0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Gauge</a:t>
            </a:r>
            <a:r>
              <a:rPr sz="20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Factor</a:t>
            </a:r>
            <a:r>
              <a:rPr sz="20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Verdana"/>
                <a:cs typeface="Verdana"/>
              </a:rPr>
              <a:t>(GF)</a:t>
            </a:r>
            <a:endParaRPr sz="2000">
              <a:latin typeface="Verdana"/>
              <a:cs typeface="Verdana"/>
            </a:endParaRPr>
          </a:p>
          <a:p>
            <a:pPr marL="584200" marR="5080">
              <a:lnSpc>
                <a:spcPct val="150000"/>
              </a:lnSpc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3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Gauge</a:t>
            </a:r>
            <a:r>
              <a:rPr sz="2000" spc="3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Factor</a:t>
            </a:r>
            <a:r>
              <a:rPr sz="2000" spc="3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3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3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measure</a:t>
            </a:r>
            <a:r>
              <a:rPr sz="2000" spc="2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3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sensitivity.</a:t>
            </a:r>
            <a:r>
              <a:rPr sz="2000" spc="3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</a:t>
            </a:r>
            <a:r>
              <a:rPr sz="2000" spc="3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3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ratio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relative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change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resistance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mechanical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strain: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0113" y="2809054"/>
            <a:ext cx="3162768" cy="471091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15950" y="3510703"/>
          <a:ext cx="8042275" cy="1405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5525"/>
                <a:gridCol w="2408554"/>
                <a:gridCol w="3261995"/>
              </a:tblGrid>
              <a:tr h="62674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800" b="1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Material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8430" marB="0"/>
                </a:tc>
                <a:tc>
                  <a:txBody>
                    <a:bodyPr/>
                    <a:lstStyle/>
                    <a:p>
                      <a:pPr marL="251460" marR="34988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Typical</a:t>
                      </a:r>
                      <a:r>
                        <a:rPr sz="1800" b="1" spc="-8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Gauge </a:t>
                      </a:r>
                      <a:r>
                        <a:rPr sz="1800" b="1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Factor</a:t>
                      </a:r>
                      <a:r>
                        <a:rPr sz="1800" b="1" spc="-7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(GF)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Dominant</a:t>
                      </a:r>
                      <a:r>
                        <a:rPr sz="1800" b="1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 Factor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8430" marB="0"/>
                </a:tc>
              </a:tr>
              <a:tr h="4267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b="1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Metals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25146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≈</a:t>
                      </a:r>
                      <a:r>
                        <a:rPr sz="1800" spc="-15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2.0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80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Geometric</a:t>
                      </a:r>
                      <a:r>
                        <a:rPr sz="1800" spc="-105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1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change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</a:tr>
              <a:tr h="351790">
                <a:tc>
                  <a:txBody>
                    <a:bodyPr/>
                    <a:lstStyle/>
                    <a:p>
                      <a:pPr marL="31750">
                        <a:lnSpc>
                          <a:spcPts val="2080"/>
                        </a:lnSpc>
                        <a:spcBef>
                          <a:spcPts val="595"/>
                        </a:spcBef>
                      </a:pPr>
                      <a:r>
                        <a:rPr sz="1800" b="1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Silicon</a:t>
                      </a:r>
                      <a:r>
                        <a:rPr sz="1800" b="1" spc="-6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(p-</a:t>
                      </a:r>
                      <a:r>
                        <a:rPr sz="1800" b="1" spc="-20" dirty="0">
                          <a:solidFill>
                            <a:srgbClr val="006FC0"/>
                          </a:solidFill>
                          <a:latin typeface="Verdana"/>
                          <a:cs typeface="Verdana"/>
                        </a:rPr>
                        <a:t>type)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251460">
                        <a:lnSpc>
                          <a:spcPts val="2080"/>
                        </a:lnSpc>
                        <a:spcBef>
                          <a:spcPts val="595"/>
                        </a:spcBef>
                      </a:pPr>
                      <a:r>
                        <a:rPr sz="180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100</a:t>
                      </a:r>
                      <a:r>
                        <a:rPr sz="1800" spc="5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800" spc="-2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5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170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ts val="2080"/>
                        </a:lnSpc>
                        <a:spcBef>
                          <a:spcPts val="595"/>
                        </a:spcBef>
                      </a:pPr>
                      <a:r>
                        <a:rPr sz="180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Piezoresistive</a:t>
                      </a:r>
                      <a:r>
                        <a:rPr sz="1800" spc="-95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effect</a:t>
                      </a:r>
                      <a:r>
                        <a:rPr sz="1800" spc="-8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800" spc="-2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(Δ</a:t>
                      </a:r>
                      <a:r>
                        <a:rPr sz="1800" i="1" spc="-2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ρ</a:t>
                      </a:r>
                      <a:r>
                        <a:rPr sz="1800" spc="-20" dirty="0">
                          <a:solidFill>
                            <a:srgbClr val="1F1F1F"/>
                          </a:solidFill>
                          <a:latin typeface="Verdana"/>
                          <a:cs typeface="Verdana"/>
                        </a:rPr>
                        <a:t>)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75565" marB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83540" y="5152542"/>
            <a:ext cx="8149590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4" algn="just">
              <a:lnSpc>
                <a:spcPct val="150000"/>
              </a:lnSpc>
              <a:spcBef>
                <a:spcPts val="95"/>
              </a:spcBef>
              <a:buFont typeface="Wingdings"/>
              <a:buChar char=""/>
              <a:tabLst>
                <a:tab pos="4699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"Piezoresistive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Effect"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primarily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caused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a </a:t>
            </a:r>
            <a:r>
              <a:rPr sz="2000" dirty="0">
                <a:latin typeface="Verdana"/>
                <a:cs typeface="Verdana"/>
              </a:rPr>
              <a:t>change</a:t>
            </a:r>
            <a:r>
              <a:rPr sz="2000" spc="4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4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4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electrical</a:t>
            </a:r>
            <a:r>
              <a:rPr sz="2000" spc="4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resistivity</a:t>
            </a:r>
            <a:r>
              <a:rPr sz="2000" spc="4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i="1" dirty="0">
                <a:latin typeface="Verdana"/>
                <a:cs typeface="Verdana"/>
              </a:rPr>
              <a:t>ρ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4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due</a:t>
            </a:r>
            <a:r>
              <a:rPr sz="2000" spc="4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4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changes</a:t>
            </a:r>
            <a:r>
              <a:rPr sz="2000" spc="42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in </a:t>
            </a:r>
            <a:r>
              <a:rPr sz="2000" dirty="0">
                <a:latin typeface="Verdana"/>
                <a:cs typeface="Verdana"/>
              </a:rPr>
              <a:t>carrier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mobility.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07514" y="281685"/>
            <a:ext cx="4726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35" dirty="0"/>
              <a:t> </a:t>
            </a:r>
            <a:r>
              <a:rPr dirty="0"/>
              <a:t>Silicon</a:t>
            </a:r>
            <a:r>
              <a:rPr spc="-40" dirty="0"/>
              <a:t> </a:t>
            </a:r>
            <a:r>
              <a:rPr spc="-10" dirty="0"/>
              <a:t>Wins?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194028"/>
            <a:ext cx="8151495" cy="459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In</a:t>
            </a:r>
            <a:r>
              <a:rPr sz="2000" spc="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semiconductors</a:t>
            </a:r>
            <a:r>
              <a:rPr sz="2000" spc="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like</a:t>
            </a:r>
            <a:r>
              <a:rPr sz="2000" spc="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Silicon,</a:t>
            </a:r>
            <a:r>
              <a:rPr sz="2000" spc="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term</a:t>
            </a:r>
            <a:r>
              <a:rPr sz="2000" spc="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massive</a:t>
            </a:r>
            <a:r>
              <a:rPr sz="2000" spc="114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because </a:t>
            </a:r>
            <a:r>
              <a:rPr sz="2000" dirty="0">
                <a:latin typeface="Verdana"/>
                <a:cs typeface="Verdana"/>
              </a:rPr>
              <a:t>mechanical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stress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alters</a:t>
            </a:r>
            <a:r>
              <a:rPr sz="2000" spc="-7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energy</a:t>
            </a:r>
            <a:r>
              <a:rPr sz="2000" b="1" spc="-50" dirty="0">
                <a:solidFill>
                  <a:srgbClr val="006FC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bands</a:t>
            </a:r>
            <a:r>
              <a:rPr sz="2000" b="1" spc="-65" dirty="0">
                <a:solidFill>
                  <a:srgbClr val="006FC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and</a:t>
            </a:r>
            <a:r>
              <a:rPr sz="2000" b="1" spc="-55" dirty="0">
                <a:solidFill>
                  <a:srgbClr val="006FC0"/>
                </a:solidFill>
                <a:latin typeface="Verdana"/>
                <a:cs typeface="Verdana"/>
              </a:rPr>
              <a:t>  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carrier mobility.</a:t>
            </a:r>
            <a:endParaRPr sz="2000">
              <a:latin typeface="Verdana"/>
              <a:cs typeface="Verdana"/>
            </a:endParaRPr>
          </a:p>
          <a:p>
            <a:pPr marL="812165" lvl="1" indent="-342265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12165" algn="l"/>
              </a:tabLst>
            </a:pPr>
            <a:r>
              <a:rPr sz="2000" dirty="0">
                <a:latin typeface="Verdana"/>
                <a:cs typeface="Verdana"/>
              </a:rPr>
              <a:t>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p-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type</a:t>
            </a:r>
            <a:r>
              <a:rPr sz="2000" b="1" spc="-2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silicon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stress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changes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"hole"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mobility.</a:t>
            </a:r>
            <a:endParaRPr sz="2000">
              <a:latin typeface="Verdana"/>
              <a:cs typeface="Verdana"/>
            </a:endParaRPr>
          </a:p>
          <a:p>
            <a:pPr marL="812800" marR="6350" lvl="1" indent="-342900" algn="just">
              <a:lnSpc>
                <a:spcPct val="150000"/>
              </a:lnSpc>
              <a:buFont typeface="Wingdings"/>
              <a:buChar char=""/>
              <a:tabLst>
                <a:tab pos="8128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math</a:t>
            </a:r>
            <a:r>
              <a:rPr sz="2000" spc="-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shows</a:t>
            </a:r>
            <a:r>
              <a:rPr sz="2000" spc="-3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3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-3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nearly</a:t>
            </a:r>
            <a:r>
              <a:rPr sz="2000" spc="-45" dirty="0">
                <a:latin typeface="Verdana"/>
                <a:cs typeface="Verdana"/>
              </a:rPr>
              <a:t>  </a:t>
            </a:r>
            <a:r>
              <a:rPr sz="2000" b="1" spc="-25" dirty="0">
                <a:solidFill>
                  <a:srgbClr val="006FC0"/>
                </a:solidFill>
                <a:latin typeface="Verdana"/>
                <a:cs typeface="Verdana"/>
              </a:rPr>
              <a:t>50–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80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  times </a:t>
            </a:r>
            <a:r>
              <a:rPr sz="2000" dirty="0">
                <a:latin typeface="Verdana"/>
                <a:cs typeface="Verdana"/>
              </a:rPr>
              <a:t>more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sensitive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standard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metal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foil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gauges.</a:t>
            </a:r>
            <a:endParaRPr sz="2000">
              <a:latin typeface="Verdana"/>
              <a:cs typeface="Verdana"/>
            </a:endParaRPr>
          </a:p>
          <a:p>
            <a:pPr marL="355600" marR="5715" indent="-342900" algn="just">
              <a:lnSpc>
                <a:spcPct val="1500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While</a:t>
            </a:r>
            <a:r>
              <a:rPr sz="2000" spc="4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metal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sensors</a:t>
            </a:r>
            <a:r>
              <a:rPr sz="2000" spc="-10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rely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10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"stretching"</a:t>
            </a:r>
            <a:r>
              <a:rPr sz="2000" spc="-9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10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wire,</a:t>
            </a:r>
            <a:r>
              <a:rPr sz="2000" spc="-100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silicon </a:t>
            </a:r>
            <a:r>
              <a:rPr sz="2000" dirty="0">
                <a:latin typeface="Verdana"/>
                <a:cs typeface="Verdana"/>
              </a:rPr>
              <a:t>microsensors</a:t>
            </a:r>
            <a:r>
              <a:rPr sz="2000" spc="20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rely</a:t>
            </a:r>
            <a:r>
              <a:rPr sz="2000" spc="2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2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"changing</a:t>
            </a:r>
            <a:r>
              <a:rPr sz="2000" spc="2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2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nature"</a:t>
            </a:r>
            <a:r>
              <a:rPr sz="2000" spc="229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2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2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material </a:t>
            </a:r>
            <a:r>
              <a:rPr sz="2000" dirty="0">
                <a:latin typeface="Verdana"/>
                <a:cs typeface="Verdana"/>
              </a:rPr>
              <a:t>itself.</a:t>
            </a:r>
            <a:r>
              <a:rPr sz="2000" spc="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This</a:t>
            </a:r>
            <a:r>
              <a:rPr sz="2000" spc="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why</a:t>
            </a:r>
            <a:r>
              <a:rPr sz="2000" spc="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we</a:t>
            </a:r>
            <a:r>
              <a:rPr sz="2000" spc="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make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them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so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small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yet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so </a:t>
            </a:r>
            <a:r>
              <a:rPr sz="2000" dirty="0">
                <a:latin typeface="Verdana"/>
                <a:cs typeface="Verdana"/>
              </a:rPr>
              <a:t>incredibly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precise.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44549" y="281685"/>
            <a:ext cx="6454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Piezoresistivity</a:t>
            </a:r>
            <a:r>
              <a:rPr spc="-6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10" dirty="0"/>
              <a:t>Silicon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4134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/>
              <a:t>Why</a:t>
            </a:r>
            <a:r>
              <a:rPr spc="195" dirty="0"/>
              <a:t> </a:t>
            </a:r>
            <a:r>
              <a:rPr dirty="0"/>
              <a:t>Silicon?</a:t>
            </a:r>
            <a:r>
              <a:rPr spc="220" dirty="0"/>
              <a:t> </a:t>
            </a:r>
            <a:r>
              <a:rPr dirty="0"/>
              <a:t>It</a:t>
            </a:r>
            <a:r>
              <a:rPr spc="200" dirty="0"/>
              <a:t> </a:t>
            </a:r>
            <a:r>
              <a:rPr dirty="0"/>
              <a:t>has</a:t>
            </a:r>
            <a:r>
              <a:rPr spc="204" dirty="0"/>
              <a:t> </a:t>
            </a:r>
            <a:r>
              <a:rPr dirty="0"/>
              <a:t>a</a:t>
            </a:r>
            <a:r>
              <a:rPr spc="190" dirty="0"/>
              <a:t> </a:t>
            </a:r>
            <a:r>
              <a:rPr dirty="0"/>
              <a:t>high</a:t>
            </a:r>
            <a:r>
              <a:rPr spc="200" dirty="0"/>
              <a:t> </a:t>
            </a:r>
            <a:r>
              <a:rPr dirty="0"/>
              <a:t>"Gauge</a:t>
            </a:r>
            <a:r>
              <a:rPr spc="200" dirty="0"/>
              <a:t> </a:t>
            </a:r>
            <a:r>
              <a:rPr dirty="0"/>
              <a:t>Factor"</a:t>
            </a:r>
            <a:r>
              <a:rPr spc="215" dirty="0"/>
              <a:t> </a:t>
            </a:r>
            <a:r>
              <a:rPr dirty="0"/>
              <a:t>(GF)</a:t>
            </a:r>
            <a:r>
              <a:rPr spc="204" dirty="0"/>
              <a:t> </a:t>
            </a:r>
            <a:r>
              <a:rPr spc="-10" dirty="0"/>
              <a:t>compared </a:t>
            </a:r>
            <a:r>
              <a:rPr dirty="0"/>
              <a:t>to</a:t>
            </a:r>
            <a:r>
              <a:rPr spc="-10" dirty="0"/>
              <a:t> metals.</a:t>
            </a: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/>
              <a:t>Effect</a:t>
            </a:r>
            <a:r>
              <a:rPr spc="-7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crystal</a:t>
            </a:r>
            <a:r>
              <a:rPr spc="-10" dirty="0"/>
              <a:t> </a:t>
            </a:r>
            <a:r>
              <a:rPr dirty="0"/>
              <a:t>orientation</a:t>
            </a:r>
            <a:r>
              <a:rPr spc="-35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spc="-10" dirty="0"/>
              <a:t>sensitivity.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20745" y="281685"/>
            <a:ext cx="33007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Construction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161875"/>
            <a:ext cx="8002905" cy="27692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thin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n-</a:t>
            </a:r>
            <a:r>
              <a:rPr sz="2000" dirty="0">
                <a:latin typeface="Verdana"/>
                <a:cs typeface="Verdana"/>
              </a:rPr>
              <a:t>type</a:t>
            </a:r>
            <a:r>
              <a:rPr sz="2000" spc="-7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beam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installed</a:t>
            </a:r>
            <a:r>
              <a:rPr sz="2000" spc="-6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across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shallow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cavity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top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surface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die.</a:t>
            </a:r>
            <a:endParaRPr sz="2000">
              <a:latin typeface="Verdana"/>
              <a:cs typeface="Verdana"/>
            </a:endParaRPr>
          </a:p>
          <a:p>
            <a:pPr marL="355600" marR="7620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17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p-</a:t>
            </a:r>
            <a:r>
              <a:rPr sz="2000" dirty="0">
                <a:latin typeface="Verdana"/>
                <a:cs typeface="Verdana"/>
              </a:rPr>
              <a:t>type</a:t>
            </a:r>
            <a:r>
              <a:rPr sz="2000" spc="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electrode</a:t>
            </a:r>
            <a:r>
              <a:rPr sz="2000" spc="1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1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diffused</a:t>
            </a:r>
            <a:r>
              <a:rPr sz="2000" spc="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surface</a:t>
            </a:r>
            <a:r>
              <a:rPr sz="2000" spc="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1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cavity </a:t>
            </a:r>
            <a:r>
              <a:rPr sz="2000" dirty="0">
                <a:latin typeface="Verdana"/>
                <a:cs typeface="Verdana"/>
              </a:rPr>
              <a:t>under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10" dirty="0">
                <a:latin typeface="Verdana"/>
                <a:cs typeface="Verdana"/>
              </a:rPr>
              <a:t> beam.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  <a:tab pos="1102360" algn="l"/>
                <a:tab pos="1652270" algn="l"/>
                <a:tab pos="2399665" algn="l"/>
                <a:tab pos="3512185" algn="l"/>
                <a:tab pos="4575810" algn="l"/>
                <a:tab pos="5612765" algn="l"/>
                <a:tab pos="6299835" algn="l"/>
                <a:tab pos="7357745" algn="l"/>
              </a:tabLst>
            </a:pPr>
            <a:r>
              <a:rPr sz="2000" spc="-25" dirty="0">
                <a:latin typeface="Verdana"/>
                <a:cs typeface="Verdana"/>
              </a:rPr>
              <a:t>The</a:t>
            </a:r>
            <a:r>
              <a:rPr sz="2000" dirty="0">
                <a:latin typeface="Verdana"/>
                <a:cs typeface="Verdana"/>
              </a:rPr>
              <a:t>	p-	</a:t>
            </a:r>
            <a:r>
              <a:rPr sz="2000" spc="-25" dirty="0">
                <a:latin typeface="Verdana"/>
                <a:cs typeface="Verdana"/>
              </a:rPr>
              <a:t>and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n-</a:t>
            </a:r>
            <a:r>
              <a:rPr sz="2000" spc="-20" dirty="0">
                <a:latin typeface="Verdana"/>
                <a:cs typeface="Verdana"/>
              </a:rPr>
              <a:t>type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silicon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layers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are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doped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with,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Verdana"/>
                <a:cs typeface="Verdana"/>
              </a:rPr>
              <a:t>respectively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boron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phosphorus.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3963923"/>
            <a:ext cx="4559249" cy="25937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20745" y="281685"/>
            <a:ext cx="33007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Construction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274120"/>
            <a:ext cx="8001634" cy="4599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2900" algn="just">
              <a:lnSpc>
                <a:spcPct val="150000"/>
              </a:lnSpc>
              <a:spcBef>
                <a:spcPts val="10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1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beam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made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vibrate</a:t>
            </a:r>
            <a:r>
              <a:rPr sz="2000" spc="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its</a:t>
            </a:r>
            <a:r>
              <a:rPr sz="2000" spc="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resonant</a:t>
            </a:r>
            <a:r>
              <a:rPr sz="2000" spc="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by </a:t>
            </a:r>
            <a:r>
              <a:rPr sz="2000" dirty="0">
                <a:latin typeface="Verdana"/>
                <a:cs typeface="Verdana"/>
              </a:rPr>
              <a:t>applying</a:t>
            </a:r>
            <a:r>
              <a:rPr sz="2000" spc="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</a:t>
            </a:r>
            <a:r>
              <a:rPr sz="2000" spc="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signal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diffused</a:t>
            </a:r>
            <a:r>
              <a:rPr sz="2000" spc="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electrode</a:t>
            </a:r>
            <a:r>
              <a:rPr sz="2000" spc="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6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beam </a:t>
            </a:r>
            <a:r>
              <a:rPr sz="2000" dirty="0">
                <a:latin typeface="Verdana"/>
                <a:cs typeface="Verdana"/>
              </a:rPr>
              <a:t>before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application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pressure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diaphragm.</a:t>
            </a:r>
            <a:endParaRPr sz="2000">
              <a:latin typeface="Verdana"/>
              <a:cs typeface="Verdana"/>
            </a:endParaRPr>
          </a:p>
          <a:p>
            <a:pPr marL="355600" marR="5080" indent="-342900" algn="just">
              <a:lnSpc>
                <a:spcPts val="3600"/>
              </a:lnSpc>
              <a:spcBef>
                <a:spcPts val="32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2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stress</a:t>
            </a:r>
            <a:r>
              <a:rPr sz="2000" spc="2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induced</a:t>
            </a:r>
            <a:r>
              <a:rPr sz="2000" spc="20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2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20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diaphragm</a:t>
            </a:r>
            <a:r>
              <a:rPr sz="2000" spc="20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(and</a:t>
            </a:r>
            <a:r>
              <a:rPr sz="2000" spc="2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2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die)</a:t>
            </a:r>
            <a:r>
              <a:rPr sz="2000" spc="2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will</a:t>
            </a:r>
            <a:r>
              <a:rPr sz="2000" spc="2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be </a:t>
            </a:r>
            <a:r>
              <a:rPr sz="2000" dirty="0">
                <a:latin typeface="Verdana"/>
                <a:cs typeface="Verdana"/>
              </a:rPr>
              <a:t>transmitted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vibrating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beam.</a:t>
            </a:r>
            <a:endParaRPr sz="2000">
              <a:latin typeface="Verdana"/>
              <a:cs typeface="Verdana"/>
            </a:endParaRPr>
          </a:p>
          <a:p>
            <a:pPr marL="355600" marR="5080" indent="-342900" algn="just">
              <a:lnSpc>
                <a:spcPts val="36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3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induced</a:t>
            </a:r>
            <a:r>
              <a:rPr sz="2000" spc="3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stress</a:t>
            </a:r>
            <a:r>
              <a:rPr sz="2000" spc="3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along</a:t>
            </a:r>
            <a:r>
              <a:rPr sz="2000" spc="3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3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beam</a:t>
            </a:r>
            <a:r>
              <a:rPr sz="2000" spc="3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causes</a:t>
            </a:r>
            <a:r>
              <a:rPr sz="2000" spc="3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3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shift</a:t>
            </a:r>
            <a:r>
              <a:rPr sz="2000" spc="3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36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resonant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beam.</a:t>
            </a:r>
            <a:endParaRPr sz="2000">
              <a:latin typeface="Verdana"/>
              <a:cs typeface="Verdana"/>
            </a:endParaRPr>
          </a:p>
          <a:p>
            <a:pPr marL="355600" marR="5080" indent="-342900" algn="just">
              <a:lnSpc>
                <a:spcPts val="36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This</a:t>
            </a:r>
            <a:r>
              <a:rPr sz="2000" spc="3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shift</a:t>
            </a:r>
            <a:r>
              <a:rPr sz="2000" spc="4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3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3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resonant</a:t>
            </a:r>
            <a:r>
              <a:rPr sz="2000" spc="4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4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3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3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beam</a:t>
            </a:r>
            <a:r>
              <a:rPr sz="2000" spc="3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38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be </a:t>
            </a:r>
            <a:r>
              <a:rPr sz="2000" dirty="0">
                <a:latin typeface="Verdana"/>
                <a:cs typeface="Verdana"/>
              </a:rPr>
              <a:t>correlated</a:t>
            </a:r>
            <a:r>
              <a:rPr sz="2000" spc="2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2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2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induced</a:t>
            </a:r>
            <a:r>
              <a:rPr sz="2000" spc="2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stress</a:t>
            </a:r>
            <a:r>
              <a:rPr sz="2000" spc="2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2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thus</a:t>
            </a:r>
            <a:r>
              <a:rPr sz="2000" spc="2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25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2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pressure </a:t>
            </a:r>
            <a:r>
              <a:rPr sz="2000" dirty="0">
                <a:latin typeface="Verdana"/>
                <a:cs typeface="Verdana"/>
              </a:rPr>
              <a:t>applied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-10" dirty="0">
                <a:latin typeface="Verdana"/>
                <a:cs typeface="Verdana"/>
              </a:rPr>
              <a:t> diaphragm.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20745" y="281685"/>
            <a:ext cx="33007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Construction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354965" algn="l"/>
                <a:tab pos="1187450" algn="l"/>
                <a:tab pos="2058035" algn="l"/>
                <a:tab pos="2613025" algn="l"/>
                <a:tab pos="3665854" algn="l"/>
                <a:tab pos="5562600" algn="l"/>
                <a:tab pos="6076315" algn="l"/>
                <a:tab pos="7731125" algn="l"/>
              </a:tabLst>
            </a:pPr>
            <a:r>
              <a:rPr spc="-20" dirty="0"/>
              <a:t>This</a:t>
            </a:r>
            <a:r>
              <a:rPr dirty="0"/>
              <a:t>	</a:t>
            </a:r>
            <a:r>
              <a:rPr spc="-20" dirty="0"/>
              <a:t>type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signal</a:t>
            </a:r>
            <a:r>
              <a:rPr dirty="0"/>
              <a:t>	</a:t>
            </a:r>
            <a:r>
              <a:rPr spc="-10" dirty="0"/>
              <a:t>transduction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10" dirty="0"/>
              <a:t>insensitive</a:t>
            </a:r>
            <a:r>
              <a:rPr dirty="0"/>
              <a:t>	</a:t>
            </a:r>
            <a:r>
              <a:rPr spc="-25" dirty="0"/>
              <a:t>to</a:t>
            </a: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/>
              <a:t>temperature</a:t>
            </a:r>
            <a:r>
              <a:rPr spc="-9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provides</a:t>
            </a:r>
            <a:r>
              <a:rPr spc="-55" dirty="0"/>
              <a:t> </a:t>
            </a:r>
            <a:r>
              <a:rPr dirty="0"/>
              <a:t>excellent</a:t>
            </a:r>
            <a:r>
              <a:rPr spc="-40" dirty="0"/>
              <a:t> </a:t>
            </a:r>
            <a:r>
              <a:rPr dirty="0"/>
              <a:t>linear</a:t>
            </a:r>
            <a:r>
              <a:rPr spc="-40" dirty="0"/>
              <a:t> </a:t>
            </a:r>
            <a:r>
              <a:rPr dirty="0"/>
              <a:t>output</a:t>
            </a:r>
            <a:r>
              <a:rPr spc="-65" dirty="0"/>
              <a:t> </a:t>
            </a:r>
            <a:r>
              <a:rPr spc="-10" dirty="0"/>
              <a:t>signals.</a:t>
            </a:r>
          </a:p>
          <a:p>
            <a:pPr marL="355600" marR="6350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dirty="0"/>
              <a:t>The</a:t>
            </a:r>
            <a:r>
              <a:rPr spc="295" dirty="0"/>
              <a:t> </a:t>
            </a:r>
            <a:r>
              <a:rPr dirty="0"/>
              <a:t>disadvantage</a:t>
            </a:r>
            <a:r>
              <a:rPr spc="290" dirty="0"/>
              <a:t> </a:t>
            </a:r>
            <a:r>
              <a:rPr dirty="0"/>
              <a:t>of</a:t>
            </a:r>
            <a:r>
              <a:rPr spc="295" dirty="0"/>
              <a:t> </a:t>
            </a:r>
            <a:r>
              <a:rPr dirty="0"/>
              <a:t>such</a:t>
            </a:r>
            <a:r>
              <a:rPr spc="295" dirty="0"/>
              <a:t> </a:t>
            </a:r>
            <a:r>
              <a:rPr dirty="0"/>
              <a:t>sensors</a:t>
            </a:r>
            <a:r>
              <a:rPr spc="290" dirty="0"/>
              <a:t> </a:t>
            </a:r>
            <a:r>
              <a:rPr dirty="0"/>
              <a:t>is</a:t>
            </a:r>
            <a:r>
              <a:rPr spc="300" dirty="0"/>
              <a:t> </a:t>
            </a:r>
            <a:r>
              <a:rPr dirty="0"/>
              <a:t>the</a:t>
            </a:r>
            <a:r>
              <a:rPr spc="285" dirty="0"/>
              <a:t> </a:t>
            </a:r>
            <a:r>
              <a:rPr dirty="0"/>
              <a:t>cost</a:t>
            </a:r>
            <a:r>
              <a:rPr spc="295" dirty="0"/>
              <a:t> </a:t>
            </a:r>
            <a:r>
              <a:rPr dirty="0"/>
              <a:t>to</a:t>
            </a:r>
            <a:r>
              <a:rPr spc="290" dirty="0"/>
              <a:t> </a:t>
            </a:r>
            <a:r>
              <a:rPr spc="-10" dirty="0"/>
              <a:t>fabricate them.</a:t>
            </a: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Material</a:t>
            </a:r>
            <a:r>
              <a:rPr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Selection:</a:t>
            </a:r>
          </a:p>
          <a:p>
            <a:pPr marL="927100" lvl="1" indent="-4572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927100" algn="l"/>
              </a:tabLst>
            </a:pPr>
            <a:r>
              <a:rPr sz="2000" dirty="0">
                <a:latin typeface="Verdana"/>
                <a:cs typeface="Verdana"/>
              </a:rPr>
              <a:t>Substrate: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Single-</a:t>
            </a:r>
            <a:r>
              <a:rPr sz="2000" dirty="0">
                <a:latin typeface="Verdana"/>
                <a:cs typeface="Verdana"/>
              </a:rPr>
              <a:t>crystal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Silicon.</a:t>
            </a:r>
            <a:endParaRPr sz="2000">
              <a:latin typeface="Verdana"/>
              <a:cs typeface="Verdana"/>
            </a:endParaRPr>
          </a:p>
          <a:p>
            <a:pPr marL="927100" lvl="1" indent="-4572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927100" algn="l"/>
              </a:tabLst>
            </a:pPr>
            <a:r>
              <a:rPr sz="2000" dirty="0">
                <a:latin typeface="Verdana"/>
                <a:cs typeface="Verdana"/>
              </a:rPr>
              <a:t>Piezoresistors: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P-</a:t>
            </a:r>
            <a:r>
              <a:rPr sz="2000" dirty="0">
                <a:latin typeface="Verdana"/>
                <a:cs typeface="Verdana"/>
              </a:rPr>
              <a:t>type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N-</a:t>
            </a:r>
            <a:r>
              <a:rPr sz="2000" dirty="0">
                <a:latin typeface="Verdana"/>
                <a:cs typeface="Verdana"/>
              </a:rPr>
              <a:t>type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doped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silicon.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20745" y="281685"/>
            <a:ext cx="33007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Construction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7593" y="3202279"/>
            <a:ext cx="1888489" cy="1397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50100"/>
              </a:lnSpc>
              <a:spcBef>
                <a:spcPts val="95"/>
              </a:spcBef>
              <a:buFont typeface="Wingdings"/>
              <a:buChar char=""/>
              <a:tabLst>
                <a:tab pos="355600" algn="l"/>
                <a:tab pos="1156970" algn="l"/>
              </a:tabLst>
            </a:pPr>
            <a:r>
              <a:rPr sz="2000" spc="-20" dirty="0">
                <a:latin typeface="Verdana"/>
                <a:cs typeface="Verdana"/>
              </a:rPr>
              <a:t>This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strain </a:t>
            </a:r>
            <a:r>
              <a:rPr sz="2000" spc="-10" dirty="0">
                <a:latin typeface="Verdana"/>
                <a:cs typeface="Verdana"/>
              </a:rPr>
              <a:t>resistance, detected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2522" y="3202279"/>
            <a:ext cx="176657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" marR="5080" indent="-193675">
              <a:lnSpc>
                <a:spcPct val="150000"/>
              </a:lnSpc>
              <a:spcBef>
                <a:spcPts val="100"/>
              </a:spcBef>
              <a:tabLst>
                <a:tab pos="1341120" algn="l"/>
                <a:tab pos="1550035" algn="l"/>
              </a:tabLst>
            </a:pPr>
            <a:r>
              <a:rPr sz="2000" spc="-10" dirty="0">
                <a:latin typeface="Verdana"/>
                <a:cs typeface="Verdana"/>
              </a:rPr>
              <a:t>changes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spc="-10" dirty="0">
                <a:latin typeface="Verdana"/>
                <a:cs typeface="Verdana"/>
              </a:rPr>
              <a:t>which</a:t>
            </a:r>
            <a:r>
              <a:rPr sz="2000" dirty="0">
                <a:latin typeface="Verdana"/>
                <a:cs typeface="Verdana"/>
              </a:rPr>
              <a:t>		</a:t>
            </a:r>
            <a:r>
              <a:rPr sz="2000" spc="-25" dirty="0">
                <a:latin typeface="Verdana"/>
                <a:cs typeface="Verdana"/>
              </a:rPr>
              <a:t>is</a:t>
            </a:r>
            <a:endParaRPr sz="2000">
              <a:latin typeface="Verdana"/>
              <a:cs typeface="Verdana"/>
            </a:endParaRPr>
          </a:p>
          <a:p>
            <a:pPr marL="116205">
              <a:lnSpc>
                <a:spcPct val="100000"/>
              </a:lnSpc>
              <a:spcBef>
                <a:spcPts val="1200"/>
              </a:spcBef>
              <a:tabLst>
                <a:tab pos="1598930" algn="l"/>
              </a:tabLst>
            </a:pPr>
            <a:r>
              <a:rPr sz="2000" spc="-10" dirty="0">
                <a:latin typeface="Verdana"/>
                <a:cs typeface="Verdana"/>
              </a:rPr>
              <a:t>using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5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0493" y="4726051"/>
            <a:ext cx="3385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Wheatstone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bridge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circuit.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8" name="object 8" descr="Diagram of a diagram of a pressure gauge  Description automatically generated with medium confidenc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7133" y="3048000"/>
            <a:ext cx="4214737" cy="310614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07593" y="1240383"/>
            <a:ext cx="313245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1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160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diaphragm </a:t>
            </a:r>
            <a:r>
              <a:rPr sz="2000" dirty="0">
                <a:latin typeface="Verdana"/>
                <a:cs typeface="Verdana"/>
              </a:rPr>
              <a:t>strain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gauge.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  <a:tab pos="1332230" algn="l"/>
                <a:tab pos="2687320" algn="l"/>
              </a:tabLst>
            </a:pPr>
            <a:r>
              <a:rPr sz="2000" spc="-20" dirty="0">
                <a:latin typeface="Verdana"/>
                <a:cs typeface="Verdana"/>
              </a:rPr>
              <a:t>When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pressure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is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3621" y="1392174"/>
            <a:ext cx="45085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has</a:t>
            </a:r>
            <a:r>
              <a:rPr sz="2000" spc="14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14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embedded</a:t>
            </a:r>
            <a:r>
              <a:rPr sz="2000" spc="14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piezoresistive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37026" y="2306269"/>
            <a:ext cx="47034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75715" algn="l"/>
                <a:tab pos="1941830" algn="l"/>
                <a:tab pos="3557904" algn="l"/>
              </a:tabLst>
            </a:pPr>
            <a:r>
              <a:rPr sz="2000" spc="-10" dirty="0">
                <a:latin typeface="Verdana"/>
                <a:cs typeface="Verdana"/>
              </a:rPr>
              <a:t>applied,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the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diaphragm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deforms,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0493" y="2764027"/>
            <a:ext cx="59670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Verdana"/>
                <a:cs typeface="Verdana"/>
              </a:rPr>
              <a:t>inducing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strain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piezoresistive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elements.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61769" y="281685"/>
            <a:ext cx="5219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Working</a:t>
            </a:r>
            <a:r>
              <a:rPr spc="-60" dirty="0"/>
              <a:t> </a:t>
            </a:r>
            <a:r>
              <a:rPr spc="-10" dirty="0"/>
              <a:t>Mechanism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9493" y="1192174"/>
            <a:ext cx="8154670" cy="523875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1240"/>
              </a:spcBef>
              <a:buFont typeface="Wingdings"/>
              <a:buChar char=""/>
              <a:tabLst>
                <a:tab pos="393065" algn="l"/>
              </a:tabLst>
            </a:pPr>
            <a:r>
              <a:rPr sz="19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19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FF0000"/>
                </a:solidFill>
                <a:latin typeface="Verdana"/>
                <a:cs typeface="Verdana"/>
              </a:rPr>
              <a:t>Sensing</a:t>
            </a:r>
            <a:r>
              <a:rPr sz="19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FF0000"/>
                </a:solidFill>
                <a:latin typeface="Verdana"/>
                <a:cs typeface="Verdana"/>
              </a:rPr>
              <a:t>Process</a:t>
            </a:r>
            <a:r>
              <a:rPr sz="19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00" b="1" spc="-25" dirty="0">
                <a:solidFill>
                  <a:srgbClr val="FF0000"/>
                </a:solidFill>
                <a:latin typeface="Verdana"/>
                <a:cs typeface="Verdana"/>
              </a:rPr>
              <a:t>(Step-</a:t>
            </a:r>
            <a:r>
              <a:rPr sz="1900" b="1" spc="-20" dirty="0">
                <a:solidFill>
                  <a:srgbClr val="FF0000"/>
                </a:solidFill>
                <a:latin typeface="Verdana"/>
                <a:cs typeface="Verdana"/>
              </a:rPr>
              <a:t>by-</a:t>
            </a:r>
            <a:r>
              <a:rPr sz="1900" b="1" spc="-10" dirty="0">
                <a:solidFill>
                  <a:srgbClr val="FF0000"/>
                </a:solidFill>
                <a:latin typeface="Verdana"/>
                <a:cs typeface="Verdana"/>
              </a:rPr>
              <a:t>Step)</a:t>
            </a:r>
            <a:endParaRPr sz="1900">
              <a:latin typeface="Verdana"/>
              <a:cs typeface="Verdana"/>
            </a:endParaRPr>
          </a:p>
          <a:p>
            <a:pPr marL="946150" lvl="1" indent="-323850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946150" algn="l"/>
              </a:tabLst>
            </a:pPr>
            <a:r>
              <a:rPr sz="1900" dirty="0">
                <a:latin typeface="Verdana"/>
                <a:cs typeface="Verdana"/>
              </a:rPr>
              <a:t>Pressure</a:t>
            </a:r>
            <a:r>
              <a:rPr sz="1900" spc="-3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difference</a:t>
            </a:r>
            <a:r>
              <a:rPr sz="1900" spc="-2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(Δ</a:t>
            </a:r>
            <a:r>
              <a:rPr sz="1900" i="1" dirty="0">
                <a:latin typeface="Verdana"/>
                <a:cs typeface="Verdana"/>
              </a:rPr>
              <a:t>P</a:t>
            </a:r>
            <a:r>
              <a:rPr sz="1900" dirty="0">
                <a:latin typeface="Verdana"/>
                <a:cs typeface="Verdana"/>
              </a:rPr>
              <a:t>)</a:t>
            </a:r>
            <a:r>
              <a:rPr sz="1900" spc="-5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acts</a:t>
            </a:r>
            <a:r>
              <a:rPr sz="1900" spc="-6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on</a:t>
            </a:r>
            <a:r>
              <a:rPr sz="1900" spc="-6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the</a:t>
            </a:r>
            <a:r>
              <a:rPr sz="1900" spc="-4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diaphragm.</a:t>
            </a:r>
            <a:endParaRPr sz="1900">
              <a:latin typeface="Verdana"/>
              <a:cs typeface="Verdana"/>
            </a:endParaRPr>
          </a:p>
          <a:p>
            <a:pPr marL="946785" lvl="1" indent="-324485">
              <a:lnSpc>
                <a:spcPct val="100000"/>
              </a:lnSpc>
              <a:spcBef>
                <a:spcPts val="1140"/>
              </a:spcBef>
              <a:buAutoNum type="arabicPeriod"/>
              <a:tabLst>
                <a:tab pos="946785" algn="l"/>
              </a:tabLst>
            </a:pPr>
            <a:r>
              <a:rPr sz="1900" dirty="0">
                <a:latin typeface="Verdana"/>
                <a:cs typeface="Verdana"/>
              </a:rPr>
              <a:t>Diaphragm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deflects.</a:t>
            </a:r>
            <a:endParaRPr sz="1900">
              <a:latin typeface="Verdana"/>
              <a:cs typeface="Verdana"/>
            </a:endParaRPr>
          </a:p>
          <a:p>
            <a:pPr marL="393065" indent="-342265">
              <a:lnSpc>
                <a:spcPct val="100000"/>
              </a:lnSpc>
              <a:spcBef>
                <a:spcPts val="1140"/>
              </a:spcBef>
              <a:buFont typeface="Wingdings"/>
              <a:buChar char=""/>
              <a:tabLst>
                <a:tab pos="393065" algn="l"/>
              </a:tabLst>
            </a:pPr>
            <a:r>
              <a:rPr sz="1900" b="1" dirty="0">
                <a:solidFill>
                  <a:srgbClr val="FF0000"/>
                </a:solidFill>
                <a:latin typeface="Verdana"/>
                <a:cs typeface="Verdana"/>
              </a:rPr>
              <a:t>Mechanical</a:t>
            </a:r>
            <a:r>
              <a:rPr sz="1900"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FF0000"/>
                </a:solidFill>
                <a:latin typeface="Verdana"/>
                <a:cs typeface="Verdana"/>
              </a:rPr>
              <a:t>Strain</a:t>
            </a:r>
            <a:r>
              <a:rPr sz="19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FF0000"/>
                </a:solidFill>
                <a:latin typeface="Verdana"/>
                <a:cs typeface="Verdana"/>
              </a:rPr>
              <a:t>to</a:t>
            </a:r>
            <a:r>
              <a:rPr sz="19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00" b="1" dirty="0">
                <a:solidFill>
                  <a:srgbClr val="FF0000"/>
                </a:solidFill>
                <a:latin typeface="Verdana"/>
                <a:cs typeface="Verdana"/>
              </a:rPr>
              <a:t>Electrical</a:t>
            </a:r>
            <a:r>
              <a:rPr sz="19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00" b="1" spc="-10" dirty="0">
                <a:solidFill>
                  <a:srgbClr val="FF0000"/>
                </a:solidFill>
                <a:latin typeface="Verdana"/>
                <a:cs typeface="Verdana"/>
              </a:rPr>
              <a:t>Signal</a:t>
            </a:r>
            <a:endParaRPr sz="1900">
              <a:latin typeface="Verdana"/>
              <a:cs typeface="Verdana"/>
            </a:endParaRPr>
          </a:p>
          <a:p>
            <a:pPr marL="946785" indent="-324485">
              <a:lnSpc>
                <a:spcPct val="100000"/>
              </a:lnSpc>
              <a:spcBef>
                <a:spcPts val="1140"/>
              </a:spcBef>
              <a:buAutoNum type="arabicPeriod" startAt="3"/>
              <a:tabLst>
                <a:tab pos="946785" algn="l"/>
              </a:tabLst>
            </a:pPr>
            <a:r>
              <a:rPr sz="1900" dirty="0">
                <a:latin typeface="Verdana"/>
                <a:cs typeface="Verdana"/>
              </a:rPr>
              <a:t>Deflection</a:t>
            </a:r>
            <a:r>
              <a:rPr sz="1900" spc="-5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creates</a:t>
            </a:r>
            <a:r>
              <a:rPr sz="1900" spc="-5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mechanical</a:t>
            </a:r>
            <a:r>
              <a:rPr sz="1900" spc="-4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stress</a:t>
            </a:r>
            <a:r>
              <a:rPr sz="1900" spc="-5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at</a:t>
            </a:r>
            <a:r>
              <a:rPr sz="1900" spc="-8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the</a:t>
            </a:r>
            <a:r>
              <a:rPr sz="1900" spc="-5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edges.</a:t>
            </a:r>
            <a:endParaRPr sz="1900">
              <a:latin typeface="Verdana"/>
              <a:cs typeface="Verdana"/>
            </a:endParaRPr>
          </a:p>
          <a:p>
            <a:pPr marL="860425" indent="-254000">
              <a:lnSpc>
                <a:spcPct val="100000"/>
              </a:lnSpc>
              <a:spcBef>
                <a:spcPts val="1140"/>
              </a:spcBef>
              <a:buAutoNum type="arabicPeriod" startAt="3"/>
              <a:tabLst>
                <a:tab pos="860425" algn="l"/>
              </a:tabLst>
            </a:pPr>
            <a:r>
              <a:rPr sz="1900" dirty="0">
                <a:latin typeface="Verdana"/>
                <a:cs typeface="Verdana"/>
              </a:rPr>
              <a:t>Piezoresistors</a:t>
            </a:r>
            <a:r>
              <a:rPr sz="1900" spc="-7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experience</a:t>
            </a:r>
            <a:r>
              <a:rPr sz="1900" spc="-7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strain,</a:t>
            </a:r>
            <a:r>
              <a:rPr sz="1900" spc="-9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changing</a:t>
            </a:r>
            <a:r>
              <a:rPr sz="1900" spc="-9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their</a:t>
            </a:r>
            <a:r>
              <a:rPr sz="1900" spc="-10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resistance.</a:t>
            </a:r>
            <a:endParaRPr sz="1900">
              <a:latin typeface="Verdana"/>
              <a:cs typeface="Verdana"/>
            </a:endParaRPr>
          </a:p>
          <a:p>
            <a:pPr marL="393065" indent="-342265">
              <a:lnSpc>
                <a:spcPct val="100000"/>
              </a:lnSpc>
              <a:spcBef>
                <a:spcPts val="1145"/>
              </a:spcBef>
              <a:buFont typeface="Wingdings"/>
              <a:buChar char=""/>
              <a:tabLst>
                <a:tab pos="393065" algn="l"/>
              </a:tabLst>
            </a:pPr>
            <a:r>
              <a:rPr sz="1900" b="1" dirty="0">
                <a:solidFill>
                  <a:srgbClr val="FF0000"/>
                </a:solidFill>
                <a:latin typeface="Verdana"/>
                <a:cs typeface="Verdana"/>
              </a:rPr>
              <a:t>Signal</a:t>
            </a:r>
            <a:r>
              <a:rPr sz="1900" b="1" spc="-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00" b="1" spc="-10" dirty="0">
                <a:solidFill>
                  <a:srgbClr val="FF0000"/>
                </a:solidFill>
                <a:latin typeface="Verdana"/>
                <a:cs typeface="Verdana"/>
              </a:rPr>
              <a:t>Output</a:t>
            </a:r>
            <a:endParaRPr sz="1900">
              <a:latin typeface="Verdana"/>
              <a:cs typeface="Verdana"/>
            </a:endParaRPr>
          </a:p>
          <a:p>
            <a:pPr marL="965200" lvl="1" indent="-457200">
              <a:lnSpc>
                <a:spcPct val="100000"/>
              </a:lnSpc>
              <a:spcBef>
                <a:spcPts val="1140"/>
              </a:spcBef>
              <a:buFont typeface="Wingdings"/>
              <a:buChar char=""/>
              <a:tabLst>
                <a:tab pos="965200" algn="l"/>
              </a:tabLst>
            </a:pPr>
            <a:r>
              <a:rPr sz="1900" dirty="0">
                <a:latin typeface="Verdana"/>
                <a:cs typeface="Verdana"/>
              </a:rPr>
              <a:t>The</a:t>
            </a:r>
            <a:r>
              <a:rPr sz="1900" spc="-9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Wheatstone</a:t>
            </a:r>
            <a:r>
              <a:rPr sz="1900" spc="-7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bridge</a:t>
            </a:r>
            <a:r>
              <a:rPr sz="1900" spc="-5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becomes</a:t>
            </a:r>
            <a:r>
              <a:rPr sz="1900" spc="-6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unbalanced.</a:t>
            </a:r>
            <a:endParaRPr sz="1900">
              <a:latin typeface="Verdana"/>
              <a:cs typeface="Verdana"/>
            </a:endParaRPr>
          </a:p>
          <a:p>
            <a:pPr marL="965200" lvl="1" indent="-457200">
              <a:lnSpc>
                <a:spcPct val="100000"/>
              </a:lnSpc>
              <a:spcBef>
                <a:spcPts val="1140"/>
              </a:spcBef>
              <a:buFont typeface="Wingdings"/>
              <a:buChar char=""/>
              <a:tabLst>
                <a:tab pos="965200" algn="l"/>
              </a:tabLst>
            </a:pPr>
            <a:r>
              <a:rPr sz="1900" dirty="0">
                <a:latin typeface="Verdana"/>
                <a:cs typeface="Verdana"/>
              </a:rPr>
              <a:t>Output</a:t>
            </a:r>
            <a:r>
              <a:rPr sz="1900" spc="-5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Voltage</a:t>
            </a:r>
            <a:r>
              <a:rPr sz="1900" spc="-3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(</a:t>
            </a:r>
            <a:r>
              <a:rPr sz="1900" i="1" dirty="0">
                <a:latin typeface="Verdana"/>
                <a:cs typeface="Verdana"/>
              </a:rPr>
              <a:t>V</a:t>
            </a:r>
            <a:r>
              <a:rPr sz="1875" baseline="-20000" dirty="0">
                <a:latin typeface="Verdana"/>
                <a:cs typeface="Verdana"/>
              </a:rPr>
              <a:t>out</a:t>
            </a:r>
            <a:r>
              <a:rPr sz="1900" dirty="0">
                <a:latin typeface="Verdana"/>
                <a:cs typeface="Verdana"/>
              </a:rPr>
              <a:t>)</a:t>
            </a:r>
            <a:r>
              <a:rPr sz="1900" spc="-8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is</a:t>
            </a:r>
            <a:r>
              <a:rPr sz="1900" spc="-7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proportional</a:t>
            </a:r>
            <a:r>
              <a:rPr sz="1900" spc="-3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to</a:t>
            </a:r>
            <a:r>
              <a:rPr sz="1900" spc="-7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the</a:t>
            </a:r>
            <a:r>
              <a:rPr sz="1900" spc="-6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input</a:t>
            </a:r>
            <a:r>
              <a:rPr sz="1900" spc="-6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pressure.</a:t>
            </a:r>
            <a:endParaRPr sz="1900">
              <a:latin typeface="Verdana"/>
              <a:cs typeface="Verdana"/>
            </a:endParaRPr>
          </a:p>
          <a:p>
            <a:pPr marL="393065" indent="-342265">
              <a:lnSpc>
                <a:spcPct val="100000"/>
              </a:lnSpc>
              <a:spcBef>
                <a:spcPts val="1140"/>
              </a:spcBef>
              <a:buFont typeface="Wingdings"/>
              <a:buChar char=""/>
              <a:tabLst>
                <a:tab pos="393065" algn="l"/>
              </a:tabLst>
            </a:pPr>
            <a:r>
              <a:rPr sz="1900" b="1" dirty="0">
                <a:solidFill>
                  <a:srgbClr val="FF0000"/>
                </a:solidFill>
                <a:latin typeface="Verdana"/>
                <a:cs typeface="Verdana"/>
              </a:rPr>
              <a:t>Sensitivity</a:t>
            </a:r>
            <a:r>
              <a:rPr sz="1900" b="1" spc="-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900" b="1" spc="-10" dirty="0">
                <a:solidFill>
                  <a:srgbClr val="FF0000"/>
                </a:solidFill>
                <a:latin typeface="Verdana"/>
                <a:cs typeface="Verdana"/>
              </a:rPr>
              <a:t>Factors</a:t>
            </a:r>
            <a:endParaRPr sz="1900">
              <a:latin typeface="Verdana"/>
              <a:cs typeface="Verdana"/>
            </a:endParaRPr>
          </a:p>
          <a:p>
            <a:pPr marL="965200" lvl="1" indent="-457200">
              <a:lnSpc>
                <a:spcPct val="100000"/>
              </a:lnSpc>
              <a:spcBef>
                <a:spcPts val="1140"/>
              </a:spcBef>
              <a:buFont typeface="Wingdings"/>
              <a:buChar char=""/>
              <a:tabLst>
                <a:tab pos="965200" algn="l"/>
              </a:tabLst>
            </a:pPr>
            <a:r>
              <a:rPr sz="1900" dirty="0">
                <a:latin typeface="Verdana"/>
                <a:cs typeface="Verdana"/>
              </a:rPr>
              <a:t>Diaphragm</a:t>
            </a:r>
            <a:r>
              <a:rPr sz="1900" spc="-7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thickness</a:t>
            </a:r>
            <a:r>
              <a:rPr sz="1900" spc="-6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(</a:t>
            </a:r>
            <a:r>
              <a:rPr sz="1900" i="1" dirty="0">
                <a:latin typeface="Verdana"/>
                <a:cs typeface="Verdana"/>
              </a:rPr>
              <a:t>h</a:t>
            </a:r>
            <a:r>
              <a:rPr sz="1900" dirty="0">
                <a:latin typeface="Verdana"/>
                <a:cs typeface="Verdana"/>
              </a:rPr>
              <a:t>)</a:t>
            </a:r>
            <a:r>
              <a:rPr sz="1900" spc="-8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and</a:t>
            </a:r>
            <a:r>
              <a:rPr sz="1900" spc="-10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radius</a:t>
            </a:r>
            <a:r>
              <a:rPr sz="1900" spc="-70" dirty="0">
                <a:latin typeface="Verdana"/>
                <a:cs typeface="Verdana"/>
              </a:rPr>
              <a:t> </a:t>
            </a:r>
            <a:r>
              <a:rPr sz="1900" spc="-20" dirty="0">
                <a:latin typeface="Verdana"/>
                <a:cs typeface="Verdana"/>
              </a:rPr>
              <a:t>(</a:t>
            </a:r>
            <a:r>
              <a:rPr sz="1900" i="1" spc="-20" dirty="0">
                <a:latin typeface="Verdana"/>
                <a:cs typeface="Verdana"/>
              </a:rPr>
              <a:t>a</a:t>
            </a:r>
            <a:r>
              <a:rPr sz="1900" spc="-20" dirty="0">
                <a:latin typeface="Verdana"/>
                <a:cs typeface="Verdana"/>
              </a:rPr>
              <a:t>).</a:t>
            </a:r>
            <a:endParaRPr sz="1900">
              <a:latin typeface="Verdana"/>
              <a:cs typeface="Verdana"/>
            </a:endParaRPr>
          </a:p>
          <a:p>
            <a:pPr marL="965200" lvl="1" indent="-457200">
              <a:lnSpc>
                <a:spcPct val="100000"/>
              </a:lnSpc>
              <a:spcBef>
                <a:spcPts val="1140"/>
              </a:spcBef>
              <a:buFont typeface="Wingdings"/>
              <a:buChar char=""/>
              <a:tabLst>
                <a:tab pos="965200" algn="l"/>
              </a:tabLst>
            </a:pPr>
            <a:r>
              <a:rPr sz="1900" dirty="0">
                <a:latin typeface="Verdana"/>
                <a:cs typeface="Verdana"/>
              </a:rPr>
              <a:t>Doping</a:t>
            </a:r>
            <a:r>
              <a:rPr sz="1900" spc="-5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concentration</a:t>
            </a:r>
            <a:r>
              <a:rPr sz="1900" spc="-5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of</a:t>
            </a:r>
            <a:r>
              <a:rPr sz="1900" spc="-7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the</a:t>
            </a:r>
            <a:r>
              <a:rPr sz="1900" spc="-6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resistors.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61822" y="281685"/>
            <a:ext cx="7816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Fabrication</a:t>
            </a:r>
            <a:r>
              <a:rPr spc="-75" dirty="0"/>
              <a:t> </a:t>
            </a:r>
            <a:r>
              <a:rPr dirty="0"/>
              <a:t>(The</a:t>
            </a:r>
            <a:r>
              <a:rPr spc="-55" dirty="0"/>
              <a:t> </a:t>
            </a:r>
            <a:r>
              <a:rPr dirty="0"/>
              <a:t>"Micro"</a:t>
            </a:r>
            <a:r>
              <a:rPr spc="-45" dirty="0"/>
              <a:t> </a:t>
            </a:r>
            <a:r>
              <a:rPr spc="-10" dirty="0"/>
              <a:t>Part)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306423"/>
            <a:ext cx="8150859" cy="36836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MEMS</a:t>
            </a:r>
            <a:r>
              <a:rPr sz="20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Fabrication</a:t>
            </a:r>
            <a:r>
              <a:rPr sz="20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Overview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Photolithography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Etching.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Bulk</a:t>
            </a:r>
            <a:r>
              <a:rPr sz="20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Micromachining</a:t>
            </a:r>
            <a:endParaRPr sz="2000">
              <a:latin typeface="Verdana"/>
              <a:cs typeface="Verdana"/>
            </a:endParaRPr>
          </a:p>
          <a:p>
            <a:pPr marL="715010" marR="5080" lvl="1" indent="-343535">
              <a:lnSpc>
                <a:spcPct val="150000"/>
              </a:lnSpc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Anisotropic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etching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(using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KOH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TMAH)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create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diaphragm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backside.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Resistor</a:t>
            </a:r>
            <a:r>
              <a:rPr sz="2000" b="1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Integration</a:t>
            </a:r>
            <a:endParaRPr sz="2000">
              <a:latin typeface="Verdana"/>
              <a:cs typeface="Verdana"/>
            </a:endParaRPr>
          </a:p>
          <a:p>
            <a:pPr marL="715010" marR="6985" lvl="1" indent="-343535">
              <a:lnSpc>
                <a:spcPct val="150000"/>
              </a:lnSpc>
              <a:spcBef>
                <a:spcPts val="5"/>
              </a:spcBef>
              <a:buFont typeface="Wingdings"/>
              <a:buChar char=""/>
              <a:tabLst>
                <a:tab pos="715010" algn="l"/>
                <a:tab pos="1519555" algn="l"/>
                <a:tab pos="3498215" algn="l"/>
                <a:tab pos="4141470" algn="l"/>
                <a:tab pos="5606415" algn="l"/>
                <a:tab pos="6242050" algn="l"/>
                <a:tab pos="7723505" algn="l"/>
              </a:tabLst>
            </a:pPr>
            <a:r>
              <a:rPr sz="2000" spc="-25" dirty="0">
                <a:latin typeface="Verdana"/>
                <a:cs typeface="Verdana"/>
              </a:rPr>
              <a:t>Ion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implantation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or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diffusion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to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"embed"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piezoresistors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silicon.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80182" y="281685"/>
            <a:ext cx="3183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286103"/>
            <a:ext cx="6746875" cy="18548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Automotive</a:t>
            </a:r>
            <a:r>
              <a:rPr sz="20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Applications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TPMS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(Tire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Pressure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Monitoring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Systems).</a:t>
            </a:r>
            <a:endParaRPr sz="2000">
              <a:latin typeface="Verdana"/>
              <a:cs typeface="Verdana"/>
            </a:endParaRPr>
          </a:p>
          <a:p>
            <a:pPr marL="715010" marR="5080" lvl="1" indent="-343535">
              <a:lnSpc>
                <a:spcPct val="150000"/>
              </a:lnSpc>
              <a:buFont typeface="Wingdings"/>
              <a:buChar char=""/>
              <a:tabLst>
                <a:tab pos="715010" algn="l"/>
                <a:tab pos="2037714" algn="l"/>
                <a:tab pos="3390265" algn="l"/>
                <a:tab pos="4739005" algn="l"/>
                <a:tab pos="5763895" algn="l"/>
              </a:tabLst>
            </a:pPr>
            <a:r>
              <a:rPr sz="2000" spc="-10" dirty="0">
                <a:latin typeface="Verdana"/>
                <a:cs typeface="Verdana"/>
              </a:rPr>
              <a:t>Manifold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Absolute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Pressure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(MAP)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sensors efficiency.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57109" y="2352548"/>
            <a:ext cx="1482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17855" algn="l"/>
              </a:tabLst>
            </a:pPr>
            <a:r>
              <a:rPr sz="2000" spc="-25" dirty="0">
                <a:latin typeface="Verdana"/>
                <a:cs typeface="Verdana"/>
              </a:rPr>
              <a:t>for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engine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3115643"/>
            <a:ext cx="8209280" cy="276923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Industrial</a:t>
            </a:r>
            <a:r>
              <a:rPr sz="20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&amp;</a:t>
            </a:r>
            <a:r>
              <a:rPr sz="20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Consumer</a:t>
            </a:r>
            <a:r>
              <a:rPr sz="20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Electronics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Altimeters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smartphones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drones.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Industrial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HVAC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pressure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control.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Biomedical</a:t>
            </a:r>
            <a:r>
              <a:rPr sz="20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Applications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Invasive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blood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pressure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monitoring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(catheter-</a:t>
            </a:r>
            <a:r>
              <a:rPr sz="2000" dirty="0">
                <a:latin typeface="Verdana"/>
                <a:cs typeface="Verdana"/>
              </a:rPr>
              <a:t>tip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sensors).</a:t>
            </a:r>
            <a:endParaRPr sz="20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715010" algn="l"/>
              </a:tabLst>
            </a:pPr>
            <a:r>
              <a:rPr sz="2000" dirty="0">
                <a:latin typeface="Verdana"/>
                <a:cs typeface="Verdana"/>
              </a:rPr>
              <a:t>Respiratory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monitoring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devices.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263243"/>
            <a:ext cx="81489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Summary</a:t>
            </a:r>
            <a:r>
              <a:rPr sz="2000" b="1" spc="2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of</a:t>
            </a:r>
            <a:r>
              <a:rPr sz="2000" b="1" spc="2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benefits:</a:t>
            </a:r>
            <a:r>
              <a:rPr sz="2000" b="1" spc="2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miniaturization,</a:t>
            </a:r>
            <a:r>
              <a:rPr sz="2000" spc="2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2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cost</a:t>
            </a:r>
            <a:r>
              <a:rPr sz="2000" spc="2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involved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fabrication.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Future:</a:t>
            </a:r>
            <a:r>
              <a:rPr sz="20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Integration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IoT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AI-</a:t>
            </a:r>
            <a:r>
              <a:rPr sz="2000" dirty="0">
                <a:latin typeface="Verdana"/>
                <a:cs typeface="Verdana"/>
              </a:rPr>
              <a:t>driven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calibration.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08557" y="281685"/>
            <a:ext cx="6327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Test</a:t>
            </a:r>
            <a:r>
              <a:rPr spc="-35" dirty="0"/>
              <a:t> </a:t>
            </a:r>
            <a:r>
              <a:rPr dirty="0"/>
              <a:t>your</a:t>
            </a:r>
            <a:r>
              <a:rPr spc="-3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130655"/>
            <a:ext cx="8380095" cy="546735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120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Define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Gauge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Factor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and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state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its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significance</a:t>
            </a:r>
            <a:r>
              <a:rPr sz="1700" spc="-5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microsensor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design.</a:t>
            </a:r>
            <a:endParaRPr sz="17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20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Explain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role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diaphragm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piezoresistive</a:t>
            </a:r>
            <a:r>
              <a:rPr sz="1700" spc="-7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pressure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sensor.</a:t>
            </a:r>
            <a:endParaRPr sz="1700">
              <a:latin typeface="Verdana"/>
              <a:cs typeface="Verdana"/>
            </a:endParaRPr>
          </a:p>
          <a:p>
            <a:pPr marL="469900" marR="6985" indent="-457834">
              <a:lnSpc>
                <a:spcPct val="150000"/>
              </a:lnSpc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List</a:t>
            </a:r>
            <a:r>
              <a:rPr sz="1700" spc="10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two</a:t>
            </a:r>
            <a:r>
              <a:rPr sz="1700" spc="10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advantages</a:t>
            </a:r>
            <a:r>
              <a:rPr sz="1700" spc="10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114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using</a:t>
            </a:r>
            <a:r>
              <a:rPr sz="1700" spc="105" dirty="0">
                <a:latin typeface="Verdana"/>
                <a:cs typeface="Verdana"/>
              </a:rPr>
              <a:t>  </a:t>
            </a:r>
            <a:r>
              <a:rPr sz="1700" spc="-10" dirty="0">
                <a:latin typeface="Verdana"/>
                <a:cs typeface="Verdana"/>
              </a:rPr>
              <a:t>MEMS-</a:t>
            </a:r>
            <a:r>
              <a:rPr sz="1700" dirty="0">
                <a:latin typeface="Verdana"/>
                <a:cs typeface="Verdana"/>
              </a:rPr>
              <a:t>based</a:t>
            </a:r>
            <a:r>
              <a:rPr sz="1700" spc="10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pressure</a:t>
            </a:r>
            <a:r>
              <a:rPr sz="1700" spc="10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sensors</a:t>
            </a:r>
            <a:r>
              <a:rPr sz="1700" spc="105" dirty="0">
                <a:latin typeface="Verdana"/>
                <a:cs typeface="Verdana"/>
              </a:rPr>
              <a:t>  </a:t>
            </a:r>
            <a:r>
              <a:rPr sz="1700" spc="-20" dirty="0">
                <a:latin typeface="Verdana"/>
                <a:cs typeface="Verdana"/>
              </a:rPr>
              <a:t>over </a:t>
            </a:r>
            <a:r>
              <a:rPr sz="1700" dirty="0">
                <a:latin typeface="Verdana"/>
                <a:cs typeface="Verdana"/>
              </a:rPr>
              <a:t>traditional</a:t>
            </a:r>
            <a:r>
              <a:rPr sz="1700" spc="-7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mechanical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gauges.</a:t>
            </a:r>
            <a:endParaRPr sz="17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19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Draw</a:t>
            </a:r>
            <a:r>
              <a:rPr sz="1700" spc="2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25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circuit</a:t>
            </a:r>
            <a:r>
              <a:rPr sz="1700" spc="25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diagram</a:t>
            </a:r>
            <a:r>
              <a:rPr sz="1700" spc="2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2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2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Wheatstone</a:t>
            </a:r>
            <a:r>
              <a:rPr sz="1700" spc="2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bridge</a:t>
            </a:r>
            <a:r>
              <a:rPr sz="1700" spc="2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integrated</a:t>
            </a:r>
            <a:r>
              <a:rPr sz="1700" spc="2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with</a:t>
            </a:r>
            <a:r>
              <a:rPr sz="1700" spc="220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four</a:t>
            </a:r>
            <a:endParaRPr sz="17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019"/>
              </a:spcBef>
            </a:pPr>
            <a:r>
              <a:rPr sz="1700" dirty="0">
                <a:latin typeface="Verdana"/>
                <a:cs typeface="Verdana"/>
              </a:rPr>
              <a:t>piezoresistors.</a:t>
            </a:r>
            <a:r>
              <a:rPr sz="1700" spc="-6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Explain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how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it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compensates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for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temperature</a:t>
            </a:r>
            <a:r>
              <a:rPr sz="1700" spc="-5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fluctuations.</a:t>
            </a:r>
            <a:endParaRPr sz="1700">
              <a:latin typeface="Verdana"/>
              <a:cs typeface="Verdana"/>
            </a:endParaRPr>
          </a:p>
          <a:p>
            <a:pPr marL="469900" marR="5080" indent="-457834">
              <a:lnSpc>
                <a:spcPct val="150000"/>
              </a:lnSpc>
              <a:buAutoNum type="arabicPeriod" startAt="5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Briefly</a:t>
            </a:r>
            <a:r>
              <a:rPr sz="1700" spc="-2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explain</a:t>
            </a:r>
            <a:r>
              <a:rPr sz="1700" spc="-1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why</a:t>
            </a:r>
            <a:r>
              <a:rPr sz="1700" spc="-2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2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piezoresistive</a:t>
            </a:r>
            <a:r>
              <a:rPr sz="1700" spc="-1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effect</a:t>
            </a:r>
            <a:r>
              <a:rPr sz="1700" spc="-2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is</a:t>
            </a:r>
            <a:r>
              <a:rPr sz="1700" spc="-3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more</a:t>
            </a:r>
            <a:r>
              <a:rPr sz="1700" spc="-2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pronounced</a:t>
            </a:r>
            <a:r>
              <a:rPr sz="1700" spc="-20" dirty="0">
                <a:latin typeface="Verdana"/>
                <a:cs typeface="Verdana"/>
              </a:rPr>
              <a:t>  </a:t>
            </a:r>
            <a:r>
              <a:rPr sz="1700" spc="-25" dirty="0">
                <a:latin typeface="Verdana"/>
                <a:cs typeface="Verdana"/>
              </a:rPr>
              <a:t>in </a:t>
            </a:r>
            <a:r>
              <a:rPr sz="1700" dirty="0">
                <a:latin typeface="Verdana"/>
                <a:cs typeface="Verdana"/>
              </a:rPr>
              <a:t>semiconductors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(like</a:t>
            </a:r>
            <a:r>
              <a:rPr sz="1700" spc="-6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Silicon)</a:t>
            </a:r>
            <a:r>
              <a:rPr sz="1700" spc="-5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than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metals.</a:t>
            </a:r>
            <a:endParaRPr sz="17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19"/>
              </a:spcBef>
              <a:buAutoNum type="arabicPeriod" startAt="5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Describe</a:t>
            </a:r>
            <a:r>
              <a:rPr sz="1700" spc="4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4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complete</a:t>
            </a:r>
            <a:r>
              <a:rPr sz="1700" spc="4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energy</a:t>
            </a:r>
            <a:r>
              <a:rPr sz="1700" spc="4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conversion</a:t>
            </a:r>
            <a:r>
              <a:rPr sz="1700" spc="4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process</a:t>
            </a:r>
            <a:r>
              <a:rPr sz="1700" spc="4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4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44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piezoresistive</a:t>
            </a:r>
            <a:endParaRPr sz="17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019"/>
              </a:spcBef>
            </a:pPr>
            <a:r>
              <a:rPr sz="1700" dirty="0">
                <a:latin typeface="Verdana"/>
                <a:cs typeface="Verdana"/>
              </a:rPr>
              <a:t>pressure</a:t>
            </a:r>
            <a:r>
              <a:rPr sz="1700" spc="26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sensor,</a:t>
            </a:r>
            <a:r>
              <a:rPr sz="1700" spc="26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starting</a:t>
            </a:r>
            <a:r>
              <a:rPr sz="1700" spc="2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from</a:t>
            </a:r>
            <a:r>
              <a:rPr sz="1700" spc="25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26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application</a:t>
            </a:r>
            <a:r>
              <a:rPr sz="1700" spc="25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254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fluid</a:t>
            </a:r>
            <a:r>
              <a:rPr sz="1700" spc="254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pressure</a:t>
            </a:r>
            <a:r>
              <a:rPr sz="1700" spc="26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to</a:t>
            </a:r>
            <a:r>
              <a:rPr sz="1700" spc="250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the</a:t>
            </a:r>
            <a:endParaRPr sz="1700">
              <a:latin typeface="Verdana"/>
              <a:cs typeface="Verdana"/>
            </a:endParaRPr>
          </a:p>
          <a:p>
            <a:pPr marL="469900" marR="5715">
              <a:lnSpc>
                <a:spcPct val="150000"/>
              </a:lnSpc>
              <a:spcBef>
                <a:spcPts val="5"/>
              </a:spcBef>
              <a:tabLst>
                <a:tab pos="1839595" algn="l"/>
                <a:tab pos="2256155" algn="l"/>
                <a:tab pos="2731770" algn="l"/>
                <a:tab pos="3908425" algn="l"/>
                <a:tab pos="4827270" algn="l"/>
                <a:tab pos="5913120" algn="l"/>
                <a:tab pos="6920230" algn="l"/>
                <a:tab pos="7481570" algn="l"/>
              </a:tabLst>
            </a:pPr>
            <a:r>
              <a:rPr sz="1700" spc="-10" dirty="0">
                <a:latin typeface="Verdana"/>
                <a:cs typeface="Verdana"/>
              </a:rPr>
              <a:t>generation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25" dirty="0">
                <a:latin typeface="Verdana"/>
                <a:cs typeface="Verdana"/>
              </a:rPr>
              <a:t>of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25" dirty="0">
                <a:latin typeface="Verdana"/>
                <a:cs typeface="Verdana"/>
              </a:rPr>
              <a:t>an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10" dirty="0">
                <a:latin typeface="Verdana"/>
                <a:cs typeface="Verdana"/>
              </a:rPr>
              <a:t>electrical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10" dirty="0">
                <a:latin typeface="Verdana"/>
                <a:cs typeface="Verdana"/>
              </a:rPr>
              <a:t>output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10" dirty="0">
                <a:latin typeface="Verdana"/>
                <a:cs typeface="Verdana"/>
              </a:rPr>
              <a:t>voltage.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10" dirty="0">
                <a:latin typeface="Verdana"/>
                <a:cs typeface="Verdana"/>
              </a:rPr>
              <a:t>Include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25" dirty="0">
                <a:latin typeface="Verdana"/>
                <a:cs typeface="Verdana"/>
              </a:rPr>
              <a:t>the</a:t>
            </a:r>
            <a:r>
              <a:rPr sz="1700" dirty="0">
                <a:latin typeface="Verdana"/>
                <a:cs typeface="Verdana"/>
              </a:rPr>
              <a:t>	</a:t>
            </a:r>
            <a:r>
              <a:rPr sz="1700" spc="-10" dirty="0">
                <a:latin typeface="Verdana"/>
                <a:cs typeface="Verdana"/>
              </a:rPr>
              <a:t>relevant </a:t>
            </a:r>
            <a:r>
              <a:rPr sz="1700" dirty="0">
                <a:latin typeface="Verdana"/>
                <a:cs typeface="Verdana"/>
              </a:rPr>
              <a:t>mathematical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equations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for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stress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and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resistance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change.</a:t>
            </a:r>
            <a:endParaRPr sz="17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19"/>
              </a:spcBef>
              <a:buAutoNum type="arabicPeriod" startAt="7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Discuss</a:t>
            </a:r>
            <a:r>
              <a:rPr sz="1700" spc="35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two</a:t>
            </a:r>
            <a:r>
              <a:rPr sz="1700" spc="3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critical</a:t>
            </a:r>
            <a:r>
              <a:rPr sz="1700" spc="36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applications</a:t>
            </a:r>
            <a:r>
              <a:rPr sz="1700" spc="36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3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these</a:t>
            </a:r>
            <a:r>
              <a:rPr sz="1700" spc="3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sensors</a:t>
            </a:r>
            <a:r>
              <a:rPr sz="1700" spc="3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3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3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medical</a:t>
            </a:r>
            <a:r>
              <a:rPr sz="1700" spc="37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field</a:t>
            </a:r>
            <a:endParaRPr sz="17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019"/>
              </a:spcBef>
            </a:pPr>
            <a:r>
              <a:rPr sz="1700" dirty="0">
                <a:latin typeface="Verdana"/>
                <a:cs typeface="Verdana"/>
              </a:rPr>
              <a:t>and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two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automotive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industry.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391364"/>
            <a:ext cx="8074025" cy="9398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Wingdings"/>
              <a:buChar char=""/>
              <a:tabLst>
                <a:tab pos="355600" algn="l"/>
                <a:tab pos="1015365" algn="l"/>
                <a:tab pos="1784985" algn="l"/>
                <a:tab pos="2641600" algn="l"/>
                <a:tab pos="3686175" algn="l"/>
                <a:tab pos="4437380" algn="l"/>
                <a:tab pos="6440170" algn="l"/>
                <a:tab pos="7588250" algn="l"/>
              </a:tabLst>
            </a:pPr>
            <a:r>
              <a:rPr sz="2000" spc="-25" dirty="0">
                <a:latin typeface="Verdana"/>
                <a:cs typeface="Verdana"/>
              </a:rPr>
              <a:t>Tai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Ran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Hsu,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MEMS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and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Microsystems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Design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and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Manufacture,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Tata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McGraw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Hill,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First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Edition,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2002.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91029" y="2704033"/>
            <a:ext cx="536384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b="0" i="1" dirty="0">
                <a:solidFill>
                  <a:srgbClr val="006FC0"/>
                </a:solidFill>
                <a:latin typeface="Verdana"/>
                <a:cs typeface="Verdana"/>
              </a:rPr>
              <a:t>Thank</a:t>
            </a:r>
            <a:r>
              <a:rPr sz="8000" b="0" i="1" spc="-2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8000" b="0" i="1" spc="-25" dirty="0">
                <a:solidFill>
                  <a:srgbClr val="006FC0"/>
                </a:solidFill>
                <a:latin typeface="Verdana"/>
                <a:cs typeface="Verdana"/>
              </a:rPr>
              <a:t>you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924</Words>
  <Application>Microsoft Office PowerPoint</Application>
  <PresentationFormat>On-screen Show (4:3)</PresentationFormat>
  <Paragraphs>148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 MT</vt:lpstr>
      <vt:lpstr>Cambria Math</vt:lpstr>
      <vt:lpstr>Times New Roman</vt:lpstr>
      <vt:lpstr>Verdana</vt:lpstr>
      <vt:lpstr>Wingdings</vt:lpstr>
      <vt:lpstr>Office Theme</vt:lpstr>
      <vt:lpstr>UEC3942: Introduction to Sensors and Actuators</vt:lpstr>
      <vt:lpstr>Learning Outcomes</vt:lpstr>
      <vt:lpstr>What is a Microsensor?</vt:lpstr>
      <vt:lpstr>What is the Piezoresistive Effect?</vt:lpstr>
      <vt:lpstr>Expanded: The Mathematics of Piezoresistivity</vt:lpstr>
      <vt:lpstr>Expanded: The Mathematics of Piezoresistivity</vt:lpstr>
      <vt:lpstr>Why Silicon Wins?</vt:lpstr>
      <vt:lpstr>Piezoresistivity in Silicon</vt:lpstr>
      <vt:lpstr>Construction</vt:lpstr>
      <vt:lpstr>Construction</vt:lpstr>
      <vt:lpstr>Construction</vt:lpstr>
      <vt:lpstr>Construction</vt:lpstr>
      <vt:lpstr>Working Mechanism</vt:lpstr>
      <vt:lpstr>Fabrication (The "Micro" Part)</vt:lpstr>
      <vt:lpstr>Applications</vt:lpstr>
      <vt:lpstr>Conclusion</vt:lpstr>
      <vt:lpstr>Test your understanding</vt:lpstr>
      <vt:lpstr>References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</dc:creator>
  <cp:lastModifiedBy>Microsoft account</cp:lastModifiedBy>
  <cp:revision>1</cp:revision>
  <dcterms:created xsi:type="dcterms:W3CDTF">2026-07-01T10:32:03Z</dcterms:created>
  <dcterms:modified xsi:type="dcterms:W3CDTF">2026-07-01T10:32:41Z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2026-03-19T00:00:00Z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2026-07-01T00:00:00Z</vt:filetime>
  </property>
  <property fmtid="{D5CDD505-2E9C-101B-9397-08002B2CF9AE}" pid="6" name="Producer">
    <vt:lpwstr>Microsoft® PowerPoint® for Microsoft 365</vt:lpwstr>
  </property>
</Properties>
</file>