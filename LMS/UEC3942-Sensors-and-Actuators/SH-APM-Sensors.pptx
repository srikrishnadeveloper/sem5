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7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3202" y="1533535"/>
            <a:ext cx="9296400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y.plantautomation-technology.com/whitepapers/1485944904-acoustic-wave-technology-" TargetMode="External"/><Relationship Id="rId2" Type="http://schemas.openxmlformats.org/officeDocument/2006/relationships/hyperlink" Target="https://pmc.ncbi.nlm.nih.gov/articles/PMC6833005/pdf/se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758" y="2875359"/>
            <a:ext cx="876808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Shear Horizontal</a:t>
            </a:r>
            <a:r>
              <a:rPr sz="3500"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Acoustic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Plate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Mode</a:t>
            </a:r>
            <a:r>
              <a:rPr sz="35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(SH-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APM)</a:t>
            </a:r>
            <a:r>
              <a:rPr sz="3500" b="1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500" dirty="0">
              <a:latin typeface="Verdana"/>
              <a:cs typeface="Verdana"/>
            </a:endParaRPr>
          </a:p>
          <a:p>
            <a:pPr marL="3049270" marR="3042920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717675" marR="1709420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41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To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principle,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surface 	</a:t>
            </a:r>
            <a:r>
              <a:rPr sz="2200" dirty="0">
                <a:latin typeface="Verdana"/>
                <a:cs typeface="Verdana"/>
              </a:rPr>
              <a:t>waves,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advantages,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Shear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Horizontal 	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(SH-</a:t>
            </a:r>
            <a:r>
              <a:rPr sz="2200" dirty="0">
                <a:latin typeface="Verdana"/>
                <a:cs typeface="Verdana"/>
              </a:rPr>
              <a:t>APM)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951" y="1425410"/>
            <a:ext cx="8877935" cy="555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utilizes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shear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horizontal 	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propagating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bulk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piezoelectric 	plate.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Feature:</a:t>
            </a:r>
            <a:r>
              <a:rPr sz="2200" b="1" spc="3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particle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parallel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perpendicular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direction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wave 	</a:t>
            </a:r>
            <a:r>
              <a:rPr sz="2200" spc="-10" dirty="0">
                <a:latin typeface="Verdana"/>
                <a:cs typeface="Verdana"/>
              </a:rPr>
              <a:t>propagation.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Evolution: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Developed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SAW 	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maintaining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liquid-</a:t>
            </a:r>
            <a:r>
              <a:rPr sz="2200" dirty="0">
                <a:latin typeface="Verdana"/>
                <a:cs typeface="Verdana"/>
              </a:rPr>
              <a:t>phase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stability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QCM.</a:t>
            </a:r>
            <a:endParaRPr sz="2200">
              <a:latin typeface="Verdana"/>
              <a:cs typeface="Verdana"/>
            </a:endParaRPr>
          </a:p>
          <a:p>
            <a:pPr marL="389255" marR="8255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considered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"cousin"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FPW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sensors,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specifically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engineered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solve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problem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loss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48558" y="426127"/>
            <a:ext cx="67589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20" dirty="0"/>
              <a:t>SH-</a:t>
            </a:r>
            <a:r>
              <a:rPr spc="-25" dirty="0"/>
              <a:t>APM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86975" y="426127"/>
            <a:ext cx="70853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dirty="0"/>
              <a:t>"Shear</a:t>
            </a:r>
            <a:r>
              <a:rPr spc="-5" dirty="0"/>
              <a:t> </a:t>
            </a:r>
            <a:r>
              <a:rPr spc="-10" dirty="0"/>
              <a:t>Horizontal"?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338" y="1726907"/>
            <a:ext cx="871029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Physics:</a:t>
            </a:r>
            <a:r>
              <a:rPr sz="2200" b="1" spc="3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many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Rayleigh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SAW),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vertical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component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"pushes"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liquid,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causing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massive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leakage.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SH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Advantage: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purely 	</a:t>
            </a:r>
            <a:r>
              <a:rPr sz="2200" spc="-20" dirty="0">
                <a:latin typeface="Verdana"/>
                <a:cs typeface="Verdana"/>
              </a:rPr>
              <a:t>side-</a:t>
            </a:r>
            <a:r>
              <a:rPr sz="2200" spc="-10" dirty="0">
                <a:latin typeface="Verdana"/>
                <a:cs typeface="Verdana"/>
              </a:rPr>
              <a:t>to-</a:t>
            </a:r>
            <a:r>
              <a:rPr sz="2200" dirty="0">
                <a:latin typeface="Verdana"/>
                <a:cs typeface="Verdana"/>
              </a:rPr>
              <a:t>side</a:t>
            </a:r>
            <a:r>
              <a:rPr sz="2200" spc="3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(shear</a:t>
            </a:r>
            <a:r>
              <a:rPr sz="2200" spc="3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horizontal),</a:t>
            </a:r>
            <a:r>
              <a:rPr sz="2200" spc="3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there</a:t>
            </a:r>
            <a:r>
              <a:rPr sz="2200" spc="3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3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vertical 	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compress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surrounding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liquid.</a:t>
            </a:r>
            <a:endParaRPr sz="2200">
              <a:latin typeface="Verdana"/>
              <a:cs typeface="Verdana"/>
            </a:endParaRPr>
          </a:p>
          <a:p>
            <a:pPr marL="389255" marR="889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Result:</a:t>
            </a:r>
            <a:r>
              <a:rPr sz="2200" b="1" spc="4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Minimal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radiation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fluid,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allowing 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Quality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(Q-</a:t>
            </a:r>
            <a:r>
              <a:rPr sz="2200" dirty="0">
                <a:latin typeface="Verdana"/>
                <a:cs typeface="Verdana"/>
              </a:rPr>
              <a:t>factor)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62012" y="426127"/>
            <a:ext cx="47351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Device</a:t>
            </a:r>
            <a:r>
              <a:rPr spc="-6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5102" y="1553417"/>
            <a:ext cx="928751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marR="444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Substrate:</a:t>
            </a:r>
            <a:r>
              <a:rPr sz="22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Typically,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quartz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(Z-</a:t>
            </a:r>
            <a:r>
              <a:rPr sz="2200" dirty="0">
                <a:latin typeface="Verdana"/>
                <a:cs typeface="Verdana"/>
              </a:rPr>
              <a:t>prop,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ST-</a:t>
            </a:r>
            <a:r>
              <a:rPr sz="2200" spc="-20" dirty="0">
                <a:latin typeface="Verdana"/>
                <a:cs typeface="Verdana"/>
              </a:rPr>
              <a:t>cut)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Lithium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Niobate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(LiNbO</a:t>
            </a:r>
            <a:r>
              <a:rPr sz="2175" spc="-15" baseline="-21072" dirty="0">
                <a:latin typeface="Verdana"/>
                <a:cs typeface="Verdana"/>
              </a:rPr>
              <a:t>3</a:t>
            </a:r>
            <a:r>
              <a:rPr sz="2200" spc="-1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427355" marR="43180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Thickness:</a:t>
            </a:r>
            <a:r>
              <a:rPr sz="2200" b="1" spc="3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thin,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generally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thicker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membranes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FPW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  <a:p>
            <a:pPr marL="427355" marR="45085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Transducers: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Interdigital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Transducers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(IDTs)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placed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on 	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side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plate.</a:t>
            </a:r>
            <a:endParaRPr sz="2200">
              <a:latin typeface="Verdana"/>
              <a:cs typeface="Verdana"/>
            </a:endParaRPr>
          </a:p>
          <a:p>
            <a:pPr marL="427355" marR="42545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Dual-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Sided</a:t>
            </a:r>
            <a:r>
              <a:rPr sz="2200" b="1" spc="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Potential: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-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side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hold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electronics 	(IDTs)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other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side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exposed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liquid,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protecting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circuitry.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921385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510155" algn="l"/>
                <a:tab pos="3402329" algn="l"/>
                <a:tab pos="4498340" algn="l"/>
                <a:tab pos="5223510" algn="l"/>
                <a:tab pos="6291580" algn="l"/>
                <a:tab pos="806577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Generation: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IDTs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excite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plate,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generating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multiple 	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modes.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Propagation:</a:t>
            </a:r>
            <a:r>
              <a:rPr sz="2200" b="1" spc="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travels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reflecting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between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top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bottom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plate.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Since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"fills"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are 	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20074" y="426127"/>
            <a:ext cx="50222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Schematic</a:t>
            </a:r>
            <a:r>
              <a:rPr spc="-65" dirty="0"/>
              <a:t> </a:t>
            </a:r>
            <a:r>
              <a:rPr spc="-10" dirty="0"/>
              <a:t>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52548" y="6688328"/>
            <a:ext cx="61169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Shear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Horizontal</a:t>
            </a:r>
            <a:r>
              <a:rPr sz="1500" b="1" spc="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15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Plate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Mode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(SH-APM)</a:t>
            </a:r>
            <a:r>
              <a:rPr sz="15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5527" y="2293620"/>
            <a:ext cx="5096255" cy="3988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" y="3277561"/>
            <a:ext cx="4418075" cy="2061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85912" y="426127"/>
            <a:ext cx="58813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Sensing</a:t>
            </a:r>
            <a:r>
              <a:rPr spc="-45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3"/>
            <a:ext cx="887793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Mass</a:t>
            </a:r>
            <a:r>
              <a:rPr sz="2200" b="1" spc="3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Loading:</a:t>
            </a:r>
            <a:r>
              <a:rPr sz="2200" b="1" spc="2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Accumulation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molecules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 	</a:t>
            </a:r>
            <a:r>
              <a:rPr sz="2200" dirty="0">
                <a:latin typeface="Verdana"/>
                <a:cs typeface="Verdana"/>
              </a:rPr>
              <a:t>slows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</a:t>
            </a:r>
            <a:r>
              <a:rPr sz="2200" spc="-20" dirty="0">
                <a:latin typeface="Times New Roman"/>
                <a:cs typeface="Times New Roman"/>
              </a:rPr>
              <a:t>𝜈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Viscous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Coupling:</a:t>
            </a:r>
            <a:r>
              <a:rPr sz="2200" b="1" spc="22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"drag"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viscous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liquid 	</a:t>
            </a:r>
            <a:r>
              <a:rPr sz="2200" dirty="0">
                <a:latin typeface="Verdana"/>
                <a:cs typeface="Verdana"/>
              </a:rPr>
              <a:t>penetrates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distance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fluid,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affecting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amplitude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phase.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Electrical</a:t>
            </a:r>
            <a:r>
              <a:rPr sz="2200" b="1" spc="3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Loading:</a:t>
            </a:r>
            <a:r>
              <a:rPr sz="2200" b="1" spc="3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conductivity,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it 	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interact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evanescent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plate.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5856" y="156553"/>
            <a:ext cx="8626475" cy="11664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3740" marR="5080" indent="-3241675">
              <a:lnSpc>
                <a:spcPts val="4490"/>
              </a:lnSpc>
              <a:spcBef>
                <a:spcPts val="200"/>
              </a:spcBef>
            </a:pPr>
            <a:r>
              <a:rPr sz="3750" dirty="0"/>
              <a:t>Comparison</a:t>
            </a:r>
            <a:r>
              <a:rPr sz="3750" spc="-185" dirty="0"/>
              <a:t> </a:t>
            </a:r>
            <a:r>
              <a:rPr sz="3750" dirty="0"/>
              <a:t>with</a:t>
            </a:r>
            <a:r>
              <a:rPr sz="3750" spc="-180" dirty="0"/>
              <a:t> </a:t>
            </a:r>
            <a:r>
              <a:rPr sz="3750" dirty="0"/>
              <a:t>Other</a:t>
            </a:r>
            <a:r>
              <a:rPr sz="3750" spc="-165" dirty="0"/>
              <a:t> </a:t>
            </a:r>
            <a:r>
              <a:rPr sz="3750" spc="-10" dirty="0"/>
              <a:t>Acoustic Sensors</a:t>
            </a:r>
            <a:endParaRPr sz="3750"/>
          </a:p>
        </p:txBody>
      </p:sp>
      <p:sp>
        <p:nvSpPr>
          <p:cNvPr id="5" name="object 5"/>
          <p:cNvSpPr txBox="1"/>
          <p:nvPr/>
        </p:nvSpPr>
        <p:spPr>
          <a:xfrm>
            <a:off x="7070819" y="2279431"/>
            <a:ext cx="12776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SH-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APM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7694" y="2279431"/>
            <a:ext cx="72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FPW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2202" y="2111797"/>
            <a:ext cx="1758314" cy="3042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SAW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(Rayleigh)</a:t>
            </a:r>
            <a:endParaRPr sz="2200">
              <a:latin typeface="Verdana"/>
              <a:cs typeface="Verdana"/>
            </a:endParaRPr>
          </a:p>
          <a:p>
            <a:pPr marL="12700" marR="445134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Elliptical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(Vertical)</a:t>
            </a:r>
            <a:endParaRPr sz="2200">
              <a:latin typeface="Verdana"/>
              <a:cs typeface="Verdana"/>
            </a:endParaRPr>
          </a:p>
          <a:p>
            <a:pPr marL="12700" marR="1097915">
              <a:lnSpc>
                <a:spcPct val="150000"/>
              </a:lnSpc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High High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Sensing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0" y="2279431"/>
            <a:ext cx="12287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Feature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0819" y="2949967"/>
            <a:ext cx="2578100" cy="220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3345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Shear Horizontal</a:t>
            </a:r>
            <a:endParaRPr sz="2200">
              <a:latin typeface="Verdana"/>
              <a:cs typeface="Verdana"/>
            </a:endParaRPr>
          </a:p>
          <a:p>
            <a:pPr marL="12700" marR="1098550">
              <a:lnSpc>
                <a:spcPct val="150000"/>
              </a:lnSpc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Very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Low 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High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Liquid/Viscosity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7694" y="2949967"/>
            <a:ext cx="1867535" cy="220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54355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Flexural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(Vertical)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Low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50000"/>
              </a:lnSpc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Low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(Fragile) Bio/Chemical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710" y="3117601"/>
            <a:ext cx="10947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Motion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710" y="3619903"/>
            <a:ext cx="183642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Liquid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Loss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Robustness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Main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Use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84111" y="426127"/>
            <a:ext cx="64922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Advantages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SH-</a:t>
            </a:r>
            <a:r>
              <a:rPr spc="-25" dirty="0"/>
              <a:t>APM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3535"/>
            <a:ext cx="929576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Mechanical</a:t>
            </a:r>
            <a:r>
              <a:rPr sz="2200"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Robustness:</a:t>
            </a:r>
            <a:r>
              <a:rPr sz="2200" b="1" spc="4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Unlike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FPW,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SH-</a:t>
            </a:r>
            <a:r>
              <a:rPr sz="2200" dirty="0">
                <a:latin typeface="Verdana"/>
                <a:cs typeface="Verdana"/>
              </a:rPr>
              <a:t>APM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solid 	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fragile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micrometer-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-10" dirty="0">
                <a:latin typeface="Verdana"/>
                <a:cs typeface="Verdana"/>
              </a:rPr>
              <a:t> membrane.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93645" algn="l"/>
                <a:tab pos="3394075" algn="l"/>
                <a:tab pos="4099560" algn="l"/>
                <a:tab pos="5123180" algn="l"/>
                <a:tab pos="5742305" algn="l"/>
                <a:tab pos="6272530" algn="l"/>
                <a:tab pos="822198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Protection: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Can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"back-</a:t>
            </a:r>
            <a:r>
              <a:rPr sz="2200" spc="-10" dirty="0">
                <a:latin typeface="Verdana"/>
                <a:cs typeface="Verdana"/>
              </a:rPr>
              <a:t>side"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sensing 	</a:t>
            </a:r>
            <a:r>
              <a:rPr sz="2200" dirty="0">
                <a:latin typeface="Verdana"/>
                <a:cs typeface="Verdana"/>
              </a:rPr>
              <a:t>configuration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IDTs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never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touch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sample.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Versatility:</a:t>
            </a:r>
            <a:r>
              <a:rPr sz="2200"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mass,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viscosity,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conductivity 	simultaneously.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69625" y="426127"/>
            <a:ext cx="4714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166620" algn="l"/>
                <a:tab pos="4373880" algn="l"/>
                <a:tab pos="6111240" algn="l"/>
                <a:tab pos="7129145" algn="l"/>
                <a:tab pos="8995410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Real-</a:t>
            </a: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time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Bio-sensing: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pc="-10" dirty="0"/>
              <a:t>Monitoring</a:t>
            </a:r>
            <a:r>
              <a:rPr dirty="0"/>
              <a:t>	</a:t>
            </a:r>
            <a:r>
              <a:rPr spc="-10" dirty="0"/>
              <a:t>blood</a:t>
            </a:r>
            <a:r>
              <a:rPr dirty="0"/>
              <a:t>	</a:t>
            </a:r>
            <a:r>
              <a:rPr spc="-10" dirty="0"/>
              <a:t>coagulation</a:t>
            </a:r>
            <a:r>
              <a:rPr dirty="0"/>
              <a:t>	</a:t>
            </a:r>
            <a:r>
              <a:rPr spc="-35" dirty="0"/>
              <a:t>or 	</a:t>
            </a:r>
            <a:r>
              <a:rPr dirty="0"/>
              <a:t>protein</a:t>
            </a:r>
            <a:r>
              <a:rPr spc="-55" dirty="0"/>
              <a:t> </a:t>
            </a:r>
            <a:r>
              <a:rPr spc="-10" dirty="0"/>
              <a:t>adsorption.</a:t>
            </a: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Chemical</a:t>
            </a:r>
            <a:r>
              <a:rPr b="1" spc="4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Process</a:t>
            </a:r>
            <a:r>
              <a:rPr b="1" spc="3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Control:</a:t>
            </a:r>
            <a:r>
              <a:rPr b="1" spc="4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Measuring</a:t>
            </a:r>
            <a:r>
              <a:rPr spc="385" dirty="0"/>
              <a:t> </a:t>
            </a:r>
            <a:r>
              <a:rPr dirty="0"/>
              <a:t>the</a:t>
            </a:r>
            <a:r>
              <a:rPr spc="380" dirty="0"/>
              <a:t> </a:t>
            </a:r>
            <a:r>
              <a:rPr dirty="0"/>
              <a:t>concentration</a:t>
            </a:r>
            <a:r>
              <a:rPr spc="360" dirty="0"/>
              <a:t> </a:t>
            </a:r>
            <a:r>
              <a:rPr spc="-25" dirty="0"/>
              <a:t>of 	</a:t>
            </a:r>
            <a:r>
              <a:rPr dirty="0"/>
              <a:t>ionic</a:t>
            </a:r>
            <a:r>
              <a:rPr spc="-65" dirty="0"/>
              <a:t> </a:t>
            </a:r>
            <a:r>
              <a:rPr dirty="0"/>
              <a:t>species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10" dirty="0"/>
              <a:t>solution.</a:t>
            </a:r>
          </a:p>
          <a:p>
            <a:pPr marL="389255" marR="825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Viscosity</a:t>
            </a:r>
            <a:r>
              <a:rPr b="1" spc="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Sensing:</a:t>
            </a:r>
            <a:r>
              <a:rPr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Monitoring</a:t>
            </a:r>
            <a:r>
              <a:rPr spc="-5" dirty="0"/>
              <a:t>  </a:t>
            </a:r>
            <a:r>
              <a:rPr dirty="0"/>
              <a:t>oil</a:t>
            </a:r>
            <a:r>
              <a:rPr spc="5" dirty="0"/>
              <a:t>  </a:t>
            </a:r>
            <a:r>
              <a:rPr dirty="0"/>
              <a:t>degradation</a:t>
            </a:r>
            <a:r>
              <a:rPr spc="5" dirty="0"/>
              <a:t>  </a:t>
            </a:r>
            <a:r>
              <a:rPr dirty="0"/>
              <a:t>or  </a:t>
            </a:r>
            <a:r>
              <a:rPr spc="-10" dirty="0"/>
              <a:t>polymer 	</a:t>
            </a:r>
            <a:r>
              <a:rPr dirty="0"/>
              <a:t>curing</a:t>
            </a:r>
            <a:r>
              <a:rPr spc="-4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industrial</a:t>
            </a:r>
            <a:r>
              <a:rPr spc="-45" dirty="0"/>
              <a:t> </a:t>
            </a:r>
            <a:r>
              <a:rPr spc="-10" dirty="0"/>
              <a:t>settings.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Food</a:t>
            </a:r>
            <a:r>
              <a:rPr b="1" spc="5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Quality:</a:t>
            </a:r>
            <a:r>
              <a:rPr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Detecting</a:t>
            </a:r>
            <a:r>
              <a:rPr spc="540" dirty="0"/>
              <a:t> </a:t>
            </a:r>
            <a:r>
              <a:rPr dirty="0"/>
              <a:t>contaminants</a:t>
            </a:r>
            <a:r>
              <a:rPr spc="545" dirty="0"/>
              <a:t> </a:t>
            </a:r>
            <a:r>
              <a:rPr dirty="0"/>
              <a:t>or</a:t>
            </a:r>
            <a:r>
              <a:rPr spc="535" dirty="0"/>
              <a:t> </a:t>
            </a:r>
            <a:r>
              <a:rPr dirty="0"/>
              <a:t>changes</a:t>
            </a:r>
            <a:r>
              <a:rPr spc="525" dirty="0"/>
              <a:t> </a:t>
            </a:r>
            <a:r>
              <a:rPr dirty="0"/>
              <a:t>in</a:t>
            </a:r>
            <a:r>
              <a:rPr spc="520" dirty="0"/>
              <a:t> </a:t>
            </a:r>
            <a:r>
              <a:rPr spc="-10" dirty="0"/>
              <a:t>liquid 	</a:t>
            </a:r>
            <a:r>
              <a:rPr dirty="0"/>
              <a:t>food</a:t>
            </a:r>
            <a:r>
              <a:rPr spc="-60" dirty="0"/>
              <a:t> </a:t>
            </a:r>
            <a:r>
              <a:rPr spc="-10" dirty="0"/>
              <a:t>consistency.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53687" y="124572"/>
            <a:ext cx="75526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0" marR="5080" indent="-1365885">
              <a:lnSpc>
                <a:spcPct val="100200"/>
              </a:lnSpc>
              <a:spcBef>
                <a:spcPts val="100"/>
              </a:spcBef>
            </a:pPr>
            <a:r>
              <a:rPr dirty="0"/>
              <a:t>Comparing</a:t>
            </a:r>
            <a:r>
              <a:rPr spc="-60" dirty="0"/>
              <a:t> </a:t>
            </a:r>
            <a:r>
              <a:rPr dirty="0"/>
              <a:t>Quartz</a:t>
            </a:r>
            <a:r>
              <a:rPr spc="-10" dirty="0"/>
              <a:t> </a:t>
            </a:r>
            <a:r>
              <a:rPr dirty="0"/>
              <a:t>Cuts</a:t>
            </a:r>
            <a:r>
              <a:rPr spc="-30" dirty="0"/>
              <a:t> </a:t>
            </a:r>
            <a:r>
              <a:rPr spc="-25" dirty="0"/>
              <a:t>for </a:t>
            </a:r>
            <a:r>
              <a:rPr dirty="0"/>
              <a:t>Acoustic</a:t>
            </a:r>
            <a:r>
              <a:rPr spc="-4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/>
          <p:nvPr/>
        </p:nvSpPr>
        <p:spPr>
          <a:xfrm>
            <a:off x="330708" y="7341107"/>
            <a:ext cx="9398635" cy="0"/>
          </a:xfrm>
          <a:custGeom>
            <a:avLst/>
            <a:gdLst/>
            <a:ahLst/>
            <a:cxnLst/>
            <a:rect l="l" t="t" r="r" b="b"/>
            <a:pathLst>
              <a:path w="9398635">
                <a:moveTo>
                  <a:pt x="0" y="0"/>
                </a:moveTo>
                <a:lnTo>
                  <a:pt x="9398508" y="0"/>
                </a:lnTo>
              </a:path>
            </a:pathLst>
          </a:custGeom>
          <a:ln w="106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1611" y="1756648"/>
            <a:ext cx="2372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Key</a:t>
            </a:r>
            <a:r>
              <a:rPr sz="2200" b="1" spc="-5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Advantage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5136" y="1589014"/>
            <a:ext cx="14014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Common Sensor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7277" y="1589014"/>
            <a:ext cx="2655570" cy="1828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7701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Type</a:t>
            </a:r>
            <a:r>
              <a:rPr sz="2200" b="1" spc="-6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of 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Wave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Thickness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1939925" algn="l"/>
              </a:tabLst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Shear</a:t>
            </a:r>
            <a:r>
              <a:rPr sz="220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Mode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QCM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(TSM)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572" y="1589014"/>
            <a:ext cx="10788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Quartz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Cut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31611" y="2386058"/>
            <a:ext cx="4029075" cy="336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Zero</a:t>
            </a:r>
            <a:r>
              <a:rPr sz="2200" spc="-1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temperature</a:t>
            </a:r>
            <a:r>
              <a:rPr sz="2200" spc="-1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coefficient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at</a:t>
            </a:r>
            <a:r>
              <a:rPr sz="2200" spc="-10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room</a:t>
            </a:r>
            <a:r>
              <a:rPr sz="2200" spc="-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temperature;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pure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shear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motion.</a:t>
            </a:r>
            <a:endParaRPr sz="2200">
              <a:latin typeface="Verdana"/>
              <a:cs typeface="Verdana"/>
            </a:endParaRPr>
          </a:p>
          <a:p>
            <a:pPr marL="12700" marR="882650" algn="just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Excellent</a:t>
            </a:r>
            <a:r>
              <a:rPr sz="2200" spc="-9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temperature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stability</a:t>
            </a:r>
            <a:r>
              <a:rPr sz="220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for</a:t>
            </a:r>
            <a:r>
              <a:rPr sz="220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gas-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phase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  <a:p>
            <a:pPr marL="12700" marR="389890">
              <a:lnSpc>
                <a:spcPct val="100000"/>
              </a:lnSpc>
              <a:spcBef>
                <a:spcPts val="155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Ideal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for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liquid-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phase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sensing;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allows</a:t>
            </a:r>
            <a:r>
              <a:rPr sz="220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SH</a:t>
            </a:r>
            <a:r>
              <a:rPr sz="220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waves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that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don't</a:t>
            </a:r>
            <a:r>
              <a:rPr sz="2200" spc="-1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leak</a:t>
            </a:r>
            <a:r>
              <a:rPr sz="220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into</a:t>
            </a:r>
            <a:r>
              <a:rPr sz="220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fluids.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572" y="2721325"/>
            <a:ext cx="1092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AT-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Cut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5136" y="3853638"/>
            <a:ext cx="755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SAW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7277" y="3686004"/>
            <a:ext cx="1214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Rayleigh Wave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572" y="3853638"/>
            <a:ext cx="1075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ST-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Cut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5136" y="4720813"/>
            <a:ext cx="127762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SH-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APM</a:t>
            </a:r>
            <a:endParaRPr sz="2200">
              <a:latin typeface="Verdana"/>
              <a:cs typeface="Verdana"/>
            </a:endParaRPr>
          </a:p>
          <a:p>
            <a:pPr marL="12700" marR="95885">
              <a:lnSpc>
                <a:spcPct val="100000"/>
              </a:lnSpc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/</a:t>
            </a:r>
            <a:r>
              <a:rPr sz="2200" b="1" spc="-11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Love-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Wave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7277" y="4720813"/>
            <a:ext cx="1446530" cy="2567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Shear Horizontal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(SH)</a:t>
            </a:r>
            <a:endParaRPr sz="2200">
              <a:latin typeface="Verdana"/>
              <a:cs typeface="Verdana"/>
            </a:endParaRPr>
          </a:p>
          <a:p>
            <a:pPr marL="12700" marR="55880">
              <a:lnSpc>
                <a:spcPct val="100000"/>
              </a:lnSpc>
              <a:spcBef>
                <a:spcPts val="153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Thickness Shear (Double Rotated)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8572" y="4888447"/>
            <a:ext cx="12553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Rotated Y-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Cut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31611" y="6089392"/>
            <a:ext cx="39001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"Stress-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Compensated";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resistant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mechanical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and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thermal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shock.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5136" y="6089392"/>
            <a:ext cx="146812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High-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Precision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QCM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8572" y="6424660"/>
            <a:ext cx="1083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SC-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Cut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79389" y="124572"/>
            <a:ext cx="8096884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7985" marR="5080" indent="-2915920">
              <a:lnSpc>
                <a:spcPct val="100200"/>
              </a:lnSpc>
              <a:spcBef>
                <a:spcPts val="100"/>
              </a:spcBef>
            </a:pPr>
            <a:r>
              <a:rPr dirty="0"/>
              <a:t>Master</a:t>
            </a:r>
            <a:r>
              <a:rPr spc="-55" dirty="0"/>
              <a:t> </a:t>
            </a:r>
            <a:r>
              <a:rPr dirty="0"/>
              <a:t>Summary</a:t>
            </a:r>
            <a:r>
              <a:rPr spc="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Acoustic 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27041" y="1770383"/>
            <a:ext cx="1092835" cy="596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SH-</a:t>
            </a:r>
            <a:r>
              <a:rPr sz="1850" b="1" spc="-25" dirty="0">
                <a:solidFill>
                  <a:srgbClr val="0070BF"/>
                </a:solidFill>
                <a:latin typeface="Verdana"/>
                <a:cs typeface="Verdana"/>
              </a:rPr>
              <a:t>APM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(Plate)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9184" y="1912123"/>
            <a:ext cx="16383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FPW</a:t>
            </a:r>
            <a:r>
              <a:rPr sz="1850" b="1" spc="1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(Plate)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1226" y="1770383"/>
            <a:ext cx="1396365" cy="1320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0070BF"/>
                </a:solidFill>
                <a:latin typeface="Verdana"/>
                <a:cs typeface="Verdana"/>
              </a:rPr>
              <a:t>SAW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(Surface)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100</a:t>
            </a:r>
            <a:r>
              <a:rPr sz="1850" spc="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sz="1850" spc="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1500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3384" y="1912123"/>
            <a:ext cx="15551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QCM</a:t>
            </a:r>
            <a:r>
              <a:rPr sz="1850" b="1" spc="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(Bulk)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541" y="1912123"/>
            <a:ext cx="1051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Feature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7041" y="2637546"/>
            <a:ext cx="16814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20</a:t>
            </a:r>
            <a:r>
              <a:rPr sz="1850" spc="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sz="1850" spc="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200</a:t>
            </a:r>
            <a:r>
              <a:rPr sz="1850" spc="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9184" y="2637546"/>
            <a:ext cx="13798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2</a:t>
            </a:r>
            <a:r>
              <a:rPr sz="1850" spc="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– 20 </a:t>
            </a: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3384" y="2637546"/>
            <a:ext cx="13798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5</a:t>
            </a:r>
            <a:r>
              <a:rPr sz="1850" spc="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– 30 </a:t>
            </a: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541" y="2494296"/>
            <a:ext cx="141414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Operating Frequency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27041" y="3494029"/>
            <a:ext cx="15748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Intermediate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9184" y="3494029"/>
            <a:ext cx="141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Ultra-</a:t>
            </a:r>
            <a:r>
              <a:rPr sz="1850" b="1" spc="-20" dirty="0">
                <a:solidFill>
                  <a:srgbClr val="0070BF"/>
                </a:solidFill>
                <a:latin typeface="Verdana"/>
                <a:cs typeface="Verdana"/>
              </a:rPr>
              <a:t>High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1226" y="3352288"/>
            <a:ext cx="136017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High </a:t>
            </a: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(10-</a:t>
            </a: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100x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QCM)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7984" y="3352288"/>
            <a:ext cx="145669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1099"/>
              </a:lnSpc>
              <a:spcBef>
                <a:spcPts val="95"/>
              </a:spcBef>
            </a:pP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Low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(18ng/cm</a:t>
            </a:r>
            <a:r>
              <a:rPr sz="1875" spc="-15" baseline="24444" dirty="0">
                <a:solidFill>
                  <a:srgbClr val="1F1F1F"/>
                </a:solidFill>
                <a:latin typeface="Verdana"/>
                <a:cs typeface="Verdana"/>
              </a:rPr>
              <a:t>2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541" y="3352288"/>
            <a:ext cx="143129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b="1" spc="-20" dirty="0">
                <a:solidFill>
                  <a:srgbClr val="0070BF"/>
                </a:solidFill>
                <a:latin typeface="Verdana"/>
                <a:cs typeface="Verdana"/>
              </a:rPr>
              <a:t>Mass </a:t>
            </a: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Sensitivity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27041" y="4208772"/>
            <a:ext cx="123444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Shear Horizontal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3784" y="4208772"/>
            <a:ext cx="146812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Flexural</a:t>
            </a:r>
            <a:r>
              <a:rPr sz="18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(</a:t>
            </a:r>
            <a:r>
              <a:rPr sz="1850" i="1" spc="-25" dirty="0">
                <a:solidFill>
                  <a:srgbClr val="1F1F1F"/>
                </a:solidFill>
                <a:latin typeface="Verdana"/>
                <a:cs typeface="Verdana"/>
              </a:rPr>
              <a:t>A</a:t>
            </a:r>
            <a:r>
              <a:rPr sz="1875" spc="-37" baseline="-20000" dirty="0">
                <a:solidFill>
                  <a:srgbClr val="1F1F1F"/>
                </a:solidFill>
                <a:latin typeface="Verdana"/>
                <a:cs typeface="Verdana"/>
              </a:rPr>
              <a:t>0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Mode)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71226" y="4208772"/>
            <a:ext cx="1229360" cy="2045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Rayleigh</a:t>
            </a:r>
            <a:r>
              <a:rPr sz="185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1F1F1F"/>
                </a:solidFill>
                <a:latin typeface="Verdana"/>
                <a:cs typeface="Verdana"/>
              </a:rPr>
              <a:t>/ </a:t>
            </a: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Love</a:t>
            </a:r>
            <a:endParaRPr sz="1850">
              <a:latin typeface="Verdana"/>
              <a:cs typeface="Verdana"/>
            </a:endParaRPr>
          </a:p>
          <a:p>
            <a:pPr marL="12700" marR="90805">
              <a:lnSpc>
                <a:spcPct val="101099"/>
              </a:lnSpc>
              <a:spcBef>
                <a:spcPts val="1215"/>
              </a:spcBef>
            </a:pPr>
            <a:r>
              <a:rPr sz="1850" b="1" spc="-20" dirty="0">
                <a:solidFill>
                  <a:srgbClr val="0070BF"/>
                </a:solidFill>
                <a:latin typeface="Verdana"/>
                <a:cs typeface="Verdana"/>
              </a:rPr>
              <a:t>Poor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(Rayleigh loss)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43384" y="4208772"/>
            <a:ext cx="119062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Thickness Shear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5541" y="4208772"/>
            <a:ext cx="155511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Primary </a:t>
            </a: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Wave</a:t>
            </a:r>
            <a:r>
              <a:rPr sz="1850" b="1" spc="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1850" b="1" spc="-20" dirty="0">
                <a:solidFill>
                  <a:srgbClr val="0070BF"/>
                </a:solidFill>
                <a:latin typeface="Verdana"/>
                <a:cs typeface="Verdana"/>
              </a:rPr>
              <a:t>Mode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27041" y="5217676"/>
            <a:ext cx="10941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Excellent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9184" y="5217676"/>
            <a:ext cx="10941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Excellent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43384" y="5217676"/>
            <a:ext cx="9493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Reliable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5541" y="5075935"/>
            <a:ext cx="135318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Liquid Operation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27041" y="5943099"/>
            <a:ext cx="56578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99184" y="5943099"/>
            <a:ext cx="16681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Low</a:t>
            </a:r>
            <a:r>
              <a:rPr sz="1850" b="1" spc="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(Fragile)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43384" y="5943099"/>
            <a:ext cx="11842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Very</a:t>
            </a:r>
            <a:r>
              <a:rPr sz="185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5541" y="5789471"/>
            <a:ext cx="1569720" cy="118872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Robustness</a:t>
            </a:r>
            <a:endParaRPr sz="1850">
              <a:latin typeface="Verdana"/>
              <a:cs typeface="Verdana"/>
            </a:endParaRPr>
          </a:p>
          <a:p>
            <a:pPr marL="12700" marR="50165">
              <a:lnSpc>
                <a:spcPct val="101099"/>
              </a:lnSpc>
              <a:spcBef>
                <a:spcPts val="1210"/>
              </a:spcBef>
            </a:pPr>
            <a:r>
              <a:rPr sz="1850" b="1" spc="-10" dirty="0">
                <a:solidFill>
                  <a:srgbClr val="0070BF"/>
                </a:solidFill>
                <a:latin typeface="Verdana"/>
                <a:cs typeface="Verdana"/>
              </a:rPr>
              <a:t>Fabrication </a:t>
            </a:r>
            <a:r>
              <a:rPr sz="1850" b="1" spc="-20" dirty="0">
                <a:solidFill>
                  <a:srgbClr val="0070BF"/>
                </a:solidFill>
                <a:latin typeface="Verdana"/>
                <a:cs typeface="Verdana"/>
              </a:rPr>
              <a:t>Cost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27041" y="6525270"/>
            <a:ext cx="11347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Moderate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99184" y="6525270"/>
            <a:ext cx="15792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r>
              <a:rPr sz="1850" spc="1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(MEMS)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71226" y="6525270"/>
            <a:ext cx="11347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Moderate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43384" y="6525270"/>
            <a:ext cx="1684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0070BF"/>
                </a:solidFill>
                <a:latin typeface="Verdana"/>
                <a:cs typeface="Verdana"/>
              </a:rPr>
              <a:t>Low</a:t>
            </a:r>
            <a:r>
              <a:rPr sz="1850" b="1" spc="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1F1F1F"/>
                </a:solidFill>
                <a:latin typeface="Verdana"/>
                <a:cs typeface="Verdana"/>
              </a:rPr>
              <a:t>(Simple)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81714" y="426127"/>
            <a:ext cx="30949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Perfect</a:t>
            </a:r>
            <a:r>
              <a:rPr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Balance:</a:t>
            </a: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pc="-20" dirty="0"/>
              <a:t>SH-</a:t>
            </a:r>
            <a:r>
              <a:rPr dirty="0"/>
              <a:t>APM</a:t>
            </a:r>
            <a:r>
              <a:rPr spc="-35" dirty="0"/>
              <a:t>  </a:t>
            </a:r>
            <a:r>
              <a:rPr dirty="0"/>
              <a:t>provides</a:t>
            </a:r>
            <a:r>
              <a:rPr spc="-30" dirty="0"/>
              <a:t>  </a:t>
            </a:r>
            <a:r>
              <a:rPr dirty="0"/>
              <a:t>a</a:t>
            </a:r>
            <a:r>
              <a:rPr spc="-45" dirty="0"/>
              <a:t>  </a:t>
            </a:r>
            <a:r>
              <a:rPr dirty="0"/>
              <a:t>unique</a:t>
            </a:r>
            <a:r>
              <a:rPr spc="-35" dirty="0"/>
              <a:t>  </a:t>
            </a:r>
            <a:r>
              <a:rPr spc="-10" dirty="0"/>
              <a:t>balance 	</a:t>
            </a:r>
            <a:r>
              <a:rPr dirty="0"/>
              <a:t>between the sensitivity of plate modes and the </a:t>
            </a:r>
            <a:r>
              <a:rPr spc="-10" dirty="0"/>
              <a:t>liquid-	</a:t>
            </a:r>
            <a:r>
              <a:rPr dirty="0"/>
              <a:t>compatibility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shear</a:t>
            </a:r>
            <a:r>
              <a:rPr spc="-90" dirty="0"/>
              <a:t> </a:t>
            </a:r>
            <a:r>
              <a:rPr spc="-10" dirty="0"/>
              <a:t>waves.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Future</a:t>
            </a:r>
            <a:r>
              <a:rPr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Directions:</a:t>
            </a:r>
            <a:r>
              <a:rPr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Advancements</a:t>
            </a:r>
            <a:r>
              <a:rPr spc="130" dirty="0"/>
              <a:t> </a:t>
            </a:r>
            <a:r>
              <a:rPr dirty="0"/>
              <a:t>in</a:t>
            </a:r>
            <a:r>
              <a:rPr spc="135" dirty="0"/>
              <a:t> </a:t>
            </a:r>
            <a:r>
              <a:rPr dirty="0"/>
              <a:t>"Love</a:t>
            </a:r>
            <a:r>
              <a:rPr spc="140" dirty="0"/>
              <a:t> </a:t>
            </a:r>
            <a:r>
              <a:rPr dirty="0"/>
              <a:t>Wave"</a:t>
            </a:r>
            <a:r>
              <a:rPr spc="160" dirty="0"/>
              <a:t> </a:t>
            </a:r>
            <a:r>
              <a:rPr spc="-10" dirty="0"/>
              <a:t>structures 	</a:t>
            </a:r>
            <a:r>
              <a:rPr dirty="0"/>
              <a:t>(adding</a:t>
            </a:r>
            <a:r>
              <a:rPr spc="225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dirty="0"/>
              <a:t>guiding</a:t>
            </a:r>
            <a:r>
              <a:rPr spc="229" dirty="0"/>
              <a:t> </a:t>
            </a:r>
            <a:r>
              <a:rPr dirty="0"/>
              <a:t>layer</a:t>
            </a:r>
            <a:r>
              <a:rPr spc="225" dirty="0"/>
              <a:t> </a:t>
            </a:r>
            <a:r>
              <a:rPr dirty="0"/>
              <a:t>to</a:t>
            </a:r>
            <a:r>
              <a:rPr spc="225" dirty="0"/>
              <a:t> </a:t>
            </a:r>
            <a:r>
              <a:rPr spc="-20" dirty="0"/>
              <a:t>SH-</a:t>
            </a:r>
            <a:r>
              <a:rPr dirty="0"/>
              <a:t>APM)</a:t>
            </a:r>
            <a:r>
              <a:rPr spc="229" dirty="0"/>
              <a:t> </a:t>
            </a:r>
            <a:r>
              <a:rPr dirty="0"/>
              <a:t>to</a:t>
            </a:r>
            <a:r>
              <a:rPr spc="225" dirty="0"/>
              <a:t> </a:t>
            </a:r>
            <a:r>
              <a:rPr dirty="0"/>
              <a:t>further</a:t>
            </a:r>
            <a:r>
              <a:rPr spc="225" dirty="0"/>
              <a:t> </a:t>
            </a:r>
            <a:r>
              <a:rPr dirty="0"/>
              <a:t>confine</a:t>
            </a:r>
            <a:r>
              <a:rPr spc="250" dirty="0"/>
              <a:t> </a:t>
            </a:r>
            <a:r>
              <a:rPr spc="-10" dirty="0"/>
              <a:t>energy 	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boost</a:t>
            </a:r>
            <a:r>
              <a:rPr spc="-30" dirty="0"/>
              <a:t> </a:t>
            </a:r>
            <a:r>
              <a:rPr spc="-10" dirty="0"/>
              <a:t>sensitivity.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514420"/>
            <a:ext cx="9213850" cy="545719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515620" indent="-502920" algn="just">
              <a:lnSpc>
                <a:spcPct val="100000"/>
              </a:lnSpc>
              <a:spcBef>
                <a:spcPts val="1315"/>
              </a:spcBef>
              <a:buAutoNum type="arabicPeriod"/>
              <a:tabLst>
                <a:tab pos="515620" algn="l"/>
              </a:tabLst>
            </a:pPr>
            <a:r>
              <a:rPr sz="1950" dirty="0">
                <a:latin typeface="Verdana"/>
                <a:cs typeface="Verdana"/>
              </a:rPr>
              <a:t>Define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"Evanescent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Field"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context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sensor.</a:t>
            </a:r>
            <a:endParaRPr sz="1950">
              <a:latin typeface="Verdana"/>
              <a:cs typeface="Verdana"/>
            </a:endParaRPr>
          </a:p>
          <a:p>
            <a:pPr marL="514984" marR="8890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Why</a:t>
            </a:r>
            <a:r>
              <a:rPr sz="1950" spc="1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does</a:t>
            </a:r>
            <a:r>
              <a:rPr sz="1950" spc="2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</a:t>
            </a:r>
            <a:r>
              <a:rPr sz="1950" spc="19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2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1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have</a:t>
            </a:r>
            <a:r>
              <a:rPr sz="1950" spc="1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higher</a:t>
            </a:r>
            <a:r>
              <a:rPr sz="1950" spc="1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power</a:t>
            </a:r>
            <a:r>
              <a:rPr sz="1950" spc="19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handling </a:t>
            </a:r>
            <a:r>
              <a:rPr sz="1950" dirty="0">
                <a:latin typeface="Verdana"/>
                <a:cs typeface="Verdana"/>
              </a:rPr>
              <a:t>capability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FPW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(Flexural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Plate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Wave)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sensor?</a:t>
            </a:r>
            <a:endParaRPr sz="1950">
              <a:latin typeface="Verdana"/>
              <a:cs typeface="Verdana"/>
            </a:endParaRPr>
          </a:p>
          <a:p>
            <a:pPr marL="514984" marR="8255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"Mass</a:t>
            </a:r>
            <a:r>
              <a:rPr sz="1950" spc="11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Loading"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effect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sensors.</a:t>
            </a:r>
            <a:r>
              <a:rPr sz="1950" spc="11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How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does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accumulation</a:t>
            </a:r>
            <a:r>
              <a:rPr sz="1950" spc="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molecules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on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"wet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side"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affect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9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phase </a:t>
            </a:r>
            <a:r>
              <a:rPr sz="1950" dirty="0">
                <a:latin typeface="Verdana"/>
                <a:cs typeface="Verdana"/>
              </a:rPr>
              <a:t>velocity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wave?</a:t>
            </a:r>
            <a:endParaRPr sz="1950">
              <a:latin typeface="Verdana"/>
              <a:cs typeface="Verdana"/>
            </a:endParaRPr>
          </a:p>
          <a:p>
            <a:pPr marL="514984" marR="8255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Describe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configuration</a:t>
            </a:r>
            <a:r>
              <a:rPr sz="1950" spc="1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"back-</a:t>
            </a:r>
            <a:r>
              <a:rPr sz="1950" dirty="0">
                <a:latin typeface="Verdana"/>
                <a:cs typeface="Verdana"/>
              </a:rPr>
              <a:t>side"</a:t>
            </a:r>
            <a:r>
              <a:rPr sz="1950" spc="1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sensing</a:t>
            </a:r>
            <a:r>
              <a:rPr sz="1950" spc="2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2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device. </a:t>
            </a:r>
            <a:r>
              <a:rPr sz="1950" dirty="0">
                <a:latin typeface="Verdana"/>
                <a:cs typeface="Verdana"/>
              </a:rPr>
              <a:t>Why</a:t>
            </a:r>
            <a:r>
              <a:rPr sz="1950" spc="1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1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1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configuration</a:t>
            </a:r>
            <a:r>
              <a:rPr sz="1950" spc="1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critical</a:t>
            </a:r>
            <a:r>
              <a:rPr sz="1950" spc="15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industrial</a:t>
            </a:r>
            <a:r>
              <a:rPr sz="1950" spc="1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15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biomedical applications?</a:t>
            </a:r>
            <a:endParaRPr sz="1950">
              <a:latin typeface="Verdana"/>
              <a:cs typeface="Verdana"/>
            </a:endParaRPr>
          </a:p>
          <a:p>
            <a:pPr marL="514984" marR="5080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Compare</a:t>
            </a:r>
            <a:r>
              <a:rPr sz="1950" spc="34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3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3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with</a:t>
            </a:r>
            <a:r>
              <a:rPr sz="1950" spc="3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standard</a:t>
            </a:r>
            <a:r>
              <a:rPr sz="1950" spc="35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Rayleigh-</a:t>
            </a:r>
            <a:r>
              <a:rPr sz="1950" dirty="0">
                <a:latin typeface="Verdana"/>
                <a:cs typeface="Verdana"/>
              </a:rPr>
              <a:t>wave</a:t>
            </a:r>
            <a:r>
              <a:rPr sz="1950" spc="330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SAW </a:t>
            </a:r>
            <a:r>
              <a:rPr sz="1950" dirty="0">
                <a:latin typeface="Verdana"/>
                <a:cs typeface="Verdana"/>
              </a:rPr>
              <a:t>sensors.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Why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0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latter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generally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avoided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immersion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in </a:t>
            </a:r>
            <a:r>
              <a:rPr sz="1950" spc="-10" dirty="0">
                <a:latin typeface="Verdana"/>
                <a:cs typeface="Verdana"/>
              </a:rPr>
              <a:t>liquids?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514420"/>
            <a:ext cx="9211945" cy="2741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4184" marR="9525" indent="-452120" algn="just">
              <a:lnSpc>
                <a:spcPct val="152300"/>
              </a:lnSpc>
              <a:spcBef>
                <a:spcPts val="90"/>
              </a:spcBef>
              <a:buAutoNum type="arabicPeriod" startAt="6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Describe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propagation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Shear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Horizontal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waves</a:t>
            </a:r>
            <a:r>
              <a:rPr sz="1950" spc="1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spc="-20" dirty="0">
                <a:latin typeface="Verdana"/>
                <a:cs typeface="Verdana"/>
              </a:rPr>
              <a:t>thin 	</a:t>
            </a:r>
            <a:r>
              <a:rPr sz="1950" dirty="0">
                <a:latin typeface="Verdana"/>
                <a:cs typeface="Verdana"/>
              </a:rPr>
              <a:t>piezoelectric</a:t>
            </a:r>
            <a:r>
              <a:rPr sz="1950" spc="114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plate.</a:t>
            </a:r>
            <a:endParaRPr sz="1950">
              <a:latin typeface="Verdana"/>
              <a:cs typeface="Verdana"/>
            </a:endParaRPr>
          </a:p>
          <a:p>
            <a:pPr marL="358140" marR="5080" indent="-346075" algn="just">
              <a:lnSpc>
                <a:spcPct val="152300"/>
              </a:lnSpc>
              <a:spcBef>
                <a:spcPts val="5"/>
              </a:spcBef>
              <a:buAutoNum type="arabicPeriod" startAt="6"/>
              <a:tabLst>
                <a:tab pos="514984" algn="l"/>
              </a:tabLst>
            </a:pPr>
            <a:r>
              <a:rPr sz="1950" spc="-10" dirty="0">
                <a:latin typeface="Verdana"/>
                <a:cs typeface="Verdana"/>
              </a:rPr>
              <a:t>SH-</a:t>
            </a:r>
            <a:r>
              <a:rPr sz="1950" dirty="0">
                <a:latin typeface="Verdana"/>
                <a:cs typeface="Verdana"/>
              </a:rPr>
              <a:t>APM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can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measure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mass,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viscosity,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liquid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conductivity 	</a:t>
            </a:r>
            <a:r>
              <a:rPr sz="1950" dirty="0">
                <a:latin typeface="Verdana"/>
                <a:cs typeface="Verdana"/>
              </a:rPr>
              <a:t>simultaneously.</a:t>
            </a:r>
            <a:r>
              <a:rPr sz="1950" spc="10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physical</a:t>
            </a:r>
            <a:r>
              <a:rPr sz="1950" spc="114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principles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behind</a:t>
            </a:r>
            <a:r>
              <a:rPr sz="1950" spc="1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how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the 	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distinguishes</a:t>
            </a:r>
            <a:r>
              <a:rPr sz="1950" spc="2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2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these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three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different</a:t>
            </a:r>
            <a:r>
              <a:rPr sz="1950" spc="2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parameters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240" dirty="0">
                <a:latin typeface="Verdana"/>
                <a:cs typeface="Verdana"/>
              </a:rPr>
              <a:t> </a:t>
            </a:r>
            <a:r>
              <a:rPr sz="1950" spc="-50" dirty="0">
                <a:latin typeface="Verdana"/>
                <a:cs typeface="Verdana"/>
              </a:rPr>
              <a:t>a 	</a:t>
            </a:r>
            <a:r>
              <a:rPr sz="1950" dirty="0">
                <a:latin typeface="Verdana"/>
                <a:cs typeface="Verdana"/>
              </a:rPr>
              <a:t>single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measurement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cycle.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36" y="1646290"/>
            <a:ext cx="8877300" cy="525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D.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Ballantine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et.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al.,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Sensors: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Theory, 	</a:t>
            </a:r>
            <a:r>
              <a:rPr sz="2200" dirty="0">
                <a:latin typeface="Verdana"/>
                <a:cs typeface="Verdana"/>
              </a:rPr>
              <a:t>Design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Physico-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Applications,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Academic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Press, 	1997.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Vinod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Kumar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Khanna,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Nanosensors: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Physical,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Chemical,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Biological,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2021.</a:t>
            </a:r>
            <a:endParaRPr sz="2200">
              <a:latin typeface="Verdana"/>
              <a:cs typeface="Verdana"/>
            </a:endParaRPr>
          </a:p>
          <a:p>
            <a:pPr marL="389255" marR="52705" indent="-377190" algn="just">
              <a:lnSpc>
                <a:spcPct val="150000"/>
              </a:lnSpc>
              <a:spcBef>
                <a:spcPts val="53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https://pmc.ncbi.nlm.nih.gov/articles/PMC6833005/pdf/sen</a:t>
            </a:r>
            <a:r>
              <a:rPr sz="2200" spc="-10" dirty="0">
                <a:latin typeface="Verdana"/>
                <a:cs typeface="Verdana"/>
              </a:rPr>
              <a:t> 	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sors-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04395.pdf</a:t>
            </a:r>
            <a:endParaRPr sz="2200">
              <a:latin typeface="Verdana"/>
              <a:cs typeface="Verdana"/>
            </a:endParaRPr>
          </a:p>
          <a:p>
            <a:pPr marL="389255" marR="963930" indent="-377190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https://industry.plantautomation-technology.com/</a:t>
            </a:r>
            <a:r>
              <a:rPr sz="2200" spc="-10" dirty="0">
                <a:latin typeface="Verdana"/>
                <a:cs typeface="Verdana"/>
                <a:hlinkClick r:id="rId3"/>
              </a:rPr>
              <a:t> 	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whitepapers/1485944904-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acoustic-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wave-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technology-	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sensors.pdf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690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523</Words>
  <Application>Microsoft Office PowerPoint</Application>
  <PresentationFormat>Custom</PresentationFormat>
  <Paragraphs>148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Introduction to SH-APM</vt:lpstr>
      <vt:lpstr>Why "Shear Horizontal"?</vt:lpstr>
      <vt:lpstr>Device Structure</vt:lpstr>
      <vt:lpstr>Working Principle</vt:lpstr>
      <vt:lpstr>Schematic Layout</vt:lpstr>
      <vt:lpstr>Sensing Mechanisms</vt:lpstr>
      <vt:lpstr>Comparison with Other Acoustic Sensors</vt:lpstr>
      <vt:lpstr>Advantages of SH-APM</vt:lpstr>
      <vt:lpstr>Key Applications</vt:lpstr>
      <vt:lpstr>Comparing Quartz Cuts for Acoustic Sensors</vt:lpstr>
      <vt:lpstr>Master Summary of Acoustic Sensors</vt:lpstr>
      <vt:lpstr>Conclusion</vt:lpstr>
      <vt:lpstr>Test your understanding</vt:lpstr>
      <vt:lpstr>Test your understanding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Shear Horizontal Acoustic Plate Mode (SH-APM) Sensors</dc:title>
  <dc:creator>Karthie Alias Ayyadurai</dc:creator>
  <cp:lastModifiedBy>Microsoft account</cp:lastModifiedBy>
  <cp:revision>1</cp:revision>
  <dcterms:created xsi:type="dcterms:W3CDTF">2026-07-01T10:33:19Z</dcterms:created>
  <dcterms:modified xsi:type="dcterms:W3CDTF">2026-07-01T10:34:25Z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