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5"/>
  </p:notesMasterIdLst>
  <p:handoutMasterIdLst>
    <p:handoutMasterId r:id="rId26"/>
  </p:handoutMasterIdLst>
  <p:sldIdLst>
    <p:sldId id="631" r:id="rId2"/>
    <p:sldId id="688" r:id="rId3"/>
    <p:sldId id="665" r:id="rId4"/>
    <p:sldId id="666" r:id="rId5"/>
    <p:sldId id="667" r:id="rId6"/>
    <p:sldId id="689" r:id="rId7"/>
    <p:sldId id="695" r:id="rId8"/>
    <p:sldId id="697" r:id="rId9"/>
    <p:sldId id="699" r:id="rId10"/>
    <p:sldId id="701" r:id="rId11"/>
    <p:sldId id="700" r:id="rId12"/>
    <p:sldId id="698" r:id="rId13"/>
    <p:sldId id="696" r:id="rId14"/>
    <p:sldId id="702" r:id="rId15"/>
    <p:sldId id="703" r:id="rId16"/>
    <p:sldId id="690" r:id="rId17"/>
    <p:sldId id="691" r:id="rId18"/>
    <p:sldId id="692" r:id="rId19"/>
    <p:sldId id="693" r:id="rId20"/>
    <p:sldId id="694" r:id="rId21"/>
    <p:sldId id="704" r:id="rId22"/>
    <p:sldId id="705" r:id="rId23"/>
    <p:sldId id="640" r:id="rId2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09A"/>
    <a:srgbClr val="66CCFF"/>
    <a:srgbClr val="90B0D4"/>
    <a:srgbClr val="B4593C"/>
    <a:srgbClr val="0066CC"/>
    <a:srgbClr val="547B9C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 varScale="1">
        <p:scale>
          <a:sx n="74" d="100"/>
          <a:sy n="74" d="100"/>
        </p:scale>
        <p:origin x="10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18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52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108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1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95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982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3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92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15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240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804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549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427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63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46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970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997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285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908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0420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68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6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Properties of Algebraic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3200402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1" dirty="0">
                <a:solidFill>
                  <a:srgbClr val="0066CC"/>
                </a:solidFill>
              </a:rPr>
              <a:t>by</a:t>
            </a:r>
          </a:p>
          <a:p>
            <a:pPr algn="ctr"/>
            <a:endParaRPr lang="en-US" sz="1800" b="1" dirty="0">
              <a:solidFill>
                <a:srgbClr val="0066CC"/>
              </a:solidFill>
            </a:endParaRP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Dr. T. M. Rajalaxmi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Assistant Professor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Department of Mathematics</a:t>
            </a:r>
            <a:endParaRPr lang="en-US" sz="1200" b="1" dirty="0">
              <a:solidFill>
                <a:srgbClr val="0066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D81AE-9945-6436-86F2-E6639788E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65331A-FB16-4349-BB1E-9292E7905A3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algn="just">
                  <a:lnSpc>
                    <a:spcPct val="150000"/>
                  </a:lnSpc>
                  <a:buAutoNum type="arabicPeriod"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the set of all non – zero real numbers is an abelian group under the operation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𝑎𝑏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2. Show that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ℝ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−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∗)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the binary operation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defined by      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    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 ∀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−(−1)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3. Prove that the set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={1, 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𝜔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𝜔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}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of order 3 under multiplication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     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𝜔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3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=1.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4.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S</m:t>
                    </m:r>
                    <m:r>
                      <a:rPr lang="en-US" sz="16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 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𝑄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𝑄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the set of all ordered pairs of rational numbers given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𝑦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  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 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algn="just">
                  <a:lnSpc>
                    <a:spcPct val="150000"/>
                  </a:lnSpc>
                  <a:buAutoNum type="alphaLcPeriod"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semigroup? Is it commutative?</a:t>
                </a:r>
              </a:p>
              <a:p>
                <a:pPr algn="just">
                  <a:lnSpc>
                    <a:spcPct val="150000"/>
                  </a:lnSpc>
                  <a:buAutoNum type="alphaLcPeriod"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Find the identity element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?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623" r="-623" b="-1247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2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6366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group, then</a:t>
                </a:r>
              </a:p>
              <a:p>
                <a:pPr algn="just">
                  <a:lnSpc>
                    <a:spcPct val="150000"/>
                  </a:lnSpc>
                  <a:buAutoNum type="arabicParenBoth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Identity element is unique</a:t>
                </a:r>
              </a:p>
              <a:p>
                <a:pPr algn="just">
                  <a:lnSpc>
                    <a:spcPct val="150000"/>
                  </a:lnSpc>
                  <a:buAutoNum type="arabicParenBoth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inverse is unique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two identity elements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Then by identity axiom of a group we get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(considering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as identity)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(considering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as identity)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Hence identity element is unique.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3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4557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1 </a:t>
            </a:r>
            <a:r>
              <a:rPr lang="en-US" sz="21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ctd</a:t>
            </a:r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(ii) Let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the identity element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 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any element.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′′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are two inverse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then by axiom,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                (1)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            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 (2)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(since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is identity)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             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 by (2)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0" dirty="0">
                    <a:cs typeface="Arial" panose="020B0604020202020204" pitchFamily="34" charset="0"/>
                    <a:sym typeface="Zapf Dingbats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′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′′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associative property since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group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0" dirty="0">
                    <a:cs typeface="Arial" panose="020B0604020202020204" pitchFamily="34" charset="0"/>
                    <a:sym typeface="Zapf Dingbats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′′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  by (1)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0" dirty="0">
                    <a:cs typeface="Arial" panose="020B0604020202020204" pitchFamily="34" charset="0"/>
                    <a:sym typeface="Zapf Dingbats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′′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inverse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unique and this is dented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(multiplicatively).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68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4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3948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533400" y="9906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 a group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 cancellation laws hold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(left cancellation law)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(right cancellation law)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9906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9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5</a:t>
            </a:fld>
            <a:endParaRPr 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0A888DB-0CCA-43AA-45C5-E1903EE902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4443170"/>
                  </p:ext>
                </p:extLst>
              </p:nvPr>
            </p:nvGraphicFramePr>
            <p:xfrm>
              <a:off x="809625" y="3066978"/>
              <a:ext cx="7620000" cy="2941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733800">
                      <a:extLst>
                        <a:ext uri="{9D8B030D-6E8A-4147-A177-3AD203B41FA5}">
                          <a16:colId xmlns:a16="http://schemas.microsoft.com/office/drawing/2014/main" val="3477300599"/>
                        </a:ext>
                      </a:extLst>
                    </a:gridCol>
                    <a:gridCol w="3886200">
                      <a:extLst>
                        <a:ext uri="{9D8B030D-6E8A-4147-A177-3AD203B41FA5}">
                          <a16:colId xmlns:a16="http://schemas.microsoft.com/office/drawing/2014/main" val="4099371673"/>
                        </a:ext>
                      </a:extLst>
                    </a:gridCol>
                  </a:tblGrid>
                  <a:tr h="2819400"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𝑏</m:t>
                                </m:r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∗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∗(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𝑐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  <a:sym typeface="Zapf Dingbat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  <a:sym typeface="Zapf Dingbats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  <a:sym typeface="Zapf Dingbats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∗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𝑏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(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)∗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𝑏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𝑏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endParaRPr lang="en-IN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𝑏</m:t>
                                </m:r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𝑐</m:t>
                                </m:r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𝑏</m:t>
                                    </m:r>
                                    <m:r>
                                      <a:rPr lang="en-US" sz="220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∗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𝑐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∗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𝑏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∗</m:t>
                                    </m:r>
                                    <m:sSup>
                                      <m:sSup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  <a:sym typeface="Zapf Dingbat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  <a:sym typeface="Zapf Dingbats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  <a:sym typeface="Zapf Dingbats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𝑐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𝑏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𝑐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∗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pPr marL="0" indent="0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𝑏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Zapf Dingbats"/>
                          </a:endParaRPr>
                        </a:p>
                        <a:p>
                          <a:endParaRPr lang="en-IN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95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0A888DB-0CCA-43AA-45C5-E1903EE902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4443170"/>
                  </p:ext>
                </p:extLst>
              </p:nvPr>
            </p:nvGraphicFramePr>
            <p:xfrm>
              <a:off x="809625" y="3066978"/>
              <a:ext cx="7620000" cy="2941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733800">
                      <a:extLst>
                        <a:ext uri="{9D8B030D-6E8A-4147-A177-3AD203B41FA5}">
                          <a16:colId xmlns:a16="http://schemas.microsoft.com/office/drawing/2014/main" val="3477300599"/>
                        </a:ext>
                      </a:extLst>
                    </a:gridCol>
                    <a:gridCol w="3886200">
                      <a:extLst>
                        <a:ext uri="{9D8B030D-6E8A-4147-A177-3AD203B41FA5}">
                          <a16:colId xmlns:a16="http://schemas.microsoft.com/office/drawing/2014/main" val="4099371673"/>
                        </a:ext>
                      </a:extLst>
                    </a:gridCol>
                  </a:tblGrid>
                  <a:tr h="2941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3" t="-207" r="-104405" b="-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6238" t="-207" r="-313" b="-4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2952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5689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3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group, then for each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sSup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sSup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sSup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8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By left cancellation law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sSup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80835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1, 3, 7, 9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multiplication modulo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7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80293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1, 3, 7, 9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multiplication modulo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8</a:t>
            </a:fld>
            <a:endParaRPr 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3301781"/>
                  </p:ext>
                </p:extLst>
              </p:nvPr>
            </p:nvGraphicFramePr>
            <p:xfrm>
              <a:off x="1524000" y="1760268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3301781"/>
                  </p:ext>
                </p:extLst>
              </p:nvPr>
            </p:nvGraphicFramePr>
            <p:xfrm>
              <a:off x="1524000" y="1760268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" t="-1639" r="-401500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56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1, 3, 7, 9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multiplication modulo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9</a:t>
            </a:fld>
            <a:endParaRPr 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8334950"/>
                  </p:ext>
                </p:extLst>
              </p:nvPr>
            </p:nvGraphicFramePr>
            <p:xfrm>
              <a:off x="1524000" y="1760268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8334950"/>
                  </p:ext>
                </p:extLst>
              </p:nvPr>
            </p:nvGraphicFramePr>
            <p:xfrm>
              <a:off x="1524000" y="1760268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" t="-1639" r="-401500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1985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1, 3, 7, 9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multiplication modulo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3 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x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7=21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≡1(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mod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10)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10</a:t>
            </a:fld>
            <a:endParaRPr 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4130698"/>
                  </p:ext>
                </p:extLst>
              </p:nvPr>
            </p:nvGraphicFramePr>
            <p:xfrm>
              <a:off x="1524000" y="1760268"/>
              <a:ext cx="6096000" cy="1965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IN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IN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4130698"/>
                  </p:ext>
                </p:extLst>
              </p:nvPr>
            </p:nvGraphicFramePr>
            <p:xfrm>
              <a:off x="1524000" y="1760268"/>
              <a:ext cx="6096000" cy="1965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" t="-9333" r="-401500" b="-3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IN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IN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0325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82AF6EB-C4FA-90EA-1003-5277ECF94F69}"/>
              </a:ext>
            </a:extLst>
          </p:cNvPr>
          <p:cNvSpPr/>
          <p:nvPr/>
        </p:nvSpPr>
        <p:spPr>
          <a:xfrm>
            <a:off x="5638800" y="2514600"/>
            <a:ext cx="304800" cy="304800"/>
          </a:xfrm>
          <a:prstGeom prst="ellipse">
            <a:avLst/>
          </a:prstGeom>
          <a:ln w="57150">
            <a:solidFill>
              <a:srgbClr val="C0309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1, 3, 7, 9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multiplication modulo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3 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x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7=21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≡1(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mod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10)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11</a:t>
            </a:fld>
            <a:endParaRPr 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0413477"/>
                  </p:ext>
                </p:extLst>
              </p:nvPr>
            </p:nvGraphicFramePr>
            <p:xfrm>
              <a:off x="1524000" y="1760268"/>
              <a:ext cx="6096000" cy="1905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IN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IN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0413477"/>
                  </p:ext>
                </p:extLst>
              </p:nvPr>
            </p:nvGraphicFramePr>
            <p:xfrm>
              <a:off x="1524000" y="1760268"/>
              <a:ext cx="6096000" cy="1905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" t="-7692" r="-401500" b="-3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IN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IN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3920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1, 3, 7, 9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multiplication modulo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12</a:t>
            </a:fld>
            <a:endParaRPr 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3096464"/>
                  </p:ext>
                </p:extLst>
              </p:nvPr>
            </p:nvGraphicFramePr>
            <p:xfrm>
              <a:off x="1524000" y="1760268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3096464"/>
                  </p:ext>
                </p:extLst>
              </p:nvPr>
            </p:nvGraphicFramePr>
            <p:xfrm>
              <a:off x="1524000" y="1760268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" t="-1639" r="-401500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404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EC14D5-A1BE-AFF3-A8E6-D2686881BBB0}"/>
              </a:ext>
            </a:extLst>
          </p:cNvPr>
          <p:cNvSpPr/>
          <p:nvPr/>
        </p:nvSpPr>
        <p:spPr>
          <a:xfrm>
            <a:off x="5562600" y="3276600"/>
            <a:ext cx="381000" cy="304800"/>
          </a:xfrm>
          <a:prstGeom prst="ellipse">
            <a:avLst/>
          </a:prstGeom>
          <a:ln w="57150">
            <a:solidFill>
              <a:srgbClr val="C0309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1, 3, 7, 9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multiplication modulo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9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x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7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63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3 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mod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10)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13</a:t>
            </a:fld>
            <a:endParaRPr 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1740967"/>
                  </p:ext>
                </p:extLst>
              </p:nvPr>
            </p:nvGraphicFramePr>
            <p:xfrm>
              <a:off x="1524000" y="1760268"/>
              <a:ext cx="6096000" cy="1905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IN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9</a:t>
                          </a:r>
                          <a:endParaRPr lang="en-IN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1740967"/>
                  </p:ext>
                </p:extLst>
              </p:nvPr>
            </p:nvGraphicFramePr>
            <p:xfrm>
              <a:off x="1524000" y="1760268"/>
              <a:ext cx="6096000" cy="1905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" t="-7692" r="-401500" b="-40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IN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</a:rPr>
                            <a:t>9</a:t>
                          </a:r>
                          <a:endParaRPr lang="en-IN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36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1, 3, 7, 9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multiplication modulo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Closure: Elements of the table is same as elements of the given set.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Associative: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3 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bPr>
                          <m:e>
                            <m:r>
                              <a:rPr lang="en-US" sz="1800" b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𝟏𝟎</m:t>
                            </m:r>
                          </m:sub>
                        </m:s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𝟕</m:t>
                        </m:r>
                      </m:e>
                    </m:d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r>
                          <a:rPr lang="en-US" sz="1800" b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𝐱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𝟏𝟎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𝟗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𝟏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𝐱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𝟏𝟎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𝟗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;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3 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𝐱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𝟏𝟎</m:t>
                        </m:r>
                      </m:sub>
                    </m:sSub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𝟕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bPr>
                          <m:e>
                            <m:r>
                              <a:rPr lang="en-US" sz="1800" b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𝟏𝟎</m:t>
                            </m:r>
                          </m:sub>
                        </m:s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𝟗</m:t>
                        </m:r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𝟑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𝐱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𝟏𝟎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𝟑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𝟗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Identity: 1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14</a:t>
            </a:fld>
            <a:endParaRPr 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3425856"/>
                  </p:ext>
                </p:extLst>
              </p:nvPr>
            </p:nvGraphicFramePr>
            <p:xfrm>
              <a:off x="1524000" y="1760268"/>
              <a:ext cx="6096000" cy="1879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3425856"/>
                  </p:ext>
                </p:extLst>
              </p:nvPr>
            </p:nvGraphicFramePr>
            <p:xfrm>
              <a:off x="1524000" y="1760268"/>
              <a:ext cx="6096000" cy="1879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" t="-1538" r="-401500" b="-3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804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1, 3, 7, 9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multiplication modulo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Inverse of 1: 1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Inverse of 3: 7                                      Since Symmetric,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commutative.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Inverse of 7: 3                                      Hence given set is an abelian 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Inverse of 9: 9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15</a:t>
            </a:fld>
            <a:endParaRPr 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35557"/>
                  </p:ext>
                </p:extLst>
              </p:nvPr>
            </p:nvGraphicFramePr>
            <p:xfrm>
              <a:off x="1524000" y="1760268"/>
              <a:ext cx="6096000" cy="1879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Zapf Dingbat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IN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IN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IN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IN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156D1DB-4396-66F0-9B9E-BC4CFA00E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35557"/>
                  </p:ext>
                </p:extLst>
              </p:nvPr>
            </p:nvGraphicFramePr>
            <p:xfrm>
              <a:off x="1524000" y="1760268"/>
              <a:ext cx="6096000" cy="1879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95382288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62096074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97957392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75557915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7375402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" t="-1538" r="-401500" b="-39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90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IN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135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IN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203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IN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678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IN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87052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6879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group, then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(Inverse reversal law)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 We must prove that inverse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Consider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0" dirty="0">
                    <a:cs typeface="Arial" panose="020B0604020202020204" pitchFamily="34" charset="0"/>
                    <a:sym typeface="Zapf Dingbats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0" dirty="0">
                    <a:cs typeface="Arial" panose="020B0604020202020204" pitchFamily="34" charset="0"/>
                    <a:sym typeface="Zapf Dingbats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       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inverse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40611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if every element in a group is its own inverse, then the group must be abelian.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 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any group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According to closure property, for any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 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-------------------------------------- 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But we know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0" dirty="0">
                    <a:cs typeface="Arial" panose="020B0604020202020204" pitchFamily="34" charset="0"/>
                    <a:sym typeface="Zapf Dingbats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--------------------(2)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from (1) and (2) commutative hold good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,∗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given group is an abelian.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 r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17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1174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group, then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Step 1: Let p(n):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Step 2:  p(1): LHS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; RHS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LHS = RHS.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p(1) is true.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Step 3:  p(2): LHS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                   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                   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                   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                   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18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8561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Step 4:  p(n): LHS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𝑛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𝑛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                   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                   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                   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∗(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                   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Thus p(n) is true for all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19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8761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then prove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(by left cancellation law).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20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69488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 a group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abelian.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premultiply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on both sides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)∗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∀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i.e., every element is its own inverse. Hence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21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38488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86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only idempotent element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identity.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0" dirty="0">
                    <a:cs typeface="Arial" panose="020B0604020202020204" pitchFamily="34" charset="0"/>
                    <a:sym typeface="Zapf Dingbats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post multiply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only idempotent element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identity element.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143000"/>
                <a:ext cx="8896350" cy="4876800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72212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200" b="1" smtClean="0"/>
              <a:pPr/>
              <a:t>22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6955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1B4B-43F1-4A79-97B5-ACD47DFB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2571750"/>
            <a:ext cx="6172200" cy="857250"/>
          </a:xfrm>
        </p:spPr>
        <p:txBody>
          <a:bodyPr/>
          <a:lstStyle/>
          <a:p>
            <a:r>
              <a:rPr lang="en-IN" sz="4050" b="1" dirty="0">
                <a:solidFill>
                  <a:srgbClr val="002060"/>
                </a:solidFill>
              </a:rPr>
              <a:t>Thank You</a:t>
            </a:r>
            <a:r>
              <a:rPr lang="en-IN" sz="495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D6A67A-EC1C-EE19-8687-32E7D473D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65331A-FB16-4349-BB1E-9292E7905A34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85DEF42-849D-2D22-8623-5CB65E05F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060"/>
            <a:ext cx="9144000" cy="1485900"/>
          </a:xfrm>
          <a:prstGeom prst="rect">
            <a:avLst/>
          </a:prstGeom>
          <a:solidFill>
            <a:srgbClr val="0079BC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Verdana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Verdana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Verdana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Verdana" pitchFamily="34" charset="0"/>
              </a:defRPr>
            </a:lvl5pPr>
            <a:lvl6pPr marL="342892"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Verdana" pitchFamily="34" charset="0"/>
              </a:defRPr>
            </a:lvl6pPr>
            <a:lvl7pPr marL="685783"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Verdana" pitchFamily="34" charset="0"/>
              </a:defRPr>
            </a:lvl7pPr>
            <a:lvl8pPr marL="1028675"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Verdana" pitchFamily="34" charset="0"/>
              </a:defRPr>
            </a:lvl8pPr>
            <a:lvl9pPr marL="1371566"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endParaRPr lang="en-US" b="1" kern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01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19408</TotalTime>
  <Words>1652</Words>
  <Application>Microsoft Office PowerPoint</Application>
  <PresentationFormat>On-screen Show (4:3)</PresentationFormat>
  <Paragraphs>398</Paragraphs>
  <Slides>23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Cambria Math</vt:lpstr>
      <vt:lpstr>Verdana</vt:lpstr>
      <vt:lpstr>1_Default Design</vt:lpstr>
      <vt:lpstr>CorelDRAW</vt:lpstr>
      <vt:lpstr>Properties of Algebraic Structures</vt:lpstr>
      <vt:lpstr>Problems</vt:lpstr>
      <vt:lpstr>Theorem 1 </vt:lpstr>
      <vt:lpstr>Theorem 1 ctd.. </vt:lpstr>
      <vt:lpstr>Theorem 2 </vt:lpstr>
      <vt:lpstr>Theorem 3 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Theorem 4</vt:lpstr>
      <vt:lpstr>Property</vt:lpstr>
      <vt:lpstr>Property</vt:lpstr>
      <vt:lpstr>Property</vt:lpstr>
      <vt:lpstr>Property</vt:lpstr>
      <vt:lpstr>Property</vt:lpstr>
      <vt:lpstr>Property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3481</cp:revision>
  <cp:lastPrinted>2025-07-09T11:40:31Z</cp:lastPrinted>
  <dcterms:created xsi:type="dcterms:W3CDTF">2006-09-22T10:59:01Z</dcterms:created>
  <dcterms:modified xsi:type="dcterms:W3CDTF">2025-08-27T18:17:30Z</dcterms:modified>
</cp:coreProperties>
</file>