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2"/>
  </p:notesMasterIdLst>
  <p:handoutMasterIdLst>
    <p:handoutMasterId r:id="rId23"/>
  </p:handoutMasterIdLst>
  <p:sldIdLst>
    <p:sldId id="631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703" r:id="rId14"/>
    <p:sldId id="699" r:id="rId15"/>
    <p:sldId id="700" r:id="rId16"/>
    <p:sldId id="701" r:id="rId17"/>
    <p:sldId id="704" r:id="rId18"/>
    <p:sldId id="705" r:id="rId19"/>
    <p:sldId id="706" r:id="rId20"/>
    <p:sldId id="707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290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236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59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8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53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80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92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59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69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3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996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961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56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64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515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1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993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73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Cosets and Lagrange’s Theorem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1960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476250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 </a:t>
            </a:r>
            <a:r>
              <a:rPr lang="en-US" sz="2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- Cosets</a:t>
            </a:r>
            <a:endParaRPr lang="en-US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91FFB-FD1E-2948-F98E-52351860B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7465"/>
            <a:ext cx="9144000" cy="2114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585791-5880-E7A8-221E-A25510894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78363"/>
            <a:ext cx="9144000" cy="200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Note: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BC3C6-3241-FE26-DC66-074A3851D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5079"/>
            <a:ext cx="9144000" cy="31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8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Note: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38ABC-5818-EF77-F32C-021ACC0EE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" y="1235477"/>
            <a:ext cx="9144000" cy="2978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3C0416-F9D9-EF7B-EAAD-94EF6D7D6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" y="4459759"/>
            <a:ext cx="9072000" cy="147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5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8ABE0-3A39-7638-E3E5-24D0776AF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9144000" cy="1338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D485A7-592D-76B2-2ADC-AED9A39A9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86000"/>
            <a:ext cx="9144000" cy="379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2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220F1-71BB-FC17-3E19-BC542D5BC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99" y="1509444"/>
            <a:ext cx="843080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8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26C0A-FE0A-4DEC-3D93-1207DD8F0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09" y="1047417"/>
            <a:ext cx="8640381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6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F085C-E04F-F9A7-4333-AAEA0BC90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20" y="1461813"/>
            <a:ext cx="8125959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2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1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BAE0C-205A-BD76-EE64-6B139014C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" y="1180786"/>
            <a:ext cx="8983329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5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79252-6621-30C6-3892-7DFFBB39A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8693"/>
            <a:ext cx="9144000" cy="41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5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2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1D32A-59D4-C1A4-C62E-A774B0AC7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2612"/>
            <a:ext cx="91440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4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Theorem 2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D361F-9C27-13DB-1003-57F7D230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04440"/>
            <a:ext cx="8498709" cy="3768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EE8816-ACE6-3B99-F79D-4AF2A92FDBED}"/>
              </a:ext>
            </a:extLst>
          </p:cNvPr>
          <p:cNvSpPr txBox="1"/>
          <p:nvPr/>
        </p:nvSpPr>
        <p:spPr>
          <a:xfrm>
            <a:off x="1527467" y="874876"/>
            <a:ext cx="5900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/>
              <a:t>An onto function, also known as a surjective function such that </a:t>
            </a:r>
          </a:p>
          <a:p>
            <a:pPr algn="just"/>
            <a:r>
              <a:rPr lang="en-US" sz="1600" dirty="0"/>
              <a:t>every element in the codomain (B) is mapped by at least one </a:t>
            </a:r>
          </a:p>
          <a:p>
            <a:pPr algn="just"/>
            <a:r>
              <a:rPr lang="en-US" sz="1600" dirty="0"/>
              <a:t>element from the domain (A).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1640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Note: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1769CC-1EFC-BC2C-3DE7-903654439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1070"/>
            <a:ext cx="9144000" cy="169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0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Lagrange’s Theorem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2B97A-DEB5-9431-0DCF-A42AEEC63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9935"/>
            <a:ext cx="9144000" cy="175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5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Lagrange’s Theorem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0F835-6609-F68D-CF79-6ACBAB50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" y="916968"/>
            <a:ext cx="9000000" cy="502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7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Lagrange’s Theorem cont’d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47E27-A750-5C8E-DFC0-F79F466A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16"/>
            <a:ext cx="9144000" cy="522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Normal Subgroup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A4174F-6FEC-5DB5-A12C-1E59756B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8382000" cy="2657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0066E9-A511-5943-969B-FBFF0D6AA741}"/>
              </a:ext>
            </a:extLst>
          </p:cNvPr>
          <p:cNvSpPr/>
          <p:nvPr/>
        </p:nvSpPr>
        <p:spPr>
          <a:xfrm>
            <a:off x="3352800" y="3352800"/>
            <a:ext cx="5334000" cy="4476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44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Normal Subgroup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066E9-A511-5943-969B-FBFF0D6AA741}"/>
              </a:ext>
            </a:extLst>
          </p:cNvPr>
          <p:cNvSpPr/>
          <p:nvPr/>
        </p:nvSpPr>
        <p:spPr>
          <a:xfrm>
            <a:off x="3352800" y="3352800"/>
            <a:ext cx="5334000" cy="4476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64EB4-48AE-D11D-7457-6BFEDBE2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066800"/>
            <a:ext cx="8915400" cy="2286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26B5D2-8059-3D7D-FBC4-3EAD7E42E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88523"/>
            <a:ext cx="7882152" cy="110285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8C51AE-6A81-F22C-9871-467CF82D5670}"/>
              </a:ext>
            </a:extLst>
          </p:cNvPr>
          <p:cNvSpPr/>
          <p:nvPr/>
        </p:nvSpPr>
        <p:spPr>
          <a:xfrm>
            <a:off x="914400" y="3886200"/>
            <a:ext cx="457200" cy="357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07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Every subgroup  of an abelian group is normal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066E9-A511-5943-969B-FBFF0D6AA741}"/>
              </a:ext>
            </a:extLst>
          </p:cNvPr>
          <p:cNvSpPr/>
          <p:nvPr/>
        </p:nvSpPr>
        <p:spPr>
          <a:xfrm>
            <a:off x="3352800" y="3352800"/>
            <a:ext cx="5334000" cy="4476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C51AE-6A81-F22C-9871-467CF82D5670}"/>
              </a:ext>
            </a:extLst>
          </p:cNvPr>
          <p:cNvSpPr/>
          <p:nvPr/>
        </p:nvSpPr>
        <p:spPr>
          <a:xfrm>
            <a:off x="914400" y="3886200"/>
            <a:ext cx="457200" cy="357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69F32-DEB9-7FB1-D70E-C026710D7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219416"/>
            <a:ext cx="8049703" cy="380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9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Every subgroup  of an abelian group is normal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066E9-A511-5943-969B-FBFF0D6AA741}"/>
              </a:ext>
            </a:extLst>
          </p:cNvPr>
          <p:cNvSpPr/>
          <p:nvPr/>
        </p:nvSpPr>
        <p:spPr>
          <a:xfrm>
            <a:off x="3352800" y="3352800"/>
            <a:ext cx="5334000" cy="44762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C51AE-6A81-F22C-9871-467CF82D5670}"/>
              </a:ext>
            </a:extLst>
          </p:cNvPr>
          <p:cNvSpPr/>
          <p:nvPr/>
        </p:nvSpPr>
        <p:spPr>
          <a:xfrm>
            <a:off x="914400" y="3886200"/>
            <a:ext cx="457200" cy="357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AEEF1-0FBE-9446-2593-F9A1C2E47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60" y="1226746"/>
            <a:ext cx="7910280" cy="16232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A80FD53-FE56-9EE0-09D9-716BB2280B06}"/>
              </a:ext>
            </a:extLst>
          </p:cNvPr>
          <p:cNvSpPr/>
          <p:nvPr/>
        </p:nvSpPr>
        <p:spPr>
          <a:xfrm>
            <a:off x="914400" y="1295045"/>
            <a:ext cx="3581400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3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19773</TotalTime>
  <Words>149</Words>
  <Application>Microsoft Office PowerPoint</Application>
  <PresentationFormat>On-screen Show (4:3)</PresentationFormat>
  <Paragraphs>68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Bookman Old Style</vt:lpstr>
      <vt:lpstr>Verdana</vt:lpstr>
      <vt:lpstr>1_Default Design</vt:lpstr>
      <vt:lpstr>CorelDRAW</vt:lpstr>
      <vt:lpstr>Cosets and Lagrange’s Theorem</vt:lpstr>
      <vt:lpstr>Definition - Cosets</vt:lpstr>
      <vt:lpstr>Note:</vt:lpstr>
      <vt:lpstr>Note:</vt:lpstr>
      <vt:lpstr>Theorem 1</vt:lpstr>
      <vt:lpstr>Theorem 1 cont’d</vt:lpstr>
      <vt:lpstr>Theorem 1 cont’d</vt:lpstr>
      <vt:lpstr>Theorem 1 cont’d</vt:lpstr>
      <vt:lpstr>Theorem 1 cont’d</vt:lpstr>
      <vt:lpstr>Theorem 2</vt:lpstr>
      <vt:lpstr>Theorem 2 cont’d</vt:lpstr>
      <vt:lpstr>Theorem 2 cont’d</vt:lpstr>
      <vt:lpstr>Note:</vt:lpstr>
      <vt:lpstr>Lagrange’s Theorem</vt:lpstr>
      <vt:lpstr>Lagrange’s Theorem cont’d</vt:lpstr>
      <vt:lpstr>Lagrange’s Theorem cont’d</vt:lpstr>
      <vt:lpstr>Normal Subgroup</vt:lpstr>
      <vt:lpstr>Normal Subgroup</vt:lpstr>
      <vt:lpstr>Every subgroup  of an abelian group is normal</vt:lpstr>
      <vt:lpstr>Every subgroup  of an abelian group is normal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3564</cp:revision>
  <cp:lastPrinted>2025-07-09T11:40:31Z</cp:lastPrinted>
  <dcterms:created xsi:type="dcterms:W3CDTF">2006-09-22T10:59:01Z</dcterms:created>
  <dcterms:modified xsi:type="dcterms:W3CDTF">2025-09-09T05:41:00Z</dcterms:modified>
</cp:coreProperties>
</file>