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2" r:id="rId5"/>
    <p:sldId id="261" r:id="rId6"/>
    <p:sldId id="263" r:id="rId7"/>
    <p:sldId id="264" r:id="rId8"/>
    <p:sldId id="266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B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B9FE1-4098-4F95-908A-5269F1949A60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FF75F-34EF-411D-A2D5-4CA1FE4B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1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2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2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0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89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2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7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5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61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7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2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EDC5D-067A-4B90-A306-D1E48DD22A45}" type="datetimeFigureOut">
              <a:rPr lang="en-US" smtClean="0"/>
              <a:t>13-Jul-20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4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79432"/>
            <a:ext cx="9144000" cy="2175149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PRE-CLASS CONTENT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2.2</a:t>
            </a: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Method Of Proofs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06970"/>
            <a:ext cx="9144000" cy="1413175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33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PROOF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33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PROOF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333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QUANTIFIERS </a:t>
            </a:r>
          </a:p>
        </p:txBody>
      </p:sp>
      <p:pic>
        <p:nvPicPr>
          <p:cNvPr id="4" name="Picture 2" descr="C:\Users\Anand\Desktop\SSN 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86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E3AB-38F5-4EB8-988D-DEDBD327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D43D3-9EC9-456A-A6C6-5E90847AE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1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AN ARGUMENT?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argument is an assertion that a given set of propositions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yields another proposition called the conclusion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called the premises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called the conclusion.</a:t>
                </a:r>
              </a:p>
              <a:p>
                <a:pPr marL="0" marR="0" indent="0" algn="just">
                  <a:lnSpc>
                    <a:spcPct val="100000"/>
                  </a:lnSpc>
                  <a:buNone/>
                </a:pPr>
                <a:r>
                  <a:rPr lang="en-US" sz="2400" b="1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</a:rPr>
                  <a:t>VALID ARGUMENTS</a:t>
                </a:r>
                <a:r>
                  <a:rPr lang="en-US" sz="1800" b="1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</a:p>
              <a:p>
                <a:pPr marL="0" marR="0" indent="0" algn="just">
                  <a:lnSpc>
                    <a:spcPct val="100000"/>
                  </a:lnSpc>
                  <a:buNone/>
                </a:pP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An argument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is said to be valid if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is true whenever all the</a:t>
                </a:r>
                <a:r>
                  <a:rPr lang="en-US" sz="2400" b="0" i="0" u="none" strike="noStrike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premises of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are true.</a:t>
                </a:r>
              </a:p>
              <a:p>
                <a:pPr marL="0" marR="0" indent="0" algn="l">
                  <a:lnSpc>
                    <a:spcPct val="100000"/>
                  </a:lnSpc>
                  <a:buNone/>
                </a:pPr>
                <a:r>
                  <a:rPr lang="en-US" sz="2600" b="1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</a:rPr>
                  <a:t>FALLACY</a:t>
                </a:r>
                <a:endParaRPr lang="en-US" sz="1800" b="0" i="0" u="none" strike="noStrike" baseline="0" dirty="0">
                  <a:solidFill>
                    <a:srgbClr val="3333B3"/>
                  </a:solidFill>
                  <a:latin typeface="Times New Roman" panose="02020603050405020304" pitchFamily="18" charset="0"/>
                </a:endParaRPr>
              </a:p>
              <a:p>
                <a:pPr marL="0" marR="0" indent="0" algn="l">
                  <a:lnSpc>
                    <a:spcPct val="100000"/>
                  </a:lnSpc>
                  <a:buNone/>
                </a:pP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An argument which is not valid is called a fallacy.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</a:p>
              <a:p>
                <a:pPr marL="0" marR="0" indent="0" algn="l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sz="24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D43D3-9EC9-456A-A6C6-5E90847AE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120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F419C3B8-EC96-404D-83F2-543863764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82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4018-4CF6-4515-9CF5-24A7B285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METHODS OF PROOFS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3A015-B6E6-45CF-871B-BFC9C953A8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Proofs play an important role in the development of mathematics because they guarantee the correctness of mathematical results.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Important mathematical statements that can be shown to be true are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theorems.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endParaRPr lang="en-US" sz="2400" b="1" i="0" u="none" strike="noStrike" baseline="0" dirty="0">
                  <a:solidFill>
                    <a:srgbClr val="3333B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2400" b="0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Pythagorean Theorem: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</a:t>
                </a:r>
                <a:r>
                  <a:rPr lang="en-US" sz="2400" b="0" i="0" u="none" strike="noStrik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length </a:t>
                </a:r>
              </a:p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two sides of a right angled triangle</a:t>
                </a:r>
                <a:r>
                  <a:rPr lang="en-US" sz="2400" b="0" i="0" u="none" strike="noStrik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let </a:t>
                </a:r>
              </a:p>
              <a:p>
                <a:pPr marL="0" indent="0" algn="l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hypotenuse.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0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Fermat’s Last Theorem: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 integer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greater than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equation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no solutions for non-zero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b="0" i="0" u="none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3A015-B6E6-45CF-871B-BFC9C953A8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74356136-CD44-4247-A7D6-5DA061915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F1EF9D-6CC9-4A1E-8A13-36EDF7661A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431" y="2948912"/>
            <a:ext cx="19050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3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CBF3-1295-4DC6-93DB-12350FAC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32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PROOFS </a:t>
            </a:r>
            <a:r>
              <a:rPr lang="en-US" sz="3200" b="1" i="0" u="none" strike="noStrike" baseline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32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D8777-327A-4623-988A-430FDF137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b="1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 METHOD</a:t>
                </a:r>
              </a:p>
              <a:p>
                <a:pPr marL="0" indent="0">
                  <a:buNone/>
                </a:pPr>
                <a:r>
                  <a:rPr lang="en-US" sz="2400" b="0" u="none" strike="noStrike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0" i="0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proved directly by proving that if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true, then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follow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2400" b="1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INDIRECT METHOD</a:t>
                </a:r>
              </a:p>
              <a:p>
                <a:pPr algn="l"/>
                <a:r>
                  <a:rPr lang="en-US" sz="2400" b="0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by contrapositive</a:t>
                </a:r>
              </a:p>
              <a:p>
                <a:pPr marL="0" indent="0">
                  <a:buNone/>
                </a:pP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Prove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by proving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400" b="0" i="0" u="none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sz="2400" b="0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by contradiction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 that the negation of the theorem yields a contradiction</a:t>
                </a:r>
              </a:p>
              <a:p>
                <a:pPr algn="l">
                  <a:buFont typeface="Wingdings" panose="05000000000000000000" pitchFamily="2" charset="2"/>
                  <a:buChar char="v"/>
                </a:pPr>
                <a:r>
                  <a:rPr lang="en-US" sz="2400" b="1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In many proofs, one needs to combine several different strategies</a:t>
                </a:r>
                <a:endParaRPr lang="en-US" sz="2400" b="0" i="0" u="none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D8777-327A-4623-988A-430FDF137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B2697B73-B90A-487D-B236-AD6C15532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81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EE8D-4978-4785-998A-58A39279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7A6243-84E4-40DF-BEE1-EC83C3004F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</a:t>
                </a:r>
              </a:p>
              <a:p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prove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direct proof, first assume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true.</a:t>
                </a:r>
              </a:p>
              <a:p>
                <a:pPr algn="l"/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rules of inference, axioms, previously shown theorems to show that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also true</a:t>
                </a:r>
              </a:p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pPr marL="0" indent="0" algn="l">
                  <a:buNone/>
                </a:pPr>
                <a:r>
                  <a:rPr lang="en-US" sz="240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following theorems can be proved using direct method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a perfect square if there exists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/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 that every odd number is the difference of two perfect squares.</a:t>
                </a:r>
              </a:p>
              <a:p>
                <a:pPr marL="0" indent="0" algn="l">
                  <a:buNone/>
                </a:pPr>
                <a:endParaRPr 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7A6243-84E4-40DF-BEE1-EC83C3004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FAD68C57-9D86-401C-AE3E-DEC8612F2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90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932E-6F57-43E2-B304-D9BA2564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METHODS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F8760-67CE-484B-B598-DDB20C32B2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BY CONTRAPOSITIVE</a:t>
                </a:r>
              </a:p>
              <a:p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prove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contrapositive,  assume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false</a:t>
                </a:r>
              </a:p>
              <a:p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rules of inference and known facts to prove some premises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false and hence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false</a:t>
                </a:r>
              </a:p>
              <a:p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 we assumed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proved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→¬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which results in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l"/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Sometimes the proof by contrapositive method is easier when compared to direct method. It is a very useful and powerful method.</a:t>
                </a:r>
              </a:p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pPr marL="0" indent="0" algn="l">
                  <a:buNone/>
                </a:pPr>
                <a:r>
                  <a:rPr lang="en-US" sz="240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following theorem can be proved using contrapositive method</a:t>
                </a:r>
              </a:p>
              <a:p>
                <a:pPr algn="l"/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odd, then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odd.</a:t>
                </a:r>
              </a:p>
              <a:p>
                <a:pPr marL="0" indent="0" algn="l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A6F8760-67CE-484B-B598-DDB20C32B2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196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D3DC2932-11BE-4B9C-9322-23011D8C0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36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6B75-76DA-418D-BFEF-8AD3809C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METHODS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b="1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BY CONTRADICTION</a:t>
                </a:r>
                <a:endParaRPr lang="en-US" sz="1800" b="0" i="0" u="none" strike="noStrike" baseline="0" dirty="0">
                  <a:solidFill>
                    <a:srgbClr val="3333B3"/>
                  </a:solidFill>
                  <a:latin typeface="CMSS12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method, we assume that the conclusion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false and all other premises </a:t>
                </a:r>
              </a:p>
              <a:p>
                <a:pPr marL="0" indent="0">
                  <a:buNone/>
                </a:pP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true. </a:t>
                </a:r>
              </a:p>
              <a:p>
                <a:pPr algn="l"/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rules of inference and known facts to reach a contradiction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b="0" i="0" u="none" strike="noStrike" baseline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sz="2400" b="0" i="0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Conclude the assumption (</a:t>
                </a:r>
                <a14:m>
                  <m:oMath xmlns:m="http://schemas.openxmlformats.org/officeDocument/2006/math">
                    <m:r>
                      <a:rPr lang="en-US" sz="2400" b="0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false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wrong</a:t>
                </a:r>
              </a:p>
              <a:p>
                <a:pPr algn="l"/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 indirectly prove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2400" b="1" i="0" u="none" strike="noStrike" baseline="0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240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following theorems can be proved using the method of contradiction</a:t>
                </a:r>
              </a:p>
              <a:p>
                <a:pPr algn="l"/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 by contradiction that</a:t>
                </a:r>
                <a:r>
                  <a:rPr lang="en-US" sz="2400" b="0" i="0" u="none" strike="noStrik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“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+ 2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odd, then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odd.”</a:t>
                </a:r>
              </a:p>
              <a:p>
                <a:pPr algn="l"/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 by contradiction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irrational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D6E273C2-677B-412B-96AA-7D3913D1E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02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71E6-4EA6-4931-96EB-579B3D96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PREMISES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80AFF1-79D7-4484-AB23-48DF97E11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INCONSISTENT PREMISES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set of hypothesis or premises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said to be inconsistent if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implies a contradiction.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some formula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CONSISTENT PREMISES</a:t>
                </a:r>
                <a:endParaRPr lang="en-US" sz="2400" dirty="0">
                  <a:solidFill>
                    <a:srgbClr val="3333B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set of  premises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said to be consistent if it is not inconsistent.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3333B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notion of inconsistency in methods of proof is called proof by contradiction.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E80AFF1-79D7-4484-AB23-48DF97E11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07C962B0-4768-43B6-A394-855BD7996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196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C5BC-A591-436C-8FB2-33A44ACB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1F44E-ACEF-4CFA-82FE-E804CF827A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483139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GB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QUESTIONS</a:t>
                </a: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Prove that if n is an integer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an odd integer, then n is an odd integer by (</a:t>
                </a:r>
                <a:r>
                  <a:rPr lang="en-GB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direct method and (ii) indirect method. </a:t>
                </a:r>
                <a:endPara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Prove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irrational, using suitable proof method. </a:t>
                </a:r>
                <a:endPara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buNone/>
                </a:pPr>
                <a:endParaRPr lang="en-GB" sz="24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1B1F44E-ACEF-4CFA-82FE-E804CF827A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483139"/>
              </a:xfrm>
              <a:blipFill rotWithShape="0">
                <a:blip r:embed="rId2"/>
                <a:stretch>
                  <a:fillRect l="-928" t="-3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145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3940</TotalTime>
  <Words>728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CMSS12</vt:lpstr>
      <vt:lpstr>Times New Roman</vt:lpstr>
      <vt:lpstr>Wingdings</vt:lpstr>
      <vt:lpstr>Office Theme</vt:lpstr>
      <vt:lpstr>         PRE-CLASS CONTENT   Module 2.2     Method Of Proofs</vt:lpstr>
      <vt:lpstr>ARGUMENT</vt:lpstr>
      <vt:lpstr> METHODS OF PROOFS</vt:lpstr>
      <vt:lpstr>METHODS OF PROOFS Contd… </vt:lpstr>
      <vt:lpstr>DIRECT METHOD</vt:lpstr>
      <vt:lpstr>INDIRECT METHODS</vt:lpstr>
      <vt:lpstr>INDIRECT METHODS Contd…</vt:lpstr>
      <vt:lpstr>INCONSISTENT PREMISES</vt:lpstr>
      <vt:lpstr>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TimesNewRoman (32pt - Bold)</dc:title>
  <dc:creator>AKKL0039</dc:creator>
  <cp:lastModifiedBy>jerin johnson</cp:lastModifiedBy>
  <cp:revision>139</cp:revision>
  <dcterms:created xsi:type="dcterms:W3CDTF">2020-06-22T17:09:49Z</dcterms:created>
  <dcterms:modified xsi:type="dcterms:W3CDTF">2020-07-13T13:36:07Z</dcterms:modified>
</cp:coreProperties>
</file>