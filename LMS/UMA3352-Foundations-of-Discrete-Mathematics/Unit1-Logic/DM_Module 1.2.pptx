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2"/>
  </p:notesMasterIdLst>
  <p:sldIdLst>
    <p:sldId id="302" r:id="rId2"/>
    <p:sldId id="297" r:id="rId3"/>
    <p:sldId id="274" r:id="rId4"/>
    <p:sldId id="275" r:id="rId5"/>
    <p:sldId id="276" r:id="rId6"/>
    <p:sldId id="277" r:id="rId7"/>
    <p:sldId id="278" r:id="rId8"/>
    <p:sldId id="303" r:id="rId9"/>
    <p:sldId id="281" r:id="rId10"/>
    <p:sldId id="28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7B5"/>
    <a:srgbClr val="000000"/>
    <a:srgbClr val="335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571" autoAdjust="0"/>
    <p:restoredTop sz="84369" autoAdjust="0"/>
  </p:normalViewPr>
  <p:slideViewPr>
    <p:cSldViewPr>
      <p:cViewPr>
        <p:scale>
          <a:sx n="82" d="100"/>
          <a:sy n="82" d="100"/>
        </p:scale>
        <p:origin x="-792" y="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F44D709-BD32-4E7C-8370-59A8D36383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5353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47BD91-93B5-474F-BC68-13F410B752D0}" type="slidenum">
              <a:rPr lang="en-US" altLang="en-US"/>
              <a:pPr/>
              <a:t>1</a:t>
            </a:fld>
            <a:endParaRPr lang="en-US" altLang="en-US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3520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259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1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2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1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192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956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9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9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 userDrawn="1"/>
        </p:nvGraphicFramePr>
        <p:xfrm>
          <a:off x="0" y="6267450"/>
          <a:ext cx="9144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CorelDRAW" r:id="rId14" imgW="9570600" imgH="657720" progId="">
                  <p:embed/>
                </p:oleObj>
              </mc:Choice>
              <mc:Fallback>
                <p:oleObj name="CorelDRAW" r:id="rId14" imgW="9570600" imgH="65772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67450"/>
                        <a:ext cx="9144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FF0000"/>
                </a:solidFill>
              </a:rPr>
              <a:t>Module 1.2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0"/>
            <a:ext cx="6400800" cy="1976454"/>
          </a:xfrm>
        </p:spPr>
        <p:txBody>
          <a:bodyPr/>
          <a:lstStyle/>
          <a:p>
            <a:endParaRPr lang="en-US" b="1" dirty="0" smtClean="0">
              <a:solidFill>
                <a:srgbClr val="1B57B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rgbClr val="1B57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 </a:t>
            </a:r>
          </a:p>
          <a:p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76400" y="609600"/>
            <a:ext cx="6248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1B57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PRE-CLASS CONTENT</a:t>
            </a:r>
            <a:endParaRPr lang="en-US" sz="4000" b="1" dirty="0">
              <a:solidFill>
                <a:srgbClr val="1B57B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335295"/>
                </a:solidFill>
                <a:latin typeface="Times New Roman" pitchFamily="18" charset="0"/>
                <a:cs typeface="Times New Roman" pitchFamily="18" charset="0"/>
              </a:rPr>
              <a:t>Well Formed Formula</a:t>
            </a:r>
            <a:endParaRPr lang="en-IN" sz="3200" b="1" dirty="0">
              <a:solidFill>
                <a:srgbClr val="335295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428736"/>
                <a:ext cx="8186766" cy="4786346"/>
              </a:xfrm>
            </p:spPr>
            <p:txBody>
              <a:bodyPr/>
              <a:lstStyle/>
              <a:p>
                <a:pPr algn="just"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Statement Formula</a:t>
                </a:r>
              </a:p>
              <a:p>
                <a:pPr algn="just"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A statement formula is an expression which is a string consisting of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variables, parenthesis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connective symbols.</a:t>
                </a:r>
              </a:p>
              <a:p>
                <a:pPr algn="just"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Well Formed Formula (WFF)</a:t>
                </a:r>
              </a:p>
              <a:p>
                <a:pPr algn="just"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 WFF can be generated by the following rules :</a:t>
                </a:r>
              </a:p>
              <a:p>
                <a:pPr algn="just">
                  <a:buFont typeface="Arial" pitchFamily="34" charset="0"/>
                  <a:buChar char="•"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is a WFF, then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¬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is a WFF.</a:t>
                </a:r>
              </a:p>
              <a:p>
                <a:pPr algn="just">
                  <a:buFont typeface="Arial" pitchFamily="34" charset="0"/>
                  <a:buChar char="•"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are well formed formulas,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∨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∧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4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algn="just"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    and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𝑞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are well formed formulas.</a:t>
                </a:r>
              </a:p>
              <a:p>
                <a:pPr algn="just">
                  <a:buFont typeface="Arial" pitchFamily="34" charset="0"/>
                  <a:buChar char="•"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A string of symbols containing statement variables, connectives and parenthesis is a WFF, if and only if it can be obtained by finitely many application of the above three steps.  </a:t>
                </a:r>
              </a:p>
              <a:p>
                <a:pPr>
                  <a:buNone/>
                </a:pPr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IN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428736"/>
                <a:ext cx="8186766" cy="4786346"/>
              </a:xfrm>
              <a:blipFill rotWithShape="1">
                <a:blip r:embed="rId3"/>
                <a:stretch>
                  <a:fillRect l="-1117" t="-1018" r="-3202" b="-26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 flipH="1">
          <a:off x="4429124" y="3359150"/>
          <a:ext cx="47626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7" name="Equation" r:id="rId4" imgW="190440" imgH="139680" progId="Equation.3">
                  <p:embed/>
                </p:oleObj>
              </mc:Choice>
              <mc:Fallback>
                <p:oleObj name="Equation" r:id="rId4" imgW="190440" imgH="1396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4429124" y="3359150"/>
                        <a:ext cx="47626" cy="13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335295"/>
                </a:solidFill>
                <a:latin typeface="Times New Roman" pitchFamily="18" charset="0"/>
                <a:cs typeface="Times New Roman" pitchFamily="18" charset="0"/>
              </a:rPr>
              <a:t>Truth tables of connectives</a:t>
            </a:r>
            <a:endParaRPr lang="en-IN" sz="3200" b="1" dirty="0">
              <a:solidFill>
                <a:srgbClr val="335295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357299"/>
                <a:ext cx="8186766" cy="4643470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Negation (~ or ¬) [Not]</a:t>
                </a:r>
              </a:p>
              <a:p>
                <a:pPr algn="just"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If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is any proposition, then its negation is denoted by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¬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4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buNone/>
                </a:pPr>
                <a:r>
                  <a:rPr lang="en-US" sz="24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 read as not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.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</a:t>
                </a:r>
                <a:endParaRPr lang="en-IN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357299"/>
                <a:ext cx="8186766" cy="4643470"/>
              </a:xfrm>
              <a:blipFill rotWithShape="1">
                <a:blip r:embed="rId2"/>
                <a:stretch>
                  <a:fillRect l="-1117" t="-1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7956000"/>
                  </p:ext>
                </p:extLst>
              </p:nvPr>
            </p:nvGraphicFramePr>
            <p:xfrm>
              <a:off x="2714612" y="3028962"/>
              <a:ext cx="257176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206"/>
                    <a:gridCol w="1353562"/>
                  </a:tblGrid>
                  <a:tr h="392910">
                    <a:tc gridSpan="2">
                      <a:txBody>
                        <a:bodyPr/>
                        <a:lstStyle/>
                        <a:p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   Truth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table </a:t>
                          </a:r>
                          <a:endParaRPr lang="en-IN" sz="2400" dirty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3929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¬</m:t>
                                </m:r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929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929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7956000"/>
                  </p:ext>
                </p:extLst>
              </p:nvPr>
            </p:nvGraphicFramePr>
            <p:xfrm>
              <a:off x="2714612" y="3028962"/>
              <a:ext cx="257176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206"/>
                    <a:gridCol w="1353562"/>
                  </a:tblGrid>
                  <a:tr h="457200">
                    <a:tc gridSpan="2">
                      <a:txBody>
                        <a:bodyPr/>
                        <a:lstStyle/>
                        <a:p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   Truth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table </a:t>
                          </a:r>
                          <a:endParaRPr lang="en-IN" sz="2400" dirty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110667" r="-1115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090" t="-110667" r="-450" b="-2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Conjunction ( ˄ ) [and]</a:t>
                </a:r>
              </a:p>
              <a:p>
                <a:pPr algn="just"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The conjunction of two statements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is the statement    denoted by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∧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read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          </a:t>
                </a:r>
              </a:p>
              <a:p>
                <a:pPr>
                  <a:buNone/>
                </a:pPr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  <a:blipFill rotWithShape="1">
                <a:blip r:embed="rId2"/>
                <a:stretch>
                  <a:fillRect l="-1171" t="-901" r="-4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6861534"/>
                  </p:ext>
                </p:extLst>
              </p:nvPr>
            </p:nvGraphicFramePr>
            <p:xfrm>
              <a:off x="2428861" y="2643182"/>
              <a:ext cx="3357586" cy="2864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4788"/>
                    <a:gridCol w="1243618"/>
                    <a:gridCol w="1139180"/>
                  </a:tblGrid>
                  <a:tr h="519545">
                    <a:tc gridSpan="3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Truth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table </a:t>
                          </a:r>
                          <a:r>
                            <a:rPr lang="en-IN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baseline="0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baseline="0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∧</m:t>
                              </m:r>
                              <m:r>
                                <a:rPr lang="en-US" sz="2400" b="1" i="1" baseline="0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b="1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dirty="0" smtClean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baseline="0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baseline="0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∧</m:t>
                              </m:r>
                              <m:r>
                                <a:rPr lang="en-US" sz="2400" b="1" i="1" baseline="0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b="1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6861534"/>
                  </p:ext>
                </p:extLst>
              </p:nvPr>
            </p:nvGraphicFramePr>
            <p:xfrm>
              <a:off x="2428861" y="2643182"/>
              <a:ext cx="3357586" cy="2864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4788"/>
                    <a:gridCol w="1243618"/>
                    <a:gridCol w="1139180"/>
                  </a:tblGrid>
                  <a:tr h="519545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9412" r="-181" b="-47647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120779" r="-245000" b="-4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78431" t="-120779" r="-92157" b="-4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4652" t="-120779" r="-535" b="-425974"/>
                          </a:stretch>
                        </a:blipFill>
                      </a:tcPr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688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Disjunction ( ˅ ) [or]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The disjunction of two statements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is the statement   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∨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and read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.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          </a:t>
                </a:r>
              </a:p>
              <a:p>
                <a:pPr>
                  <a:buNone/>
                </a:pPr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  <a:blipFill rotWithShape="1">
                <a:blip r:embed="rId2"/>
                <a:stretch>
                  <a:fillRect l="-1171" t="-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9289160"/>
                  </p:ext>
                </p:extLst>
              </p:nvPr>
            </p:nvGraphicFramePr>
            <p:xfrm>
              <a:off x="2428860" y="2285992"/>
              <a:ext cx="4500593" cy="31739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6629"/>
                    <a:gridCol w="1666978"/>
                    <a:gridCol w="1526986"/>
                  </a:tblGrid>
                  <a:tr h="567762">
                    <a:tc gridSpan="3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         Truth table of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0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∨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dirty="0" smtClean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∨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400" b="1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9289160"/>
                  </p:ext>
                </p:extLst>
              </p:nvPr>
            </p:nvGraphicFramePr>
            <p:xfrm>
              <a:off x="2428860" y="2285992"/>
              <a:ext cx="4500593" cy="31739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6629"/>
                    <a:gridCol w="1666978"/>
                    <a:gridCol w="1526986"/>
                  </a:tblGrid>
                  <a:tr h="567762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8602" b="-47311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117442" r="-243721" b="-4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78755" t="-117442" r="-91941" b="-4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4422" t="-117442" b="-411628"/>
                          </a:stretch>
                        </a:blipFill>
                      </a:tcPr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5212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Conditional statement (    ) [If…then]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be two statements. Then the statement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is called a conditional statement and read as “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”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. </a:t>
                </a:r>
              </a:p>
              <a:p>
                <a:pPr>
                  <a:buNone/>
                </a:pPr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  <a:blipFill rotWithShape="1">
                <a:blip r:embed="rId3"/>
                <a:stretch>
                  <a:fillRect l="-1171" t="-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410913"/>
                  </p:ext>
                </p:extLst>
              </p:nvPr>
            </p:nvGraphicFramePr>
            <p:xfrm>
              <a:off x="2285984" y="2643182"/>
              <a:ext cx="4143404" cy="28167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2928"/>
                    <a:gridCol w="1534678"/>
                    <a:gridCol w="1405798"/>
                  </a:tblGrid>
                  <a:tr h="530745">
                    <a:tc gridSpan="3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     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Truth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table </a:t>
                          </a:r>
                          <a:r>
                            <a:rPr lang="en-IN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b="1" dirty="0" smtClean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410913"/>
                  </p:ext>
                </p:extLst>
              </p:nvPr>
            </p:nvGraphicFramePr>
            <p:xfrm>
              <a:off x="2285984" y="2643182"/>
              <a:ext cx="4143404" cy="28167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2928"/>
                    <a:gridCol w="1534678"/>
                    <a:gridCol w="1405798"/>
                  </a:tblGrid>
                  <a:tr h="530745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47" t="-9195" b="-45747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8" t="-126667" r="-245178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78571" t="-126667" r="-91667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94805" t="-126667" b="-4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86182" y="857232"/>
          <a:ext cx="454604" cy="333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4" name="Equation" r:id="rId5" imgW="190440" imgH="139680" progId="Equation.3">
                  <p:embed/>
                </p:oleObj>
              </mc:Choice>
              <mc:Fallback>
                <p:oleObj name="Equation" r:id="rId5" imgW="190440" imgH="1396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857232"/>
                        <a:ext cx="454604" cy="3333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en-US" sz="24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Biconditional statement (    ) [If and only if]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be two statements. Then the statement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↔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𝑞</m:t>
                    </m:r>
                  </m:oMath>
                </a14:m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which is read as 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𝑝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"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is called a </a:t>
                </a:r>
                <a:r>
                  <a:rPr lang="en-US" sz="2400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Biconditional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statement .</a:t>
                </a:r>
              </a:p>
              <a:p>
                <a:pPr>
                  <a:buNone/>
                </a:pPr>
                <a:r>
                  <a:rPr lang="en-US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          </a:t>
                </a:r>
              </a:p>
              <a:p>
                <a:pPr>
                  <a:buNone/>
                </a:pPr>
                <a:endParaRPr lang="en-US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714356"/>
                <a:ext cx="8329642" cy="5411807"/>
              </a:xfrm>
              <a:blipFill rotWithShape="1">
                <a:blip r:embed="rId3"/>
                <a:stretch>
                  <a:fillRect l="-1171" t="-901" r="-81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7101377"/>
                  </p:ext>
                </p:extLst>
              </p:nvPr>
            </p:nvGraphicFramePr>
            <p:xfrm>
              <a:off x="2643175" y="2780927"/>
              <a:ext cx="3873040" cy="27845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435"/>
                    <a:gridCol w="1434537"/>
                    <a:gridCol w="1314068"/>
                  </a:tblGrid>
                  <a:tr h="494314">
                    <a:tc gridSpan="3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  Truth</a:t>
                          </a:r>
                          <a:r>
                            <a:rPr lang="en-US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table </a:t>
                          </a:r>
                          <a:r>
                            <a:rPr lang="en-IN" sz="2400" baseline="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↔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sz="2400" b="1" dirty="0" smtClean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cs typeface="Times New Roman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↔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7101377"/>
                  </p:ext>
                </p:extLst>
              </p:nvPr>
            </p:nvGraphicFramePr>
            <p:xfrm>
              <a:off x="2643175" y="2780927"/>
              <a:ext cx="3873040" cy="27845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435"/>
                    <a:gridCol w="1434537"/>
                    <a:gridCol w="1314068"/>
                  </a:tblGrid>
                  <a:tr h="494314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7" t="-9877" b="-4925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43" t="-118667" r="-245109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78390" t="-118667" r="-91102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95814" t="-118667" b="-432000"/>
                          </a:stretch>
                        </a:blipFill>
                      </a:tcPr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58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solidFill>
                              <a:srgbClr val="FF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000496" y="857232"/>
          <a:ext cx="383166" cy="26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8" name="Equation" r:id="rId5" imgW="203040" imgH="139680" progId="Equation.3">
                  <p:embed/>
                </p:oleObj>
              </mc:Choice>
              <mc:Fallback>
                <p:oleObj name="Equation" r:id="rId5" imgW="203040" imgH="1396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857232"/>
                        <a:ext cx="383166" cy="2634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mtClean="0">
                <a:solidFill>
                  <a:srgbClr val="1B57B5"/>
                </a:solidFill>
                <a:latin typeface="Times New Roman" pitchFamily="18" charset="0"/>
                <a:cs typeface="Times New Roman" pitchFamily="18" charset="0"/>
              </a:rPr>
              <a:t>Truth values for Connectives</a:t>
            </a:r>
            <a:endParaRPr lang="en-IN" sz="3200" b="1" dirty="0">
              <a:solidFill>
                <a:srgbClr val="1B57B5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55792581"/>
                  </p:ext>
                </p:extLst>
              </p:nvPr>
            </p:nvGraphicFramePr>
            <p:xfrm>
              <a:off x="457200" y="1600200"/>
              <a:ext cx="8229599" cy="43490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</a:tblGrid>
                  <a:tr h="724847">
                    <a:tc gridSpan="7"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                                         </a:t>
                          </a:r>
                          <a:r>
                            <a:rPr lang="en-US" sz="2400" b="0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Truth </a:t>
                          </a:r>
                          <a:r>
                            <a:rPr lang="en-US" sz="2400" b="0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table </a:t>
                          </a:r>
                          <a:endParaRPr lang="en-IN" sz="2400" b="0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oMath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ea typeface="Cambria Math"/>
                                  </a:rPr>
                                  <m:t>¬</m:t>
                                </m:r>
                                <m:r>
                                  <a:rPr lang="en-US" sz="2400" b="1" i="1" smtClean="0">
                                    <a:solidFill>
                                      <a:srgbClr val="1B57B5"/>
                                    </a:solidFill>
                                    <a:latin typeface="Cambria Math"/>
                                    <a:ea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∨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𝒒</m:t>
                              </m:r>
                            </m:oMath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∧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𝒒</m:t>
                              </m:r>
                            </m:oMath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𝒒</m:t>
                              </m:r>
                            </m:oMath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↔</m:t>
                              </m:r>
                              <m:r>
                                <a:rPr lang="en-US" sz="2400" b="1" i="1" smtClean="0">
                                  <a:solidFill>
                                    <a:srgbClr val="1B57B5"/>
                                  </a:solidFill>
                                  <a:latin typeface="Cambria Math"/>
                                  <a:ea typeface="Cambria Math"/>
                                </a:rPr>
                                <m:t>𝒒</m:t>
                              </m:r>
                            </m:oMath>
                          </a14:m>
                          <a:endParaRPr lang="en-IN" sz="2400" b="1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55792581"/>
                  </p:ext>
                </p:extLst>
              </p:nvPr>
            </p:nvGraphicFramePr>
            <p:xfrm>
              <a:off x="457200" y="1600200"/>
              <a:ext cx="8229599" cy="43490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</a:tblGrid>
                  <a:tr h="724847">
                    <a:tc gridSpan="7"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                                         </a:t>
                          </a:r>
                          <a:r>
                            <a:rPr lang="en-US" sz="2400" b="0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Truth </a:t>
                          </a:r>
                          <a:r>
                            <a:rPr lang="en-US" sz="2400" b="0" dirty="0" smtClean="0">
                              <a:solidFill>
                                <a:srgbClr val="1B57B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table </a:t>
                          </a:r>
                          <a:endParaRPr lang="en-IN" sz="2400" b="0" dirty="0">
                            <a:solidFill>
                              <a:srgbClr val="1B57B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06723" r="-599482" b="-3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t="-106723" r="-499482" b="-3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106723" r="-399482" b="-3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01563" t="-106723" r="-301563" b="-3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99482" t="-106723" r="-200000" b="-3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99482" t="-106723" r="-100000" b="-3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99482" t="-106723" b="-399160"/>
                          </a:stretch>
                        </a:blipFill>
                      </a:tcPr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724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937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642918"/>
            <a:ext cx="8329642" cy="5483245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Tautology</a:t>
            </a:r>
          </a:p>
          <a:p>
            <a:pPr algn="just">
              <a:buNone/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A Tautology is a statement form that is always true regardless of the truth values of the individual statements substituted for its variables.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(In the result column, all entries are True).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statement whose form is a Tautology is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Tautological statement.</a:t>
            </a:r>
          </a:p>
          <a:p>
            <a:pPr algn="just">
              <a:buFont typeface="Wingdings" pitchFamily="2" charset="2"/>
              <a:buChar char="q"/>
            </a:pP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Contradiction</a:t>
            </a:r>
          </a:p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Contradiction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 a statement form that is always false regardless of the truth values of the individual statements substituted for its variables.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(In the result column, all entries are False).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statement whose form is a Contradiction is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Contradictory statement.</a:t>
            </a:r>
          </a:p>
          <a:p>
            <a:pPr>
              <a:buNone/>
            </a:pP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642918"/>
            <a:ext cx="8329642" cy="5483245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Contingency</a:t>
            </a:r>
          </a:p>
          <a:p>
            <a:pPr algn="just">
              <a:buNone/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A statement formula which is neither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Tautology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nor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Contradiction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is called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Contingency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(In the result column, both True and False entries are present).</a:t>
            </a:r>
          </a:p>
          <a:p>
            <a:pPr algn="just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statement formula         is a Tautology and that the statement formula                 is a contradiction.</a:t>
            </a:r>
          </a:p>
          <a:p>
            <a:pPr>
              <a:buNone/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</a:t>
            </a:r>
          </a:p>
          <a:p>
            <a:pPr>
              <a:buNone/>
            </a:pP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14744" y="2786058"/>
          <a:ext cx="1214446" cy="35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3" name="Equation" r:id="rId3" imgW="482400" imgH="164880" progId="Equation.3">
                  <p:embed/>
                </p:oleObj>
              </mc:Choice>
              <mc:Fallback>
                <p:oleObj name="Equation" r:id="rId3" imgW="482400" imgH="164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44" y="2786058"/>
                        <a:ext cx="1214446" cy="3571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000363" y="3143250"/>
          <a:ext cx="131885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4" name="Equation" r:id="rId5" imgW="482400" imgH="164880" progId="Equation.3">
                  <p:embed/>
                </p:oleObj>
              </mc:Choice>
              <mc:Fallback>
                <p:oleObj name="Equation" r:id="rId5" imgW="482400" imgH="164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3" y="3143250"/>
                        <a:ext cx="131885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4955850"/>
                  </p:ext>
                </p:extLst>
              </p:nvPr>
            </p:nvGraphicFramePr>
            <p:xfrm>
              <a:off x="2071670" y="3786190"/>
              <a:ext cx="4500594" cy="17211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08"/>
                    <a:gridCol w="1107290"/>
                    <a:gridCol w="1143593"/>
                    <a:gridCol w="1106703"/>
                  </a:tblGrid>
                  <a:tr h="73183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33529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smtClean="0">
                                    <a:solidFill>
                                      <a:srgbClr val="335295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¬</m:t>
                                </m:r>
                                <m:r>
                                  <a:rPr lang="en-US" sz="2400" b="1" i="1" smtClean="0">
                                    <a:solidFill>
                                      <a:srgbClr val="335295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rgbClr val="335295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  <m:r>
                                  <a:rPr lang="en-US" sz="2400" b="1" i="1" smtClean="0">
                                    <a:solidFill>
                                      <a:srgbClr val="335295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∨¬</m:t>
                                </m:r>
                                <m:r>
                                  <a:rPr lang="en-US" sz="2400" b="1" i="1" smtClean="0">
                                    <a:solidFill>
                                      <a:srgbClr val="335295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𝒑</m:t>
                              </m:r>
                              <m:r>
                                <a:rPr lang="en-US" sz="2400" b="1" i="1" smtClean="0">
                                  <a:solidFill>
                                    <a:srgbClr val="335295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∧¬</m:t>
                              </m:r>
                            </m:oMath>
                          </a14:m>
                          <a:r>
                            <a:rPr lang="en-IN" sz="2400" dirty="0" smtClean="0">
                              <a:solidFill>
                                <a:srgbClr val="335295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</a:t>
                          </a:r>
                          <a:endParaRPr lang="en-IN" sz="2400" dirty="0">
                            <a:solidFill>
                              <a:srgbClr val="335295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946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946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4955850"/>
                  </p:ext>
                </p:extLst>
              </p:nvPr>
            </p:nvGraphicFramePr>
            <p:xfrm>
              <a:off x="2071670" y="3786190"/>
              <a:ext cx="4500594" cy="17211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08"/>
                    <a:gridCol w="1107290"/>
                    <a:gridCol w="1143593"/>
                    <a:gridCol w="1106703"/>
                  </a:tblGrid>
                  <a:tr h="7318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535" t="-6667" r="-295187" b="-14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03297" t="-6667" r="-203297" b="-14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96809" t="-6667" r="-96809" b="-14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308287" t="-6667" r="-552" b="-149167"/>
                          </a:stretch>
                        </a:blipFill>
                      </a:tcPr>
                    </a:tc>
                  </a:tr>
                  <a:tr h="4946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4946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T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F</a:t>
                          </a:r>
                          <a:endParaRPr lang="en-IN" sz="2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638</Words>
  <Application>Microsoft Office PowerPoint</Application>
  <PresentationFormat>On-screen Show (4:3)</PresentationFormat>
  <Paragraphs>161</Paragraphs>
  <Slides>10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1_Default Design</vt:lpstr>
      <vt:lpstr>CorelDRAW</vt:lpstr>
      <vt:lpstr>Equation</vt:lpstr>
      <vt:lpstr>Module 1.2</vt:lpstr>
      <vt:lpstr>Well Formed Formula</vt:lpstr>
      <vt:lpstr>Truth tables of connectives</vt:lpstr>
      <vt:lpstr>PowerPoint Presentation</vt:lpstr>
      <vt:lpstr>PowerPoint Presentation</vt:lpstr>
      <vt:lpstr>PowerPoint Presentation</vt:lpstr>
      <vt:lpstr>PowerPoint Presentation</vt:lpstr>
      <vt:lpstr>Truth values for Connectives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S.V</cp:lastModifiedBy>
  <cp:revision>594</cp:revision>
  <dcterms:created xsi:type="dcterms:W3CDTF">2006-09-22T10:59:01Z</dcterms:created>
  <dcterms:modified xsi:type="dcterms:W3CDTF">2020-07-14T09:54:14Z</dcterms:modified>
</cp:coreProperties>
</file>