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16"/>
  </p:notesMasterIdLst>
  <p:sldIdLst>
    <p:sldId id="289" r:id="rId2"/>
    <p:sldId id="279" r:id="rId3"/>
    <p:sldId id="280" r:id="rId4"/>
    <p:sldId id="281" r:id="rId5"/>
    <p:sldId id="274" r:id="rId6"/>
    <p:sldId id="275" r:id="rId7"/>
    <p:sldId id="276" r:id="rId8"/>
    <p:sldId id="277" r:id="rId9"/>
    <p:sldId id="278" r:id="rId10"/>
    <p:sldId id="285" r:id="rId11"/>
    <p:sldId id="261" r:id="rId12"/>
    <p:sldId id="286" r:id="rId13"/>
    <p:sldId id="269" r:id="rId14"/>
    <p:sldId id="291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5295"/>
    <a:srgbClr val="000000"/>
    <a:srgbClr val="1B57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71" autoAdjust="0"/>
    <p:restoredTop sz="84380" autoAdjust="0"/>
  </p:normalViewPr>
  <p:slideViewPr>
    <p:cSldViewPr>
      <p:cViewPr varScale="1">
        <p:scale>
          <a:sx n="78" d="100"/>
          <a:sy n="78" d="100"/>
        </p:scale>
        <p:origin x="148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F44D709-BD32-4E7C-8370-59A8D36383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6405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47BD91-93B5-474F-BC68-13F410B752D0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8432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8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2596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1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20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017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1925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9569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9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9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 userDrawn="1"/>
        </p:nvGraphicFramePr>
        <p:xfrm>
          <a:off x="0" y="6267450"/>
          <a:ext cx="91440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9" name="CorelDRAW" r:id="rId14" imgW="10128885" imgH="696087" progId="CorelDRAW.Graphic.12">
                  <p:embed/>
                </p:oleObj>
              </mc:Choice>
              <mc:Fallback>
                <p:oleObj name="CorelDRAW" r:id="rId14" imgW="10128885" imgH="696087" progId="CorelDRAW.Graphic.1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267450"/>
                        <a:ext cx="91440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Module 3.2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10000"/>
            <a:ext cx="6400800" cy="7620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of Inference 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76400" y="609600"/>
            <a:ext cx="6248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PRE-CLASS CONTENT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9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of Inference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Addition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Premises 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</m:oMath>
                  </m:oMathPara>
                </a14:m>
                <a:endParaRPr lang="en-US" sz="28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 studies very hard </a:t>
                </a:r>
                <a:endParaRPr lang="en-US" sz="280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Either he studies very hard Or he is a very bad student.</a:t>
                </a: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2"/>
                <a:stretch>
                  <a:fillRect l="-1481" t="-1482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04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of Inference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Conjunction 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Premises 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</m:oMath>
                  </m:oMathPara>
                </a14:m>
                <a:endParaRPr lang="en-US" sz="28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 studies very hard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  <a:r>
                  <a:rPr lang="en-US" sz="2800" dirty="0"/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 is the best boy in the class </a:t>
                </a:r>
                <a:endParaRPr 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 studies very hard and he is the best boy in the class</a:t>
                </a:r>
              </a:p>
              <a:p>
                <a:pPr marL="0" indent="0" algn="just">
                  <a:buNone/>
                </a:pP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2"/>
                <a:stretch>
                  <a:fillRect l="-1481" t="-1482" r="-1481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755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of Inference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Simplification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Premises :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q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</m:oMath>
                  </m:oMathPara>
                </a14:m>
                <a:endParaRPr lang="en-US" sz="28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q</m:t>
                      </m:r>
                    </m:oMath>
                  </m:oMathPara>
                </a14:m>
                <a:endParaRPr lang="en-US" sz="28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 studies very hard and he is the best boy in the class</a:t>
                </a:r>
                <a:endParaRPr lang="en-US" sz="2800" b="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 studies very hard</a:t>
                </a:r>
                <a:endParaRPr 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2"/>
                <a:stretch>
                  <a:fillRect l="-1481" t="-1482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125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of Inference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Modus Ponens (method of affirming)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Premises 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 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q</m:t>
                      </m:r>
                    </m:oMath>
                  </m:oMathPara>
                </a14:m>
                <a:endParaRPr lang="en-US" sz="28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Today is Tuesday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:If today is Tuesday then John will go  for work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John will go to work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2"/>
                <a:stretch>
                  <a:fillRect l="-1481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75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of Inference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Modus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ollens</a:t>
                </a: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(method of denying)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Premises 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 :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¬</m:t>
                      </m:r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∧(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⟹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¬ 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</m:oMath>
                  </m:oMathPara>
                </a14:m>
                <a:endParaRPr lang="en-US" sz="28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Dog did not bark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:If dog detects an intruder, then the dog will bark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 </m:t>
                    </m:r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No intruder was detected by dog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2"/>
                <a:stretch>
                  <a:fillRect l="-1481" t="-1482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35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of Inference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Hypothetical Syllogism 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Premises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endParaRPr lang="en-US" sz="28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2800" dirty="0" smtClean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If I do not wake up, then I cannot go to work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cannot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go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to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work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then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will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not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get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paid</m:t>
                    </m:r>
                  </m:oMath>
                </a14:m>
                <a:endParaRPr lang="en-US" sz="2800" b="0" i="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If I do not wake up, I will not get paid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2"/>
                <a:stretch>
                  <a:fillRect l="-1481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891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of Inference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Disjunctive Syllogism 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Premises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 </m:t>
                    </m:r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-US" sz="28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q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 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∧(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q</m:t>
                    </m:r>
                  </m:oMath>
                </a14:m>
                <a:endParaRPr lang="en-US" sz="28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 </m:t>
                    </m:r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Icecream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not vanilla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flavoured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Icecream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either vanilla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flavoured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chocolate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flavoured</a:t>
                </a:r>
                <a:endParaRPr lang="en-US" sz="2800" b="0" i="0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Icecream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chocolate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flavoured</a:t>
                </a: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2"/>
                <a:stretch>
                  <a:fillRect l="-1481" t="-1482" r="-1481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46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of Inference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Dilemma (Double proposition, syllogism both conjunction and disjunction)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Premises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q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r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2800" dirty="0" smtClean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dirty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r</m:t>
                    </m:r>
                  </m:oMath>
                </a14:m>
                <a:endParaRPr lang="en-US" sz="28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Jump from fire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Jump or fall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Jump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die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fall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r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die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2"/>
                <a:stretch>
                  <a:fillRect l="-1481" t="-1482" r="-1481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835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of Inference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Resolution 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Premises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2800" dirty="0" smtClean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8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endParaRPr lang="en-US" sz="280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It is warm day or it is sunny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If it is not a warm day or it is rainy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sunny or it is rainy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2"/>
                <a:stretch>
                  <a:fillRect l="-1481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344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57400"/>
            <a:ext cx="7772400" cy="1219200"/>
          </a:xfrm>
        </p:spPr>
        <p:txBody>
          <a:bodyPr/>
          <a:lstStyle/>
          <a:p>
            <a:r>
              <a:rPr lang="en-US" sz="3600" b="1" dirty="0" smtClean="0">
                <a:solidFill>
                  <a:srgbClr val="3352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IN-CLASS  CONTENT</a:t>
            </a:r>
            <a:br>
              <a:rPr lang="en-US" sz="3600" b="1" dirty="0" smtClean="0">
                <a:solidFill>
                  <a:srgbClr val="3352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3352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endParaRPr lang="en-US" b="1" dirty="0">
              <a:solidFill>
                <a:srgbClr val="33529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Prove that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 valid conclusion from the premises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¬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Prove that the implication</a:t>
                </a:r>
                <a:endParaRPr lang="en-US" sz="2400" i="1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be derived from the premises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→¬,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indirect method of proof, derive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→¬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the premises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→¬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→¬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</m:oMath>
                </a14:m>
                <a:endParaRPr lang="en-US" sz="2400" b="0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sz="240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and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</a:p>
              <a:p>
                <a:pPr marL="0" indent="0" algn="ctr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5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 that the premises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 ¬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inconsistent 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Prove that the premises </a:t>
                </a:r>
                <a:endParaRPr lang="en-US" sz="2400" i="1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→¬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are inconsistent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 that the premises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→¬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→¬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inconsistent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 that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derived from the premises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r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by indirect method.</a:t>
                </a:r>
              </a:p>
              <a:p>
                <a:pPr marL="0" indent="0" algn="ctr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94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219200"/>
            <a:ext cx="8077200" cy="4971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 that the following premises are inconsistent 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If Jack misses many classes through illness, then he </a:t>
            </a:r>
            <a:endParaRPr lang="en-GB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fails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school.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If Jack reads a lot of books, then he is uneducated.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If Jack reads a lot of books, then he is not uneducated.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Jack misses many classes through illness and reads a </a:t>
            </a:r>
            <a:endParaRPr lang="en-GB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lot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books.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Symbolize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statement “Given any positive integer, there is a greater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positive integer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</a:p>
          <a:p>
            <a:pPr marR="0" lvl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With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positive integers as universe of discourse</a:t>
            </a:r>
          </a:p>
          <a:p>
            <a:pPr marR="0" lvl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Without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positive integers as universe of discourse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01323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810</Words>
  <Application>Microsoft Office PowerPoint</Application>
  <PresentationFormat>On-screen Show (4:3)</PresentationFormat>
  <Paragraphs>117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Times New Roman</vt:lpstr>
      <vt:lpstr>Verdana</vt:lpstr>
      <vt:lpstr>1_Default Design</vt:lpstr>
      <vt:lpstr>CorelDRAW</vt:lpstr>
      <vt:lpstr>Module 3.2</vt:lpstr>
      <vt:lpstr>Rules of Inference</vt:lpstr>
      <vt:lpstr>Rules of Inference</vt:lpstr>
      <vt:lpstr>Rules of Inference</vt:lpstr>
      <vt:lpstr>Rules of Inference</vt:lpstr>
      <vt:lpstr>Rules of Inference</vt:lpstr>
      <vt:lpstr>Rules of Inference</vt:lpstr>
      <vt:lpstr>Rules of Inference</vt:lpstr>
      <vt:lpstr>Rules of Inference</vt:lpstr>
      <vt:lpstr>Rules of Inference</vt:lpstr>
      <vt:lpstr>IN-CLASS  CONTENT PROBLEMS</vt:lpstr>
      <vt:lpstr>PROBLEMS</vt:lpstr>
      <vt:lpstr>PROBLEMS</vt:lpstr>
      <vt:lpstr>PROBLEMS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</dc:creator>
  <cp:lastModifiedBy>user</cp:lastModifiedBy>
  <cp:revision>151</cp:revision>
  <dcterms:created xsi:type="dcterms:W3CDTF">2006-09-22T10:59:01Z</dcterms:created>
  <dcterms:modified xsi:type="dcterms:W3CDTF">2020-07-14T04:57:24Z</dcterms:modified>
</cp:coreProperties>
</file>