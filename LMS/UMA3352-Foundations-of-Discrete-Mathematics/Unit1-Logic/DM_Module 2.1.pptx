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6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77" r:id="rId10"/>
    <p:sldId id="278" r:id="rId11"/>
    <p:sldId id="268" r:id="rId12"/>
    <p:sldId id="279" r:id="rId13"/>
    <p:sldId id="280" r:id="rId14"/>
    <p:sldId id="271" r:id="rId15"/>
    <p:sldId id="272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9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B9FE1-4098-4F95-908A-5269F1949A60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FF75F-34EF-411D-A2D5-4CA1FE4B1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1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2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2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0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89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025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7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4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58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61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7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EDC5D-067A-4B90-A306-D1E48DD22A4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2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9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EDC5D-067A-4B90-A306-D1E48DD22A45}" type="datetimeFigureOut">
              <a:rPr lang="en-US" smtClean="0"/>
              <a:t>9/21/2021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1F400-1336-48C8-A846-C60A985FC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4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4053" y="2036618"/>
            <a:ext cx="9144000" cy="80356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Module2.1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7017" y="3532750"/>
            <a:ext cx="9518073" cy="2383126"/>
          </a:xfrm>
        </p:spPr>
        <p:txBody>
          <a:bodyPr>
            <a:normAutofit fontScale="92500" lnSpcReduction="20000"/>
          </a:bodyPr>
          <a:lstStyle/>
          <a:p>
            <a:r>
              <a:rPr lang="en-US" sz="3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forms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Disjunctive Normal Form     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Conjunctive Normal Form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 Disjunctive Normal Form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Principal Conjunctive Normal Form</a:t>
            </a:r>
          </a:p>
          <a:p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:\Users\Anand\Desktop\SSN Log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075624" y="528844"/>
            <a:ext cx="604075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PRE-CLASS CONTENT  </a:t>
            </a:r>
          </a:p>
        </p:txBody>
      </p:sp>
    </p:spTree>
    <p:extLst>
      <p:ext uri="{BB962C8B-B14F-4D97-AF65-F5344CB8AC3E}">
        <p14:creationId xmlns:p14="http://schemas.microsoft.com/office/powerpoint/2010/main" val="793379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E3AB-38F5-4EB8-988D-DEDBD327D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D43D3-9EC9-456A-A6C6-5E90847AE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NORMAL FORMS?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number of variables involved in a given statement are more, the construction of truth tables become tedious. In these situations we consider other method known as reduction to normal form.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method we use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place of conjunction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place of disjunction</a:t>
            </a:r>
            <a:endParaRPr lang="en-US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F419C3B8-EC96-404D-83F2-543863764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1820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8A0FF-B367-463F-BB94-E8C387A4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ELEMENTARY PRODUCT &amp; ELEMENTARY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37BC06-05E0-47E8-B164-58692BA73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ELEMENTARY PRODUCT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A product of the variables and their negation is called an elementary product.</a:t>
                </a:r>
              </a:p>
              <a:p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ELEMENTARY SUM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A Sum of the variables and their negation is called an elementary sum.</a:t>
                </a:r>
                <a:endParaRPr lang="en-US" sz="24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any two atomic variables then 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~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are some </a:t>
                </a:r>
                <a:r>
                  <a:rPr lang="en-US" sz="24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elementary products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~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are some </a:t>
                </a:r>
                <a:r>
                  <a:rPr lang="en-US" sz="24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elementary sums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24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37BC06-05E0-47E8-B164-58692BA73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24579FB0-3D5E-4976-86BE-AED25413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757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4018-4CF6-4515-9CF5-24A7B2858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DISJUNCTIVE NORMAL FORM &amp; CONJUNCTIVE NORMAL FORM</a:t>
            </a:r>
            <a:br>
              <a:rPr lang="en-US" sz="3200" dirty="0"/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3A015-B6E6-45CF-871B-BFC9C953A8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DISJUNCTIVE NORMAL FORM (DNF)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A logical formula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said to be in  disjunctive normal form if it is the sum of 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elementary products.</a:t>
                </a:r>
                <a:endParaRPr lang="en-US" sz="24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CONJUNCTIVE NORMAL FORM (CNF)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A logical formula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said to be in conjunctive normal form if it is the product of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elementary sums.</a:t>
                </a:r>
              </a:p>
              <a:p>
                <a:r>
                  <a:rPr 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∧</m:t>
                        </m:r>
                        <m:r>
                          <a:rPr lang="el-GR" sz="2400" i="1" dirty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in disjunctive normal form.</a:t>
                </a:r>
                <a:endParaRPr lang="en-US" sz="2400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/>
                  <a:t>r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in conjunctive normal form.</a:t>
                </a:r>
                <a:endParaRPr lang="en-US" sz="2400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3A015-B6E6-45CF-871B-BFC9C953A8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74356136-CD44-4247-A7D6-5DA061915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33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ACBF3-1295-4DC6-93DB-12350FAC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TO OBTAIN DNF OR CNF</a:t>
            </a:r>
            <a:endParaRPr lang="en-US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D8777-327A-4623-988A-430FDF137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Replace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statement.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Eliminate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before sums and products by using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DeMorgan’s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law.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distributive law until a sum of elementary product or a product of elementary sum is obtained.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Exclude the elementary product equivalent to the truth value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DNF.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Exclude the elementary sum equivalent to the truth value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CNF.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DNF (or CNF) is not unique.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D8777-327A-4623-988A-430FDF137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B2697B73-B90A-487D-B236-AD6C15532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811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6EE8D-4978-4785-998A-58A39279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MINTERMS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7A6243-84E4-40DF-BEE1-EC83C3004F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MINTERMS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given number of variables, the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minterm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consists of conjunctions in which each term or its negation appears only once.</a:t>
                </a:r>
                <a:endParaRPr lang="en-US" sz="24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variables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minterms.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two variables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minterms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~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~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7A6243-84E4-40DF-BEE1-EC83C3004F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FAD68C57-9D86-401C-AE3E-DEC8612F2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901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6932E-6F57-43E2-B304-D9BA2564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MAXTERMS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6F8760-67CE-484B-B598-DDB20C32B2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MAXTERMS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given number of variables, the maxterm consists of disjunctions in which each term or its negation appears only once.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variables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maxterms.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two variables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maxterms are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~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~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6F8760-67CE-484B-B598-DDB20C32B2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D3DC2932-11BE-4B9C-9322-23011D8C0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363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6B75-76DA-418D-BFEF-8AD3809C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 DISJUNCTIVE NORMAL FORM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48F3E-B7BA-4654-AEB0-3CF7FBF8CB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PRINCIPAL DISJUNCTIVE NORMAL FORM(PDNF)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logical formula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said to be in principal disjunctive normal form if it is equivalent to a sum of 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minterms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only. This is also known as sum of products canonical form.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METHODS TO FIND PDNF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PDNF can be determined in two ways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Truth Table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Without Using Truth 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48F3E-B7BA-4654-AEB0-3CF7FBF8C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D6E273C2-677B-412B-96AA-7D3913D1E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021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571E6-4EA6-4931-96EB-579B3D96D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PDNF USING TRUTH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80AFF1-79D7-4484-AB23-48DF97E11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Obtain the principal disjunctive normal form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  <m:r>
                      <a:rPr lang="en-US" sz="2400" b="1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sz="2400" b="1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𝒒</m:t>
                    </m:r>
                  </m:oMath>
                </a14:m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 truth table for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            Now the PDNF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E80AFF1-79D7-4484-AB23-48DF97E11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07C962B0-4768-43B6-A394-855BD7996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70AA682B-CA9F-4B8E-BE9F-E7DC2E19E04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77767" y="3107183"/>
              <a:ext cx="2998430" cy="234588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76555">
                      <a:extLst>
                        <a:ext uri="{9D8B030D-6E8A-4147-A177-3AD203B41FA5}">
                          <a16:colId xmlns:a16="http://schemas.microsoft.com/office/drawing/2014/main" val="2784911003"/>
                        </a:ext>
                      </a:extLst>
                    </a:gridCol>
                    <a:gridCol w="639192">
                      <a:extLst>
                        <a:ext uri="{9D8B030D-6E8A-4147-A177-3AD203B41FA5}">
                          <a16:colId xmlns:a16="http://schemas.microsoft.com/office/drawing/2014/main" val="2429988025"/>
                        </a:ext>
                      </a:extLst>
                    </a:gridCol>
                    <a:gridCol w="1038688">
                      <a:extLst>
                        <a:ext uri="{9D8B030D-6E8A-4147-A177-3AD203B41FA5}">
                          <a16:colId xmlns:a16="http://schemas.microsoft.com/office/drawing/2014/main" val="1986427977"/>
                        </a:ext>
                      </a:extLst>
                    </a:gridCol>
                    <a:gridCol w="943995">
                      <a:extLst>
                        <a:ext uri="{9D8B030D-6E8A-4147-A177-3AD203B41FA5}">
                          <a16:colId xmlns:a16="http://schemas.microsoft.com/office/drawing/2014/main" val="2211939998"/>
                        </a:ext>
                      </a:extLst>
                    </a:gridCol>
                  </a:tblGrid>
                  <a:tr h="469176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r>
                            <a:rPr lang="en-US" b="1" dirty="0"/>
                            <a:t>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 err="1"/>
                            <a:t>Minterm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𝒑</m:t>
                                </m:r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↔</m:t>
                                </m:r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6921434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∧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398868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                                                   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∧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~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8326320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~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∧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9619633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~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∧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~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93838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0AA682B-CA9F-4B8E-BE9F-E7DC2E19E049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177767" y="3107183"/>
              <a:ext cx="2998430" cy="234588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7655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784911003"/>
                        </a:ext>
                      </a:extLst>
                    </a:gridCol>
                    <a:gridCol w="6391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429988025"/>
                        </a:ext>
                      </a:extLst>
                    </a:gridCol>
                    <a:gridCol w="103868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986427977"/>
                        </a:ext>
                      </a:extLst>
                    </a:gridCol>
                    <a:gridCol w="94399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211939998"/>
                        </a:ext>
                      </a:extLst>
                    </a:gridCol>
                  </a:tblGrid>
                  <a:tr h="469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613" t="-6494" r="-698387" b="-4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000" t="-6494" r="-312381" b="-4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 err="1"/>
                            <a:t>Minterm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18710" t="-6494" r="-1290" b="-4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876921434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8246" t="-106494" r="-91813" b="-3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4398868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                                                   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8246" t="-203846" r="-9181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68326320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8246" t="-307792" r="-91813" b="-10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069619633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8246" t="-407792" r="-91813" b="-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9893838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19903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4953-4414-4E08-BF36-DA87C461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PDNF WITHOUT USING TRUTH TABLE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ED414E-CBFE-40FD-B92E-2640082576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PROCEDURE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Obtain DNF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Missing factors are introduced through complement law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 idempotent laws to avoid repetitions of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minterms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PDNF is unique except for order of terms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5ED414E-CBFE-40FD-B92E-264008257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73D3ECB8-7D43-4276-99EE-77918B574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259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6B75-76DA-418D-BFEF-8AD3809C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 CONJUNCTIVE NORMAL FORM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48F3E-B7BA-4654-AEB0-3CF7FBF8CB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PRINCIPAL CONJUNCTIVE NORMAL FORM(PCNF)</a:t>
                </a:r>
              </a:p>
              <a:p>
                <a:pPr algn="ju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logical formula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said to be in principal conjunctive normal form if it is equivalent to a product of  maxterms only. This is also known as product of sums canonical form.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METHODS TO FIND PCNF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PCNF can be determined in two ways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Truth Table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Without Using Truth 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48F3E-B7BA-4654-AEB0-3CF7FBF8C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D6E273C2-677B-412B-96AA-7D3913D1E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0455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571E6-4EA6-4931-96EB-579B3D96D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PCNF USING TRUTH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80AFF1-79D7-4484-AB23-48DF97E11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Obtain the principal conjunctive normal form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  <m:r>
                      <a:rPr lang="en-US" sz="2400" b="1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sz="2400" b="1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𝒒</m:t>
                    </m:r>
                  </m:oMath>
                </a14:m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 truth table for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            Now the PCNF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∨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E80AFF1-79D7-4484-AB23-48DF97E11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1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07C962B0-4768-43B6-A394-855BD7996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70AA682B-CA9F-4B8E-BE9F-E7DC2E19E04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77767" y="3107183"/>
              <a:ext cx="2998430" cy="234588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76555">
                      <a:extLst>
                        <a:ext uri="{9D8B030D-6E8A-4147-A177-3AD203B41FA5}">
                          <a16:colId xmlns:a16="http://schemas.microsoft.com/office/drawing/2014/main" val="2784911003"/>
                        </a:ext>
                      </a:extLst>
                    </a:gridCol>
                    <a:gridCol w="639192">
                      <a:extLst>
                        <a:ext uri="{9D8B030D-6E8A-4147-A177-3AD203B41FA5}">
                          <a16:colId xmlns:a16="http://schemas.microsoft.com/office/drawing/2014/main" val="2429988025"/>
                        </a:ext>
                      </a:extLst>
                    </a:gridCol>
                    <a:gridCol w="1091224">
                      <a:extLst>
                        <a:ext uri="{9D8B030D-6E8A-4147-A177-3AD203B41FA5}">
                          <a16:colId xmlns:a16="http://schemas.microsoft.com/office/drawing/2014/main" val="1986427977"/>
                        </a:ext>
                      </a:extLst>
                    </a:gridCol>
                    <a:gridCol w="891459">
                      <a:extLst>
                        <a:ext uri="{9D8B030D-6E8A-4147-A177-3AD203B41FA5}">
                          <a16:colId xmlns:a16="http://schemas.microsoft.com/office/drawing/2014/main" val="2211939998"/>
                        </a:ext>
                      </a:extLst>
                    </a:gridCol>
                  </a:tblGrid>
                  <a:tr h="469176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oMath>
                          </a14:m>
                          <a:r>
                            <a:rPr lang="en-US" b="1" dirty="0"/>
                            <a:t>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Maxterm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𝒑</m:t>
                                </m:r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↔</m:t>
                                </m:r>
                                <m:r>
                                  <a:rPr lang="en-US" sz="18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6921434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398868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                                                   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~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8326320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~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9619633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~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∨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~</m:t>
                                </m:r>
                                <m:r>
                                  <a:rPr lang="en-US" sz="1800" i="1" dirty="0" err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93838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0AA682B-CA9F-4B8E-BE9F-E7DC2E19E049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177767" y="3107183"/>
              <a:ext cx="2998430" cy="234588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37655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784911003"/>
                        </a:ext>
                      </a:extLst>
                    </a:gridCol>
                    <a:gridCol w="6391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429988025"/>
                        </a:ext>
                      </a:extLst>
                    </a:gridCol>
                    <a:gridCol w="109122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986427977"/>
                        </a:ext>
                      </a:extLst>
                    </a:gridCol>
                    <a:gridCol w="89145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211939998"/>
                        </a:ext>
                      </a:extLst>
                    </a:gridCol>
                  </a:tblGrid>
                  <a:tr h="469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613" t="-6494" r="-698387" b="-4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000" t="-6494" r="-312381" b="-4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/>
                            <a:t>Maxterm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36054" t="-6494" r="-1361" b="-4038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876921434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3855" t="-106494" r="-83240" b="-30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94398868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                                                     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3855" t="-203846" r="-8324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968326320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3855" t="-307792" r="-83240" b="-10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069619633"/>
                      </a:ext>
                    </a:extLst>
                  </a:tr>
                  <a:tr h="4691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3855" t="-407792" r="-83240" b="-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9893838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9050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D4953-4414-4E08-BF36-DA87C461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PCNF WITHOUT USING TRUTH TABLE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ED414E-CBFE-40FD-B92E-2640082576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PROCEDURE</a:t>
                </a:r>
                <a:r>
                  <a:rPr lang="en-US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 CNF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Missing factors are introduced through complement law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r>
                      <a:rPr lang="en-US" sz="24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Use idempotent laws to avoid repetitions of maxterms.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PCNF is unique except for order of terms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5ED414E-CBFE-40FD-B92E-2640082576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C:\Users\Anand\Desktop\SSN Logo.JPG">
            <a:extLst>
              <a:ext uri="{FF2B5EF4-FFF2-40B4-BE49-F238E27FC236}">
                <a16:creationId xmlns:a16="http://schemas.microsoft.com/office/drawing/2014/main" id="{D2ACB806-8040-43F9-A626-E33CDDE54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974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6B75-76DA-418D-BFEF-8AD3809C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 PDNF TO PCNF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48F3E-B7BA-4654-AEB0-3CF7FBF8CB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PROCEDURE FOR CONVERTING PDNF TO PCNF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minterms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atomic variables.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 the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minterms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which are not used in PDNF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Disjunct those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minterms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 negation and apply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DeMorgan’s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law.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resultant formula is the required PCNF.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48F3E-B7BA-4654-AEB0-3CF7FBF8C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D6E273C2-677B-412B-96AA-7D3913D1E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371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6B75-76DA-418D-BFEF-8AD3809C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 OF PCNF TO PDNF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48F3E-B7BA-4654-AEB0-3CF7FBF8CB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PROCEDURE FOR CONVERTING PCNF TO PDNF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sz="24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maxterms for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atomic variables.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 the maxterms which are not used in PCNF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Conjunct those maxterms.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 negation and use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DeMorgan’s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law. </a:t>
                </a:r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resultant formula is the required PDNF.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48F3E-B7BA-4654-AEB0-3CF7FBF8C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C:\Users\Anand\Desktop\SSN Logo.JPG">
            <a:extLst>
              <a:ext uri="{FF2B5EF4-FFF2-40B4-BE49-F238E27FC236}">
                <a16:creationId xmlns:a16="http://schemas.microsoft.com/office/drawing/2014/main" id="{D6E273C2-677B-412B-96AA-7D3913D1E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64" y="6134100"/>
            <a:ext cx="10820399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463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C5BC-A591-436C-8FB2-33A44ACB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lang="en-US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B1F44E-ACEF-4CFA-82FE-E804CF827A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GB" sz="24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QUESTIONS</a:t>
                </a: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PDNF for (</a:t>
                </a:r>
                <a:r>
                  <a:rPr lang="en-GB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(ii)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 ∨ ¬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∧(¬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∨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Without constructing the truth table find the PDNF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 ∧ ¬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 ∨ ¬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d>
                  </m:oMath>
                </a14:m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</a:t>
                </a:r>
                <a:r>
                  <a:rPr lang="en-GB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minterm</a:t>
                </a: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normal form of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 ∨ 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 ∧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 ∧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 ∨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indent="-457200">
                  <a:buAutoNum type="arabicPeriod" startAt="4"/>
                </a:pP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PDNF and the PCNF of the formula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∨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 → 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 ∨ 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 → </m:t>
                                </m:r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indent="-457200">
                  <a:buAutoNum type="arabicPeriod" startAt="4"/>
                </a:pPr>
                <a:r>
                  <a:rPr lang="en-GB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Without constructing the truth table find the PDNF and PCNF of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→ 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GB" sz="2400">
                          <a:latin typeface="Cambria Math" panose="02040503050406030204" pitchFamily="18" charset="0"/>
                        </a:rPr>
                        <m:t> ∧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↔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B1F44E-ACEF-4CFA-82FE-E804CF827A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7145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</TotalTime>
  <Words>1065</Words>
  <Application>Microsoft Office PowerPoint</Application>
  <PresentationFormat>Widescreen</PresentationFormat>
  <Paragraphs>169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Module2.1</vt:lpstr>
      <vt:lpstr>NORMAL FORMS</vt:lpstr>
      <vt:lpstr>ELEMENTARY PRODUCT &amp; ELEMENTARY SUM</vt:lpstr>
      <vt:lpstr> DISJUNCTIVE NORMAL FORM &amp; CONJUNCTIVE NORMAL FORM  </vt:lpstr>
      <vt:lpstr>METHOD TO OBTAIN DNF OR CNF</vt:lpstr>
      <vt:lpstr>MINTERMS </vt:lpstr>
      <vt:lpstr>MAXTERMS</vt:lpstr>
      <vt:lpstr>PRINCIPAL DISJUNCTIVE NORMAL FORM</vt:lpstr>
      <vt:lpstr>PDNF USING TRUTH TABLE</vt:lpstr>
      <vt:lpstr>PDNF WITHOUT USING TRUTH TABLE</vt:lpstr>
      <vt:lpstr>PRINCIPAL CONJUNCTIVE NORMAL FORM</vt:lpstr>
      <vt:lpstr>PCNF USING TRUTH TABLE</vt:lpstr>
      <vt:lpstr>PCNF WITHOUT USING TRUTH TABLE</vt:lpstr>
      <vt:lpstr>CONVERSION OF PDNF TO PCNF</vt:lpstr>
      <vt:lpstr>CONVERSION OF PCNF TO PDNF</vt:lpstr>
      <vt:lpstr>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TimesNewRoman (32pt - Bold)</dc:title>
  <dc:creator>AKKL0039</dc:creator>
  <cp:lastModifiedBy>Rajalaxmi Tm</cp:lastModifiedBy>
  <cp:revision>77</cp:revision>
  <dcterms:created xsi:type="dcterms:W3CDTF">2020-06-22T17:09:49Z</dcterms:created>
  <dcterms:modified xsi:type="dcterms:W3CDTF">2021-09-21T07:26:59Z</dcterms:modified>
</cp:coreProperties>
</file>