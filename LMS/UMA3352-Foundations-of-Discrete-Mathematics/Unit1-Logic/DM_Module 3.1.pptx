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0"/>
  </p:notesMasterIdLst>
  <p:sldIdLst>
    <p:sldId id="260" r:id="rId2"/>
    <p:sldId id="292" r:id="rId3"/>
    <p:sldId id="310" r:id="rId4"/>
    <p:sldId id="308" r:id="rId5"/>
    <p:sldId id="309" r:id="rId6"/>
    <p:sldId id="273" r:id="rId7"/>
    <p:sldId id="291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5295"/>
    <a:srgbClr val="000000"/>
    <a:srgbClr val="1B5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1" autoAdjust="0"/>
    <p:restoredTop sz="84380" autoAdjust="0"/>
  </p:normalViewPr>
  <p:slideViewPr>
    <p:cSldViewPr>
      <p:cViewPr varScale="1">
        <p:scale>
          <a:sx n="47" d="100"/>
          <a:sy n="47" d="100"/>
        </p:scale>
        <p:origin x="116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F44D709-BD32-4E7C-8370-59A8D36383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6405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47BD91-93B5-474F-BC68-13F410B752D0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557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47BD91-93B5-474F-BC68-13F410B752D0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456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4D709-BD32-4E7C-8370-59A8D36383F6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10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259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1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2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1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192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956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9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9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 userDrawn="1"/>
        </p:nvGraphicFramePr>
        <p:xfrm>
          <a:off x="0" y="6267450"/>
          <a:ext cx="9144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0" name="CorelDRAW" r:id="rId14" imgW="10128885" imgH="696087" progId="CorelDRAW.Graphic.12">
                  <p:embed/>
                </p:oleObj>
              </mc:Choice>
              <mc:Fallback>
                <p:oleObj name="CorelDRAW" r:id="rId14" imgW="10128885" imgH="696087" progId="CorelDRAW.Graphic.1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67450"/>
                        <a:ext cx="9144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Module 3.1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0"/>
            <a:ext cx="6400800" cy="762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609600"/>
            <a:ext cx="6248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PRE-CLASS CONTENT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Inference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1470819"/>
            <a:ext cx="3810000" cy="21336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443" y="3657600"/>
            <a:ext cx="3429000" cy="2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0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Argument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143000"/>
            <a:ext cx="8458200" cy="4572000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logic is often used for logical proofs. </a:t>
            </a:r>
          </a:p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Proofs are valid arguments that determine the truth values of mathematical statements.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sequence of statements. </a:t>
            </a:r>
          </a:p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last statement is the conclusion and all its preceding statements are called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premises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 hypothesis). </a:t>
            </a:r>
          </a:p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symbol “∴”, (read therefore) is placed before the conclusion.</a:t>
            </a:r>
          </a:p>
          <a:p>
            <a:pPr algn="just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argument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one where the conclusion follows from the truth values of the premises.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9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algn="l"/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 Form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6200" y="1577066"/>
                <a:ext cx="8896271" cy="3896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indent="0">
                  <a:buNone/>
                </a:pPr>
                <a:r>
                  <a:rPr kumimoji="0" lang="en-US" sz="2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</a:t>
                </a:r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rains, I drive to school </a:t>
                </a:r>
              </a:p>
              <a:p>
                <a:pPr marL="0" indent="0" algn="just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 </m:t>
                    </m:r>
                  </m:oMath>
                </a14:m>
                <a:r>
                  <a:rPr kumimoji="0" lang="en-US" sz="2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rains</a:t>
                </a:r>
              </a:p>
              <a:p>
                <a:pPr marL="0" indent="0" algn="just">
                  <a:spcBef>
                    <a:spcPct val="0"/>
                  </a:spcBef>
                  <a:buNone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--------------------------------------------</a:t>
                </a:r>
              </a:p>
              <a:p>
                <a:pPr marL="0" indent="0" algn="just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kumimoji="0" lang="en-US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: </m:t>
                    </m:r>
                  </m:oMath>
                </a14:m>
                <a:r>
                  <a:rPr kumimoji="0" lang="en-US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2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drive to School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The </a:t>
                </a:r>
                <a:r>
                  <a:rPr lang="en-US" sz="2400" dirty="0"/>
                  <a:t>above form is valid no matter what propositions are substituted to the variables </a:t>
                </a:r>
              </a:p>
              <a:p>
                <a:pPr marL="0" indent="0" algn="just">
                  <a:spcBef>
                    <a:spcPct val="0"/>
                  </a:spcBef>
                  <a:buNone/>
                </a:pPr>
                <a:endPara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6200" y="1577066"/>
                <a:ext cx="8896271" cy="3896451"/>
              </a:xfrm>
              <a:prstGeom prst="rect">
                <a:avLst/>
              </a:prstGeom>
              <a:blipFill rotWithShape="0">
                <a:blip r:embed="rId2"/>
                <a:stretch>
                  <a:fillRect l="-1439" t="-12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72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pPr algn="l"/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 </a:t>
            </a:r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&amp;Validity 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6200" y="1650932"/>
                <a:ext cx="8896271" cy="37487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Premises </a:t>
                </a:r>
                <a:r>
                  <a:rPr lang="en-US" sz="2800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 smtClean="0"/>
                  <a:t>,….,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 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…..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 smtClean="0"/>
                  <a:t> 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tautology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 simple valid argument forms, called rules of inference, are derived and can be used to construct complicated argument form </a:t>
                </a:r>
              </a:p>
              <a:p>
                <a:pPr marL="0" indent="0" algn="just">
                  <a:spcBef>
                    <a:spcPct val="0"/>
                  </a:spcBef>
                  <a:buNone/>
                </a:pPr>
                <a:endPara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6200" y="1650932"/>
                <a:ext cx="8896271" cy="3748719"/>
              </a:xfrm>
              <a:prstGeom prst="rect">
                <a:avLst/>
              </a:prstGeom>
              <a:blipFill rotWithShape="0">
                <a:blip r:embed="rId2"/>
                <a:stretch>
                  <a:fillRect l="-1439" t="-1463" r="-13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5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579438"/>
            <a:ext cx="8229600" cy="1173162"/>
          </a:xfrm>
        </p:spPr>
        <p:txBody>
          <a:bodyPr/>
          <a:lstStyle/>
          <a:p>
            <a:pPr algn="l"/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Rules of Inference?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362200"/>
            <a:ext cx="825137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spcBef>
                <a:spcPct val="0"/>
              </a:spcBef>
              <a:buNone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the templates or guidelines for constructing valid arguments from the statements that we already have.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61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609600"/>
            <a:ext cx="6248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Logical paradigm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905000"/>
            <a:ext cx="5410200" cy="40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0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of Inference theory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P: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given premise may be introduced at any stage in the derivation</a:t>
                </a:r>
              </a:p>
              <a:p>
                <a:pPr marL="0" indent="0" algn="just">
                  <a:buNone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T: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formula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may be introduced in a derivation if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Tautologically implied by one or more of the formulae in the derivation.</a:t>
                </a:r>
              </a:p>
              <a:p>
                <a:pPr marL="0" indent="0" algn="just">
                  <a:buNone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 CP: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can derive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set of given premises, then we can derive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set  of premises alone. (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taken as additional premise)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0">
                <a:blip r:embed="rId3"/>
                <a:stretch>
                  <a:fillRect l="-1852" t="-1806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07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257</Words>
  <Application>Microsoft Office PowerPoint</Application>
  <PresentationFormat>On-screen Show (4:3)</PresentationFormat>
  <Paragraphs>35</Paragraphs>
  <Slides>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Times New Roman</vt:lpstr>
      <vt:lpstr>Verdana</vt:lpstr>
      <vt:lpstr>1_Default Design</vt:lpstr>
      <vt:lpstr>CorelDRAW</vt:lpstr>
      <vt:lpstr>Module 3.1</vt:lpstr>
      <vt:lpstr>Inference</vt:lpstr>
      <vt:lpstr>Valid Argument</vt:lpstr>
      <vt:lpstr>Valid Argument Form </vt:lpstr>
      <vt:lpstr>Valid Argument Form &amp;Validity </vt:lpstr>
      <vt:lpstr>Why Rules of Inference?</vt:lpstr>
      <vt:lpstr>PowerPoint Presentation</vt:lpstr>
      <vt:lpstr>Rules of Inference theory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AKKL0039</cp:lastModifiedBy>
  <cp:revision>146</cp:revision>
  <dcterms:created xsi:type="dcterms:W3CDTF">2006-09-22T10:59:01Z</dcterms:created>
  <dcterms:modified xsi:type="dcterms:W3CDTF">2020-07-08T02:04:05Z</dcterms:modified>
</cp:coreProperties>
</file>