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0" r:id="rId1"/>
  </p:sldMasterIdLst>
  <p:notesMasterIdLst>
    <p:notesMasterId r:id="rId15"/>
  </p:notesMasterIdLst>
  <p:sldIdLst>
    <p:sldId id="303" r:id="rId2"/>
    <p:sldId id="282" r:id="rId3"/>
    <p:sldId id="279" r:id="rId4"/>
    <p:sldId id="280" r:id="rId5"/>
    <p:sldId id="284" r:id="rId6"/>
    <p:sldId id="299" r:id="rId7"/>
    <p:sldId id="285" r:id="rId8"/>
    <p:sldId id="286" r:id="rId9"/>
    <p:sldId id="287" r:id="rId10"/>
    <p:sldId id="288" r:id="rId11"/>
    <p:sldId id="296" r:id="rId12"/>
    <p:sldId id="304" r:id="rId13"/>
    <p:sldId id="305" r:id="rId14"/>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57B5"/>
    <a:srgbClr val="000000"/>
    <a:srgbClr val="3352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71" autoAdjust="0"/>
    <p:restoredTop sz="84380" autoAdjust="0"/>
  </p:normalViewPr>
  <p:slideViewPr>
    <p:cSldViewPr>
      <p:cViewPr>
        <p:scale>
          <a:sx n="68" d="100"/>
          <a:sy n="68" d="100"/>
        </p:scale>
        <p:origin x="-121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10" Type="http://schemas.openxmlformats.org/officeDocument/2006/relationships/image" Target="../media/image23.wmf"/><Relationship Id="rId4" Type="http://schemas.openxmlformats.org/officeDocument/2006/relationships/image" Target="../media/image17.wmf"/><Relationship Id="rId9"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4"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F44D709-BD32-4E7C-8370-59A8D36383F6}" type="slidenum">
              <a:rPr lang="en-US" altLang="en-US"/>
              <a:pPr/>
              <a:t>‹#›</a:t>
            </a:fld>
            <a:endParaRPr lang="en-US" altLang="en-US"/>
          </a:p>
        </p:txBody>
      </p:sp>
    </p:spTree>
    <p:extLst>
      <p:ext uri="{BB962C8B-B14F-4D97-AF65-F5344CB8AC3E}">
        <p14:creationId xmlns:p14="http://schemas.microsoft.com/office/powerpoint/2010/main" val="112341979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47BD91-93B5-474F-BC68-13F410B752D0}" type="slidenum">
              <a:rPr lang="en-US" altLang="en-US"/>
              <a:pPr/>
              <a:t>1</a:t>
            </a:fld>
            <a:endParaRPr lang="en-US" altLang="en-US" dirty="0"/>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6385355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1266" name="Picture 2" descr="band"/>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589588"/>
            <a:ext cx="8991600" cy="1268412"/>
          </a:xfrm>
          <a:prstGeom prst="rect">
            <a:avLst/>
          </a:prstGeom>
          <a:noFill/>
          <a:extLst>
            <a:ext uri="{909E8E84-426E-40DD-AFC4-6F175D3DCCD1}">
              <a14:hiddenFill xmlns:a14="http://schemas.microsoft.com/office/drawing/2010/main">
                <a:solidFill>
                  <a:srgbClr val="FFFFFF"/>
                </a:solidFill>
              </a14:hiddenFill>
            </a:ext>
          </a:extLst>
        </p:spPr>
      </p:pic>
      <p:sp>
        <p:nvSpPr>
          <p:cNvPr id="11267" name="Rectangle 3"/>
          <p:cNvSpPr>
            <a:spLocks noGrp="1" noChangeArrowheads="1"/>
          </p:cNvSpPr>
          <p:nvPr>
            <p:ph type="ctrTitle"/>
          </p:nvPr>
        </p:nvSpPr>
        <p:spPr>
          <a:xfrm>
            <a:off x="685800" y="2286000"/>
            <a:ext cx="7772400" cy="1143000"/>
          </a:xfrm>
        </p:spPr>
        <p:txBody>
          <a:bodyPr/>
          <a:lstStyle>
            <a:lvl1pPr>
              <a:defRPr>
                <a:solidFill>
                  <a:srgbClr val="1B57B5"/>
                </a:solidFill>
              </a:defRPr>
            </a:lvl1pPr>
          </a:lstStyle>
          <a:p>
            <a:pPr lvl="0"/>
            <a:r>
              <a:rPr lang="en-US" altLang="en-US" noProof="0" smtClean="0"/>
              <a:t>Click to edit Master title style</a:t>
            </a:r>
          </a:p>
        </p:txBody>
      </p:sp>
      <p:sp>
        <p:nvSpPr>
          <p:cNvPr id="11268" name="Rectangle 4"/>
          <p:cNvSpPr>
            <a:spLocks noGrp="1" noChangeArrowheads="1"/>
          </p:cNvSpPr>
          <p:nvPr>
            <p:ph type="subTitle" idx="1"/>
          </p:nvPr>
        </p:nvSpPr>
        <p:spPr>
          <a:xfrm>
            <a:off x="1371600" y="3810000"/>
            <a:ext cx="6400800" cy="1752600"/>
          </a:xfrm>
        </p:spPr>
        <p:txBody>
          <a:bodyPr/>
          <a:lstStyle>
            <a:lvl1pPr marL="0" indent="0" algn="ctr">
              <a:buFontTx/>
              <a:buNone/>
              <a:defRPr>
                <a:solidFill>
                  <a:schemeClr val="bg2"/>
                </a:solidFill>
              </a:defRPr>
            </a:lvl1pPr>
          </a:lstStyle>
          <a:p>
            <a:pPr lvl="0"/>
            <a:r>
              <a:rPr lang="en-US" altLang="en-US" noProof="0" smtClean="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78638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Tree>
    <p:extLst>
      <p:ext uri="{BB962C8B-B14F-4D97-AF65-F5344CB8AC3E}">
        <p14:creationId xmlns:p14="http://schemas.microsoft.com/office/powerpoint/2010/main" val="3212596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38417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73520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40141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017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811925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529569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11796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33299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43"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graphicFrame>
        <p:nvGraphicFramePr>
          <p:cNvPr id="10244" name="Object 4"/>
          <p:cNvGraphicFramePr>
            <a:graphicFrameLocks noChangeAspect="1"/>
          </p:cNvGraphicFramePr>
          <p:nvPr userDrawn="1"/>
        </p:nvGraphicFramePr>
        <p:xfrm>
          <a:off x="0" y="6267450"/>
          <a:ext cx="9144000" cy="628650"/>
        </p:xfrm>
        <a:graphic>
          <a:graphicData uri="http://schemas.openxmlformats.org/presentationml/2006/ole">
            <mc:AlternateContent xmlns:mc="http://schemas.openxmlformats.org/markup-compatibility/2006">
              <mc:Choice xmlns:v="urn:schemas-microsoft-com:vml" Requires="v">
                <p:oleObj spid="_x0000_s10302" name="CorelDRAW" r:id="rId14" imgW="9570600" imgH="657720" progId="">
                  <p:embed/>
                </p:oleObj>
              </mc:Choice>
              <mc:Fallback>
                <p:oleObj name="CorelDRAW" r:id="rId14" imgW="9570600" imgH="657720" progId="">
                  <p:embed/>
                  <p:pic>
                    <p:nvPicPr>
                      <p:cNvPr id="0" name="Picture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267450"/>
                        <a:ext cx="9144000" cy="62865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5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fontAlgn="base">
        <a:spcBef>
          <a:spcPct val="0"/>
        </a:spcBef>
        <a:spcAft>
          <a:spcPct val="0"/>
        </a:spcAft>
        <a:defRPr sz="4000" kern="1200">
          <a:solidFill>
            <a:schemeClr val="tx2"/>
          </a:solidFill>
          <a:latin typeface="+mj-lt"/>
          <a:ea typeface="+mj-ea"/>
          <a:cs typeface="+mj-cs"/>
        </a:defRPr>
      </a:lvl1pPr>
      <a:lvl2pPr algn="ctr" rtl="0" fontAlgn="base">
        <a:spcBef>
          <a:spcPct val="0"/>
        </a:spcBef>
        <a:spcAft>
          <a:spcPct val="0"/>
        </a:spcAft>
        <a:defRPr sz="4000">
          <a:solidFill>
            <a:schemeClr val="tx2"/>
          </a:solidFill>
          <a:latin typeface="Verdana" panose="020B0604030504040204" pitchFamily="34" charset="0"/>
        </a:defRPr>
      </a:lvl2pPr>
      <a:lvl3pPr algn="ctr" rtl="0" fontAlgn="base">
        <a:spcBef>
          <a:spcPct val="0"/>
        </a:spcBef>
        <a:spcAft>
          <a:spcPct val="0"/>
        </a:spcAft>
        <a:defRPr sz="4000">
          <a:solidFill>
            <a:schemeClr val="tx2"/>
          </a:solidFill>
          <a:latin typeface="Verdana" panose="020B0604030504040204" pitchFamily="34" charset="0"/>
        </a:defRPr>
      </a:lvl3pPr>
      <a:lvl4pPr algn="ctr" rtl="0" fontAlgn="base">
        <a:spcBef>
          <a:spcPct val="0"/>
        </a:spcBef>
        <a:spcAft>
          <a:spcPct val="0"/>
        </a:spcAft>
        <a:defRPr sz="4000">
          <a:solidFill>
            <a:schemeClr val="tx2"/>
          </a:solidFill>
          <a:latin typeface="Verdana" panose="020B0604030504040204" pitchFamily="34" charset="0"/>
        </a:defRPr>
      </a:lvl4pPr>
      <a:lvl5pPr algn="ctr" rtl="0" fontAlgn="base">
        <a:spcBef>
          <a:spcPct val="0"/>
        </a:spcBef>
        <a:spcAft>
          <a:spcPct val="0"/>
        </a:spcAft>
        <a:defRPr sz="4000">
          <a:solidFill>
            <a:schemeClr val="tx2"/>
          </a:solidFill>
          <a:latin typeface="Verdana" panose="020B0604030504040204" pitchFamily="34" charset="0"/>
        </a:defRPr>
      </a:lvl5pPr>
      <a:lvl6pPr marL="457200" algn="ctr" rtl="0" fontAlgn="base">
        <a:spcBef>
          <a:spcPct val="0"/>
        </a:spcBef>
        <a:spcAft>
          <a:spcPct val="0"/>
        </a:spcAft>
        <a:defRPr sz="4000">
          <a:solidFill>
            <a:schemeClr val="tx2"/>
          </a:solidFill>
          <a:latin typeface="Verdana" panose="020B0604030504040204" pitchFamily="34" charset="0"/>
        </a:defRPr>
      </a:lvl6pPr>
      <a:lvl7pPr marL="914400" algn="ctr" rtl="0" fontAlgn="base">
        <a:spcBef>
          <a:spcPct val="0"/>
        </a:spcBef>
        <a:spcAft>
          <a:spcPct val="0"/>
        </a:spcAft>
        <a:defRPr sz="4000">
          <a:solidFill>
            <a:schemeClr val="tx2"/>
          </a:solidFill>
          <a:latin typeface="Verdana" panose="020B0604030504040204" pitchFamily="34" charset="0"/>
        </a:defRPr>
      </a:lvl7pPr>
      <a:lvl8pPr marL="1371600" algn="ctr" rtl="0" fontAlgn="base">
        <a:spcBef>
          <a:spcPct val="0"/>
        </a:spcBef>
        <a:spcAft>
          <a:spcPct val="0"/>
        </a:spcAft>
        <a:defRPr sz="4000">
          <a:solidFill>
            <a:schemeClr val="tx2"/>
          </a:solidFill>
          <a:latin typeface="Verdana" panose="020B0604030504040204" pitchFamily="34" charset="0"/>
        </a:defRPr>
      </a:lvl8pPr>
      <a:lvl9pPr marL="1828800" algn="ctr" rtl="0" fontAlgn="base">
        <a:spcBef>
          <a:spcPct val="0"/>
        </a:spcBef>
        <a:spcAft>
          <a:spcPct val="0"/>
        </a:spcAft>
        <a:defRPr sz="4000">
          <a:solidFill>
            <a:schemeClr val="tx2"/>
          </a:solidFill>
          <a:latin typeface="Verdana" panose="020B060403050404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5.bin"/><Relationship Id="rId14" Type="http://schemas.openxmlformats.org/officeDocument/2006/relationships/image" Target="../media/image8.wmf"/></Relationships>
</file>

<file path=ppt/slides/_rels/slide4.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10.wmf"/><Relationship Id="rId5" Type="http://schemas.openxmlformats.org/officeDocument/2006/relationships/oleObject" Target="../embeddings/oleObject9.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17.bin"/><Relationship Id="rId18" Type="http://schemas.openxmlformats.org/officeDocument/2006/relationships/image" Target="../media/image21.wmf"/><Relationship Id="rId3" Type="http://schemas.openxmlformats.org/officeDocument/2006/relationships/oleObject" Target="../embeddings/oleObject12.bin"/><Relationship Id="rId21" Type="http://schemas.openxmlformats.org/officeDocument/2006/relationships/oleObject" Target="../embeddings/oleObject21.bin"/><Relationship Id="rId7" Type="http://schemas.openxmlformats.org/officeDocument/2006/relationships/oleObject" Target="../embeddings/oleObject14.bin"/><Relationship Id="rId12" Type="http://schemas.openxmlformats.org/officeDocument/2006/relationships/image" Target="../media/image18.wmf"/><Relationship Id="rId17" Type="http://schemas.openxmlformats.org/officeDocument/2006/relationships/oleObject" Target="../embeddings/oleObject19.bin"/><Relationship Id="rId2" Type="http://schemas.openxmlformats.org/officeDocument/2006/relationships/slideLayout" Target="../slideLayouts/slideLayout2.xml"/><Relationship Id="rId16" Type="http://schemas.openxmlformats.org/officeDocument/2006/relationships/image" Target="../media/image20.wmf"/><Relationship Id="rId20" Type="http://schemas.openxmlformats.org/officeDocument/2006/relationships/image" Target="../media/image22.wmf"/><Relationship Id="rId1" Type="http://schemas.openxmlformats.org/officeDocument/2006/relationships/vmlDrawing" Target="../drawings/vmlDrawing4.vml"/><Relationship Id="rId6" Type="http://schemas.openxmlformats.org/officeDocument/2006/relationships/image" Target="../media/image15.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17.wmf"/><Relationship Id="rId19" Type="http://schemas.openxmlformats.org/officeDocument/2006/relationships/oleObject" Target="../embeddings/oleObject20.bin"/><Relationship Id="rId4" Type="http://schemas.openxmlformats.org/officeDocument/2006/relationships/image" Target="../media/image14.wmf"/><Relationship Id="rId9" Type="http://schemas.openxmlformats.org/officeDocument/2006/relationships/oleObject" Target="../embeddings/oleObject15.bin"/><Relationship Id="rId14" Type="http://schemas.openxmlformats.org/officeDocument/2006/relationships/image" Target="../media/image19.wmf"/><Relationship Id="rId22" Type="http://schemas.openxmlformats.org/officeDocument/2006/relationships/image" Target="../media/image23.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33.png"/><Relationship Id="rId7" Type="http://schemas.openxmlformats.org/officeDocument/2006/relationships/image" Target="../media/image25.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23.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26.wmf"/></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8.png"/><Relationship Id="rId7" Type="http://schemas.openxmlformats.org/officeDocument/2006/relationships/image" Target="../media/image29.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27.bin"/><Relationship Id="rId5" Type="http://schemas.openxmlformats.org/officeDocument/2006/relationships/image" Target="../media/image28.wmf"/><Relationship Id="rId4" Type="http://schemas.openxmlformats.org/officeDocument/2006/relationships/oleObject" Target="../embeddings/oleObject26.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1.wmf"/><Relationship Id="rId5" Type="http://schemas.openxmlformats.org/officeDocument/2006/relationships/oleObject" Target="../embeddings/oleObject29.bin"/><Relationship Id="rId4" Type="http://schemas.openxmlformats.org/officeDocument/2006/relationships/image" Target="../media/image30.wmf"/></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Module 1.3</a:t>
            </a:r>
            <a:endParaRPr lang="en-US" b="1" dirty="0">
              <a:solidFill>
                <a:srgbClr val="FF0000"/>
              </a:solidFill>
            </a:endParaRPr>
          </a:p>
        </p:txBody>
      </p:sp>
      <p:sp>
        <p:nvSpPr>
          <p:cNvPr id="3" name="Subtitle 2"/>
          <p:cNvSpPr>
            <a:spLocks noGrp="1"/>
          </p:cNvSpPr>
          <p:nvPr>
            <p:ph type="subTitle" idx="1"/>
          </p:nvPr>
        </p:nvSpPr>
        <p:spPr>
          <a:xfrm>
            <a:off x="1371600" y="3810000"/>
            <a:ext cx="6400800" cy="1976454"/>
          </a:xfrm>
        </p:spPr>
        <p:txBody>
          <a:bodyPr/>
          <a:lstStyle/>
          <a:p>
            <a:endParaRPr lang="en-US" b="1" dirty="0" smtClean="0">
              <a:solidFill>
                <a:srgbClr val="1B57B5"/>
              </a:solidFill>
              <a:latin typeface="Times New Roman" panose="02020603050405020304" pitchFamily="18" charset="0"/>
              <a:cs typeface="Times New Roman" panose="02020603050405020304" pitchFamily="18" charset="0"/>
            </a:endParaRPr>
          </a:p>
          <a:p>
            <a:r>
              <a:rPr lang="en-US" b="1" dirty="0" smtClean="0">
                <a:solidFill>
                  <a:srgbClr val="1B57B5"/>
                </a:solidFill>
                <a:latin typeface="Times New Roman" panose="02020603050405020304" pitchFamily="18" charset="0"/>
                <a:cs typeface="Times New Roman" panose="02020603050405020304" pitchFamily="18" charset="0"/>
              </a:rPr>
              <a:t>Propositional Equivalence</a:t>
            </a:r>
          </a:p>
          <a:p>
            <a:endParaRPr lang="en-US" b="1" dirty="0" smtClean="0">
              <a:solidFill>
                <a:schemeClr val="tx1"/>
              </a:solidFill>
              <a:latin typeface="Times New Roman" panose="02020603050405020304" pitchFamily="18" charset="0"/>
              <a:cs typeface="Times New Roman" panose="02020603050405020304" pitchFamily="18" charset="0"/>
            </a:endParaRPr>
          </a:p>
          <a:p>
            <a:endParaRPr lang="en-US"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1676400" y="609600"/>
            <a:ext cx="6248400" cy="707886"/>
          </a:xfrm>
          <a:prstGeom prst="rect">
            <a:avLst/>
          </a:prstGeom>
        </p:spPr>
        <p:txBody>
          <a:bodyPr wrap="square">
            <a:spAutoFit/>
          </a:bodyPr>
          <a:lstStyle/>
          <a:p>
            <a:r>
              <a:rPr lang="en-US" sz="4000" b="1" dirty="0" smtClean="0">
                <a:solidFill>
                  <a:srgbClr val="1B57B5"/>
                </a:solidFill>
                <a:latin typeface="Times New Roman" panose="02020603050405020304" pitchFamily="18" charset="0"/>
                <a:cs typeface="Times New Roman" panose="02020603050405020304" pitchFamily="18" charset="0"/>
              </a:rPr>
              <a:t>PRE-CLASS CONTENT</a:t>
            </a:r>
            <a:endParaRPr lang="en-US" sz="4000" b="1" dirty="0">
              <a:solidFill>
                <a:srgbClr val="1B57B5"/>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74638"/>
            <a:ext cx="8115328" cy="1011222"/>
          </a:xfrm>
        </p:spPr>
        <p:txBody>
          <a:bodyPr/>
          <a:lstStyle/>
          <a:p>
            <a:r>
              <a:rPr lang="en-US" sz="3200" b="1" dirty="0" smtClean="0">
                <a:solidFill>
                  <a:srgbClr val="335295"/>
                </a:solidFill>
                <a:latin typeface="Times New Roman" pitchFamily="18" charset="0"/>
                <a:cs typeface="Times New Roman" pitchFamily="18" charset="0"/>
              </a:rPr>
              <a:t>Logical Equivalences</a:t>
            </a:r>
            <a:endParaRPr lang="en-IN" sz="3200" b="1" dirty="0">
              <a:solidFill>
                <a:srgbClr val="335295"/>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0034" y="1142984"/>
                <a:ext cx="8215370" cy="5143536"/>
              </a:xfrm>
            </p:spPr>
            <p:txBody>
              <a:bodyPr/>
              <a:lstStyle/>
              <a:p>
                <a:pPr algn="just">
                  <a:buNone/>
                </a:pPr>
                <a:r>
                  <a:rPr lang="en-US" sz="2400" b="1" dirty="0" smtClean="0">
                    <a:solidFill>
                      <a:srgbClr val="FF0000"/>
                    </a:solidFill>
                    <a:latin typeface="Times New Roman" pitchFamily="18" charset="0"/>
                    <a:cs typeface="Times New Roman" pitchFamily="18" charset="0"/>
                  </a:rPr>
                  <a:t>Equivalence</a:t>
                </a:r>
              </a:p>
              <a:p>
                <a:pPr algn="just">
                  <a:buNone/>
                </a:pPr>
                <a:r>
                  <a:rPr lang="en-US" sz="2400" dirty="0" smtClean="0">
                    <a:solidFill>
                      <a:srgbClr val="000000"/>
                    </a:solidFill>
                    <a:latin typeface="Times New Roman" pitchFamily="18" charset="0"/>
                    <a:cs typeface="Times New Roman" pitchFamily="18" charset="0"/>
                  </a:rPr>
                  <a:t>     Two statement formulas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and </a:t>
                </a:r>
                <a14:m>
                  <m:oMath xmlns:m="http://schemas.openxmlformats.org/officeDocument/2006/math">
                    <m:r>
                      <a:rPr lang="en-US" sz="2400" b="0" i="1" smtClean="0">
                        <a:solidFill>
                          <a:srgbClr val="000000"/>
                        </a:solidFill>
                        <a:latin typeface="Cambria Math"/>
                        <a:cs typeface="Times New Roman" pitchFamily="18" charset="0"/>
                      </a:rPr>
                      <m:t>𝑞</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are equivalent if and only if</a:t>
                </a:r>
              </a:p>
              <a:p>
                <a:pPr algn="just">
                  <a:buNone/>
                </a:pPr>
                <a:r>
                  <a:rPr lang="en-US" sz="2400" dirty="0" smtClean="0">
                    <a:solidFill>
                      <a:srgbClr val="000000"/>
                    </a:solidFill>
                    <a:latin typeface="Times New Roman" pitchFamily="18" charset="0"/>
                    <a:cs typeface="Times New Roman" pitchFamily="18" charset="0"/>
                  </a:rPr>
                  <a:t>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0"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is Tautology, It is denoted by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0"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which is read as</a:t>
                </a:r>
              </a:p>
              <a:p>
                <a:pPr algn="just">
                  <a:buNone/>
                </a:pPr>
                <a:r>
                  <a:rPr lang="en-US" sz="2400" dirty="0" smtClean="0">
                    <a:solidFill>
                      <a:srgbClr val="000000"/>
                    </a:solidFill>
                    <a:latin typeface="Times New Roman" pitchFamily="18" charset="0"/>
                    <a:cs typeface="Times New Roman" pitchFamily="18" charset="0"/>
                  </a:rPr>
                  <a:t>      “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is equivalent to </a:t>
                </a:r>
                <a14:m>
                  <m:oMath xmlns:m="http://schemas.openxmlformats.org/officeDocument/2006/math">
                    <m:r>
                      <a:rPr lang="en-US" sz="2400" b="0" i="1" smtClean="0">
                        <a:solidFill>
                          <a:srgbClr val="000000"/>
                        </a:solidFill>
                        <a:latin typeface="Cambria Math"/>
                        <a:cs typeface="Times New Roman" pitchFamily="18" charset="0"/>
                      </a:rPr>
                      <m:t>𝑞</m:t>
                    </m:r>
                    <m:r>
                      <a:rPr lang="en-US" sz="2400" b="0" i="1" smtClean="0">
                        <a:solidFill>
                          <a:srgbClr val="000000"/>
                        </a:solidFill>
                        <a:latin typeface="Cambria Math"/>
                        <a:cs typeface="Times New Roman" pitchFamily="18" charset="0"/>
                      </a:rPr>
                      <m:t> "</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 </a:t>
                </a:r>
              </a:p>
              <a:p>
                <a:pPr algn="just">
                  <a:buNone/>
                </a:pPr>
                <a:r>
                  <a:rPr lang="en-US" sz="2400" b="1" dirty="0" smtClean="0">
                    <a:solidFill>
                      <a:srgbClr val="FF0000"/>
                    </a:solidFill>
                    <a:latin typeface="Times New Roman" pitchFamily="18" charset="0"/>
                    <a:cs typeface="Times New Roman" pitchFamily="18" charset="0"/>
                  </a:rPr>
                  <a:t>Remark</a:t>
                </a:r>
                <a:endParaRPr lang="en-IN" sz="2400" b="1" dirty="0" smtClean="0">
                  <a:solidFill>
                    <a:srgbClr val="FF0000"/>
                  </a:solidFill>
                  <a:latin typeface="Times New Roman" pitchFamily="18" charset="0"/>
                  <a:cs typeface="Times New Roman" pitchFamily="18" charset="0"/>
                </a:endParaRPr>
              </a:p>
              <a:p>
                <a:pPr algn="just">
                  <a:buNone/>
                </a:pPr>
                <a:r>
                  <a:rPr lang="en-US" sz="2400" dirty="0" smtClean="0">
                    <a:solidFill>
                      <a:srgbClr val="FF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Two prove two statement formulas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and </a:t>
                </a:r>
                <a14:m>
                  <m:oMath xmlns:m="http://schemas.openxmlformats.org/officeDocument/2006/math">
                    <m:r>
                      <a:rPr lang="en-US" sz="2400" b="0" i="1" smtClean="0">
                        <a:solidFill>
                          <a:srgbClr val="000000"/>
                        </a:solidFill>
                        <a:latin typeface="Cambria Math"/>
                        <a:cs typeface="Times New Roman" pitchFamily="18" charset="0"/>
                      </a:rPr>
                      <m:t>𝑞</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are equivalent</a:t>
                </a:r>
                <a:r>
                  <a:rPr lang="en-US" sz="2400" dirty="0" smtClean="0">
                    <a:solidFill>
                      <a:srgbClr val="FF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we use any one of the following method.</a:t>
                </a:r>
              </a:p>
              <a:p>
                <a:pPr algn="just">
                  <a:buFont typeface="Wingdings" pitchFamily="2" charset="2"/>
                  <a:buChar char="Ø"/>
                </a:pPr>
                <a:r>
                  <a:rPr lang="en-US" sz="2400" dirty="0" smtClean="0">
                    <a:solidFill>
                      <a:srgbClr val="000000"/>
                    </a:solidFill>
                    <a:latin typeface="Times New Roman" pitchFamily="18" charset="0"/>
                    <a:cs typeface="Times New Roman" pitchFamily="18" charset="0"/>
                  </a:rPr>
                  <a:t>Using truth table, we show that truth values of both statement formulas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and </a:t>
                </a:r>
                <a14:m>
                  <m:oMath xmlns:m="http://schemas.openxmlformats.org/officeDocument/2006/math">
                    <m:r>
                      <a:rPr lang="en-US" sz="2400" b="0" i="1" smtClean="0">
                        <a:solidFill>
                          <a:srgbClr val="000000"/>
                        </a:solidFill>
                        <a:latin typeface="Cambria Math"/>
                        <a:cs typeface="Times New Roman" pitchFamily="18" charset="0"/>
                      </a:rPr>
                      <m:t>𝑞</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are same for each 2</a:t>
                </a:r>
                <a:r>
                  <a:rPr lang="en-US" sz="2400" baseline="30000" dirty="0" smtClean="0">
                    <a:solidFill>
                      <a:srgbClr val="000000"/>
                    </a:solidFill>
                    <a:latin typeface="Times New Roman" pitchFamily="18" charset="0"/>
                    <a:cs typeface="Times New Roman" pitchFamily="18" charset="0"/>
                  </a:rPr>
                  <a:t>n</a:t>
                </a:r>
                <a:r>
                  <a:rPr lang="en-US" sz="2400" dirty="0" smtClean="0">
                    <a:solidFill>
                      <a:srgbClr val="000000"/>
                    </a:solidFill>
                    <a:latin typeface="Times New Roman" pitchFamily="18" charset="0"/>
                    <a:cs typeface="Times New Roman" pitchFamily="18" charset="0"/>
                  </a:rPr>
                  <a:t> combination.</a:t>
                </a:r>
              </a:p>
              <a:p>
                <a:pPr algn="just">
                  <a:buFont typeface="Wingdings" pitchFamily="2" charset="2"/>
                  <a:buChar char="Ø"/>
                </a:pPr>
                <a:r>
                  <a:rPr lang="en-US" sz="2400" dirty="0" smtClean="0">
                    <a:solidFill>
                      <a:srgbClr val="000000"/>
                    </a:solidFill>
                    <a:latin typeface="Times New Roman" pitchFamily="18" charset="0"/>
                    <a:cs typeface="Times New Roman" pitchFamily="18" charset="0"/>
                  </a:rPr>
                  <a:t>Assume </a:t>
                </a:r>
                <a14:m>
                  <m:oMath xmlns:m="http://schemas.openxmlformats.org/officeDocument/2006/math">
                    <m:r>
                      <a:rPr lang="en-US" sz="2400" b="0" i="1" smtClean="0">
                        <a:solidFill>
                          <a:srgbClr val="000000"/>
                        </a:solidFill>
                        <a:latin typeface="Cambria Math"/>
                        <a:cs typeface="Times New Roman" pitchFamily="18" charset="0"/>
                      </a:rPr>
                      <m:t>𝑝</m:t>
                    </m:r>
                  </m:oMath>
                </a14:m>
                <a:r>
                  <a:rPr lang="en-US" sz="2400" dirty="0" smtClean="0">
                    <a:solidFill>
                      <a:srgbClr val="000000"/>
                    </a:solidFill>
                    <a:latin typeface="Times New Roman" pitchFamily="18" charset="0"/>
                    <a:cs typeface="Times New Roman" pitchFamily="18" charset="0"/>
                  </a:rPr>
                  <a:t>, By applying various equivalence rules try to derive</a:t>
                </a:r>
              </a:p>
              <a:p>
                <a:pPr algn="just">
                  <a:buNone/>
                </a:pPr>
                <a:r>
                  <a:rPr lang="en-US" sz="2400" dirty="0" smtClean="0">
                    <a:solidFill>
                      <a:srgbClr val="000000"/>
                    </a:solidFill>
                    <a:latin typeface="Times New Roman" pitchFamily="18" charset="0"/>
                    <a:cs typeface="Times New Roman" pitchFamily="18" charset="0"/>
                  </a:rPr>
                  <a:t>     </a:t>
                </a:r>
                <a14:m>
                  <m:oMath xmlns:m="http://schemas.openxmlformats.org/officeDocument/2006/math">
                    <m:r>
                      <a:rPr lang="en-US" sz="2400" b="0" i="1" smtClean="0">
                        <a:solidFill>
                          <a:srgbClr val="000000"/>
                        </a:solidFill>
                        <a:latin typeface="Cambria Math"/>
                        <a:cs typeface="Times New Roman" pitchFamily="18" charset="0"/>
                      </a:rPr>
                      <m:t>𝑞</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and vice versa.</a:t>
                </a:r>
              </a:p>
              <a:p>
                <a:pPr algn="just">
                  <a:buFont typeface="Wingdings" pitchFamily="2" charset="2"/>
                  <a:buChar char="Ø"/>
                </a:pPr>
                <a:r>
                  <a:rPr lang="en-US" sz="2400" dirty="0" smtClean="0">
                    <a:solidFill>
                      <a:srgbClr val="000000"/>
                    </a:solidFill>
                    <a:latin typeface="Times New Roman" pitchFamily="18" charset="0"/>
                    <a:cs typeface="Times New Roman" pitchFamily="18" charset="0"/>
                  </a:rPr>
                  <a:t>Prove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0"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is Tautology.</a:t>
                </a:r>
              </a:p>
              <a:p>
                <a:pPr>
                  <a:buNone/>
                </a:pPr>
                <a:endParaRPr lang="en-US" sz="2400" dirty="0" smtClean="0">
                  <a:solidFill>
                    <a:srgbClr val="000000"/>
                  </a:solidFill>
                  <a:latin typeface="Times New Roman" pitchFamily="18" charset="0"/>
                  <a:cs typeface="Times New Roman" pitchFamily="18" charset="0"/>
                </a:endParaRPr>
              </a:p>
              <a:p>
                <a:pPr>
                  <a:buFont typeface="Wingdings" pitchFamily="2" charset="2"/>
                  <a:buChar char="Ø"/>
                </a:pPr>
                <a:endParaRPr lang="en-US" sz="2400" dirty="0" smtClean="0">
                  <a:solidFill>
                    <a:srgbClr val="000000"/>
                  </a:solidFill>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0034" y="1142984"/>
                <a:ext cx="8215370" cy="5143536"/>
              </a:xfrm>
              <a:blipFill rotWithShape="1">
                <a:blip r:embed="rId2"/>
                <a:stretch>
                  <a:fillRect l="-1113" t="-948" r="-7641" b="-19668"/>
                </a:stretch>
              </a:blipFill>
            </p:spPr>
            <p:txBody>
              <a:bodyPr/>
              <a:lstStyle/>
              <a:p>
                <a:r>
                  <a:rPr lang="en-IN">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24" y="274638"/>
            <a:ext cx="7829576" cy="296842"/>
          </a:xfrm>
        </p:spPr>
        <p:txBody>
          <a:bodyPr/>
          <a:lstStyle/>
          <a:p>
            <a:r>
              <a:rPr lang="en-US" sz="3200" b="1" dirty="0" smtClean="0">
                <a:solidFill>
                  <a:srgbClr val="335295"/>
                </a:solidFill>
                <a:latin typeface="Times New Roman" pitchFamily="18" charset="0"/>
                <a:cs typeface="Times New Roman" pitchFamily="18" charset="0"/>
              </a:rPr>
              <a:t>Rules of Logical Equivalences</a:t>
            </a:r>
            <a:endParaRPr lang="en-IN" sz="3200" b="1" dirty="0">
              <a:solidFill>
                <a:srgbClr val="335295"/>
              </a:solidFill>
              <a:latin typeface="Times New Roman" pitchFamily="18" charset="0"/>
              <a:cs typeface="Times New Roman" pitchFamily="18" charset="0"/>
            </a:endParaRPr>
          </a:p>
        </p:txBody>
      </p:sp>
      <p:sp>
        <p:nvSpPr>
          <p:cNvPr id="3" name="Content Placeholder 2"/>
          <p:cNvSpPr>
            <a:spLocks noGrp="1"/>
          </p:cNvSpPr>
          <p:nvPr>
            <p:ph idx="1"/>
          </p:nvPr>
        </p:nvSpPr>
        <p:spPr>
          <a:xfrm>
            <a:off x="500034" y="1285860"/>
            <a:ext cx="8358246" cy="4840303"/>
          </a:xfrm>
        </p:spPr>
        <p:txBody>
          <a:bodyPr/>
          <a:lstStyle/>
          <a:p>
            <a:pPr marL="457200" indent="-457200">
              <a:buNone/>
            </a:pPr>
            <a:r>
              <a:rPr lang="en-US" sz="2400" dirty="0" smtClean="0">
                <a:solidFill>
                  <a:srgbClr val="FF0000"/>
                </a:solidFill>
                <a:latin typeface="Times New Roman" pitchFamily="18" charset="0"/>
                <a:cs typeface="Times New Roman" pitchFamily="18" charset="0"/>
              </a:rPr>
              <a:t>          </a:t>
            </a:r>
          </a:p>
          <a:p>
            <a:pPr marL="457200" indent="-457200">
              <a:buNone/>
            </a:pPr>
            <a:endParaRPr lang="en-US" sz="2400" dirty="0" smtClean="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928662" y="785797"/>
          <a:ext cx="7072362" cy="5503038"/>
        </p:xfrm>
        <a:graphic>
          <a:graphicData uri="http://schemas.openxmlformats.org/drawingml/2006/table">
            <a:tbl>
              <a:tblPr firstRow="1" bandRow="1">
                <a:tableStyleId>{5C22544A-7EE6-4342-B048-85BDC9FD1C3A}</a:tableStyleId>
              </a:tblPr>
              <a:tblGrid>
                <a:gridCol w="2541623"/>
                <a:gridCol w="4530739"/>
              </a:tblGrid>
              <a:tr h="565278">
                <a:tc gridSpan="2">
                  <a:txBody>
                    <a:bodyPr/>
                    <a:lstStyle/>
                    <a:p>
                      <a:pPr algn="ctr"/>
                      <a:r>
                        <a:rPr lang="en-US" sz="2400" dirty="0" smtClean="0">
                          <a:solidFill>
                            <a:srgbClr val="1B57B5"/>
                          </a:solidFill>
                          <a:latin typeface="Times New Roman" pitchFamily="18" charset="0"/>
                          <a:cs typeface="Times New Roman" pitchFamily="18" charset="0"/>
                        </a:rPr>
                        <a:t>Equivalence</a:t>
                      </a:r>
                      <a:r>
                        <a:rPr lang="en-US" sz="2400" baseline="0" dirty="0" smtClean="0">
                          <a:solidFill>
                            <a:srgbClr val="1B57B5"/>
                          </a:solidFill>
                          <a:latin typeface="Times New Roman" pitchFamily="18" charset="0"/>
                          <a:cs typeface="Times New Roman" pitchFamily="18" charset="0"/>
                        </a:rPr>
                        <a:t> Rules</a:t>
                      </a:r>
                      <a:endParaRPr lang="en-IN" sz="2400" dirty="0">
                        <a:solidFill>
                          <a:srgbClr val="1B57B5"/>
                        </a:solidFill>
                        <a:latin typeface="Times New Roman" pitchFamily="18" charset="0"/>
                        <a:cs typeface="Times New Roman" pitchFamily="18" charset="0"/>
                      </a:endParaRPr>
                    </a:p>
                  </a:txBody>
                  <a:tcPr/>
                </a:tc>
                <a:tc hMerge="1">
                  <a:txBody>
                    <a:bodyPr/>
                    <a:lstStyle/>
                    <a:p>
                      <a:endParaRPr lang="en-IN" dirty="0"/>
                    </a:p>
                  </a:txBody>
                  <a:tcPr/>
                </a:tc>
              </a:tr>
              <a:tr h="810668">
                <a:tc>
                  <a:txBody>
                    <a:bodyPr/>
                    <a:lstStyle/>
                    <a:p>
                      <a:pPr algn="just"/>
                      <a:r>
                        <a:rPr lang="en-US" sz="2400" dirty="0" smtClean="0">
                          <a:latin typeface="Times New Roman" pitchFamily="18" charset="0"/>
                          <a:cs typeface="Times New Roman" pitchFamily="18" charset="0"/>
                        </a:rPr>
                        <a:t>Idempotent</a:t>
                      </a:r>
                      <a:r>
                        <a:rPr lang="en-US" sz="2400" baseline="0" dirty="0" smtClean="0">
                          <a:latin typeface="Times New Roman" pitchFamily="18" charset="0"/>
                          <a:cs typeface="Times New Roman" pitchFamily="18" charset="0"/>
                        </a:rPr>
                        <a:t> laws</a:t>
                      </a:r>
                    </a:p>
                    <a:p>
                      <a:pPr algn="just"/>
                      <a:endParaRPr lang="en-IN" sz="2400" dirty="0">
                        <a:latin typeface="Times New Roman" pitchFamily="18" charset="0"/>
                        <a:cs typeface="Times New Roman" pitchFamily="18" charset="0"/>
                      </a:endParaRPr>
                    </a:p>
                  </a:txBody>
                  <a:tcPr/>
                </a:tc>
                <a:tc>
                  <a:txBody>
                    <a:bodyPr/>
                    <a:lstStyle/>
                    <a:p>
                      <a:pPr algn="just"/>
                      <a:endParaRPr lang="en-IN" sz="2400" dirty="0">
                        <a:latin typeface="Times New Roman" pitchFamily="18" charset="0"/>
                        <a:cs typeface="Times New Roman" pitchFamily="18" charset="0"/>
                      </a:endParaRPr>
                    </a:p>
                  </a:txBody>
                  <a:tcPr/>
                </a:tc>
              </a:tr>
              <a:tr h="810668">
                <a:tc>
                  <a:txBody>
                    <a:bodyPr/>
                    <a:lstStyle/>
                    <a:p>
                      <a:pPr algn="just"/>
                      <a:r>
                        <a:rPr lang="en-US" sz="2400" dirty="0" smtClean="0">
                          <a:latin typeface="Times New Roman" pitchFamily="18" charset="0"/>
                          <a:cs typeface="Times New Roman" pitchFamily="18" charset="0"/>
                        </a:rPr>
                        <a:t>Associative</a:t>
                      </a:r>
                      <a:r>
                        <a:rPr lang="en-US" sz="2400" baseline="0" dirty="0" smtClean="0">
                          <a:latin typeface="Times New Roman" pitchFamily="18" charset="0"/>
                          <a:cs typeface="Times New Roman" pitchFamily="18" charset="0"/>
                        </a:rPr>
                        <a:t> laws</a:t>
                      </a:r>
                    </a:p>
                    <a:p>
                      <a:pPr algn="just"/>
                      <a:endParaRPr lang="en-IN" sz="2400" dirty="0">
                        <a:latin typeface="Times New Roman" pitchFamily="18" charset="0"/>
                        <a:cs typeface="Times New Roman" pitchFamily="18" charset="0"/>
                      </a:endParaRPr>
                    </a:p>
                  </a:txBody>
                  <a:tcPr/>
                </a:tc>
                <a:tc>
                  <a:txBody>
                    <a:bodyPr/>
                    <a:lstStyle/>
                    <a:p>
                      <a:pPr algn="just"/>
                      <a:endParaRPr lang="en-IN" sz="2400" dirty="0">
                        <a:latin typeface="Times New Roman" pitchFamily="18" charset="0"/>
                        <a:cs typeface="Times New Roman" pitchFamily="18" charset="0"/>
                      </a:endParaRPr>
                    </a:p>
                  </a:txBody>
                  <a:tcPr/>
                </a:tc>
              </a:tr>
              <a:tr h="810668">
                <a:tc>
                  <a:txBody>
                    <a:bodyPr/>
                    <a:lstStyle/>
                    <a:p>
                      <a:pPr algn="just"/>
                      <a:r>
                        <a:rPr lang="en-US" sz="2400" dirty="0" smtClean="0">
                          <a:latin typeface="Times New Roman" pitchFamily="18" charset="0"/>
                          <a:cs typeface="Times New Roman" pitchFamily="18" charset="0"/>
                        </a:rPr>
                        <a:t>Commutative</a:t>
                      </a:r>
                      <a:r>
                        <a:rPr lang="en-US" sz="2400" baseline="0" dirty="0" smtClean="0">
                          <a:latin typeface="Times New Roman" pitchFamily="18" charset="0"/>
                          <a:cs typeface="Times New Roman" pitchFamily="18" charset="0"/>
                        </a:rPr>
                        <a:t> laws</a:t>
                      </a:r>
                    </a:p>
                    <a:p>
                      <a:pPr algn="just"/>
                      <a:endParaRPr lang="en-IN" sz="2400" dirty="0">
                        <a:latin typeface="Times New Roman" pitchFamily="18" charset="0"/>
                        <a:cs typeface="Times New Roman" pitchFamily="18" charset="0"/>
                      </a:endParaRPr>
                    </a:p>
                  </a:txBody>
                  <a:tcPr/>
                </a:tc>
                <a:tc>
                  <a:txBody>
                    <a:bodyPr/>
                    <a:lstStyle/>
                    <a:p>
                      <a:pPr algn="just"/>
                      <a:endParaRPr lang="en-IN" sz="2400" dirty="0">
                        <a:latin typeface="Times New Roman" pitchFamily="18" charset="0"/>
                        <a:cs typeface="Times New Roman" pitchFamily="18" charset="0"/>
                      </a:endParaRPr>
                    </a:p>
                  </a:txBody>
                  <a:tcPr/>
                </a:tc>
              </a:tr>
              <a:tr h="810668">
                <a:tc>
                  <a:txBody>
                    <a:bodyPr/>
                    <a:lstStyle/>
                    <a:p>
                      <a:pPr algn="just"/>
                      <a:r>
                        <a:rPr lang="en-US" sz="2400" dirty="0" smtClean="0">
                          <a:latin typeface="Times New Roman" pitchFamily="18" charset="0"/>
                          <a:cs typeface="Times New Roman" pitchFamily="18" charset="0"/>
                        </a:rPr>
                        <a:t>De</a:t>
                      </a:r>
                      <a:r>
                        <a:rPr lang="en-US" sz="2400" baseline="0" dirty="0" smtClean="0">
                          <a:latin typeface="Times New Roman" pitchFamily="18" charset="0"/>
                          <a:cs typeface="Times New Roman" pitchFamily="18" charset="0"/>
                        </a:rPr>
                        <a:t>morgan’s laws</a:t>
                      </a:r>
                    </a:p>
                    <a:p>
                      <a:pPr algn="just"/>
                      <a:endParaRPr lang="en-IN" sz="2400" dirty="0">
                        <a:latin typeface="Times New Roman" pitchFamily="18" charset="0"/>
                        <a:cs typeface="Times New Roman" pitchFamily="18" charset="0"/>
                      </a:endParaRPr>
                    </a:p>
                  </a:txBody>
                  <a:tcPr/>
                </a:tc>
                <a:tc>
                  <a:txBody>
                    <a:bodyPr/>
                    <a:lstStyle/>
                    <a:p>
                      <a:pPr algn="just"/>
                      <a:endParaRPr lang="en-IN" sz="2400" dirty="0">
                        <a:latin typeface="Times New Roman" pitchFamily="18" charset="0"/>
                        <a:cs typeface="Times New Roman" pitchFamily="18" charset="0"/>
                      </a:endParaRPr>
                    </a:p>
                  </a:txBody>
                  <a:tcPr/>
                </a:tc>
              </a:tr>
              <a:tr h="810668">
                <a:tc>
                  <a:txBody>
                    <a:bodyPr/>
                    <a:lstStyle/>
                    <a:p>
                      <a:pPr algn="just"/>
                      <a:r>
                        <a:rPr lang="en-US" sz="2400" dirty="0" smtClean="0">
                          <a:latin typeface="Times New Roman" pitchFamily="18" charset="0"/>
                          <a:cs typeface="Times New Roman" pitchFamily="18" charset="0"/>
                        </a:rPr>
                        <a:t>Distributive laws</a:t>
                      </a:r>
                    </a:p>
                    <a:p>
                      <a:pPr algn="just"/>
                      <a:endParaRPr lang="en-IN" sz="2400" dirty="0">
                        <a:latin typeface="Times New Roman" pitchFamily="18" charset="0"/>
                        <a:cs typeface="Times New Roman" pitchFamily="18" charset="0"/>
                      </a:endParaRPr>
                    </a:p>
                  </a:txBody>
                  <a:tcPr/>
                </a:tc>
                <a:tc>
                  <a:txBody>
                    <a:bodyPr/>
                    <a:lstStyle/>
                    <a:p>
                      <a:pPr algn="just"/>
                      <a:endParaRPr lang="en-IN" sz="2400" dirty="0">
                        <a:latin typeface="Times New Roman" pitchFamily="18" charset="0"/>
                        <a:cs typeface="Times New Roman" pitchFamily="18" charset="0"/>
                      </a:endParaRPr>
                    </a:p>
                  </a:txBody>
                  <a:tcPr/>
                </a:tc>
              </a:tr>
              <a:tr h="810668">
                <a:tc>
                  <a:txBody>
                    <a:bodyPr/>
                    <a:lstStyle/>
                    <a:p>
                      <a:pPr algn="just"/>
                      <a:r>
                        <a:rPr lang="en-US" sz="2400" dirty="0" smtClean="0">
                          <a:latin typeface="Times New Roman" pitchFamily="18" charset="0"/>
                          <a:cs typeface="Times New Roman" pitchFamily="18" charset="0"/>
                        </a:rPr>
                        <a:t>Complement laws</a:t>
                      </a:r>
                    </a:p>
                    <a:p>
                      <a:pPr algn="just"/>
                      <a:endParaRPr lang="en-IN" sz="2400" dirty="0">
                        <a:latin typeface="Times New Roman" pitchFamily="18" charset="0"/>
                        <a:cs typeface="Times New Roman" pitchFamily="18" charset="0"/>
                      </a:endParaRPr>
                    </a:p>
                  </a:txBody>
                  <a:tcPr/>
                </a:tc>
                <a:tc>
                  <a:txBody>
                    <a:bodyPr/>
                    <a:lstStyle/>
                    <a:p>
                      <a:pPr algn="just"/>
                      <a:endParaRPr lang="en-IN" sz="2400" dirty="0">
                        <a:latin typeface="Times New Roman" pitchFamily="18" charset="0"/>
                        <a:cs typeface="Times New Roman" pitchFamily="18" charset="0"/>
                      </a:endParaRPr>
                    </a:p>
                  </a:txBody>
                  <a:tcPr/>
                </a:tc>
              </a:tr>
            </a:tbl>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534512304"/>
              </p:ext>
            </p:extLst>
          </p:nvPr>
        </p:nvGraphicFramePr>
        <p:xfrm>
          <a:off x="4355975" y="1432416"/>
          <a:ext cx="1512169" cy="628433"/>
        </p:xfrm>
        <a:graphic>
          <a:graphicData uri="http://schemas.openxmlformats.org/presentationml/2006/ole">
            <mc:AlternateContent xmlns:mc="http://schemas.openxmlformats.org/markup-compatibility/2006">
              <mc:Choice xmlns:v="urn:schemas-microsoft-com:vml" Requires="v">
                <p:oleObj spid="_x0000_s56642" name="Equation" r:id="rId3" imgW="723600" imgH="406080" progId="Equation.3">
                  <p:embed/>
                </p:oleObj>
              </mc:Choice>
              <mc:Fallback>
                <p:oleObj name="Equation" r:id="rId3" imgW="723600" imgH="40608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5975" y="1432416"/>
                        <a:ext cx="1512169" cy="628433"/>
                      </a:xfrm>
                      <a:prstGeom prst="rect">
                        <a:avLst/>
                      </a:prstGeom>
                      <a:noFill/>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2783528909"/>
              </p:ext>
            </p:extLst>
          </p:nvPr>
        </p:nvGraphicFramePr>
        <p:xfrm>
          <a:off x="3923928" y="2196888"/>
          <a:ext cx="2460911" cy="777318"/>
        </p:xfrm>
        <a:graphic>
          <a:graphicData uri="http://schemas.openxmlformats.org/presentationml/2006/ole">
            <mc:AlternateContent xmlns:mc="http://schemas.openxmlformats.org/markup-compatibility/2006">
              <mc:Choice xmlns:v="urn:schemas-microsoft-com:vml" Requires="v">
                <p:oleObj spid="_x0000_s56643" name="Equation" r:id="rId5" imgW="1562040" imgH="431640" progId="Equation.3">
                  <p:embed/>
                </p:oleObj>
              </mc:Choice>
              <mc:Fallback>
                <p:oleObj name="Equation" r:id="rId5" imgW="1562040" imgH="43164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3928" y="2196888"/>
                        <a:ext cx="2460911" cy="777318"/>
                      </a:xfrm>
                      <a:prstGeom prst="rect">
                        <a:avLst/>
                      </a:prstGeom>
                      <a:noFill/>
                      <a:extLst/>
                    </p:spPr>
                  </p:pic>
                </p:oleObj>
              </mc:Fallback>
            </mc:AlternateContent>
          </a:graphicData>
        </a:graphic>
      </p:graphicFrame>
      <p:graphicFrame>
        <p:nvGraphicFramePr>
          <p:cNvPr id="9" name="Object 8"/>
          <p:cNvGraphicFramePr>
            <a:graphicFrameLocks noChangeAspect="1"/>
          </p:cNvGraphicFramePr>
          <p:nvPr/>
        </p:nvGraphicFramePr>
        <p:xfrm>
          <a:off x="4260850" y="3089275"/>
          <a:ext cx="1336675" cy="585788"/>
        </p:xfrm>
        <a:graphic>
          <a:graphicData uri="http://schemas.openxmlformats.org/presentationml/2006/ole">
            <mc:AlternateContent xmlns:mc="http://schemas.openxmlformats.org/markup-compatibility/2006">
              <mc:Choice xmlns:v="urn:schemas-microsoft-com:vml" Requires="v">
                <p:oleObj spid="_x0000_s56644" name="Equation" r:id="rId7" imgW="927000" imgH="406080" progId="Equation.3">
                  <p:embed/>
                </p:oleObj>
              </mc:Choice>
              <mc:Fallback>
                <p:oleObj name="Equation" r:id="rId7" imgW="927000" imgH="40608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0850" y="3089275"/>
                        <a:ext cx="1336675"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3921125" y="3857625"/>
          <a:ext cx="2443163" cy="642938"/>
        </p:xfrm>
        <a:graphic>
          <a:graphicData uri="http://schemas.openxmlformats.org/presentationml/2006/ole">
            <mc:AlternateContent xmlns:mc="http://schemas.openxmlformats.org/markup-compatibility/2006">
              <mc:Choice xmlns:v="urn:schemas-microsoft-com:vml" Requires="v">
                <p:oleObj spid="_x0000_s56645" name="Equation" r:id="rId9" imgW="1434960" imgH="431640" progId="Equation.3">
                  <p:embed/>
                </p:oleObj>
              </mc:Choice>
              <mc:Fallback>
                <p:oleObj name="Equation" r:id="rId9" imgW="1434960" imgH="431640" progId="Equation.3">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1125" y="3857625"/>
                        <a:ext cx="2443163" cy="642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3956050" y="4714875"/>
          <a:ext cx="2946400" cy="604838"/>
        </p:xfrm>
        <a:graphic>
          <a:graphicData uri="http://schemas.openxmlformats.org/presentationml/2006/ole">
            <mc:AlternateContent xmlns:mc="http://schemas.openxmlformats.org/markup-compatibility/2006">
              <mc:Choice xmlns:v="urn:schemas-microsoft-com:vml" Requires="v">
                <p:oleObj spid="_x0000_s56646" name="Equation" r:id="rId11" imgW="1904760" imgH="431640" progId="Equation.3">
                  <p:embed/>
                </p:oleObj>
              </mc:Choice>
              <mc:Fallback>
                <p:oleObj name="Equation" r:id="rId11" imgW="1904760" imgH="431640" progId="Equation.3">
                  <p:embed/>
                  <p:pic>
                    <p:nvPicPr>
                      <p:cNvPr id="0" name="Picture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56050" y="4714875"/>
                        <a:ext cx="294640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p:cNvGraphicFramePr>
            <a:graphicFrameLocks noChangeAspect="1"/>
          </p:cNvGraphicFramePr>
          <p:nvPr/>
        </p:nvGraphicFramePr>
        <p:xfrm>
          <a:off x="4724400" y="5483225"/>
          <a:ext cx="1195388" cy="625475"/>
        </p:xfrm>
        <a:graphic>
          <a:graphicData uri="http://schemas.openxmlformats.org/presentationml/2006/ole">
            <mc:AlternateContent xmlns:mc="http://schemas.openxmlformats.org/markup-compatibility/2006">
              <mc:Choice xmlns:v="urn:schemas-microsoft-com:vml" Requires="v">
                <p:oleObj spid="_x0000_s56647" name="Equation" r:id="rId13" imgW="825480" imgH="431640" progId="Equation.3">
                  <p:embed/>
                </p:oleObj>
              </mc:Choice>
              <mc:Fallback>
                <p:oleObj name="Equation" r:id="rId13" imgW="825480" imgH="431640" progId="Equation.3">
                  <p:embed/>
                  <p:pic>
                    <p:nvPicPr>
                      <p:cNvPr id="0" name="Picture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24400" y="5483225"/>
                        <a:ext cx="1195388"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Rules of Logical Equivalences</a:t>
            </a:r>
            <a:endParaRPr lang="en-IN" sz="3200" b="1" dirty="0">
              <a:solidFill>
                <a:srgbClr val="335295"/>
              </a:solidFill>
            </a:endParaRPr>
          </a:p>
        </p:txBody>
      </p:sp>
      <p:sp>
        <p:nvSpPr>
          <p:cNvPr id="3" name="Content Placeholder 2"/>
          <p:cNvSpPr>
            <a:spLocks noGrp="1"/>
          </p:cNvSpPr>
          <p:nvPr>
            <p:ph idx="4294967295"/>
          </p:nvPr>
        </p:nvSpPr>
        <p:spPr>
          <a:xfrm>
            <a:off x="785813" y="1285875"/>
            <a:ext cx="8358187" cy="4840288"/>
          </a:xfrm>
        </p:spPr>
        <p:txBody>
          <a:bodyPr/>
          <a:lstStyle/>
          <a:p>
            <a:pPr marL="457200" indent="-457200">
              <a:buNone/>
            </a:pPr>
            <a:r>
              <a:rPr lang="en-US" sz="2400" dirty="0" smtClean="0">
                <a:solidFill>
                  <a:srgbClr val="FF0000"/>
                </a:solidFill>
                <a:latin typeface="Times New Roman" pitchFamily="18" charset="0"/>
                <a:cs typeface="Times New Roman" pitchFamily="18" charset="0"/>
              </a:rPr>
              <a:t>          </a:t>
            </a:r>
          </a:p>
          <a:p>
            <a:pPr marL="457200" indent="-457200">
              <a:buNone/>
            </a:pPr>
            <a:endParaRPr lang="en-US" sz="2400" dirty="0" smtClean="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785786" y="1785925"/>
          <a:ext cx="7643866" cy="4000527"/>
        </p:xfrm>
        <a:graphic>
          <a:graphicData uri="http://schemas.openxmlformats.org/drawingml/2006/table">
            <a:tbl>
              <a:tblPr firstRow="1" bandRow="1">
                <a:tableStyleId>{5C22544A-7EE6-4342-B048-85BDC9FD1C3A}</a:tableStyleId>
              </a:tblPr>
              <a:tblGrid>
                <a:gridCol w="1598971"/>
                <a:gridCol w="1656747"/>
                <a:gridCol w="2165186"/>
                <a:gridCol w="2222962"/>
              </a:tblGrid>
              <a:tr h="540612">
                <a:tc gridSpan="4">
                  <a:txBody>
                    <a:bodyPr/>
                    <a:lstStyle/>
                    <a:p>
                      <a:pPr algn="ctr"/>
                      <a:r>
                        <a:rPr lang="en-US" sz="2400" b="1" dirty="0" smtClean="0">
                          <a:solidFill>
                            <a:srgbClr val="1B57B5"/>
                          </a:solidFill>
                          <a:latin typeface="Times New Roman" pitchFamily="18" charset="0"/>
                          <a:cs typeface="Times New Roman" pitchFamily="18" charset="0"/>
                        </a:rPr>
                        <a:t>Equivalence</a:t>
                      </a:r>
                      <a:r>
                        <a:rPr lang="en-US" sz="2400" b="1" baseline="0" dirty="0" smtClean="0">
                          <a:solidFill>
                            <a:srgbClr val="1B57B5"/>
                          </a:solidFill>
                          <a:latin typeface="Times New Roman" pitchFamily="18" charset="0"/>
                          <a:cs typeface="Times New Roman" pitchFamily="18" charset="0"/>
                        </a:rPr>
                        <a:t> Rules</a:t>
                      </a:r>
                      <a:endParaRPr lang="en-IN" sz="2400" b="1" dirty="0">
                        <a:solidFill>
                          <a:srgbClr val="1B57B5"/>
                        </a:solidFill>
                        <a:latin typeface="Times New Roman" pitchFamily="18" charset="0"/>
                        <a:cs typeface="Times New Roman" pitchFamily="18" charset="0"/>
                      </a:endParaRPr>
                    </a:p>
                  </a:txBody>
                  <a:tcPr/>
                </a:tc>
                <a:tc hMerge="1">
                  <a:txBody>
                    <a:bodyPr/>
                    <a:lstStyle/>
                    <a:p>
                      <a:endParaRPr lang="en-IN"/>
                    </a:p>
                  </a:txBody>
                  <a:tcPr/>
                </a:tc>
                <a:tc hMerge="1">
                  <a:txBody>
                    <a:bodyPr/>
                    <a:lstStyle/>
                    <a:p>
                      <a:endParaRPr lang="en-IN" dirty="0"/>
                    </a:p>
                  </a:txBody>
                  <a:tcPr/>
                </a:tc>
                <a:tc hMerge="1">
                  <a:txBody>
                    <a:bodyPr/>
                    <a:lstStyle/>
                    <a:p>
                      <a:endParaRPr lang="en-IN"/>
                    </a:p>
                  </a:txBody>
                  <a:tcPr/>
                </a:tc>
              </a:tr>
              <a:tr h="973101">
                <a:tc gridSpan="2">
                  <a:txBody>
                    <a:bodyPr/>
                    <a:lstStyle/>
                    <a:p>
                      <a:pPr algn="just"/>
                      <a:r>
                        <a:rPr lang="en-US" sz="2400" dirty="0" smtClean="0">
                          <a:latin typeface="Times New Roman" pitchFamily="18" charset="0"/>
                          <a:cs typeface="Times New Roman" pitchFamily="18" charset="0"/>
                        </a:rPr>
                        <a:t>Identity</a:t>
                      </a:r>
                      <a:r>
                        <a:rPr lang="en-US" sz="2400" baseline="0" dirty="0" smtClean="0">
                          <a:latin typeface="Times New Roman" pitchFamily="18" charset="0"/>
                          <a:cs typeface="Times New Roman" pitchFamily="18" charset="0"/>
                        </a:rPr>
                        <a:t> laws</a:t>
                      </a:r>
                    </a:p>
                    <a:p>
                      <a:pPr algn="just"/>
                      <a:endParaRPr lang="en-IN" sz="2400" dirty="0">
                        <a:latin typeface="Times New Roman" pitchFamily="18" charset="0"/>
                        <a:cs typeface="Times New Roman" pitchFamily="18" charset="0"/>
                      </a:endParaRPr>
                    </a:p>
                  </a:txBody>
                  <a:tcPr/>
                </a:tc>
                <a:tc hMerge="1">
                  <a:txBody>
                    <a:bodyPr/>
                    <a:lstStyle/>
                    <a:p>
                      <a:endParaRPr lang="en-IN"/>
                    </a:p>
                  </a:txBody>
                  <a:tcPr/>
                </a:tc>
                <a:tc gridSpan="2">
                  <a:txBody>
                    <a:bodyPr/>
                    <a:lstStyle/>
                    <a:p>
                      <a:pPr algn="just"/>
                      <a:r>
                        <a:rPr lang="en-US" sz="24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a:txBody>
                  <a:tcPr/>
                </a:tc>
                <a:tc hMerge="1">
                  <a:txBody>
                    <a:bodyPr/>
                    <a:lstStyle/>
                    <a:p>
                      <a:endParaRPr lang="en-IN"/>
                    </a:p>
                  </a:txBody>
                  <a:tcPr/>
                </a:tc>
              </a:tr>
              <a:tr h="973101">
                <a:tc>
                  <a:txBody>
                    <a:bodyPr/>
                    <a:lstStyle/>
                    <a:p>
                      <a:pPr algn="just"/>
                      <a:r>
                        <a:rPr lang="en-US" sz="2400" dirty="0" smtClean="0">
                          <a:latin typeface="Times New Roman" pitchFamily="18" charset="0"/>
                          <a:cs typeface="Times New Roman" pitchFamily="18" charset="0"/>
                        </a:rPr>
                        <a:t>Absorption</a:t>
                      </a:r>
                      <a:r>
                        <a:rPr lang="en-US" sz="2400" baseline="0" dirty="0" smtClean="0">
                          <a:latin typeface="Times New Roman" pitchFamily="18" charset="0"/>
                          <a:cs typeface="Times New Roman" pitchFamily="18" charset="0"/>
                        </a:rPr>
                        <a:t> laws</a:t>
                      </a:r>
                    </a:p>
                  </a:txBody>
                  <a:tcPr/>
                </a:tc>
                <a:tc>
                  <a:txBody>
                    <a:bodyPr/>
                    <a:lstStyle/>
                    <a:p>
                      <a:pPr algn="just"/>
                      <a:endParaRPr lang="en-IN" sz="2400" dirty="0">
                        <a:latin typeface="Times New Roman" pitchFamily="18" charset="0"/>
                        <a:cs typeface="Times New Roman" pitchFamily="18" charset="0"/>
                      </a:endParaRPr>
                    </a:p>
                  </a:txBody>
                  <a:tcPr/>
                </a:tc>
                <a:tc>
                  <a:txBody>
                    <a:bodyPr/>
                    <a:lstStyle/>
                    <a:p>
                      <a:pPr algn="just"/>
                      <a:endParaRPr lang="en-IN" sz="2400" dirty="0">
                        <a:latin typeface="Times New Roman" pitchFamily="18" charset="0"/>
                        <a:cs typeface="Times New Roman" pitchFamily="18" charset="0"/>
                      </a:endParaRPr>
                    </a:p>
                  </a:txBody>
                  <a:tcPr/>
                </a:tc>
                <a:tc>
                  <a:txBody>
                    <a:bodyPr/>
                    <a:lstStyle/>
                    <a:p>
                      <a:pPr algn="just"/>
                      <a:endParaRPr lang="en-IN" sz="2400" dirty="0">
                        <a:latin typeface="Times New Roman" pitchFamily="18" charset="0"/>
                        <a:cs typeface="Times New Roman" pitchFamily="18" charset="0"/>
                      </a:endParaRPr>
                    </a:p>
                  </a:txBody>
                  <a:tcPr/>
                </a:tc>
              </a:tr>
              <a:tr h="973101">
                <a:tc>
                  <a:txBody>
                    <a:bodyPr/>
                    <a:lstStyle/>
                    <a:p>
                      <a:pPr algn="just"/>
                      <a:r>
                        <a:rPr lang="en-US" sz="2400" dirty="0" smtClean="0">
                          <a:latin typeface="Times New Roman" pitchFamily="18" charset="0"/>
                          <a:cs typeface="Times New Roman" pitchFamily="18" charset="0"/>
                        </a:rPr>
                        <a:t>Dominance laws</a:t>
                      </a:r>
                      <a:endParaRPr lang="en-IN" sz="2400" dirty="0">
                        <a:latin typeface="Times New Roman" pitchFamily="18" charset="0"/>
                        <a:cs typeface="Times New Roman" pitchFamily="18" charset="0"/>
                      </a:endParaRPr>
                    </a:p>
                  </a:txBody>
                  <a:tcPr/>
                </a:tc>
                <a:tc>
                  <a:txBody>
                    <a:bodyPr/>
                    <a:lstStyle/>
                    <a:p>
                      <a:pPr algn="just"/>
                      <a:endParaRPr lang="en-IN" sz="2400" dirty="0">
                        <a:latin typeface="Times New Roman" pitchFamily="18" charset="0"/>
                        <a:cs typeface="Times New Roman" pitchFamily="18" charset="0"/>
                      </a:endParaRPr>
                    </a:p>
                  </a:txBody>
                  <a:tcPr/>
                </a:tc>
                <a:tc>
                  <a:txBody>
                    <a:bodyPr/>
                    <a:lstStyle/>
                    <a:p>
                      <a:pPr algn="just"/>
                      <a:r>
                        <a:rPr lang="en-US" sz="24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a:txBody>
                  <a:tcPr/>
                </a:tc>
                <a:tc>
                  <a:txBody>
                    <a:bodyPr/>
                    <a:lstStyle/>
                    <a:p>
                      <a:pPr algn="just"/>
                      <a:endParaRPr lang="en-IN" sz="2400" dirty="0">
                        <a:latin typeface="Times New Roman" pitchFamily="18" charset="0"/>
                        <a:cs typeface="Times New Roman" pitchFamily="18" charset="0"/>
                      </a:endParaRPr>
                    </a:p>
                  </a:txBody>
                  <a:tcPr/>
                </a:tc>
              </a:tr>
              <a:tr h="540612">
                <a:tc gridSpan="2">
                  <a:txBody>
                    <a:bodyPr/>
                    <a:lstStyle/>
                    <a:p>
                      <a:pPr algn="just"/>
                      <a:r>
                        <a:rPr lang="en-US" sz="2400" dirty="0" smtClean="0">
                          <a:latin typeface="Times New Roman" pitchFamily="18" charset="0"/>
                          <a:cs typeface="Times New Roman" pitchFamily="18" charset="0"/>
                        </a:rPr>
                        <a:t>Double</a:t>
                      </a:r>
                      <a:r>
                        <a:rPr lang="en-US" sz="2400" baseline="0" dirty="0" smtClean="0">
                          <a:latin typeface="Times New Roman" pitchFamily="18" charset="0"/>
                          <a:cs typeface="Times New Roman" pitchFamily="18" charset="0"/>
                        </a:rPr>
                        <a:t> negation law</a:t>
                      </a:r>
                      <a:endParaRPr lang="en-IN" sz="2400" dirty="0">
                        <a:latin typeface="Times New Roman" pitchFamily="18" charset="0"/>
                        <a:cs typeface="Times New Roman" pitchFamily="18" charset="0"/>
                      </a:endParaRPr>
                    </a:p>
                  </a:txBody>
                  <a:tcPr/>
                </a:tc>
                <a:tc hMerge="1">
                  <a:txBody>
                    <a:bodyPr/>
                    <a:lstStyle/>
                    <a:p>
                      <a:endParaRPr lang="en-IN"/>
                    </a:p>
                  </a:txBody>
                  <a:tcPr/>
                </a:tc>
                <a:tc gridSpan="2">
                  <a:txBody>
                    <a:bodyPr/>
                    <a:lstStyle/>
                    <a:p>
                      <a:pPr algn="just"/>
                      <a:r>
                        <a:rPr lang="en-US" sz="24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a:txBody>
                  <a:tcPr/>
                </a:tc>
                <a:tc hMerge="1">
                  <a:txBody>
                    <a:bodyPr/>
                    <a:lstStyle/>
                    <a:p>
                      <a:endParaRPr lang="en-IN"/>
                    </a:p>
                  </a:txBody>
                  <a:tcPr/>
                </a:tc>
              </a:tr>
            </a:tbl>
          </a:graphicData>
        </a:graphic>
      </p:graphicFrame>
      <p:graphicFrame>
        <p:nvGraphicFramePr>
          <p:cNvPr id="15" name="Object 14"/>
          <p:cNvGraphicFramePr>
            <a:graphicFrameLocks noChangeAspect="1"/>
          </p:cNvGraphicFramePr>
          <p:nvPr/>
        </p:nvGraphicFramePr>
        <p:xfrm>
          <a:off x="4572000" y="2408238"/>
          <a:ext cx="1214438" cy="711200"/>
        </p:xfrm>
        <a:graphic>
          <a:graphicData uri="http://schemas.openxmlformats.org/presentationml/2006/ole">
            <mc:AlternateContent xmlns:mc="http://schemas.openxmlformats.org/markup-compatibility/2006">
              <mc:Choice xmlns:v="urn:schemas-microsoft-com:vml" Requires="v">
                <p:oleObj spid="_x0000_s57571" name="Equation" r:id="rId3" imgW="736560" imgH="431640" progId="Equation.3">
                  <p:embed/>
                </p:oleObj>
              </mc:Choice>
              <mc:Fallback>
                <p:oleObj name="Equation" r:id="rId3" imgW="736560" imgH="431640" progId="Equation.3">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408238"/>
                        <a:ext cx="1214438"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p:cNvGraphicFramePr>
            <a:graphicFrameLocks noChangeAspect="1"/>
          </p:cNvGraphicFramePr>
          <p:nvPr/>
        </p:nvGraphicFramePr>
        <p:xfrm>
          <a:off x="4589463" y="3429000"/>
          <a:ext cx="1500187" cy="614363"/>
        </p:xfrm>
        <a:graphic>
          <a:graphicData uri="http://schemas.openxmlformats.org/presentationml/2006/ole">
            <mc:AlternateContent xmlns:mc="http://schemas.openxmlformats.org/markup-compatibility/2006">
              <mc:Choice xmlns:v="urn:schemas-microsoft-com:vml" Requires="v">
                <p:oleObj spid="_x0000_s57572" name="Equation" r:id="rId5" imgW="1054080" imgH="431640" progId="Equation.3">
                  <p:embed/>
                </p:oleObj>
              </mc:Choice>
              <mc:Fallback>
                <p:oleObj name="Equation" r:id="rId5" imgW="1054080" imgH="431640" progId="Equation.3">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9463" y="3429000"/>
                        <a:ext cx="1500187" cy="614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6"/>
          <p:cNvGraphicFramePr>
            <a:graphicFrameLocks noChangeAspect="1"/>
          </p:cNvGraphicFramePr>
          <p:nvPr/>
        </p:nvGraphicFramePr>
        <p:xfrm>
          <a:off x="4665663" y="5286375"/>
          <a:ext cx="1477973" cy="357188"/>
        </p:xfrm>
        <a:graphic>
          <a:graphicData uri="http://schemas.openxmlformats.org/presentationml/2006/ole">
            <mc:AlternateContent xmlns:mc="http://schemas.openxmlformats.org/markup-compatibility/2006">
              <mc:Choice xmlns:v="urn:schemas-microsoft-com:vml" Requires="v">
                <p:oleObj spid="_x0000_s57573" name="Equation" r:id="rId7" imgW="774360" imgH="203040" progId="Equation.3">
                  <p:embed/>
                </p:oleObj>
              </mc:Choice>
              <mc:Fallback>
                <p:oleObj name="Equation" r:id="rId7" imgW="774360" imgH="203040" progId="Equation.3">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5663" y="5286375"/>
                        <a:ext cx="1477973"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786313" y="4408488"/>
          <a:ext cx="1214437" cy="700087"/>
        </p:xfrm>
        <a:graphic>
          <a:graphicData uri="http://schemas.openxmlformats.org/presentationml/2006/ole">
            <mc:AlternateContent xmlns:mc="http://schemas.openxmlformats.org/markup-compatibility/2006">
              <mc:Choice xmlns:v="urn:schemas-microsoft-com:vml" Requires="v">
                <p:oleObj spid="_x0000_s57574" name="Equation" r:id="rId9" imgW="749160" imgH="431640" progId="Equation.3">
                  <p:embed/>
                </p:oleObj>
              </mc:Choice>
              <mc:Fallback>
                <p:oleObj name="Equation" r:id="rId9" imgW="749160" imgH="431640" progId="Equation.3">
                  <p:embed/>
                  <p:pic>
                    <p:nvPicPr>
                      <p:cNvPr id="0" name="Picture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6313" y="4408488"/>
                        <a:ext cx="1214437" cy="700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Logical Implication</a:t>
            </a:r>
            <a:endParaRPr lang="en-IN" sz="3200" b="1" dirty="0">
              <a:solidFill>
                <a:srgbClr val="335295"/>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11560" y="1268760"/>
                <a:ext cx="8032406" cy="4946322"/>
              </a:xfrm>
            </p:spPr>
            <p:txBody>
              <a:bodyPr/>
              <a:lstStyle/>
              <a:p>
                <a:pPr>
                  <a:buNone/>
                </a:pPr>
                <a:r>
                  <a:rPr lang="en-US" sz="2400" b="1" dirty="0" smtClean="0">
                    <a:solidFill>
                      <a:srgbClr val="FF0000"/>
                    </a:solidFill>
                    <a:latin typeface="Times New Roman" pitchFamily="18" charset="0"/>
                    <a:cs typeface="Times New Roman" pitchFamily="18" charset="0"/>
                  </a:rPr>
                  <a:t>Tautological Implication </a:t>
                </a:r>
              </a:p>
              <a:p>
                <a:pPr>
                  <a:buNone/>
                </a:pPr>
                <a:r>
                  <a:rPr lang="en-US" sz="2400" dirty="0" smtClean="0">
                    <a:solidFill>
                      <a:srgbClr val="FF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A statement formula </a:t>
                </a:r>
                <a14:m>
                  <m:oMath xmlns:m="http://schemas.openxmlformats.org/officeDocument/2006/math">
                    <m:r>
                      <a:rPr lang="en-US" sz="2400" b="0" i="1" smtClean="0">
                        <a:solidFill>
                          <a:srgbClr val="000000"/>
                        </a:solidFill>
                        <a:latin typeface="Cambria Math"/>
                        <a:cs typeface="Times New Roman" pitchFamily="18" charset="0"/>
                      </a:rPr>
                      <m:t>𝑝</m:t>
                    </m:r>
                  </m:oMath>
                </a14:m>
                <a:r>
                  <a:rPr lang="en-US" sz="2400" dirty="0" smtClean="0">
                    <a:solidFill>
                      <a:srgbClr val="000000"/>
                    </a:solidFill>
                    <a:latin typeface="Times New Roman" pitchFamily="18" charset="0"/>
                    <a:cs typeface="Times New Roman" pitchFamily="18" charset="0"/>
                  </a:rPr>
                  <a:t> is said to be Tautologically imply a statement formula </a:t>
                </a:r>
                <a14:m>
                  <m:oMath xmlns:m="http://schemas.openxmlformats.org/officeDocument/2006/math">
                    <m:r>
                      <a:rPr lang="en-US" sz="2400" b="0" i="1" smtClean="0">
                        <a:solidFill>
                          <a:srgbClr val="000000"/>
                        </a:solidFill>
                        <a:latin typeface="Cambria Math"/>
                        <a:cs typeface="Times New Roman" pitchFamily="18" charset="0"/>
                      </a:rPr>
                      <m:t>𝑞</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if and only if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0"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is a Tautology which is denoted by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0"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and read as “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implies </a:t>
                </a:r>
                <a14:m>
                  <m:oMath xmlns:m="http://schemas.openxmlformats.org/officeDocument/2006/math">
                    <m:r>
                      <a:rPr lang="en-US" sz="2400" b="0" i="1" smtClean="0">
                        <a:solidFill>
                          <a:srgbClr val="000000"/>
                        </a:solidFill>
                        <a:latin typeface="Cambria Math"/>
                        <a:cs typeface="Times New Roman" pitchFamily="18" charset="0"/>
                      </a:rPr>
                      <m:t>𝑞</m:t>
                    </m:r>
                    <m:r>
                      <a:rPr lang="en-US" sz="2400" b="0" i="1"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 .</a:t>
                </a:r>
              </a:p>
              <a:p>
                <a:pPr>
                  <a:buNone/>
                </a:pPr>
                <a:r>
                  <a:rPr lang="en-US" sz="2400" b="1" dirty="0" smtClean="0">
                    <a:solidFill>
                      <a:srgbClr val="FF0000"/>
                    </a:solidFill>
                    <a:latin typeface="Times New Roman" pitchFamily="18" charset="0"/>
                    <a:cs typeface="Times New Roman" pitchFamily="18" charset="0"/>
                  </a:rPr>
                  <a:t>Theorem</a:t>
                </a:r>
              </a:p>
              <a:p>
                <a:pPr>
                  <a:buNone/>
                </a:pPr>
                <a:r>
                  <a:rPr lang="en-US" sz="2300" dirty="0" smtClean="0">
                    <a:solidFill>
                      <a:srgbClr val="000000"/>
                    </a:solidFill>
                    <a:latin typeface="Times New Roman" pitchFamily="18" charset="0"/>
                    <a:cs typeface="Times New Roman" pitchFamily="18" charset="0"/>
                  </a:rPr>
                  <a:t>     </a:t>
                </a:r>
                <a14:m>
                  <m:oMath xmlns:m="http://schemas.openxmlformats.org/officeDocument/2006/math">
                    <m:r>
                      <m:rPr>
                        <m:sty m:val="p"/>
                      </m:rPr>
                      <a:rPr lang="en-US" sz="2300" b="0" i="0" smtClean="0">
                        <a:solidFill>
                          <a:srgbClr val="000000"/>
                        </a:solidFill>
                        <a:latin typeface="Cambria Math"/>
                        <a:cs typeface="Times New Roman" pitchFamily="18" charset="0"/>
                      </a:rPr>
                      <m:t>If</m:t>
                    </m:r>
                    <m:r>
                      <a:rPr lang="en-US" sz="2300" b="0" i="0" smtClean="0">
                        <a:solidFill>
                          <a:srgbClr val="000000"/>
                        </a:solidFill>
                        <a:latin typeface="Cambria Math"/>
                        <a:cs typeface="Times New Roman" pitchFamily="18" charset="0"/>
                      </a:rPr>
                      <m:t> </m:t>
                    </m:r>
                    <m:r>
                      <a:rPr lang="en-US" sz="2300" b="0" i="1" smtClean="0">
                        <a:solidFill>
                          <a:srgbClr val="000000"/>
                        </a:solidFill>
                        <a:latin typeface="Cambria Math"/>
                        <a:cs typeface="Times New Roman" pitchFamily="18" charset="0"/>
                      </a:rPr>
                      <m:t>(</m:t>
                    </m:r>
                    <m:sSub>
                      <m:sSubPr>
                        <m:ctrlPr>
                          <a:rPr lang="en-US" sz="2300" b="0" i="1" smtClean="0">
                            <a:solidFill>
                              <a:srgbClr val="000000"/>
                            </a:solidFill>
                            <a:latin typeface="Cambria Math"/>
                            <a:cs typeface="Times New Roman" pitchFamily="18" charset="0"/>
                          </a:rPr>
                        </m:ctrlPr>
                      </m:sSubPr>
                      <m:e>
                        <m:r>
                          <a:rPr lang="en-US" sz="2300" b="0" i="1" smtClean="0">
                            <a:solidFill>
                              <a:srgbClr val="000000"/>
                            </a:solidFill>
                            <a:latin typeface="Cambria Math"/>
                            <a:cs typeface="Times New Roman" pitchFamily="18" charset="0"/>
                          </a:rPr>
                          <m:t>h</m:t>
                        </m:r>
                      </m:e>
                      <m:sub>
                        <m:r>
                          <a:rPr lang="en-US" sz="2300" b="0" i="1" smtClean="0">
                            <a:solidFill>
                              <a:srgbClr val="000000"/>
                            </a:solidFill>
                            <a:latin typeface="Cambria Math"/>
                            <a:cs typeface="Times New Roman" pitchFamily="18" charset="0"/>
                          </a:rPr>
                          <m:t>1</m:t>
                        </m:r>
                      </m:sub>
                    </m:sSub>
                    <m:r>
                      <a:rPr lang="en-US" sz="2300" b="0" i="1" smtClean="0">
                        <a:solidFill>
                          <a:srgbClr val="000000"/>
                        </a:solidFill>
                        <a:latin typeface="Cambria Math"/>
                        <a:ea typeface="Cambria Math"/>
                        <a:cs typeface="Times New Roman" pitchFamily="18" charset="0"/>
                      </a:rPr>
                      <m:t>∧</m:t>
                    </m:r>
                    <m:sSub>
                      <m:sSubPr>
                        <m:ctrlPr>
                          <a:rPr lang="en-US" sz="2300" b="0" i="1" smtClean="0">
                            <a:solidFill>
                              <a:srgbClr val="000000"/>
                            </a:solidFill>
                            <a:latin typeface="Cambria Math"/>
                            <a:ea typeface="Cambria Math"/>
                            <a:cs typeface="Times New Roman" pitchFamily="18" charset="0"/>
                          </a:rPr>
                        </m:ctrlPr>
                      </m:sSubPr>
                      <m:e>
                        <m:r>
                          <a:rPr lang="en-US" sz="2300" b="0" i="1" smtClean="0">
                            <a:solidFill>
                              <a:srgbClr val="000000"/>
                            </a:solidFill>
                            <a:latin typeface="Cambria Math"/>
                            <a:ea typeface="Cambria Math"/>
                            <a:cs typeface="Times New Roman" pitchFamily="18" charset="0"/>
                          </a:rPr>
                          <m:t>h</m:t>
                        </m:r>
                      </m:e>
                      <m:sub>
                        <m:r>
                          <a:rPr lang="en-US" sz="2300" b="0" i="1" smtClean="0">
                            <a:solidFill>
                              <a:srgbClr val="000000"/>
                            </a:solidFill>
                            <a:latin typeface="Cambria Math"/>
                            <a:ea typeface="Cambria Math"/>
                            <a:cs typeface="Times New Roman" pitchFamily="18" charset="0"/>
                          </a:rPr>
                          <m:t>2</m:t>
                        </m:r>
                      </m:sub>
                    </m:sSub>
                  </m:oMath>
                </a14:m>
                <a:r>
                  <a:rPr lang="en-US" sz="2300" dirty="0" smtClean="0">
                    <a:solidFill>
                      <a:srgbClr val="000000"/>
                    </a:solidFill>
                    <a:latin typeface="Times New Roman" pitchFamily="18" charset="0"/>
                    <a:cs typeface="Times New Roman" pitchFamily="18" charset="0"/>
                  </a:rPr>
                  <a:t>…</a:t>
                </a:r>
                <a14:m>
                  <m:oMath xmlns:m="http://schemas.openxmlformats.org/officeDocument/2006/math">
                    <m:sSub>
                      <m:sSubPr>
                        <m:ctrlPr>
                          <a:rPr lang="en-US" sz="2300" i="1">
                            <a:solidFill>
                              <a:srgbClr val="000000"/>
                            </a:solidFill>
                            <a:latin typeface="Cambria Math"/>
                            <a:ea typeface="Cambria Math"/>
                            <a:cs typeface="Times New Roman" pitchFamily="18" charset="0"/>
                          </a:rPr>
                        </m:ctrlPr>
                      </m:sSubPr>
                      <m:e>
                        <m:r>
                          <a:rPr lang="en-US" sz="2300" i="1">
                            <a:solidFill>
                              <a:srgbClr val="000000"/>
                            </a:solidFill>
                            <a:latin typeface="Cambria Math"/>
                            <a:ea typeface="Cambria Math"/>
                            <a:cs typeface="Times New Roman" pitchFamily="18" charset="0"/>
                          </a:rPr>
                          <m:t>∧</m:t>
                        </m:r>
                        <m:r>
                          <a:rPr lang="en-US" sz="2300" i="1">
                            <a:solidFill>
                              <a:srgbClr val="000000"/>
                            </a:solidFill>
                            <a:latin typeface="Cambria Math"/>
                            <a:ea typeface="Cambria Math"/>
                            <a:cs typeface="Times New Roman" pitchFamily="18" charset="0"/>
                          </a:rPr>
                          <m:t>h</m:t>
                        </m:r>
                      </m:e>
                      <m:sub>
                        <m:r>
                          <a:rPr lang="en-US" sz="2300" b="0" i="1" smtClean="0">
                            <a:solidFill>
                              <a:srgbClr val="000000"/>
                            </a:solidFill>
                            <a:latin typeface="Cambria Math"/>
                            <a:ea typeface="Cambria Math"/>
                            <a:cs typeface="Times New Roman" pitchFamily="18" charset="0"/>
                          </a:rPr>
                          <m:t>𝑚</m:t>
                        </m:r>
                      </m:sub>
                    </m:sSub>
                    <m:r>
                      <a:rPr lang="en-US" sz="2300" i="1">
                        <a:solidFill>
                          <a:srgbClr val="000000"/>
                        </a:solidFill>
                        <a:latin typeface="Cambria Math"/>
                        <a:ea typeface="Cambria Math"/>
                        <a:cs typeface="Times New Roman" pitchFamily="18" charset="0"/>
                      </a:rPr>
                      <m:t>∧</m:t>
                    </m:r>
                    <m:r>
                      <a:rPr lang="en-US" sz="2300" b="0" i="1" smtClean="0">
                        <a:solidFill>
                          <a:srgbClr val="000000"/>
                        </a:solidFill>
                        <a:latin typeface="Cambria Math"/>
                        <a:ea typeface="Cambria Math"/>
                        <a:cs typeface="Times New Roman" pitchFamily="18" charset="0"/>
                      </a:rPr>
                      <m:t>𝑝</m:t>
                    </m:r>
                    <m:r>
                      <a:rPr lang="en-US" sz="2300" b="0" i="1" smtClean="0">
                        <a:solidFill>
                          <a:srgbClr val="000000"/>
                        </a:solidFill>
                        <a:latin typeface="Cambria Math"/>
                        <a:ea typeface="Cambria Math"/>
                        <a:cs typeface="Times New Roman" pitchFamily="18" charset="0"/>
                      </a:rPr>
                      <m:t>)⇒</m:t>
                    </m:r>
                    <m:r>
                      <a:rPr lang="en-US" sz="2300" b="0" i="1" smtClean="0">
                        <a:solidFill>
                          <a:srgbClr val="000000"/>
                        </a:solidFill>
                        <a:latin typeface="Cambria Math"/>
                        <a:ea typeface="Cambria Math"/>
                        <a:cs typeface="Times New Roman" pitchFamily="18" charset="0"/>
                      </a:rPr>
                      <m:t>𝑞</m:t>
                    </m:r>
                    <m:r>
                      <a:rPr lang="en-US" sz="2300" b="0" i="0" smtClean="0">
                        <a:solidFill>
                          <a:srgbClr val="000000"/>
                        </a:solidFill>
                        <a:latin typeface="Cambria Math"/>
                        <a:ea typeface="Cambria Math"/>
                        <a:cs typeface="Times New Roman" pitchFamily="18" charset="0"/>
                      </a:rPr>
                      <m:t> </m:t>
                    </m:r>
                  </m:oMath>
                </a14:m>
                <a:r>
                  <a:rPr lang="en-US" sz="2300" dirty="0" smtClean="0">
                    <a:solidFill>
                      <a:srgbClr val="000000"/>
                    </a:solidFill>
                    <a:latin typeface="Times New Roman" pitchFamily="18" charset="0"/>
                    <a:cs typeface="Times New Roman" pitchFamily="18" charset="0"/>
                  </a:rPr>
                  <a:t>then</a:t>
                </a:r>
                <a14:m>
                  <m:oMath xmlns:m="http://schemas.openxmlformats.org/officeDocument/2006/math">
                    <m:r>
                      <a:rPr lang="en-US" sz="2300" b="0" i="0" smtClean="0">
                        <a:solidFill>
                          <a:srgbClr val="000000"/>
                        </a:solidFill>
                        <a:latin typeface="Cambria Math"/>
                        <a:cs typeface="Times New Roman" pitchFamily="18" charset="0"/>
                      </a:rPr>
                      <m:t> </m:t>
                    </m:r>
                    <m:r>
                      <a:rPr lang="en-US" sz="2300" i="1">
                        <a:solidFill>
                          <a:srgbClr val="000000"/>
                        </a:solidFill>
                        <a:latin typeface="Cambria Math"/>
                        <a:cs typeface="Times New Roman" pitchFamily="18" charset="0"/>
                      </a:rPr>
                      <m:t>(</m:t>
                    </m:r>
                    <m:sSub>
                      <m:sSubPr>
                        <m:ctrlPr>
                          <a:rPr lang="en-US" sz="2300" i="1">
                            <a:solidFill>
                              <a:srgbClr val="000000"/>
                            </a:solidFill>
                            <a:latin typeface="Cambria Math"/>
                            <a:cs typeface="Times New Roman" pitchFamily="18" charset="0"/>
                          </a:rPr>
                        </m:ctrlPr>
                      </m:sSubPr>
                      <m:e>
                        <m:r>
                          <a:rPr lang="en-US" sz="2300" i="1">
                            <a:solidFill>
                              <a:srgbClr val="000000"/>
                            </a:solidFill>
                            <a:latin typeface="Cambria Math"/>
                            <a:cs typeface="Times New Roman" pitchFamily="18" charset="0"/>
                          </a:rPr>
                          <m:t>h</m:t>
                        </m:r>
                      </m:e>
                      <m:sub>
                        <m:r>
                          <a:rPr lang="en-US" sz="2300" i="1">
                            <a:solidFill>
                              <a:srgbClr val="000000"/>
                            </a:solidFill>
                            <a:latin typeface="Cambria Math"/>
                            <a:cs typeface="Times New Roman" pitchFamily="18" charset="0"/>
                          </a:rPr>
                          <m:t>1</m:t>
                        </m:r>
                      </m:sub>
                    </m:sSub>
                    <m:r>
                      <a:rPr lang="en-US" sz="2300" i="1">
                        <a:solidFill>
                          <a:srgbClr val="000000"/>
                        </a:solidFill>
                        <a:latin typeface="Cambria Math"/>
                        <a:ea typeface="Cambria Math"/>
                        <a:cs typeface="Times New Roman" pitchFamily="18" charset="0"/>
                      </a:rPr>
                      <m:t>∧</m:t>
                    </m:r>
                    <m:sSub>
                      <m:sSubPr>
                        <m:ctrlPr>
                          <a:rPr lang="en-US" sz="2300" i="1">
                            <a:solidFill>
                              <a:srgbClr val="000000"/>
                            </a:solidFill>
                            <a:latin typeface="Cambria Math"/>
                            <a:ea typeface="Cambria Math"/>
                            <a:cs typeface="Times New Roman" pitchFamily="18" charset="0"/>
                          </a:rPr>
                        </m:ctrlPr>
                      </m:sSubPr>
                      <m:e>
                        <m:r>
                          <a:rPr lang="en-US" sz="2300" i="1">
                            <a:solidFill>
                              <a:srgbClr val="000000"/>
                            </a:solidFill>
                            <a:latin typeface="Cambria Math"/>
                            <a:ea typeface="Cambria Math"/>
                            <a:cs typeface="Times New Roman" pitchFamily="18" charset="0"/>
                          </a:rPr>
                          <m:t>h</m:t>
                        </m:r>
                      </m:e>
                      <m:sub>
                        <m:r>
                          <a:rPr lang="en-US" sz="2300" i="1">
                            <a:solidFill>
                              <a:srgbClr val="000000"/>
                            </a:solidFill>
                            <a:latin typeface="Cambria Math"/>
                            <a:ea typeface="Cambria Math"/>
                            <a:cs typeface="Times New Roman" pitchFamily="18" charset="0"/>
                          </a:rPr>
                          <m:t>2</m:t>
                        </m:r>
                      </m:sub>
                    </m:sSub>
                  </m:oMath>
                </a14:m>
                <a:r>
                  <a:rPr lang="en-US" sz="2300" dirty="0">
                    <a:solidFill>
                      <a:srgbClr val="000000"/>
                    </a:solidFill>
                    <a:latin typeface="Times New Roman" pitchFamily="18" charset="0"/>
                    <a:cs typeface="Times New Roman" pitchFamily="18" charset="0"/>
                  </a:rPr>
                  <a:t>…</a:t>
                </a:r>
                <a14:m>
                  <m:oMath xmlns:m="http://schemas.openxmlformats.org/officeDocument/2006/math">
                    <m:sSub>
                      <m:sSubPr>
                        <m:ctrlPr>
                          <a:rPr lang="en-US" sz="2300" i="1">
                            <a:solidFill>
                              <a:srgbClr val="000000"/>
                            </a:solidFill>
                            <a:latin typeface="Cambria Math"/>
                            <a:ea typeface="Cambria Math"/>
                            <a:cs typeface="Times New Roman" pitchFamily="18" charset="0"/>
                          </a:rPr>
                        </m:ctrlPr>
                      </m:sSubPr>
                      <m:e>
                        <m:r>
                          <a:rPr lang="en-US" sz="2300" i="1">
                            <a:solidFill>
                              <a:srgbClr val="000000"/>
                            </a:solidFill>
                            <a:latin typeface="Cambria Math"/>
                            <a:ea typeface="Cambria Math"/>
                            <a:cs typeface="Times New Roman" pitchFamily="18" charset="0"/>
                          </a:rPr>
                          <m:t>∧</m:t>
                        </m:r>
                        <m:r>
                          <a:rPr lang="en-US" sz="2300" i="1">
                            <a:solidFill>
                              <a:srgbClr val="000000"/>
                            </a:solidFill>
                            <a:latin typeface="Cambria Math"/>
                            <a:ea typeface="Cambria Math"/>
                            <a:cs typeface="Times New Roman" pitchFamily="18" charset="0"/>
                          </a:rPr>
                          <m:t>h</m:t>
                        </m:r>
                      </m:e>
                      <m:sub>
                        <m:r>
                          <a:rPr lang="en-US" sz="2300" i="1">
                            <a:solidFill>
                              <a:srgbClr val="000000"/>
                            </a:solidFill>
                            <a:latin typeface="Cambria Math"/>
                            <a:ea typeface="Cambria Math"/>
                            <a:cs typeface="Times New Roman" pitchFamily="18" charset="0"/>
                          </a:rPr>
                          <m:t>𝑚</m:t>
                        </m:r>
                      </m:sub>
                    </m:sSub>
                    <m:r>
                      <a:rPr lang="en-US" sz="2300" i="1" smtClean="0">
                        <a:solidFill>
                          <a:srgbClr val="000000"/>
                        </a:solidFill>
                        <a:latin typeface="Cambria Math"/>
                        <a:ea typeface="Cambria Math"/>
                        <a:cs typeface="Times New Roman" pitchFamily="18" charset="0"/>
                      </a:rPr>
                      <m:t>)⇒</m:t>
                    </m:r>
                    <m:r>
                      <a:rPr lang="en-US" sz="2300" b="0" i="1" smtClean="0">
                        <a:solidFill>
                          <a:srgbClr val="000000"/>
                        </a:solidFill>
                        <a:latin typeface="Cambria Math"/>
                        <a:ea typeface="Cambria Math"/>
                        <a:cs typeface="Times New Roman" pitchFamily="18" charset="0"/>
                      </a:rPr>
                      <m:t>(</m:t>
                    </m:r>
                    <m:r>
                      <a:rPr lang="en-US" sz="2300" b="0" i="1" smtClean="0">
                        <a:solidFill>
                          <a:srgbClr val="000000"/>
                        </a:solidFill>
                        <a:latin typeface="Cambria Math"/>
                        <a:ea typeface="Cambria Math"/>
                        <a:cs typeface="Times New Roman" pitchFamily="18" charset="0"/>
                      </a:rPr>
                      <m:t>𝑝</m:t>
                    </m:r>
                    <m:r>
                      <a:rPr lang="en-US" sz="2300" b="0" i="1" smtClean="0">
                        <a:solidFill>
                          <a:srgbClr val="000000"/>
                        </a:solidFill>
                        <a:latin typeface="Cambria Math"/>
                        <a:ea typeface="Cambria Math"/>
                        <a:cs typeface="Times New Roman" pitchFamily="18" charset="0"/>
                      </a:rPr>
                      <m:t>→</m:t>
                    </m:r>
                    <m:r>
                      <a:rPr lang="en-US" sz="2300" b="0" i="1" smtClean="0">
                        <a:solidFill>
                          <a:srgbClr val="000000"/>
                        </a:solidFill>
                        <a:latin typeface="Cambria Math"/>
                        <a:ea typeface="Cambria Math"/>
                        <a:cs typeface="Times New Roman" pitchFamily="18" charset="0"/>
                      </a:rPr>
                      <m:t>𝑞</m:t>
                    </m:r>
                    <m:r>
                      <a:rPr lang="en-US" sz="2300" b="0" i="1" smtClean="0">
                        <a:solidFill>
                          <a:srgbClr val="000000"/>
                        </a:solidFill>
                        <a:latin typeface="Cambria Math"/>
                        <a:ea typeface="Cambria Math"/>
                        <a:cs typeface="Times New Roman" pitchFamily="18" charset="0"/>
                      </a:rPr>
                      <m:t>)</m:t>
                    </m:r>
                  </m:oMath>
                </a14:m>
                <a:r>
                  <a:rPr lang="en-US" sz="2300" dirty="0" smtClean="0">
                    <a:solidFill>
                      <a:srgbClr val="000000"/>
                    </a:solidFill>
                    <a:latin typeface="Times New Roman" pitchFamily="18" charset="0"/>
                    <a:cs typeface="Times New Roman" pitchFamily="18" charset="0"/>
                  </a:rPr>
                  <a:t>.</a:t>
                </a:r>
                <a:endParaRPr lang="en-US" sz="2300" dirty="0" smtClean="0">
                  <a:solidFill>
                    <a:srgbClr val="000000"/>
                  </a:solidFill>
                  <a:latin typeface="Times New Roman" pitchFamily="18" charset="0"/>
                  <a:cs typeface="Times New Roman" pitchFamily="18" charset="0"/>
                </a:endParaRPr>
              </a:p>
              <a:p>
                <a:pPr>
                  <a:buNone/>
                </a:pPr>
                <a:r>
                  <a:rPr lang="en-US" sz="2400" dirty="0" smtClean="0">
                    <a:solidFill>
                      <a:srgbClr val="FF0000"/>
                    </a:solidFill>
                    <a:latin typeface="Times New Roman" pitchFamily="18" charset="0"/>
                    <a:cs typeface="Times New Roman" pitchFamily="18" charset="0"/>
                  </a:rPr>
                  <a:t> </a:t>
                </a:r>
                <a:r>
                  <a:rPr lang="en-US" sz="2400" b="1" dirty="0" smtClean="0">
                    <a:solidFill>
                      <a:srgbClr val="FF0000"/>
                    </a:solidFill>
                    <a:latin typeface="Times New Roman" pitchFamily="18" charset="0"/>
                    <a:cs typeface="Times New Roman" pitchFamily="18" charset="0"/>
                  </a:rPr>
                  <a:t>Example</a:t>
                </a:r>
              </a:p>
              <a:p>
                <a:pPr>
                  <a:buNone/>
                </a:pPr>
                <a:r>
                  <a:rPr lang="en-US" sz="2400" dirty="0" smtClean="0">
                    <a:solidFill>
                      <a:srgbClr val="FF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To show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d>
                      <m:dPr>
                        <m:ctrlPr>
                          <a:rPr lang="en-US" sz="2400" b="0" i="1" smtClean="0">
                            <a:solidFill>
                              <a:srgbClr val="000000"/>
                            </a:solidFill>
                            <a:latin typeface="Cambria Math"/>
                            <a:ea typeface="Cambria Math"/>
                            <a:cs typeface="Times New Roman" pitchFamily="18" charset="0"/>
                          </a:rPr>
                        </m:ctrlPr>
                      </m:dPr>
                      <m:e>
                        <m:r>
                          <a:rPr lang="en-US" sz="2400" b="0" i="1" smtClean="0">
                            <a:solidFill>
                              <a:srgbClr val="000000"/>
                            </a:solidFill>
                            <a:latin typeface="Cambria Math"/>
                            <a:ea typeface="Cambria Math"/>
                            <a:cs typeface="Times New Roman" pitchFamily="18" charset="0"/>
                          </a:rPr>
                          <m:t>𝑞</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𝑝</m:t>
                        </m:r>
                      </m:e>
                    </m:d>
                  </m:oMath>
                </a14:m>
                <a:r>
                  <a:rPr lang="en-US" sz="2400" dirty="0" smtClean="0">
                    <a:solidFill>
                      <a:srgbClr val="00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it is </a:t>
                </a:r>
                <a:r>
                  <a:rPr lang="en-US" sz="2400" dirty="0" smtClean="0">
                    <a:solidFill>
                      <a:srgbClr val="000000"/>
                    </a:solidFill>
                    <a:latin typeface="Times New Roman" pitchFamily="18" charset="0"/>
                    <a:cs typeface="Times New Roman" pitchFamily="18" charset="0"/>
                  </a:rPr>
                  <a:t>enough to </a:t>
                </a:r>
                <a:r>
                  <a:rPr lang="en-US" sz="2400" dirty="0" smtClean="0">
                    <a:solidFill>
                      <a:srgbClr val="000000"/>
                    </a:solidFill>
                    <a:latin typeface="Times New Roman" pitchFamily="18" charset="0"/>
                    <a:cs typeface="Times New Roman" pitchFamily="18" charset="0"/>
                  </a:rPr>
                  <a:t>show </a:t>
                </a:r>
                <a:r>
                  <a:rPr lang="en-US" sz="2400" dirty="0" smtClean="0">
                    <a:solidFill>
                      <a:srgbClr val="000000"/>
                    </a:solidFill>
                    <a:latin typeface="Times New Roman" pitchFamily="18" charset="0"/>
                    <a:cs typeface="Times New Roman" pitchFamily="18" charset="0"/>
                  </a:rPr>
                  <a:t>that </a:t>
                </a:r>
              </a:p>
              <a:p>
                <a:pPr>
                  <a:buNone/>
                </a:pPr>
                <a:r>
                  <a:rPr lang="en-US" sz="2400" b="0" dirty="0">
                    <a:solidFill>
                      <a:srgbClr val="000000"/>
                    </a:solidFill>
                    <a:latin typeface="Times New Roman" pitchFamily="18" charset="0"/>
                    <a:cs typeface="Times New Roman" pitchFamily="18" charset="0"/>
                  </a:rPr>
                  <a:t> </a:t>
                </a:r>
                <a:r>
                  <a:rPr lang="en-US" sz="2400" b="0" dirty="0" smtClean="0">
                    <a:solidFill>
                      <a:srgbClr val="000000"/>
                    </a:solidFill>
                    <a:latin typeface="Times New Roman" pitchFamily="18" charset="0"/>
                    <a:cs typeface="Times New Roman" pitchFamily="18" charset="0"/>
                  </a:rPr>
                  <a:t>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d>
                      <m:dPr>
                        <m:ctrlPr>
                          <a:rPr lang="en-US" sz="2400" b="0" i="1" smtClean="0">
                            <a:solidFill>
                              <a:srgbClr val="000000"/>
                            </a:solidFill>
                            <a:latin typeface="Cambria Math"/>
                            <a:ea typeface="Cambria Math"/>
                            <a:cs typeface="Times New Roman" pitchFamily="18" charset="0"/>
                          </a:rPr>
                        </m:ctrlPr>
                      </m:dPr>
                      <m:e>
                        <m:r>
                          <a:rPr lang="en-US" sz="2400" b="0" i="1" smtClean="0">
                            <a:solidFill>
                              <a:srgbClr val="000000"/>
                            </a:solidFill>
                            <a:latin typeface="Cambria Math"/>
                            <a:ea typeface="Cambria Math"/>
                            <a:cs typeface="Times New Roman" pitchFamily="18" charset="0"/>
                          </a:rPr>
                          <m:t>𝑞</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𝑝</m:t>
                        </m:r>
                      </m:e>
                    </m:d>
                    <m:r>
                      <a:rPr lang="en-US" sz="2400" b="0" i="1"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is </a:t>
                </a:r>
                <a:r>
                  <a:rPr lang="en-US" sz="2400" dirty="0" smtClean="0">
                    <a:solidFill>
                      <a:srgbClr val="000000"/>
                    </a:solidFill>
                    <a:latin typeface="Times New Roman" pitchFamily="18" charset="0"/>
                    <a:cs typeface="Times New Roman" pitchFamily="18" charset="0"/>
                  </a:rPr>
                  <a:t>a Tautology.</a:t>
                </a:r>
              </a:p>
              <a:p>
                <a:pPr>
                  <a:buNone/>
                </a:pPr>
                <a:r>
                  <a:rPr lang="en-US" sz="2400" dirty="0" smtClean="0">
                    <a:solidFill>
                      <a:srgbClr val="000000"/>
                    </a:solidFill>
                    <a:latin typeface="Times New Roman" pitchFamily="18" charset="0"/>
                    <a:cs typeface="Times New Roman" pitchFamily="18" charset="0"/>
                  </a:rPr>
                  <a:t>         </a:t>
                </a:r>
              </a:p>
              <a:p>
                <a:pPr>
                  <a:buNone/>
                </a:pPr>
                <a:endParaRPr lang="en-US" sz="2400" dirty="0" smtClean="0">
                  <a:solidFill>
                    <a:srgbClr val="000000"/>
                  </a:solidFill>
                  <a:latin typeface="Times New Roman" pitchFamily="18" charset="0"/>
                  <a:cs typeface="Times New Roman"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11560" y="1268760"/>
                <a:ext cx="8032406" cy="4946322"/>
              </a:xfrm>
              <a:blipFill rotWithShape="1">
                <a:blip r:embed="rId2"/>
                <a:stretch>
                  <a:fillRect l="-1138" t="-985" r="-1062"/>
                </a:stretch>
              </a:blipFill>
            </p:spPr>
            <p:txBody>
              <a:bodyPr/>
              <a:lstStyle/>
              <a:p>
                <a:r>
                  <a:rPr lang="en-IN">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274638"/>
            <a:ext cx="8043890" cy="796908"/>
          </a:xfrm>
        </p:spPr>
        <p:txBody>
          <a:bodyPr/>
          <a:lstStyle/>
          <a:p>
            <a:r>
              <a:rPr lang="en-US" sz="3200" b="1" dirty="0" smtClean="0">
                <a:solidFill>
                  <a:srgbClr val="335295"/>
                </a:solidFill>
                <a:latin typeface="Times New Roman" pitchFamily="18" charset="0"/>
                <a:cs typeface="Times New Roman" pitchFamily="18" charset="0"/>
              </a:rPr>
              <a:t>Logical Equivalences involving Implications</a:t>
            </a:r>
            <a:endParaRPr lang="en-IN" sz="3200" b="1" dirty="0">
              <a:solidFill>
                <a:srgbClr val="335295"/>
              </a:solidFill>
              <a:latin typeface="Times New Roman" pitchFamily="18" charset="0"/>
              <a:cs typeface="Times New Roman" pitchFamily="18" charset="0"/>
            </a:endParaRPr>
          </a:p>
        </p:txBody>
      </p:sp>
      <p:graphicFrame>
        <p:nvGraphicFramePr>
          <p:cNvPr id="8" name="Content Placeholder 7"/>
          <p:cNvGraphicFramePr>
            <a:graphicFrameLocks noGrp="1"/>
          </p:cNvGraphicFramePr>
          <p:nvPr>
            <p:ph idx="1"/>
          </p:nvPr>
        </p:nvGraphicFramePr>
        <p:xfrm>
          <a:off x="1000100" y="1214422"/>
          <a:ext cx="7572428" cy="5045434"/>
        </p:xfrm>
        <a:graphic>
          <a:graphicData uri="http://schemas.openxmlformats.org/drawingml/2006/table">
            <a:tbl>
              <a:tblPr firstRow="1" bandRow="1">
                <a:tableStyleId>{5C22544A-7EE6-4342-B048-85BDC9FD1C3A}</a:tableStyleId>
              </a:tblPr>
              <a:tblGrid>
                <a:gridCol w="566162"/>
                <a:gridCol w="7006266"/>
              </a:tblGrid>
              <a:tr h="473434">
                <a:tc gridSpan="2">
                  <a:txBody>
                    <a:bodyPr/>
                    <a:lstStyle/>
                    <a:p>
                      <a:pPr algn="ctr"/>
                      <a:r>
                        <a:rPr lang="en-US" sz="2400" b="1" dirty="0" smtClean="0">
                          <a:solidFill>
                            <a:srgbClr val="1B57B5"/>
                          </a:solidFill>
                          <a:latin typeface="Times New Roman" pitchFamily="18" charset="0"/>
                          <a:cs typeface="Times New Roman" pitchFamily="18" charset="0"/>
                        </a:rPr>
                        <a:t>Rules of Logical Implications</a:t>
                      </a:r>
                      <a:endParaRPr lang="en-IN" sz="2400" b="1" dirty="0">
                        <a:solidFill>
                          <a:srgbClr val="1B57B5"/>
                        </a:solidFill>
                        <a:latin typeface="Times New Roman" pitchFamily="18" charset="0"/>
                        <a:cs typeface="Times New Roman" pitchFamily="18" charset="0"/>
                      </a:endParaRPr>
                    </a:p>
                  </a:txBody>
                  <a:tcPr/>
                </a:tc>
                <a:tc hMerge="1">
                  <a:txBody>
                    <a:bodyPr/>
                    <a:lstStyle/>
                    <a:p>
                      <a:endParaRPr lang="en-IN" dirty="0"/>
                    </a:p>
                  </a:txBody>
                  <a:tcPr/>
                </a:tc>
              </a:tr>
              <a:tr h="452723">
                <a:tc>
                  <a:txBody>
                    <a:bodyPr/>
                    <a:lstStyle/>
                    <a:p>
                      <a:r>
                        <a:rPr lang="en-US" sz="2400" dirty="0" smtClean="0">
                          <a:latin typeface="Times New Roman" pitchFamily="18" charset="0"/>
                          <a:cs typeface="Times New Roman" pitchFamily="18" charset="0"/>
                        </a:rPr>
                        <a:t>1.</a:t>
                      </a:r>
                    </a:p>
                  </a:txBody>
                  <a:tcPr/>
                </a:tc>
                <a:tc>
                  <a:txBody>
                    <a:bodyPr/>
                    <a:lstStyle/>
                    <a:p>
                      <a:r>
                        <a:rPr lang="en-US" sz="24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a:txBody>
                  <a:tcPr/>
                </a:tc>
              </a:tr>
              <a:tr h="452723">
                <a:tc>
                  <a:txBody>
                    <a:bodyPr/>
                    <a:lstStyle/>
                    <a:p>
                      <a:r>
                        <a:rPr lang="en-US" sz="2400" dirty="0" smtClean="0">
                          <a:latin typeface="Times New Roman" pitchFamily="18" charset="0"/>
                          <a:cs typeface="Times New Roman" pitchFamily="18" charset="0"/>
                        </a:rPr>
                        <a:t>2.</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a:txBody>
                  <a:tcPr/>
                </a:tc>
              </a:tr>
              <a:tr h="452723">
                <a:tc>
                  <a:txBody>
                    <a:bodyPr/>
                    <a:lstStyle/>
                    <a:p>
                      <a:r>
                        <a:rPr lang="en-US" sz="2400" dirty="0" smtClean="0">
                          <a:latin typeface="Times New Roman" pitchFamily="18" charset="0"/>
                          <a:cs typeface="Times New Roman" pitchFamily="18" charset="0"/>
                        </a:rPr>
                        <a:t>3.</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a:txBody>
                  <a:tcPr/>
                </a:tc>
              </a:tr>
              <a:tr h="452723">
                <a:tc>
                  <a:txBody>
                    <a:bodyPr/>
                    <a:lstStyle/>
                    <a:p>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      </a:t>
                      </a:r>
                    </a:p>
                  </a:txBody>
                  <a:tcPr/>
                </a:tc>
              </a:tr>
              <a:tr h="452723">
                <a:tc>
                  <a:txBody>
                    <a:bodyPr/>
                    <a:lstStyle/>
                    <a:p>
                      <a:r>
                        <a:rPr lang="en-US" sz="2400" dirty="0" smtClean="0">
                          <a:latin typeface="Times New Roman" pitchFamily="18" charset="0"/>
                          <a:cs typeface="Times New Roman" pitchFamily="18" charset="0"/>
                        </a:rPr>
                        <a:t>5.</a:t>
                      </a:r>
                      <a:endParaRPr lang="en-IN" sz="2400" dirty="0">
                        <a:latin typeface="Times New Roman" pitchFamily="18" charset="0"/>
                        <a:cs typeface="Times New Roman" pitchFamily="18" charset="0"/>
                      </a:endParaRPr>
                    </a:p>
                  </a:txBody>
                  <a:tcPr/>
                </a:tc>
                <a:tc>
                  <a:txBody>
                    <a:bodyPr/>
                    <a:lstStyle/>
                    <a:p>
                      <a:endParaRPr lang="en-US" sz="2400" dirty="0" smtClean="0">
                        <a:latin typeface="Times New Roman" pitchFamily="18" charset="0"/>
                        <a:cs typeface="Times New Roman" pitchFamily="18" charset="0"/>
                      </a:endParaRPr>
                    </a:p>
                  </a:txBody>
                  <a:tcPr/>
                </a:tc>
              </a:tr>
              <a:tr h="452723">
                <a:tc>
                  <a:txBody>
                    <a:bodyPr/>
                    <a:lstStyle/>
                    <a:p>
                      <a:r>
                        <a:rPr lang="en-US" sz="2400" dirty="0" smtClean="0">
                          <a:latin typeface="Times New Roman" pitchFamily="18" charset="0"/>
                          <a:cs typeface="Times New Roman" pitchFamily="18" charset="0"/>
                        </a:rPr>
                        <a:t>6.</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     </a:t>
                      </a:r>
                    </a:p>
                  </a:txBody>
                  <a:tcPr/>
                </a:tc>
              </a:tr>
              <a:tr h="452723">
                <a:tc>
                  <a:txBody>
                    <a:bodyPr/>
                    <a:lstStyle/>
                    <a:p>
                      <a:r>
                        <a:rPr lang="en-US" sz="2400" dirty="0" smtClean="0">
                          <a:latin typeface="Times New Roman" pitchFamily="18" charset="0"/>
                          <a:cs typeface="Times New Roman" pitchFamily="18" charset="0"/>
                        </a:rPr>
                        <a:t>7.</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     </a:t>
                      </a:r>
                    </a:p>
                  </a:txBody>
                  <a:tcPr/>
                </a:tc>
              </a:tr>
              <a:tr h="452723">
                <a:tc>
                  <a:txBody>
                    <a:bodyPr/>
                    <a:lstStyle/>
                    <a:p>
                      <a:r>
                        <a:rPr lang="en-US" sz="2400" dirty="0" smtClean="0">
                          <a:latin typeface="Times New Roman" pitchFamily="18" charset="0"/>
                          <a:cs typeface="Times New Roman" pitchFamily="18" charset="0"/>
                        </a:rPr>
                        <a:t>8.</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      </a:t>
                      </a:r>
                    </a:p>
                  </a:txBody>
                  <a:tcPr/>
                </a:tc>
              </a:tr>
              <a:tr h="452723">
                <a:tc>
                  <a:txBody>
                    <a:bodyPr/>
                    <a:lstStyle/>
                    <a:p>
                      <a:r>
                        <a:rPr lang="en-US" sz="2400" dirty="0" smtClean="0">
                          <a:latin typeface="Times New Roman" pitchFamily="18" charset="0"/>
                          <a:cs typeface="Times New Roman" pitchFamily="18" charset="0"/>
                        </a:rPr>
                        <a:t>9.</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     </a:t>
                      </a:r>
                    </a:p>
                  </a:txBody>
                  <a:tcPr/>
                </a:tc>
              </a:tr>
              <a:tr h="452723">
                <a:tc>
                  <a:txBody>
                    <a:bodyPr/>
                    <a:lstStyle/>
                    <a:p>
                      <a:r>
                        <a:rPr lang="en-US" sz="2400" dirty="0" smtClean="0">
                          <a:latin typeface="Times New Roman" pitchFamily="18" charset="0"/>
                          <a:cs typeface="Times New Roman" pitchFamily="18" charset="0"/>
                        </a:rPr>
                        <a:t>10.</a:t>
                      </a:r>
                      <a:endParaRPr lang="en-IN" sz="2400" dirty="0">
                        <a:latin typeface="Times New Roman" pitchFamily="18" charset="0"/>
                        <a:cs typeface="Times New Roman" pitchFamily="18" charset="0"/>
                      </a:endParaRPr>
                    </a:p>
                  </a:txBody>
                  <a:tcPr/>
                </a:tc>
                <a:tc>
                  <a:txBody>
                    <a:bodyPr/>
                    <a:lstStyle/>
                    <a:p>
                      <a:r>
                        <a:rPr lang="en-US" sz="2400" baseline="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txBody>
                  <a:tcPr/>
                </a:tc>
              </a:tr>
            </a:tbl>
          </a:graphicData>
        </a:graphic>
      </p:graphicFrame>
      <p:graphicFrame>
        <p:nvGraphicFramePr>
          <p:cNvPr id="9" name="Object 8"/>
          <p:cNvGraphicFramePr>
            <a:graphicFrameLocks noChangeAspect="1"/>
          </p:cNvGraphicFramePr>
          <p:nvPr/>
        </p:nvGraphicFramePr>
        <p:xfrm>
          <a:off x="2000232" y="1714488"/>
          <a:ext cx="2500329" cy="357190"/>
        </p:xfrm>
        <a:graphic>
          <a:graphicData uri="http://schemas.openxmlformats.org/presentationml/2006/ole">
            <mc:AlternateContent xmlns:mc="http://schemas.openxmlformats.org/markup-compatibility/2006">
              <mc:Choice xmlns:v="urn:schemas-microsoft-com:vml" Requires="v">
                <p:oleObj spid="_x0000_s114202" name="Equation" r:id="rId3" imgW="1193760" imgH="203040" progId="Equation.3">
                  <p:embed/>
                </p:oleObj>
              </mc:Choice>
              <mc:Fallback>
                <p:oleObj name="Equation" r:id="rId3" imgW="1193760" imgH="20304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32" y="1714488"/>
                        <a:ext cx="2500329"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2000232" y="2214554"/>
          <a:ext cx="2643205" cy="331474"/>
        </p:xfrm>
        <a:graphic>
          <a:graphicData uri="http://schemas.openxmlformats.org/presentationml/2006/ole">
            <mc:AlternateContent xmlns:mc="http://schemas.openxmlformats.org/markup-compatibility/2006">
              <mc:Choice xmlns:v="urn:schemas-microsoft-com:vml" Requires="v">
                <p:oleObj spid="_x0000_s114203" name="Equation" r:id="rId5" imgW="1269720" imgH="177480" progId="Equation.3">
                  <p:embed/>
                </p:oleObj>
              </mc:Choice>
              <mc:Fallback>
                <p:oleObj name="Equation" r:id="rId5" imgW="1269720" imgH="17748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0232" y="2214554"/>
                        <a:ext cx="2643205" cy="3314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p:cNvGraphicFramePr>
            <a:graphicFrameLocks noChangeAspect="1"/>
          </p:cNvGraphicFramePr>
          <p:nvPr/>
        </p:nvGraphicFramePr>
        <p:xfrm>
          <a:off x="2000232" y="2643182"/>
          <a:ext cx="3500463" cy="364955"/>
        </p:xfrm>
        <a:graphic>
          <a:graphicData uri="http://schemas.openxmlformats.org/presentationml/2006/ole">
            <mc:AlternateContent xmlns:mc="http://schemas.openxmlformats.org/markup-compatibility/2006">
              <mc:Choice xmlns:v="urn:schemas-microsoft-com:vml" Requires="v">
                <p:oleObj spid="_x0000_s114204" name="Equation" r:id="rId7" imgW="2120760" imgH="203040" progId="Equation.3">
                  <p:embed/>
                </p:oleObj>
              </mc:Choice>
              <mc:Fallback>
                <p:oleObj name="Equation" r:id="rId7" imgW="2120760" imgH="203040" progId="Equation.3">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0232" y="2643182"/>
                        <a:ext cx="3500463" cy="3649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2000231" y="3071810"/>
          <a:ext cx="3786215" cy="363953"/>
        </p:xfrm>
        <a:graphic>
          <a:graphicData uri="http://schemas.openxmlformats.org/presentationml/2006/ole">
            <mc:AlternateContent xmlns:mc="http://schemas.openxmlformats.org/markup-compatibility/2006">
              <mc:Choice xmlns:v="urn:schemas-microsoft-com:vml" Requires="v">
                <p:oleObj spid="_x0000_s114205" name="Equation" r:id="rId9" imgW="2095200" imgH="203040" progId="Equation.3">
                  <p:embed/>
                </p:oleObj>
              </mc:Choice>
              <mc:Fallback>
                <p:oleObj name="Equation" r:id="rId9" imgW="2095200" imgH="203040" progId="Equation.3">
                  <p:embed/>
                  <p:pic>
                    <p:nvPicPr>
                      <p:cNvPr id="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0231" y="3071810"/>
                        <a:ext cx="3786215" cy="3639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p:cNvGraphicFramePr>
            <a:graphicFrameLocks noChangeAspect="1"/>
          </p:cNvGraphicFramePr>
          <p:nvPr/>
        </p:nvGraphicFramePr>
        <p:xfrm>
          <a:off x="2000225" y="3571876"/>
          <a:ext cx="3643346" cy="357190"/>
        </p:xfrm>
        <a:graphic>
          <a:graphicData uri="http://schemas.openxmlformats.org/presentationml/2006/ole">
            <mc:AlternateContent xmlns:mc="http://schemas.openxmlformats.org/markup-compatibility/2006">
              <mc:Choice xmlns:v="urn:schemas-microsoft-com:vml" Requires="v">
                <p:oleObj spid="_x0000_s114206" name="Equation" r:id="rId11" imgW="2120760" imgH="203040" progId="Equation.3">
                  <p:embed/>
                </p:oleObj>
              </mc:Choice>
              <mc:Fallback>
                <p:oleObj name="Equation" r:id="rId11" imgW="2120760" imgH="203040" progId="Equation.3">
                  <p:embed/>
                  <p:pic>
                    <p:nvPicPr>
                      <p:cNvPr id="0"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00225" y="3571876"/>
                        <a:ext cx="3643346"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p:cNvGraphicFramePr>
            <a:graphicFrameLocks noChangeAspect="1"/>
          </p:cNvGraphicFramePr>
          <p:nvPr/>
        </p:nvGraphicFramePr>
        <p:xfrm>
          <a:off x="2000231" y="4000504"/>
          <a:ext cx="3786215" cy="357190"/>
        </p:xfrm>
        <a:graphic>
          <a:graphicData uri="http://schemas.openxmlformats.org/presentationml/2006/ole">
            <mc:AlternateContent xmlns:mc="http://schemas.openxmlformats.org/markup-compatibility/2006">
              <mc:Choice xmlns:v="urn:schemas-microsoft-com:vml" Requires="v">
                <p:oleObj spid="_x0000_s114207" name="Equation" r:id="rId13" imgW="2095200" imgH="203040" progId="Equation.3">
                  <p:embed/>
                </p:oleObj>
              </mc:Choice>
              <mc:Fallback>
                <p:oleObj name="Equation" r:id="rId13" imgW="2095200" imgH="203040" progId="Equation.3">
                  <p:embed/>
                  <p:pic>
                    <p:nvPicPr>
                      <p:cNvPr id="0" name="Picture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00231" y="4000504"/>
                        <a:ext cx="3786215"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p:cNvGraphicFramePr>
            <a:graphicFrameLocks noChangeAspect="1"/>
          </p:cNvGraphicFramePr>
          <p:nvPr/>
        </p:nvGraphicFramePr>
        <p:xfrm>
          <a:off x="2000232" y="4429132"/>
          <a:ext cx="3214710" cy="357190"/>
        </p:xfrm>
        <a:graphic>
          <a:graphicData uri="http://schemas.openxmlformats.org/presentationml/2006/ole">
            <mc:AlternateContent xmlns:mc="http://schemas.openxmlformats.org/markup-compatibility/2006">
              <mc:Choice xmlns:v="urn:schemas-microsoft-com:vml" Requires="v">
                <p:oleObj spid="_x0000_s114208" name="Equation" r:id="rId15" imgW="1828800" imgH="203040" progId="Equation.3">
                  <p:embed/>
                </p:oleObj>
              </mc:Choice>
              <mc:Fallback>
                <p:oleObj name="Equation" r:id="rId15" imgW="1828800" imgH="203040" progId="Equation.3">
                  <p:embed/>
                  <p:pic>
                    <p:nvPicPr>
                      <p:cNvPr id="0" name="Picture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00232" y="4429132"/>
                        <a:ext cx="3214710"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p:cNvGraphicFramePr>
            <a:graphicFrameLocks noChangeAspect="1"/>
          </p:cNvGraphicFramePr>
          <p:nvPr/>
        </p:nvGraphicFramePr>
        <p:xfrm>
          <a:off x="2000233" y="4929198"/>
          <a:ext cx="2857520" cy="357190"/>
        </p:xfrm>
        <a:graphic>
          <a:graphicData uri="http://schemas.openxmlformats.org/presentationml/2006/ole">
            <mc:AlternateContent xmlns:mc="http://schemas.openxmlformats.org/markup-compatibility/2006">
              <mc:Choice xmlns:v="urn:schemas-microsoft-com:vml" Requires="v">
                <p:oleObj spid="_x0000_s114209" name="Equation" r:id="rId17" imgW="1295280" imgH="177480" progId="Equation.3">
                  <p:embed/>
                </p:oleObj>
              </mc:Choice>
              <mc:Fallback>
                <p:oleObj name="Equation" r:id="rId17" imgW="1295280" imgH="177480" progId="Equation.3">
                  <p:embed/>
                  <p:pic>
                    <p:nvPicPr>
                      <p:cNvPr id="0" name="Picture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00233" y="4929198"/>
                        <a:ext cx="2857520"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0"/>
          <p:cNvGraphicFramePr>
            <a:graphicFrameLocks noChangeAspect="1"/>
          </p:cNvGraphicFramePr>
          <p:nvPr/>
        </p:nvGraphicFramePr>
        <p:xfrm>
          <a:off x="2000232" y="5357826"/>
          <a:ext cx="3786213" cy="357190"/>
        </p:xfrm>
        <a:graphic>
          <a:graphicData uri="http://schemas.openxmlformats.org/presentationml/2006/ole">
            <mc:AlternateContent xmlns:mc="http://schemas.openxmlformats.org/markup-compatibility/2006">
              <mc:Choice xmlns:v="urn:schemas-microsoft-com:vml" Requires="v">
                <p:oleObj spid="_x0000_s114210" name="Equation" r:id="rId19" imgW="1879560" imgH="203040" progId="Equation.3">
                  <p:embed/>
                </p:oleObj>
              </mc:Choice>
              <mc:Fallback>
                <p:oleObj name="Equation" r:id="rId19" imgW="1879560" imgH="203040" progId="Equation.3">
                  <p:embed/>
                  <p:pic>
                    <p:nvPicPr>
                      <p:cNvPr id="0" name="Picture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00232" y="5357826"/>
                        <a:ext cx="3786213"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1"/>
          <p:cNvGraphicFramePr>
            <a:graphicFrameLocks noChangeAspect="1"/>
          </p:cNvGraphicFramePr>
          <p:nvPr/>
        </p:nvGraphicFramePr>
        <p:xfrm>
          <a:off x="2000231" y="5815452"/>
          <a:ext cx="3000397" cy="399629"/>
        </p:xfrm>
        <a:graphic>
          <a:graphicData uri="http://schemas.openxmlformats.org/presentationml/2006/ole">
            <mc:AlternateContent xmlns:mc="http://schemas.openxmlformats.org/markup-compatibility/2006">
              <mc:Choice xmlns:v="urn:schemas-microsoft-com:vml" Requires="v">
                <p:oleObj spid="_x0000_s114211" name="Equation" r:id="rId21" imgW="1409400" imgH="203040" progId="Equation.3">
                  <p:embed/>
                </p:oleObj>
              </mc:Choice>
              <mc:Fallback>
                <p:oleObj name="Equation" r:id="rId21" imgW="1409400" imgH="203040" progId="Equation.3">
                  <p:embed/>
                  <p:pic>
                    <p:nvPicPr>
                      <p:cNvPr id="0" name="Picture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00231" y="5815452"/>
                        <a:ext cx="3000397" cy="3996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Converse, Contrapositive and Inverse </a:t>
            </a:r>
            <a:endParaRPr lang="en-IN" sz="3200" b="1" dirty="0">
              <a:solidFill>
                <a:srgbClr val="335295"/>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28596" y="1643050"/>
                <a:ext cx="8286808" cy="4572032"/>
              </a:xfrm>
            </p:spPr>
            <p:txBody>
              <a:bodyPr/>
              <a:lstStyle/>
              <a:p>
                <a:pPr algn="just">
                  <a:buNone/>
                </a:pPr>
                <a:r>
                  <a:rPr lang="en-US" sz="2400" dirty="0" smtClean="0">
                    <a:solidFill>
                      <a:srgbClr val="000000"/>
                    </a:solidFill>
                    <a:latin typeface="Times New Roman" pitchFamily="18" charset="0"/>
                    <a:cs typeface="Times New Roman" pitchFamily="18" charset="0"/>
                  </a:rPr>
                  <a:t> Let             be the conditional proposition. </a:t>
                </a:r>
                <a:r>
                  <a:rPr lang="en-US" sz="2400" dirty="0">
                    <a:solidFill>
                      <a:srgbClr val="000000"/>
                    </a:solidFill>
                    <a:latin typeface="Times New Roman" pitchFamily="18" charset="0"/>
                    <a:cs typeface="Times New Roman" pitchFamily="18" charset="0"/>
                  </a:rPr>
                  <a:t>T</a:t>
                </a:r>
                <a:r>
                  <a:rPr lang="en-US" sz="2400" dirty="0" smtClean="0">
                    <a:solidFill>
                      <a:srgbClr val="000000"/>
                    </a:solidFill>
                    <a:latin typeface="Times New Roman" pitchFamily="18" charset="0"/>
                    <a:cs typeface="Times New Roman" pitchFamily="18" charset="0"/>
                  </a:rPr>
                  <a:t>hen          </a:t>
                </a:r>
              </a:p>
              <a:p>
                <a:pPr algn="just">
                  <a:buFont typeface="Wingdings" pitchFamily="2" charset="2"/>
                  <a:buChar char="§"/>
                </a:pPr>
                <a:r>
                  <a:rPr lang="en-US" sz="2400" dirty="0" smtClean="0">
                    <a:solidFill>
                      <a:srgbClr val="000000"/>
                    </a:solidFill>
                    <a:latin typeface="Times New Roman" pitchFamily="18" charset="0"/>
                    <a:cs typeface="Times New Roman" pitchFamily="18" charset="0"/>
                  </a:rPr>
                  <a:t>             is called its </a:t>
                </a:r>
                <a:r>
                  <a:rPr lang="en-US" sz="2400" dirty="0" smtClean="0">
                    <a:solidFill>
                      <a:srgbClr val="FF0000"/>
                    </a:solidFill>
                    <a:latin typeface="Times New Roman" pitchFamily="18" charset="0"/>
                    <a:cs typeface="Times New Roman" pitchFamily="18" charset="0"/>
                  </a:rPr>
                  <a:t>CONVERSE</a:t>
                </a:r>
                <a:r>
                  <a:rPr lang="en-US" sz="2400" dirty="0" smtClean="0">
                    <a:solidFill>
                      <a:srgbClr val="000000"/>
                    </a:solidFill>
                    <a:latin typeface="Times New Roman" pitchFamily="18" charset="0"/>
                    <a:cs typeface="Times New Roman" pitchFamily="18" charset="0"/>
                  </a:rPr>
                  <a:t>.</a:t>
                </a:r>
              </a:p>
              <a:p>
                <a:pPr algn="just">
                  <a:buFont typeface="Wingdings" pitchFamily="2" charset="2"/>
                  <a:buChar char="§"/>
                </a:pPr>
                <a:r>
                  <a:rPr lang="en-US" sz="2400" dirty="0" smtClean="0">
                    <a:solidFill>
                      <a:srgbClr val="000000"/>
                    </a:solidFill>
                    <a:latin typeface="Times New Roman" pitchFamily="18" charset="0"/>
                    <a:cs typeface="Times New Roman" pitchFamily="18" charset="0"/>
                  </a:rPr>
                  <a:t>                is called its </a:t>
                </a:r>
                <a:r>
                  <a:rPr lang="en-US" sz="2400" dirty="0" smtClean="0">
                    <a:solidFill>
                      <a:srgbClr val="FF0000"/>
                    </a:solidFill>
                    <a:latin typeface="Times New Roman" pitchFamily="18" charset="0"/>
                    <a:cs typeface="Times New Roman" pitchFamily="18" charset="0"/>
                  </a:rPr>
                  <a:t>CONTRAPOSITIVE</a:t>
                </a:r>
                <a:r>
                  <a:rPr lang="en-US" sz="2400" dirty="0" smtClean="0">
                    <a:solidFill>
                      <a:srgbClr val="000000"/>
                    </a:solidFill>
                    <a:latin typeface="Times New Roman" pitchFamily="18" charset="0"/>
                    <a:cs typeface="Times New Roman" pitchFamily="18" charset="0"/>
                  </a:rPr>
                  <a:t>. </a:t>
                </a:r>
              </a:p>
              <a:p>
                <a:pPr algn="just">
                  <a:buFont typeface="Wingdings" pitchFamily="2" charset="2"/>
                  <a:buChar char="§"/>
                </a:pPr>
                <a:r>
                  <a:rPr lang="en-US" sz="2400" dirty="0" smtClean="0">
                    <a:solidFill>
                      <a:srgbClr val="000000"/>
                    </a:solidFill>
                    <a:latin typeface="Times New Roman" pitchFamily="18" charset="0"/>
                    <a:cs typeface="Times New Roman" pitchFamily="18" charset="0"/>
                  </a:rPr>
                  <a:t>                  is called its </a:t>
                </a:r>
                <a:r>
                  <a:rPr lang="en-US" sz="2400" dirty="0" smtClean="0">
                    <a:solidFill>
                      <a:srgbClr val="FF0000"/>
                    </a:solidFill>
                    <a:latin typeface="Times New Roman" pitchFamily="18" charset="0"/>
                    <a:cs typeface="Times New Roman" pitchFamily="18" charset="0"/>
                  </a:rPr>
                  <a:t>INVERSE</a:t>
                </a:r>
                <a:r>
                  <a:rPr lang="en-US" sz="2400" dirty="0" smtClean="0">
                    <a:solidFill>
                      <a:srgbClr val="000000"/>
                    </a:solidFill>
                    <a:latin typeface="Times New Roman" pitchFamily="18" charset="0"/>
                    <a:cs typeface="Times New Roman" pitchFamily="18" charset="0"/>
                  </a:rPr>
                  <a:t>.</a:t>
                </a:r>
              </a:p>
              <a:p>
                <a:pPr algn="just">
                  <a:buNone/>
                </a:pPr>
                <a:r>
                  <a:rPr lang="en-US" sz="2400" b="1" dirty="0" smtClean="0">
                    <a:solidFill>
                      <a:srgbClr val="FF0000"/>
                    </a:solidFill>
                    <a:latin typeface="Times New Roman" pitchFamily="18" charset="0"/>
                    <a:cs typeface="Times New Roman" pitchFamily="18" charset="0"/>
                  </a:rPr>
                  <a:t>Remark</a:t>
                </a:r>
              </a:p>
              <a:p>
                <a:pPr algn="just">
                  <a:buFont typeface="Wingdings" pitchFamily="2" charset="2"/>
                  <a:buChar char="§"/>
                </a:pPr>
                <a:r>
                  <a:rPr lang="en-US" sz="2400" dirty="0" smtClean="0">
                    <a:solidFill>
                      <a:srgbClr val="000000"/>
                    </a:solidFill>
                    <a:latin typeface="Times New Roman" pitchFamily="18" charset="0"/>
                    <a:cs typeface="Times New Roman" pitchFamily="18" charset="0"/>
                  </a:rPr>
                  <a:t>The conditional proposition and its contrapositive are </a:t>
                </a:r>
                <a:r>
                  <a:rPr lang="en-US" sz="2400" dirty="0" smtClean="0">
                    <a:solidFill>
                      <a:srgbClr val="FF0000"/>
                    </a:solidFill>
                    <a:latin typeface="Times New Roman" pitchFamily="18" charset="0"/>
                    <a:cs typeface="Times New Roman" pitchFamily="18" charset="0"/>
                  </a:rPr>
                  <a:t>logically    equivalent</a:t>
                </a:r>
                <a:r>
                  <a:rPr lang="en-US" sz="2400" dirty="0" smtClean="0">
                    <a:solidFill>
                      <a:srgbClr val="000000"/>
                    </a:solidFill>
                    <a:latin typeface="Times New Roman" pitchFamily="18" charset="0"/>
                    <a:cs typeface="Times New Roman" pitchFamily="18" charset="0"/>
                  </a:rPr>
                  <a:t>, (i.e),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                                     .</a:t>
                </a:r>
              </a:p>
              <a:p>
                <a:pPr algn="just">
                  <a:buFont typeface="Wingdings" pitchFamily="2" charset="2"/>
                  <a:buChar char="§"/>
                </a:pPr>
                <a:r>
                  <a:rPr lang="en-US" sz="2400" dirty="0" smtClean="0">
                    <a:solidFill>
                      <a:srgbClr val="000000"/>
                    </a:solidFill>
                    <a:latin typeface="Times New Roman" pitchFamily="18" charset="0"/>
                    <a:cs typeface="Times New Roman" pitchFamily="18" charset="0"/>
                  </a:rPr>
                  <a:t>The conditional proposition and its converse are </a:t>
                </a:r>
                <a:r>
                  <a:rPr lang="en-US" sz="2400" dirty="0" smtClean="0">
                    <a:solidFill>
                      <a:srgbClr val="FF0000"/>
                    </a:solidFill>
                    <a:latin typeface="Times New Roman" pitchFamily="18" charset="0"/>
                    <a:cs typeface="Times New Roman" pitchFamily="18" charset="0"/>
                  </a:rPr>
                  <a:t>not logically equivalent</a:t>
                </a:r>
                <a:r>
                  <a:rPr lang="en-US" sz="2400" dirty="0" smtClean="0">
                    <a:solidFill>
                      <a:srgbClr val="000000"/>
                    </a:solidFill>
                    <a:latin typeface="Times New Roman" pitchFamily="18" charset="0"/>
                    <a:cs typeface="Times New Roman" pitchFamily="18" charset="0"/>
                  </a:rPr>
                  <a:t>, (i.e),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0"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and  </a:t>
                </a:r>
                <a14:m>
                  <m:oMath xmlns:m="http://schemas.openxmlformats.org/officeDocument/2006/math">
                    <m:r>
                      <a:rPr lang="en-US" sz="2400" b="0" i="1" smtClean="0">
                        <a:solidFill>
                          <a:srgbClr val="000000"/>
                        </a:solidFill>
                        <a:latin typeface="Cambria Math"/>
                        <a:cs typeface="Times New Roman" pitchFamily="18" charset="0"/>
                      </a:rPr>
                      <m:t>𝑞</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𝑝</m:t>
                    </m:r>
                    <m:r>
                      <a:rPr lang="en-US" sz="2400" b="0" i="0"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are not logically </a:t>
                </a:r>
              </a:p>
              <a:p>
                <a:pPr marL="0" indent="0" algn="just">
                  <a:buNone/>
                </a:pPr>
                <a:r>
                  <a:rPr lang="en-US" sz="2400" dirty="0" smtClean="0">
                    <a:solidFill>
                      <a:srgbClr val="000000"/>
                    </a:solidFill>
                    <a:latin typeface="Times New Roman" pitchFamily="18" charset="0"/>
                    <a:cs typeface="Times New Roman" pitchFamily="18" charset="0"/>
                  </a:rPr>
                  <a:t>     equivalent.</a:t>
                </a:r>
              </a:p>
              <a:p>
                <a:pPr>
                  <a:buFont typeface="Wingdings" pitchFamily="2" charset="2"/>
                  <a:buChar char="§"/>
                </a:pPr>
                <a:endParaRPr lang="en-US" sz="2400" dirty="0" smtClean="0">
                  <a:solidFill>
                    <a:srgbClr val="000000"/>
                  </a:solidFill>
                  <a:latin typeface="Times New Roman" pitchFamily="18" charset="0"/>
                  <a:cs typeface="Times New Roman" pitchFamily="18" charset="0"/>
                </a:endParaRPr>
              </a:p>
              <a:p>
                <a:pPr>
                  <a:buNone/>
                </a:pPr>
                <a:endParaRPr lang="en-US" sz="2400" dirty="0" smtClean="0">
                  <a:solidFill>
                    <a:srgbClr val="000000"/>
                  </a:solidFill>
                  <a:latin typeface="Times New Roman" pitchFamily="18" charset="0"/>
                  <a:cs typeface="Times New Roman" pitchFamily="18" charset="0"/>
                </a:endParaRPr>
              </a:p>
              <a:p>
                <a:pPr>
                  <a:buNone/>
                </a:pPr>
                <a:endParaRPr lang="en-US" sz="2400" dirty="0" smtClean="0">
                  <a:solidFill>
                    <a:srgbClr val="000000"/>
                  </a:solidFill>
                  <a:latin typeface="Times New Roman" pitchFamily="18" charset="0"/>
                  <a:cs typeface="Times New Roman" pitchFamily="18" charset="0"/>
                </a:endParaRPr>
              </a:p>
              <a:p>
                <a:pPr>
                  <a:buFont typeface="Wingdings" pitchFamily="2" charset="2"/>
                  <a:buChar char="§"/>
                </a:pPr>
                <a:endParaRPr lang="en-US" sz="2400" dirty="0" smtClean="0">
                  <a:solidFill>
                    <a:srgbClr val="000000"/>
                  </a:solidFill>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28596" y="1643050"/>
                <a:ext cx="8286808" cy="4572032"/>
              </a:xfrm>
              <a:blipFill rotWithShape="1">
                <a:blip r:embed="rId3"/>
                <a:stretch>
                  <a:fillRect l="-1103" t="-1067" r="-4926" b="-34667"/>
                </a:stretch>
              </a:blipFill>
            </p:spPr>
            <p:txBody>
              <a:bodyPr/>
              <a:lstStyle/>
              <a:p>
                <a:r>
                  <a:rPr lang="en-IN">
                    <a:noFill/>
                  </a:rPr>
                  <a:t> </a:t>
                </a:r>
              </a:p>
            </p:txBody>
          </p:sp>
        </mc:Fallback>
      </mc:AlternateContent>
      <p:graphicFrame>
        <p:nvGraphicFramePr>
          <p:cNvPr id="13" name="Object 12"/>
          <p:cNvGraphicFramePr>
            <a:graphicFrameLocks noChangeAspect="1"/>
          </p:cNvGraphicFramePr>
          <p:nvPr/>
        </p:nvGraphicFramePr>
        <p:xfrm>
          <a:off x="1071563" y="1754188"/>
          <a:ext cx="781050" cy="347662"/>
        </p:xfrm>
        <a:graphic>
          <a:graphicData uri="http://schemas.openxmlformats.org/presentationml/2006/ole">
            <mc:AlternateContent xmlns:mc="http://schemas.openxmlformats.org/markup-compatibility/2006">
              <mc:Choice xmlns:v="urn:schemas-microsoft-com:vml" Requires="v">
                <p:oleObj spid="_x0000_s63803" name="Equation" r:id="rId4" imgW="444240" imgH="164880" progId="Equation.3">
                  <p:embed/>
                </p:oleObj>
              </mc:Choice>
              <mc:Fallback>
                <p:oleObj name="Equation" r:id="rId4" imgW="444240" imgH="164880" progId="Equation.3">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1563" y="1754188"/>
                        <a:ext cx="781050" cy="347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p:cNvGraphicFramePr>
            <a:graphicFrameLocks noChangeAspect="1"/>
          </p:cNvGraphicFramePr>
          <p:nvPr/>
        </p:nvGraphicFramePr>
        <p:xfrm>
          <a:off x="755650" y="2181225"/>
          <a:ext cx="1139825" cy="328613"/>
        </p:xfrm>
        <a:graphic>
          <a:graphicData uri="http://schemas.openxmlformats.org/presentationml/2006/ole">
            <mc:AlternateContent xmlns:mc="http://schemas.openxmlformats.org/markup-compatibility/2006">
              <mc:Choice xmlns:v="urn:schemas-microsoft-com:vml" Requires="v">
                <p:oleObj spid="_x0000_s63804" name="Equation" r:id="rId6" imgW="444240" imgH="164880" progId="Equation.3">
                  <p:embed/>
                </p:oleObj>
              </mc:Choice>
              <mc:Fallback>
                <p:oleObj name="Equation" r:id="rId6" imgW="444240" imgH="164880" progId="Equation.3">
                  <p:embed/>
                  <p:pic>
                    <p:nvPicPr>
                      <p:cNvPr id="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650" y="2181225"/>
                        <a:ext cx="1139825"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4"/>
          <p:cNvGraphicFramePr>
            <a:graphicFrameLocks noChangeAspect="1"/>
          </p:cNvGraphicFramePr>
          <p:nvPr/>
        </p:nvGraphicFramePr>
        <p:xfrm>
          <a:off x="765175" y="2597150"/>
          <a:ext cx="1255713" cy="325438"/>
        </p:xfrm>
        <a:graphic>
          <a:graphicData uri="http://schemas.openxmlformats.org/presentationml/2006/ole">
            <mc:AlternateContent xmlns:mc="http://schemas.openxmlformats.org/markup-compatibility/2006">
              <mc:Choice xmlns:v="urn:schemas-microsoft-com:vml" Requires="v">
                <p:oleObj spid="_x0000_s63805" name="Equation" r:id="rId8" imgW="634680" imgH="164880" progId="Equation.3">
                  <p:embed/>
                </p:oleObj>
              </mc:Choice>
              <mc:Fallback>
                <p:oleObj name="Equation" r:id="rId8" imgW="634680" imgH="164880" progId="Equation.3">
                  <p:embed/>
                  <p:pic>
                    <p:nvPicPr>
                      <p:cNvPr id="0"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5175" y="2597150"/>
                        <a:ext cx="1255713" cy="32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p:cNvGraphicFramePr>
            <a:graphicFrameLocks noChangeAspect="1"/>
          </p:cNvGraphicFramePr>
          <p:nvPr/>
        </p:nvGraphicFramePr>
        <p:xfrm>
          <a:off x="769938" y="3040063"/>
          <a:ext cx="1401762" cy="347662"/>
        </p:xfrm>
        <a:graphic>
          <a:graphicData uri="http://schemas.openxmlformats.org/presentationml/2006/ole">
            <mc:AlternateContent xmlns:mc="http://schemas.openxmlformats.org/markup-compatibility/2006">
              <mc:Choice xmlns:v="urn:schemas-microsoft-com:vml" Requires="v">
                <p:oleObj spid="_x0000_s63806" name="Equation" r:id="rId10" imgW="634680" imgH="164880" progId="Equation.3">
                  <p:embed/>
                </p:oleObj>
              </mc:Choice>
              <mc:Fallback>
                <p:oleObj name="Equation" r:id="rId10" imgW="634680" imgH="164880" progId="Equation.3">
                  <p:embed/>
                  <p:pic>
                    <p:nvPicPr>
                      <p:cNvPr id="0"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9938" y="3040063"/>
                        <a:ext cx="1401762" cy="347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274638"/>
            <a:ext cx="8043890" cy="654032"/>
          </a:xfrm>
        </p:spPr>
        <p:txBody>
          <a:bodyPr/>
          <a:lstStyle/>
          <a:p>
            <a:r>
              <a:rPr lang="en-US" sz="3200" b="1" dirty="0" smtClean="0">
                <a:solidFill>
                  <a:srgbClr val="335295"/>
                </a:solidFill>
              </a:rPr>
              <a:t>Other</a:t>
            </a:r>
            <a:r>
              <a:rPr lang="en-US" sz="3200" dirty="0" smtClean="0">
                <a:solidFill>
                  <a:srgbClr val="335295"/>
                </a:solidFill>
              </a:rPr>
              <a:t> </a:t>
            </a:r>
            <a:r>
              <a:rPr lang="en-US" sz="3200" b="1" dirty="0" smtClean="0">
                <a:solidFill>
                  <a:srgbClr val="335295"/>
                </a:solidFill>
              </a:rPr>
              <a:t>Connectives</a:t>
            </a:r>
            <a:endParaRPr lang="en-IN" sz="3200" b="1" dirty="0">
              <a:solidFill>
                <a:srgbClr val="335295"/>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28596" y="928670"/>
                <a:ext cx="8286808" cy="5286412"/>
              </a:xfrm>
            </p:spPr>
            <p:txBody>
              <a:bodyPr/>
              <a:lstStyle/>
              <a:p>
                <a:pPr algn="just">
                  <a:buNone/>
                </a:pPr>
                <a:r>
                  <a:rPr lang="en-US" sz="2400" dirty="0" smtClean="0">
                    <a:solidFill>
                      <a:srgbClr val="000000"/>
                    </a:solidFill>
                    <a:latin typeface="Times New Roman" pitchFamily="18" charset="0"/>
                    <a:cs typeface="Times New Roman" pitchFamily="18" charset="0"/>
                  </a:rPr>
                  <a:t>    Apart from five basic connectives that we discussed earlier,  there are two other connectives namely </a:t>
                </a:r>
                <a:r>
                  <a:rPr lang="en-US" sz="2400" dirty="0" smtClean="0">
                    <a:solidFill>
                      <a:srgbClr val="FF0000"/>
                    </a:solidFill>
                    <a:latin typeface="Times New Roman" pitchFamily="18" charset="0"/>
                    <a:cs typeface="Times New Roman" pitchFamily="18" charset="0"/>
                  </a:rPr>
                  <a:t>NAND</a:t>
                </a:r>
                <a:r>
                  <a:rPr lang="en-US" sz="2400" dirty="0" smtClean="0">
                    <a:solidFill>
                      <a:srgbClr val="000000"/>
                    </a:solidFill>
                    <a:latin typeface="Times New Roman" pitchFamily="18" charset="0"/>
                    <a:cs typeface="Times New Roman" pitchFamily="18" charset="0"/>
                  </a:rPr>
                  <a:t> and </a:t>
                </a:r>
                <a:r>
                  <a:rPr lang="en-US" sz="2400" dirty="0" smtClean="0">
                    <a:solidFill>
                      <a:srgbClr val="FF0000"/>
                    </a:solidFill>
                    <a:latin typeface="Times New Roman" pitchFamily="18" charset="0"/>
                    <a:cs typeface="Times New Roman" pitchFamily="18" charset="0"/>
                  </a:rPr>
                  <a:t>NOR</a:t>
                </a:r>
                <a:r>
                  <a:rPr lang="en-US" sz="2400" dirty="0" smtClean="0">
                    <a:solidFill>
                      <a:srgbClr val="000000"/>
                    </a:solidFill>
                    <a:latin typeface="Times New Roman" pitchFamily="18" charset="0"/>
                    <a:cs typeface="Times New Roman" pitchFamily="18" charset="0"/>
                  </a:rPr>
                  <a:t>.</a:t>
                </a:r>
              </a:p>
              <a:p>
                <a:pPr algn="just">
                  <a:buFont typeface="Wingdings" pitchFamily="2" charset="2"/>
                  <a:buChar char="q"/>
                </a:pPr>
                <a:r>
                  <a:rPr lang="en-US" sz="2400" b="1" dirty="0" smtClean="0">
                    <a:solidFill>
                      <a:srgbClr val="FF0000"/>
                    </a:solidFill>
                    <a:latin typeface="Times New Roman" pitchFamily="18" charset="0"/>
                    <a:cs typeface="Times New Roman" pitchFamily="18" charset="0"/>
                  </a:rPr>
                  <a:t>NAND</a:t>
                </a:r>
              </a:p>
              <a:p>
                <a:pPr algn="just">
                  <a:buFont typeface="Wingdings" pitchFamily="2" charset="2"/>
                  <a:buChar char="Ø"/>
                </a:pPr>
                <a:r>
                  <a:rPr lang="en-US" sz="2400" dirty="0" smtClean="0">
                    <a:solidFill>
                      <a:srgbClr val="000000"/>
                    </a:solidFill>
                    <a:latin typeface="Times New Roman" pitchFamily="18" charset="0"/>
                    <a:cs typeface="Times New Roman" pitchFamily="18" charset="0"/>
                  </a:rPr>
                  <a:t>    “</a:t>
                </a:r>
                <a:r>
                  <a:rPr lang="en-US" sz="2400" dirty="0" smtClean="0">
                    <a:solidFill>
                      <a:srgbClr val="FF0000"/>
                    </a:solidFill>
                    <a:latin typeface="Times New Roman" pitchFamily="18" charset="0"/>
                    <a:cs typeface="Times New Roman" pitchFamily="18" charset="0"/>
                  </a:rPr>
                  <a:t>NAND</a:t>
                </a:r>
                <a:r>
                  <a:rPr lang="en-US" sz="2400" dirty="0" smtClean="0">
                    <a:solidFill>
                      <a:srgbClr val="000000"/>
                    </a:solidFill>
                    <a:latin typeface="Times New Roman" pitchFamily="18" charset="0"/>
                    <a:cs typeface="Times New Roman" pitchFamily="18" charset="0"/>
                  </a:rPr>
                  <a:t>” is a combination of  “</a:t>
                </a:r>
                <a:r>
                  <a:rPr lang="en-US" sz="2400" dirty="0" smtClean="0">
                    <a:solidFill>
                      <a:srgbClr val="FF0000"/>
                    </a:solidFill>
                    <a:latin typeface="Times New Roman" pitchFamily="18" charset="0"/>
                    <a:cs typeface="Times New Roman" pitchFamily="18" charset="0"/>
                  </a:rPr>
                  <a:t>NOT</a:t>
                </a:r>
                <a:r>
                  <a:rPr lang="en-US" sz="2400" dirty="0" smtClean="0">
                    <a:solidFill>
                      <a:srgbClr val="000000"/>
                    </a:solidFill>
                    <a:latin typeface="Times New Roman" pitchFamily="18" charset="0"/>
                    <a:cs typeface="Times New Roman" pitchFamily="18" charset="0"/>
                  </a:rPr>
                  <a:t>” and “</a:t>
                </a:r>
                <a:r>
                  <a:rPr lang="en-US" sz="2400" dirty="0" smtClean="0">
                    <a:solidFill>
                      <a:srgbClr val="FF0000"/>
                    </a:solidFill>
                    <a:latin typeface="Times New Roman" pitchFamily="18" charset="0"/>
                    <a:cs typeface="Times New Roman" pitchFamily="18" charset="0"/>
                  </a:rPr>
                  <a:t>AND</a:t>
                </a:r>
                <a:r>
                  <a:rPr lang="en-US" sz="2400" dirty="0" smtClean="0">
                    <a:solidFill>
                      <a:srgbClr val="000000"/>
                    </a:solidFill>
                    <a:latin typeface="Times New Roman" pitchFamily="18" charset="0"/>
                    <a:cs typeface="Times New Roman" pitchFamily="18" charset="0"/>
                  </a:rPr>
                  <a:t>”.</a:t>
                </a:r>
              </a:p>
              <a:p>
                <a:pPr algn="just">
                  <a:buFont typeface="Wingdings" pitchFamily="2" charset="2"/>
                  <a:buChar char="Ø"/>
                </a:pPr>
                <a:r>
                  <a:rPr lang="en-US" sz="2400" dirty="0" smtClean="0">
                    <a:solidFill>
                      <a:srgbClr val="000000"/>
                    </a:solidFill>
                    <a:latin typeface="Times New Roman" pitchFamily="18" charset="0"/>
                    <a:cs typeface="Times New Roman" pitchFamily="18" charset="0"/>
                  </a:rPr>
                  <a:t>     The connective “NAND” is denoted by the symbol </a:t>
                </a:r>
                <a14:m>
                  <m:oMath xmlns:m="http://schemas.openxmlformats.org/officeDocument/2006/math">
                    <m:r>
                      <a:rPr lang="en-US" sz="2400" i="1" smtClean="0">
                        <a:solidFill>
                          <a:srgbClr val="000000"/>
                        </a:solidFill>
                        <a:latin typeface="Cambria Math"/>
                        <a:ea typeface="Cambria Math"/>
                        <a:cs typeface="Times New Roman" pitchFamily="18" charset="0"/>
                      </a:rPr>
                      <m:t>↑</m:t>
                    </m:r>
                  </m:oMath>
                </a14:m>
                <a:r>
                  <a:rPr lang="en-US" sz="2400" dirty="0" smtClean="0">
                    <a:solidFill>
                      <a:srgbClr val="000000"/>
                    </a:solidFill>
                    <a:latin typeface="Times New Roman" pitchFamily="18" charset="0"/>
                    <a:cs typeface="Times New Roman" pitchFamily="18" charset="0"/>
                  </a:rPr>
                  <a:t> .</a:t>
                </a:r>
              </a:p>
              <a:p>
                <a:pPr algn="just">
                  <a:buFont typeface="Wingdings" pitchFamily="2" charset="2"/>
                  <a:buChar char="Ø"/>
                </a:pPr>
                <a:r>
                  <a:rPr lang="en-US" sz="2400" dirty="0" smtClean="0">
                    <a:solidFill>
                      <a:srgbClr val="000000"/>
                    </a:solidFill>
                    <a:latin typeface="Times New Roman" pitchFamily="18" charset="0"/>
                    <a:cs typeface="Times New Roman" pitchFamily="18" charset="0"/>
                  </a:rPr>
                  <a:t>     For any two formulae </a:t>
                </a:r>
                <a14:m>
                  <m:oMath xmlns:m="http://schemas.openxmlformats.org/officeDocument/2006/math">
                    <m:r>
                      <a:rPr lang="en-US" sz="2400" b="0" i="1" smtClean="0">
                        <a:solidFill>
                          <a:srgbClr val="000000"/>
                        </a:solidFill>
                        <a:latin typeface="Cambria Math"/>
                        <a:cs typeface="Times New Roman" pitchFamily="18" charset="0"/>
                      </a:rPr>
                      <m:t>𝑝</m:t>
                    </m:r>
                  </m:oMath>
                </a14:m>
                <a:r>
                  <a:rPr lang="en-US" sz="2400" dirty="0" smtClean="0">
                    <a:solidFill>
                      <a:srgbClr val="000000"/>
                    </a:solidFill>
                    <a:latin typeface="Times New Roman" pitchFamily="18" charset="0"/>
                    <a:cs typeface="Times New Roman" pitchFamily="18" charset="0"/>
                  </a:rPr>
                  <a:t> and </a:t>
                </a:r>
                <a14:m>
                  <m:oMath xmlns:m="http://schemas.openxmlformats.org/officeDocument/2006/math">
                    <m:r>
                      <a:rPr lang="en-US" sz="2400" b="0" i="1" smtClean="0">
                        <a:solidFill>
                          <a:srgbClr val="000000"/>
                        </a:solidFill>
                        <a:latin typeface="Cambria Math"/>
                        <a:cs typeface="Times New Roman" pitchFamily="18" charset="0"/>
                      </a:rPr>
                      <m:t>𝑞</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1" smtClean="0">
                        <a:solidFill>
                          <a:srgbClr val="000000"/>
                        </a:solidFill>
                        <a:latin typeface="Cambria Math"/>
                        <a:ea typeface="Cambria Math"/>
                        <a:cs typeface="Times New Roman" pitchFamily="18" charset="0"/>
                      </a:rPr>
                      <m:t>⇔¬</m:t>
                    </m:r>
                    <m:d>
                      <m:dPr>
                        <m:ctrlPr>
                          <a:rPr lang="en-US" sz="2400" b="0" i="1" smtClean="0">
                            <a:solidFill>
                              <a:srgbClr val="000000"/>
                            </a:solidFill>
                            <a:latin typeface="Cambria Math"/>
                            <a:ea typeface="Cambria Math"/>
                            <a:cs typeface="Times New Roman" pitchFamily="18" charset="0"/>
                          </a:rPr>
                        </m:ctrlPr>
                      </m:dPr>
                      <m:e>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e>
                    </m:d>
                    <m:r>
                      <a:rPr lang="en-US" sz="2400" b="0" i="1" smtClean="0">
                        <a:solidFill>
                          <a:srgbClr val="000000"/>
                        </a:solidFill>
                        <a:latin typeface="Cambria Math"/>
                        <a:ea typeface="Cambria Math"/>
                        <a:cs typeface="Times New Roman" pitchFamily="18" charset="0"/>
                      </a:rPr>
                      <m:t>.</m:t>
                    </m:r>
                  </m:oMath>
                </a14:m>
                <a:r>
                  <a:rPr lang="en-US" sz="2400" dirty="0" smtClean="0">
                    <a:solidFill>
                      <a:srgbClr val="000000"/>
                    </a:solidFill>
                    <a:latin typeface="Times New Roman" pitchFamily="18" charset="0"/>
                    <a:cs typeface="Times New Roman"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28596" y="928670"/>
                <a:ext cx="8286808" cy="5286412"/>
              </a:xfrm>
              <a:blipFill rotWithShape="1">
                <a:blip r:embed="rId2"/>
                <a:stretch>
                  <a:fillRect l="-1103" t="-922" r="-29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18" name="Table 17"/>
              <p:cNvGraphicFramePr>
                <a:graphicFrameLocks noGrp="1"/>
              </p:cNvGraphicFramePr>
              <p:nvPr>
                <p:extLst>
                  <p:ext uri="{D42A27DB-BD31-4B8C-83A1-F6EECF244321}">
                    <p14:modId xmlns:p14="http://schemas.microsoft.com/office/powerpoint/2010/main" val="3054128144"/>
                  </p:ext>
                </p:extLst>
              </p:nvPr>
            </p:nvGraphicFramePr>
            <p:xfrm>
              <a:off x="2714611" y="3614756"/>
              <a:ext cx="3643338" cy="2743200"/>
            </p:xfrm>
            <a:graphic>
              <a:graphicData uri="http://schemas.openxmlformats.org/drawingml/2006/table">
                <a:tbl>
                  <a:tblPr firstRow="1" bandRow="1">
                    <a:tableStyleId>{5C22544A-7EE6-4342-B048-85BDC9FD1C3A}</a:tableStyleId>
                  </a:tblPr>
                  <a:tblGrid>
                    <a:gridCol w="1309696"/>
                    <a:gridCol w="1309696"/>
                    <a:gridCol w="1023946"/>
                  </a:tblGrid>
                  <a:tr h="433388">
                    <a:tc gridSpan="3">
                      <a:txBody>
                        <a:bodyPr/>
                        <a:lstStyle/>
                        <a:p>
                          <a:pPr algn="ctr"/>
                          <a:r>
                            <a:rPr lang="en-US" sz="2400" b="1" dirty="0" smtClean="0">
                              <a:solidFill>
                                <a:srgbClr val="1B57B5"/>
                              </a:solidFill>
                              <a:latin typeface="Times New Roman" pitchFamily="18" charset="0"/>
                              <a:cs typeface="Times New Roman" pitchFamily="18" charset="0"/>
                            </a:rPr>
                            <a:t>Truth</a:t>
                          </a:r>
                          <a:r>
                            <a:rPr lang="en-US" sz="2400" b="1" baseline="0" dirty="0" smtClean="0">
                              <a:solidFill>
                                <a:srgbClr val="1B57B5"/>
                              </a:solidFill>
                              <a:latin typeface="Times New Roman" pitchFamily="18" charset="0"/>
                              <a:cs typeface="Times New Roman" pitchFamily="18" charset="0"/>
                            </a:rPr>
                            <a:t> table of NAND </a:t>
                          </a:r>
                          <a:endParaRPr lang="en-IN" sz="2400" b="1" dirty="0">
                            <a:solidFill>
                              <a:srgbClr val="1B57B5"/>
                            </a:solidFill>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r>
                  <a:tr h="433388">
                    <a:tc>
                      <a:txBody>
                        <a:bodyPr/>
                        <a:lstStyle/>
                        <a:p>
                          <a:pPr algn="ctr"/>
                          <a14:m>
                            <m:oMathPara xmlns:m="http://schemas.openxmlformats.org/officeDocument/2006/math">
                              <m:oMathParaPr>
                                <m:jc m:val="centerGroup"/>
                              </m:oMathParaPr>
                              <m:oMath xmlns:m="http://schemas.openxmlformats.org/officeDocument/2006/math">
                                <m:r>
                                  <a:rPr lang="en-US" sz="2400" b="1" i="1" smtClean="0">
                                    <a:solidFill>
                                      <a:srgbClr val="1B57B5"/>
                                    </a:solidFill>
                                    <a:latin typeface="Cambria Math"/>
                                    <a:cs typeface="Times New Roman" pitchFamily="18" charset="0"/>
                                  </a:rPr>
                                  <m:t>𝒑</m:t>
                                </m:r>
                              </m:oMath>
                            </m:oMathPara>
                          </a14:m>
                          <a:endParaRPr lang="en-IN" sz="2400" b="1" dirty="0">
                            <a:solidFill>
                              <a:srgbClr val="1B57B5"/>
                            </a:solidFill>
                            <a:latin typeface="Times New Roman" pitchFamily="18" charset="0"/>
                            <a:cs typeface="Times New Roman"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2400" b="1" i="1" smtClean="0">
                                    <a:solidFill>
                                      <a:srgbClr val="1B57B5"/>
                                    </a:solidFill>
                                    <a:latin typeface="Cambria Math"/>
                                    <a:cs typeface="Times New Roman" pitchFamily="18" charset="0"/>
                                  </a:rPr>
                                  <m:t>𝒒</m:t>
                                </m:r>
                              </m:oMath>
                            </m:oMathPara>
                          </a14:m>
                          <a:endParaRPr lang="en-IN" sz="2400" b="1" dirty="0">
                            <a:solidFill>
                              <a:srgbClr val="1B57B5"/>
                            </a:solidFill>
                            <a:latin typeface="Times New Roman" pitchFamily="18" charset="0"/>
                            <a:cs typeface="Times New Roman" pitchFamily="18" charset="0"/>
                          </a:endParaRPr>
                        </a:p>
                      </a:txBody>
                      <a:tcPr/>
                    </a:tc>
                    <a:tc>
                      <a:txBody>
                        <a:bodyPr/>
                        <a:lstStyle/>
                        <a:p>
                          <a:pPr algn="ctr"/>
                          <a14:m>
                            <m:oMath xmlns:m="http://schemas.openxmlformats.org/officeDocument/2006/math">
                              <m:r>
                                <a:rPr lang="en-US" sz="2400" b="1" i="1" smtClean="0">
                                  <a:solidFill>
                                    <a:srgbClr val="1B57B5"/>
                                  </a:solidFill>
                                  <a:latin typeface="Cambria Math"/>
                                  <a:cs typeface="Times New Roman" pitchFamily="18" charset="0"/>
                                </a:rPr>
                                <m:t>𝒑</m:t>
                              </m:r>
                              <m:r>
                                <a:rPr lang="en-US" sz="2400" b="1" i="1" smtClean="0">
                                  <a:solidFill>
                                    <a:srgbClr val="1B57B5"/>
                                  </a:solidFill>
                                  <a:latin typeface="Cambria Math"/>
                                  <a:ea typeface="Cambria Math"/>
                                  <a:cs typeface="Times New Roman" pitchFamily="18" charset="0"/>
                                </a:rPr>
                                <m:t>↑</m:t>
                              </m:r>
                              <m:r>
                                <a:rPr lang="en-US" sz="2400" b="1" i="1" smtClean="0">
                                  <a:solidFill>
                                    <a:srgbClr val="1B57B5"/>
                                  </a:solidFill>
                                  <a:latin typeface="Cambria Math"/>
                                  <a:ea typeface="Cambria Math"/>
                                  <a:cs typeface="Times New Roman" pitchFamily="18" charset="0"/>
                                </a:rPr>
                                <m:t>𝒒</m:t>
                              </m:r>
                            </m:oMath>
                          </a14:m>
                          <a:r>
                            <a:rPr lang="en-US" sz="2400" b="1" dirty="0" smtClean="0">
                              <a:solidFill>
                                <a:srgbClr val="1B57B5"/>
                              </a:solidFill>
                              <a:latin typeface="Times New Roman" pitchFamily="18" charset="0"/>
                              <a:cs typeface="Times New Roman" pitchFamily="18" charset="0"/>
                            </a:rPr>
                            <a:t>   </a:t>
                          </a:r>
                          <a:endParaRPr lang="en-IN" sz="2400" b="1" dirty="0">
                            <a:solidFill>
                              <a:srgbClr val="1B57B5"/>
                            </a:solidFill>
                            <a:latin typeface="Times New Roman" pitchFamily="18" charset="0"/>
                            <a:cs typeface="Times New Roman" pitchFamily="18" charset="0"/>
                          </a:endParaRPr>
                        </a:p>
                      </a:txBody>
                      <a:tcPr/>
                    </a:tc>
                  </a:tr>
                  <a:tr h="433388">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r>
                  <a:tr h="433388">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r>
                  <a:tr h="433388">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r>
                  <a:tr h="433388">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r>
                </a:tbl>
              </a:graphicData>
            </a:graphic>
          </p:graphicFrame>
        </mc:Choice>
        <mc:Fallback xmlns="">
          <p:graphicFrame>
            <p:nvGraphicFramePr>
              <p:cNvPr id="18" name="Table 17"/>
              <p:cNvGraphicFramePr>
                <a:graphicFrameLocks noGrp="1"/>
              </p:cNvGraphicFramePr>
              <p:nvPr>
                <p:extLst>
                  <p:ext uri="{D42A27DB-BD31-4B8C-83A1-F6EECF244321}">
                    <p14:modId xmlns:p14="http://schemas.microsoft.com/office/powerpoint/2010/main" val="3054128144"/>
                  </p:ext>
                </p:extLst>
              </p:nvPr>
            </p:nvGraphicFramePr>
            <p:xfrm>
              <a:off x="2714611" y="3614756"/>
              <a:ext cx="3643338" cy="2743200"/>
            </p:xfrm>
            <a:graphic>
              <a:graphicData uri="http://schemas.openxmlformats.org/drawingml/2006/table">
                <a:tbl>
                  <a:tblPr firstRow="1" bandRow="1">
                    <a:tableStyleId>{5C22544A-7EE6-4342-B048-85BDC9FD1C3A}</a:tableStyleId>
                  </a:tblPr>
                  <a:tblGrid>
                    <a:gridCol w="1309696"/>
                    <a:gridCol w="1309696"/>
                    <a:gridCol w="1023946"/>
                  </a:tblGrid>
                  <a:tr h="457200">
                    <a:tc gridSpan="3">
                      <a:txBody>
                        <a:bodyPr/>
                        <a:lstStyle/>
                        <a:p>
                          <a:pPr algn="ctr"/>
                          <a:r>
                            <a:rPr lang="en-US" sz="2400" b="1" dirty="0" smtClean="0">
                              <a:solidFill>
                                <a:srgbClr val="1B57B5"/>
                              </a:solidFill>
                              <a:latin typeface="Times New Roman" pitchFamily="18" charset="0"/>
                              <a:cs typeface="Times New Roman" pitchFamily="18" charset="0"/>
                            </a:rPr>
                            <a:t>Truth</a:t>
                          </a:r>
                          <a:r>
                            <a:rPr lang="en-US" sz="2400" b="1" baseline="0" dirty="0" smtClean="0">
                              <a:solidFill>
                                <a:srgbClr val="1B57B5"/>
                              </a:solidFill>
                              <a:latin typeface="Times New Roman" pitchFamily="18" charset="0"/>
                              <a:cs typeface="Times New Roman" pitchFamily="18" charset="0"/>
                            </a:rPr>
                            <a:t> table of NAND </a:t>
                          </a:r>
                          <a:endParaRPr lang="en-IN" sz="2400" b="1" dirty="0">
                            <a:solidFill>
                              <a:srgbClr val="1B57B5"/>
                            </a:solidFill>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r>
                  <a:tr h="457200">
                    <a:tc>
                      <a:txBody>
                        <a:bodyPr/>
                        <a:lstStyle/>
                        <a:p>
                          <a:endParaRPr lang="en-US"/>
                        </a:p>
                      </a:txBody>
                      <a:tcPr>
                        <a:blipFill rotWithShape="1">
                          <a:blip r:embed="rId3"/>
                          <a:stretch>
                            <a:fillRect t="-110667" r="-178140" b="-430667"/>
                          </a:stretch>
                        </a:blipFill>
                      </a:tcPr>
                    </a:tc>
                    <a:tc>
                      <a:txBody>
                        <a:bodyPr/>
                        <a:lstStyle/>
                        <a:p>
                          <a:endParaRPr lang="en-US"/>
                        </a:p>
                      </a:txBody>
                      <a:tcPr>
                        <a:blipFill rotWithShape="1">
                          <a:blip r:embed="rId3"/>
                          <a:stretch>
                            <a:fillRect l="-100000" t="-110667" r="-78140" b="-430667"/>
                          </a:stretch>
                        </a:blipFill>
                      </a:tcPr>
                    </a:tc>
                    <a:tc>
                      <a:txBody>
                        <a:bodyPr/>
                        <a:lstStyle/>
                        <a:p>
                          <a:endParaRPr lang="en-US"/>
                        </a:p>
                      </a:txBody>
                      <a:tcPr>
                        <a:blipFill rotWithShape="1">
                          <a:blip r:embed="rId3"/>
                          <a:stretch>
                            <a:fillRect l="-255952" t="-110667" b="-430667"/>
                          </a:stretch>
                        </a:blipFill>
                      </a:tcPr>
                    </a:tc>
                  </a:tr>
                  <a:tr h="457200">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r>
                  <a:tr h="457200">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r>
                  <a:tr h="457200">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r>
                  <a:tr h="457200">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r>
                </a:tbl>
              </a:graphicData>
            </a:graphic>
          </p:graphicFrame>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7158" y="714356"/>
                <a:ext cx="8358246" cy="5572164"/>
              </a:xfrm>
            </p:spPr>
            <p:txBody>
              <a:bodyPr/>
              <a:lstStyle/>
              <a:p>
                <a:pPr>
                  <a:buFont typeface="Wingdings" pitchFamily="2" charset="2"/>
                  <a:buChar char="q"/>
                </a:pPr>
                <a:r>
                  <a:rPr lang="en-US" sz="2400" b="1" dirty="0" smtClean="0">
                    <a:solidFill>
                      <a:srgbClr val="FF0000"/>
                    </a:solidFill>
                    <a:latin typeface="Times New Roman" pitchFamily="18" charset="0"/>
                    <a:cs typeface="Times New Roman" pitchFamily="18" charset="0"/>
                  </a:rPr>
                  <a:t>NOR</a:t>
                </a:r>
              </a:p>
              <a:p>
                <a:pPr algn="just">
                  <a:buFont typeface="Wingdings" pitchFamily="2" charset="2"/>
                  <a:buChar char="Ø"/>
                </a:pPr>
                <a:r>
                  <a:rPr lang="en-US" sz="2400" dirty="0" smtClean="0">
                    <a:solidFill>
                      <a:srgbClr val="000000"/>
                    </a:solidFill>
                    <a:latin typeface="Times New Roman" pitchFamily="18" charset="0"/>
                    <a:cs typeface="Times New Roman" pitchFamily="18" charset="0"/>
                  </a:rPr>
                  <a:t>“NOR” is a combination of  “NOT” and “OR”.</a:t>
                </a:r>
              </a:p>
              <a:p>
                <a:pPr algn="just">
                  <a:buFont typeface="Wingdings" pitchFamily="2" charset="2"/>
                  <a:buChar char="Ø"/>
                </a:pPr>
                <a:r>
                  <a:rPr lang="en-US" sz="2400" dirty="0" smtClean="0">
                    <a:solidFill>
                      <a:srgbClr val="000000"/>
                    </a:solidFill>
                    <a:latin typeface="Times New Roman" pitchFamily="18" charset="0"/>
                    <a:cs typeface="Times New Roman" pitchFamily="18" charset="0"/>
                  </a:rPr>
                  <a:t>The connective “NOR” is denoted by the symbol </a:t>
                </a:r>
                <a14:m>
                  <m:oMath xmlns:m="http://schemas.openxmlformats.org/officeDocument/2006/math">
                    <m:r>
                      <a:rPr lang="en-US" sz="2400" i="1" smtClean="0">
                        <a:solidFill>
                          <a:srgbClr val="000000"/>
                        </a:solidFill>
                        <a:latin typeface="Cambria Math"/>
                        <a:ea typeface="Cambria Math"/>
                        <a:cs typeface="Times New Roman" pitchFamily="18" charset="0"/>
                      </a:rPr>
                      <m:t>↓</m:t>
                    </m:r>
                  </m:oMath>
                </a14:m>
                <a:r>
                  <a:rPr lang="en-US" sz="2400" dirty="0" smtClean="0">
                    <a:solidFill>
                      <a:srgbClr val="000000"/>
                    </a:solidFill>
                    <a:latin typeface="Times New Roman" pitchFamily="18" charset="0"/>
                    <a:cs typeface="Times New Roman" pitchFamily="18" charset="0"/>
                  </a:rPr>
                  <a:t> .</a:t>
                </a:r>
              </a:p>
              <a:p>
                <a:pPr algn="just">
                  <a:buFont typeface="Wingdings" pitchFamily="2" charset="2"/>
                  <a:buChar char="Ø"/>
                </a:pPr>
                <a:r>
                  <a:rPr lang="en-US" sz="2400" dirty="0" smtClean="0">
                    <a:solidFill>
                      <a:srgbClr val="000000"/>
                    </a:solidFill>
                    <a:latin typeface="Times New Roman" pitchFamily="18" charset="0"/>
                    <a:cs typeface="Times New Roman" pitchFamily="18" charset="0"/>
                  </a:rPr>
                  <a:t> For any two formulae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and </a:t>
                </a:r>
                <a14:m>
                  <m:oMath xmlns:m="http://schemas.openxmlformats.org/officeDocument/2006/math">
                    <m:r>
                      <a:rPr lang="en-US" sz="2400" b="0" i="1" smtClean="0">
                        <a:solidFill>
                          <a:srgbClr val="000000"/>
                        </a:solidFill>
                        <a:latin typeface="Cambria Math"/>
                        <a:cs typeface="Times New Roman" pitchFamily="18" charset="0"/>
                      </a:rPr>
                      <m:t>𝑞</m:t>
                    </m:r>
                  </m:oMath>
                </a14:m>
                <a:r>
                  <a:rPr lang="en-US" sz="2400" dirty="0" smtClean="0">
                    <a:solidFill>
                      <a:srgbClr val="000000"/>
                    </a:solidFill>
                    <a:latin typeface="Times New Roman" pitchFamily="18" charset="0"/>
                    <a:cs typeface="Times New Roman" pitchFamily="18" charset="0"/>
                  </a:rPr>
                  <a:t> ,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0"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is defined as</a:t>
                </a:r>
              </a:p>
              <a:p>
                <a:pPr algn="just">
                  <a:buFont typeface="Wingdings" pitchFamily="2" charset="2"/>
                  <a:buChar char="Ø"/>
                </a:pPr>
                <a:endParaRPr lang="en-US" sz="2400" dirty="0" smtClean="0">
                  <a:solidFill>
                    <a:srgbClr val="000000"/>
                  </a:solidFill>
                  <a:latin typeface="Times New Roman" pitchFamily="18" charset="0"/>
                  <a:cs typeface="Times New Roman" pitchFamily="18" charset="0"/>
                </a:endParaRPr>
              </a:p>
              <a:p>
                <a:pPr algn="just">
                  <a:buNone/>
                </a:pPr>
                <a:r>
                  <a:rPr lang="en-US" sz="2400" dirty="0" smtClean="0">
                    <a:solidFill>
                      <a:srgbClr val="000000"/>
                    </a:solidFill>
                    <a:latin typeface="Times New Roman" pitchFamily="18" charset="0"/>
                    <a:cs typeface="Times New Roman" pitchFamily="18" charset="0"/>
                  </a:rPr>
                  <a:t>The truth table of “NOR” is tabulated below. </a:t>
                </a:r>
              </a:p>
              <a:p>
                <a:pPr>
                  <a:buNone/>
                </a:pPr>
                <a:endParaRPr lang="en-US" sz="2400" dirty="0" smtClean="0">
                  <a:solidFill>
                    <a:srgbClr val="000000"/>
                  </a:solidFill>
                  <a:latin typeface="Times New Roman" pitchFamily="18" charset="0"/>
                  <a:cs typeface="Times New Roman" pitchFamily="18" charset="0"/>
                </a:endParaRPr>
              </a:p>
              <a:p>
                <a:pPr>
                  <a:buNone/>
                </a:pPr>
                <a:r>
                  <a:rPr lang="en-US" sz="2400" dirty="0" smtClean="0">
                    <a:solidFill>
                      <a:srgbClr val="000000"/>
                    </a:solidFill>
                    <a:latin typeface="Times New Roman" pitchFamily="18" charset="0"/>
                    <a:cs typeface="Times New Roman" pitchFamily="18" charset="0"/>
                  </a:rPr>
                  <a:t> </a:t>
                </a:r>
              </a:p>
              <a:p>
                <a:pPr>
                  <a:buNone/>
                </a:pPr>
                <a:endParaRPr lang="en-US" sz="2400" dirty="0" smtClean="0">
                  <a:solidFill>
                    <a:srgbClr val="000000"/>
                  </a:solidFill>
                  <a:latin typeface="Times New Roman" pitchFamily="18" charset="0"/>
                  <a:cs typeface="Times New Roman" pitchFamily="18" charset="0"/>
                </a:endParaRPr>
              </a:p>
              <a:p>
                <a:pPr>
                  <a:buNone/>
                </a:pPr>
                <a:r>
                  <a:rPr lang="en-US" sz="2400" dirty="0" smtClean="0">
                    <a:solidFill>
                      <a:srgbClr val="000000"/>
                    </a:solidFill>
                    <a:latin typeface="Times New Roman" pitchFamily="18" charset="0"/>
                    <a:cs typeface="Times New Roman" pitchFamily="18" charset="0"/>
                  </a:rPr>
                  <a:t>                           </a:t>
                </a:r>
              </a:p>
              <a:p>
                <a:pPr>
                  <a:buNone/>
                </a:pPr>
                <a:r>
                  <a:rPr lang="en-US" sz="2400" dirty="0" smtClean="0">
                    <a:solidFill>
                      <a:srgbClr val="000000"/>
                    </a:solidFill>
                    <a:latin typeface="Times New Roman" pitchFamily="18" charset="0"/>
                    <a:cs typeface="Times New Roman" pitchFamily="18" charset="0"/>
                  </a:rPr>
                  <a:t>                              </a:t>
                </a:r>
                <a:endParaRPr lang="en-IN" sz="2400" dirty="0">
                  <a:solidFill>
                    <a:srgbClr val="000000"/>
                  </a:solidFill>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7158" y="714356"/>
                <a:ext cx="8358246" cy="5572164"/>
              </a:xfrm>
              <a:blipFill rotWithShape="1">
                <a:blip r:embed="rId3"/>
                <a:stretch>
                  <a:fillRect l="-1167" t="-875"/>
                </a:stretch>
              </a:blipFill>
            </p:spPr>
            <p:txBody>
              <a:bodyPr/>
              <a:lstStyle/>
              <a:p>
                <a:r>
                  <a:rPr lang="en-IN">
                    <a:noFill/>
                  </a:rPr>
                  <a:t> </a:t>
                </a:r>
              </a:p>
            </p:txBody>
          </p:sp>
        </mc:Fallback>
      </mc:AlternateContent>
      <p:graphicFrame>
        <p:nvGraphicFramePr>
          <p:cNvPr id="7" name="Object 6"/>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65868" name="Equation" r:id="rId4" imgW="914400" imgH="215640" progId="Equation.3">
                  <p:embed/>
                </p:oleObj>
              </mc:Choice>
              <mc:Fallback>
                <p:oleObj name="Equation" r:id="rId4" imgW="914400" imgH="2156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2928938" y="2500313"/>
          <a:ext cx="2643194" cy="514350"/>
        </p:xfrm>
        <a:graphic>
          <a:graphicData uri="http://schemas.openxmlformats.org/presentationml/2006/ole">
            <mc:AlternateContent xmlns:mc="http://schemas.openxmlformats.org/markup-compatibility/2006">
              <mc:Choice xmlns:v="urn:schemas-microsoft-com:vml" Requires="v">
                <p:oleObj spid="_x0000_s65869" name="Equation" r:id="rId6" imgW="1143000" imgH="228600" progId="Equation.3">
                  <p:embed/>
                </p:oleObj>
              </mc:Choice>
              <mc:Fallback>
                <p:oleObj name="Equation" r:id="rId6" imgW="1143000" imgH="228600" progId="Equation.3">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938" y="2500313"/>
                        <a:ext cx="2643194"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1112979942"/>
                  </p:ext>
                </p:extLst>
              </p:nvPr>
            </p:nvGraphicFramePr>
            <p:xfrm>
              <a:off x="2285985" y="3429000"/>
              <a:ext cx="4214841" cy="2786082"/>
            </p:xfrm>
            <a:graphic>
              <a:graphicData uri="http://schemas.openxmlformats.org/drawingml/2006/table">
                <a:tbl>
                  <a:tblPr firstRow="1" bandRow="1">
                    <a:tableStyleId>{5C22544A-7EE6-4342-B048-85BDC9FD1C3A}</a:tableStyleId>
                  </a:tblPr>
                  <a:tblGrid>
                    <a:gridCol w="1404947"/>
                    <a:gridCol w="1404947"/>
                    <a:gridCol w="1404947"/>
                  </a:tblGrid>
                  <a:tr h="464347">
                    <a:tc gridSpan="3">
                      <a:txBody>
                        <a:bodyPr/>
                        <a:lstStyle/>
                        <a:p>
                          <a:pPr algn="ctr"/>
                          <a:r>
                            <a:rPr lang="en-US" sz="2400" b="1" dirty="0" smtClean="0">
                              <a:solidFill>
                                <a:srgbClr val="1B57B5"/>
                              </a:solidFill>
                              <a:latin typeface="Times New Roman" pitchFamily="18" charset="0"/>
                              <a:cs typeface="Times New Roman" pitchFamily="18" charset="0"/>
                            </a:rPr>
                            <a:t>Truth</a:t>
                          </a:r>
                          <a:r>
                            <a:rPr lang="en-US" sz="2400" b="1" baseline="0" dirty="0" smtClean="0">
                              <a:solidFill>
                                <a:srgbClr val="1B57B5"/>
                              </a:solidFill>
                              <a:latin typeface="Times New Roman" pitchFamily="18" charset="0"/>
                              <a:cs typeface="Times New Roman" pitchFamily="18" charset="0"/>
                            </a:rPr>
                            <a:t> table of NOR</a:t>
                          </a:r>
                          <a:endParaRPr lang="en-IN" sz="2400" b="1" dirty="0">
                            <a:solidFill>
                              <a:srgbClr val="1B57B5"/>
                            </a:solidFill>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r>
                  <a:tr h="464347">
                    <a:tc>
                      <a:txBody>
                        <a:bodyPr/>
                        <a:lstStyle/>
                        <a:p>
                          <a:pPr algn="ctr"/>
                          <a14:m>
                            <m:oMathPara xmlns:m="http://schemas.openxmlformats.org/officeDocument/2006/math">
                              <m:oMathParaPr>
                                <m:jc m:val="centerGroup"/>
                              </m:oMathParaPr>
                              <m:oMath xmlns:m="http://schemas.openxmlformats.org/officeDocument/2006/math">
                                <m:r>
                                  <a:rPr lang="en-US" sz="2400" b="1" i="1" smtClean="0">
                                    <a:solidFill>
                                      <a:srgbClr val="1B57B5"/>
                                    </a:solidFill>
                                    <a:latin typeface="Cambria Math"/>
                                    <a:cs typeface="Times New Roman" pitchFamily="18" charset="0"/>
                                  </a:rPr>
                                  <m:t>𝒑</m:t>
                                </m:r>
                              </m:oMath>
                            </m:oMathPara>
                          </a14:m>
                          <a:endParaRPr lang="en-IN" sz="2400" b="1" dirty="0">
                            <a:solidFill>
                              <a:srgbClr val="1B57B5"/>
                            </a:solidFill>
                            <a:latin typeface="Times New Roman" pitchFamily="18" charset="0"/>
                            <a:cs typeface="Times New Roman"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2400" b="1" i="1" smtClean="0">
                                    <a:solidFill>
                                      <a:srgbClr val="1B57B5"/>
                                    </a:solidFill>
                                    <a:latin typeface="Cambria Math"/>
                                    <a:cs typeface="Times New Roman" pitchFamily="18" charset="0"/>
                                  </a:rPr>
                                  <m:t>𝒒</m:t>
                                </m:r>
                              </m:oMath>
                            </m:oMathPara>
                          </a14:m>
                          <a:endParaRPr lang="en-IN" sz="2400" b="1" dirty="0">
                            <a:solidFill>
                              <a:srgbClr val="1B57B5"/>
                            </a:solidFill>
                            <a:latin typeface="Times New Roman" pitchFamily="18" charset="0"/>
                            <a:cs typeface="Times New Roman" pitchFamily="18" charset="0"/>
                          </a:endParaRPr>
                        </a:p>
                      </a:txBody>
                      <a:tcPr/>
                    </a:tc>
                    <a:tc>
                      <a:txBody>
                        <a:bodyPr/>
                        <a:lstStyle/>
                        <a:p>
                          <a:pPr algn="ctr"/>
                          <a:r>
                            <a:rPr lang="en-US" sz="2400" b="1" dirty="0" smtClean="0">
                              <a:solidFill>
                                <a:srgbClr val="1B57B5"/>
                              </a:solidFill>
                              <a:latin typeface="Times New Roman" pitchFamily="18" charset="0"/>
                              <a:cs typeface="Times New Roman" pitchFamily="18" charset="0"/>
                            </a:rPr>
                            <a:t> </a:t>
                          </a:r>
                          <a14:m>
                            <m:oMath xmlns:m="http://schemas.openxmlformats.org/officeDocument/2006/math">
                              <m:r>
                                <a:rPr lang="en-US" sz="2400" b="1" i="1" smtClean="0">
                                  <a:solidFill>
                                    <a:srgbClr val="1B57B5"/>
                                  </a:solidFill>
                                  <a:latin typeface="Cambria Math"/>
                                  <a:cs typeface="Times New Roman" pitchFamily="18" charset="0"/>
                                </a:rPr>
                                <m:t>𝒑</m:t>
                              </m:r>
                              <m:r>
                                <a:rPr lang="en-US" sz="2400" b="1" i="1" smtClean="0">
                                  <a:solidFill>
                                    <a:srgbClr val="1B57B5"/>
                                  </a:solidFill>
                                  <a:latin typeface="Cambria Math"/>
                                  <a:ea typeface="Cambria Math"/>
                                  <a:cs typeface="Times New Roman" pitchFamily="18" charset="0"/>
                                </a:rPr>
                                <m:t>↓</m:t>
                              </m:r>
                              <m:r>
                                <a:rPr lang="en-US" sz="2400" b="1" i="1" smtClean="0">
                                  <a:solidFill>
                                    <a:srgbClr val="1B57B5"/>
                                  </a:solidFill>
                                  <a:latin typeface="Cambria Math"/>
                                  <a:ea typeface="Cambria Math"/>
                                  <a:cs typeface="Times New Roman" pitchFamily="18" charset="0"/>
                                </a:rPr>
                                <m:t>𝒒</m:t>
                              </m:r>
                              <m:r>
                                <a:rPr lang="en-US" sz="2400" b="1" i="0" smtClean="0">
                                  <a:solidFill>
                                    <a:srgbClr val="1B57B5"/>
                                  </a:solidFill>
                                  <a:latin typeface="Cambria Math"/>
                                  <a:ea typeface="Cambria Math"/>
                                  <a:cs typeface="Times New Roman" pitchFamily="18" charset="0"/>
                                </a:rPr>
                                <m:t> </m:t>
                              </m:r>
                            </m:oMath>
                          </a14:m>
                          <a:endParaRPr lang="en-IN" sz="2400" b="1" dirty="0">
                            <a:solidFill>
                              <a:srgbClr val="1B57B5"/>
                            </a:solidFill>
                            <a:latin typeface="Times New Roman" pitchFamily="18" charset="0"/>
                            <a:cs typeface="Times New Roman" pitchFamily="18" charset="0"/>
                          </a:endParaRPr>
                        </a:p>
                      </a:txBody>
                      <a:tcPr/>
                    </a:tc>
                  </a:tr>
                  <a:tr h="464347">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r>
                  <a:tr h="464347">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r>
                  <a:tr h="464347">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r>
                  <a:tr h="464347">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1112979942"/>
                  </p:ext>
                </p:extLst>
              </p:nvPr>
            </p:nvGraphicFramePr>
            <p:xfrm>
              <a:off x="2285985" y="3429000"/>
              <a:ext cx="4214841" cy="2786082"/>
            </p:xfrm>
            <a:graphic>
              <a:graphicData uri="http://schemas.openxmlformats.org/drawingml/2006/table">
                <a:tbl>
                  <a:tblPr firstRow="1" bandRow="1">
                    <a:tableStyleId>{5C22544A-7EE6-4342-B048-85BDC9FD1C3A}</a:tableStyleId>
                  </a:tblPr>
                  <a:tblGrid>
                    <a:gridCol w="1404947"/>
                    <a:gridCol w="1404947"/>
                    <a:gridCol w="1404947"/>
                  </a:tblGrid>
                  <a:tr h="464347">
                    <a:tc gridSpan="3">
                      <a:txBody>
                        <a:bodyPr/>
                        <a:lstStyle/>
                        <a:p>
                          <a:pPr algn="ctr"/>
                          <a:r>
                            <a:rPr lang="en-US" sz="2400" b="1" dirty="0" smtClean="0">
                              <a:solidFill>
                                <a:srgbClr val="1B57B5"/>
                              </a:solidFill>
                              <a:latin typeface="Times New Roman" pitchFamily="18" charset="0"/>
                              <a:cs typeface="Times New Roman" pitchFamily="18" charset="0"/>
                            </a:rPr>
                            <a:t>Truth</a:t>
                          </a:r>
                          <a:r>
                            <a:rPr lang="en-US" sz="2400" b="1" baseline="0" dirty="0" smtClean="0">
                              <a:solidFill>
                                <a:srgbClr val="1B57B5"/>
                              </a:solidFill>
                              <a:latin typeface="Times New Roman" pitchFamily="18" charset="0"/>
                              <a:cs typeface="Times New Roman" pitchFamily="18" charset="0"/>
                            </a:rPr>
                            <a:t> table of NOR</a:t>
                          </a:r>
                          <a:endParaRPr lang="en-IN" sz="2400" b="1" dirty="0">
                            <a:solidFill>
                              <a:srgbClr val="1B57B5"/>
                            </a:solidFill>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r>
                  <a:tr h="464347">
                    <a:tc>
                      <a:txBody>
                        <a:bodyPr/>
                        <a:lstStyle/>
                        <a:p>
                          <a:endParaRPr lang="en-US"/>
                        </a:p>
                      </a:txBody>
                      <a:tcPr>
                        <a:blipFill rotWithShape="1">
                          <a:blip r:embed="rId8"/>
                          <a:stretch>
                            <a:fillRect l="-435" t="-110526" r="-200870" b="-428947"/>
                          </a:stretch>
                        </a:blipFill>
                      </a:tcPr>
                    </a:tc>
                    <a:tc>
                      <a:txBody>
                        <a:bodyPr/>
                        <a:lstStyle/>
                        <a:p>
                          <a:endParaRPr lang="en-US"/>
                        </a:p>
                      </a:txBody>
                      <a:tcPr>
                        <a:blipFill rotWithShape="1">
                          <a:blip r:embed="rId8"/>
                          <a:stretch>
                            <a:fillRect l="-100000" t="-110526" r="-100000" b="-428947"/>
                          </a:stretch>
                        </a:blipFill>
                      </a:tcPr>
                    </a:tc>
                    <a:tc>
                      <a:txBody>
                        <a:bodyPr/>
                        <a:lstStyle/>
                        <a:p>
                          <a:endParaRPr lang="en-US"/>
                        </a:p>
                      </a:txBody>
                      <a:tcPr>
                        <a:blipFill rotWithShape="1">
                          <a:blip r:embed="rId8"/>
                          <a:stretch>
                            <a:fillRect l="-200870" t="-110526" r="-435" b="-428947"/>
                          </a:stretch>
                        </a:blipFill>
                      </a:tcPr>
                    </a:tc>
                  </a:tr>
                  <a:tr h="464347">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r>
                  <a:tr h="464347">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r>
                  <a:tr h="464347">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r>
                  <a:tr h="464347">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T</a:t>
                          </a:r>
                          <a:endParaRPr lang="en-IN" sz="2400" dirty="0">
                            <a:latin typeface="Times New Roman" pitchFamily="18" charset="0"/>
                            <a:cs typeface="Times New Roman" pitchFamily="18" charset="0"/>
                          </a:endParaRPr>
                        </a:p>
                      </a:txBody>
                      <a:tcPr/>
                    </a:tc>
                  </a:tr>
                </a:tbl>
              </a:graphicData>
            </a:graphic>
          </p:graphicFrame>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Duality in Propositional Logic</a:t>
            </a:r>
            <a:endParaRPr lang="en-IN" sz="3200" b="1" dirty="0">
              <a:solidFill>
                <a:srgbClr val="335295"/>
              </a:solidFill>
            </a:endParaRPr>
          </a:p>
        </p:txBody>
      </p:sp>
      <p:sp>
        <p:nvSpPr>
          <p:cNvPr id="3" name="Content Placeholder 2"/>
          <p:cNvSpPr>
            <a:spLocks noGrp="1"/>
          </p:cNvSpPr>
          <p:nvPr>
            <p:ph idx="1"/>
          </p:nvPr>
        </p:nvSpPr>
        <p:spPr>
          <a:xfrm>
            <a:off x="642910" y="1357298"/>
            <a:ext cx="8001056" cy="4857784"/>
          </a:xfrm>
        </p:spPr>
        <p:txBody>
          <a:bodyPr/>
          <a:lstStyle/>
          <a:p>
            <a:pPr>
              <a:buNone/>
            </a:pPr>
            <a:r>
              <a:rPr lang="en-US" sz="2400" b="1" dirty="0" smtClean="0">
                <a:solidFill>
                  <a:srgbClr val="FF0000"/>
                </a:solidFill>
                <a:latin typeface="Times New Roman" pitchFamily="18" charset="0"/>
                <a:cs typeface="Times New Roman" pitchFamily="18" charset="0"/>
              </a:rPr>
              <a:t>Duality principle</a:t>
            </a:r>
          </a:p>
          <a:p>
            <a:pPr algn="just">
              <a:buNone/>
            </a:pPr>
            <a:r>
              <a:rPr lang="en-US" sz="2400" dirty="0" smtClean="0">
                <a:solidFill>
                  <a:srgbClr val="FF0000"/>
                </a:solidFill>
                <a:latin typeface="Times New Roman" pitchFamily="18" charset="0"/>
                <a:cs typeface="Times New Roman" pitchFamily="18" charset="0"/>
              </a:rPr>
              <a:t>    </a:t>
            </a:r>
            <a:r>
              <a:rPr lang="en-IN" sz="2400" dirty="0" smtClean="0">
                <a:latin typeface="Times New Roman" pitchFamily="18" charset="0"/>
                <a:cs typeface="Times New Roman" pitchFamily="18" charset="0"/>
              </a:rPr>
              <a:t>Duality principle states that for any true statement, the dual statement obtained by interchanging unions into intersections (and vice versa) and interchanging Universal set into Null set (and vice versa) is also true. If dual of any statement is the statement itself, it is said </a:t>
            </a:r>
            <a:r>
              <a:rPr lang="en-IN" sz="2400" dirty="0" smtClean="0">
                <a:solidFill>
                  <a:srgbClr val="FF0000"/>
                </a:solidFill>
                <a:latin typeface="Times New Roman" pitchFamily="18" charset="0"/>
                <a:cs typeface="Times New Roman" pitchFamily="18" charset="0"/>
              </a:rPr>
              <a:t>self-dual statement</a:t>
            </a:r>
            <a:r>
              <a:rPr lang="en-IN" sz="2400" dirty="0" smtClean="0">
                <a:latin typeface="Times New Roman" pitchFamily="18" charset="0"/>
                <a:cs typeface="Times New Roman" pitchFamily="18" charset="0"/>
              </a:rPr>
              <a:t>.</a:t>
            </a:r>
          </a:p>
          <a:p>
            <a:pPr algn="just">
              <a:buNone/>
            </a:pPr>
            <a:r>
              <a:rPr lang="en-US" sz="2400" b="1" dirty="0" smtClean="0">
                <a:solidFill>
                  <a:srgbClr val="FF0000"/>
                </a:solidFill>
                <a:latin typeface="Times New Roman" pitchFamily="18" charset="0"/>
                <a:cs typeface="Times New Roman" pitchFamily="18" charset="0"/>
              </a:rPr>
              <a:t>Dual of a statement formula</a:t>
            </a:r>
          </a:p>
          <a:p>
            <a:pPr algn="just">
              <a:buNone/>
            </a:pPr>
            <a:r>
              <a:rPr lang="en-US" sz="2400" dirty="0" smtClean="0">
                <a:solidFill>
                  <a:srgbClr val="FF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Two formulae A and A</a:t>
            </a:r>
            <a:r>
              <a:rPr lang="en-US" sz="2400" baseline="30000" dirty="0" smtClean="0">
                <a:solidFill>
                  <a:srgbClr val="000000"/>
                </a:solidFill>
                <a:latin typeface="Times New Roman" pitchFamily="18" charset="0"/>
                <a:cs typeface="Times New Roman" pitchFamily="18" charset="0"/>
              </a:rPr>
              <a:t>*</a:t>
            </a:r>
            <a:r>
              <a:rPr lang="en-US" sz="2400" dirty="0" smtClean="0">
                <a:solidFill>
                  <a:srgbClr val="000000"/>
                </a:solidFill>
                <a:latin typeface="Times New Roman" pitchFamily="18" charset="0"/>
                <a:cs typeface="Times New Roman" pitchFamily="18" charset="0"/>
              </a:rPr>
              <a:t> are said to be </a:t>
            </a:r>
            <a:r>
              <a:rPr lang="en-US" sz="2400" dirty="0" smtClean="0">
                <a:solidFill>
                  <a:srgbClr val="FF0000"/>
                </a:solidFill>
                <a:latin typeface="Times New Roman" pitchFamily="18" charset="0"/>
                <a:cs typeface="Times New Roman" pitchFamily="18" charset="0"/>
              </a:rPr>
              <a:t>DUALS </a:t>
            </a:r>
            <a:r>
              <a:rPr lang="en-US" sz="2400" dirty="0" smtClean="0">
                <a:solidFill>
                  <a:srgbClr val="000000"/>
                </a:solidFill>
                <a:latin typeface="Times New Roman" pitchFamily="18" charset="0"/>
                <a:cs typeface="Times New Roman" pitchFamily="18" charset="0"/>
              </a:rPr>
              <a:t>of each other if either one can be obtained from other by replacing </a:t>
            </a:r>
            <a:r>
              <a:rPr lang="en-US" sz="2400" dirty="0" smtClean="0">
                <a:solidFill>
                  <a:srgbClr val="000000"/>
                </a:solidFill>
                <a:latin typeface="Times New Roman"/>
                <a:cs typeface="Times New Roman"/>
              </a:rPr>
              <a:t>˄ by ˅, ˅ by ˄ ,</a:t>
            </a:r>
            <a:r>
              <a:rPr lang="en-US" sz="2400" dirty="0" smtClean="0">
                <a:solidFill>
                  <a:srgbClr val="000000"/>
                </a:solidFill>
                <a:latin typeface="Times New Roman" pitchFamily="18" charset="0"/>
                <a:cs typeface="Times New Roman" pitchFamily="18" charset="0"/>
              </a:rPr>
              <a:t> T by F and F by T.</a:t>
            </a:r>
          </a:p>
          <a:p>
            <a:pPr algn="just">
              <a:buNone/>
            </a:pPr>
            <a:r>
              <a:rPr lang="en-US" sz="2400" b="1" dirty="0" smtClean="0">
                <a:solidFill>
                  <a:srgbClr val="FF0000"/>
                </a:solidFill>
                <a:latin typeface="Times New Roman" pitchFamily="18" charset="0"/>
                <a:cs typeface="Times New Roman" pitchFamily="18" charset="0"/>
              </a:rPr>
              <a:t>Example</a:t>
            </a:r>
          </a:p>
          <a:p>
            <a:pPr algn="just">
              <a:buNone/>
            </a:pPr>
            <a:r>
              <a:rPr lang="en-US" sz="2400" dirty="0" smtClean="0">
                <a:solidFill>
                  <a:srgbClr val="000000"/>
                </a:solidFill>
                <a:latin typeface="Times New Roman" pitchFamily="18" charset="0"/>
                <a:cs typeface="Times New Roman" pitchFamily="18" charset="0"/>
              </a:rPr>
              <a:t>              Dual of                    is                   .</a:t>
            </a:r>
          </a:p>
        </p:txBody>
      </p:sp>
      <p:graphicFrame>
        <p:nvGraphicFramePr>
          <p:cNvPr id="13" name="Object 12"/>
          <p:cNvGraphicFramePr>
            <a:graphicFrameLocks noChangeAspect="1"/>
          </p:cNvGraphicFramePr>
          <p:nvPr/>
        </p:nvGraphicFramePr>
        <p:xfrm>
          <a:off x="2822575" y="5786438"/>
          <a:ext cx="1373188" cy="392112"/>
        </p:xfrm>
        <a:graphic>
          <a:graphicData uri="http://schemas.openxmlformats.org/presentationml/2006/ole">
            <mc:AlternateContent xmlns:mc="http://schemas.openxmlformats.org/markup-compatibility/2006">
              <mc:Choice xmlns:v="urn:schemas-microsoft-com:vml" Requires="v">
                <p:oleObj spid="_x0000_s66676" name="Equation" r:id="rId3" imgW="711000" imgH="203040" progId="Equation.3">
                  <p:embed/>
                </p:oleObj>
              </mc:Choice>
              <mc:Fallback>
                <p:oleObj name="Equation" r:id="rId3" imgW="711000" imgH="203040" progId="Equation.3">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2575" y="5786438"/>
                        <a:ext cx="1373188"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p:cNvGraphicFramePr>
            <a:graphicFrameLocks noChangeAspect="1"/>
          </p:cNvGraphicFramePr>
          <p:nvPr/>
        </p:nvGraphicFramePr>
        <p:xfrm>
          <a:off x="4454525" y="5786438"/>
          <a:ext cx="1519238" cy="357187"/>
        </p:xfrm>
        <a:graphic>
          <a:graphicData uri="http://schemas.openxmlformats.org/presentationml/2006/ole">
            <mc:AlternateContent xmlns:mc="http://schemas.openxmlformats.org/markup-compatibility/2006">
              <mc:Choice xmlns:v="urn:schemas-microsoft-com:vml" Requires="v">
                <p:oleObj spid="_x0000_s66677" name="Equation" r:id="rId5" imgW="736560" imgH="203040" progId="Equation.3">
                  <p:embed/>
                </p:oleObj>
              </mc:Choice>
              <mc:Fallback>
                <p:oleObj name="Equation" r:id="rId5" imgW="736560" imgH="203040" progId="Equation.3">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4525" y="5786438"/>
                        <a:ext cx="1519238" cy="357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Functionally Complete Set of Connectives</a:t>
            </a:r>
            <a:endParaRPr lang="en-IN" sz="3200" b="1" dirty="0">
              <a:solidFill>
                <a:srgbClr val="335295"/>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28596" y="1571612"/>
                <a:ext cx="8286808" cy="4643470"/>
              </a:xfrm>
            </p:spPr>
            <p:txBody>
              <a:bodyPr/>
              <a:lstStyle/>
              <a:p>
                <a:pPr algn="just">
                  <a:buNone/>
                </a:pPr>
                <a:r>
                  <a:rPr lang="en-US" sz="2400" b="1" dirty="0" smtClean="0">
                    <a:solidFill>
                      <a:srgbClr val="FF0000"/>
                    </a:solidFill>
                    <a:latin typeface="Times New Roman" pitchFamily="18" charset="0"/>
                    <a:cs typeface="Times New Roman" pitchFamily="18" charset="0"/>
                  </a:rPr>
                  <a:t>Functionally complete</a:t>
                </a:r>
              </a:p>
              <a:p>
                <a:pPr algn="just">
                  <a:buNone/>
                </a:pPr>
                <a:r>
                  <a:rPr lang="en-US" sz="2400" dirty="0" smtClean="0">
                    <a:solidFill>
                      <a:srgbClr val="000000"/>
                    </a:solidFill>
                    <a:latin typeface="Times New Roman" pitchFamily="18" charset="0"/>
                    <a:cs typeface="Times New Roman" pitchFamily="18" charset="0"/>
                  </a:rPr>
                  <a:t>     A set S of connectives is said to be </a:t>
                </a:r>
                <a:r>
                  <a:rPr lang="en-US" sz="2400" dirty="0" smtClean="0">
                    <a:solidFill>
                      <a:srgbClr val="FF0000"/>
                    </a:solidFill>
                    <a:latin typeface="Times New Roman" pitchFamily="18" charset="0"/>
                    <a:cs typeface="Times New Roman" pitchFamily="18" charset="0"/>
                  </a:rPr>
                  <a:t>Functionally complete</a:t>
                </a:r>
                <a:r>
                  <a:rPr lang="en-US" sz="2400" dirty="0" smtClean="0">
                    <a:solidFill>
                      <a:srgbClr val="000000"/>
                    </a:solidFill>
                    <a:latin typeface="Times New Roman" pitchFamily="18" charset="0"/>
                    <a:cs typeface="Times New Roman" pitchFamily="18" charset="0"/>
                  </a:rPr>
                  <a:t> set of connectives if every statement formula can be expressed in terms of an equivalent formula containing the connectives only from S.</a:t>
                </a:r>
              </a:p>
              <a:p>
                <a:pPr algn="just">
                  <a:buNone/>
                </a:pPr>
                <a:r>
                  <a:rPr lang="en-US" sz="2400" dirty="0" smtClean="0">
                    <a:solidFill>
                      <a:srgbClr val="000000"/>
                    </a:solidFill>
                    <a:latin typeface="Times New Roman" pitchFamily="18" charset="0"/>
                    <a:cs typeface="Times New Roman" pitchFamily="18" charset="0"/>
                  </a:rPr>
                  <a:t> </a:t>
                </a:r>
                <a:r>
                  <a:rPr lang="en-US" sz="2400" b="1" dirty="0" smtClean="0">
                    <a:solidFill>
                      <a:srgbClr val="FF0000"/>
                    </a:solidFill>
                    <a:latin typeface="Times New Roman" pitchFamily="18" charset="0"/>
                    <a:cs typeface="Times New Roman" pitchFamily="18" charset="0"/>
                  </a:rPr>
                  <a:t>Remark</a:t>
                </a:r>
              </a:p>
              <a:p>
                <a:pPr algn="just">
                  <a:buFont typeface="Arial" pitchFamily="34" charset="0"/>
                  <a:buChar char="•"/>
                </a:pPr>
                <a:r>
                  <a:rPr lang="en-US" sz="2400" dirty="0" smtClean="0">
                    <a:solidFill>
                      <a:srgbClr val="000000"/>
                    </a:solidFill>
                    <a:latin typeface="Times New Roman" pitchFamily="18" charset="0"/>
                    <a:cs typeface="Times New Roman" pitchFamily="18" charset="0"/>
                  </a:rPr>
                  <a:t>A set of connectives </a:t>
                </a:r>
                <a14:m>
                  <m:oMath xmlns:m="http://schemas.openxmlformats.org/officeDocument/2006/math">
                    <m:d>
                      <m:dPr>
                        <m:begChr m:val="{"/>
                        <m:endChr m:val="}"/>
                        <m:ctrlPr>
                          <a:rPr lang="en-US" sz="2400" i="1" smtClean="0">
                            <a:solidFill>
                              <a:srgbClr val="000000"/>
                            </a:solidFill>
                            <a:latin typeface="Cambria Math"/>
                            <a:cs typeface="Times New Roman" pitchFamily="18" charset="0"/>
                          </a:rPr>
                        </m:ctrlPr>
                      </m:dPr>
                      <m:e>
                        <m:r>
                          <a:rPr lang="en-US" sz="240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 ,  ∧</m:t>
                        </m:r>
                      </m:e>
                    </m:d>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and </a:t>
                </a:r>
                <a14:m>
                  <m:oMath xmlns:m="http://schemas.openxmlformats.org/officeDocument/2006/math">
                    <m:d>
                      <m:dPr>
                        <m:begChr m:val="{"/>
                        <m:endChr m:val="}"/>
                        <m:ctrlPr>
                          <a:rPr lang="en-US" sz="2400" i="1" smtClean="0">
                            <a:solidFill>
                              <a:srgbClr val="000000"/>
                            </a:solidFill>
                            <a:latin typeface="Cambria Math"/>
                            <a:cs typeface="Times New Roman" pitchFamily="18" charset="0"/>
                          </a:rPr>
                        </m:ctrlPr>
                      </m:dPr>
                      <m:e>
                        <m:r>
                          <a:rPr lang="en-US" sz="240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 ,  ∨</m:t>
                        </m:r>
                      </m:e>
                    </m:d>
                  </m:oMath>
                </a14:m>
                <a:r>
                  <a:rPr lang="en-US" sz="2400" dirty="0" smtClean="0">
                    <a:solidFill>
                      <a:srgbClr val="000000"/>
                    </a:solidFill>
                    <a:latin typeface="Times New Roman" pitchFamily="18" charset="0"/>
                    <a:cs typeface="Times New Roman" pitchFamily="18" charset="0"/>
                  </a:rPr>
                  <a:t> are Functionally </a:t>
                </a:r>
                <a:r>
                  <a:rPr lang="en-US" sz="2400" dirty="0" smtClean="0">
                    <a:solidFill>
                      <a:srgbClr val="000000"/>
                    </a:solidFill>
                    <a:latin typeface="Times New Roman" pitchFamily="18" charset="0"/>
                    <a:cs typeface="Times New Roman" pitchFamily="18" charset="0"/>
                  </a:rPr>
                  <a:t>complete.</a:t>
                </a:r>
              </a:p>
              <a:p>
                <a:pPr algn="just">
                  <a:buFont typeface="Arial" pitchFamily="34" charset="0"/>
                  <a:buChar char="•"/>
                </a:pPr>
                <a:r>
                  <a:rPr lang="en-US" sz="2400" dirty="0" smtClean="0">
                    <a:solidFill>
                      <a:srgbClr val="000000"/>
                    </a:solidFill>
                    <a:latin typeface="Times New Roman" pitchFamily="18" charset="0"/>
                    <a:cs typeface="Times New Roman" pitchFamily="18" charset="0"/>
                  </a:rPr>
                  <a:t>Conditional and Biconditional connectives can be replaced by three connectives ˅, </a:t>
                </a:r>
                <a:r>
                  <a:rPr lang="en-US" sz="2400" dirty="0" smtClean="0">
                    <a:solidFill>
                      <a:srgbClr val="000000"/>
                    </a:solidFill>
                    <a:latin typeface="Times New Roman"/>
                    <a:cs typeface="Times New Roman"/>
                  </a:rPr>
                  <a:t>˄ , ¬ .</a:t>
                </a:r>
                <a:endParaRPr lang="en-US" sz="2400" dirty="0" smtClean="0">
                  <a:solidFill>
                    <a:srgbClr val="000000"/>
                  </a:solidFill>
                  <a:latin typeface="Times New Roman" pitchFamily="18" charset="0"/>
                  <a:cs typeface="Times New Roman"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28596" y="1571612"/>
                <a:ext cx="8286808" cy="4643470"/>
              </a:xfrm>
              <a:blipFill rotWithShape="1">
                <a:blip r:embed="rId2"/>
                <a:stretch>
                  <a:fillRect l="-1103" t="-1050" r="-2132"/>
                </a:stretch>
              </a:blipFill>
            </p:spPr>
            <p:txBody>
              <a:bodyPr/>
              <a:lstStyle/>
              <a:p>
                <a:r>
                  <a:rPr lang="en-IN">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pPr algn="l"/>
            <a:r>
              <a:rPr lang="en-US" b="1" dirty="0" smtClean="0">
                <a:solidFill>
                  <a:srgbClr val="1B57B5"/>
                </a:solidFill>
                <a:latin typeface="Times New Roman" pitchFamily="18" charset="0"/>
                <a:cs typeface="Times New Roman" pitchFamily="18" charset="0"/>
              </a:rPr>
              <a:t>Problems</a:t>
            </a:r>
            <a:endParaRPr lang="en-IN" b="1" dirty="0">
              <a:solidFill>
                <a:srgbClr val="1B57B5"/>
              </a:solidFill>
              <a:latin typeface="Times New Roman" pitchFamily="18" charset="0"/>
              <a:cs typeface="Times New Roman"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28596" y="1142984"/>
                <a:ext cx="8258204" cy="4983179"/>
              </a:xfrm>
            </p:spPr>
            <p:txBody>
              <a:bodyPr/>
              <a:lstStyle/>
              <a:p>
                <a:pPr marL="457200" indent="-457200">
                  <a:buFont typeface="+mj-lt"/>
                  <a:buAutoNum type="arabicPeriod"/>
                </a:pPr>
                <a:r>
                  <a:rPr lang="en-US" sz="2400" dirty="0" smtClean="0">
                    <a:latin typeface="Times New Roman" pitchFamily="18" charset="0"/>
                    <a:cs typeface="Times New Roman" pitchFamily="18" charset="0"/>
                  </a:rPr>
                  <a:t>Construct the truth table for each of the following Compound proposition </a:t>
                </a:r>
              </a:p>
              <a:p>
                <a:pPr marL="457200" indent="-457200">
                  <a:buNone/>
                </a:pPr>
                <a:r>
                  <a:rPr lang="en-US" sz="2400" dirty="0" smtClean="0">
                    <a:latin typeface="Times New Roman" pitchFamily="18" charset="0"/>
                    <a:cs typeface="Times New Roman" pitchFamily="18" charset="0"/>
                  </a:rPr>
                  <a:t>A    </a:t>
                </a:r>
                <a14:m>
                  <m:oMath xmlns:m="http://schemas.openxmlformats.org/officeDocument/2006/math">
                    <m:d>
                      <m:dPr>
                        <m:ctrlPr>
                          <a:rPr lang="en-US" sz="2400" b="0" i="1" smtClean="0">
                            <a:latin typeface="Cambria Math"/>
                            <a:cs typeface="Times New Roman" pitchFamily="18" charset="0"/>
                          </a:rPr>
                        </m:ctrlPr>
                      </m:dPr>
                      <m:e>
                        <m:r>
                          <a:rPr lang="en-US" sz="2400" b="0" i="1" smtClean="0">
                            <a:latin typeface="Cambria Math"/>
                            <a:cs typeface="Times New Roman" pitchFamily="18" charset="0"/>
                          </a:rPr>
                          <m:t>𝑝</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e>
                    </m:d>
                    <m:r>
                      <a:rPr lang="en-US" sz="2400" b="0" i="1" smtClean="0">
                        <a:latin typeface="Cambria Math"/>
                        <a:ea typeface="Cambria Math"/>
                        <a:cs typeface="Times New Roman" pitchFamily="18" charset="0"/>
                      </a:rPr>
                      <m:t>→</m:t>
                    </m:r>
                    <m:d>
                      <m:dPr>
                        <m:ctrlPr>
                          <a:rPr lang="en-US" sz="2400" b="0" i="1" smtClean="0">
                            <a:latin typeface="Cambria Math"/>
                            <a:ea typeface="Cambria Math"/>
                            <a:cs typeface="Times New Roman" pitchFamily="18" charset="0"/>
                          </a:rPr>
                        </m:ctrlPr>
                      </m:dPr>
                      <m:e>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𝑝</m:t>
                        </m:r>
                      </m:e>
                    </m:d>
                    <m:r>
                      <a:rPr lang="en-US" sz="2400" b="0" i="1" smtClean="0">
                        <a:latin typeface="Cambria Math"/>
                        <a:ea typeface="Cambria Math"/>
                        <a:cs typeface="Times New Roman" pitchFamily="18" charset="0"/>
                      </a:rPr>
                      <m:t>.</m:t>
                    </m:r>
                  </m:oMath>
                </a14:m>
                <a:endParaRPr lang="en-US" sz="2400" dirty="0" smtClean="0">
                  <a:latin typeface="Times New Roman" pitchFamily="18" charset="0"/>
                  <a:cs typeface="Times New Roman" pitchFamily="18" charset="0"/>
                </a:endParaRPr>
              </a:p>
              <a:p>
                <a:pPr marL="457200" indent="-457200">
                  <a:buNone/>
                </a:pPr>
                <a:r>
                  <a:rPr lang="en-US" sz="2400" dirty="0" smtClean="0">
                    <a:latin typeface="Times New Roman" pitchFamily="18" charset="0"/>
                    <a:cs typeface="Times New Roman" pitchFamily="18" charset="0"/>
                  </a:rPr>
                  <a:t>B     </a:t>
                </a:r>
                <a14:m>
                  <m:oMath xmlns:m="http://schemas.openxmlformats.org/officeDocument/2006/math">
                    <m:r>
                      <a:rPr lang="en-US" sz="2400" i="1" smtClean="0">
                        <a:latin typeface="Cambria Math"/>
                        <a:ea typeface="Cambria Math"/>
                        <a:cs typeface="Times New Roman" pitchFamily="18" charset="0"/>
                      </a:rPr>
                      <m:t>¬</m:t>
                    </m:r>
                    <m:d>
                      <m:dPr>
                        <m:ctrlPr>
                          <a:rPr lang="en-US" sz="2400" b="0" i="1" smtClean="0">
                            <a:latin typeface="Cambria Math"/>
                            <a:ea typeface="Cambria Math"/>
                            <a:cs typeface="Times New Roman" pitchFamily="18" charset="0"/>
                          </a:rPr>
                        </m:ctrlPr>
                      </m:dPr>
                      <m:e>
                        <m:r>
                          <a:rPr lang="en-US" sz="2400" b="0" i="1" smtClean="0">
                            <a:latin typeface="Cambria Math"/>
                            <a:ea typeface="Cambria Math"/>
                            <a:cs typeface="Times New Roman" pitchFamily="18" charset="0"/>
                          </a:rPr>
                          <m:t>𝑝</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e>
                    </m:d>
                    <m:r>
                      <a:rPr lang="en-US" sz="2400" b="0" i="1" smtClean="0">
                        <a:latin typeface="Cambria Math"/>
                        <a:ea typeface="Cambria Math"/>
                        <a:cs typeface="Times New Roman" pitchFamily="18" charset="0"/>
                      </a:rPr>
                      <m:t>↔</m:t>
                    </m:r>
                    <m:d>
                      <m:dPr>
                        <m:ctrlPr>
                          <a:rPr lang="en-US" sz="2400" b="0" i="1" smtClean="0">
                            <a:latin typeface="Cambria Math"/>
                            <a:ea typeface="Cambria Math"/>
                            <a:cs typeface="Times New Roman" pitchFamily="18" charset="0"/>
                          </a:rPr>
                        </m:ctrlPr>
                      </m:dPr>
                      <m:e>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𝑝</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e>
                    </m:d>
                    <m:r>
                      <a:rPr lang="en-US" sz="2400" b="0" i="1" smtClean="0">
                        <a:latin typeface="Cambria Math"/>
                        <a:ea typeface="Cambria Math"/>
                        <a:cs typeface="Times New Roman" pitchFamily="18" charset="0"/>
                      </a:rPr>
                      <m:t>.</m:t>
                    </m:r>
                  </m:oMath>
                </a14:m>
                <a:endParaRPr lang="en-US" sz="2400" dirty="0" smtClean="0">
                  <a:latin typeface="Times New Roman" pitchFamily="18" charset="0"/>
                  <a:cs typeface="Times New Roman" pitchFamily="18" charset="0"/>
                </a:endParaRPr>
              </a:p>
              <a:p>
                <a:pPr marL="457200" indent="-457200">
                  <a:buNone/>
                </a:pPr>
                <a:r>
                  <a:rPr lang="en-US" sz="2400" dirty="0" smtClean="0">
                    <a:latin typeface="Times New Roman" pitchFamily="18" charset="0"/>
                    <a:cs typeface="Times New Roman" pitchFamily="18" charset="0"/>
                  </a:rPr>
                  <a:t>2.    Show that </a:t>
                </a:r>
              </a:p>
              <a:p>
                <a:pPr marL="457200" indent="-457200">
                  <a:buFont typeface="Wingdings" pitchFamily="2" charset="2"/>
                  <a:buChar char="§"/>
                </a:pPr>
                <a:r>
                  <a:rPr lang="en-US" sz="2400" dirty="0" smtClean="0">
                    <a:latin typeface="Times New Roman" pitchFamily="18" charset="0"/>
                    <a:cs typeface="Times New Roman" pitchFamily="18" charset="0"/>
                  </a:rPr>
                  <a:t>  </a:t>
                </a:r>
                <a14:m>
                  <m:oMath xmlns:m="http://schemas.openxmlformats.org/officeDocument/2006/math">
                    <m:r>
                      <a:rPr lang="en-US" sz="2400" b="0" i="1" smtClean="0">
                        <a:latin typeface="Cambria Math"/>
                        <a:cs typeface="Times New Roman" pitchFamily="18" charset="0"/>
                      </a:rPr>
                      <m:t>𝑝</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𝑝</m:t>
                    </m:r>
                    <m:r>
                      <a:rPr lang="en-US" sz="2400" b="0" i="0" smtClean="0">
                        <a:latin typeface="Cambria Math"/>
                        <a:ea typeface="Cambria Math"/>
                        <a:cs typeface="Times New Roman" pitchFamily="18" charset="0"/>
                      </a:rPr>
                      <m:t> </m:t>
                    </m:r>
                  </m:oMath>
                </a14:m>
                <a:r>
                  <a:rPr lang="en-US" sz="2400" dirty="0" smtClean="0">
                    <a:latin typeface="Times New Roman" pitchFamily="18" charset="0"/>
                    <a:cs typeface="Times New Roman" pitchFamily="18" charset="0"/>
                  </a:rPr>
                  <a:t>is </a:t>
                </a:r>
                <a:r>
                  <a:rPr lang="en-US" sz="2400" dirty="0" smtClean="0">
                    <a:latin typeface="Times New Roman" pitchFamily="18" charset="0"/>
                    <a:cs typeface="Times New Roman" pitchFamily="18" charset="0"/>
                  </a:rPr>
                  <a:t>a Tautology.</a:t>
                </a:r>
              </a:p>
              <a:p>
                <a:pPr marL="457200" indent="-457200">
                  <a:buFont typeface="Wingdings" pitchFamily="2" charset="2"/>
                  <a:buChar char="§"/>
                </a:pPr>
                <a:r>
                  <a:rPr lang="en-US" sz="2400" dirty="0" smtClean="0">
                    <a:latin typeface="Times New Roman" pitchFamily="18" charset="0"/>
                    <a:cs typeface="Times New Roman" pitchFamily="18" charset="0"/>
                  </a:rPr>
                  <a:t>  </a:t>
                </a:r>
                <a14:m>
                  <m:oMath xmlns:m="http://schemas.openxmlformats.org/officeDocument/2006/math">
                    <m:r>
                      <m:rPr>
                        <m:sty m:val="p"/>
                      </m:rPr>
                      <a:rPr lang="en-US" sz="2400" b="0" i="0" smtClean="0">
                        <a:latin typeface="Cambria Math"/>
                        <a:cs typeface="Times New Roman" pitchFamily="18" charset="0"/>
                      </a:rPr>
                      <m:t>p</m:t>
                    </m:r>
                    <m:r>
                      <a:rPr lang="en-US" sz="2400" b="0" i="1" smtClean="0">
                        <a:latin typeface="Cambria Math"/>
                        <a:ea typeface="Cambria Math"/>
                        <a:cs typeface="Times New Roman" pitchFamily="18" charset="0"/>
                      </a:rPr>
                      <m:t>∧</m:t>
                    </m:r>
                    <m:r>
                      <a:rPr lang="en-US" sz="2400" i="1">
                        <a:latin typeface="Cambria Math"/>
                        <a:ea typeface="Cambria Math"/>
                        <a:cs typeface="Times New Roman" pitchFamily="18" charset="0"/>
                      </a:rPr>
                      <m:t>¬</m:t>
                    </m:r>
                    <m:r>
                      <a:rPr lang="en-US" sz="2400" i="1">
                        <a:latin typeface="Cambria Math"/>
                        <a:ea typeface="Cambria Math"/>
                        <a:cs typeface="Times New Roman" pitchFamily="18" charset="0"/>
                      </a:rPr>
                      <m:t>𝑝</m:t>
                    </m:r>
                    <m:r>
                      <a:rPr lang="en-US" sz="2400" b="0" i="0" smtClean="0">
                        <a:latin typeface="Cambria Math"/>
                        <a:ea typeface="Cambria Math"/>
                        <a:cs typeface="Times New Roman" pitchFamily="18" charset="0"/>
                      </a:rPr>
                      <m:t> </m:t>
                    </m:r>
                  </m:oMath>
                </a14:m>
                <a:r>
                  <a:rPr lang="en-US" sz="2400" dirty="0" smtClean="0">
                    <a:latin typeface="Times New Roman" pitchFamily="18" charset="0"/>
                    <a:cs typeface="Times New Roman" pitchFamily="18" charset="0"/>
                  </a:rPr>
                  <a:t>is </a:t>
                </a:r>
                <a:r>
                  <a:rPr lang="en-US" sz="2400" dirty="0" smtClean="0">
                    <a:latin typeface="Times New Roman" pitchFamily="18" charset="0"/>
                    <a:cs typeface="Times New Roman" pitchFamily="18" charset="0"/>
                  </a:rPr>
                  <a:t>a Contradiction.</a:t>
                </a:r>
              </a:p>
              <a:p>
                <a:pPr marL="457200" indent="-457200">
                  <a:buFont typeface="Wingdings" pitchFamily="2" charset="2"/>
                  <a:buChar char="§"/>
                </a:pP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14:m>
                  <m:oMath xmlns:m="http://schemas.openxmlformats.org/officeDocument/2006/math">
                    <m:r>
                      <a:rPr lang="en-US" sz="2400" b="0" i="1" smtClean="0">
                        <a:latin typeface="Cambria Math"/>
                        <a:cs typeface="Times New Roman" pitchFamily="18" charset="0"/>
                      </a:rPr>
                      <m:t>𝑝</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r>
                      <a:rPr lang="en-US" sz="2400" b="0" i="1" smtClean="0">
                        <a:latin typeface="Cambria Math"/>
                        <a:ea typeface="Cambria Math"/>
                        <a:cs typeface="Times New Roman" pitchFamily="18" charset="0"/>
                      </a:rPr>
                      <m:t>)∧</m:t>
                    </m:r>
                    <m:d>
                      <m:dPr>
                        <m:ctrlPr>
                          <a:rPr lang="en-US" sz="2400" b="0" i="1" smtClean="0">
                            <a:latin typeface="Cambria Math"/>
                            <a:ea typeface="Cambria Math"/>
                            <a:cs typeface="Times New Roman" pitchFamily="18" charset="0"/>
                          </a:rPr>
                        </m:ctrlPr>
                      </m:dPr>
                      <m:e>
                        <m:r>
                          <a:rPr lang="en-US" sz="2400" b="0" i="1" smtClean="0">
                            <a:latin typeface="Cambria Math"/>
                            <a:ea typeface="Cambria Math"/>
                            <a:cs typeface="Times New Roman" pitchFamily="18" charset="0"/>
                          </a:rPr>
                          <m:t>𝑝</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e>
                    </m:d>
                    <m:r>
                      <a:rPr lang="en-US" sz="2400" b="0" i="1" smtClean="0">
                        <a:latin typeface="Cambria Math"/>
                        <a:ea typeface="Cambria Math"/>
                        <a:cs typeface="Times New Roman" pitchFamily="18" charset="0"/>
                      </a:rPr>
                      <m:t> </m:t>
                    </m:r>
                  </m:oMath>
                </a14:m>
                <a:r>
                  <a:rPr lang="en-US" sz="2400" dirty="0" smtClean="0">
                    <a:latin typeface="Times New Roman" pitchFamily="18" charset="0"/>
                    <a:cs typeface="Times New Roman" pitchFamily="18" charset="0"/>
                  </a:rPr>
                  <a:t>is </a:t>
                </a:r>
                <a:r>
                  <a:rPr lang="en-US" sz="2400" dirty="0" smtClean="0">
                    <a:latin typeface="Times New Roman" pitchFamily="18" charset="0"/>
                    <a:cs typeface="Times New Roman" pitchFamily="18" charset="0"/>
                  </a:rPr>
                  <a:t>a Contingency.</a:t>
                </a:r>
              </a:p>
              <a:p>
                <a:pPr marL="457200" indent="-457200">
                  <a:buAutoNum type="arabicPeriod" startAt="3"/>
                </a:pPr>
                <a:r>
                  <a:rPr lang="en-US" sz="2400" dirty="0" smtClean="0">
                    <a:latin typeface="Times New Roman" pitchFamily="18" charset="0"/>
                    <a:cs typeface="Times New Roman" pitchFamily="18" charset="0"/>
                  </a:rPr>
                  <a:t>Show </a:t>
                </a:r>
                <a:r>
                  <a:rPr lang="en-US" sz="2400" dirty="0" smtClean="0">
                    <a:latin typeface="Times New Roman" pitchFamily="18" charset="0"/>
                    <a:cs typeface="Times New Roman" pitchFamily="18" charset="0"/>
                  </a:rPr>
                  <a:t>that </a:t>
                </a:r>
                <a14:m>
                  <m:oMath xmlns:m="http://schemas.openxmlformats.org/officeDocument/2006/math">
                    <m:r>
                      <a:rPr lang="en-US" sz="240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𝑝</m:t>
                    </m:r>
                    <m:r>
                      <a:rPr lang="en-US" sz="2400" b="0" i="1" smtClean="0">
                        <a:latin typeface="Cambria Math"/>
                        <a:ea typeface="Cambria Math"/>
                        <a:cs typeface="Times New Roman" pitchFamily="18" charset="0"/>
                      </a:rPr>
                      <m:t>∨</m:t>
                    </m:r>
                    <m:d>
                      <m:dPr>
                        <m:ctrlPr>
                          <a:rPr lang="en-US" sz="2400" b="0" i="1" smtClean="0">
                            <a:latin typeface="Cambria Math"/>
                            <a:ea typeface="Cambria Math"/>
                            <a:cs typeface="Times New Roman" pitchFamily="18" charset="0"/>
                          </a:rPr>
                        </m:ctrlPr>
                      </m:dPr>
                      <m:e>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𝑝</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e>
                    </m:d>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𝑝</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oMath>
                </a14:m>
                <a:r>
                  <a:rPr lang="en-US" sz="2400" dirty="0" smtClean="0">
                    <a:latin typeface="Times New Roman" pitchFamily="18" charset="0"/>
                    <a:cs typeface="Times New Roman" pitchFamily="18" charset="0"/>
                  </a:rPr>
                  <a:t> .                                         </a:t>
                </a:r>
                <a:endParaRPr lang="en-US" sz="2400" dirty="0" smtClean="0">
                  <a:latin typeface="Times New Roman" pitchFamily="18" charset="0"/>
                  <a:cs typeface="Times New Roman" pitchFamily="18" charset="0"/>
                </a:endParaRPr>
              </a:p>
              <a:p>
                <a:pPr marL="457200" indent="-457200">
                  <a:buAutoNum type="arabicPeriod" startAt="3"/>
                </a:pPr>
                <a:r>
                  <a:rPr lang="en-US" sz="2400" dirty="0" smtClean="0">
                    <a:latin typeface="Times New Roman" pitchFamily="18" charset="0"/>
                    <a:cs typeface="Times New Roman" pitchFamily="18" charset="0"/>
                  </a:rPr>
                  <a:t>Show that </a:t>
                </a:r>
                <a14:m>
                  <m:oMath xmlns:m="http://schemas.openxmlformats.org/officeDocument/2006/math">
                    <m:r>
                      <a:rPr lang="en-US" sz="2400" b="0" i="1" smtClean="0">
                        <a:latin typeface="Cambria Math"/>
                        <a:cs typeface="Times New Roman" pitchFamily="18" charset="0"/>
                      </a:rPr>
                      <m:t>(</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𝑝</m:t>
                    </m:r>
                    <m:r>
                      <a:rPr lang="en-US" sz="2400" b="0" i="1" smtClean="0">
                        <a:latin typeface="Cambria Math"/>
                        <a:ea typeface="Cambria Math"/>
                        <a:cs typeface="Times New Roman" pitchFamily="18" charset="0"/>
                      </a:rPr>
                      <m:t>∧</m:t>
                    </m:r>
                    <m:d>
                      <m:dPr>
                        <m:ctrlPr>
                          <a:rPr lang="en-US" sz="2400" b="0" i="1" smtClean="0">
                            <a:latin typeface="Cambria Math"/>
                            <a:ea typeface="Cambria Math"/>
                            <a:cs typeface="Times New Roman" pitchFamily="18" charset="0"/>
                          </a:rPr>
                        </m:ctrlPr>
                      </m:dPr>
                      <m:e>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𝑟</m:t>
                        </m:r>
                      </m:e>
                    </m:d>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𝑟</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𝑝</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𝑟</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𝑟</m:t>
                    </m:r>
                  </m:oMath>
                </a14:m>
                <a:r>
                  <a:rPr lang="en-US" sz="2400" dirty="0" smtClean="0">
                    <a:latin typeface="Times New Roman" pitchFamily="18" charset="0"/>
                    <a:cs typeface="Times New Roman" pitchFamily="18" charset="0"/>
                  </a:rPr>
                  <a:t> .                                                                  </a:t>
                </a:r>
                <a:endParaRPr lang="en-US" sz="2400" dirty="0" smtClean="0">
                  <a:latin typeface="Times New Roman" pitchFamily="18" charset="0"/>
                  <a:cs typeface="Times New Roman" pitchFamily="18" charset="0"/>
                </a:endParaRPr>
              </a:p>
              <a:p>
                <a:pPr marL="457200" indent="-457200">
                  <a:buAutoNum type="arabicPeriod" startAt="3"/>
                </a:pPr>
                <a:r>
                  <a:rPr lang="en-US" sz="2400" dirty="0" smtClean="0">
                    <a:latin typeface="Times New Roman" pitchFamily="18" charset="0"/>
                    <a:cs typeface="Times New Roman" pitchFamily="18" charset="0"/>
                  </a:rPr>
                  <a:t>Show that </a:t>
                </a:r>
                <a14:m>
                  <m:oMath xmlns:m="http://schemas.openxmlformats.org/officeDocument/2006/math">
                    <m:r>
                      <a:rPr lang="en-US" sz="2400" b="0" i="1" smtClean="0">
                        <a:latin typeface="Cambria Math"/>
                        <a:cs typeface="Times New Roman" pitchFamily="18" charset="0"/>
                      </a:rPr>
                      <m:t>𝑝</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𝑞</m:t>
                    </m:r>
                    <m:r>
                      <a:rPr lang="en-US" sz="2400" b="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𝑝</m:t>
                    </m:r>
                    <m:r>
                      <a:rPr lang="en-US" sz="2400" b="0" i="1" smtClean="0">
                        <a:latin typeface="Cambria Math"/>
                        <a:ea typeface="Cambria Math"/>
                        <a:cs typeface="Times New Roman" pitchFamily="18" charset="0"/>
                      </a:rPr>
                      <m:t> .</m:t>
                    </m:r>
                  </m:oMath>
                </a14:m>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t>
                </a:r>
              </a:p>
              <a:p>
                <a:pPr marL="457200" indent="-457200">
                  <a:buNone/>
                </a:pPr>
                <a:endParaRPr lang="en-US" sz="2400" dirty="0" smtClean="0">
                  <a:latin typeface="Times New Roman" pitchFamily="18" charset="0"/>
                  <a:cs typeface="Times New Roman" pitchFamily="18" charset="0"/>
                </a:endParaRPr>
              </a:p>
              <a:p>
                <a:pPr marL="457200" indent="-457200">
                  <a:buNone/>
                </a:pPr>
                <a:r>
                  <a:rPr lang="en-US" sz="2400" dirty="0" smtClean="0">
                    <a:latin typeface="Times New Roman" pitchFamily="18" charset="0"/>
                    <a:cs typeface="Times New Roman" pitchFamily="18" charset="0"/>
                  </a:rPr>
                  <a:t> </a:t>
                </a:r>
              </a:p>
              <a:p>
                <a:pPr marL="457200" indent="-457200">
                  <a:buNone/>
                </a:pPr>
                <a:r>
                  <a:rPr lang="en-US" sz="2400" dirty="0" smtClean="0">
                    <a:latin typeface="Times New Roman" pitchFamily="18" charset="0"/>
                    <a:cs typeface="Times New Roman" pitchFamily="18" charset="0"/>
                  </a:rPr>
                  <a:t>   </a:t>
                </a:r>
              </a:p>
              <a:p>
                <a:pPr marL="457200" indent="-457200">
                  <a:buNone/>
                </a:pPr>
                <a:endParaRPr lang="en-US" sz="2400" dirty="0" smtClean="0">
                  <a:latin typeface="Times New Roman" pitchFamily="18" charset="0"/>
                  <a:cs typeface="Times New Roman" pitchFamily="18" charset="0"/>
                </a:endParaRPr>
              </a:p>
              <a:p>
                <a:pPr marL="457200" indent="-457200">
                  <a:buNone/>
                </a:pPr>
                <a:r>
                  <a:rPr lang="en-US" sz="24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28596" y="1142984"/>
                <a:ext cx="8258204" cy="4983179"/>
              </a:xfrm>
              <a:blipFill rotWithShape="1">
                <a:blip r:embed="rId2"/>
                <a:stretch>
                  <a:fillRect l="-1107" t="-978" r="-50627" b="-42543"/>
                </a:stretch>
              </a:blipFill>
            </p:spPr>
            <p:txBody>
              <a:bodyPr/>
              <a:lstStyle/>
              <a:p>
                <a:r>
                  <a:rPr lang="en-IN">
                    <a:noFill/>
                  </a:rPr>
                  <a:t> </a:t>
                </a:r>
              </a:p>
            </p:txBody>
          </p:sp>
        </mc:Fallback>
      </mc:AlternateContent>
    </p:spTree>
    <p:extLst>
      <p:ext uri="{BB962C8B-B14F-4D97-AF65-F5344CB8AC3E}">
        <p14:creationId xmlns:p14="http://schemas.microsoft.com/office/powerpoint/2010/main" val="2161125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57158" y="714356"/>
                <a:ext cx="8329642" cy="5411807"/>
              </a:xfrm>
            </p:spPr>
            <p:txBody>
              <a:bodyPr/>
              <a:lstStyle/>
              <a:p>
                <a:pPr marL="457200" indent="-457200" algn="just">
                  <a:buAutoNum type="arabicPeriod" startAt="6"/>
                </a:pPr>
                <a:r>
                  <a:rPr lang="en-US" sz="2400" dirty="0" smtClean="0">
                    <a:solidFill>
                      <a:srgbClr val="000000"/>
                    </a:solidFill>
                    <a:latin typeface="Times New Roman" pitchFamily="18" charset="0"/>
                    <a:cs typeface="Times New Roman" pitchFamily="18" charset="0"/>
                  </a:rPr>
                  <a:t>Prove that </a:t>
                </a:r>
                <a14:m>
                  <m:oMath xmlns:m="http://schemas.openxmlformats.org/officeDocument/2006/math">
                    <m:r>
                      <a:rPr lang="en-US" sz="240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d>
                      <m:dPr>
                        <m:ctrlPr>
                          <a:rPr lang="en-US" sz="2400" b="0" i="1" smtClean="0">
                            <a:solidFill>
                              <a:srgbClr val="000000"/>
                            </a:solidFill>
                            <a:latin typeface="Cambria Math"/>
                            <a:ea typeface="Cambria Math"/>
                            <a:cs typeface="Times New Roman" pitchFamily="18" charset="0"/>
                          </a:rPr>
                        </m:ctrlPr>
                      </m:dPr>
                      <m:e>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e>
                    </m:d>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oMath>
                </a14:m>
                <a:r>
                  <a:rPr lang="en-US" sz="2400" dirty="0" smtClean="0">
                    <a:solidFill>
                      <a:srgbClr val="000000"/>
                    </a:solidFill>
                    <a:latin typeface="Times New Roman" pitchFamily="18" charset="0"/>
                    <a:cs typeface="Times New Roman" pitchFamily="18" charset="0"/>
                  </a:rPr>
                  <a:t> . </a:t>
                </a:r>
                <a:endParaRPr lang="en-US" sz="2400" dirty="0" smtClean="0">
                  <a:solidFill>
                    <a:srgbClr val="000000"/>
                  </a:solidFill>
                  <a:latin typeface="Times New Roman" pitchFamily="18" charset="0"/>
                  <a:cs typeface="Times New Roman" pitchFamily="18" charset="0"/>
                </a:endParaRPr>
              </a:p>
              <a:p>
                <a:pPr marL="457200" indent="-457200" algn="just">
                  <a:buAutoNum type="arabicPeriod" startAt="6"/>
                </a:pPr>
                <a:r>
                  <a:rPr lang="en-US" sz="2400" b="0" dirty="0" smtClean="0">
                    <a:solidFill>
                      <a:srgbClr val="000000"/>
                    </a:solidFill>
                    <a:latin typeface="Times New Roman" pitchFamily="18" charset="0"/>
                    <a:cs typeface="Times New Roman" pitchFamily="18" charset="0"/>
                  </a:rPr>
                  <a:t>Show that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d>
                      <m:dPr>
                        <m:ctrlPr>
                          <a:rPr lang="en-US" sz="2400" b="0" i="1" smtClean="0">
                            <a:solidFill>
                              <a:srgbClr val="000000"/>
                            </a:solidFill>
                            <a:latin typeface="Cambria Math"/>
                            <a:ea typeface="Cambria Math"/>
                            <a:cs typeface="Times New Roman" pitchFamily="18" charset="0"/>
                          </a:rPr>
                        </m:ctrlPr>
                      </m:dPr>
                      <m:e>
                        <m:r>
                          <a:rPr lang="en-US" sz="2400" b="0" i="1" smtClean="0">
                            <a:solidFill>
                              <a:srgbClr val="000000"/>
                            </a:solidFill>
                            <a:latin typeface="Cambria Math"/>
                            <a:ea typeface="Cambria Math"/>
                            <a:cs typeface="Times New Roman" pitchFamily="18" charset="0"/>
                          </a:rPr>
                          <m:t>𝑞</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𝑟</m:t>
                        </m:r>
                      </m:e>
                    </m:d>
                    <m:r>
                      <a:rPr lang="en-US" sz="2400" b="0" i="1" smtClean="0">
                        <a:solidFill>
                          <a:srgbClr val="000000"/>
                        </a:solidFill>
                        <a:latin typeface="Cambria Math"/>
                        <a:ea typeface="Cambria Math"/>
                        <a:cs typeface="Times New Roman" pitchFamily="18" charset="0"/>
                      </a:rPr>
                      <m:t>⇒</m:t>
                    </m:r>
                    <m:d>
                      <m:dPr>
                        <m:ctrlPr>
                          <a:rPr lang="en-US" sz="2400" b="0" i="1" smtClean="0">
                            <a:solidFill>
                              <a:srgbClr val="000000"/>
                            </a:solidFill>
                            <a:latin typeface="Cambria Math"/>
                            <a:ea typeface="Cambria Math"/>
                            <a:cs typeface="Times New Roman" pitchFamily="18" charset="0"/>
                          </a:rPr>
                        </m:ctrlPr>
                      </m:dPr>
                      <m:e>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e>
                    </m:d>
                    <m:r>
                      <a:rPr lang="en-US" sz="2400" b="0" i="1" smtClean="0">
                        <a:solidFill>
                          <a:srgbClr val="000000"/>
                        </a:solidFill>
                        <a:latin typeface="Cambria Math"/>
                        <a:ea typeface="Cambria Math"/>
                        <a:cs typeface="Times New Roman" pitchFamily="18" charset="0"/>
                      </a:rPr>
                      <m:t>→</m:t>
                    </m:r>
                    <m:d>
                      <m:dPr>
                        <m:ctrlPr>
                          <a:rPr lang="en-US" sz="2400" b="0" i="1" smtClean="0">
                            <a:solidFill>
                              <a:srgbClr val="000000"/>
                            </a:solidFill>
                            <a:latin typeface="Cambria Math"/>
                            <a:ea typeface="Cambria Math"/>
                            <a:cs typeface="Times New Roman" pitchFamily="18" charset="0"/>
                          </a:rPr>
                        </m:ctrlPr>
                      </m:dPr>
                      <m:e>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𝑟</m:t>
                        </m:r>
                      </m:e>
                    </m:d>
                    <m:r>
                      <a:rPr lang="en-US" sz="2400" b="0" i="1" smtClean="0">
                        <a:solidFill>
                          <a:srgbClr val="000000"/>
                        </a:solidFill>
                        <a:latin typeface="Cambria Math"/>
                        <a:ea typeface="Cambria Math"/>
                        <a:cs typeface="Times New Roman" pitchFamily="18" charset="0"/>
                      </a:rPr>
                      <m:t>.</m:t>
                    </m:r>
                  </m:oMath>
                </a14:m>
                <a:r>
                  <a:rPr lang="en-US" sz="2400" dirty="0" smtClean="0">
                    <a:solidFill>
                      <a:srgbClr val="000000"/>
                    </a:solidFill>
                    <a:latin typeface="Times New Roman" pitchFamily="18" charset="0"/>
                    <a:cs typeface="Times New Roman" pitchFamily="18" charset="0"/>
                  </a:rPr>
                  <a:t>                                                              </a:t>
                </a:r>
                <a:endParaRPr lang="en-US" sz="2400" dirty="0" smtClean="0">
                  <a:solidFill>
                    <a:srgbClr val="000000"/>
                  </a:solidFill>
                  <a:latin typeface="Times New Roman" pitchFamily="18" charset="0"/>
                  <a:cs typeface="Times New Roman" pitchFamily="18" charset="0"/>
                </a:endParaRPr>
              </a:p>
              <a:p>
                <a:pPr marL="457200" indent="-457200" algn="just">
                  <a:buAutoNum type="arabicPeriod" startAt="6"/>
                </a:pPr>
                <a:r>
                  <a:rPr lang="en-US" sz="2400" dirty="0" smtClean="0">
                    <a:solidFill>
                      <a:srgbClr val="000000"/>
                    </a:solidFill>
                    <a:latin typeface="Times New Roman" pitchFamily="18" charset="0"/>
                    <a:cs typeface="Times New Roman" pitchFamily="18" charset="0"/>
                  </a:rPr>
                  <a:t>Write down the Contrapositive, Converse and Inverse of  </a:t>
                </a:r>
              </a:p>
              <a:p>
                <a:pPr algn="just">
                  <a:buNone/>
                </a:pPr>
                <a:r>
                  <a:rPr lang="en-US" sz="2400" dirty="0" smtClean="0">
                    <a:solidFill>
                      <a:srgbClr val="000000"/>
                    </a:solidFill>
                    <a:latin typeface="Times New Roman" pitchFamily="18" charset="0"/>
                    <a:cs typeface="Times New Roman" pitchFamily="18" charset="0"/>
                  </a:rPr>
                  <a:t>       the implication </a:t>
                </a:r>
                <a:r>
                  <a:rPr lang="en-US" sz="2400" dirty="0" smtClean="0">
                    <a:solidFill>
                      <a:srgbClr val="00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If </a:t>
                </a:r>
                <a:r>
                  <a:rPr lang="en-US" sz="2400" dirty="0" smtClean="0">
                    <a:solidFill>
                      <a:srgbClr val="000000"/>
                    </a:solidFill>
                    <a:latin typeface="Times New Roman" pitchFamily="18" charset="0"/>
                    <a:cs typeface="Times New Roman" pitchFamily="18" charset="0"/>
                  </a:rPr>
                  <a:t>it is </a:t>
                </a:r>
                <a:r>
                  <a:rPr lang="en-US" sz="2400" dirty="0" smtClean="0">
                    <a:solidFill>
                      <a:srgbClr val="000000"/>
                    </a:solidFill>
                    <a:latin typeface="Times New Roman" pitchFamily="18" charset="0"/>
                    <a:cs typeface="Times New Roman" pitchFamily="18" charset="0"/>
                  </a:rPr>
                  <a:t>raining, then </a:t>
                </a:r>
                <a:r>
                  <a:rPr lang="en-US" sz="2400" dirty="0" smtClean="0">
                    <a:solidFill>
                      <a:srgbClr val="000000"/>
                    </a:solidFill>
                    <a:latin typeface="Times New Roman" pitchFamily="18" charset="0"/>
                    <a:cs typeface="Times New Roman" pitchFamily="18" charset="0"/>
                  </a:rPr>
                  <a:t>I get wet </a:t>
                </a:r>
                <a:r>
                  <a:rPr lang="en-US" sz="2400" dirty="0" smtClean="0">
                    <a:solidFill>
                      <a:srgbClr val="000000"/>
                    </a:solidFill>
                    <a:latin typeface="Times New Roman" pitchFamily="18" charset="0"/>
                    <a:cs typeface="Times New Roman" pitchFamily="18" charset="0"/>
                  </a:rPr>
                  <a:t>“. </a:t>
                </a:r>
                <a:endParaRPr lang="en-US" sz="2400" dirty="0" smtClean="0">
                  <a:solidFill>
                    <a:srgbClr val="000000"/>
                  </a:solidFill>
                  <a:latin typeface="Times New Roman" pitchFamily="18" charset="0"/>
                  <a:cs typeface="Times New Roman" pitchFamily="18" charset="0"/>
                </a:endParaRPr>
              </a:p>
              <a:p>
                <a:pPr marL="457200" indent="-457200" algn="just">
                  <a:buAutoNum type="arabicPeriod" startAt="9"/>
                </a:pPr>
                <a:r>
                  <a:rPr lang="en-US" sz="2400" dirty="0" smtClean="0">
                    <a:solidFill>
                      <a:srgbClr val="000000"/>
                    </a:solidFill>
                    <a:latin typeface="Times New Roman" pitchFamily="18" charset="0"/>
                    <a:cs typeface="Times New Roman" pitchFamily="18" charset="0"/>
                  </a:rPr>
                  <a:t>Without using truth table, show that the formula </a:t>
                </a:r>
              </a:p>
              <a:p>
                <a:pPr marL="457200" indent="-457200" algn="just">
                  <a:buNone/>
                </a:pPr>
                <a:r>
                  <a:rPr lang="en-US" sz="2400" dirty="0" smtClean="0">
                    <a:solidFill>
                      <a:srgbClr val="000000"/>
                    </a:solidFill>
                    <a:latin typeface="Times New Roman" pitchFamily="18" charset="0"/>
                    <a:cs typeface="Times New Roman" pitchFamily="18" charset="0"/>
                  </a:rPr>
                  <a:t>       </a:t>
                </a:r>
                <a14:m>
                  <m:oMath xmlns:m="http://schemas.openxmlformats.org/officeDocument/2006/math">
                    <m:r>
                      <a:rPr lang="en-US" sz="2400" b="0" i="1" smtClean="0">
                        <a:solidFill>
                          <a:srgbClr val="000000"/>
                        </a:solidFill>
                        <a:latin typeface="Cambria Math"/>
                        <a:cs typeface="Times New Roman" pitchFamily="18" charset="0"/>
                      </a:rPr>
                      <m:t>𝑞</m:t>
                    </m:r>
                    <m:r>
                      <a:rPr lang="en-US" sz="2400" b="0" i="1" smtClean="0">
                        <a:solidFill>
                          <a:srgbClr val="000000"/>
                        </a:solidFill>
                        <a:latin typeface="Cambria Math"/>
                        <a:ea typeface="Cambria Math"/>
                        <a:cs typeface="Times New Roman" pitchFamily="18" charset="0"/>
                      </a:rPr>
                      <m:t>∨</m:t>
                    </m:r>
                    <m:d>
                      <m:dPr>
                        <m:ctrlPr>
                          <a:rPr lang="en-US" sz="2400" b="0" i="1" smtClean="0">
                            <a:solidFill>
                              <a:srgbClr val="000000"/>
                            </a:solidFill>
                            <a:latin typeface="Cambria Math"/>
                            <a:ea typeface="Cambria Math"/>
                            <a:cs typeface="Times New Roman" pitchFamily="18" charset="0"/>
                          </a:rPr>
                        </m:ctrlPr>
                      </m:dPr>
                      <m:e>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e>
                    </m:d>
                    <m:r>
                      <a:rPr lang="en-US" sz="2400" b="0" i="1" smtClean="0">
                        <a:solidFill>
                          <a:srgbClr val="000000"/>
                        </a:solidFill>
                        <a:latin typeface="Cambria Math"/>
                        <a:ea typeface="Cambria Math"/>
                        <a:cs typeface="Times New Roman" pitchFamily="18" charset="0"/>
                      </a:rPr>
                      <m:t>∨</m:t>
                    </m:r>
                    <m:d>
                      <m:dPr>
                        <m:ctrlPr>
                          <a:rPr lang="en-US" sz="2400" b="0" i="1" smtClean="0">
                            <a:solidFill>
                              <a:srgbClr val="000000"/>
                            </a:solidFill>
                            <a:latin typeface="Cambria Math"/>
                            <a:ea typeface="Cambria Math"/>
                            <a:cs typeface="Times New Roman" pitchFamily="18" charset="0"/>
                          </a:rPr>
                        </m:ctrlPr>
                      </m:dPr>
                      <m:e>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e>
                    </m:d>
                  </m:oMath>
                </a14:m>
                <a:r>
                  <a:rPr lang="en-US" sz="2400" dirty="0" smtClean="0">
                    <a:solidFill>
                      <a:srgbClr val="000000"/>
                    </a:solidFill>
                    <a:latin typeface="Times New Roman" pitchFamily="18" charset="0"/>
                    <a:cs typeface="Times New Roman" pitchFamily="18" charset="0"/>
                  </a:rPr>
                  <a:t> is a Tautology ,</a:t>
                </a:r>
                <a:endParaRPr lang="en-US" sz="2400" dirty="0" smtClean="0">
                  <a:solidFill>
                    <a:srgbClr val="000000"/>
                  </a:solidFill>
                  <a:latin typeface="Times New Roman" pitchFamily="18" charset="0"/>
                  <a:cs typeface="Times New Roman" pitchFamily="18" charset="0"/>
                </a:endParaRPr>
              </a:p>
              <a:p>
                <a:pPr marL="457200" indent="-457200" algn="just">
                  <a:buAutoNum type="arabicPeriod" startAt="10"/>
                </a:pPr>
                <a:r>
                  <a:rPr lang="en-US" sz="2400" dirty="0" smtClean="0">
                    <a:solidFill>
                      <a:srgbClr val="000000"/>
                    </a:solidFill>
                    <a:latin typeface="Times New Roman" pitchFamily="18" charset="0"/>
                    <a:cs typeface="Times New Roman" pitchFamily="18" charset="0"/>
                  </a:rPr>
                  <a:t>Without constructing the truth table, prove that the following </a:t>
                </a:r>
              </a:p>
              <a:p>
                <a:pPr marL="457200" indent="-457200" algn="just">
                  <a:buNone/>
                </a:pPr>
                <a:r>
                  <a:rPr lang="en-US" sz="2400" dirty="0" smtClean="0">
                    <a:solidFill>
                      <a:srgbClr val="000000"/>
                    </a:solidFill>
                    <a:latin typeface="Times New Roman" pitchFamily="18" charset="0"/>
                    <a:cs typeface="Times New Roman" pitchFamily="18" charset="0"/>
                  </a:rPr>
                  <a:t>       implication </a:t>
                </a:r>
                <a14:m>
                  <m:oMath xmlns:m="http://schemas.openxmlformats.org/officeDocument/2006/math">
                    <m:d>
                      <m:dPr>
                        <m:ctrlPr>
                          <a:rPr lang="en-US" sz="2400" b="0" i="1" smtClean="0">
                            <a:solidFill>
                              <a:srgbClr val="000000"/>
                            </a:solidFill>
                            <a:latin typeface="Cambria Math"/>
                            <a:cs typeface="Times New Roman" pitchFamily="18" charset="0"/>
                          </a:rPr>
                        </m:ctrlPr>
                      </m:dPr>
                      <m:e>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e>
                    </m:d>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𝑝</m:t>
                    </m:r>
                    <m:r>
                      <a:rPr lang="en-US" sz="2400" b="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𝑞</m:t>
                    </m:r>
                    <m:r>
                      <a:rPr lang="en-US" sz="2400" b="0" i="1" smtClean="0">
                        <a:solidFill>
                          <a:srgbClr val="000000"/>
                        </a:solidFill>
                        <a:latin typeface="Cambria Math"/>
                        <a:ea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a:t>
                </a:r>
              </a:p>
              <a:p>
                <a:pPr marL="457200" indent="-457200" algn="just">
                  <a:buAutoNum type="arabicPeriod" startAt="11"/>
                </a:pPr>
                <a:r>
                  <a:rPr lang="en-US" sz="2400" dirty="0" smtClean="0">
                    <a:solidFill>
                      <a:srgbClr val="000000"/>
                    </a:solidFill>
                    <a:latin typeface="Times New Roman" pitchFamily="18" charset="0"/>
                    <a:cs typeface="Times New Roman" pitchFamily="18" charset="0"/>
                  </a:rPr>
                  <a:t> Show that </a:t>
                </a:r>
                <a14:m>
                  <m:oMath xmlns:m="http://schemas.openxmlformats.org/officeDocument/2006/math">
                    <m:d>
                      <m:dPr>
                        <m:begChr m:val="{"/>
                        <m:endChr m:val="}"/>
                        <m:ctrlPr>
                          <a:rPr lang="en-US" sz="2400" i="1" smtClean="0">
                            <a:solidFill>
                              <a:srgbClr val="000000"/>
                            </a:solidFill>
                            <a:latin typeface="Cambria Math"/>
                            <a:cs typeface="Times New Roman" pitchFamily="18" charset="0"/>
                          </a:rPr>
                        </m:ctrlPr>
                      </m:dPr>
                      <m:e>
                        <m:r>
                          <a:rPr lang="en-US" sz="240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 , ¬</m:t>
                        </m:r>
                      </m:e>
                    </m:d>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is </a:t>
                </a:r>
                <a:r>
                  <a:rPr lang="en-US" sz="2400" dirty="0" smtClean="0">
                    <a:solidFill>
                      <a:srgbClr val="000000"/>
                    </a:solidFill>
                    <a:latin typeface="Times New Roman" pitchFamily="18" charset="0"/>
                    <a:cs typeface="Times New Roman" pitchFamily="18" charset="0"/>
                  </a:rPr>
                  <a:t>Functionally complete but </a:t>
                </a:r>
                <a14:m>
                  <m:oMath xmlns:m="http://schemas.openxmlformats.org/officeDocument/2006/math">
                    <m:d>
                      <m:dPr>
                        <m:begChr m:val="{"/>
                        <m:endChr m:val="}"/>
                        <m:ctrlPr>
                          <a:rPr lang="en-US" sz="2400" i="1" smtClean="0">
                            <a:solidFill>
                              <a:srgbClr val="000000"/>
                            </a:solidFill>
                            <a:latin typeface="Cambria Math"/>
                            <a:cs typeface="Times New Roman" pitchFamily="18" charset="0"/>
                          </a:rPr>
                        </m:ctrlPr>
                      </m:dPr>
                      <m:e>
                        <m:r>
                          <a:rPr lang="en-US" sz="2400" i="1" smtClean="0">
                            <a:solidFill>
                              <a:srgbClr val="000000"/>
                            </a:solidFill>
                            <a:latin typeface="Cambria Math"/>
                            <a:ea typeface="Cambria Math"/>
                            <a:cs typeface="Times New Roman" pitchFamily="18" charset="0"/>
                          </a:rPr>
                          <m:t>∨</m:t>
                        </m:r>
                        <m:r>
                          <a:rPr lang="en-US" sz="2400" b="0" i="1" smtClean="0">
                            <a:solidFill>
                              <a:srgbClr val="000000"/>
                            </a:solidFill>
                            <a:latin typeface="Cambria Math"/>
                            <a:ea typeface="Cambria Math"/>
                            <a:cs typeface="Times New Roman" pitchFamily="18" charset="0"/>
                          </a:rPr>
                          <m:t> ,  ∧</m:t>
                        </m:r>
                      </m:e>
                    </m:d>
                  </m:oMath>
                </a14:m>
                <a:r>
                  <a:rPr lang="en-US" sz="2400" dirty="0" smtClean="0">
                    <a:solidFill>
                      <a:srgbClr val="00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is not .</a:t>
                </a:r>
              </a:p>
              <a:p>
                <a:pPr marL="457200" indent="-457200" algn="just">
                  <a:buNone/>
                </a:pPr>
                <a:r>
                  <a:rPr lang="en-US" sz="2400" dirty="0" smtClean="0">
                    <a:solidFill>
                      <a:srgbClr val="000000"/>
                    </a:solidFill>
                    <a:latin typeface="Times New Roman" pitchFamily="18" charset="0"/>
                    <a:cs typeface="Times New Roman" pitchFamily="18" charset="0"/>
                  </a:rPr>
                  <a:t>12.  Show that  </a:t>
                </a:r>
                <a14:m>
                  <m:oMath xmlns:m="http://schemas.openxmlformats.org/officeDocument/2006/math">
                    <m:d>
                      <m:dPr>
                        <m:begChr m:val="{"/>
                        <m:endChr m:val="}"/>
                        <m:ctrlPr>
                          <a:rPr lang="en-US" sz="2400" i="1" smtClean="0">
                            <a:solidFill>
                              <a:srgbClr val="000000"/>
                            </a:solidFill>
                            <a:latin typeface="Cambria Math"/>
                            <a:cs typeface="Times New Roman" pitchFamily="18" charset="0"/>
                          </a:rPr>
                        </m:ctrlPr>
                      </m:dPr>
                      <m:e>
                        <m:r>
                          <a:rPr lang="en-US" sz="2400" i="1" smtClean="0">
                            <a:solidFill>
                              <a:srgbClr val="000000"/>
                            </a:solidFill>
                            <a:latin typeface="Cambria Math"/>
                            <a:ea typeface="Cambria Math"/>
                            <a:cs typeface="Times New Roman" pitchFamily="18" charset="0"/>
                          </a:rPr>
                          <m:t>↓</m:t>
                        </m:r>
                      </m:e>
                    </m:d>
                    <m:r>
                      <a:rPr lang="en-US" sz="2400" b="0" i="0"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is </a:t>
                </a:r>
                <a:r>
                  <a:rPr lang="en-US" sz="2400" dirty="0" smtClean="0">
                    <a:solidFill>
                      <a:srgbClr val="000000"/>
                    </a:solidFill>
                    <a:latin typeface="Times New Roman" pitchFamily="18" charset="0"/>
                    <a:cs typeface="Times New Roman" pitchFamily="18" charset="0"/>
                  </a:rPr>
                  <a:t>a Functionally complete set.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57158" y="714356"/>
                <a:ext cx="8329642" cy="5411807"/>
              </a:xfrm>
              <a:blipFill rotWithShape="1">
                <a:blip r:embed="rId2"/>
                <a:stretch>
                  <a:fillRect l="-1171" t="-901" r="-36750"/>
                </a:stretch>
              </a:blipFill>
            </p:spPr>
            <p:txBody>
              <a:bodyPr/>
              <a:lstStyle/>
              <a:p>
                <a:r>
                  <a:rPr lang="en-IN">
                    <a:noFill/>
                  </a:rPr>
                  <a:t> </a:t>
                </a:r>
              </a:p>
            </p:txBody>
          </p:sp>
        </mc:Fallback>
      </mc:AlternateContent>
    </p:spTree>
    <p:extLst>
      <p:ext uri="{BB962C8B-B14F-4D97-AF65-F5344CB8AC3E}">
        <p14:creationId xmlns:p14="http://schemas.microsoft.com/office/powerpoint/2010/main" val="1773891417"/>
      </p:ext>
    </p:extLst>
  </p:cSld>
  <p:clrMapOvr>
    <a:masterClrMapping/>
  </p:clrMapOvr>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2704</TotalTime>
  <Words>934</Words>
  <Application>Microsoft Office PowerPoint</Application>
  <PresentationFormat>On-screen Show (4:3)</PresentationFormat>
  <Paragraphs>164</Paragraphs>
  <Slides>13</Slides>
  <Notes>1</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13</vt:i4>
      </vt:variant>
    </vt:vector>
  </HeadingPairs>
  <TitlesOfParts>
    <vt:vector size="16" baseType="lpstr">
      <vt:lpstr>1_Default Design</vt:lpstr>
      <vt:lpstr>CorelDRAW</vt:lpstr>
      <vt:lpstr>Equation</vt:lpstr>
      <vt:lpstr>Module 1.3</vt:lpstr>
      <vt:lpstr>Logical Equivalences</vt:lpstr>
      <vt:lpstr>Rules of Logical Equivalences</vt:lpstr>
      <vt:lpstr>Rules of Logical Equivalences</vt:lpstr>
      <vt:lpstr>Logical Implication</vt:lpstr>
      <vt:lpstr>Logical Equivalences involving Implications</vt:lpstr>
      <vt:lpstr>Converse, Contrapositive and Inverse </vt:lpstr>
      <vt:lpstr>Other Connectives</vt:lpstr>
      <vt:lpstr>PowerPoint Presentation</vt:lpstr>
      <vt:lpstr>Duality in Propositional Logic</vt:lpstr>
      <vt:lpstr>Functionally Complete Set of Connectives</vt:lpstr>
      <vt:lpstr>Problems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AA</dc:creator>
  <cp:lastModifiedBy>S.V</cp:lastModifiedBy>
  <cp:revision>607</cp:revision>
  <dcterms:created xsi:type="dcterms:W3CDTF">2006-09-22T10:59:01Z</dcterms:created>
  <dcterms:modified xsi:type="dcterms:W3CDTF">2020-07-15T05:30:19Z</dcterms:modified>
</cp:coreProperties>
</file>