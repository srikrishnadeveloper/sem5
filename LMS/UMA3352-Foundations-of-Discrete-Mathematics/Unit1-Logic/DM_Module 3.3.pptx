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0" r:id="rId1"/>
  </p:sldMasterIdLst>
  <p:notesMasterIdLst>
    <p:notesMasterId r:id="rId15"/>
  </p:notesMasterIdLst>
  <p:sldIdLst>
    <p:sldId id="293" r:id="rId2"/>
    <p:sldId id="295" r:id="rId3"/>
    <p:sldId id="296" r:id="rId4"/>
    <p:sldId id="297" r:id="rId5"/>
    <p:sldId id="298" r:id="rId6"/>
    <p:sldId id="299" r:id="rId7"/>
    <p:sldId id="300" r:id="rId8"/>
    <p:sldId id="301" r:id="rId9"/>
    <p:sldId id="302" r:id="rId10"/>
    <p:sldId id="333" r:id="rId11"/>
    <p:sldId id="303" r:id="rId12"/>
    <p:sldId id="304" r:id="rId13"/>
    <p:sldId id="305" r:id="rId14"/>
  </p:sldIdLst>
  <p:sldSz cx="9144000" cy="6858000" type="screen4x3"/>
  <p:notesSz cx="6858000" cy="9144000"/>
  <p:defaultTextStyle>
    <a:defPPr>
      <a:defRPr lang="en-US"/>
    </a:defPPr>
    <a:lvl1pPr algn="l" rtl="0" fontAlgn="base">
      <a:spcBef>
        <a:spcPct val="0"/>
      </a:spcBef>
      <a:spcAft>
        <a:spcPct val="0"/>
      </a:spcAft>
      <a:defRPr sz="2000"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sz="2000"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sz="2000"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sz="2000"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sz="2000" kern="1200">
        <a:solidFill>
          <a:schemeClr val="tx1"/>
        </a:solidFill>
        <a:latin typeface="Arial" panose="020B0604020202020204" pitchFamily="34" charset="0"/>
        <a:ea typeface="+mn-ea"/>
        <a:cs typeface="+mn-cs"/>
      </a:defRPr>
    </a:lvl5pPr>
    <a:lvl6pPr marL="2286000" algn="l" defTabSz="914400" rtl="0" eaLnBrk="1" latinLnBrk="0" hangingPunct="1">
      <a:defRPr sz="2000" kern="1200">
        <a:solidFill>
          <a:schemeClr val="tx1"/>
        </a:solidFill>
        <a:latin typeface="Arial" panose="020B0604020202020204" pitchFamily="34" charset="0"/>
        <a:ea typeface="+mn-ea"/>
        <a:cs typeface="+mn-cs"/>
      </a:defRPr>
    </a:lvl6pPr>
    <a:lvl7pPr marL="2743200" algn="l" defTabSz="914400" rtl="0" eaLnBrk="1" latinLnBrk="0" hangingPunct="1">
      <a:defRPr sz="2000" kern="1200">
        <a:solidFill>
          <a:schemeClr val="tx1"/>
        </a:solidFill>
        <a:latin typeface="Arial" panose="020B0604020202020204" pitchFamily="34" charset="0"/>
        <a:ea typeface="+mn-ea"/>
        <a:cs typeface="+mn-cs"/>
      </a:defRPr>
    </a:lvl7pPr>
    <a:lvl8pPr marL="3200400" algn="l" defTabSz="914400" rtl="0" eaLnBrk="1" latinLnBrk="0" hangingPunct="1">
      <a:defRPr sz="2000" kern="1200">
        <a:solidFill>
          <a:schemeClr val="tx1"/>
        </a:solidFill>
        <a:latin typeface="Arial" panose="020B0604020202020204" pitchFamily="34" charset="0"/>
        <a:ea typeface="+mn-ea"/>
        <a:cs typeface="+mn-cs"/>
      </a:defRPr>
    </a:lvl8pPr>
    <a:lvl9pPr marL="3657600" algn="l" defTabSz="914400" rtl="0" eaLnBrk="1" latinLnBrk="0" hangingPunct="1">
      <a:defRPr sz="20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5295"/>
    <a:srgbClr val="000000"/>
    <a:srgbClr val="1B57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571" autoAdjust="0"/>
    <p:restoredTop sz="84380" autoAdjust="0"/>
  </p:normalViewPr>
  <p:slideViewPr>
    <p:cSldViewPr>
      <p:cViewPr varScale="1">
        <p:scale>
          <a:sx n="78" d="100"/>
          <a:sy n="78" d="100"/>
        </p:scale>
        <p:origin x="1482"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en-US"/>
          </a:p>
        </p:txBody>
      </p:sp>
      <p:sp>
        <p:nvSpPr>
          <p:cNvPr id="4099"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en-US"/>
          </a:p>
        </p:txBody>
      </p:sp>
      <p:sp>
        <p:nvSpPr>
          <p:cNvPr id="41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en-US"/>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3F44D709-BD32-4E7C-8370-59A8D36383F6}" type="slidenum">
              <a:rPr lang="en-US" altLang="en-US"/>
              <a:pPr/>
              <a:t>‹#›</a:t>
            </a:fld>
            <a:endParaRPr lang="en-US" altLang="en-US"/>
          </a:p>
        </p:txBody>
      </p:sp>
    </p:spTree>
    <p:extLst>
      <p:ext uri="{BB962C8B-B14F-4D97-AF65-F5344CB8AC3E}">
        <p14:creationId xmlns:p14="http://schemas.microsoft.com/office/powerpoint/2010/main" val="342640571"/>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747BD91-93B5-474F-BC68-13F410B752D0}" type="slidenum">
              <a:rPr lang="en-US" altLang="en-US"/>
              <a:pPr/>
              <a:t>1</a:t>
            </a:fld>
            <a:endParaRPr lang="en-US" altLang="en-US"/>
          </a:p>
        </p:txBody>
      </p:sp>
      <p:sp>
        <p:nvSpPr>
          <p:cNvPr id="12290" name="Rectangle 2"/>
          <p:cNvSpPr>
            <a:spLocks noGrp="1" noRot="1" noChangeAspect="1" noChangeArrowheads="1" noTextEdit="1"/>
          </p:cNvSpPr>
          <p:nvPr>
            <p:ph type="sldImg"/>
          </p:nvPr>
        </p:nvSpPr>
        <p:spPr>
          <a:ln/>
        </p:spPr>
      </p:sp>
      <p:sp>
        <p:nvSpPr>
          <p:cNvPr id="1229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57300035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11266" name="Picture 2" descr="band"/>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5589588"/>
            <a:ext cx="8991600" cy="1268412"/>
          </a:xfrm>
          <a:prstGeom prst="rect">
            <a:avLst/>
          </a:prstGeom>
          <a:noFill/>
          <a:extLst>
            <a:ext uri="{909E8E84-426E-40DD-AFC4-6F175D3DCCD1}">
              <a14:hiddenFill xmlns:a14="http://schemas.microsoft.com/office/drawing/2010/main">
                <a:solidFill>
                  <a:srgbClr val="FFFFFF"/>
                </a:solidFill>
              </a14:hiddenFill>
            </a:ext>
          </a:extLst>
        </p:spPr>
      </p:pic>
      <p:sp>
        <p:nvSpPr>
          <p:cNvPr id="11267" name="Rectangle 3"/>
          <p:cNvSpPr>
            <a:spLocks noGrp="1" noChangeArrowheads="1"/>
          </p:cNvSpPr>
          <p:nvPr>
            <p:ph type="ctrTitle"/>
          </p:nvPr>
        </p:nvSpPr>
        <p:spPr>
          <a:xfrm>
            <a:off x="685800" y="2286000"/>
            <a:ext cx="7772400" cy="1143000"/>
          </a:xfrm>
        </p:spPr>
        <p:txBody>
          <a:bodyPr/>
          <a:lstStyle>
            <a:lvl1pPr>
              <a:defRPr>
                <a:solidFill>
                  <a:srgbClr val="1B57B5"/>
                </a:solidFill>
              </a:defRPr>
            </a:lvl1pPr>
          </a:lstStyle>
          <a:p>
            <a:pPr lvl="0"/>
            <a:r>
              <a:rPr lang="en-US" altLang="en-US" noProof="0" smtClean="0"/>
              <a:t>Click to edit Master title style</a:t>
            </a:r>
          </a:p>
        </p:txBody>
      </p:sp>
      <p:sp>
        <p:nvSpPr>
          <p:cNvPr id="11268" name="Rectangle 4"/>
          <p:cNvSpPr>
            <a:spLocks noGrp="1" noChangeArrowheads="1"/>
          </p:cNvSpPr>
          <p:nvPr>
            <p:ph type="subTitle" idx="1"/>
          </p:nvPr>
        </p:nvSpPr>
        <p:spPr>
          <a:xfrm>
            <a:off x="1371600" y="3810000"/>
            <a:ext cx="6400800" cy="1752600"/>
          </a:xfrm>
        </p:spPr>
        <p:txBody>
          <a:bodyPr/>
          <a:lstStyle>
            <a:lvl1pPr marL="0" indent="0" algn="ctr">
              <a:buFontTx/>
              <a:buNone/>
              <a:defRPr>
                <a:solidFill>
                  <a:schemeClr val="bg2"/>
                </a:solidFill>
              </a:defRPr>
            </a:lvl1pPr>
          </a:lstStyle>
          <a:p>
            <a:pPr lvl="0"/>
            <a:r>
              <a:rPr lang="en-US" altLang="en-US" noProof="0" smtClean="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578638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Edit Master text styles</a:t>
            </a:r>
          </a:p>
        </p:txBody>
      </p:sp>
    </p:spTree>
    <p:extLst>
      <p:ext uri="{BB962C8B-B14F-4D97-AF65-F5344CB8AC3E}">
        <p14:creationId xmlns:p14="http://schemas.microsoft.com/office/powerpoint/2010/main" val="3212596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538417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7735208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2401417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30175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Tree>
    <p:extLst>
      <p:ext uri="{BB962C8B-B14F-4D97-AF65-F5344CB8AC3E}">
        <p14:creationId xmlns:p14="http://schemas.microsoft.com/office/powerpoint/2010/main" val="18119252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Tree>
    <p:extLst>
      <p:ext uri="{BB962C8B-B14F-4D97-AF65-F5344CB8AC3E}">
        <p14:creationId xmlns:p14="http://schemas.microsoft.com/office/powerpoint/2010/main" val="15295693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6117961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533299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vmlDrawing" Target="../drawings/vmlDrawing1.v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43"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graphicFrame>
        <p:nvGraphicFramePr>
          <p:cNvPr id="10244" name="Object 4"/>
          <p:cNvGraphicFramePr>
            <a:graphicFrameLocks noChangeAspect="1"/>
          </p:cNvGraphicFramePr>
          <p:nvPr userDrawn="1"/>
        </p:nvGraphicFramePr>
        <p:xfrm>
          <a:off x="0" y="6267450"/>
          <a:ext cx="9144000" cy="628650"/>
        </p:xfrm>
        <a:graphic>
          <a:graphicData uri="http://schemas.openxmlformats.org/presentationml/2006/ole">
            <mc:AlternateContent xmlns:mc="http://schemas.openxmlformats.org/markup-compatibility/2006">
              <mc:Choice xmlns:v="urn:schemas-microsoft-com:vml" Requires="v">
                <p:oleObj spid="_x0000_s10391" name="CorelDRAW" r:id="rId14" imgW="10128885" imgH="696087" progId="CorelDRAW.Graphic.12">
                  <p:embed/>
                </p:oleObj>
              </mc:Choice>
              <mc:Fallback>
                <p:oleObj name="CorelDRAW" r:id="rId14" imgW="10128885" imgH="696087" progId="CorelDRAW.Graphic.12">
                  <p:embed/>
                  <p:pic>
                    <p:nvPicPr>
                      <p:cNvPr id="0" name="Object 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6267450"/>
                        <a:ext cx="914400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5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fontAlgn="base">
        <a:spcBef>
          <a:spcPct val="0"/>
        </a:spcBef>
        <a:spcAft>
          <a:spcPct val="0"/>
        </a:spcAft>
        <a:defRPr sz="4000" kern="1200">
          <a:solidFill>
            <a:schemeClr val="tx2"/>
          </a:solidFill>
          <a:latin typeface="+mj-lt"/>
          <a:ea typeface="+mj-ea"/>
          <a:cs typeface="+mj-cs"/>
        </a:defRPr>
      </a:lvl1pPr>
      <a:lvl2pPr algn="ctr" rtl="0" fontAlgn="base">
        <a:spcBef>
          <a:spcPct val="0"/>
        </a:spcBef>
        <a:spcAft>
          <a:spcPct val="0"/>
        </a:spcAft>
        <a:defRPr sz="4000">
          <a:solidFill>
            <a:schemeClr val="tx2"/>
          </a:solidFill>
          <a:latin typeface="Verdana" panose="020B0604030504040204" pitchFamily="34" charset="0"/>
        </a:defRPr>
      </a:lvl2pPr>
      <a:lvl3pPr algn="ctr" rtl="0" fontAlgn="base">
        <a:spcBef>
          <a:spcPct val="0"/>
        </a:spcBef>
        <a:spcAft>
          <a:spcPct val="0"/>
        </a:spcAft>
        <a:defRPr sz="4000">
          <a:solidFill>
            <a:schemeClr val="tx2"/>
          </a:solidFill>
          <a:latin typeface="Verdana" panose="020B0604030504040204" pitchFamily="34" charset="0"/>
        </a:defRPr>
      </a:lvl3pPr>
      <a:lvl4pPr algn="ctr" rtl="0" fontAlgn="base">
        <a:spcBef>
          <a:spcPct val="0"/>
        </a:spcBef>
        <a:spcAft>
          <a:spcPct val="0"/>
        </a:spcAft>
        <a:defRPr sz="4000">
          <a:solidFill>
            <a:schemeClr val="tx2"/>
          </a:solidFill>
          <a:latin typeface="Verdana" panose="020B0604030504040204" pitchFamily="34" charset="0"/>
        </a:defRPr>
      </a:lvl4pPr>
      <a:lvl5pPr algn="ctr" rtl="0" fontAlgn="base">
        <a:spcBef>
          <a:spcPct val="0"/>
        </a:spcBef>
        <a:spcAft>
          <a:spcPct val="0"/>
        </a:spcAft>
        <a:defRPr sz="4000">
          <a:solidFill>
            <a:schemeClr val="tx2"/>
          </a:solidFill>
          <a:latin typeface="Verdana" panose="020B0604030504040204" pitchFamily="34" charset="0"/>
        </a:defRPr>
      </a:lvl5pPr>
      <a:lvl6pPr marL="457200" algn="ctr" rtl="0" fontAlgn="base">
        <a:spcBef>
          <a:spcPct val="0"/>
        </a:spcBef>
        <a:spcAft>
          <a:spcPct val="0"/>
        </a:spcAft>
        <a:defRPr sz="4000">
          <a:solidFill>
            <a:schemeClr val="tx2"/>
          </a:solidFill>
          <a:latin typeface="Verdana" panose="020B0604030504040204" pitchFamily="34" charset="0"/>
        </a:defRPr>
      </a:lvl6pPr>
      <a:lvl7pPr marL="914400" algn="ctr" rtl="0" fontAlgn="base">
        <a:spcBef>
          <a:spcPct val="0"/>
        </a:spcBef>
        <a:spcAft>
          <a:spcPct val="0"/>
        </a:spcAft>
        <a:defRPr sz="4000">
          <a:solidFill>
            <a:schemeClr val="tx2"/>
          </a:solidFill>
          <a:latin typeface="Verdana" panose="020B0604030504040204" pitchFamily="34" charset="0"/>
        </a:defRPr>
      </a:lvl7pPr>
      <a:lvl8pPr marL="1371600" algn="ctr" rtl="0" fontAlgn="base">
        <a:spcBef>
          <a:spcPct val="0"/>
        </a:spcBef>
        <a:spcAft>
          <a:spcPct val="0"/>
        </a:spcAft>
        <a:defRPr sz="4000">
          <a:solidFill>
            <a:schemeClr val="tx2"/>
          </a:solidFill>
          <a:latin typeface="Verdana" panose="020B0604030504040204" pitchFamily="34" charset="0"/>
        </a:defRPr>
      </a:lvl8pPr>
      <a:lvl9pPr marL="1828800" algn="ctr" rtl="0" fontAlgn="base">
        <a:spcBef>
          <a:spcPct val="0"/>
        </a:spcBef>
        <a:spcAft>
          <a:spcPct val="0"/>
        </a:spcAft>
        <a:defRPr sz="4000">
          <a:solidFill>
            <a:schemeClr val="tx2"/>
          </a:solidFill>
          <a:latin typeface="Verdana" panose="020B0604030504040204" pitchFamily="34"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5.png"/><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solidFill>
                  <a:srgbClr val="FF0000"/>
                </a:solidFill>
              </a:rPr>
              <a:t>Module 3.3</a:t>
            </a:r>
            <a:endParaRPr lang="en-US" b="1" dirty="0">
              <a:solidFill>
                <a:srgbClr val="FF0000"/>
              </a:solidFill>
            </a:endParaRPr>
          </a:p>
        </p:txBody>
      </p:sp>
      <p:sp>
        <p:nvSpPr>
          <p:cNvPr id="3" name="Subtitle 2"/>
          <p:cNvSpPr>
            <a:spLocks noGrp="1"/>
          </p:cNvSpPr>
          <p:nvPr>
            <p:ph type="subTitle" idx="1"/>
          </p:nvPr>
        </p:nvSpPr>
        <p:spPr>
          <a:xfrm>
            <a:off x="1371600" y="3810000"/>
            <a:ext cx="6400800" cy="1143000"/>
          </a:xfrm>
        </p:spPr>
        <p:txBody>
          <a:bodyPr/>
          <a:lstStyle/>
          <a:p>
            <a:r>
              <a:rPr lang="en-US" b="1" dirty="0" smtClean="0">
                <a:solidFill>
                  <a:schemeClr val="tx1"/>
                </a:solidFill>
                <a:latin typeface="Times New Roman" panose="02020603050405020304" pitchFamily="18" charset="0"/>
                <a:cs typeface="Times New Roman" panose="02020603050405020304" pitchFamily="18" charset="0"/>
              </a:rPr>
              <a:t>Predicates &amp; Quantifiers</a:t>
            </a:r>
          </a:p>
          <a:p>
            <a:r>
              <a:rPr lang="en-US" b="1" dirty="0" smtClean="0">
                <a:solidFill>
                  <a:schemeClr val="tx1"/>
                </a:solidFill>
                <a:latin typeface="Times New Roman" panose="02020603050405020304" pitchFamily="18" charset="0"/>
                <a:cs typeface="Times New Roman" panose="02020603050405020304" pitchFamily="18" charset="0"/>
              </a:rPr>
              <a:t>Predicate Calculus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1676400" y="609600"/>
            <a:ext cx="6248400" cy="707886"/>
          </a:xfrm>
          <a:prstGeom prst="rect">
            <a:avLst/>
          </a:prstGeom>
        </p:spPr>
        <p:txBody>
          <a:bodyPr wrap="square">
            <a:spAutoFit/>
          </a:bodyPr>
          <a:lstStyle/>
          <a:p>
            <a:pPr algn="ctr"/>
            <a:r>
              <a:rPr lang="en-US" sz="4000" dirty="0" smtClean="0">
                <a:latin typeface="Times New Roman" panose="02020603050405020304" pitchFamily="18" charset="0"/>
                <a:cs typeface="Times New Roman" panose="02020603050405020304" pitchFamily="18" charset="0"/>
              </a:rPr>
              <a:t>PRE-CLASS CONTENT</a:t>
            </a:r>
            <a:endParaRPr 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01089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0"/>
            <a:ext cx="7772400" cy="1143000"/>
          </a:xfrm>
        </p:spPr>
        <p:txBody>
          <a:bodyPr/>
          <a:lstStyle/>
          <a:p>
            <a:r>
              <a:rPr lang="en-US" dirty="0">
                <a:solidFill>
                  <a:srgbClr val="002060"/>
                </a:solidFill>
                <a:latin typeface="Times New Roman" panose="02020603050405020304" pitchFamily="18" charset="0"/>
                <a:cs typeface="Times New Roman" panose="02020603050405020304" pitchFamily="18" charset="0"/>
              </a:rPr>
              <a:t>Predicates and Quantifiers</a:t>
            </a:r>
            <a:endParaRPr lang="en-US"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381000" y="1828800"/>
            <a:ext cx="8229600" cy="4724400"/>
          </a:xfrm>
        </p:spPr>
        <p:txBody>
          <a:bodyPr/>
          <a:lstStyle/>
          <a:p>
            <a:r>
              <a:rPr lang="en-US" dirty="0" smtClean="0">
                <a:solidFill>
                  <a:schemeClr val="tx1"/>
                </a:solidFill>
                <a:latin typeface="Times New Roman" panose="02020603050405020304" pitchFamily="18" charset="0"/>
                <a:cs typeface="Times New Roman" panose="02020603050405020304" pitchFamily="18" charset="0"/>
              </a:rPr>
              <a:t>All dogs are animals</a:t>
            </a:r>
            <a:endParaRPr lang="en-US" dirty="0">
              <a:solidFill>
                <a:schemeClr val="tx1"/>
              </a:solidFill>
              <a:latin typeface="Times New Roman" panose="02020603050405020304" pitchFamily="18" charset="0"/>
              <a:cs typeface="Times New Roman" panose="02020603050405020304" pitchFamily="18" charset="0"/>
            </a:endParaRPr>
          </a:p>
        </p:txBody>
      </p:sp>
      <p:cxnSp>
        <p:nvCxnSpPr>
          <p:cNvPr id="7" name="Straight Arrow Connector 6"/>
          <p:cNvCxnSpPr/>
          <p:nvPr/>
        </p:nvCxnSpPr>
        <p:spPr>
          <a:xfrm flipH="1">
            <a:off x="1981200" y="2133600"/>
            <a:ext cx="8382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8" name="Rectangle 7"/>
          <p:cNvSpPr/>
          <p:nvPr/>
        </p:nvSpPr>
        <p:spPr>
          <a:xfrm>
            <a:off x="381000" y="1905000"/>
            <a:ext cx="1600200" cy="5334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smtClean="0"/>
              <a:t>Quantifier</a:t>
            </a:r>
            <a:endParaRPr lang="en-US" dirty="0"/>
          </a:p>
        </p:txBody>
      </p:sp>
      <p:sp>
        <p:nvSpPr>
          <p:cNvPr id="11" name="Rectangle 10"/>
          <p:cNvSpPr/>
          <p:nvPr/>
        </p:nvSpPr>
        <p:spPr>
          <a:xfrm>
            <a:off x="3200400" y="5029200"/>
            <a:ext cx="1295400" cy="9144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smtClean="0"/>
              <a:t>Subject</a:t>
            </a:r>
            <a:endParaRPr lang="en-US" dirty="0"/>
          </a:p>
        </p:txBody>
      </p:sp>
      <p:cxnSp>
        <p:nvCxnSpPr>
          <p:cNvPr id="13" name="Straight Arrow Connector 12"/>
          <p:cNvCxnSpPr/>
          <p:nvPr/>
        </p:nvCxnSpPr>
        <p:spPr>
          <a:xfrm>
            <a:off x="3810000" y="2514600"/>
            <a:ext cx="0" cy="24384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p:cNvCxnSpPr/>
          <p:nvPr/>
        </p:nvCxnSpPr>
        <p:spPr>
          <a:xfrm>
            <a:off x="5486400" y="2438400"/>
            <a:ext cx="0" cy="14478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8" name="Rectangle 17"/>
          <p:cNvSpPr/>
          <p:nvPr/>
        </p:nvSpPr>
        <p:spPr>
          <a:xfrm>
            <a:off x="4724400" y="3962400"/>
            <a:ext cx="1524000" cy="8382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smtClean="0"/>
              <a:t>Predicate</a:t>
            </a:r>
            <a:endParaRPr lang="en-US" dirty="0"/>
          </a:p>
        </p:txBody>
      </p:sp>
    </p:spTree>
    <p:extLst>
      <p:ext uri="{BB962C8B-B14F-4D97-AF65-F5344CB8AC3E}">
        <p14:creationId xmlns:p14="http://schemas.microsoft.com/office/powerpoint/2010/main" val="17666406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1143000"/>
          </a:xfrm>
        </p:spPr>
        <p:txBody>
          <a:bodyPr/>
          <a:lstStyle/>
          <a:p>
            <a:r>
              <a:rPr lang="en-US" dirty="0" smtClean="0">
                <a:solidFill>
                  <a:srgbClr val="002060"/>
                </a:solidFill>
                <a:latin typeface="Times New Roman" panose="02020603050405020304" pitchFamily="18" charset="0"/>
                <a:cs typeface="Times New Roman" panose="02020603050405020304" pitchFamily="18" charset="0"/>
              </a:rPr>
              <a:t>Limitations – Propositional logic</a:t>
            </a:r>
            <a:endParaRPr lang="en-US" dirty="0">
              <a:solidFill>
                <a:srgbClr val="002060"/>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676400"/>
            <a:ext cx="8001000" cy="4343400"/>
          </a:xfrm>
        </p:spPr>
        <p:txBody>
          <a:bodyPr/>
          <a:lstStyle/>
          <a:p>
            <a:pPr algn="just"/>
            <a:r>
              <a:rPr lang="en-US" dirty="0" smtClean="0">
                <a:solidFill>
                  <a:schemeClr val="tx1"/>
                </a:solidFill>
                <a:latin typeface="Times New Roman" panose="02020603050405020304" pitchFamily="18" charset="0"/>
                <a:cs typeface="Times New Roman" panose="02020603050405020304" pitchFamily="18" charset="0"/>
              </a:rPr>
              <a:t>Propositional logic </a:t>
            </a:r>
          </a:p>
          <a:p>
            <a:pPr marL="457200" indent="-457200" algn="just">
              <a:spcBef>
                <a:spcPts val="0"/>
              </a:spcBef>
              <a:buFontTx/>
              <a:buChar char="-"/>
            </a:pPr>
            <a:r>
              <a:rPr lang="en-US" dirty="0" smtClean="0">
                <a:solidFill>
                  <a:schemeClr val="tx1"/>
                </a:solidFill>
                <a:latin typeface="Times New Roman" panose="02020603050405020304" pitchFamily="18" charset="0"/>
                <a:cs typeface="Times New Roman" panose="02020603050405020304" pitchFamily="18" charset="0"/>
              </a:rPr>
              <a:t>cannot adequately express the meaning of statement</a:t>
            </a:r>
          </a:p>
          <a:p>
            <a:pPr algn="just"/>
            <a:r>
              <a:rPr lang="en-US" dirty="0" smtClean="0">
                <a:solidFill>
                  <a:schemeClr val="tx1"/>
                </a:solidFill>
                <a:latin typeface="Times New Roman" panose="02020603050405020304" pitchFamily="18" charset="0"/>
                <a:cs typeface="Times New Roman" panose="02020603050405020304" pitchFamily="18" charset="0"/>
              </a:rPr>
              <a:t>Predicate logic</a:t>
            </a:r>
          </a:p>
          <a:p>
            <a:pPr marL="457200" indent="-457200" algn="just">
              <a:spcBef>
                <a:spcPts val="0"/>
              </a:spcBef>
              <a:buFontTx/>
              <a:buChar char="-"/>
            </a:pPr>
            <a:r>
              <a:rPr lang="en-US" dirty="0" smtClean="0">
                <a:solidFill>
                  <a:schemeClr val="tx1"/>
                </a:solidFill>
                <a:latin typeface="Times New Roman" panose="02020603050405020304" pitchFamily="18" charset="0"/>
                <a:cs typeface="Times New Roman" panose="02020603050405020304" pitchFamily="18" charset="0"/>
              </a:rPr>
              <a:t>Build on propositional logic by introducing  quantifiers to handle special type of variables in mathematical statement </a:t>
            </a:r>
          </a:p>
          <a:p>
            <a:pPr algn="just">
              <a:spcBef>
                <a:spcPts val="0"/>
              </a:spcBef>
            </a:pPr>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30171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685800"/>
          </a:xfrm>
        </p:spPr>
        <p:txBody>
          <a:bodyPr/>
          <a:lstStyle/>
          <a:p>
            <a:r>
              <a:rPr lang="en-US" dirty="0" smtClean="0">
                <a:solidFill>
                  <a:srgbClr val="002060"/>
                </a:solidFill>
                <a:latin typeface="Times New Roman" panose="02020603050405020304" pitchFamily="18" charset="0"/>
                <a:cs typeface="Times New Roman" panose="02020603050405020304" pitchFamily="18" charset="0"/>
              </a:rPr>
              <a:t>Predicates</a:t>
            </a:r>
            <a:endParaRPr lang="en-US" dirty="0">
              <a:solidFill>
                <a:srgbClr val="00206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799" y="852574"/>
                <a:ext cx="8239125" cy="5257800"/>
              </a:xfrm>
            </p:spPr>
            <p:txBody>
              <a:bodyPr/>
              <a:lstStyle/>
              <a:p>
                <a:pPr algn="l"/>
                <a:r>
                  <a:rPr lang="en-US" b="0" dirty="0" smtClean="0">
                    <a:solidFill>
                      <a:srgbClr val="FF0000"/>
                    </a:solidFill>
                    <a:latin typeface="Times New Roman" panose="02020603050405020304" pitchFamily="18" charset="0"/>
                    <a:cs typeface="Times New Roman" panose="02020603050405020304" pitchFamily="18" charset="0"/>
                  </a:rPr>
                  <a:t>Example:  </a:t>
                </a:r>
                <a14:m>
                  <m:oMath xmlns:m="http://schemas.openxmlformats.org/officeDocument/2006/math">
                    <m:r>
                      <a:rPr lang="en-US" b="0" i="1" smtClean="0">
                        <a:solidFill>
                          <a:schemeClr val="tx1"/>
                        </a:solidFill>
                        <a:latin typeface="Cambria Math" panose="02040503050406030204" pitchFamily="18" charset="0"/>
                        <a:cs typeface="Times New Roman" panose="02020603050405020304" pitchFamily="18" charset="0"/>
                      </a:rPr>
                      <m:t>𝑥</m:t>
                    </m:r>
                    <m:r>
                      <a:rPr lang="en-US" b="0" i="1" smtClean="0">
                        <a:solidFill>
                          <a:schemeClr val="tx1"/>
                        </a:solidFill>
                        <a:latin typeface="Cambria Math" panose="02040503050406030204" pitchFamily="18" charset="0"/>
                        <a:cs typeface="Times New Roman" panose="02020603050405020304" pitchFamily="18" charset="0"/>
                      </a:rPr>
                      <m:t>&gt;3</m:t>
                    </m:r>
                  </m:oMath>
                </a14:m>
                <a:r>
                  <a:rPr lang="en-US" dirty="0" smtClean="0">
                    <a:solidFill>
                      <a:schemeClr val="tx1"/>
                    </a:solidFill>
                    <a:latin typeface="Times New Roman" panose="02020603050405020304" pitchFamily="18" charset="0"/>
                    <a:cs typeface="Times New Roman" panose="02020603050405020304" pitchFamily="18" charset="0"/>
                  </a:rPr>
                  <a:t> </a:t>
                </a:r>
              </a:p>
              <a:p>
                <a:pPr algn="l"/>
                <a14:m>
                  <m:oMath xmlns:m="http://schemas.openxmlformats.org/officeDocument/2006/math">
                    <m:r>
                      <a:rPr lang="en-US" i="1" smtClean="0">
                        <a:solidFill>
                          <a:schemeClr val="tx1"/>
                        </a:solidFill>
                        <a:latin typeface="Cambria Math" panose="02040503050406030204" pitchFamily="18" charset="0"/>
                        <a:cs typeface="Times New Roman" panose="02020603050405020304" pitchFamily="18" charset="0"/>
                      </a:rPr>
                      <m:t>𝑥</m:t>
                    </m:r>
                  </m:oMath>
                </a14:m>
                <a:r>
                  <a:rPr lang="en-US" dirty="0" smtClean="0">
                    <a:solidFill>
                      <a:schemeClr val="tx1"/>
                    </a:solidFill>
                    <a:latin typeface="Times New Roman" panose="02020603050405020304" pitchFamily="18" charset="0"/>
                    <a:cs typeface="Times New Roman" panose="02020603050405020304" pitchFamily="18" charset="0"/>
                  </a:rPr>
                  <a:t> : variable</a:t>
                </a:r>
              </a:p>
              <a:p>
                <a:pPr algn="l"/>
                <a14:m>
                  <m:oMath xmlns:m="http://schemas.openxmlformats.org/officeDocument/2006/math">
                    <m:r>
                      <a:rPr lang="en-US" i="1">
                        <a:solidFill>
                          <a:schemeClr val="tx1"/>
                        </a:solidFill>
                        <a:latin typeface="Cambria Math" panose="02040503050406030204" pitchFamily="18" charset="0"/>
                        <a:cs typeface="Times New Roman" panose="02020603050405020304" pitchFamily="18" charset="0"/>
                      </a:rPr>
                      <m:t>&gt;3</m:t>
                    </m:r>
                  </m:oMath>
                </a14:m>
                <a:r>
                  <a:rPr lang="en-US" dirty="0" smtClean="0">
                    <a:solidFill>
                      <a:schemeClr val="tx1"/>
                    </a:solidFill>
                    <a:latin typeface="Times New Roman" panose="02020603050405020304" pitchFamily="18" charset="0"/>
                    <a:cs typeface="Times New Roman" panose="02020603050405020304" pitchFamily="18" charset="0"/>
                  </a:rPr>
                  <a:t> : predicate – </a:t>
                </a:r>
                <a:r>
                  <a:rPr lang="en-US" i="1" dirty="0" smtClean="0">
                    <a:solidFill>
                      <a:schemeClr val="tx1"/>
                    </a:solidFill>
                    <a:latin typeface="Times New Roman" panose="02020603050405020304" pitchFamily="18" charset="0"/>
                    <a:cs typeface="Times New Roman" panose="02020603050405020304" pitchFamily="18" charset="0"/>
                  </a:rPr>
                  <a:t>P</a:t>
                </a:r>
              </a:p>
              <a:p>
                <a:pPr algn="l"/>
                <a:r>
                  <a:rPr lang="en-US" dirty="0" smtClean="0">
                    <a:solidFill>
                      <a:srgbClr val="FF0000"/>
                    </a:solidFill>
                    <a:latin typeface="Times New Roman" panose="02020603050405020304" pitchFamily="18" charset="0"/>
                    <a:cs typeface="Times New Roman" panose="02020603050405020304" pitchFamily="18" charset="0"/>
                  </a:rPr>
                  <a:t>Truth value : </a:t>
                </a:r>
                <a:r>
                  <a:rPr lang="en-US" dirty="0" smtClean="0">
                    <a:solidFill>
                      <a:schemeClr val="tx1"/>
                    </a:solidFill>
                    <a:latin typeface="Times New Roman" panose="02020603050405020304" pitchFamily="18" charset="0"/>
                    <a:cs typeface="Times New Roman" panose="02020603050405020304" pitchFamily="18" charset="0"/>
                  </a:rPr>
                  <a:t>No True or False</a:t>
                </a:r>
              </a:p>
              <a:p>
                <a:pPr algn="l"/>
                <a14:m>
                  <m:oMath xmlns:m="http://schemas.openxmlformats.org/officeDocument/2006/math">
                    <m:r>
                      <a:rPr lang="en-US" b="0" i="1" smtClean="0">
                        <a:solidFill>
                          <a:schemeClr val="tx1"/>
                        </a:solidFill>
                        <a:latin typeface="Cambria Math" panose="02040503050406030204" pitchFamily="18" charset="0"/>
                        <a:cs typeface="Times New Roman" panose="02020603050405020304" pitchFamily="18" charset="0"/>
                      </a:rPr>
                      <m:t>𝑃</m:t>
                    </m:r>
                    <m:d>
                      <m:dPr>
                        <m:ctrlPr>
                          <a:rPr lang="en-US" b="0" i="1" smtClean="0">
                            <a:solidFill>
                              <a:schemeClr val="tx1"/>
                            </a:solidFill>
                            <a:latin typeface="Cambria Math" panose="02040503050406030204" pitchFamily="18" charset="0"/>
                            <a:cs typeface="Times New Roman" panose="02020603050405020304" pitchFamily="18" charset="0"/>
                          </a:rPr>
                        </m:ctrlPr>
                      </m:dPr>
                      <m:e>
                        <m:r>
                          <a:rPr lang="en-US" b="0" i="1" smtClean="0">
                            <a:solidFill>
                              <a:schemeClr val="tx1"/>
                            </a:solidFill>
                            <a:latin typeface="Cambria Math" panose="02040503050406030204" pitchFamily="18" charset="0"/>
                            <a:cs typeface="Times New Roman" panose="02020603050405020304" pitchFamily="18" charset="0"/>
                          </a:rPr>
                          <m:t>𝑥</m:t>
                        </m:r>
                      </m:e>
                    </m:d>
                  </m:oMath>
                </a14:m>
                <a:r>
                  <a:rPr lang="en-US" dirty="0" smtClean="0">
                    <a:solidFill>
                      <a:schemeClr val="tx1"/>
                    </a:solidFill>
                    <a:latin typeface="Times New Roman" panose="02020603050405020304" pitchFamily="18" charset="0"/>
                    <a:cs typeface="Times New Roman" panose="02020603050405020304" pitchFamily="18" charset="0"/>
                  </a:rPr>
                  <a:t> : </a:t>
                </a:r>
                <a14:m>
                  <m:oMath xmlns:m="http://schemas.openxmlformats.org/officeDocument/2006/math">
                    <m:r>
                      <a:rPr lang="en-US" i="1">
                        <a:solidFill>
                          <a:schemeClr val="tx1"/>
                        </a:solidFill>
                        <a:latin typeface="Cambria Math" panose="02040503050406030204" pitchFamily="18" charset="0"/>
                        <a:cs typeface="Times New Roman" panose="02020603050405020304" pitchFamily="18" charset="0"/>
                      </a:rPr>
                      <m:t>𝑥</m:t>
                    </m:r>
                    <m:r>
                      <a:rPr lang="en-US" i="1">
                        <a:solidFill>
                          <a:schemeClr val="tx1"/>
                        </a:solidFill>
                        <a:latin typeface="Cambria Math" panose="02040503050406030204" pitchFamily="18" charset="0"/>
                        <a:cs typeface="Times New Roman" panose="02020603050405020304" pitchFamily="18" charset="0"/>
                      </a:rPr>
                      <m:t>&gt;3</m:t>
                    </m:r>
                  </m:oMath>
                </a14:m>
                <a:endParaRPr lang="en-US" dirty="0" smtClean="0">
                  <a:solidFill>
                    <a:schemeClr val="tx1"/>
                  </a:solidFill>
                  <a:latin typeface="Times New Roman" panose="02020603050405020304" pitchFamily="18" charset="0"/>
                  <a:cs typeface="Times New Roman" panose="02020603050405020304" pitchFamily="18" charset="0"/>
                </a:endParaRPr>
              </a:p>
              <a:p>
                <a:pPr algn="l"/>
                <a14:m>
                  <m:oMath xmlns:m="http://schemas.openxmlformats.org/officeDocument/2006/math">
                    <m:r>
                      <a:rPr lang="en-US" i="1">
                        <a:solidFill>
                          <a:schemeClr val="tx1"/>
                        </a:solidFill>
                        <a:latin typeface="Cambria Math" panose="02040503050406030204" pitchFamily="18" charset="0"/>
                        <a:cs typeface="Times New Roman" panose="02020603050405020304" pitchFamily="18" charset="0"/>
                      </a:rPr>
                      <m:t>𝑥</m:t>
                    </m:r>
                  </m:oMath>
                </a14:m>
                <a:r>
                  <a:rPr lang="en-US" dirty="0">
                    <a:solidFill>
                      <a:schemeClr val="tx1"/>
                    </a:solidFill>
                    <a:latin typeface="Times New Roman" panose="02020603050405020304" pitchFamily="18" charset="0"/>
                    <a:cs typeface="Times New Roman" panose="02020603050405020304" pitchFamily="18" charset="0"/>
                  </a:rPr>
                  <a:t> </a:t>
                </a:r>
                <a:r>
                  <a:rPr lang="en-US" dirty="0" smtClean="0">
                    <a:solidFill>
                      <a:schemeClr val="tx1"/>
                    </a:solidFill>
                    <a:latin typeface="Times New Roman" panose="02020603050405020304" pitchFamily="18" charset="0"/>
                    <a:cs typeface="Times New Roman" panose="02020603050405020304" pitchFamily="18" charset="0"/>
                  </a:rPr>
                  <a:t>: takes a value</a:t>
                </a:r>
              </a:p>
              <a:p>
                <a:pPr algn="l"/>
                <a:r>
                  <a:rPr lang="en-US" dirty="0" smtClean="0">
                    <a:solidFill>
                      <a:schemeClr val="tx1"/>
                    </a:solidFill>
                    <a:latin typeface="Times New Roman" panose="02020603050405020304" pitchFamily="18" charset="0"/>
                    <a:cs typeface="Times New Roman" panose="02020603050405020304" pitchFamily="18" charset="0"/>
                  </a:rPr>
                  <a:t>Hence </a:t>
                </a:r>
                <a14:m>
                  <m:oMath xmlns:m="http://schemas.openxmlformats.org/officeDocument/2006/math">
                    <m:r>
                      <a:rPr lang="en-US" i="1">
                        <a:solidFill>
                          <a:schemeClr val="tx1"/>
                        </a:solidFill>
                        <a:latin typeface="Cambria Math" panose="02040503050406030204" pitchFamily="18" charset="0"/>
                        <a:cs typeface="Times New Roman" panose="02020603050405020304" pitchFamily="18" charset="0"/>
                      </a:rPr>
                      <m:t>𝑃</m:t>
                    </m:r>
                    <m:d>
                      <m:dPr>
                        <m:ctrlPr>
                          <a:rPr lang="en-US" i="1">
                            <a:solidFill>
                              <a:schemeClr val="tx1"/>
                            </a:solidFill>
                            <a:latin typeface="Cambria Math" panose="02040503050406030204" pitchFamily="18" charset="0"/>
                            <a:cs typeface="Times New Roman" panose="02020603050405020304" pitchFamily="18" charset="0"/>
                          </a:rPr>
                        </m:ctrlPr>
                      </m:dPr>
                      <m:e>
                        <m:r>
                          <a:rPr lang="en-US" i="1">
                            <a:solidFill>
                              <a:schemeClr val="tx1"/>
                            </a:solidFill>
                            <a:latin typeface="Cambria Math" panose="02040503050406030204" pitchFamily="18" charset="0"/>
                            <a:cs typeface="Times New Roman" panose="02020603050405020304" pitchFamily="18" charset="0"/>
                          </a:rPr>
                          <m:t>𝑥</m:t>
                        </m:r>
                      </m:e>
                    </m:d>
                  </m:oMath>
                </a14:m>
                <a:r>
                  <a:rPr lang="en-US" dirty="0" smtClean="0">
                    <a:solidFill>
                      <a:schemeClr val="tx1"/>
                    </a:solidFill>
                    <a:latin typeface="Times New Roman" panose="02020603050405020304" pitchFamily="18" charset="0"/>
                    <a:cs typeface="Times New Roman" panose="02020603050405020304" pitchFamily="18" charset="0"/>
                  </a:rPr>
                  <a:t> is a proposition and has a truth value</a:t>
                </a:r>
              </a:p>
              <a:p>
                <a:pPr algn="l"/>
                <a14:m>
                  <m:oMath xmlns:m="http://schemas.openxmlformats.org/officeDocument/2006/math">
                    <m:r>
                      <a:rPr lang="en-US" i="1">
                        <a:solidFill>
                          <a:schemeClr val="tx1"/>
                        </a:solidFill>
                        <a:latin typeface="Cambria Math" panose="02040503050406030204" pitchFamily="18" charset="0"/>
                        <a:cs typeface="Times New Roman" panose="02020603050405020304" pitchFamily="18" charset="0"/>
                      </a:rPr>
                      <m:t>𝑃</m:t>
                    </m:r>
                    <m:d>
                      <m:dPr>
                        <m:ctrlPr>
                          <a:rPr lang="en-US" i="1">
                            <a:solidFill>
                              <a:schemeClr val="tx1"/>
                            </a:solidFill>
                            <a:latin typeface="Cambria Math" panose="02040503050406030204" pitchFamily="18" charset="0"/>
                            <a:cs typeface="Times New Roman" panose="02020603050405020304" pitchFamily="18" charset="0"/>
                          </a:rPr>
                        </m:ctrlPr>
                      </m:dPr>
                      <m:e>
                        <m:r>
                          <a:rPr lang="en-US" b="0" i="1" smtClean="0">
                            <a:solidFill>
                              <a:schemeClr val="tx1"/>
                            </a:solidFill>
                            <a:latin typeface="Cambria Math" panose="02040503050406030204" pitchFamily="18" charset="0"/>
                            <a:cs typeface="Times New Roman" panose="02020603050405020304" pitchFamily="18" charset="0"/>
                          </a:rPr>
                          <m:t>4</m:t>
                        </m:r>
                      </m:e>
                    </m:d>
                  </m:oMath>
                </a14:m>
                <a:r>
                  <a:rPr lang="en-US" dirty="0" smtClean="0">
                    <a:solidFill>
                      <a:schemeClr val="tx1"/>
                    </a:solidFill>
                    <a:latin typeface="Times New Roman" panose="02020603050405020304" pitchFamily="18" charset="0"/>
                    <a:cs typeface="Times New Roman" panose="02020603050405020304" pitchFamily="18" charset="0"/>
                  </a:rPr>
                  <a:t> :  True , </a:t>
                </a:r>
                <a14:m>
                  <m:oMath xmlns:m="http://schemas.openxmlformats.org/officeDocument/2006/math">
                    <m:r>
                      <a:rPr lang="en-US" i="1">
                        <a:solidFill>
                          <a:schemeClr val="tx1"/>
                        </a:solidFill>
                        <a:latin typeface="Cambria Math" panose="02040503050406030204" pitchFamily="18" charset="0"/>
                        <a:cs typeface="Times New Roman" panose="02020603050405020304" pitchFamily="18" charset="0"/>
                      </a:rPr>
                      <m:t>𝑃</m:t>
                    </m:r>
                    <m:d>
                      <m:dPr>
                        <m:ctrlPr>
                          <a:rPr lang="en-US" i="1">
                            <a:solidFill>
                              <a:schemeClr val="tx1"/>
                            </a:solidFill>
                            <a:latin typeface="Cambria Math" panose="02040503050406030204" pitchFamily="18" charset="0"/>
                            <a:cs typeface="Times New Roman" panose="02020603050405020304" pitchFamily="18" charset="0"/>
                          </a:rPr>
                        </m:ctrlPr>
                      </m:dPr>
                      <m:e>
                        <m:r>
                          <a:rPr lang="en-US" b="0" i="1" smtClean="0">
                            <a:solidFill>
                              <a:schemeClr val="tx1"/>
                            </a:solidFill>
                            <a:latin typeface="Cambria Math" panose="02040503050406030204" pitchFamily="18" charset="0"/>
                            <a:cs typeface="Times New Roman" panose="02020603050405020304" pitchFamily="18" charset="0"/>
                          </a:rPr>
                          <m:t>0</m:t>
                        </m:r>
                      </m:e>
                    </m:d>
                  </m:oMath>
                </a14:m>
                <a:r>
                  <a:rPr lang="en-US" dirty="0" smtClean="0">
                    <a:solidFill>
                      <a:schemeClr val="tx1"/>
                    </a:solidFill>
                    <a:latin typeface="Times New Roman" panose="02020603050405020304" pitchFamily="18" charset="0"/>
                    <a:cs typeface="Times New Roman" panose="02020603050405020304" pitchFamily="18" charset="0"/>
                  </a:rPr>
                  <a:t> : False</a:t>
                </a:r>
              </a:p>
              <a:p>
                <a:pPr algn="l"/>
                <a:endParaRPr lang="en-US" dirty="0" smtClean="0">
                  <a:solidFill>
                    <a:schemeClr val="tx1"/>
                  </a:solidFill>
                  <a:latin typeface="Times New Roman" panose="02020603050405020304" pitchFamily="18" charset="0"/>
                  <a:cs typeface="Times New Roman" panose="02020603050405020304" pitchFamily="18" charset="0"/>
                </a:endParaRPr>
              </a:p>
              <a:p>
                <a:pPr algn="l"/>
                <a:endParaRPr 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5799" y="852574"/>
                <a:ext cx="8239125" cy="5257800"/>
              </a:xfrm>
              <a:blipFill rotWithShape="0">
                <a:blip r:embed="rId2"/>
                <a:stretch>
                  <a:fillRect l="-1849" t="-1624" r="-1701"/>
                </a:stretch>
              </a:blipFill>
            </p:spPr>
            <p:txBody>
              <a:bodyPr/>
              <a:lstStyle/>
              <a:p>
                <a:r>
                  <a:rPr lang="en-US">
                    <a:noFill/>
                  </a:rPr>
                  <a:t> </a:t>
                </a:r>
              </a:p>
            </p:txBody>
          </p:sp>
        </mc:Fallback>
      </mc:AlternateContent>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8275" y="4938799"/>
            <a:ext cx="1390650" cy="1171575"/>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43600" y="2409825"/>
            <a:ext cx="990600" cy="1071649"/>
          </a:xfrm>
          <a:prstGeom prst="rect">
            <a:avLst/>
          </a:prstGeom>
        </p:spPr>
      </p:pic>
    </p:spTree>
    <p:extLst>
      <p:ext uri="{BB962C8B-B14F-4D97-AF65-F5344CB8AC3E}">
        <p14:creationId xmlns:p14="http://schemas.microsoft.com/office/powerpoint/2010/main" val="333277720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143000"/>
          </a:xfrm>
        </p:spPr>
        <p:txBody>
          <a:bodyPr/>
          <a:lstStyle/>
          <a:p>
            <a:r>
              <a:rPr lang="en-US" dirty="0" smtClean="0">
                <a:solidFill>
                  <a:srgbClr val="002060"/>
                </a:solidFill>
                <a:latin typeface="Times New Roman" panose="02020603050405020304" pitchFamily="18" charset="0"/>
                <a:cs typeface="Times New Roman" panose="02020603050405020304" pitchFamily="18" charset="0"/>
              </a:rPr>
              <a:t>Quantifiers</a:t>
            </a:r>
            <a:endParaRPr lang="en-US" dirty="0">
              <a:solidFill>
                <a:srgbClr val="002060"/>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990600"/>
            <a:ext cx="7924800" cy="5715000"/>
          </a:xfrm>
        </p:spPr>
        <p:txBody>
          <a:bodyPr/>
          <a:lstStyle/>
          <a:p>
            <a:pPr algn="l"/>
            <a:r>
              <a:rPr lang="en-US" dirty="0" smtClean="0">
                <a:solidFill>
                  <a:schemeClr val="tx1"/>
                </a:solidFill>
                <a:latin typeface="Times New Roman" panose="02020603050405020304" pitchFamily="18" charset="0"/>
                <a:cs typeface="Times New Roman" panose="02020603050405020304" pitchFamily="18" charset="0"/>
              </a:rPr>
              <a:t>Quantifiers are used to indicate the number of cases in a statement</a:t>
            </a:r>
          </a:p>
          <a:p>
            <a:pPr algn="l"/>
            <a:r>
              <a:rPr lang="en-US" dirty="0" smtClean="0">
                <a:solidFill>
                  <a:schemeClr val="tx1"/>
                </a:solidFill>
                <a:latin typeface="Times New Roman" panose="02020603050405020304" pitchFamily="18" charset="0"/>
                <a:cs typeface="Times New Roman" panose="02020603050405020304" pitchFamily="18" charset="0"/>
              </a:rPr>
              <a:t>ALL - each and every one</a:t>
            </a:r>
          </a:p>
          <a:p>
            <a:pPr algn="l"/>
            <a:r>
              <a:rPr lang="en-US" dirty="0" smtClean="0">
                <a:solidFill>
                  <a:schemeClr val="tx1"/>
                </a:solidFill>
                <a:latin typeface="Times New Roman" panose="02020603050405020304" pitchFamily="18" charset="0"/>
                <a:cs typeface="Times New Roman" panose="02020603050405020304" pitchFamily="18" charset="0"/>
              </a:rPr>
              <a:t>SOME - indicates at least one or several </a:t>
            </a:r>
          </a:p>
          <a:p>
            <a:pPr algn="l"/>
            <a:r>
              <a:rPr lang="en-US" dirty="0" smtClean="0">
                <a:solidFill>
                  <a:srgbClr val="FF0000"/>
                </a:solidFill>
                <a:latin typeface="Times New Roman" panose="02020603050405020304" pitchFamily="18" charset="0"/>
                <a:cs typeface="Times New Roman" panose="02020603050405020304" pitchFamily="18" charset="0"/>
              </a:rPr>
              <a:t>Example:</a:t>
            </a:r>
            <a:r>
              <a:rPr lang="en-US" dirty="0" smtClean="0">
                <a:solidFill>
                  <a:schemeClr val="tx1"/>
                </a:solidFill>
                <a:latin typeface="Times New Roman" panose="02020603050405020304" pitchFamily="18" charset="0"/>
                <a:cs typeface="Times New Roman" panose="02020603050405020304" pitchFamily="18" charset="0"/>
              </a:rPr>
              <a:t> </a:t>
            </a:r>
          </a:p>
          <a:p>
            <a:pPr algn="l"/>
            <a:r>
              <a:rPr lang="en-US" dirty="0" smtClean="0">
                <a:solidFill>
                  <a:schemeClr val="tx1"/>
                </a:solidFill>
                <a:latin typeface="Times New Roman" panose="02020603050405020304" pitchFamily="18" charset="0"/>
                <a:cs typeface="Times New Roman" panose="02020603050405020304" pitchFamily="18" charset="0"/>
              </a:rPr>
              <a:t>-   All hexagons have 6 sides </a:t>
            </a:r>
          </a:p>
          <a:p>
            <a:pPr marL="457200" indent="-457200" algn="l">
              <a:buFontTx/>
              <a:buChar char="-"/>
            </a:pPr>
            <a:r>
              <a:rPr lang="en-US" dirty="0" smtClean="0">
                <a:solidFill>
                  <a:schemeClr val="tx1"/>
                </a:solidFill>
                <a:latin typeface="Times New Roman" panose="02020603050405020304" pitchFamily="18" charset="0"/>
                <a:cs typeface="Times New Roman" panose="02020603050405020304" pitchFamily="18" charset="0"/>
              </a:rPr>
              <a:t>Some </a:t>
            </a:r>
            <a:r>
              <a:rPr lang="en-US" dirty="0">
                <a:solidFill>
                  <a:schemeClr val="tx1"/>
                </a:solidFill>
                <a:latin typeface="Times New Roman" panose="02020603050405020304" pitchFamily="18" charset="0"/>
                <a:cs typeface="Times New Roman" panose="02020603050405020304" pitchFamily="18" charset="0"/>
              </a:rPr>
              <a:t>birds are angry</a:t>
            </a:r>
            <a:endParaRPr lang="en-US" dirty="0" smtClean="0">
              <a:solidFill>
                <a:schemeClr val="tx1"/>
              </a:solidFill>
              <a:latin typeface="Times New Roman" panose="02020603050405020304" pitchFamily="18" charset="0"/>
              <a:cs typeface="Times New Roman" panose="02020603050405020304" pitchFamily="18" charset="0"/>
            </a:endParaRPr>
          </a:p>
          <a:p>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86400" y="3309937"/>
            <a:ext cx="1219200" cy="1076325"/>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5400" y="5029200"/>
            <a:ext cx="3352800" cy="1384032"/>
          </a:xfrm>
          <a:prstGeom prst="rect">
            <a:avLst/>
          </a:prstGeom>
        </p:spPr>
      </p:pic>
    </p:spTree>
    <p:extLst>
      <p:ext uri="{BB962C8B-B14F-4D97-AF65-F5344CB8AC3E}">
        <p14:creationId xmlns:p14="http://schemas.microsoft.com/office/powerpoint/2010/main" val="35276217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8763000" cy="914400"/>
          </a:xfrm>
        </p:spPr>
        <p:txBody>
          <a:bodyPr/>
          <a:lstStyle/>
          <a:p>
            <a:r>
              <a:rPr lang="en-US" dirty="0" smtClean="0">
                <a:solidFill>
                  <a:srgbClr val="002060"/>
                </a:solidFill>
                <a:latin typeface="Times New Roman" panose="02020603050405020304" pitchFamily="18" charset="0"/>
                <a:cs typeface="Times New Roman" panose="02020603050405020304" pitchFamily="18" charset="0"/>
              </a:rPr>
              <a:t/>
            </a:r>
            <a:br>
              <a:rPr lang="en-US" dirty="0" smtClean="0">
                <a:solidFill>
                  <a:srgbClr val="002060"/>
                </a:solidFill>
                <a:latin typeface="Times New Roman" panose="02020603050405020304" pitchFamily="18" charset="0"/>
                <a:cs typeface="Times New Roman" panose="02020603050405020304" pitchFamily="18" charset="0"/>
              </a:rPr>
            </a:br>
            <a:r>
              <a:rPr lang="en-US" dirty="0" smtClean="0">
                <a:solidFill>
                  <a:srgbClr val="002060"/>
                </a:solidFill>
                <a:latin typeface="Times New Roman" panose="02020603050405020304" pitchFamily="18" charset="0"/>
                <a:cs typeface="Times New Roman" panose="02020603050405020304" pitchFamily="18" charset="0"/>
              </a:rPr>
              <a:t>Inference  Theory for Predicate Calculus</a:t>
            </a:r>
            <a:br>
              <a:rPr lang="en-US" dirty="0" smtClean="0">
                <a:solidFill>
                  <a:srgbClr val="002060"/>
                </a:solidFill>
                <a:latin typeface="Times New Roman" panose="02020603050405020304" pitchFamily="18" charset="0"/>
                <a:cs typeface="Times New Roman" panose="02020603050405020304" pitchFamily="18" charset="0"/>
              </a:rPr>
            </a:br>
            <a:endParaRPr lang="en-US" dirty="0">
              <a:solidFill>
                <a:srgbClr val="00206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304800" y="914401"/>
                <a:ext cx="8458200" cy="5333999"/>
              </a:xfrm>
            </p:spPr>
            <p:txBody>
              <a:bodyPr/>
              <a:lstStyle/>
              <a:p>
                <a:pPr algn="l"/>
                <a:r>
                  <a:rPr lang="en-US" dirty="0" smtClean="0">
                    <a:solidFill>
                      <a:srgbClr val="FF0000"/>
                    </a:solidFill>
                    <a:latin typeface="Times New Roman" panose="02020603050405020304" pitchFamily="18" charset="0"/>
                    <a:cs typeface="Times New Roman" panose="02020603050405020304" pitchFamily="18" charset="0"/>
                  </a:rPr>
                  <a:t>Rule US (or UI)</a:t>
                </a:r>
              </a:p>
              <a:p>
                <a:pPr algn="l"/>
                <a:r>
                  <a:rPr lang="en-US" dirty="0" smtClean="0">
                    <a:solidFill>
                      <a:srgbClr val="FF0000"/>
                    </a:solidFill>
                    <a:latin typeface="Times New Roman" panose="02020603050405020304" pitchFamily="18" charset="0"/>
                    <a:cs typeface="Times New Roman" panose="02020603050405020304" pitchFamily="18" charset="0"/>
                  </a:rPr>
                  <a:t>Universal Specification or Universal Instantiation  </a:t>
                </a:r>
              </a:p>
              <a:p>
                <a:pPr algn="l"/>
                <a14:m>
                  <m:oMath xmlns:m="http://schemas.openxmlformats.org/officeDocument/2006/math">
                    <m:r>
                      <a:rPr lang="en-US" b="0" i="1" smtClean="0">
                        <a:solidFill>
                          <a:schemeClr val="tx1"/>
                        </a:solidFill>
                        <a:latin typeface="Cambria Math" panose="02040503050406030204" pitchFamily="18" charset="0"/>
                        <a:cs typeface="Times New Roman" panose="02020603050405020304" pitchFamily="18" charset="0"/>
                      </a:rPr>
                      <m:t>𝑃</m:t>
                    </m:r>
                    <m:d>
                      <m:dPr>
                        <m:ctrlPr>
                          <a:rPr lang="en-US" b="0" i="1" smtClean="0">
                            <a:solidFill>
                              <a:schemeClr val="tx1"/>
                            </a:solidFill>
                            <a:latin typeface="Cambria Math" panose="02040503050406030204" pitchFamily="18" charset="0"/>
                            <a:cs typeface="Times New Roman" panose="02020603050405020304" pitchFamily="18" charset="0"/>
                          </a:rPr>
                        </m:ctrlPr>
                      </m:dPr>
                      <m:e>
                        <m:r>
                          <a:rPr lang="en-US" b="0" i="1" smtClean="0">
                            <a:solidFill>
                              <a:schemeClr val="tx1"/>
                            </a:solidFill>
                            <a:latin typeface="Cambria Math" panose="02040503050406030204" pitchFamily="18" charset="0"/>
                            <a:cs typeface="Times New Roman" panose="02020603050405020304" pitchFamily="18" charset="0"/>
                          </a:rPr>
                          <m:t>𝐶</m:t>
                        </m:r>
                      </m:e>
                    </m:d>
                    <m:r>
                      <a:rPr lang="en-US" b="0" i="1" smtClean="0">
                        <a:solidFill>
                          <a:schemeClr val="tx1"/>
                        </a:solidFill>
                        <a:latin typeface="Cambria Math" panose="02040503050406030204" pitchFamily="18" charset="0"/>
                        <a:cs typeface="Times New Roman" panose="02020603050405020304" pitchFamily="18" charset="0"/>
                      </a:rPr>
                      <m:t>  </m:t>
                    </m:r>
                  </m:oMath>
                </a14:m>
                <a:r>
                  <a:rPr lang="en-US" dirty="0" smtClean="0">
                    <a:solidFill>
                      <a:schemeClr val="tx1"/>
                    </a:solidFill>
                    <a:latin typeface="Times New Roman" panose="02020603050405020304" pitchFamily="18" charset="0"/>
                    <a:cs typeface="Times New Roman" panose="02020603050405020304" pitchFamily="18" charset="0"/>
                  </a:rPr>
                  <a:t>is true for a particular element </a:t>
                </a:r>
                <a:r>
                  <a:rPr lang="en-US" i="1" dirty="0" smtClean="0">
                    <a:solidFill>
                      <a:schemeClr val="tx1"/>
                    </a:solidFill>
                    <a:latin typeface="Times New Roman" panose="02020603050405020304" pitchFamily="18" charset="0"/>
                    <a:cs typeface="Times New Roman" panose="02020603050405020304" pitchFamily="18" charset="0"/>
                  </a:rPr>
                  <a:t>C</a:t>
                </a:r>
                <a:r>
                  <a:rPr lang="en-US" dirty="0" smtClean="0">
                    <a:solidFill>
                      <a:schemeClr val="tx1"/>
                    </a:solidFill>
                    <a:latin typeface="Times New Roman" panose="02020603050405020304" pitchFamily="18" charset="0"/>
                    <a:cs typeface="Times New Roman" panose="02020603050405020304" pitchFamily="18" charset="0"/>
                  </a:rPr>
                  <a:t> of the universe of discourse if </a:t>
                </a:r>
                <a14:m>
                  <m:oMath xmlns:m="http://schemas.openxmlformats.org/officeDocument/2006/math">
                    <m:r>
                      <a:rPr lang="en-US"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𝑥𝑃</m:t>
                    </m:r>
                    <m:r>
                      <a:rPr lang="en-US"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US"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𝑥</m:t>
                    </m:r>
                    <m:r>
                      <a:rPr lang="en-US"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US" dirty="0" smtClean="0">
                    <a:solidFill>
                      <a:schemeClr val="tx1"/>
                    </a:solidFill>
                    <a:latin typeface="Times New Roman" panose="02020603050405020304" pitchFamily="18" charset="0"/>
                    <a:cs typeface="Times New Roman" panose="02020603050405020304" pitchFamily="18" charset="0"/>
                  </a:rPr>
                  <a:t> </a:t>
                </a:r>
                <a:r>
                  <a:rPr lang="en-US" i="1" dirty="0" smtClean="0">
                    <a:solidFill>
                      <a:schemeClr val="tx1"/>
                    </a:solidFill>
                    <a:latin typeface="Times New Roman" panose="02020603050405020304" pitchFamily="18" charset="0"/>
                    <a:cs typeface="Times New Roman" panose="02020603050405020304" pitchFamily="18" charset="0"/>
                  </a:rPr>
                  <a:t>C</a:t>
                </a:r>
                <a:r>
                  <a:rPr lang="en-US" dirty="0" smtClean="0">
                    <a:solidFill>
                      <a:schemeClr val="tx1"/>
                    </a:solidFill>
                    <a:latin typeface="Times New Roman" panose="02020603050405020304" pitchFamily="18" charset="0"/>
                    <a:cs typeface="Times New Roman" panose="02020603050405020304" pitchFamily="18" charset="0"/>
                  </a:rPr>
                  <a:t> is chosen arbitrarily</a:t>
                </a:r>
              </a:p>
              <a:p>
                <a:pPr algn="l"/>
                <a:r>
                  <a:rPr lang="en-US" dirty="0" smtClean="0">
                    <a:solidFill>
                      <a:srgbClr val="FF0000"/>
                    </a:solidFill>
                    <a:latin typeface="Times New Roman" panose="02020603050405020304" pitchFamily="18" charset="0"/>
                    <a:cs typeface="Times New Roman" panose="02020603050405020304" pitchFamily="18" charset="0"/>
                  </a:rPr>
                  <a:t>Example: </a:t>
                </a:r>
                <a:r>
                  <a:rPr lang="en-US" dirty="0" smtClean="0">
                    <a:solidFill>
                      <a:schemeClr val="tx1"/>
                    </a:solidFill>
                    <a:latin typeface="Times New Roman" panose="02020603050405020304" pitchFamily="18" charset="0"/>
                    <a:cs typeface="Times New Roman" panose="02020603050405020304" pitchFamily="18" charset="0"/>
                  </a:rPr>
                  <a:t>if </a:t>
                </a:r>
                <a14:m>
                  <m:oMath xmlns:m="http://schemas.openxmlformats.org/officeDocument/2006/math">
                    <m:sSup>
                      <m:sSupPr>
                        <m:ctrlPr>
                          <a:rPr lang="en-US" b="0" i="1" smtClean="0">
                            <a:solidFill>
                              <a:schemeClr val="tx1"/>
                            </a:solidFill>
                            <a:latin typeface="Cambria Math" panose="02040503050406030204" pitchFamily="18" charset="0"/>
                            <a:cs typeface="Times New Roman" panose="02020603050405020304" pitchFamily="18" charset="0"/>
                          </a:rPr>
                        </m:ctrlPr>
                      </m:sSupPr>
                      <m:e>
                        <m:r>
                          <a:rPr lang="en-US" b="0" i="1" smtClean="0">
                            <a:solidFill>
                              <a:schemeClr val="tx1"/>
                            </a:solidFill>
                            <a:latin typeface="Cambria Math" panose="02040503050406030204" pitchFamily="18" charset="0"/>
                            <a:cs typeface="Times New Roman" panose="02020603050405020304" pitchFamily="18" charset="0"/>
                          </a:rPr>
                          <m:t>𝑥</m:t>
                        </m:r>
                      </m:e>
                      <m:sup>
                        <m:r>
                          <a:rPr lang="en-US" b="0" i="1" smtClean="0">
                            <a:solidFill>
                              <a:schemeClr val="tx1"/>
                            </a:solidFill>
                            <a:latin typeface="Cambria Math" panose="02040503050406030204" pitchFamily="18" charset="0"/>
                            <a:cs typeface="Times New Roman" panose="02020603050405020304" pitchFamily="18" charset="0"/>
                          </a:rPr>
                          <m:t>2</m:t>
                        </m:r>
                      </m:sup>
                    </m:sSup>
                    <m:sSup>
                      <m:sSupPr>
                        <m:ctrlPr>
                          <a:rPr lang="en-US" b="0" i="1" smtClean="0">
                            <a:solidFill>
                              <a:schemeClr val="tx1"/>
                            </a:solidFill>
                            <a:latin typeface="Cambria Math" panose="02040503050406030204" pitchFamily="18" charset="0"/>
                            <a:cs typeface="Times New Roman" panose="02020603050405020304" pitchFamily="18" charset="0"/>
                          </a:rPr>
                        </m:ctrlPr>
                      </m:sSupPr>
                      <m:e>
                        <m:r>
                          <a:rPr lang="en-US" b="0" i="1" smtClean="0">
                            <a:solidFill>
                              <a:schemeClr val="tx1"/>
                            </a:solidFill>
                            <a:latin typeface="Cambria Math" panose="02040503050406030204" pitchFamily="18" charset="0"/>
                            <a:cs typeface="Times New Roman" panose="02020603050405020304" pitchFamily="18" charset="0"/>
                          </a:rPr>
                          <m:t>&gt;0</m:t>
                        </m:r>
                      </m:e>
                      <m:sup>
                        <m:r>
                          <a:rPr lang="en-US" b="0" i="1" smtClean="0">
                            <a:solidFill>
                              <a:schemeClr val="tx1"/>
                            </a:solidFill>
                            <a:latin typeface="Cambria Math" panose="02040503050406030204" pitchFamily="18" charset="0"/>
                            <a:cs typeface="Times New Roman" panose="02020603050405020304" pitchFamily="18" charset="0"/>
                          </a:rPr>
                          <m:t>    </m:t>
                        </m:r>
                      </m:sup>
                    </m:sSup>
                    <m:r>
                      <a:rPr lang="en-US"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US"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𝑥</m:t>
                    </m:r>
                    <m:r>
                      <a:rPr lang="en-US"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≠0 </m:t>
                    </m:r>
                  </m:oMath>
                </a14:m>
                <a:endParaRPr lang="en-US" b="0" i="1" dirty="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endParaRPr>
              </a:p>
              <a:p>
                <a:pPr algn="l"/>
                <a:r>
                  <a:rPr lang="en-US"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t</a:t>
                </a:r>
                <a:r>
                  <a:rPr lang="en-US" dirty="0" smtClean="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hen</a:t>
                </a:r>
                <a:r>
                  <a:rPr lang="en-US" dirty="0" smtClean="0">
                    <a:solidFill>
                      <a:schemeClr val="tx1"/>
                    </a:solidFill>
                    <a:ea typeface="Cambria Math" panose="02040503050406030204" pitchFamily="18" charset="0"/>
                    <a:cs typeface="Times New Roman" panose="02020603050405020304" pitchFamily="18" charset="0"/>
                  </a:rPr>
                  <a:t> </a:t>
                </a:r>
                <a14:m>
                  <m:oMath xmlns:m="http://schemas.openxmlformats.org/officeDocument/2006/math">
                    <m:r>
                      <a:rPr lang="en-US"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sSup>
                      <m:sSupPr>
                        <m:ctrlPr>
                          <a:rPr lang="en-US" i="1">
                            <a:solidFill>
                              <a:schemeClr val="tx1"/>
                            </a:solidFill>
                            <a:latin typeface="Cambria Math" panose="02040503050406030204" pitchFamily="18" charset="0"/>
                            <a:cs typeface="Times New Roman" panose="02020603050405020304" pitchFamily="18" charset="0"/>
                          </a:rPr>
                        </m:ctrlPr>
                      </m:sSupPr>
                      <m:e>
                        <m:r>
                          <a:rPr lang="en-US" b="0" i="1" smtClean="0">
                            <a:solidFill>
                              <a:schemeClr val="tx1"/>
                            </a:solidFill>
                            <a:latin typeface="Cambria Math" panose="02040503050406030204" pitchFamily="18" charset="0"/>
                            <a:cs typeface="Times New Roman" panose="02020603050405020304" pitchFamily="18" charset="0"/>
                          </a:rPr>
                          <m:t>2</m:t>
                        </m:r>
                      </m:e>
                      <m:sup>
                        <m:r>
                          <a:rPr lang="en-US" i="1">
                            <a:solidFill>
                              <a:schemeClr val="tx1"/>
                            </a:solidFill>
                            <a:latin typeface="Cambria Math" panose="02040503050406030204" pitchFamily="18" charset="0"/>
                            <a:cs typeface="Times New Roman" panose="02020603050405020304" pitchFamily="18" charset="0"/>
                          </a:rPr>
                          <m:t>2</m:t>
                        </m:r>
                      </m:sup>
                    </m:sSup>
                    <m:sSup>
                      <m:sSupPr>
                        <m:ctrlPr>
                          <a:rPr lang="en-US" i="1">
                            <a:solidFill>
                              <a:schemeClr val="tx1"/>
                            </a:solidFill>
                            <a:latin typeface="Cambria Math" panose="02040503050406030204" pitchFamily="18" charset="0"/>
                            <a:cs typeface="Times New Roman" panose="02020603050405020304" pitchFamily="18" charset="0"/>
                          </a:rPr>
                        </m:ctrlPr>
                      </m:sSupPr>
                      <m:e>
                        <m:r>
                          <a:rPr lang="en-US" i="1">
                            <a:solidFill>
                              <a:schemeClr val="tx1"/>
                            </a:solidFill>
                            <a:latin typeface="Cambria Math" panose="02040503050406030204" pitchFamily="18" charset="0"/>
                            <a:cs typeface="Times New Roman" panose="02020603050405020304" pitchFamily="18" charset="0"/>
                          </a:rPr>
                          <m:t>&gt;0</m:t>
                        </m:r>
                      </m:e>
                      <m:sup>
                        <m:r>
                          <a:rPr lang="en-US" i="1">
                            <a:solidFill>
                              <a:schemeClr val="tx1"/>
                            </a:solidFill>
                            <a:latin typeface="Cambria Math" panose="02040503050406030204" pitchFamily="18" charset="0"/>
                            <a:cs typeface="Times New Roman" panose="02020603050405020304" pitchFamily="18" charset="0"/>
                          </a:rPr>
                          <m:t>    </m:t>
                        </m:r>
                      </m:sup>
                    </m:sSup>
                  </m:oMath>
                </a14:m>
                <a:r>
                  <a:rPr lang="en-US" dirty="0" smtClean="0">
                    <a:solidFill>
                      <a:schemeClr val="tx1"/>
                    </a:solidFill>
                    <a:latin typeface="Times New Roman" panose="02020603050405020304" pitchFamily="18" charset="0"/>
                    <a:cs typeface="Times New Roman" panose="02020603050405020304" pitchFamily="18" charset="0"/>
                  </a:rPr>
                  <a:t>for the particular value 2</a:t>
                </a:r>
              </a:p>
              <a:p>
                <a:pPr algn="l"/>
                <a:r>
                  <a:rPr lang="en-US" dirty="0" smtClean="0">
                    <a:solidFill>
                      <a:schemeClr val="tx1"/>
                    </a:solidFill>
                    <a:latin typeface="Times New Roman" panose="02020603050405020304" pitchFamily="18" charset="0"/>
                    <a:cs typeface="Times New Roman" panose="02020603050405020304" pitchFamily="18" charset="0"/>
                  </a:rPr>
                  <a:t>It is true for any </a:t>
                </a:r>
                <a14:m>
                  <m:oMath xmlns:m="http://schemas.openxmlformats.org/officeDocument/2006/math">
                    <m:r>
                      <a:rPr lang="en-US" b="0" i="1" smtClean="0">
                        <a:solidFill>
                          <a:schemeClr val="tx1"/>
                        </a:solidFill>
                        <a:latin typeface="Cambria Math" panose="02040503050406030204" pitchFamily="18" charset="0"/>
                        <a:cs typeface="Times New Roman" panose="02020603050405020304" pitchFamily="18" charset="0"/>
                      </a:rPr>
                      <m:t>𝑐</m:t>
                    </m:r>
                    <m:r>
                      <a:rPr lang="en-US"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≠0, </m:t>
                    </m:r>
                    <m:sSup>
                      <m:sSupPr>
                        <m:ctrlPr>
                          <a:rPr lang="en-US" i="1">
                            <a:solidFill>
                              <a:schemeClr val="tx1"/>
                            </a:solidFill>
                            <a:latin typeface="Cambria Math" panose="02040503050406030204" pitchFamily="18" charset="0"/>
                            <a:cs typeface="Times New Roman" panose="02020603050405020304" pitchFamily="18" charset="0"/>
                          </a:rPr>
                        </m:ctrlPr>
                      </m:sSupPr>
                      <m:e>
                        <m:r>
                          <a:rPr lang="en-US" b="0" i="1" smtClean="0">
                            <a:solidFill>
                              <a:schemeClr val="tx1"/>
                            </a:solidFill>
                            <a:latin typeface="Cambria Math" panose="02040503050406030204" pitchFamily="18" charset="0"/>
                            <a:cs typeface="Times New Roman" panose="02020603050405020304" pitchFamily="18" charset="0"/>
                          </a:rPr>
                          <m:t>𝑐</m:t>
                        </m:r>
                      </m:e>
                      <m:sup>
                        <m:r>
                          <a:rPr lang="en-US" i="1">
                            <a:solidFill>
                              <a:schemeClr val="tx1"/>
                            </a:solidFill>
                            <a:latin typeface="Cambria Math" panose="02040503050406030204" pitchFamily="18" charset="0"/>
                            <a:cs typeface="Times New Roman" panose="02020603050405020304" pitchFamily="18" charset="0"/>
                          </a:rPr>
                          <m:t>2</m:t>
                        </m:r>
                      </m:sup>
                    </m:sSup>
                    <m:sSup>
                      <m:sSupPr>
                        <m:ctrlPr>
                          <a:rPr lang="en-US" i="1">
                            <a:solidFill>
                              <a:schemeClr val="tx1"/>
                            </a:solidFill>
                            <a:latin typeface="Cambria Math" panose="02040503050406030204" pitchFamily="18" charset="0"/>
                            <a:cs typeface="Times New Roman" panose="02020603050405020304" pitchFamily="18" charset="0"/>
                          </a:rPr>
                        </m:ctrlPr>
                      </m:sSupPr>
                      <m:e>
                        <m:r>
                          <a:rPr lang="en-US" i="1">
                            <a:solidFill>
                              <a:schemeClr val="tx1"/>
                            </a:solidFill>
                            <a:latin typeface="Cambria Math" panose="02040503050406030204" pitchFamily="18" charset="0"/>
                            <a:cs typeface="Times New Roman" panose="02020603050405020304" pitchFamily="18" charset="0"/>
                          </a:rPr>
                          <m:t>&gt;0</m:t>
                        </m:r>
                      </m:e>
                      <m:sup>
                        <m:r>
                          <a:rPr lang="en-US" i="1">
                            <a:solidFill>
                              <a:schemeClr val="tx1"/>
                            </a:solidFill>
                            <a:latin typeface="Cambria Math" panose="02040503050406030204" pitchFamily="18" charset="0"/>
                            <a:cs typeface="Times New Roman" panose="02020603050405020304" pitchFamily="18" charset="0"/>
                          </a:rPr>
                          <m:t>    </m:t>
                        </m:r>
                      </m:sup>
                    </m:sSup>
                  </m:oMath>
                </a14:m>
                <a:endParaRPr 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304800" y="914401"/>
                <a:ext cx="8458200" cy="5333999"/>
              </a:xfrm>
              <a:blipFill rotWithShape="0">
                <a:blip r:embed="rId2"/>
                <a:stretch>
                  <a:fillRect l="-1801" t="-1600" r="-1945"/>
                </a:stretch>
              </a:blipFill>
            </p:spPr>
            <p:txBody>
              <a:bodyPr/>
              <a:lstStyle/>
              <a:p>
                <a:r>
                  <a:rPr lang="en-US">
                    <a:noFill/>
                  </a:rPr>
                  <a:t> </a:t>
                </a:r>
              </a:p>
            </p:txBody>
          </p:sp>
        </mc:Fallback>
      </mc:AlternateContent>
    </p:spTree>
    <p:extLst>
      <p:ext uri="{BB962C8B-B14F-4D97-AF65-F5344CB8AC3E}">
        <p14:creationId xmlns:p14="http://schemas.microsoft.com/office/powerpoint/2010/main" val="414059543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8763000" cy="914400"/>
          </a:xfrm>
        </p:spPr>
        <p:txBody>
          <a:bodyPr/>
          <a:lstStyle/>
          <a:p>
            <a:r>
              <a:rPr lang="en-US" dirty="0" smtClean="0">
                <a:solidFill>
                  <a:srgbClr val="002060"/>
                </a:solidFill>
                <a:latin typeface="Times New Roman" panose="02020603050405020304" pitchFamily="18" charset="0"/>
                <a:cs typeface="Times New Roman" panose="02020603050405020304" pitchFamily="18" charset="0"/>
              </a:rPr>
              <a:t/>
            </a:r>
            <a:br>
              <a:rPr lang="en-US" dirty="0" smtClean="0">
                <a:solidFill>
                  <a:srgbClr val="002060"/>
                </a:solidFill>
                <a:latin typeface="Times New Roman" panose="02020603050405020304" pitchFamily="18" charset="0"/>
                <a:cs typeface="Times New Roman" panose="02020603050405020304" pitchFamily="18" charset="0"/>
              </a:rPr>
            </a:br>
            <a:r>
              <a:rPr lang="en-US" dirty="0" smtClean="0">
                <a:solidFill>
                  <a:srgbClr val="002060"/>
                </a:solidFill>
                <a:latin typeface="Times New Roman" panose="02020603050405020304" pitchFamily="18" charset="0"/>
                <a:cs typeface="Times New Roman" panose="02020603050405020304" pitchFamily="18" charset="0"/>
              </a:rPr>
              <a:t>Inference  Theory for Predicate Calculus</a:t>
            </a:r>
            <a:br>
              <a:rPr lang="en-US" dirty="0" smtClean="0">
                <a:solidFill>
                  <a:srgbClr val="002060"/>
                </a:solidFill>
                <a:latin typeface="Times New Roman" panose="02020603050405020304" pitchFamily="18" charset="0"/>
                <a:cs typeface="Times New Roman" panose="02020603050405020304" pitchFamily="18" charset="0"/>
              </a:rPr>
            </a:br>
            <a:endParaRPr lang="en-US" dirty="0">
              <a:solidFill>
                <a:srgbClr val="00206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304800" y="914401"/>
                <a:ext cx="8610600" cy="5333999"/>
              </a:xfrm>
            </p:spPr>
            <p:txBody>
              <a:bodyPr/>
              <a:lstStyle/>
              <a:p>
                <a:pPr algn="l"/>
                <a:r>
                  <a:rPr lang="en-US" dirty="0" smtClean="0">
                    <a:solidFill>
                      <a:srgbClr val="FF0000"/>
                    </a:solidFill>
                    <a:latin typeface="Times New Roman" panose="02020603050405020304" pitchFamily="18" charset="0"/>
                    <a:cs typeface="Times New Roman" panose="02020603050405020304" pitchFamily="18" charset="0"/>
                  </a:rPr>
                  <a:t>Rule ES (or </a:t>
                </a:r>
                <a:r>
                  <a:rPr lang="en-US" dirty="0">
                    <a:solidFill>
                      <a:srgbClr val="FF0000"/>
                    </a:solidFill>
                    <a:latin typeface="Times New Roman" panose="02020603050405020304" pitchFamily="18" charset="0"/>
                    <a:cs typeface="Times New Roman" panose="02020603050405020304" pitchFamily="18" charset="0"/>
                  </a:rPr>
                  <a:t>E</a:t>
                </a:r>
                <a:r>
                  <a:rPr lang="en-US" dirty="0" smtClean="0">
                    <a:solidFill>
                      <a:srgbClr val="FF0000"/>
                    </a:solidFill>
                    <a:latin typeface="Times New Roman" panose="02020603050405020304" pitchFamily="18" charset="0"/>
                    <a:cs typeface="Times New Roman" panose="02020603050405020304" pitchFamily="18" charset="0"/>
                  </a:rPr>
                  <a:t>I)</a:t>
                </a:r>
              </a:p>
              <a:p>
                <a:pPr algn="l"/>
                <a:r>
                  <a:rPr lang="en-US" dirty="0" smtClean="0">
                    <a:solidFill>
                      <a:srgbClr val="FF0000"/>
                    </a:solidFill>
                    <a:latin typeface="Times New Roman" panose="02020603050405020304" pitchFamily="18" charset="0"/>
                    <a:cs typeface="Times New Roman" panose="02020603050405020304" pitchFamily="18" charset="0"/>
                  </a:rPr>
                  <a:t>Existential Specification or </a:t>
                </a:r>
                <a:r>
                  <a:rPr lang="en-US" dirty="0">
                    <a:solidFill>
                      <a:srgbClr val="FF0000"/>
                    </a:solidFill>
                    <a:latin typeface="Times New Roman" panose="02020603050405020304" pitchFamily="18" charset="0"/>
                    <a:cs typeface="Times New Roman" panose="02020603050405020304" pitchFamily="18" charset="0"/>
                  </a:rPr>
                  <a:t>Existential</a:t>
                </a:r>
                <a:r>
                  <a:rPr lang="en-US" dirty="0" smtClean="0">
                    <a:solidFill>
                      <a:srgbClr val="FF0000"/>
                    </a:solidFill>
                    <a:latin typeface="Times New Roman" panose="02020603050405020304" pitchFamily="18" charset="0"/>
                    <a:cs typeface="Times New Roman" panose="02020603050405020304" pitchFamily="18" charset="0"/>
                  </a:rPr>
                  <a:t> Instantiation  </a:t>
                </a:r>
              </a:p>
              <a:p>
                <a:pPr algn="l"/>
                <a:r>
                  <a:rPr lang="en-US" dirty="0" smtClean="0">
                    <a:solidFill>
                      <a:schemeClr val="tx1"/>
                    </a:solidFill>
                    <a:latin typeface="Times New Roman" panose="02020603050405020304" pitchFamily="18" charset="0"/>
                    <a:cs typeface="Times New Roman" panose="02020603050405020304" pitchFamily="18" charset="0"/>
                  </a:rPr>
                  <a:t>There is an element C in the universe  of discourse for which </a:t>
                </a:r>
                <a14:m>
                  <m:oMath xmlns:m="http://schemas.openxmlformats.org/officeDocument/2006/math">
                    <m:r>
                      <a:rPr lang="en-US" b="0" i="1" smtClean="0">
                        <a:solidFill>
                          <a:schemeClr val="tx1"/>
                        </a:solidFill>
                        <a:latin typeface="Cambria Math" panose="02040503050406030204" pitchFamily="18" charset="0"/>
                        <a:cs typeface="Times New Roman" panose="02020603050405020304" pitchFamily="18" charset="0"/>
                      </a:rPr>
                      <m:t>𝑃</m:t>
                    </m:r>
                    <m:d>
                      <m:dPr>
                        <m:ctrlPr>
                          <a:rPr lang="en-US" b="0" i="1" smtClean="0">
                            <a:solidFill>
                              <a:schemeClr val="tx1"/>
                            </a:solidFill>
                            <a:latin typeface="Cambria Math" panose="02040503050406030204" pitchFamily="18" charset="0"/>
                            <a:cs typeface="Times New Roman" panose="02020603050405020304" pitchFamily="18" charset="0"/>
                          </a:rPr>
                        </m:ctrlPr>
                      </m:dPr>
                      <m:e>
                        <m:r>
                          <a:rPr lang="en-US" b="0" i="1" smtClean="0">
                            <a:solidFill>
                              <a:schemeClr val="tx1"/>
                            </a:solidFill>
                            <a:latin typeface="Cambria Math" panose="02040503050406030204" pitchFamily="18" charset="0"/>
                            <a:cs typeface="Times New Roman" panose="02020603050405020304" pitchFamily="18" charset="0"/>
                          </a:rPr>
                          <m:t>𝐶</m:t>
                        </m:r>
                      </m:e>
                    </m:d>
                    <m:r>
                      <a:rPr lang="en-US" b="0" i="1" smtClean="0">
                        <a:solidFill>
                          <a:schemeClr val="tx1"/>
                        </a:solidFill>
                        <a:latin typeface="Cambria Math" panose="02040503050406030204" pitchFamily="18" charset="0"/>
                        <a:cs typeface="Times New Roman" panose="02020603050405020304" pitchFamily="18" charset="0"/>
                      </a:rPr>
                      <m:t>  </m:t>
                    </m:r>
                  </m:oMath>
                </a14:m>
                <a:r>
                  <a:rPr lang="en-US" dirty="0" smtClean="0">
                    <a:solidFill>
                      <a:schemeClr val="tx1"/>
                    </a:solidFill>
                    <a:latin typeface="Times New Roman" panose="02020603050405020304" pitchFamily="18" charset="0"/>
                    <a:cs typeface="Times New Roman" panose="02020603050405020304" pitchFamily="18" charset="0"/>
                  </a:rPr>
                  <a:t>is true if </a:t>
                </a:r>
                <a14:m>
                  <m:oMath xmlns:m="http://schemas.openxmlformats.org/officeDocument/2006/math">
                    <m:r>
                      <a:rPr lang="en-US"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𝑥𝑃</m:t>
                    </m:r>
                    <m:d>
                      <m:dPr>
                        <m:ctrlPr>
                          <a:rPr lang="en-US"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𝑥</m:t>
                        </m:r>
                      </m:e>
                    </m:d>
                  </m:oMath>
                </a14:m>
                <a:r>
                  <a:rPr lang="en-US" b="0" dirty="0" smtClean="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 is true</a:t>
                </a:r>
              </a:p>
              <a:p>
                <a:pPr algn="l"/>
                <a:endParaRPr lang="en-US" b="0" dirty="0" smtClean="0">
                  <a:solidFill>
                    <a:schemeClr val="tx1"/>
                  </a:solidFill>
                  <a:latin typeface="Times New Roman" panose="02020603050405020304" pitchFamily="18" charset="0"/>
                  <a:ea typeface="Cambria Math" panose="02040503050406030204" pitchFamily="18" charset="0"/>
                  <a:cs typeface="Times New Roman" panose="02020603050405020304" pitchFamily="18" charset="0"/>
                </a:endParaRPr>
              </a:p>
              <a:p>
                <a:pPr algn="l"/>
                <a:r>
                  <a:rPr lang="en-US" dirty="0" smtClean="0">
                    <a:solidFill>
                      <a:srgbClr val="FF0000"/>
                    </a:solidFill>
                    <a:latin typeface="Times New Roman" panose="02020603050405020304" pitchFamily="18" charset="0"/>
                    <a:cs typeface="Times New Roman" panose="02020603050405020304" pitchFamily="18" charset="0"/>
                  </a:rPr>
                  <a:t>Note: </a:t>
                </a:r>
                <a:r>
                  <a:rPr lang="en-US" i="1" dirty="0" smtClean="0">
                    <a:solidFill>
                      <a:schemeClr val="tx1"/>
                    </a:solidFill>
                    <a:latin typeface="Times New Roman" panose="02020603050405020304" pitchFamily="18" charset="0"/>
                    <a:cs typeface="Times New Roman" panose="02020603050405020304" pitchFamily="18" charset="0"/>
                  </a:rPr>
                  <a:t>C</a:t>
                </a:r>
                <a:r>
                  <a:rPr lang="en-US" dirty="0" smtClean="0">
                    <a:solidFill>
                      <a:schemeClr val="tx1"/>
                    </a:solidFill>
                    <a:latin typeface="Times New Roman" panose="02020603050405020304" pitchFamily="18" charset="0"/>
                    <a:cs typeface="Times New Roman" panose="02020603050405020304" pitchFamily="18" charset="0"/>
                  </a:rPr>
                  <a:t> is not arbitrary</a:t>
                </a:r>
              </a:p>
              <a:p>
                <a:pPr algn="l"/>
                <a:r>
                  <a:rPr lang="en-US" dirty="0" smtClean="0">
                    <a:solidFill>
                      <a:schemeClr val="tx1"/>
                    </a:solidFill>
                    <a:latin typeface="Times New Roman" panose="02020603050405020304" pitchFamily="18" charset="0"/>
                    <a:cs typeface="Times New Roman" panose="02020603050405020304" pitchFamily="18" charset="0"/>
                  </a:rPr>
                  <a:t>We don’t know </a:t>
                </a:r>
                <a:r>
                  <a:rPr lang="en-US" i="1" dirty="0" smtClean="0">
                    <a:solidFill>
                      <a:schemeClr val="tx1"/>
                    </a:solidFill>
                    <a:latin typeface="Times New Roman" panose="02020603050405020304" pitchFamily="18" charset="0"/>
                    <a:cs typeface="Times New Roman" panose="02020603050405020304" pitchFamily="18" charset="0"/>
                  </a:rPr>
                  <a:t>C</a:t>
                </a:r>
                <a:r>
                  <a:rPr lang="en-US" dirty="0" smtClean="0">
                    <a:solidFill>
                      <a:schemeClr val="tx1"/>
                    </a:solidFill>
                    <a:latin typeface="Times New Roman" panose="02020603050405020304" pitchFamily="18" charset="0"/>
                    <a:cs typeface="Times New Roman" panose="02020603050405020304" pitchFamily="18" charset="0"/>
                  </a:rPr>
                  <a:t> , but it exists</a:t>
                </a:r>
                <a:endParaRPr 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304800" y="914401"/>
                <a:ext cx="8610600" cy="5333999"/>
              </a:xfrm>
              <a:blipFill rotWithShape="0">
                <a:blip r:embed="rId2"/>
                <a:stretch>
                  <a:fillRect l="-1769" t="-1600" r="-3751"/>
                </a:stretch>
              </a:blipFill>
            </p:spPr>
            <p:txBody>
              <a:bodyPr/>
              <a:lstStyle/>
              <a:p>
                <a:r>
                  <a:rPr lang="en-US">
                    <a:noFill/>
                  </a:rPr>
                  <a:t> </a:t>
                </a:r>
              </a:p>
            </p:txBody>
          </p:sp>
        </mc:Fallback>
      </mc:AlternateContent>
    </p:spTree>
    <p:extLst>
      <p:ext uri="{BB962C8B-B14F-4D97-AF65-F5344CB8AC3E}">
        <p14:creationId xmlns:p14="http://schemas.microsoft.com/office/powerpoint/2010/main" val="170862267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8763000" cy="914400"/>
          </a:xfrm>
        </p:spPr>
        <p:txBody>
          <a:bodyPr/>
          <a:lstStyle/>
          <a:p>
            <a:r>
              <a:rPr lang="en-US" dirty="0" smtClean="0">
                <a:solidFill>
                  <a:srgbClr val="002060"/>
                </a:solidFill>
                <a:latin typeface="Times New Roman" panose="02020603050405020304" pitchFamily="18" charset="0"/>
                <a:cs typeface="Times New Roman" panose="02020603050405020304" pitchFamily="18" charset="0"/>
              </a:rPr>
              <a:t/>
            </a:r>
            <a:br>
              <a:rPr lang="en-US" dirty="0" smtClean="0">
                <a:solidFill>
                  <a:srgbClr val="002060"/>
                </a:solidFill>
                <a:latin typeface="Times New Roman" panose="02020603050405020304" pitchFamily="18" charset="0"/>
                <a:cs typeface="Times New Roman" panose="02020603050405020304" pitchFamily="18" charset="0"/>
              </a:rPr>
            </a:br>
            <a:r>
              <a:rPr lang="en-US" dirty="0" smtClean="0">
                <a:solidFill>
                  <a:srgbClr val="002060"/>
                </a:solidFill>
                <a:latin typeface="Times New Roman" panose="02020603050405020304" pitchFamily="18" charset="0"/>
                <a:cs typeface="Times New Roman" panose="02020603050405020304" pitchFamily="18" charset="0"/>
              </a:rPr>
              <a:t>Inference  Theory for Predicate Calculus</a:t>
            </a:r>
            <a:br>
              <a:rPr lang="en-US" dirty="0" smtClean="0">
                <a:solidFill>
                  <a:srgbClr val="002060"/>
                </a:solidFill>
                <a:latin typeface="Times New Roman" panose="02020603050405020304" pitchFamily="18" charset="0"/>
                <a:cs typeface="Times New Roman" panose="02020603050405020304" pitchFamily="18" charset="0"/>
              </a:rPr>
            </a:br>
            <a:endParaRPr lang="en-US" dirty="0">
              <a:solidFill>
                <a:srgbClr val="00206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304800" y="914401"/>
                <a:ext cx="8458200" cy="5333999"/>
              </a:xfrm>
            </p:spPr>
            <p:txBody>
              <a:bodyPr/>
              <a:lstStyle/>
              <a:p>
                <a:pPr algn="l"/>
                <a:r>
                  <a:rPr lang="en-US" dirty="0" smtClean="0">
                    <a:solidFill>
                      <a:srgbClr val="FF0000"/>
                    </a:solidFill>
                    <a:latin typeface="Times New Roman" panose="02020603050405020304" pitchFamily="18" charset="0"/>
                    <a:cs typeface="Times New Roman" panose="02020603050405020304" pitchFamily="18" charset="0"/>
                  </a:rPr>
                  <a:t>Rule UG </a:t>
                </a:r>
              </a:p>
              <a:p>
                <a:pPr algn="l"/>
                <a:r>
                  <a:rPr lang="en-US" dirty="0" smtClean="0">
                    <a:solidFill>
                      <a:srgbClr val="FF0000"/>
                    </a:solidFill>
                    <a:latin typeface="Times New Roman" panose="02020603050405020304" pitchFamily="18" charset="0"/>
                    <a:cs typeface="Times New Roman" panose="02020603050405020304" pitchFamily="18" charset="0"/>
                  </a:rPr>
                  <a:t>Universal Generalization</a:t>
                </a:r>
              </a:p>
              <a:p>
                <a:pPr algn="l"/>
                <a14:m>
                  <m:oMath xmlns:m="http://schemas.openxmlformats.org/officeDocument/2006/math">
                    <m:r>
                      <a:rPr lang="en-US"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𝑥𝑃</m:t>
                    </m:r>
                    <m:r>
                      <a:rPr lang="en-US"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US"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𝑥</m:t>
                    </m:r>
                    <m:r>
                      <a:rPr lang="en-US"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US" b="0" i="1" dirty="0" smtClean="0">
                    <a:solidFill>
                      <a:schemeClr val="tx1"/>
                    </a:solidFill>
                    <a:latin typeface="Cambria Math" panose="02040503050406030204" pitchFamily="18" charset="0"/>
                    <a:cs typeface="Times New Roman" panose="02020603050405020304" pitchFamily="18" charset="0"/>
                  </a:rPr>
                  <a:t> </a:t>
                </a:r>
                <a:r>
                  <a:rPr lang="en-US" b="0" dirty="0" smtClean="0">
                    <a:solidFill>
                      <a:schemeClr val="tx1"/>
                    </a:solidFill>
                    <a:latin typeface="Times New Roman" panose="02020603050405020304" pitchFamily="18" charset="0"/>
                    <a:cs typeface="Times New Roman" panose="02020603050405020304" pitchFamily="18" charset="0"/>
                  </a:rPr>
                  <a:t>is true if </a:t>
                </a:r>
                <a14:m>
                  <m:oMath xmlns:m="http://schemas.openxmlformats.org/officeDocument/2006/math">
                    <m:r>
                      <a:rPr lang="en-US" i="1">
                        <a:solidFill>
                          <a:schemeClr val="tx1"/>
                        </a:solidFill>
                        <a:latin typeface="Cambria Math" panose="02040503050406030204" pitchFamily="18" charset="0"/>
                        <a:cs typeface="Times New Roman" panose="02020603050405020304" pitchFamily="18" charset="0"/>
                      </a:rPr>
                      <m:t>𝑃</m:t>
                    </m:r>
                    <m:d>
                      <m:dPr>
                        <m:ctrlPr>
                          <a:rPr lang="en-US" i="1">
                            <a:solidFill>
                              <a:schemeClr val="tx1"/>
                            </a:solidFill>
                            <a:latin typeface="Cambria Math" panose="02040503050406030204" pitchFamily="18" charset="0"/>
                            <a:cs typeface="Times New Roman" panose="02020603050405020304" pitchFamily="18" charset="0"/>
                          </a:rPr>
                        </m:ctrlPr>
                      </m:dPr>
                      <m:e>
                        <m:r>
                          <a:rPr lang="en-US" i="1">
                            <a:solidFill>
                              <a:schemeClr val="tx1"/>
                            </a:solidFill>
                            <a:latin typeface="Cambria Math" panose="02040503050406030204" pitchFamily="18" charset="0"/>
                            <a:cs typeface="Times New Roman" panose="02020603050405020304" pitchFamily="18" charset="0"/>
                          </a:rPr>
                          <m:t>𝐶</m:t>
                        </m:r>
                      </m:e>
                    </m:d>
                  </m:oMath>
                </a14:m>
                <a:r>
                  <a:rPr lang="en-US" b="0" dirty="0" smtClean="0">
                    <a:solidFill>
                      <a:schemeClr val="tx1"/>
                    </a:solidFill>
                    <a:latin typeface="Times New Roman" panose="02020603050405020304" pitchFamily="18" charset="0"/>
                    <a:cs typeface="Times New Roman" panose="02020603050405020304" pitchFamily="18" charset="0"/>
                  </a:rPr>
                  <a:t> is true for an  arbitrary element </a:t>
                </a:r>
                <a:r>
                  <a:rPr lang="en-US" b="0" i="1" dirty="0" smtClean="0">
                    <a:solidFill>
                      <a:schemeClr val="tx1"/>
                    </a:solidFill>
                    <a:latin typeface="Times New Roman" panose="02020603050405020304" pitchFamily="18" charset="0"/>
                    <a:cs typeface="Times New Roman" panose="02020603050405020304" pitchFamily="18" charset="0"/>
                  </a:rPr>
                  <a:t>C</a:t>
                </a:r>
                <a:r>
                  <a:rPr lang="en-US" b="0" dirty="0" smtClean="0">
                    <a:solidFill>
                      <a:schemeClr val="tx1"/>
                    </a:solidFill>
                    <a:latin typeface="Times New Roman" panose="02020603050405020304" pitchFamily="18" charset="0"/>
                    <a:cs typeface="Times New Roman" panose="02020603050405020304" pitchFamily="18" charset="0"/>
                  </a:rPr>
                  <a:t> of the universe if </a:t>
                </a:r>
                <a:r>
                  <a:rPr lang="en-US" dirty="0">
                    <a:solidFill>
                      <a:schemeClr val="tx1"/>
                    </a:solidFill>
                    <a:latin typeface="Times New Roman" panose="02020603050405020304" pitchFamily="18" charset="0"/>
                    <a:cs typeface="Times New Roman" panose="02020603050405020304" pitchFamily="18" charset="0"/>
                  </a:rPr>
                  <a:t>d</a:t>
                </a:r>
                <a:r>
                  <a:rPr lang="en-US" b="0" dirty="0" smtClean="0">
                    <a:solidFill>
                      <a:schemeClr val="tx1"/>
                    </a:solidFill>
                    <a:latin typeface="Times New Roman" panose="02020603050405020304" pitchFamily="18" charset="0"/>
                    <a:cs typeface="Times New Roman" panose="02020603050405020304" pitchFamily="18" charset="0"/>
                  </a:rPr>
                  <a:t>iscourse</a:t>
                </a:r>
                <a:endParaRPr lang="en-US" b="0" i="1" dirty="0" smtClean="0">
                  <a:solidFill>
                    <a:schemeClr val="tx1"/>
                  </a:solidFill>
                  <a:latin typeface="Cambria Math" panose="02040503050406030204" pitchFamily="18" charset="0"/>
                  <a:cs typeface="Times New Roman" panose="02020603050405020304" pitchFamily="18" charset="0"/>
                </a:endParaRPr>
              </a:p>
              <a:p>
                <a:pPr algn="l"/>
                <a:r>
                  <a:rPr lang="en-US" dirty="0">
                    <a:solidFill>
                      <a:srgbClr val="FF0000"/>
                    </a:solidFill>
                    <a:latin typeface="Times New Roman" panose="02020603050405020304" pitchFamily="18" charset="0"/>
                    <a:cs typeface="Times New Roman" panose="02020603050405020304" pitchFamily="18" charset="0"/>
                  </a:rPr>
                  <a:t>Rule </a:t>
                </a:r>
                <a:r>
                  <a:rPr lang="en-US" dirty="0" smtClean="0">
                    <a:solidFill>
                      <a:srgbClr val="FF0000"/>
                    </a:solidFill>
                    <a:latin typeface="Times New Roman" panose="02020603050405020304" pitchFamily="18" charset="0"/>
                    <a:cs typeface="Times New Roman" panose="02020603050405020304" pitchFamily="18" charset="0"/>
                  </a:rPr>
                  <a:t>EG </a:t>
                </a:r>
                <a:endParaRPr lang="en-US" dirty="0">
                  <a:solidFill>
                    <a:srgbClr val="FF0000"/>
                  </a:solidFill>
                  <a:latin typeface="Times New Roman" panose="02020603050405020304" pitchFamily="18" charset="0"/>
                  <a:cs typeface="Times New Roman" panose="02020603050405020304" pitchFamily="18" charset="0"/>
                </a:endParaRPr>
              </a:p>
              <a:p>
                <a:pPr algn="l"/>
                <a:r>
                  <a:rPr lang="en-US" dirty="0" smtClean="0">
                    <a:solidFill>
                      <a:srgbClr val="FF0000"/>
                    </a:solidFill>
                    <a:latin typeface="Times New Roman" panose="02020603050405020304" pitchFamily="18" charset="0"/>
                    <a:cs typeface="Times New Roman" panose="02020603050405020304" pitchFamily="18" charset="0"/>
                  </a:rPr>
                  <a:t>Existential Generalization</a:t>
                </a:r>
              </a:p>
              <a:p>
                <a:pPr algn="l"/>
                <a:r>
                  <a:rPr lang="en-US" dirty="0" smtClean="0">
                    <a:solidFill>
                      <a:schemeClr val="tx1"/>
                    </a:solidFill>
                    <a:latin typeface="Times New Roman" panose="02020603050405020304" pitchFamily="18" charset="0"/>
                    <a:cs typeface="Times New Roman" panose="02020603050405020304" pitchFamily="18" charset="0"/>
                  </a:rPr>
                  <a:t>for a particular element </a:t>
                </a:r>
                <a:r>
                  <a:rPr lang="en-US" i="1" dirty="0" smtClean="0">
                    <a:solidFill>
                      <a:schemeClr val="tx1"/>
                    </a:solidFill>
                    <a:latin typeface="Times New Roman" panose="02020603050405020304" pitchFamily="18" charset="0"/>
                    <a:cs typeface="Times New Roman" panose="02020603050405020304" pitchFamily="18" charset="0"/>
                  </a:rPr>
                  <a:t>C</a:t>
                </a:r>
                <a:r>
                  <a:rPr lang="en-US" dirty="0" smtClean="0">
                    <a:solidFill>
                      <a:schemeClr val="tx1"/>
                    </a:solidFill>
                    <a:latin typeface="Times New Roman" panose="02020603050405020304" pitchFamily="18" charset="0"/>
                    <a:cs typeface="Times New Roman" panose="02020603050405020304" pitchFamily="18" charset="0"/>
                  </a:rPr>
                  <a:t>  of the universe of discourse if </a:t>
                </a:r>
                <a14:m>
                  <m:oMath xmlns:m="http://schemas.openxmlformats.org/officeDocument/2006/math">
                    <m:r>
                      <a:rPr lang="en-US" i="1">
                        <a:solidFill>
                          <a:schemeClr val="tx1"/>
                        </a:solidFill>
                        <a:latin typeface="Cambria Math" panose="02040503050406030204" pitchFamily="18" charset="0"/>
                        <a:cs typeface="Times New Roman" panose="02020603050405020304" pitchFamily="18" charset="0"/>
                      </a:rPr>
                      <m:t>𝑃</m:t>
                    </m:r>
                    <m:d>
                      <m:dPr>
                        <m:ctrlPr>
                          <a:rPr lang="en-US" i="1">
                            <a:solidFill>
                              <a:schemeClr val="tx1"/>
                            </a:solidFill>
                            <a:latin typeface="Cambria Math" panose="02040503050406030204" pitchFamily="18" charset="0"/>
                            <a:cs typeface="Times New Roman" panose="02020603050405020304" pitchFamily="18" charset="0"/>
                          </a:rPr>
                        </m:ctrlPr>
                      </m:dPr>
                      <m:e>
                        <m:r>
                          <a:rPr lang="en-US" i="1">
                            <a:solidFill>
                              <a:schemeClr val="tx1"/>
                            </a:solidFill>
                            <a:latin typeface="Cambria Math" panose="02040503050406030204" pitchFamily="18" charset="0"/>
                            <a:cs typeface="Times New Roman" panose="02020603050405020304" pitchFamily="18" charset="0"/>
                          </a:rPr>
                          <m:t>𝐶</m:t>
                        </m:r>
                      </m:e>
                    </m:d>
                  </m:oMath>
                </a14:m>
                <a:r>
                  <a:rPr lang="en-US" dirty="0" smtClean="0">
                    <a:solidFill>
                      <a:schemeClr val="tx1"/>
                    </a:solidFill>
                    <a:latin typeface="Times New Roman" panose="02020603050405020304" pitchFamily="18" charset="0"/>
                    <a:cs typeface="Times New Roman" panose="02020603050405020304" pitchFamily="18" charset="0"/>
                  </a:rPr>
                  <a:t> is true then </a:t>
                </a:r>
                <a14:m>
                  <m:oMath xmlns:m="http://schemas.openxmlformats.org/officeDocument/2006/math">
                    <m:r>
                      <a:rPr lang="en-US"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𝑥𝑃</m:t>
                    </m:r>
                    <m:d>
                      <m:dPr>
                        <m:ctrlPr>
                          <a:rPr lang="en-US"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𝑥</m:t>
                        </m:r>
                      </m:e>
                    </m:d>
                  </m:oMath>
                </a14:m>
                <a:r>
                  <a:rPr lang="en-US" dirty="0" smtClean="0">
                    <a:solidFill>
                      <a:schemeClr val="tx1"/>
                    </a:solidFill>
                    <a:latin typeface="Times New Roman" panose="02020603050405020304" pitchFamily="18" charset="0"/>
                    <a:cs typeface="Times New Roman" panose="02020603050405020304" pitchFamily="18" charset="0"/>
                  </a:rPr>
                  <a:t> is true</a:t>
                </a:r>
              </a:p>
              <a:p>
                <a:pPr algn="l"/>
                <a:endParaRPr lang="en-US" dirty="0" smtClean="0">
                  <a:solidFill>
                    <a:srgbClr val="FF0000"/>
                  </a:solidFill>
                  <a:latin typeface="Times New Roman" panose="02020603050405020304" pitchFamily="18" charset="0"/>
                  <a:cs typeface="Times New Roman" panose="02020603050405020304" pitchFamily="18" charset="0"/>
                </a:endParaRPr>
              </a:p>
              <a:p>
                <a:pPr algn="l"/>
                <a:endParaRPr lang="en-US"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304800" y="914401"/>
                <a:ext cx="8458200" cy="5333999"/>
              </a:xfrm>
              <a:blipFill rotWithShape="0">
                <a:blip r:embed="rId2"/>
                <a:stretch>
                  <a:fillRect l="-1801" t="-1600"/>
                </a:stretch>
              </a:blipFill>
            </p:spPr>
            <p:txBody>
              <a:bodyPr/>
              <a:lstStyle/>
              <a:p>
                <a:r>
                  <a:rPr lang="en-US">
                    <a:noFill/>
                  </a:rPr>
                  <a:t> </a:t>
                </a:r>
              </a:p>
            </p:txBody>
          </p:sp>
        </mc:Fallback>
      </mc:AlternateContent>
    </p:spTree>
    <p:extLst>
      <p:ext uri="{BB962C8B-B14F-4D97-AF65-F5344CB8AC3E}">
        <p14:creationId xmlns:p14="http://schemas.microsoft.com/office/powerpoint/2010/main" val="217182523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1"/>
            <a:ext cx="8763000" cy="609599"/>
          </a:xfrm>
        </p:spPr>
        <p:txBody>
          <a:bodyPr/>
          <a:lstStyle/>
          <a:p>
            <a:r>
              <a:rPr lang="en-US" dirty="0" smtClean="0">
                <a:solidFill>
                  <a:srgbClr val="002060"/>
                </a:solidFill>
                <a:latin typeface="Times New Roman" panose="02020603050405020304" pitchFamily="18" charset="0"/>
                <a:cs typeface="Times New Roman" panose="02020603050405020304" pitchFamily="18" charset="0"/>
              </a:rPr>
              <a:t/>
            </a:r>
            <a:br>
              <a:rPr lang="en-US" dirty="0" smtClean="0">
                <a:solidFill>
                  <a:srgbClr val="002060"/>
                </a:solidFill>
                <a:latin typeface="Times New Roman" panose="02020603050405020304" pitchFamily="18" charset="0"/>
                <a:cs typeface="Times New Roman" panose="02020603050405020304" pitchFamily="18" charset="0"/>
              </a:rPr>
            </a:br>
            <a:r>
              <a:rPr lang="en-US" dirty="0" smtClean="0">
                <a:solidFill>
                  <a:srgbClr val="002060"/>
                </a:solidFill>
                <a:latin typeface="Times New Roman" panose="02020603050405020304" pitchFamily="18" charset="0"/>
                <a:cs typeface="Times New Roman" panose="02020603050405020304" pitchFamily="18" charset="0"/>
              </a:rPr>
              <a:t>Summarize</a:t>
            </a:r>
            <a:br>
              <a:rPr lang="en-US" dirty="0" smtClean="0">
                <a:solidFill>
                  <a:srgbClr val="002060"/>
                </a:solidFill>
                <a:latin typeface="Times New Roman" panose="02020603050405020304" pitchFamily="18" charset="0"/>
                <a:cs typeface="Times New Roman" panose="02020603050405020304" pitchFamily="18" charset="0"/>
              </a:rPr>
            </a:br>
            <a:endParaRPr lang="en-US" dirty="0">
              <a:solidFill>
                <a:srgbClr val="002060"/>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304800" y="914401"/>
            <a:ext cx="8458200" cy="5333999"/>
          </a:xfrm>
        </p:spPr>
        <p:txBody>
          <a:bodyPr/>
          <a:lstStyle/>
          <a:p>
            <a:pPr algn="l"/>
            <a:endParaRPr lang="en-US" dirty="0" smtClean="0">
              <a:solidFill>
                <a:srgbClr val="FF0000"/>
              </a:solidFill>
              <a:latin typeface="Times New Roman" panose="02020603050405020304" pitchFamily="18" charset="0"/>
              <a:cs typeface="Times New Roman" panose="02020603050405020304" pitchFamily="18" charset="0"/>
            </a:endParaRPr>
          </a:p>
          <a:p>
            <a:pPr algn="l"/>
            <a:endParaRPr lang="en-US"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2854321926"/>
                  </p:ext>
                </p:extLst>
              </p:nvPr>
            </p:nvGraphicFramePr>
            <p:xfrm>
              <a:off x="2133599" y="914401"/>
              <a:ext cx="5181600" cy="4453738"/>
            </p:xfrm>
            <a:graphic>
              <a:graphicData uri="http://schemas.openxmlformats.org/drawingml/2006/table">
                <a:tbl>
                  <a:tblPr firstRow="1" bandRow="1">
                    <a:tableStyleId>{073A0DAA-6AF3-43AB-8588-CEC1D06C72B9}</a:tableStyleId>
                  </a:tblPr>
                  <a:tblGrid>
                    <a:gridCol w="914401"/>
                    <a:gridCol w="1143000"/>
                    <a:gridCol w="3124199"/>
                  </a:tblGrid>
                  <a:tr h="1144339">
                    <a:tc>
                      <a:txBody>
                        <a:bodyPr/>
                        <a:lstStyle/>
                        <a:p>
                          <a:r>
                            <a:rPr lang="en-US" dirty="0" err="1" smtClean="0"/>
                            <a:t>S.No</a:t>
                          </a:r>
                          <a:endParaRPr lang="en-US" dirty="0"/>
                        </a:p>
                      </a:txBody>
                      <a:tcPr/>
                    </a:tc>
                    <a:tc>
                      <a:txBody>
                        <a:bodyPr/>
                        <a:lstStyle/>
                        <a:p>
                          <a:r>
                            <a:rPr lang="en-US" dirty="0" smtClean="0"/>
                            <a:t>Rule</a:t>
                          </a:r>
                          <a:endParaRPr lang="en-US" dirty="0"/>
                        </a:p>
                      </a:txBody>
                      <a:tcPr/>
                    </a:tc>
                    <a:tc>
                      <a:txBody>
                        <a:bodyPr/>
                        <a:lstStyle/>
                        <a:p>
                          <a:r>
                            <a:rPr lang="en-US" dirty="0" smtClean="0"/>
                            <a:t>Inference</a:t>
                          </a:r>
                          <a:endParaRPr lang="en-US" dirty="0"/>
                        </a:p>
                      </a:txBody>
                      <a:tcPr/>
                    </a:tc>
                  </a:tr>
                  <a:tr h="699259">
                    <a:tc>
                      <a:txBody>
                        <a:bodyPr/>
                        <a:lstStyle/>
                        <a:p>
                          <a:r>
                            <a:rPr lang="en-US" dirty="0" smtClean="0"/>
                            <a:t>1</a:t>
                          </a:r>
                          <a:endParaRPr lang="en-US" dirty="0"/>
                        </a:p>
                      </a:txBody>
                      <a:tcPr/>
                    </a:tc>
                    <a:tc>
                      <a:txBody>
                        <a:bodyPr/>
                        <a:lstStyle/>
                        <a:p>
                          <a:r>
                            <a:rPr lang="en-US" dirty="0" smtClean="0"/>
                            <a:t>US</a:t>
                          </a:r>
                          <a:endParaRPr lang="en-US" dirty="0"/>
                        </a:p>
                      </a:txBody>
                      <a:tcPr/>
                    </a:tc>
                    <a:tc>
                      <a:txBody>
                        <a:bodyPr/>
                        <a:lstStyle/>
                        <a:p>
                          <a:pPr/>
                          <a14:m>
                            <m:oMathPara xmlns:m="http://schemas.openxmlformats.org/officeDocument/2006/math">
                              <m:oMathParaPr>
                                <m:jc m:val="left"/>
                              </m:oMathParaPr>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e>
                                </m:d>
                              </m:oMath>
                            </m:oMathPara>
                          </a14:m>
                          <a:endParaRPr lang="en-US" b="0" dirty="0" smtClean="0">
                            <a:ea typeface="Cambria Math" panose="02040503050406030204" pitchFamily="18" charset="0"/>
                          </a:endParaRPr>
                        </a:p>
                        <a:p>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𝐶</m:t>
                                  </m:r>
                                </m:e>
                              </m:d>
                              <m:r>
                                <a:rPr lang="en-US" b="0" i="1" smtClean="0">
                                  <a:latin typeface="Cambria Math" panose="02040503050406030204" pitchFamily="18" charset="0"/>
                                  <a:ea typeface="Cambria Math" panose="02040503050406030204" pitchFamily="18" charset="0"/>
                                </a:rPr>
                                <m:t> </m:t>
                              </m:r>
                            </m:oMath>
                          </a14:m>
                          <a:r>
                            <a:rPr lang="en-US" dirty="0" smtClean="0"/>
                            <a:t> </a:t>
                          </a:r>
                          <a:r>
                            <a:rPr lang="en-US" dirty="0" smtClean="0">
                              <a:latin typeface="Times New Roman" panose="02020603050405020304" pitchFamily="18" charset="0"/>
                              <a:cs typeface="Times New Roman" panose="02020603050405020304" pitchFamily="18" charset="0"/>
                            </a:rPr>
                            <a:t>for</a:t>
                          </a:r>
                          <a:r>
                            <a:rPr lang="en-US" baseline="0" dirty="0" smtClean="0">
                              <a:latin typeface="Times New Roman" panose="02020603050405020304" pitchFamily="18" charset="0"/>
                              <a:cs typeface="Times New Roman" panose="02020603050405020304" pitchFamily="18" charset="0"/>
                            </a:rPr>
                            <a:t> some </a:t>
                          </a:r>
                          <a:r>
                            <a:rPr lang="en-US" i="1" baseline="0" dirty="0" smtClean="0">
                              <a:latin typeface="Times New Roman" panose="02020603050405020304" pitchFamily="18" charset="0"/>
                              <a:cs typeface="Times New Roman" panose="02020603050405020304" pitchFamily="18" charset="0"/>
                            </a:rPr>
                            <a:t>C</a:t>
                          </a:r>
                          <a:endParaRPr lang="en-US" i="1" dirty="0">
                            <a:latin typeface="Times New Roman" panose="02020603050405020304" pitchFamily="18" charset="0"/>
                            <a:cs typeface="Times New Roman" panose="02020603050405020304" pitchFamily="18" charset="0"/>
                          </a:endParaRPr>
                        </a:p>
                      </a:txBody>
                      <a:tcPr/>
                    </a:tc>
                  </a:tr>
                  <a:tr h="880261">
                    <a:tc>
                      <a:txBody>
                        <a:bodyPr/>
                        <a:lstStyle/>
                        <a:p>
                          <a:r>
                            <a:rPr lang="en-US" dirty="0" smtClean="0"/>
                            <a:t>2</a:t>
                          </a:r>
                          <a:endParaRPr lang="en-US" dirty="0"/>
                        </a:p>
                      </a:txBody>
                      <a:tcPr/>
                    </a:tc>
                    <a:tc>
                      <a:txBody>
                        <a:bodyPr/>
                        <a:lstStyle/>
                        <a:p>
                          <a:r>
                            <a:rPr lang="en-US" dirty="0" smtClean="0"/>
                            <a:t>ES</a:t>
                          </a:r>
                          <a:endParaRPr lang="en-US" dirty="0"/>
                        </a:p>
                      </a:txBody>
                      <a:tcPr/>
                    </a:tc>
                    <a:tc>
                      <a:txBody>
                        <a:bodyPr/>
                        <a:lstStyle/>
                        <a:p>
                          <a14:m>
                            <m:oMath xmlns:m="http://schemas.openxmlformats.org/officeDocument/2006/math">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e>
                              </m:d>
                            </m:oMath>
                          </a14:m>
                          <a:r>
                            <a:rPr lang="en-US" dirty="0" smtClean="0"/>
                            <a:t> </a:t>
                          </a:r>
                          <a:r>
                            <a:rPr lang="en-US" dirty="0" smtClean="0">
                              <a:latin typeface="Times New Roman" panose="02020603050405020304" pitchFamily="18" charset="0"/>
                              <a:cs typeface="Times New Roman" panose="02020603050405020304" pitchFamily="18" charset="0"/>
                            </a:rPr>
                            <a:t>for a  particular </a:t>
                          </a:r>
                          <a:r>
                            <a:rPr lang="en-US" i="1" dirty="0" smtClean="0">
                              <a:latin typeface="Times New Roman" panose="02020603050405020304" pitchFamily="18" charset="0"/>
                              <a:cs typeface="Times New Roman" panose="02020603050405020304" pitchFamily="18" charset="0"/>
                            </a:rPr>
                            <a:t>C </a:t>
                          </a:r>
                          <a:endParaRPr lang="en-US" i="1" dirty="0" smtClean="0">
                            <a:latin typeface="Cambria Math" panose="02040503050406030204" pitchFamily="18" charset="0"/>
                            <a:ea typeface="Cambria Math" panose="02040503050406030204" pitchFamily="18" charset="0"/>
                            <a:cs typeface="Times New Roman" panose="02020603050405020304" pitchFamily="18" charset="0"/>
                          </a:endParaRPr>
                        </a:p>
                        <a:p>
                          <a:pPr/>
                          <a14:m>
                            <m:oMathPara xmlns:m="http://schemas.openxmlformats.org/officeDocument/2006/math">
                              <m:oMathParaPr>
                                <m:jc m:val="left"/>
                              </m:oMathParaPr>
                              <m:oMath xmlns:m="http://schemas.openxmlformats.org/officeDocument/2006/math">
                                <m:r>
                                  <a:rPr lang="en-US" i="1" smtClean="0">
                                    <a:latin typeface="Cambria Math" panose="02040503050406030204" pitchFamily="18" charset="0"/>
                                    <a:ea typeface="Cambria Math" panose="02040503050406030204" pitchFamily="18" charset="0"/>
                                    <a:cs typeface="Times New Roman" panose="02020603050405020304" pitchFamily="18" charset="0"/>
                                  </a:rPr>
                                  <m:t>∴</m:t>
                                </m:r>
                                <m:r>
                                  <a:rPr lang="en-US" b="0" i="1" smtClean="0">
                                    <a:latin typeface="Cambria Math" panose="02040503050406030204" pitchFamily="18" charset="0"/>
                                    <a:ea typeface="Cambria Math" panose="02040503050406030204" pitchFamily="18" charset="0"/>
                                    <a:cs typeface="Times New Roman" panose="02020603050405020304" pitchFamily="18" charset="0"/>
                                  </a:rPr>
                                  <m:t>𝑃</m:t>
                                </m:r>
                                <m:r>
                                  <a:rPr lang="en-US" b="0" i="1" smtClean="0">
                                    <a:latin typeface="Cambria Math" panose="02040503050406030204" pitchFamily="18" charset="0"/>
                                    <a:ea typeface="Cambria Math" panose="02040503050406030204" pitchFamily="18" charset="0"/>
                                    <a:cs typeface="Times New Roman" panose="02020603050405020304" pitchFamily="18" charset="0"/>
                                  </a:rPr>
                                  <m:t>(</m:t>
                                </m:r>
                                <m:r>
                                  <a:rPr lang="en-US" b="0" i="1" smtClean="0">
                                    <a:latin typeface="Cambria Math" panose="02040503050406030204" pitchFamily="18" charset="0"/>
                                    <a:ea typeface="Cambria Math" panose="02040503050406030204" pitchFamily="18" charset="0"/>
                                    <a:cs typeface="Times New Roman" panose="02020603050405020304" pitchFamily="18" charset="0"/>
                                  </a:rPr>
                                  <m:t>𝐶</m:t>
                                </m:r>
                                <m:r>
                                  <a:rPr lang="en-US" b="0" i="1" smtClean="0">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US" i="1" dirty="0">
                            <a:latin typeface="Times New Roman" panose="02020603050405020304" pitchFamily="18" charset="0"/>
                            <a:cs typeface="Times New Roman" panose="02020603050405020304" pitchFamily="18" charset="0"/>
                          </a:endParaRPr>
                        </a:p>
                      </a:txBody>
                      <a:tcPr/>
                    </a:tc>
                  </a:tr>
                  <a:tr h="815479">
                    <a:tc>
                      <a:txBody>
                        <a:bodyPr/>
                        <a:lstStyle/>
                        <a:p>
                          <a:r>
                            <a:rPr lang="en-US" dirty="0" smtClean="0"/>
                            <a:t>3</a:t>
                          </a:r>
                          <a:endParaRPr lang="en-US" dirty="0"/>
                        </a:p>
                      </a:txBody>
                      <a:tcPr/>
                    </a:tc>
                    <a:tc>
                      <a:txBody>
                        <a:bodyPr/>
                        <a:lstStyle/>
                        <a:p>
                          <a:r>
                            <a:rPr lang="en-US" dirty="0" smtClean="0"/>
                            <a:t>UG</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b="0" i="1" smtClean="0">
                                  <a:latin typeface="Cambria Math" panose="02040503050406030204" pitchFamily="18" charset="0"/>
                                  <a:ea typeface="Cambria Math" panose="02040503050406030204" pitchFamily="18" charset="0"/>
                                  <a:cs typeface="Times New Roman" panose="02020603050405020304" pitchFamily="18" charset="0"/>
                                </a:rPr>
                                <m:t>𝑃</m:t>
                              </m:r>
                              <m:d>
                                <m:dPr>
                                  <m:ctrlPr>
                                    <a:rPr lang="en-US"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b="0" i="1" smtClean="0">
                                      <a:latin typeface="Cambria Math" panose="02040503050406030204" pitchFamily="18" charset="0"/>
                                      <a:ea typeface="Cambria Math" panose="02040503050406030204" pitchFamily="18" charset="0"/>
                                      <a:cs typeface="Times New Roman" panose="02020603050405020304" pitchFamily="18" charset="0"/>
                                    </a:rPr>
                                    <m:t>𝐶</m:t>
                                  </m:r>
                                </m:e>
                              </m:d>
                            </m:oMath>
                          </a14:m>
                          <a:r>
                            <a:rPr lang="en-US" i="1" dirty="0" smtClean="0">
                              <a:latin typeface="Times New Roman" panose="02020603050405020304" pitchFamily="18" charset="0"/>
                              <a:cs typeface="Times New Roman" panose="02020603050405020304" pitchFamily="18" charset="0"/>
                            </a:rPr>
                            <a:t> </a:t>
                          </a:r>
                          <a:r>
                            <a:rPr lang="en-US" i="0" dirty="0" smtClean="0">
                              <a:latin typeface="Times New Roman" panose="02020603050405020304" pitchFamily="18" charset="0"/>
                              <a:cs typeface="Times New Roman" panose="02020603050405020304" pitchFamily="18" charset="0"/>
                            </a:rPr>
                            <a:t>for an arbitrary </a:t>
                          </a:r>
                          <a:r>
                            <a:rPr lang="en-US" i="1" dirty="0" smtClean="0">
                              <a:latin typeface="Times New Roman" panose="02020603050405020304" pitchFamily="18" charset="0"/>
                              <a:cs typeface="Times New Roman" panose="02020603050405020304" pitchFamily="18" charset="0"/>
                            </a:rPr>
                            <a:t>C</a:t>
                          </a:r>
                          <a:endParaRPr lang="en-US" i="1"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left"/>
                              </m:oMathParaPr>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e>
                                </m:d>
                              </m:oMath>
                            </m:oMathPara>
                          </a14:m>
                          <a:endParaRPr lang="en-US" dirty="0"/>
                        </a:p>
                      </a:txBody>
                      <a:tcPr/>
                    </a:tc>
                  </a:tr>
                  <a:tr h="880261">
                    <a:tc>
                      <a:txBody>
                        <a:bodyPr/>
                        <a:lstStyle/>
                        <a:p>
                          <a:r>
                            <a:rPr lang="en-US" dirty="0" smtClean="0"/>
                            <a:t>4</a:t>
                          </a:r>
                          <a:endParaRPr lang="en-US" dirty="0"/>
                        </a:p>
                      </a:txBody>
                      <a:tcPr/>
                    </a:tc>
                    <a:tc>
                      <a:txBody>
                        <a:bodyPr/>
                        <a:lstStyle/>
                        <a:p>
                          <a:r>
                            <a:rPr lang="en-US" dirty="0" smtClean="0"/>
                            <a:t>EG</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b="0" i="1" smtClean="0">
                                  <a:latin typeface="Cambria Math" panose="02040503050406030204" pitchFamily="18" charset="0"/>
                                  <a:ea typeface="Cambria Math" panose="02040503050406030204" pitchFamily="18" charset="0"/>
                                  <a:cs typeface="Times New Roman" panose="02020603050405020304" pitchFamily="18" charset="0"/>
                                </a:rPr>
                                <m:t>𝑃</m:t>
                              </m:r>
                              <m:d>
                                <m:dPr>
                                  <m:ctrlPr>
                                    <a:rPr lang="en-US"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b="0" i="1" smtClean="0">
                                      <a:latin typeface="Cambria Math" panose="02040503050406030204" pitchFamily="18" charset="0"/>
                                      <a:ea typeface="Cambria Math" panose="02040503050406030204" pitchFamily="18" charset="0"/>
                                      <a:cs typeface="Times New Roman" panose="02020603050405020304" pitchFamily="18" charset="0"/>
                                    </a:rPr>
                                    <m:t>𝐶</m:t>
                                  </m:r>
                                </m:e>
                              </m:d>
                            </m:oMath>
                          </a14:m>
                          <a:r>
                            <a:rPr lang="en-US" i="1" dirty="0" smtClean="0">
                              <a:latin typeface="Times New Roman" panose="02020603050405020304" pitchFamily="18" charset="0"/>
                              <a:cs typeface="Times New Roman" panose="02020603050405020304" pitchFamily="18" charset="0"/>
                            </a:rPr>
                            <a:t> </a:t>
                          </a:r>
                          <a:r>
                            <a:rPr lang="en-US" i="0" dirty="0" smtClean="0">
                              <a:latin typeface="Times New Roman" panose="02020603050405020304" pitchFamily="18" charset="0"/>
                              <a:cs typeface="Times New Roman" panose="02020603050405020304" pitchFamily="18" charset="0"/>
                            </a:rPr>
                            <a:t>for an some </a:t>
                          </a:r>
                          <a:r>
                            <a:rPr lang="en-US" i="1" dirty="0" smtClean="0">
                              <a:latin typeface="Times New Roman" panose="02020603050405020304" pitchFamily="18" charset="0"/>
                              <a:cs typeface="Times New Roman" panose="02020603050405020304" pitchFamily="18" charset="0"/>
                            </a:rPr>
                            <a:t>C</a:t>
                          </a:r>
                        </a:p>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i="0"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xP</m:t>
                                </m:r>
                                <m:d>
                                  <m:dPr>
                                    <m:ctrlPr>
                                      <a:rPr lang="en-US" b="0" i="1" smtClean="0">
                                        <a:latin typeface="Cambria Math" panose="02040503050406030204" pitchFamily="18" charset="0"/>
                                        <a:ea typeface="Cambria Math" panose="02040503050406030204" pitchFamily="18" charset="0"/>
                                      </a:rPr>
                                    </m:ctrlPr>
                                  </m:dPr>
                                  <m:e>
                                    <m:r>
                                      <m:rPr>
                                        <m:sty m:val="p"/>
                                      </m:rPr>
                                      <a:rPr lang="en-US" b="0" i="0" smtClean="0">
                                        <a:latin typeface="Cambria Math" panose="02040503050406030204" pitchFamily="18" charset="0"/>
                                        <a:ea typeface="Cambria Math" panose="02040503050406030204" pitchFamily="18" charset="0"/>
                                      </a:rPr>
                                      <m:t>x</m:t>
                                    </m:r>
                                  </m:e>
                                </m:d>
                              </m:oMath>
                            </m:oMathPara>
                          </a14:m>
                          <a:endParaRPr lang="en-US" i="0" dirty="0">
                            <a:latin typeface="Times New Roman" panose="02020603050405020304" pitchFamily="18" charset="0"/>
                            <a:cs typeface="Times New Roman" panose="02020603050405020304" pitchFamily="18" charset="0"/>
                          </a:endParaRPr>
                        </a:p>
                        <a:p>
                          <a:endParaRPr lang="en-US" dirty="0"/>
                        </a:p>
                      </a:txBody>
                      <a:tcPr/>
                    </a:tc>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2854321926"/>
                  </p:ext>
                </p:extLst>
              </p:nvPr>
            </p:nvGraphicFramePr>
            <p:xfrm>
              <a:off x="2133599" y="914401"/>
              <a:ext cx="5181600" cy="4453738"/>
            </p:xfrm>
            <a:graphic>
              <a:graphicData uri="http://schemas.openxmlformats.org/drawingml/2006/table">
                <a:tbl>
                  <a:tblPr firstRow="1" bandRow="1">
                    <a:tableStyleId>{073A0DAA-6AF3-43AB-8588-CEC1D06C72B9}</a:tableStyleId>
                  </a:tblPr>
                  <a:tblGrid>
                    <a:gridCol w="914401"/>
                    <a:gridCol w="1143000"/>
                    <a:gridCol w="3124199"/>
                  </a:tblGrid>
                  <a:tr h="1144339">
                    <a:tc>
                      <a:txBody>
                        <a:bodyPr/>
                        <a:lstStyle/>
                        <a:p>
                          <a:r>
                            <a:rPr lang="en-US" dirty="0" err="1" smtClean="0"/>
                            <a:t>S.No</a:t>
                          </a:r>
                          <a:endParaRPr lang="en-US" dirty="0"/>
                        </a:p>
                      </a:txBody>
                      <a:tcPr/>
                    </a:tc>
                    <a:tc>
                      <a:txBody>
                        <a:bodyPr/>
                        <a:lstStyle/>
                        <a:p>
                          <a:r>
                            <a:rPr lang="en-US" dirty="0" smtClean="0"/>
                            <a:t>Rule</a:t>
                          </a:r>
                          <a:endParaRPr lang="en-US" dirty="0"/>
                        </a:p>
                      </a:txBody>
                      <a:tcPr/>
                    </a:tc>
                    <a:tc>
                      <a:txBody>
                        <a:bodyPr/>
                        <a:lstStyle/>
                        <a:p>
                          <a:r>
                            <a:rPr lang="en-US" dirty="0" smtClean="0"/>
                            <a:t>Inference</a:t>
                          </a:r>
                          <a:endParaRPr lang="en-US" dirty="0"/>
                        </a:p>
                      </a:txBody>
                      <a:tcPr/>
                    </a:tc>
                  </a:tr>
                  <a:tr h="699259">
                    <a:tc>
                      <a:txBody>
                        <a:bodyPr/>
                        <a:lstStyle/>
                        <a:p>
                          <a:r>
                            <a:rPr lang="en-US" dirty="0" smtClean="0"/>
                            <a:t>1</a:t>
                          </a:r>
                          <a:endParaRPr lang="en-US" dirty="0"/>
                        </a:p>
                      </a:txBody>
                      <a:tcPr/>
                    </a:tc>
                    <a:tc>
                      <a:txBody>
                        <a:bodyPr/>
                        <a:lstStyle/>
                        <a:p>
                          <a:r>
                            <a:rPr lang="en-US" dirty="0" smtClean="0"/>
                            <a:t>US</a:t>
                          </a:r>
                          <a:endParaRPr lang="en-US" dirty="0"/>
                        </a:p>
                      </a:txBody>
                      <a:tcPr/>
                    </a:tc>
                    <a:tc>
                      <a:txBody>
                        <a:bodyPr/>
                        <a:lstStyle/>
                        <a:p>
                          <a:endParaRPr lang="en-US"/>
                        </a:p>
                      </a:txBody>
                      <a:tcPr>
                        <a:blipFill rotWithShape="0">
                          <a:blip r:embed="rId2"/>
                          <a:stretch>
                            <a:fillRect l="-66082" t="-167826" r="-975" b="-373913"/>
                          </a:stretch>
                        </a:blipFill>
                      </a:tcPr>
                    </a:tc>
                  </a:tr>
                  <a:tr h="880261">
                    <a:tc>
                      <a:txBody>
                        <a:bodyPr/>
                        <a:lstStyle/>
                        <a:p>
                          <a:r>
                            <a:rPr lang="en-US" dirty="0" smtClean="0"/>
                            <a:t>2</a:t>
                          </a:r>
                          <a:endParaRPr lang="en-US" dirty="0"/>
                        </a:p>
                      </a:txBody>
                      <a:tcPr/>
                    </a:tc>
                    <a:tc>
                      <a:txBody>
                        <a:bodyPr/>
                        <a:lstStyle/>
                        <a:p>
                          <a:r>
                            <a:rPr lang="en-US" dirty="0" smtClean="0"/>
                            <a:t>ES</a:t>
                          </a:r>
                          <a:endParaRPr lang="en-US" dirty="0"/>
                        </a:p>
                      </a:txBody>
                      <a:tcPr/>
                    </a:tc>
                    <a:tc>
                      <a:txBody>
                        <a:bodyPr/>
                        <a:lstStyle/>
                        <a:p>
                          <a:endParaRPr lang="en-US"/>
                        </a:p>
                      </a:txBody>
                      <a:tcPr>
                        <a:blipFill rotWithShape="0">
                          <a:blip r:embed="rId2"/>
                          <a:stretch>
                            <a:fillRect l="-66082" t="-213889" r="-975" b="-198611"/>
                          </a:stretch>
                        </a:blipFill>
                      </a:tcPr>
                    </a:tc>
                  </a:tr>
                  <a:tr h="815479">
                    <a:tc>
                      <a:txBody>
                        <a:bodyPr/>
                        <a:lstStyle/>
                        <a:p>
                          <a:r>
                            <a:rPr lang="en-US" dirty="0" smtClean="0"/>
                            <a:t>3</a:t>
                          </a:r>
                          <a:endParaRPr lang="en-US" dirty="0"/>
                        </a:p>
                      </a:txBody>
                      <a:tcPr/>
                    </a:tc>
                    <a:tc>
                      <a:txBody>
                        <a:bodyPr/>
                        <a:lstStyle/>
                        <a:p>
                          <a:r>
                            <a:rPr lang="en-US" dirty="0" smtClean="0"/>
                            <a:t>UG</a:t>
                          </a:r>
                          <a:endParaRPr lang="en-US" dirty="0"/>
                        </a:p>
                      </a:txBody>
                      <a:tcPr/>
                    </a:tc>
                    <a:tc>
                      <a:txBody>
                        <a:bodyPr/>
                        <a:lstStyle/>
                        <a:p>
                          <a:endParaRPr lang="en-US"/>
                        </a:p>
                      </a:txBody>
                      <a:tcPr>
                        <a:blipFill rotWithShape="0">
                          <a:blip r:embed="rId2"/>
                          <a:stretch>
                            <a:fillRect l="-66082" t="-337313" r="-975" b="-113433"/>
                          </a:stretch>
                        </a:blipFill>
                      </a:tcPr>
                    </a:tc>
                  </a:tr>
                  <a:tr h="914400">
                    <a:tc>
                      <a:txBody>
                        <a:bodyPr/>
                        <a:lstStyle/>
                        <a:p>
                          <a:r>
                            <a:rPr lang="en-US" dirty="0" smtClean="0"/>
                            <a:t>4</a:t>
                          </a:r>
                          <a:endParaRPr lang="en-US" dirty="0"/>
                        </a:p>
                      </a:txBody>
                      <a:tcPr/>
                    </a:tc>
                    <a:tc>
                      <a:txBody>
                        <a:bodyPr/>
                        <a:lstStyle/>
                        <a:p>
                          <a:r>
                            <a:rPr lang="en-US" dirty="0" smtClean="0"/>
                            <a:t>EG</a:t>
                          </a:r>
                          <a:endParaRPr lang="en-US" dirty="0"/>
                        </a:p>
                      </a:txBody>
                      <a:tcPr/>
                    </a:tc>
                    <a:tc>
                      <a:txBody>
                        <a:bodyPr/>
                        <a:lstStyle/>
                        <a:p>
                          <a:endParaRPr lang="en-US"/>
                        </a:p>
                      </a:txBody>
                      <a:tcPr>
                        <a:blipFill rotWithShape="0">
                          <a:blip r:embed="rId2"/>
                          <a:stretch>
                            <a:fillRect l="-66082" t="-390667" r="-975" b="-1333"/>
                          </a:stretch>
                        </a:blipFill>
                      </a:tcPr>
                    </a:tc>
                  </a:tr>
                </a:tbl>
              </a:graphicData>
            </a:graphic>
          </p:graphicFrame>
        </mc:Fallback>
      </mc:AlternateContent>
    </p:spTree>
    <p:extLst>
      <p:ext uri="{BB962C8B-B14F-4D97-AF65-F5344CB8AC3E}">
        <p14:creationId xmlns:p14="http://schemas.microsoft.com/office/powerpoint/2010/main" val="276008008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A6D4953-4414-4E08-BF36-DA87C4612CDD}"/>
              </a:ext>
            </a:extLst>
          </p:cNvPr>
          <p:cNvSpPr>
            <a:spLocks noGrp="1"/>
          </p:cNvSpPr>
          <p:nvPr>
            <p:ph type="title"/>
          </p:nvPr>
        </p:nvSpPr>
        <p:spPr>
          <a:xfrm>
            <a:off x="457200" y="274638"/>
            <a:ext cx="8229600" cy="868362"/>
          </a:xfrm>
        </p:spPr>
        <p:txBody>
          <a:bodyPr>
            <a:normAutofit/>
          </a:bodyPr>
          <a:lstStyle/>
          <a:p>
            <a:pPr algn="ctr"/>
            <a:r>
              <a:rPr lang="en-US" b="1" dirty="0" smtClean="0">
                <a:solidFill>
                  <a:srgbClr val="002060"/>
                </a:solidFill>
                <a:latin typeface="Times New Roman" panose="02020603050405020304" pitchFamily="18" charset="0"/>
                <a:cs typeface="Times New Roman" panose="02020603050405020304" pitchFamily="18" charset="0"/>
              </a:rPr>
              <a:t>Nested Quantifiers</a:t>
            </a:r>
            <a:endParaRPr lang="en-US" dirty="0">
              <a:solidFill>
                <a:srgbClr val="002060"/>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 xmlns:a16="http://schemas.microsoft.com/office/drawing/2014/main" id="{C5ED414E-CBFE-40FD-B92E-2640082576A1}"/>
                  </a:ext>
                </a:extLst>
              </p:cNvPr>
              <p:cNvSpPr>
                <a:spLocks noGrp="1"/>
              </p:cNvSpPr>
              <p:nvPr>
                <p:ph idx="1"/>
              </p:nvPr>
            </p:nvSpPr>
            <p:spPr>
              <a:xfrm>
                <a:off x="457200" y="1371600"/>
                <a:ext cx="8229600" cy="4419600"/>
              </a:xfrm>
            </p:spPr>
            <p:txBody>
              <a:bodyPr>
                <a:normAutofit/>
              </a:bodyPr>
              <a:lstStyle/>
              <a:p>
                <a:pPr marL="0" indent="0">
                  <a:buNone/>
                </a:pPr>
                <a:r>
                  <a:rPr lang="en-US" sz="2800" b="1" dirty="0">
                    <a:solidFill>
                      <a:srgbClr val="FF0000"/>
                    </a:solidFill>
                    <a:latin typeface="Times New Roman" panose="02020603050405020304" pitchFamily="18" charset="0"/>
                    <a:cs typeface="Times New Roman" panose="02020603050405020304" pitchFamily="18" charset="0"/>
                  </a:rPr>
                  <a:t>NESTING OF QUANTIFIERS</a:t>
                </a:r>
                <a:endParaRPr lang="en-US" sz="2800" dirty="0">
                  <a:solidFill>
                    <a:srgbClr val="FF0000"/>
                  </a:solidFill>
                  <a:latin typeface="Times New Roman" panose="02020603050405020304" pitchFamily="18" charset="0"/>
                  <a:cs typeface="Times New Roman" panose="02020603050405020304" pitchFamily="18" charset="0"/>
                </a:endParaRPr>
              </a:p>
              <a:p>
                <a:pPr marL="0" indent="0">
                  <a:buNone/>
                </a:pPr>
                <a:r>
                  <a:rPr lang="en-US" sz="2400" dirty="0">
                    <a:solidFill>
                      <a:srgbClr val="000000"/>
                    </a:solidFill>
                    <a:latin typeface="Times New Roman" panose="02020603050405020304" pitchFamily="18" charset="0"/>
                    <a:cs typeface="Times New Roman" panose="02020603050405020304" pitchFamily="18" charset="0"/>
                  </a:rPr>
                  <a:t>If there are more than one quantifier in front of a proposition then we have a nesting of </a:t>
                </a:r>
                <a:r>
                  <a:rPr lang="en-US" sz="2400" dirty="0" smtClean="0">
                    <a:solidFill>
                      <a:srgbClr val="000000"/>
                    </a:solidFill>
                    <a:latin typeface="Times New Roman" panose="02020603050405020304" pitchFamily="18" charset="0"/>
                    <a:cs typeface="Times New Roman" panose="02020603050405020304" pitchFamily="18" charset="0"/>
                  </a:rPr>
                  <a:t>quantifiers</a:t>
                </a:r>
              </a:p>
              <a:p>
                <a:pPr marL="0" indent="0">
                  <a:buNone/>
                </a:pPr>
                <a:r>
                  <a:rPr lang="en-US" sz="2800" b="1" dirty="0" smtClean="0">
                    <a:solidFill>
                      <a:srgbClr val="FF0000"/>
                    </a:solidFill>
                    <a:latin typeface="Times New Roman" panose="02020603050405020304" pitchFamily="18" charset="0"/>
                    <a:cs typeface="Times New Roman" panose="02020603050405020304" pitchFamily="18" charset="0"/>
                  </a:rPr>
                  <a:t>EXAMPLE</a:t>
                </a:r>
                <a:endParaRPr lang="en-US" sz="2800" dirty="0">
                  <a:solidFill>
                    <a:srgbClr val="FF0000"/>
                  </a:solidFill>
                  <a:latin typeface="Times New Roman" panose="02020603050405020304" pitchFamily="18" charset="0"/>
                  <a:cs typeface="Times New Roman" panose="02020603050405020304" pitchFamily="18" charset="0"/>
                </a:endParaRPr>
              </a:p>
              <a:p>
                <a:pPr marL="0" indent="0">
                  <a:buNone/>
                </a:pPr>
                <a:r>
                  <a:rPr lang="en-US" sz="2400" dirty="0">
                    <a:solidFill>
                      <a:srgbClr val="000000"/>
                    </a:solidFill>
                    <a:latin typeface="Times New Roman" panose="02020603050405020304" pitchFamily="18" charset="0"/>
                    <a:cs typeface="Times New Roman" panose="02020603050405020304" pitchFamily="18" charset="0"/>
                  </a:rPr>
                  <a:t>Consider “Everyone has someone whom they like” </a:t>
                </a:r>
              </a:p>
              <a:p>
                <a:r>
                  <a:rPr lang="en-US" sz="2400" dirty="0">
                    <a:solidFill>
                      <a:srgbClr val="000000"/>
                    </a:solidFill>
                    <a:latin typeface="Times New Roman" panose="02020603050405020304" pitchFamily="18" charset="0"/>
                    <a:cs typeface="Times New Roman" panose="02020603050405020304" pitchFamily="18" charset="0"/>
                  </a:rPr>
                  <a:t>Let </a:t>
                </a:r>
                <a14:m>
                  <m:oMath xmlns:m="http://schemas.openxmlformats.org/officeDocument/2006/math">
                    <m:r>
                      <a:rPr lang="en-US" sz="2400" i="1">
                        <a:solidFill>
                          <a:srgbClr val="000000"/>
                        </a:solidFill>
                        <a:latin typeface="Cambria Math" panose="02040503050406030204" pitchFamily="18" charset="0"/>
                      </a:rPr>
                      <m:t>𝐿</m:t>
                    </m:r>
                    <m:d>
                      <m:dPr>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𝑦</m:t>
                        </m:r>
                      </m:e>
                    </m:d>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 </m:t>
                    </m:r>
                  </m:oMath>
                </a14:m>
                <a:r>
                  <a:rPr lang="en-US" sz="2400" dirty="0">
                    <a:solidFill>
                      <a:srgbClr val="000000"/>
                    </a:solidFill>
                    <a:latin typeface="Times New Roman" panose="02020603050405020304" pitchFamily="18" charset="0"/>
                    <a:cs typeface="Times New Roman" panose="02020603050405020304" pitchFamily="18" charset="0"/>
                  </a:rPr>
                  <a:t>likes </a:t>
                </a:r>
                <a14:m>
                  <m:oMath xmlns:m="http://schemas.openxmlformats.org/officeDocument/2006/math">
                    <m:r>
                      <a:rPr lang="en-US" sz="2400" i="1">
                        <a:solidFill>
                          <a:srgbClr val="000000"/>
                        </a:solidFill>
                        <a:latin typeface="Cambria Math" panose="02040503050406030204" pitchFamily="18" charset="0"/>
                      </a:rPr>
                      <m:t>𝑦</m:t>
                    </m:r>
                  </m:oMath>
                </a14:m>
                <a:endParaRPr lang="en-US" sz="2400" dirty="0">
                  <a:solidFill>
                    <a:srgbClr val="000000"/>
                  </a:solidFill>
                  <a:latin typeface="Times New Roman" panose="02020603050405020304" pitchFamily="18" charset="0"/>
                  <a:cs typeface="Times New Roman" panose="02020603050405020304" pitchFamily="18" charset="0"/>
                </a:endParaRPr>
              </a:p>
              <a:p>
                <a:r>
                  <a:rPr lang="en-US" sz="2400" dirty="0">
                    <a:solidFill>
                      <a:srgbClr val="000000"/>
                    </a:solidFill>
                    <a:latin typeface="Times New Roman" panose="02020603050405020304" pitchFamily="18" charset="0"/>
                    <a:cs typeface="Times New Roman" panose="02020603050405020304" pitchFamily="18" charset="0"/>
                  </a:rPr>
                  <a:t>Hence the given sentence can be symbolized as </a:t>
                </a:r>
                <a14:m>
                  <m:oMath xmlns:m="http://schemas.openxmlformats.org/officeDocument/2006/math">
                    <m:r>
                      <a:rPr lang="en-US" sz="2400" i="1">
                        <a:solidFill>
                          <a:srgbClr val="000000"/>
                        </a:solidFill>
                        <a:latin typeface="Cambria Math" panose="02040503050406030204" pitchFamily="18" charset="0"/>
                        <a:ea typeface="Cambria Math" panose="02040503050406030204" pitchFamily="18" charset="0"/>
                      </a:rPr>
                      <m:t>∀</m:t>
                    </m:r>
                    <m:r>
                      <a:rPr lang="en-US" sz="2400" i="1">
                        <a:solidFill>
                          <a:srgbClr val="000000"/>
                        </a:solidFill>
                        <a:latin typeface="Cambria Math" panose="02040503050406030204" pitchFamily="18" charset="0"/>
                        <a:ea typeface="Cambria Math" panose="02040503050406030204" pitchFamily="18" charset="0"/>
                      </a:rPr>
                      <m:t>𝑥</m:t>
                    </m:r>
                    <m:r>
                      <a:rPr lang="en-US" sz="2400" i="1">
                        <a:solidFill>
                          <a:srgbClr val="000000"/>
                        </a:solidFill>
                        <a:latin typeface="Cambria Math" panose="02040503050406030204" pitchFamily="18" charset="0"/>
                        <a:ea typeface="Cambria Math" panose="02040503050406030204" pitchFamily="18" charset="0"/>
                      </a:rPr>
                      <m:t>[∃</m:t>
                    </m:r>
                    <m:r>
                      <a:rPr lang="en-US" sz="2400" i="1">
                        <a:solidFill>
                          <a:srgbClr val="000000"/>
                        </a:solidFill>
                        <a:latin typeface="Cambria Math" panose="02040503050406030204" pitchFamily="18" charset="0"/>
                        <a:ea typeface="Cambria Math" panose="02040503050406030204" pitchFamily="18" charset="0"/>
                      </a:rPr>
                      <m:t>𝑦𝐿</m:t>
                    </m:r>
                    <m:d>
                      <m:dPr>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𝑦</m:t>
                        </m:r>
                      </m:e>
                    </m:d>
                  </m:oMath>
                </a14:m>
                <a:r>
                  <a:rPr lang="en-US" sz="2400" dirty="0">
                    <a:solidFill>
                      <a:srgbClr val="000000"/>
                    </a:solidFill>
                    <a:latin typeface="Times New Roman" panose="02020603050405020304" pitchFamily="18" charset="0"/>
                    <a:cs typeface="Times New Roman" panose="02020603050405020304" pitchFamily="18" charset="0"/>
                  </a:rPr>
                  <a:t>]</a:t>
                </a:r>
              </a:p>
              <a:p>
                <a:r>
                  <a:rPr lang="en-US" sz="2400" dirty="0">
                    <a:solidFill>
                      <a:srgbClr val="000000"/>
                    </a:solidFill>
                    <a:latin typeface="Times New Roman" panose="02020603050405020304" pitchFamily="18" charset="0"/>
                    <a:cs typeface="Times New Roman" panose="02020603050405020304" pitchFamily="18" charset="0"/>
                  </a:rPr>
                  <a:t>The meaning is ‘there is some </a:t>
                </a:r>
                <a14:m>
                  <m:oMath xmlns:m="http://schemas.openxmlformats.org/officeDocument/2006/math">
                    <m:r>
                      <a:rPr lang="en-US" sz="2400" i="1">
                        <a:solidFill>
                          <a:srgbClr val="000000"/>
                        </a:solidFill>
                        <a:latin typeface="Cambria Math" panose="02040503050406030204" pitchFamily="18" charset="0"/>
                      </a:rPr>
                      <m:t>𝑦</m:t>
                    </m:r>
                  </m:oMath>
                </a14:m>
                <a:r>
                  <a:rPr lang="en-US" sz="2400" dirty="0">
                    <a:solidFill>
                      <a:srgbClr val="000000"/>
                    </a:solidFill>
                    <a:latin typeface="Times New Roman" panose="02020603050405020304" pitchFamily="18" charset="0"/>
                    <a:cs typeface="Times New Roman" panose="02020603050405020304" pitchFamily="18" charset="0"/>
                  </a:rPr>
                  <a:t> whom </a:t>
                </a:r>
                <a14:m>
                  <m:oMath xmlns:m="http://schemas.openxmlformats.org/officeDocument/2006/math">
                    <m:r>
                      <a:rPr lang="en-US" sz="2400" i="1">
                        <a:solidFill>
                          <a:srgbClr val="000000"/>
                        </a:solidFill>
                        <a:latin typeface="Cambria Math" panose="02040503050406030204" pitchFamily="18" charset="0"/>
                      </a:rPr>
                      <m:t>𝑥</m:t>
                    </m:r>
                  </m:oMath>
                </a14:m>
                <a:r>
                  <a:rPr lang="en-US" sz="2400" i="1"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likes and it is true for all </a:t>
                </a:r>
                <a14:m>
                  <m:oMath xmlns:m="http://schemas.openxmlformats.org/officeDocument/2006/math">
                    <m:r>
                      <a:rPr lang="en-US" sz="2400" i="1">
                        <a:solidFill>
                          <a:srgbClr val="000000"/>
                        </a:solidFill>
                        <a:latin typeface="Cambria Math" panose="02040503050406030204" pitchFamily="18" charset="0"/>
                      </a:rPr>
                      <m:t>𝑥</m:t>
                    </m:r>
                  </m:oMath>
                </a14:m>
                <a:r>
                  <a:rPr lang="en-US" sz="2400" dirty="0">
                    <a:solidFill>
                      <a:srgbClr val="000000"/>
                    </a:solidFill>
                    <a:latin typeface="Times New Roman" panose="02020603050405020304" pitchFamily="18" charset="0"/>
                    <a:cs typeface="Times New Roman" panose="02020603050405020304" pitchFamily="18" charset="0"/>
                  </a:rPr>
                  <a:t>’. Therefore the universe for this proposition is the set of all people.</a:t>
                </a:r>
                <a:endParaRPr lang="en-US" sz="2400"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xmlns:a14="http://schemas.microsoft.com/office/drawing/2010/main" xmlns="" id="{C5ED414E-CBFE-40FD-B92E-2640082576A1}"/>
                  </a:ext>
                </a:extLst>
              </p:cNvPr>
              <p:cNvSpPr>
                <a:spLocks noGrp="1" noRot="1" noChangeAspect="1" noMove="1" noResize="1" noEditPoints="1" noAdjustHandles="1" noChangeArrowheads="1" noChangeShapeType="1" noTextEdit="1"/>
              </p:cNvSpPr>
              <p:nvPr>
                <p:ph idx="1"/>
              </p:nvPr>
            </p:nvSpPr>
            <p:spPr>
              <a:xfrm>
                <a:off x="457200" y="1371600"/>
                <a:ext cx="8229600" cy="4419600"/>
              </a:xfrm>
              <a:blipFill rotWithShape="0">
                <a:blip r:embed="rId2"/>
                <a:stretch>
                  <a:fillRect l="-1481" t="-1379" r="-1630" b="-966"/>
                </a:stretch>
              </a:blipFill>
            </p:spPr>
            <p:txBody>
              <a:bodyPr/>
              <a:lstStyle/>
              <a:p>
                <a:r>
                  <a:rPr lang="en-US">
                    <a:noFill/>
                  </a:rPr>
                  <a:t> </a:t>
                </a:r>
              </a:p>
            </p:txBody>
          </p:sp>
        </mc:Fallback>
      </mc:AlternateContent>
    </p:spTree>
    <p:extLst>
      <p:ext uri="{BB962C8B-B14F-4D97-AF65-F5344CB8AC3E}">
        <p14:creationId xmlns:p14="http://schemas.microsoft.com/office/powerpoint/2010/main" val="2225296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057400"/>
            <a:ext cx="7772400" cy="1219200"/>
          </a:xfrm>
        </p:spPr>
        <p:txBody>
          <a:bodyPr/>
          <a:lstStyle/>
          <a:p>
            <a:r>
              <a:rPr lang="en-US" sz="3600" b="1" dirty="0" smtClean="0">
                <a:solidFill>
                  <a:srgbClr val="335295"/>
                </a:solidFill>
                <a:latin typeface="Times New Roman" panose="02020603050405020304" pitchFamily="18" charset="0"/>
                <a:cs typeface="Times New Roman" panose="02020603050405020304" pitchFamily="18" charset="0"/>
              </a:rPr>
              <a:t>IN-CLASS  CONTENT</a:t>
            </a:r>
            <a:br>
              <a:rPr lang="en-US" sz="3600" b="1" dirty="0" smtClean="0">
                <a:solidFill>
                  <a:srgbClr val="335295"/>
                </a:solidFill>
                <a:latin typeface="Times New Roman" panose="02020603050405020304" pitchFamily="18" charset="0"/>
                <a:cs typeface="Times New Roman" panose="02020603050405020304" pitchFamily="18" charset="0"/>
              </a:rPr>
            </a:br>
            <a:r>
              <a:rPr lang="en-US" b="1" dirty="0" smtClean="0">
                <a:solidFill>
                  <a:srgbClr val="335295"/>
                </a:solidFill>
                <a:latin typeface="Times New Roman" panose="02020603050405020304" pitchFamily="18" charset="0"/>
                <a:cs typeface="Times New Roman" panose="02020603050405020304" pitchFamily="18" charset="0"/>
              </a:rPr>
              <a:t>PROBLEMS</a:t>
            </a:r>
            <a:endParaRPr lang="en-US" b="1" dirty="0">
              <a:solidFill>
                <a:srgbClr val="335295"/>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762322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smtClean="0">
                <a:solidFill>
                  <a:srgbClr val="002060"/>
                </a:solidFill>
                <a:latin typeface="Times New Roman" panose="02020603050405020304" pitchFamily="18" charset="0"/>
                <a:cs typeface="Times New Roman" panose="02020603050405020304" pitchFamily="18" charset="0"/>
              </a:rPr>
              <a:t>PROBLEMS</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295400"/>
            <a:ext cx="8229600" cy="4830763"/>
          </a:xfrm>
        </p:spPr>
        <p:txBody>
          <a:bodyPr/>
          <a:lstStyle/>
          <a:p>
            <a:pPr algn="just"/>
            <a:r>
              <a:rPr lang="en-US" sz="2800" dirty="0" smtClean="0">
                <a:latin typeface="Times New Roman" panose="02020603050405020304" pitchFamily="18" charset="0"/>
                <a:cs typeface="Times New Roman" panose="02020603050405020304" pitchFamily="18" charset="0"/>
              </a:rPr>
              <a:t>Given the premises” A student of this class has not read the Discrete Mathematics text book” and “Every one in this class passed the first unit test” show that “Some one who passed the first unit test has not read the discrete mathematics book”     </a:t>
            </a:r>
          </a:p>
          <a:p>
            <a:pPr marL="0" indent="0" algn="ctr">
              <a:buNone/>
            </a:pPr>
            <a:endParaRPr lang="en-US" sz="2400" dirty="0">
              <a:latin typeface="Times New Roman" panose="02020603050405020304" pitchFamily="18" charset="0"/>
              <a:cs typeface="Times New Roman" panose="02020603050405020304" pitchFamily="18" charset="0"/>
            </a:endParaRPr>
          </a:p>
          <a:p>
            <a:pPr algn="just"/>
            <a:r>
              <a:rPr lang="en-US" sz="2800" dirty="0" smtClean="0">
                <a:latin typeface="Times New Roman" panose="02020603050405020304" pitchFamily="18" charset="0"/>
                <a:cs typeface="Times New Roman" panose="02020603050405020304" pitchFamily="18" charset="0"/>
              </a:rPr>
              <a:t>Show that the premises “one student in this class knows how to write programs in JAVA” and “Everyone who knows how to write programs in JAVA can get high paying job” imply the conclusion “Someone in this class can get a high paying job”</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384589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smtClean="0">
                <a:solidFill>
                  <a:srgbClr val="002060"/>
                </a:solidFill>
                <a:latin typeface="Times New Roman" panose="02020603050405020304" pitchFamily="18" charset="0"/>
                <a:cs typeface="Times New Roman" panose="02020603050405020304" pitchFamily="18" charset="0"/>
              </a:rPr>
              <a:t>PROBLEMS</a:t>
            </a:r>
            <a:endParaRPr lang="en-US" b="1" dirty="0">
              <a:solidFill>
                <a:srgbClr val="00206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447800"/>
                <a:ext cx="8229600" cy="4724400"/>
              </a:xfrm>
            </p:spPr>
            <p:txBody>
              <a:bodyPr/>
              <a:lstStyle/>
              <a:p>
                <a:r>
                  <a:rPr lang="en-US" sz="2400" dirty="0" smtClean="0">
                    <a:latin typeface="Times New Roman" panose="02020603050405020304" pitchFamily="18" charset="0"/>
                    <a:cs typeface="Times New Roman" panose="02020603050405020304" pitchFamily="18" charset="0"/>
                  </a:rPr>
                  <a:t>Show that </a:t>
                </a:r>
                <a14:m>
                  <m:oMath xmlns:m="http://schemas.openxmlformats.org/officeDocument/2006/math">
                    <m:r>
                      <a:rPr lang="en-US" sz="2400"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𝑥</m:t>
                    </m:r>
                    <m:d>
                      <m:d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𝑄</m:t>
                        </m:r>
                        <m:d>
                          <m:d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𝑥</m:t>
                            </m:r>
                          </m:e>
                        </m:d>
                      </m:e>
                    </m:d>
                    <m:r>
                      <a:rPr lang="en-US" sz="2400" b="0" i="1" smtClean="0">
                        <a:latin typeface="Cambria Math" panose="02040503050406030204" pitchFamily="18" charset="0"/>
                        <a:ea typeface="Cambria Math" panose="02040503050406030204" pitchFamily="18" charset="0"/>
                        <a:cs typeface="Times New Roman" panose="02020603050405020304" pitchFamily="18" charset="0"/>
                      </a:rPr>
                      <m:t> ∧ ∀</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𝑥</m:t>
                    </m:r>
                    <m:d>
                      <m:d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𝑄</m:t>
                        </m:r>
                        <m:d>
                          <m:d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𝑅</m:t>
                        </m:r>
                        <m:d>
                          <m:d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𝑥</m:t>
                            </m:r>
                          </m:e>
                        </m:d>
                      </m:e>
                    </m:d>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𝑥</m:t>
                    </m:r>
                    <m:d>
                      <m:d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𝑅</m:t>
                        </m:r>
                        <m:d>
                          <m:d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𝑥</m:t>
                            </m:r>
                          </m:e>
                        </m:d>
                      </m:e>
                    </m:d>
                  </m:oMath>
                </a14:m>
                <a:endParaRPr lang="en-US" sz="2400" b="0" dirty="0" smtClean="0">
                  <a:latin typeface="Times New Roman" panose="02020603050405020304" pitchFamily="18" charset="0"/>
                  <a:ea typeface="Cambria Math" panose="020405030504060302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Obtain the following implication </a:t>
                </a:r>
                <a14:m>
                  <m:oMath xmlns:m="http://schemas.openxmlformats.org/officeDocument/2006/math">
                    <m:r>
                      <a:rPr lang="en-US" sz="2400"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 </m:t>
                    </m:r>
                    <m:d>
                      <m:d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𝑄</m:t>
                        </m:r>
                        <m:d>
                          <m:d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𝑥</m:t>
                            </m:r>
                          </m:e>
                        </m:d>
                      </m:e>
                    </m:d>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oMath>
                </a14:m>
                <a:endParaRPr lang="en-US" sz="2400" dirty="0" smtClean="0">
                  <a:latin typeface="Times New Roman" panose="02020603050405020304" pitchFamily="18" charset="0"/>
                  <a:cs typeface="Times New Roman" panose="02020603050405020304" pitchFamily="18" charset="0"/>
                </a:endParaRPr>
              </a:p>
              <a:p>
                <a:pPr marL="0" indent="0">
                  <a:buNone/>
                </a:pPr>
                <a:r>
                  <a:rPr lang="en-US" sz="2400" b="0" i="1" dirty="0" smtClean="0">
                    <a:latin typeface="Cambria Math" panose="02040503050406030204" pitchFamily="18" charset="0"/>
                    <a:cs typeface="Times New Roman" panose="02020603050405020304" pitchFamily="18" charset="0"/>
                  </a:rPr>
                  <a:t>      </a:t>
                </a:r>
                <a14:m>
                  <m:oMath xmlns:m="http://schemas.openxmlformats.org/officeDocument/2006/math">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𝑥</m:t>
                    </m:r>
                    <m:d>
                      <m:d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𝑅</m:t>
                        </m:r>
                        <m:d>
                          <m:d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𝑄</m:t>
                        </m:r>
                        <m:d>
                          <m:d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𝑥</m:t>
                            </m:r>
                          </m:e>
                        </m:d>
                      </m:e>
                    </m:d>
                    <m:r>
                      <a:rPr lang="en-US" sz="2400" b="0" i="1" smtClean="0">
                        <a:latin typeface="Cambria Math" panose="02040503050406030204" pitchFamily="18" charset="0"/>
                        <a:ea typeface="Cambria Math" panose="02040503050406030204" pitchFamily="18" charset="0"/>
                        <a:cs typeface="Times New Roman" panose="02020603050405020304" pitchFamily="18" charset="0"/>
                      </a:rPr>
                      <m:t> ⟹ ∀</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𝑥</m:t>
                    </m:r>
                    <m:d>
                      <m:d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𝑅</m:t>
                        </m:r>
                        <m:d>
                          <m:d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𝑥</m:t>
                            </m:r>
                          </m:e>
                        </m:d>
                      </m:e>
                    </m:d>
                  </m:oMath>
                </a14:m>
                <a:endParaRPr lang="en-US" sz="2400" b="0" i="1" dirty="0" smtClean="0">
                  <a:latin typeface="Cambria Math" panose="02040503050406030204" pitchFamily="18" charset="0"/>
                  <a:ea typeface="Cambria Math" panose="020405030504060302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By direct method, prove that </a:t>
                </a:r>
              </a:p>
              <a:p>
                <a:pPr marL="0" indent="0">
                  <a:buNone/>
                </a:pP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a:t>
                </a:r>
                <a14:m>
                  <m:oMath xmlns:m="http://schemas.openxmlformats.org/officeDocument/2006/math">
                    <m:r>
                      <a:rPr lang="en-US" sz="2400"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𝑥</m:t>
                    </m:r>
                    <m:d>
                      <m:d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𝑄</m:t>
                        </m:r>
                        <m:d>
                          <m:d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𝑥</m:t>
                            </m:r>
                          </m:e>
                        </m:d>
                      </m:e>
                    </m:d>
                    <m:r>
                      <a:rPr lang="en-US" sz="2400" b="0" i="1" smtClean="0">
                        <a:latin typeface="Cambria Math" panose="02040503050406030204" pitchFamily="18" charset="0"/>
                        <a:ea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𝑥𝑃</m:t>
                    </m:r>
                    <m:d>
                      <m:d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𝑥𝑄</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oMath>
                </a14:m>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Use direct method of proof to show that </a:t>
                </a:r>
              </a:p>
              <a:p>
                <a:pPr marL="0" indent="0">
                  <a:buNone/>
                </a:pPr>
                <a:r>
                  <a:rPr lang="en-US" sz="2400" dirty="0" smtClean="0">
                    <a:latin typeface="Times New Roman" panose="02020603050405020304" pitchFamily="18" charset="0"/>
                    <a:cs typeface="Times New Roman" panose="02020603050405020304" pitchFamily="18" charset="0"/>
                  </a:rPr>
                  <a:t>     </a:t>
                </a:r>
                <a14:m>
                  <m:oMath xmlns:m="http://schemas.openxmlformats.org/officeDocument/2006/math">
                    <m:r>
                      <a:rPr lang="en-US" sz="2400"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𝑃</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𝑄</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𝑥𝑃</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𝑥𝑄</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oMath>
                </a14:m>
                <a:endParaRPr lang="en-US" sz="2400" dirty="0" smtClean="0">
                  <a:latin typeface="Times New Roman" panose="02020603050405020304" pitchFamily="18" charset="0"/>
                  <a:cs typeface="Times New Roman" panose="02020603050405020304" pitchFamily="18" charset="0"/>
                </a:endParaRPr>
              </a:p>
              <a:p>
                <a:r>
                  <a:rPr lang="en-US" sz="2400" dirty="0">
                    <a:solidFill>
                      <a:srgbClr val="000000"/>
                    </a:solidFill>
                    <a:latin typeface="Times New Roman" panose="02020603050405020304" pitchFamily="18" charset="0"/>
                  </a:rPr>
                  <a:t>Translate ‘the sum of two positive integers is positive’ into a logical  expression.</a:t>
                </a:r>
              </a:p>
              <a:p>
                <a:endParaRPr lang="en-US" sz="2400" dirty="0" smtClean="0">
                  <a:latin typeface="Times New Roman" panose="02020603050405020304" pitchFamily="18" charset="0"/>
                  <a:cs typeface="Times New Roman" panose="02020603050405020304" pitchFamily="18" charset="0"/>
                </a:endParaRPr>
              </a:p>
              <a:p>
                <a:pPr marL="0" indent="0">
                  <a:buNone/>
                </a:pPr>
                <a:endParaRPr lang="en-US" sz="2400" dirty="0" smtClean="0">
                  <a:latin typeface="Times New Roman" panose="02020603050405020304" pitchFamily="18" charset="0"/>
                  <a:cs typeface="Times New Roman" panose="02020603050405020304" pitchFamily="18" charset="0"/>
                </a:endParaRPr>
              </a:p>
              <a:p>
                <a:pPr marL="0" indent="0">
                  <a:buNone/>
                </a:pPr>
                <a:endParaRPr lang="en-US" sz="2400" dirty="0" smtClean="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447800"/>
                <a:ext cx="8229600" cy="4724400"/>
              </a:xfrm>
              <a:blipFill rotWithShape="0">
                <a:blip r:embed="rId2"/>
                <a:stretch>
                  <a:fillRect l="-963" t="-516"/>
                </a:stretch>
              </a:blipFill>
            </p:spPr>
            <p:txBody>
              <a:bodyPr/>
              <a:lstStyle/>
              <a:p>
                <a:r>
                  <a:rPr lang="en-US">
                    <a:noFill/>
                  </a:rPr>
                  <a:t> </a:t>
                </a:r>
              </a:p>
            </p:txBody>
          </p:sp>
        </mc:Fallback>
      </mc:AlternateContent>
    </p:spTree>
    <p:extLst>
      <p:ext uri="{BB962C8B-B14F-4D97-AF65-F5344CB8AC3E}">
        <p14:creationId xmlns:p14="http://schemas.microsoft.com/office/powerpoint/2010/main" val="1940453216"/>
      </p:ext>
    </p:extLst>
  </p:cSld>
  <p:clrMapOvr>
    <a:masterClrMapping/>
  </p:clrMapOvr>
  <p:timing>
    <p:tnLst>
      <p:par>
        <p:cTn id="1" dur="indefinite" restart="never" nodeType="tmRoot"/>
      </p:par>
    </p:tnLst>
  </p:timing>
</p:sld>
</file>

<file path=ppt/theme/theme1.xml><?xml version="1.0" encoding="utf-8"?>
<a:theme xmlns:a="http://schemas.openxmlformats.org/drawingml/2006/main" name="1_Default Design">
  <a:themeElements>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1273</TotalTime>
  <Words>323</Words>
  <Application>Microsoft Office PowerPoint</Application>
  <PresentationFormat>On-screen Show (4:3)</PresentationFormat>
  <Paragraphs>95</Paragraphs>
  <Slides>13</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19" baseType="lpstr">
      <vt:lpstr>Arial</vt:lpstr>
      <vt:lpstr>Cambria Math</vt:lpstr>
      <vt:lpstr>Times New Roman</vt:lpstr>
      <vt:lpstr>Verdana</vt:lpstr>
      <vt:lpstr>1_Default Design</vt:lpstr>
      <vt:lpstr>CorelDRAW</vt:lpstr>
      <vt:lpstr>Module 3.3</vt:lpstr>
      <vt:lpstr>Predicates and Quantifiers</vt:lpstr>
      <vt:lpstr>Limitations – Propositional logic</vt:lpstr>
      <vt:lpstr>Predicates</vt:lpstr>
      <vt:lpstr>Quantifiers</vt:lpstr>
      <vt:lpstr> Inference  Theory for Predicate Calculus </vt:lpstr>
      <vt:lpstr> Inference  Theory for Predicate Calculus </vt:lpstr>
      <vt:lpstr> Inference  Theory for Predicate Calculus </vt:lpstr>
      <vt:lpstr> Summarize </vt:lpstr>
      <vt:lpstr>Nested Quantifiers</vt:lpstr>
      <vt:lpstr>IN-CLASS  CONTENT PROBLEMS</vt:lpstr>
      <vt:lpstr>PROBLEMS</vt:lpstr>
      <vt:lpstr>PROBLEMS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AA</dc:creator>
  <cp:lastModifiedBy>user</cp:lastModifiedBy>
  <cp:revision>146</cp:revision>
  <dcterms:created xsi:type="dcterms:W3CDTF">2006-09-22T10:59:01Z</dcterms:created>
  <dcterms:modified xsi:type="dcterms:W3CDTF">2020-07-14T04:58:19Z</dcterms:modified>
</cp:coreProperties>
</file>