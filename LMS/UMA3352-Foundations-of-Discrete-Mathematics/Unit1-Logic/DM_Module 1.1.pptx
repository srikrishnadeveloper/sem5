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0" r:id="rId2"/>
  </p:sldMasterIdLst>
  <p:notesMasterIdLst>
    <p:notesMasterId r:id="rId16"/>
  </p:notesMasterIdLst>
  <p:sldIdLst>
    <p:sldId id="259" r:id="rId3"/>
    <p:sldId id="260" r:id="rId4"/>
    <p:sldId id="290" r:id="rId5"/>
    <p:sldId id="291" r:id="rId6"/>
    <p:sldId id="293" r:id="rId7"/>
    <p:sldId id="294" r:id="rId8"/>
    <p:sldId id="295" r:id="rId9"/>
    <p:sldId id="298" r:id="rId10"/>
    <p:sldId id="269" r:id="rId11"/>
    <p:sldId id="270" r:id="rId12"/>
    <p:sldId id="271" r:id="rId13"/>
    <p:sldId id="272" r:id="rId14"/>
    <p:sldId id="273" r:id="rId15"/>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57B5"/>
    <a:srgbClr val="000000"/>
    <a:srgbClr val="335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1" autoAdjust="0"/>
    <p:restoredTop sz="84380" autoAdjust="0"/>
  </p:normalViewPr>
  <p:slideViewPr>
    <p:cSldViewPr>
      <p:cViewPr>
        <p:scale>
          <a:sx n="68" d="100"/>
          <a:sy n="68" d="100"/>
        </p:scale>
        <p:origin x="-121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F44D709-BD32-4E7C-8370-59A8D36383F6}" type="slidenum">
              <a:rPr lang="en-US" altLang="en-US"/>
              <a:pPr/>
              <a:t>‹#›</a:t>
            </a:fld>
            <a:endParaRPr lang="en-US" altLang="en-US"/>
          </a:p>
        </p:txBody>
      </p:sp>
    </p:spTree>
    <p:extLst>
      <p:ext uri="{BB962C8B-B14F-4D97-AF65-F5344CB8AC3E}">
        <p14:creationId xmlns:p14="http://schemas.microsoft.com/office/powerpoint/2010/main" val="246311397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A5B455-2930-444F-993F-A1D62A137782}" type="slidenum">
              <a:rPr lang="en-US" altLang="en-US"/>
              <a:pPr/>
              <a:t>1</a:t>
            </a:fld>
            <a:endParaRPr lang="en-US" altLang="en-US" dirty="0"/>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97420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47BD91-93B5-474F-BC68-13F410B752D0}" type="slidenum">
              <a:rPr lang="en-US" altLang="en-US"/>
              <a:pPr/>
              <a:t>2</a:t>
            </a:fld>
            <a:endParaRPr lang="en-US" altLang="en-US" dirty="0"/>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2503609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31" name="Picture 11" descr="ba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5122" name="Rectangle 2"/>
          <p:cNvSpPr>
            <a:spLocks noGrp="1" noChangeArrowheads="1"/>
          </p:cNvSpPr>
          <p:nvPr>
            <p:ph type="ctrTitle"/>
          </p:nvPr>
        </p:nvSpPr>
        <p:spPr>
          <a:xfrm>
            <a:off x="685800" y="2286000"/>
            <a:ext cx="7772400" cy="1143000"/>
          </a:xfrm>
        </p:spPr>
        <p:txBody>
          <a:bodyPr/>
          <a:lstStyle>
            <a:lvl1pPr>
              <a:defRPr>
                <a:solidFill>
                  <a:srgbClr val="1B57B5"/>
                </a:solidFill>
              </a:defRPr>
            </a:lvl1pPr>
          </a:lstStyle>
          <a:p>
            <a:pPr lvl="0"/>
            <a:r>
              <a:rPr lang="en-US" altLang="en-US" noProof="0" smtClean="0"/>
              <a:t>Click to edit Master title style</a:t>
            </a:r>
          </a:p>
        </p:txBody>
      </p:sp>
      <p:sp>
        <p:nvSpPr>
          <p:cNvPr id="5123" name="Rectangle 3"/>
          <p:cNvSpPr>
            <a:spLocks noGrp="1" noChangeArrowheads="1"/>
          </p:cNvSpPr>
          <p:nvPr>
            <p:ph type="subTitle" idx="1"/>
          </p:nvPr>
        </p:nvSpPr>
        <p:spPr>
          <a:xfrm>
            <a:off x="1371600" y="3810000"/>
            <a:ext cx="6400800" cy="1752600"/>
          </a:xfrm>
        </p:spPr>
        <p:txBody>
          <a:bodyPr/>
          <a:lstStyle>
            <a:lvl1pPr marL="0" indent="0" algn="ctr">
              <a:buFontTx/>
              <a:buNone/>
              <a:defRPr>
                <a:solidFill>
                  <a:schemeClr val="bg2"/>
                </a:solidFill>
              </a:defRPr>
            </a:lvl1pPr>
          </a:lstStyle>
          <a:p>
            <a:pPr lvl="0"/>
            <a:r>
              <a:rPr lang="en-US" altLang="en-US" noProof="0" smtClean="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86277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1577493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89615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40502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3716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50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4116485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911396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27136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67695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11267" name="Rectangle 3"/>
          <p:cNvSpPr>
            <a:spLocks noGrp="1" noChangeArrowheads="1"/>
          </p:cNvSpPr>
          <p:nvPr>
            <p:ph type="ctrTitle"/>
          </p:nvPr>
        </p:nvSpPr>
        <p:spPr>
          <a:xfrm>
            <a:off x="685800" y="2286000"/>
            <a:ext cx="7772400" cy="1143000"/>
          </a:xfrm>
        </p:spPr>
        <p:txBody>
          <a:bodyPr/>
          <a:lstStyle>
            <a:lvl1pPr>
              <a:defRPr>
                <a:solidFill>
                  <a:srgbClr val="1B57B5"/>
                </a:solidFill>
              </a:defRPr>
            </a:lvl1pPr>
          </a:lstStyle>
          <a:p>
            <a:pPr lvl="0"/>
            <a:r>
              <a:rPr lang="en-US" altLang="en-US" noProof="0" smtClean="0"/>
              <a:t>Click to edit Master title style</a:t>
            </a:r>
          </a:p>
        </p:txBody>
      </p:sp>
      <p:sp>
        <p:nvSpPr>
          <p:cNvPr id="11268" name="Rectangle 4"/>
          <p:cNvSpPr>
            <a:spLocks noGrp="1" noChangeArrowheads="1"/>
          </p:cNvSpPr>
          <p:nvPr>
            <p:ph type="subTitle" idx="1"/>
          </p:nvPr>
        </p:nvSpPr>
        <p:spPr>
          <a:xfrm>
            <a:off x="1371600" y="3810000"/>
            <a:ext cx="6400800" cy="1752600"/>
          </a:xfrm>
        </p:spPr>
        <p:txBody>
          <a:bodyPr/>
          <a:lstStyle>
            <a:lvl1pPr marL="0" indent="0" algn="ctr">
              <a:buFontTx/>
              <a:buNone/>
              <a:defRPr>
                <a:solidFill>
                  <a:schemeClr val="bg2"/>
                </a:solidFill>
              </a:defRPr>
            </a:lvl1pPr>
          </a:lstStyle>
          <a:p>
            <a:pPr lvl="0"/>
            <a:r>
              <a:rPr lang="en-US" altLang="en-US" noProof="0" smtClean="0"/>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786384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2125963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38417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735208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40141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0175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811925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5295693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11796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33299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vmlDrawing" Target="../drawings/vmlDrawing1.v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emf"/><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45" name="Picture 21" descr="ban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rtl="0" fontAlgn="base">
        <a:spcBef>
          <a:spcPct val="0"/>
        </a:spcBef>
        <a:spcAft>
          <a:spcPct val="0"/>
        </a:spcAft>
        <a:defRPr sz="4000" kern="12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604030504040204" pitchFamily="34" charset="0"/>
        </a:defRPr>
      </a:lvl2pPr>
      <a:lvl3pPr algn="ctr" rtl="0" fontAlgn="base">
        <a:spcBef>
          <a:spcPct val="0"/>
        </a:spcBef>
        <a:spcAft>
          <a:spcPct val="0"/>
        </a:spcAft>
        <a:defRPr sz="4000">
          <a:solidFill>
            <a:schemeClr val="tx2"/>
          </a:solidFill>
          <a:latin typeface="Verdana" panose="020B0604030504040204" pitchFamily="34" charset="0"/>
        </a:defRPr>
      </a:lvl3pPr>
      <a:lvl4pPr algn="ctr" rtl="0" fontAlgn="base">
        <a:spcBef>
          <a:spcPct val="0"/>
        </a:spcBef>
        <a:spcAft>
          <a:spcPct val="0"/>
        </a:spcAft>
        <a:defRPr sz="4000">
          <a:solidFill>
            <a:schemeClr val="tx2"/>
          </a:solidFill>
          <a:latin typeface="Verdana" panose="020B0604030504040204" pitchFamily="34" charset="0"/>
        </a:defRPr>
      </a:lvl4pPr>
      <a:lvl5pPr algn="ctr" rtl="0" fontAlgn="base">
        <a:spcBef>
          <a:spcPct val="0"/>
        </a:spcBef>
        <a:spcAft>
          <a:spcPct val="0"/>
        </a:spcAft>
        <a:defRPr sz="4000">
          <a:solidFill>
            <a:schemeClr val="tx2"/>
          </a:solidFill>
          <a:latin typeface="Verdana" panose="020B0604030504040204" pitchFamily="34" charset="0"/>
        </a:defRPr>
      </a:lvl5pPr>
      <a:lvl6pPr marL="457200" algn="ctr" rtl="0" fontAlgn="base">
        <a:spcBef>
          <a:spcPct val="0"/>
        </a:spcBef>
        <a:spcAft>
          <a:spcPct val="0"/>
        </a:spcAft>
        <a:defRPr sz="4000">
          <a:solidFill>
            <a:schemeClr val="tx2"/>
          </a:solidFill>
          <a:latin typeface="Verdana" panose="020B0604030504040204" pitchFamily="34" charset="0"/>
        </a:defRPr>
      </a:lvl6pPr>
      <a:lvl7pPr marL="914400" algn="ctr" rtl="0" fontAlgn="base">
        <a:spcBef>
          <a:spcPct val="0"/>
        </a:spcBef>
        <a:spcAft>
          <a:spcPct val="0"/>
        </a:spcAft>
        <a:defRPr sz="4000">
          <a:solidFill>
            <a:schemeClr val="tx2"/>
          </a:solidFill>
          <a:latin typeface="Verdana" panose="020B0604030504040204" pitchFamily="34" charset="0"/>
        </a:defRPr>
      </a:lvl7pPr>
      <a:lvl8pPr marL="1371600" algn="ctr" rtl="0" fontAlgn="base">
        <a:spcBef>
          <a:spcPct val="0"/>
        </a:spcBef>
        <a:spcAft>
          <a:spcPct val="0"/>
        </a:spcAft>
        <a:defRPr sz="4000">
          <a:solidFill>
            <a:schemeClr val="tx2"/>
          </a:solidFill>
          <a:latin typeface="Verdana" panose="020B0604030504040204" pitchFamily="34" charset="0"/>
        </a:defRPr>
      </a:lvl8pPr>
      <a:lvl9pPr marL="1828800" algn="ctr" rtl="0" fontAlgn="base">
        <a:spcBef>
          <a:spcPct val="0"/>
        </a:spcBef>
        <a:spcAft>
          <a:spcPct val="0"/>
        </a:spcAft>
        <a:defRPr sz="4000">
          <a:solidFill>
            <a:schemeClr val="tx2"/>
          </a:solidFill>
          <a:latin typeface="Verdan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43"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graphicFrame>
        <p:nvGraphicFramePr>
          <p:cNvPr id="10244" name="Object 4"/>
          <p:cNvGraphicFramePr>
            <a:graphicFrameLocks noChangeAspect="1"/>
          </p:cNvGraphicFramePr>
          <p:nvPr userDrawn="1"/>
        </p:nvGraphicFramePr>
        <p:xfrm>
          <a:off x="0" y="6267450"/>
          <a:ext cx="9144000" cy="628650"/>
        </p:xfrm>
        <a:graphic>
          <a:graphicData uri="http://schemas.openxmlformats.org/presentationml/2006/ole">
            <mc:AlternateContent xmlns:mc="http://schemas.openxmlformats.org/markup-compatibility/2006">
              <mc:Choice xmlns:v="urn:schemas-microsoft-com:vml" Requires="v">
                <p:oleObj spid="_x0000_s10257" name="CorelDRAW" r:id="rId14" imgW="9570600" imgH="657720" progId="">
                  <p:embed/>
                </p:oleObj>
              </mc:Choice>
              <mc:Fallback>
                <p:oleObj name="CorelDRAW" r:id="rId14" imgW="9570600" imgH="657720" progId="">
                  <p:embed/>
                  <p:pic>
                    <p:nvPicPr>
                      <p:cNvPr id="0" name="Picture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267450"/>
                        <a:ext cx="9144000" cy="62865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000" kern="12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604030504040204" pitchFamily="34" charset="0"/>
        </a:defRPr>
      </a:lvl2pPr>
      <a:lvl3pPr algn="ctr" rtl="0" fontAlgn="base">
        <a:spcBef>
          <a:spcPct val="0"/>
        </a:spcBef>
        <a:spcAft>
          <a:spcPct val="0"/>
        </a:spcAft>
        <a:defRPr sz="4000">
          <a:solidFill>
            <a:schemeClr val="tx2"/>
          </a:solidFill>
          <a:latin typeface="Verdana" panose="020B0604030504040204" pitchFamily="34" charset="0"/>
        </a:defRPr>
      </a:lvl3pPr>
      <a:lvl4pPr algn="ctr" rtl="0" fontAlgn="base">
        <a:spcBef>
          <a:spcPct val="0"/>
        </a:spcBef>
        <a:spcAft>
          <a:spcPct val="0"/>
        </a:spcAft>
        <a:defRPr sz="4000">
          <a:solidFill>
            <a:schemeClr val="tx2"/>
          </a:solidFill>
          <a:latin typeface="Verdana" panose="020B0604030504040204" pitchFamily="34" charset="0"/>
        </a:defRPr>
      </a:lvl4pPr>
      <a:lvl5pPr algn="ctr" rtl="0" fontAlgn="base">
        <a:spcBef>
          <a:spcPct val="0"/>
        </a:spcBef>
        <a:spcAft>
          <a:spcPct val="0"/>
        </a:spcAft>
        <a:defRPr sz="4000">
          <a:solidFill>
            <a:schemeClr val="tx2"/>
          </a:solidFill>
          <a:latin typeface="Verdana" panose="020B0604030504040204" pitchFamily="34" charset="0"/>
        </a:defRPr>
      </a:lvl5pPr>
      <a:lvl6pPr marL="457200" algn="ctr" rtl="0" fontAlgn="base">
        <a:spcBef>
          <a:spcPct val="0"/>
        </a:spcBef>
        <a:spcAft>
          <a:spcPct val="0"/>
        </a:spcAft>
        <a:defRPr sz="4000">
          <a:solidFill>
            <a:schemeClr val="tx2"/>
          </a:solidFill>
          <a:latin typeface="Verdana" panose="020B0604030504040204" pitchFamily="34" charset="0"/>
        </a:defRPr>
      </a:lvl6pPr>
      <a:lvl7pPr marL="914400" algn="ctr" rtl="0" fontAlgn="base">
        <a:spcBef>
          <a:spcPct val="0"/>
        </a:spcBef>
        <a:spcAft>
          <a:spcPct val="0"/>
        </a:spcAft>
        <a:defRPr sz="4000">
          <a:solidFill>
            <a:schemeClr val="tx2"/>
          </a:solidFill>
          <a:latin typeface="Verdana" panose="020B0604030504040204" pitchFamily="34" charset="0"/>
        </a:defRPr>
      </a:lvl7pPr>
      <a:lvl8pPr marL="1371600" algn="ctr" rtl="0" fontAlgn="base">
        <a:spcBef>
          <a:spcPct val="0"/>
        </a:spcBef>
        <a:spcAft>
          <a:spcPct val="0"/>
        </a:spcAft>
        <a:defRPr sz="4000">
          <a:solidFill>
            <a:schemeClr val="tx2"/>
          </a:solidFill>
          <a:latin typeface="Verdana" panose="020B0604030504040204" pitchFamily="34" charset="0"/>
        </a:defRPr>
      </a:lvl8pPr>
      <a:lvl9pPr marL="1828800" algn="ctr" rtl="0" fontAlgn="base">
        <a:spcBef>
          <a:spcPct val="0"/>
        </a:spcBef>
        <a:spcAft>
          <a:spcPct val="0"/>
        </a:spcAft>
        <a:defRPr sz="4000">
          <a:solidFill>
            <a:schemeClr val="tx2"/>
          </a:solidFill>
          <a:latin typeface="Verdan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3.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16.wmf"/><Relationship Id="rId5" Type="http://schemas.openxmlformats.org/officeDocument/2006/relationships/oleObject" Target="../embeddings/oleObject8.bin"/><Relationship Id="rId4" Type="http://schemas.openxmlformats.org/officeDocument/2006/relationships/image" Target="../media/image1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685800" y="2362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000">
                <a:solidFill>
                  <a:srgbClr val="1B57B5"/>
                </a:solidFill>
                <a:latin typeface="Verdana" panose="020B0604030504040204" pitchFamily="34" charset="0"/>
              </a:defRPr>
            </a:lvl1pPr>
            <a:lvl2pPr algn="ctr">
              <a:defRPr sz="4000">
                <a:solidFill>
                  <a:srgbClr val="1B57B5"/>
                </a:solidFill>
                <a:latin typeface="Verdana" panose="020B0604030504040204" pitchFamily="34" charset="0"/>
              </a:defRPr>
            </a:lvl2pPr>
            <a:lvl3pPr algn="ctr">
              <a:defRPr sz="4000">
                <a:solidFill>
                  <a:srgbClr val="1B57B5"/>
                </a:solidFill>
                <a:latin typeface="Verdana" panose="020B0604030504040204" pitchFamily="34" charset="0"/>
              </a:defRPr>
            </a:lvl3pPr>
            <a:lvl4pPr algn="ctr">
              <a:defRPr sz="4000">
                <a:solidFill>
                  <a:srgbClr val="1B57B5"/>
                </a:solidFill>
                <a:latin typeface="Verdana" panose="020B0604030504040204" pitchFamily="34" charset="0"/>
              </a:defRPr>
            </a:lvl4pPr>
            <a:lvl5pPr algn="ctr">
              <a:defRPr sz="4000">
                <a:solidFill>
                  <a:srgbClr val="1B57B5"/>
                </a:solidFill>
                <a:latin typeface="Verdana" panose="020B0604030504040204" pitchFamily="34" charset="0"/>
              </a:defRPr>
            </a:lvl5pPr>
            <a:lvl6pPr marL="457200" algn="ctr" fontAlgn="base">
              <a:spcBef>
                <a:spcPct val="0"/>
              </a:spcBef>
              <a:spcAft>
                <a:spcPct val="0"/>
              </a:spcAft>
              <a:defRPr sz="4000">
                <a:solidFill>
                  <a:srgbClr val="1B57B5"/>
                </a:solidFill>
                <a:latin typeface="Verdana" panose="020B0604030504040204" pitchFamily="34" charset="0"/>
              </a:defRPr>
            </a:lvl6pPr>
            <a:lvl7pPr marL="914400" algn="ctr" fontAlgn="base">
              <a:spcBef>
                <a:spcPct val="0"/>
              </a:spcBef>
              <a:spcAft>
                <a:spcPct val="0"/>
              </a:spcAft>
              <a:defRPr sz="4000">
                <a:solidFill>
                  <a:srgbClr val="1B57B5"/>
                </a:solidFill>
                <a:latin typeface="Verdana" panose="020B0604030504040204" pitchFamily="34" charset="0"/>
              </a:defRPr>
            </a:lvl7pPr>
            <a:lvl8pPr marL="1371600" algn="ctr" fontAlgn="base">
              <a:spcBef>
                <a:spcPct val="0"/>
              </a:spcBef>
              <a:spcAft>
                <a:spcPct val="0"/>
              </a:spcAft>
              <a:defRPr sz="4000">
                <a:solidFill>
                  <a:srgbClr val="1B57B5"/>
                </a:solidFill>
                <a:latin typeface="Verdana" panose="020B0604030504040204" pitchFamily="34" charset="0"/>
              </a:defRPr>
            </a:lvl8pPr>
            <a:lvl9pPr marL="1828800" algn="ctr" fontAlgn="base">
              <a:spcBef>
                <a:spcPct val="0"/>
              </a:spcBef>
              <a:spcAft>
                <a:spcPct val="0"/>
              </a:spcAft>
              <a:defRPr sz="4000">
                <a:solidFill>
                  <a:srgbClr val="1B57B5"/>
                </a:solidFill>
                <a:latin typeface="Verdana" panose="020B0604030504040204" pitchFamily="34" charset="0"/>
              </a:defRPr>
            </a:lvl9pPr>
          </a:lstStyle>
          <a:p>
            <a:r>
              <a:rPr lang="en-US" altLang="en-US" sz="4400" b="1" dirty="0" smtClean="0">
                <a:solidFill>
                  <a:srgbClr val="FF0000"/>
                </a:solidFill>
                <a:latin typeface="Times New Roman" panose="02020603050405020304" pitchFamily="18" charset="0"/>
                <a:cs typeface="Times New Roman" panose="02020603050405020304" pitchFamily="18" charset="0"/>
              </a:rPr>
              <a:t>DISCRETE MATHEMATICS</a:t>
            </a:r>
            <a:endParaRPr lang="en-US" altLang="en-US" sz="4400" b="1" dirty="0">
              <a:solidFill>
                <a:srgbClr val="FF0000"/>
              </a:solidFill>
              <a:latin typeface="Times New Roman" panose="02020603050405020304" pitchFamily="18" charset="0"/>
              <a:cs typeface="Times New Roman" panose="02020603050405020304" pitchFamily="18" charset="0"/>
            </a:endParaRPr>
          </a:p>
        </p:txBody>
      </p:sp>
      <p:sp>
        <p:nvSpPr>
          <p:cNvPr id="6147" name="Rectangle 3"/>
          <p:cNvSpPr>
            <a:spLocks noChangeArrowheads="1"/>
          </p:cNvSpPr>
          <p:nvPr/>
        </p:nvSpPr>
        <p:spPr bwMode="auto">
          <a:xfrm>
            <a:off x="228600" y="3886200"/>
            <a:ext cx="8763000" cy="143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spcBef>
                <a:spcPct val="20000"/>
              </a:spcBef>
              <a:defRPr sz="3200">
                <a:solidFill>
                  <a:schemeClr val="bg2"/>
                </a:solidFill>
                <a:latin typeface="Verdana" panose="020B0604030504040204" pitchFamily="34" charset="0"/>
              </a:defRPr>
            </a:lvl1pPr>
            <a:lvl2pPr marL="742950" indent="-285750" algn="ctr">
              <a:spcBef>
                <a:spcPct val="20000"/>
              </a:spcBef>
              <a:defRPr sz="2800">
                <a:solidFill>
                  <a:schemeClr val="tx1"/>
                </a:solidFill>
                <a:latin typeface="Verdana" panose="020B0604030504040204" pitchFamily="34" charset="0"/>
              </a:defRPr>
            </a:lvl2pPr>
            <a:lvl3pPr marL="1143000" indent="-228600" algn="ctr">
              <a:spcBef>
                <a:spcPct val="20000"/>
              </a:spcBef>
              <a:defRPr sz="2400">
                <a:solidFill>
                  <a:schemeClr val="tx1"/>
                </a:solidFill>
                <a:latin typeface="Verdana" panose="020B0604030504040204" pitchFamily="34" charset="0"/>
              </a:defRPr>
            </a:lvl3pPr>
            <a:lvl4pPr marL="1600200" indent="-228600" algn="ctr">
              <a:spcBef>
                <a:spcPct val="20000"/>
              </a:spcBef>
              <a:defRPr sz="2000">
                <a:solidFill>
                  <a:schemeClr val="tx1"/>
                </a:solidFill>
                <a:latin typeface="Verdana" panose="020B0604030504040204" pitchFamily="34" charset="0"/>
              </a:defRPr>
            </a:lvl4pPr>
            <a:lvl5pPr marL="2057400" indent="-228600" algn="ctr">
              <a:spcBef>
                <a:spcPct val="20000"/>
              </a:spcBef>
              <a:defRPr sz="2000">
                <a:solidFill>
                  <a:schemeClr val="tx1"/>
                </a:solidFill>
                <a:latin typeface="Verdana" panose="020B0604030504040204" pitchFamily="34" charset="0"/>
              </a:defRPr>
            </a:lvl5pPr>
            <a:lvl6pPr marL="2514600" indent="-228600" algn="ctr" fontAlgn="base">
              <a:spcBef>
                <a:spcPct val="20000"/>
              </a:spcBef>
              <a:spcAft>
                <a:spcPct val="0"/>
              </a:spcAft>
              <a:defRPr sz="2000">
                <a:solidFill>
                  <a:schemeClr val="tx1"/>
                </a:solidFill>
                <a:latin typeface="Verdana" panose="020B0604030504040204" pitchFamily="34" charset="0"/>
              </a:defRPr>
            </a:lvl6pPr>
            <a:lvl7pPr marL="2971800" indent="-228600" algn="ctr" fontAlgn="base">
              <a:spcBef>
                <a:spcPct val="20000"/>
              </a:spcBef>
              <a:spcAft>
                <a:spcPct val="0"/>
              </a:spcAft>
              <a:defRPr sz="2000">
                <a:solidFill>
                  <a:schemeClr val="tx1"/>
                </a:solidFill>
                <a:latin typeface="Verdana" panose="020B0604030504040204" pitchFamily="34" charset="0"/>
              </a:defRPr>
            </a:lvl7pPr>
            <a:lvl8pPr marL="3429000" indent="-228600" algn="ctr" fontAlgn="base">
              <a:spcBef>
                <a:spcPct val="20000"/>
              </a:spcBef>
              <a:spcAft>
                <a:spcPct val="0"/>
              </a:spcAft>
              <a:defRPr sz="2000">
                <a:solidFill>
                  <a:schemeClr val="tx1"/>
                </a:solidFill>
                <a:latin typeface="Verdana" panose="020B0604030504040204" pitchFamily="34" charset="0"/>
              </a:defRPr>
            </a:lvl8pPr>
            <a:lvl9pPr marL="3886200" indent="-228600" algn="ctr" fontAlgn="base">
              <a:spcBef>
                <a:spcPct val="20000"/>
              </a:spcBef>
              <a:spcAft>
                <a:spcPct val="0"/>
              </a:spcAft>
              <a:defRPr sz="2000">
                <a:solidFill>
                  <a:schemeClr val="tx1"/>
                </a:solidFill>
                <a:latin typeface="Verdana" panose="020B0604030504040204" pitchFamily="34" charset="0"/>
              </a:defRPr>
            </a:lvl9pPr>
          </a:lstStyle>
          <a:p>
            <a:r>
              <a:rPr lang="en-US" altLang="en-US" sz="2800" b="1" dirty="0" smtClean="0">
                <a:solidFill>
                  <a:srgbClr val="7030A0"/>
                </a:solidFill>
              </a:rPr>
              <a:t>Department of Mathematics</a:t>
            </a:r>
          </a:p>
          <a:p>
            <a:r>
              <a:rPr lang="en-US" altLang="en-US" sz="2800" b="1" dirty="0" smtClean="0">
                <a:solidFill>
                  <a:srgbClr val="002060"/>
                </a:solidFill>
              </a:rPr>
              <a:t>SSN </a:t>
            </a:r>
            <a:r>
              <a:rPr lang="en-US" altLang="en-US" sz="2800" b="1" dirty="0">
                <a:solidFill>
                  <a:srgbClr val="002060"/>
                </a:solidFill>
              </a:rPr>
              <a:t>College of </a:t>
            </a:r>
            <a:r>
              <a:rPr lang="en-US" altLang="en-US" sz="2800" b="1" dirty="0" smtClean="0">
                <a:solidFill>
                  <a:srgbClr val="002060"/>
                </a:solidFill>
              </a:rPr>
              <a:t>Engineering (Autonomous)</a:t>
            </a:r>
            <a:endParaRPr lang="en-US" altLang="en-US" sz="2800" b="1" dirty="0">
              <a:solidFill>
                <a:srgbClr val="002060"/>
              </a:solidFill>
            </a:endParaRPr>
          </a:p>
        </p:txBody>
      </p:sp>
      <p:sp>
        <p:nvSpPr>
          <p:cNvPr id="6161" name="Rectangle 17"/>
          <p:cNvSpPr>
            <a:spLocks noChangeArrowheads="1"/>
          </p:cNvSpPr>
          <p:nvPr/>
        </p:nvSpPr>
        <p:spPr bwMode="auto">
          <a:xfrm>
            <a:off x="2365375" y="46038"/>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dirty="0"/>
          </a:p>
        </p:txBody>
      </p:sp>
      <p:sp>
        <p:nvSpPr>
          <p:cNvPr id="6162" name="Rectangle 18"/>
          <p:cNvSpPr>
            <a:spLocks noChangeArrowheads="1"/>
          </p:cNvSpPr>
          <p:nvPr/>
        </p:nvSpPr>
        <p:spPr bwMode="auto">
          <a:xfrm>
            <a:off x="0" y="-15499"/>
            <a:ext cx="9144000" cy="1597479"/>
          </a:xfrm>
          <a:prstGeom prst="rect">
            <a:avLst/>
          </a:prstGeom>
          <a:solidFill>
            <a:srgbClr val="33529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Module 1.1</a:t>
            </a:r>
            <a:endParaRPr lang="en-US" b="1" dirty="0">
              <a:solidFill>
                <a:srgbClr val="FF0000"/>
              </a:solidFill>
            </a:endParaRPr>
          </a:p>
        </p:txBody>
      </p:sp>
      <p:sp>
        <p:nvSpPr>
          <p:cNvPr id="3" name="Subtitle 2"/>
          <p:cNvSpPr>
            <a:spLocks noGrp="1"/>
          </p:cNvSpPr>
          <p:nvPr>
            <p:ph type="subTitle" idx="1"/>
          </p:nvPr>
        </p:nvSpPr>
        <p:spPr>
          <a:xfrm>
            <a:off x="1371600" y="3810000"/>
            <a:ext cx="6400800" cy="1419200"/>
          </a:xfrm>
        </p:spPr>
        <p:txBody>
          <a:bodyPr/>
          <a:lstStyle/>
          <a:p>
            <a:r>
              <a:rPr lang="en-US" b="1" dirty="0" smtClean="0">
                <a:solidFill>
                  <a:srgbClr val="1B57B5"/>
                </a:solidFill>
                <a:latin typeface="Times New Roman" panose="02020603050405020304" pitchFamily="18" charset="0"/>
                <a:cs typeface="Times New Roman" panose="02020603050405020304" pitchFamily="18" charset="0"/>
              </a:rPr>
              <a:t>LOGIC</a:t>
            </a:r>
          </a:p>
          <a:p>
            <a:r>
              <a:rPr lang="en-US" b="1" dirty="0" smtClean="0">
                <a:solidFill>
                  <a:srgbClr val="1B57B5"/>
                </a:solidFill>
                <a:latin typeface="Times New Roman" panose="02020603050405020304" pitchFamily="18" charset="0"/>
                <a:cs typeface="Times New Roman" panose="02020603050405020304" pitchFamily="18" charset="0"/>
              </a:rPr>
              <a:t>Propositional Logic </a:t>
            </a:r>
          </a:p>
          <a:p>
            <a:endParaRPr lang="en-US" b="1" dirty="0" smtClean="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676400" y="609600"/>
            <a:ext cx="6248400" cy="707886"/>
          </a:xfrm>
          <a:prstGeom prst="rect">
            <a:avLst/>
          </a:prstGeom>
        </p:spPr>
        <p:txBody>
          <a:bodyPr wrap="square">
            <a:spAutoFit/>
          </a:bodyPr>
          <a:lstStyle/>
          <a:p>
            <a:r>
              <a:rPr lang="en-US" sz="4000" b="1" dirty="0" smtClean="0">
                <a:solidFill>
                  <a:srgbClr val="1B57B5"/>
                </a:solidFill>
                <a:latin typeface="Times New Roman" panose="02020603050405020304" pitchFamily="18" charset="0"/>
                <a:cs typeface="Times New Roman" panose="02020603050405020304" pitchFamily="18" charset="0"/>
              </a:rPr>
              <a:t>PRE-CLASS CONTENT</a:t>
            </a:r>
            <a:endParaRPr lang="en-US" sz="4000" b="1" dirty="0">
              <a:solidFill>
                <a:srgbClr val="1B57B5"/>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Logic</a:t>
            </a:r>
            <a:endParaRPr lang="en-IN" sz="3200" b="1" dirty="0">
              <a:solidFill>
                <a:srgbClr val="335295"/>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None/>
            </a:pPr>
            <a:r>
              <a:rPr lang="en-IN" sz="2400" dirty="0" smtClean="0">
                <a:latin typeface="Times New Roman" pitchFamily="18" charset="0"/>
                <a:cs typeface="Times New Roman" pitchFamily="18" charset="0"/>
              </a:rPr>
              <a:t>    What is </a:t>
            </a:r>
            <a:r>
              <a:rPr lang="en-IN" sz="2400" dirty="0" smtClean="0">
                <a:solidFill>
                  <a:srgbClr val="FF0000"/>
                </a:solidFill>
                <a:latin typeface="Times New Roman" pitchFamily="18" charset="0"/>
                <a:cs typeface="Times New Roman" pitchFamily="18" charset="0"/>
              </a:rPr>
              <a:t>LOGIC?</a:t>
            </a:r>
          </a:p>
          <a:p>
            <a:pPr algn="just">
              <a:buFont typeface="Wingdings" pitchFamily="2" charset="2"/>
              <a:buChar char="v"/>
            </a:pPr>
            <a:r>
              <a:rPr lang="en-IN" sz="2400" dirty="0" smtClean="0">
                <a:latin typeface="Times New Roman" pitchFamily="18" charset="0"/>
                <a:cs typeface="Times New Roman" pitchFamily="18" charset="0"/>
              </a:rPr>
              <a:t>The term </a:t>
            </a:r>
            <a:r>
              <a:rPr lang="en-IN" sz="2400" dirty="0" smtClean="0">
                <a:latin typeface="Times New Roman" pitchFamily="18" charset="0"/>
                <a:cs typeface="Times New Roman" pitchFamily="18" charset="0"/>
              </a:rPr>
              <a:t>“Logic</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came from Greek word </a:t>
            </a:r>
            <a:r>
              <a:rPr lang="en-IN" sz="2400" dirty="0" smtClean="0">
                <a:solidFill>
                  <a:srgbClr val="FF0000"/>
                </a:solidFill>
                <a:latin typeface="Times New Roman" pitchFamily="18" charset="0"/>
                <a:cs typeface="Times New Roman" pitchFamily="18" charset="0"/>
              </a:rPr>
              <a:t>“</a:t>
            </a:r>
            <a:r>
              <a:rPr lang="en-IN" sz="2400" dirty="0" smtClean="0">
                <a:solidFill>
                  <a:srgbClr val="FF0000"/>
                </a:solidFill>
                <a:latin typeface="Times New Roman" pitchFamily="18" charset="0"/>
                <a:cs typeface="Times New Roman" pitchFamily="18" charset="0"/>
              </a:rPr>
              <a:t>logos</a:t>
            </a:r>
            <a:r>
              <a:rPr lang="en-IN" sz="2400" dirty="0" smtClean="0">
                <a:solidFill>
                  <a:srgbClr val="FF0000"/>
                </a:solidFill>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which is sometimes translated as </a:t>
            </a:r>
            <a:r>
              <a:rPr lang="en-IN" sz="2400" dirty="0" smtClean="0">
                <a:latin typeface="Times New Roman" pitchFamily="18" charset="0"/>
                <a:cs typeface="Times New Roman" pitchFamily="18" charset="0"/>
              </a:rPr>
              <a:t>“sentence”,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discourse</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reason</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rule</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and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ratio</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algn="just">
              <a:buFont typeface="Wingdings" pitchFamily="2" charset="2"/>
              <a:buChar char="v"/>
            </a:pPr>
            <a:r>
              <a:rPr lang="en-IN" sz="2400" dirty="0" smtClean="0">
                <a:latin typeface="Times New Roman" pitchFamily="18" charset="0"/>
                <a:cs typeface="Times New Roman" pitchFamily="18" charset="0"/>
              </a:rPr>
              <a:t>The Greek word </a:t>
            </a:r>
            <a:r>
              <a:rPr lang="en-IN" sz="2400" dirty="0" smtClean="0">
                <a:latin typeface="Times New Roman" pitchFamily="18" charset="0"/>
                <a:cs typeface="Times New Roman" pitchFamily="18" charset="0"/>
              </a:rPr>
              <a:t>“logos</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means ‘thought’. There are many thought processes such as </a:t>
            </a:r>
            <a:r>
              <a:rPr lang="en-IN" sz="2400" dirty="0" smtClean="0">
                <a:latin typeface="Times New Roman" pitchFamily="18" charset="0"/>
                <a:cs typeface="Times New Roman" pitchFamily="18" charset="0"/>
              </a:rPr>
              <a:t>“reasoning</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remembering</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imagining”. </a:t>
            </a:r>
            <a:r>
              <a:rPr lang="en-IN" sz="2400" dirty="0" smtClean="0">
                <a:latin typeface="Times New Roman" pitchFamily="18" charset="0"/>
                <a:cs typeface="Times New Roman" pitchFamily="18" charset="0"/>
              </a:rPr>
              <a:t>Reasoning is a thought process in which inference takes place. Logic is the science of reasoning. </a:t>
            </a:r>
          </a:p>
          <a:p>
            <a:pPr algn="just">
              <a:buFont typeface="Wingdings" pitchFamily="2" charset="2"/>
              <a:buChar char="v"/>
            </a:pPr>
            <a:r>
              <a:rPr lang="en-IN" sz="2400" dirty="0" smtClean="0">
                <a:latin typeface="Times New Roman" pitchFamily="18" charset="0"/>
                <a:cs typeface="Times New Roman" pitchFamily="18" charset="0"/>
              </a:rPr>
              <a:t>Logic is the basis of all </a:t>
            </a:r>
            <a:r>
              <a:rPr lang="en-IN" sz="2400" dirty="0" smtClean="0">
                <a:solidFill>
                  <a:srgbClr val="FF0000"/>
                </a:solidFill>
                <a:latin typeface="Times New Roman" pitchFamily="18" charset="0"/>
                <a:cs typeface="Times New Roman" pitchFamily="18" charset="0"/>
              </a:rPr>
              <a:t>Mathematical reasoning </a:t>
            </a:r>
            <a:r>
              <a:rPr lang="en-IN" sz="2400" dirty="0" smtClean="0">
                <a:latin typeface="Times New Roman" pitchFamily="18" charset="0"/>
                <a:cs typeface="Times New Roman" pitchFamily="18" charset="0"/>
              </a:rPr>
              <a:t>and of all automated reasoning. The rules of logic specify the meaning of </a:t>
            </a:r>
            <a:r>
              <a:rPr lang="en-IN" sz="2400" dirty="0" smtClean="0">
                <a:solidFill>
                  <a:srgbClr val="FF0000"/>
                </a:solidFill>
                <a:latin typeface="Times New Roman" pitchFamily="18" charset="0"/>
                <a:cs typeface="Times New Roman" pitchFamily="18" charset="0"/>
              </a:rPr>
              <a:t>Mathematical statements</a:t>
            </a:r>
            <a:r>
              <a:rPr lang="en-IN" sz="2400" dirty="0" smtClean="0">
                <a:latin typeface="Times New Roman" pitchFamily="18" charset="0"/>
                <a:cs typeface="Times New Roman" pitchFamily="18" charset="0"/>
              </a:rPr>
              <a:t>.</a:t>
            </a:r>
            <a:r>
              <a:rPr lang="en-IN" sz="2400" dirty="0" smtClean="0"/>
              <a:t> </a:t>
            </a:r>
            <a:endParaRPr lang="en-IN" sz="2400"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Mathematical  Logic</a:t>
            </a:r>
            <a:endParaRPr lang="en-IN" sz="3200" b="1" dirty="0">
              <a:solidFill>
                <a:srgbClr val="335295"/>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None/>
            </a:pPr>
            <a:r>
              <a:rPr lang="en-US" sz="2400" dirty="0" smtClean="0">
                <a:solidFill>
                  <a:srgbClr val="FF0000"/>
                </a:solidFill>
                <a:latin typeface="Times New Roman" pitchFamily="18" charset="0"/>
                <a:cs typeface="Times New Roman" pitchFamily="18" charset="0"/>
              </a:rPr>
              <a:t>    Importance of Mathematical Logic</a:t>
            </a:r>
          </a:p>
          <a:p>
            <a:pPr algn="just">
              <a:buFont typeface="Wingdings" pitchFamily="2" charset="2"/>
              <a:buChar char="v"/>
            </a:pPr>
            <a:r>
              <a:rPr lang="en-IN" sz="2400" dirty="0" smtClean="0">
                <a:solidFill>
                  <a:srgbClr val="000000"/>
                </a:solidFill>
                <a:latin typeface="Times New Roman" pitchFamily="18" charset="0"/>
                <a:cs typeface="Times New Roman" pitchFamily="18" charset="0"/>
              </a:rPr>
              <a:t>The rules of logic give precise meaning to </a:t>
            </a:r>
            <a:r>
              <a:rPr lang="en-IN" sz="2400" dirty="0" smtClean="0">
                <a:solidFill>
                  <a:srgbClr val="FF0000"/>
                </a:solidFill>
                <a:latin typeface="Times New Roman" pitchFamily="18" charset="0"/>
                <a:cs typeface="Times New Roman" pitchFamily="18" charset="0"/>
              </a:rPr>
              <a:t>mathematical statements</a:t>
            </a:r>
            <a:r>
              <a:rPr lang="en-IN" sz="2400" dirty="0" smtClean="0">
                <a:solidFill>
                  <a:srgbClr val="000000"/>
                </a:solidFill>
                <a:latin typeface="Times New Roman" pitchFamily="18" charset="0"/>
                <a:cs typeface="Times New Roman" pitchFamily="18" charset="0"/>
              </a:rPr>
              <a:t>. These rules are used to distinguish between valid and invalid mathematical arguments.</a:t>
            </a:r>
          </a:p>
          <a:p>
            <a:pPr algn="just">
              <a:buFont typeface="Wingdings" pitchFamily="2" charset="2"/>
              <a:buChar char="v"/>
            </a:pPr>
            <a:r>
              <a:rPr lang="en-IN" sz="2400" dirty="0" smtClean="0">
                <a:solidFill>
                  <a:srgbClr val="000000"/>
                </a:solidFill>
                <a:latin typeface="Times New Roman" pitchFamily="18" charset="0"/>
                <a:cs typeface="Times New Roman" pitchFamily="18" charset="0"/>
              </a:rPr>
              <a:t>Apart from its importance in understanding Mathematical reasoning, Logic has numerous applications in Computer Science, varying from design of digital circuits to the construction of computer programs and verification of correctness of programs, </a:t>
            </a:r>
            <a:r>
              <a:rPr lang="en-IN" sz="2400" dirty="0" smtClean="0">
                <a:solidFill>
                  <a:srgbClr val="FF0000"/>
                </a:solidFill>
                <a:latin typeface="Times New Roman" pitchFamily="18" charset="0"/>
                <a:cs typeface="Times New Roman" pitchFamily="18" charset="0"/>
              </a:rPr>
              <a:t>Artificial intelligence, Automata theory</a:t>
            </a:r>
            <a:r>
              <a:rPr lang="en-IN" sz="2400" dirty="0" smtClean="0">
                <a:solidFill>
                  <a:srgbClr val="000000"/>
                </a:solidFill>
                <a:latin typeface="Times New Roman" pitchFamily="18" charset="0"/>
                <a:cs typeface="Times New Roman" pitchFamily="18" charset="0"/>
              </a:rPr>
              <a:t>, etc.</a:t>
            </a:r>
            <a:endParaRPr lang="en-IN" sz="2400" dirty="0">
              <a:solidFill>
                <a:srgbClr val="000000"/>
              </a:solidFill>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History of Logic</a:t>
            </a:r>
            <a:endParaRPr lang="en-IN" sz="3200" b="1" dirty="0">
              <a:solidFill>
                <a:srgbClr val="335295"/>
              </a:solidFill>
            </a:endParaRPr>
          </a:p>
        </p:txBody>
      </p:sp>
      <p:sp>
        <p:nvSpPr>
          <p:cNvPr id="3" name="Content Placeholder 2"/>
          <p:cNvSpPr>
            <a:spLocks noGrp="1"/>
          </p:cNvSpPr>
          <p:nvPr>
            <p:ph idx="1"/>
          </p:nvPr>
        </p:nvSpPr>
        <p:spPr>
          <a:xfrm>
            <a:off x="500034" y="1500174"/>
            <a:ext cx="5500726" cy="4714908"/>
          </a:xfrm>
        </p:spPr>
        <p:txBody>
          <a:bodyPr/>
          <a:lstStyle/>
          <a:p>
            <a:pPr algn="just">
              <a:buFont typeface="Arial" pitchFamily="34" charset="0"/>
              <a:buChar char="•"/>
            </a:pPr>
            <a:r>
              <a:rPr lang="en-IN" sz="2400" dirty="0" smtClean="0">
                <a:latin typeface="Times New Roman" pitchFamily="18" charset="0"/>
                <a:cs typeface="Times New Roman" pitchFamily="18" charset="0"/>
              </a:rPr>
              <a:t>Logic was ﬁrst developed by </a:t>
            </a:r>
            <a:r>
              <a:rPr lang="en-IN" sz="2400" dirty="0" smtClean="0">
                <a:solidFill>
                  <a:srgbClr val="FF0000"/>
                </a:solidFill>
                <a:latin typeface="Times New Roman" pitchFamily="18" charset="0"/>
                <a:cs typeface="Times New Roman" pitchFamily="18" charset="0"/>
              </a:rPr>
              <a:t>Aristotle </a:t>
            </a:r>
            <a:r>
              <a:rPr lang="en-IN" sz="2400" dirty="0" smtClean="0">
                <a:latin typeface="Times New Roman" pitchFamily="18" charset="0"/>
                <a:cs typeface="Times New Roman" pitchFamily="18" charset="0"/>
              </a:rPr>
              <a:t>(384-322 BCE).</a:t>
            </a:r>
          </a:p>
          <a:p>
            <a:pPr algn="just"/>
            <a:r>
              <a:rPr lang="en-IN" sz="2400" dirty="0" smtClean="0">
                <a:latin typeface="Times New Roman" pitchFamily="18" charset="0"/>
                <a:cs typeface="Times New Roman" pitchFamily="18" charset="0"/>
              </a:rPr>
              <a:t>Aristotelian logic became widely accepted in Science and Mathematics and remained in wide use in the west until the early 19</a:t>
            </a:r>
            <a:r>
              <a:rPr lang="en-IN" sz="2400" baseline="30000" dirty="0" smtClean="0">
                <a:latin typeface="Times New Roman" pitchFamily="18" charset="0"/>
                <a:cs typeface="Times New Roman" pitchFamily="18" charset="0"/>
              </a:rPr>
              <a:t>th</a:t>
            </a:r>
            <a:r>
              <a:rPr lang="en-IN" sz="2400" dirty="0" smtClean="0">
                <a:latin typeface="Times New Roman" pitchFamily="18" charset="0"/>
                <a:cs typeface="Times New Roman" pitchFamily="18" charset="0"/>
              </a:rPr>
              <a:t> century. </a:t>
            </a:r>
          </a:p>
          <a:p>
            <a:pPr algn="just"/>
            <a:r>
              <a:rPr lang="en-IN" sz="2400" dirty="0" smtClean="0">
                <a:latin typeface="Times New Roman" pitchFamily="18" charset="0"/>
                <a:cs typeface="Times New Roman" pitchFamily="18" charset="0"/>
              </a:rPr>
              <a:t>Aristotle's system of logic was responsible for the introduction </a:t>
            </a:r>
            <a:r>
              <a:rPr lang="en-IN" sz="2400" dirty="0" smtClean="0">
                <a:solidFill>
                  <a:srgbClr val="FF0000"/>
                </a:solidFill>
                <a:latin typeface="Times New Roman" pitchFamily="18" charset="0"/>
                <a:cs typeface="Times New Roman" pitchFamily="18" charset="0"/>
              </a:rPr>
              <a:t>hypothetical syllogism, temporal modal logic </a:t>
            </a:r>
            <a:r>
              <a:rPr lang="en-IN" sz="2400" dirty="0" smtClean="0">
                <a:latin typeface="Times New Roman" pitchFamily="18" charset="0"/>
                <a:cs typeface="Times New Roman" pitchFamily="18" charset="0"/>
              </a:rPr>
              <a:t>and the </a:t>
            </a:r>
            <a:r>
              <a:rPr lang="en-IN" sz="2400" dirty="0" smtClean="0">
                <a:solidFill>
                  <a:srgbClr val="FF0000"/>
                </a:solidFill>
                <a:latin typeface="Times New Roman" pitchFamily="18" charset="0"/>
                <a:cs typeface="Times New Roman" pitchFamily="18" charset="0"/>
              </a:rPr>
              <a:t>inductive logic</a:t>
            </a:r>
            <a:r>
              <a:rPr lang="en-IN" sz="2400" dirty="0" smtClean="0">
                <a:latin typeface="Times New Roman" pitchFamily="18" charset="0"/>
                <a:cs typeface="Times New Roman" pitchFamily="18" charset="0"/>
              </a:rPr>
              <a:t>.</a:t>
            </a:r>
          </a:p>
          <a:p>
            <a:pPr>
              <a:buNone/>
            </a:pPr>
            <a:endParaRPr lang="en-IN" sz="2400" dirty="0" smtClean="0">
              <a:solidFill>
                <a:srgbClr val="000000"/>
              </a:solidFill>
              <a:latin typeface="Times New Roman" pitchFamily="18" charset="0"/>
              <a:cs typeface="Times New Roman" pitchFamily="18" charset="0"/>
            </a:endParaRPr>
          </a:p>
          <a:p>
            <a:pPr>
              <a:buNone/>
            </a:pPr>
            <a:endParaRPr lang="en-US" sz="2400" dirty="0" smtClean="0">
              <a:solidFill>
                <a:srgbClr val="000000"/>
              </a:solidFill>
              <a:latin typeface="Times New Roman" pitchFamily="18" charset="0"/>
              <a:cs typeface="Times New Roman" pitchFamily="18" charset="0"/>
            </a:endParaRPr>
          </a:p>
        </p:txBody>
      </p:sp>
      <p:pic>
        <p:nvPicPr>
          <p:cNvPr id="67588" name="Picture 4" descr="C:\Users\WELCOME\Desktop\logic\ARISTOTLE.jpg"/>
          <p:cNvPicPr>
            <a:picLocks noChangeAspect="1" noChangeArrowheads="1"/>
          </p:cNvPicPr>
          <p:nvPr/>
        </p:nvPicPr>
        <p:blipFill>
          <a:blip r:embed="rId3"/>
          <a:srcRect/>
          <a:stretch>
            <a:fillRect/>
          </a:stretch>
        </p:blipFill>
        <p:spPr bwMode="auto">
          <a:xfrm>
            <a:off x="6357950" y="1357298"/>
            <a:ext cx="1962150" cy="2324100"/>
          </a:xfrm>
          <a:prstGeom prst="rect">
            <a:avLst/>
          </a:prstGeom>
          <a:noFill/>
        </p:spPr>
      </p:pic>
      <p:graphicFrame>
        <p:nvGraphicFramePr>
          <p:cNvPr id="5" name="Object 4"/>
          <p:cNvGraphicFramePr>
            <a:graphicFrameLocks noChangeAspect="1"/>
          </p:cNvGraphicFramePr>
          <p:nvPr/>
        </p:nvGraphicFramePr>
        <p:xfrm>
          <a:off x="6429388" y="4000504"/>
          <a:ext cx="2020674" cy="428628"/>
        </p:xfrm>
        <a:graphic>
          <a:graphicData uri="http://schemas.openxmlformats.org/presentationml/2006/ole">
            <mc:AlternateContent xmlns:mc="http://schemas.openxmlformats.org/markup-compatibility/2006">
              <mc:Choice xmlns:v="urn:schemas-microsoft-com:vml" Requires="v">
                <p:oleObj spid="_x0000_s68618" name="Equation" r:id="rId4" imgW="838080" imgH="177480" progId="Equation.3">
                  <p:embed/>
                </p:oleObj>
              </mc:Choice>
              <mc:Fallback>
                <p:oleObj name="Equation" r:id="rId4" imgW="838080" imgH="1774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9388" y="4000504"/>
                        <a:ext cx="2020674"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274638"/>
            <a:ext cx="7972452" cy="654032"/>
          </a:xfrm>
        </p:spPr>
        <p:txBody>
          <a:bodyPr/>
          <a:lstStyle/>
          <a:p>
            <a:r>
              <a:rPr lang="en-US" sz="3200" b="1" dirty="0" smtClean="0">
                <a:solidFill>
                  <a:srgbClr val="335295"/>
                </a:solidFill>
                <a:latin typeface="Times New Roman" pitchFamily="18" charset="0"/>
                <a:cs typeface="Times New Roman" pitchFamily="18" charset="0"/>
              </a:rPr>
              <a:t>Development of Logic</a:t>
            </a:r>
            <a:endParaRPr lang="en-IN" sz="3200" b="1" dirty="0">
              <a:solidFill>
                <a:srgbClr val="335295"/>
              </a:solidFill>
            </a:endParaRPr>
          </a:p>
        </p:txBody>
      </p:sp>
      <p:sp>
        <p:nvSpPr>
          <p:cNvPr id="3" name="Content Placeholder 2"/>
          <p:cNvSpPr>
            <a:spLocks noGrp="1"/>
          </p:cNvSpPr>
          <p:nvPr>
            <p:ph idx="1"/>
          </p:nvPr>
        </p:nvSpPr>
        <p:spPr>
          <a:xfrm>
            <a:off x="642910" y="1000108"/>
            <a:ext cx="5572164" cy="5357850"/>
          </a:xfrm>
        </p:spPr>
        <p:txBody>
          <a:bodyPr/>
          <a:lstStyle/>
          <a:p>
            <a:pPr algn="just"/>
            <a:r>
              <a:rPr lang="en-IN" sz="2400" dirty="0" smtClean="0">
                <a:latin typeface="Times New Roman" pitchFamily="18" charset="0"/>
                <a:cs typeface="Times New Roman" pitchFamily="18" charset="0"/>
              </a:rPr>
              <a:t>The ﬁrst important name in the development of modern symbolic logic is that of </a:t>
            </a:r>
            <a:r>
              <a:rPr lang="en-IN" sz="2400" dirty="0" smtClean="0">
                <a:solidFill>
                  <a:srgbClr val="FF0000"/>
                </a:solidFill>
                <a:latin typeface="Times New Roman" pitchFamily="18" charset="0"/>
                <a:cs typeface="Times New Roman" pitchFamily="18" charset="0"/>
              </a:rPr>
              <a:t>G.W Leibnitz (1646-1716).</a:t>
            </a:r>
          </a:p>
          <a:p>
            <a:pPr algn="just"/>
            <a:r>
              <a:rPr lang="en-IN" sz="2400" dirty="0" smtClean="0">
                <a:latin typeface="Times New Roman" pitchFamily="18" charset="0"/>
                <a:cs typeface="Times New Roman" pitchFamily="18" charset="0"/>
              </a:rPr>
              <a:t>The real development of this Calculus began only in the mid 19</a:t>
            </a:r>
            <a:r>
              <a:rPr lang="en-IN" sz="2400" baseline="30000" dirty="0" smtClean="0">
                <a:latin typeface="Times New Roman" pitchFamily="18" charset="0"/>
                <a:cs typeface="Times New Roman" pitchFamily="18" charset="0"/>
              </a:rPr>
              <a:t>th</a:t>
            </a:r>
            <a:r>
              <a:rPr lang="en-IN" sz="2400" dirty="0" smtClean="0">
                <a:latin typeface="Times New Roman" pitchFamily="18" charset="0"/>
                <a:cs typeface="Times New Roman" pitchFamily="18" charset="0"/>
              </a:rPr>
              <a:t> century and was initiated by the research done by the English Mathematician </a:t>
            </a:r>
            <a:r>
              <a:rPr lang="en-IN" sz="2400" dirty="0" smtClean="0">
                <a:solidFill>
                  <a:srgbClr val="FF0000"/>
                </a:solidFill>
                <a:latin typeface="Times New Roman" pitchFamily="18" charset="0"/>
                <a:cs typeface="Times New Roman" pitchFamily="18" charset="0"/>
              </a:rPr>
              <a:t>G. Boole</a:t>
            </a:r>
            <a:r>
              <a:rPr lang="en-IN" sz="2400" dirty="0" smtClean="0">
                <a:latin typeface="Times New Roman" pitchFamily="18" charset="0"/>
                <a:cs typeface="Times New Roman" pitchFamily="18" charset="0"/>
              </a:rPr>
              <a:t>, who is sometimes regarded as the founder of Mathematical logic. </a:t>
            </a:r>
          </a:p>
          <a:p>
            <a:pPr algn="just"/>
            <a:r>
              <a:rPr lang="en-IN" sz="2400" dirty="0" smtClean="0">
                <a:latin typeface="Times New Roman" pitchFamily="18" charset="0"/>
                <a:cs typeface="Times New Roman" pitchFamily="18" charset="0"/>
              </a:rPr>
              <a:t>Other important logicians who contributed to the development of symbolic logic include </a:t>
            </a:r>
            <a:r>
              <a:rPr lang="en-IN" sz="2400" dirty="0" smtClean="0">
                <a:solidFill>
                  <a:srgbClr val="FF0000"/>
                </a:solidFill>
                <a:latin typeface="Times New Roman" pitchFamily="18" charset="0"/>
                <a:cs typeface="Times New Roman" pitchFamily="18" charset="0"/>
              </a:rPr>
              <a:t>Augustus de Morgan (1806-1871), W.S Jevons (1835-1882) and C.S Peirce (1839-1914).</a:t>
            </a:r>
          </a:p>
          <a:p>
            <a:pPr>
              <a:buNone/>
            </a:pPr>
            <a:endParaRPr lang="en-IN" sz="2400" dirty="0" smtClean="0">
              <a:solidFill>
                <a:srgbClr val="000000"/>
              </a:solidFill>
              <a:latin typeface="Times New Roman" pitchFamily="18" charset="0"/>
              <a:cs typeface="Times New Roman" pitchFamily="18" charset="0"/>
            </a:endParaRPr>
          </a:p>
          <a:p>
            <a:pPr>
              <a:buNone/>
            </a:pPr>
            <a:endParaRPr lang="en-US" sz="2400" dirty="0" smtClean="0">
              <a:solidFill>
                <a:srgbClr val="000000"/>
              </a:solidFill>
              <a:latin typeface="Times New Roman" pitchFamily="18" charset="0"/>
              <a:cs typeface="Times New Roman" pitchFamily="18" charset="0"/>
            </a:endParaRPr>
          </a:p>
        </p:txBody>
      </p:sp>
      <p:pic>
        <p:nvPicPr>
          <p:cNvPr id="92161" name="Picture 1" descr="C:\Users\WELCOME\Desktop\logic\leibnitz.jpg"/>
          <p:cNvPicPr>
            <a:picLocks noChangeAspect="1" noChangeArrowheads="1"/>
          </p:cNvPicPr>
          <p:nvPr/>
        </p:nvPicPr>
        <p:blipFill>
          <a:blip r:embed="rId3"/>
          <a:srcRect/>
          <a:stretch>
            <a:fillRect/>
          </a:stretch>
        </p:blipFill>
        <p:spPr bwMode="auto">
          <a:xfrm>
            <a:off x="6643702" y="1142984"/>
            <a:ext cx="1885950" cy="2428875"/>
          </a:xfrm>
          <a:prstGeom prst="rect">
            <a:avLst/>
          </a:prstGeom>
          <a:noFill/>
        </p:spPr>
      </p:pic>
      <p:graphicFrame>
        <p:nvGraphicFramePr>
          <p:cNvPr id="6" name="Object 5"/>
          <p:cNvGraphicFramePr>
            <a:graphicFrameLocks noChangeAspect="1"/>
          </p:cNvGraphicFramePr>
          <p:nvPr/>
        </p:nvGraphicFramePr>
        <p:xfrm>
          <a:off x="6858016" y="3786190"/>
          <a:ext cx="1714512" cy="428628"/>
        </p:xfrm>
        <a:graphic>
          <a:graphicData uri="http://schemas.openxmlformats.org/presentationml/2006/ole">
            <mc:AlternateContent xmlns:mc="http://schemas.openxmlformats.org/markup-compatibility/2006">
              <mc:Choice xmlns:v="urn:schemas-microsoft-com:vml" Requires="v">
                <p:oleObj spid="_x0000_s92171" name="Equation" r:id="rId4" imgW="711000" imgH="177480" progId="Equation.3">
                  <p:embed/>
                </p:oleObj>
              </mc:Choice>
              <mc:Fallback>
                <p:oleObj name="Equation" r:id="rId4" imgW="711000" imgH="1774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16" y="3786190"/>
                        <a:ext cx="1714512"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Components of Logic </a:t>
            </a:r>
            <a:endParaRPr lang="en-IN" sz="3200" b="1" dirty="0">
              <a:solidFill>
                <a:srgbClr val="335295"/>
              </a:solidFill>
            </a:endParaRPr>
          </a:p>
        </p:txBody>
      </p:sp>
      <p:sp>
        <p:nvSpPr>
          <p:cNvPr id="3" name="Content Placeholder 2"/>
          <p:cNvSpPr>
            <a:spLocks noGrp="1"/>
          </p:cNvSpPr>
          <p:nvPr>
            <p:ph idx="1"/>
          </p:nvPr>
        </p:nvSpPr>
        <p:spPr>
          <a:xfrm>
            <a:off x="357158" y="1142984"/>
            <a:ext cx="6286544" cy="5214974"/>
          </a:xfrm>
        </p:spPr>
        <p:txBody>
          <a:bodyPr/>
          <a:lstStyle/>
          <a:p>
            <a:pPr algn="just">
              <a:buFont typeface="Arial" pitchFamily="34" charset="0"/>
              <a:buChar char="•"/>
            </a:pPr>
            <a:r>
              <a:rPr lang="en-US" sz="2400" dirty="0" smtClean="0">
                <a:latin typeface="Times New Roman" pitchFamily="18" charset="0"/>
                <a:cs typeface="Times New Roman" pitchFamily="18" charset="0"/>
              </a:rPr>
              <a:t>There are two main components of logic</a:t>
            </a:r>
          </a:p>
          <a:p>
            <a:pPr algn="just">
              <a:buFont typeface="Wingdings" pitchFamily="2" charset="2"/>
              <a:buChar char="q"/>
            </a:pPr>
            <a:r>
              <a:rPr lang="en-US" sz="2400" dirty="0" smtClean="0">
                <a:solidFill>
                  <a:srgbClr val="FF0000"/>
                </a:solidFill>
                <a:latin typeface="Times New Roman" pitchFamily="18" charset="0"/>
                <a:cs typeface="Times New Roman" pitchFamily="18" charset="0"/>
              </a:rPr>
              <a:t>Propositional logic </a:t>
            </a:r>
            <a:r>
              <a:rPr lang="en-US" sz="2400" dirty="0" smtClean="0">
                <a:solidFill>
                  <a:srgbClr val="000000"/>
                </a:solidFill>
                <a:latin typeface="Times New Roman" pitchFamily="18" charset="0"/>
                <a:cs typeface="Times New Roman" pitchFamily="18" charset="0"/>
              </a:rPr>
              <a:t>or</a:t>
            </a:r>
            <a:r>
              <a:rPr lang="en-US" sz="2400" dirty="0" smtClean="0">
                <a:solidFill>
                  <a:srgbClr val="FF0000"/>
                </a:solidFill>
                <a:latin typeface="Times New Roman" pitchFamily="18" charset="0"/>
                <a:cs typeface="Times New Roman" pitchFamily="18" charset="0"/>
              </a:rPr>
              <a:t> propositional calculus</a:t>
            </a:r>
          </a:p>
          <a:p>
            <a:pPr algn="just">
              <a:buFont typeface="Wingdings" pitchFamily="2" charset="2"/>
              <a:buChar char="q"/>
            </a:pPr>
            <a:r>
              <a:rPr lang="en-US" sz="2400" dirty="0" smtClean="0">
                <a:solidFill>
                  <a:srgbClr val="FF0000"/>
                </a:solidFill>
                <a:latin typeface="Times New Roman" pitchFamily="18" charset="0"/>
                <a:cs typeface="Times New Roman" pitchFamily="18" charset="0"/>
              </a:rPr>
              <a:t>Predicate logic </a:t>
            </a:r>
            <a:r>
              <a:rPr lang="en-US" sz="2400" dirty="0" smtClean="0">
                <a:solidFill>
                  <a:srgbClr val="000000"/>
                </a:solidFill>
                <a:latin typeface="Times New Roman" pitchFamily="18" charset="0"/>
                <a:cs typeface="Times New Roman" pitchFamily="18" charset="0"/>
              </a:rPr>
              <a:t>or</a:t>
            </a:r>
            <a:r>
              <a:rPr lang="en-US" sz="2400" dirty="0" smtClean="0">
                <a:solidFill>
                  <a:srgbClr val="FF0000"/>
                </a:solidFill>
                <a:latin typeface="Times New Roman" pitchFamily="18" charset="0"/>
                <a:cs typeface="Times New Roman" pitchFamily="18" charset="0"/>
              </a:rPr>
              <a:t> Predicate calculus</a:t>
            </a:r>
          </a:p>
          <a:p>
            <a:pPr algn="just">
              <a:buFont typeface="Arial" pitchFamily="34" charset="0"/>
              <a:buChar char="•"/>
            </a:pPr>
            <a:r>
              <a:rPr lang="en-US" sz="2400" dirty="0" smtClean="0">
                <a:latin typeface="Times New Roman" pitchFamily="18" charset="0"/>
                <a:cs typeface="Times New Roman" pitchFamily="18" charset="0"/>
              </a:rPr>
              <a:t>Propositional logic deals with analysis of propositions where as Predicate logic deals with predicates which are prepositions containing variables. </a:t>
            </a:r>
          </a:p>
          <a:p>
            <a:pPr algn="just">
              <a:buFont typeface="Arial" pitchFamily="34" charset="0"/>
              <a:buChar char="•"/>
            </a:pPr>
            <a:r>
              <a:rPr lang="en-IN" sz="2400" dirty="0" smtClean="0">
                <a:latin typeface="Times New Roman" pitchFamily="18" charset="0"/>
                <a:cs typeface="Times New Roman" pitchFamily="18" charset="0"/>
              </a:rPr>
              <a:t>The classical </a:t>
            </a:r>
            <a:r>
              <a:rPr lang="en-IN" sz="2400" dirty="0" smtClean="0">
                <a:solidFill>
                  <a:srgbClr val="FF0000"/>
                </a:solidFill>
                <a:latin typeface="Times New Roman" pitchFamily="18" charset="0"/>
                <a:cs typeface="Times New Roman" pitchFamily="18" charset="0"/>
              </a:rPr>
              <a:t>Propositional logic </a:t>
            </a:r>
            <a:r>
              <a:rPr lang="en-IN" sz="2400" dirty="0" smtClean="0">
                <a:latin typeface="Times New Roman" pitchFamily="18" charset="0"/>
                <a:cs typeface="Times New Roman" pitchFamily="18" charset="0"/>
              </a:rPr>
              <a:t>was first formulated as a formal axiomatic system by the eminent German logician </a:t>
            </a:r>
            <a:r>
              <a:rPr lang="en-IN" sz="2400" dirty="0" smtClean="0">
                <a:solidFill>
                  <a:srgbClr val="FF0000"/>
                </a:solidFill>
                <a:latin typeface="Times New Roman" pitchFamily="18" charset="0"/>
                <a:cs typeface="Times New Roman" pitchFamily="18" charset="0"/>
              </a:rPr>
              <a:t>G. Frege in 1879</a:t>
            </a:r>
            <a:r>
              <a:rPr lang="en-IN" sz="2400" dirty="0" smtClean="0">
                <a:latin typeface="Times New Roman" pitchFamily="18" charset="0"/>
                <a:cs typeface="Times New Roman" pitchFamily="18" charset="0"/>
              </a:rPr>
              <a:t>.</a:t>
            </a:r>
            <a:endParaRPr lang="en-IN" sz="2400" dirty="0" smtClean="0">
              <a:solidFill>
                <a:srgbClr val="000000"/>
              </a:solidFill>
              <a:latin typeface="Times New Roman" pitchFamily="18" charset="0"/>
              <a:cs typeface="Times New Roman" pitchFamily="18" charset="0"/>
            </a:endParaRPr>
          </a:p>
          <a:p>
            <a:pPr algn="just">
              <a:buFont typeface="Arial" pitchFamily="34" charset="0"/>
              <a:buChar char="•"/>
            </a:pPr>
            <a:r>
              <a:rPr lang="en-US" sz="2400" dirty="0" smtClean="0">
                <a:latin typeface="Times New Roman" pitchFamily="18" charset="0"/>
                <a:cs typeface="Times New Roman" pitchFamily="18" charset="0"/>
              </a:rPr>
              <a:t>The study of Propositional logic consists of syntax (grammar), sematics (meaning), inference rules and derivation.</a:t>
            </a:r>
            <a:endParaRPr lang="en-IN" sz="2400" dirty="0" smtClean="0">
              <a:latin typeface="Times New Roman" pitchFamily="18" charset="0"/>
              <a:cs typeface="Times New Roman" pitchFamily="18" charset="0"/>
            </a:endParaRPr>
          </a:p>
          <a:p>
            <a:pPr>
              <a:buNone/>
            </a:pPr>
            <a:endParaRPr lang="en-IN" sz="2400" dirty="0" smtClean="0">
              <a:solidFill>
                <a:srgbClr val="000000"/>
              </a:solidFill>
              <a:latin typeface="Times New Roman" pitchFamily="18" charset="0"/>
              <a:cs typeface="Times New Roman" pitchFamily="18" charset="0"/>
            </a:endParaRPr>
          </a:p>
          <a:p>
            <a:pPr>
              <a:buNone/>
            </a:pPr>
            <a:endParaRPr lang="en-US" sz="2400" dirty="0" smtClean="0">
              <a:solidFill>
                <a:srgbClr val="000000"/>
              </a:solidFill>
              <a:latin typeface="Times New Roman" pitchFamily="18" charset="0"/>
              <a:cs typeface="Times New Roman" pitchFamily="18" charset="0"/>
            </a:endParaRPr>
          </a:p>
        </p:txBody>
      </p:sp>
      <p:pic>
        <p:nvPicPr>
          <p:cNvPr id="6" name="Picture 3" descr="C:\Users\WELCOME\Desktop\logic\G FREGE.jpg"/>
          <p:cNvPicPr>
            <a:picLocks noChangeAspect="1" noChangeArrowheads="1"/>
          </p:cNvPicPr>
          <p:nvPr/>
        </p:nvPicPr>
        <p:blipFill>
          <a:blip r:embed="rId3"/>
          <a:srcRect/>
          <a:stretch>
            <a:fillRect/>
          </a:stretch>
        </p:blipFill>
        <p:spPr bwMode="auto">
          <a:xfrm>
            <a:off x="6786578" y="1643050"/>
            <a:ext cx="2000264" cy="2503470"/>
          </a:xfrm>
          <a:prstGeom prst="rect">
            <a:avLst/>
          </a:prstGeom>
          <a:noFill/>
        </p:spPr>
      </p:pic>
      <p:graphicFrame>
        <p:nvGraphicFramePr>
          <p:cNvPr id="97285" name="Object 5"/>
          <p:cNvGraphicFramePr>
            <a:graphicFrameLocks noChangeAspect="1"/>
          </p:cNvGraphicFramePr>
          <p:nvPr/>
        </p:nvGraphicFramePr>
        <p:xfrm>
          <a:off x="7143768" y="4286256"/>
          <a:ext cx="1400175" cy="785813"/>
        </p:xfrm>
        <a:graphic>
          <a:graphicData uri="http://schemas.openxmlformats.org/presentationml/2006/ole">
            <mc:AlternateContent xmlns:mc="http://schemas.openxmlformats.org/markup-compatibility/2006">
              <mc:Choice xmlns:v="urn:schemas-microsoft-com:vml" Requires="v">
                <p:oleObj spid="_x0000_s97293" name="Equation" r:id="rId4" imgW="723600" imgH="406080" progId="Equation.3">
                  <p:embed/>
                </p:oleObj>
              </mc:Choice>
              <mc:Fallback>
                <p:oleObj name="Equation" r:id="rId4" imgW="723600" imgH="40608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768" y="4286256"/>
                        <a:ext cx="1400175"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Propositional Logic </a:t>
            </a:r>
            <a:endParaRPr lang="en-IN" sz="3200" b="1" dirty="0">
              <a:solidFill>
                <a:srgbClr val="335295"/>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85786" y="1571612"/>
                <a:ext cx="7715304" cy="4429156"/>
              </a:xfrm>
            </p:spPr>
            <p:txBody>
              <a:bodyPr/>
              <a:lstStyle/>
              <a:p>
                <a:pPr algn="just">
                  <a:buNone/>
                </a:pPr>
                <a:r>
                  <a:rPr lang="en-US" sz="2400" dirty="0" smtClean="0">
                    <a:solidFill>
                      <a:srgbClr val="FF0000"/>
                    </a:solidFill>
                    <a:latin typeface="Times New Roman" pitchFamily="18" charset="0"/>
                    <a:cs typeface="Times New Roman" pitchFamily="18" charset="0"/>
                  </a:rPr>
                  <a:t>    Propositional Logic (PL)</a:t>
                </a:r>
              </a:p>
              <a:p>
                <a:pPr algn="just">
                  <a:buNone/>
                </a:pP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Proportional Logic can be considered as a language of human reasoning. This language is based on alphabets or symbols which consists of</a:t>
                </a:r>
              </a:p>
              <a:p>
                <a:pPr algn="just">
                  <a:buFont typeface="Arial" pitchFamily="34" charset="0"/>
                  <a:buChar char="•"/>
                </a:pPr>
                <a:r>
                  <a:rPr lang="en-US" sz="2400" dirty="0" smtClean="0">
                    <a:solidFill>
                      <a:srgbClr val="FF0000"/>
                    </a:solidFill>
                    <a:latin typeface="Times New Roman" pitchFamily="18" charset="0"/>
                    <a:cs typeface="Times New Roman" pitchFamily="18" charset="0"/>
                  </a:rPr>
                  <a:t>Propositional </a:t>
                </a:r>
                <a:r>
                  <a:rPr lang="en-US" sz="2400" dirty="0" smtClean="0">
                    <a:solidFill>
                      <a:srgbClr val="FF0000"/>
                    </a:solidFill>
                    <a:latin typeface="Times New Roman" pitchFamily="18" charset="0"/>
                    <a:cs typeface="Times New Roman" pitchFamily="18" charset="0"/>
                  </a:rPr>
                  <a:t>variables</a:t>
                </a:r>
                <a:r>
                  <a:rPr lang="en-US" sz="2400" dirty="0" smtClean="0">
                    <a:solidFill>
                      <a:srgbClr val="000000"/>
                    </a:solidFill>
                    <a:latin typeface="Times New Roman" pitchFamily="18" charset="0"/>
                    <a:cs typeface="Times New Roman" pitchFamily="18" charset="0"/>
                  </a:rPr>
                  <a:t>, denoted </a:t>
                </a:r>
                <a14:m>
                  <m:oMath xmlns:m="http://schemas.openxmlformats.org/officeDocument/2006/math">
                    <m:r>
                      <a:rPr lang="en-US" sz="2400" b="0" i="1" smtClean="0">
                        <a:solidFill>
                          <a:srgbClr val="000000"/>
                        </a:solidFill>
                        <a:latin typeface="Cambria Math"/>
                        <a:cs typeface="Times New Roman" pitchFamily="18" charset="0"/>
                      </a:rPr>
                      <m:t>𝑝</m:t>
                    </m:r>
                    <m:r>
                      <a:rPr lang="en-US" sz="2400" b="0" i="1" smtClean="0">
                        <a:solidFill>
                          <a:srgbClr val="000000"/>
                        </a:solidFill>
                        <a:latin typeface="Cambria Math"/>
                        <a:cs typeface="Times New Roman" pitchFamily="18" charset="0"/>
                      </a:rPr>
                      <m:t>,</m:t>
                    </m:r>
                    <m:r>
                      <a:rPr lang="en-US" sz="2400" b="0" i="1" smtClean="0">
                        <a:solidFill>
                          <a:srgbClr val="000000"/>
                        </a:solidFill>
                        <a:latin typeface="Cambria Math"/>
                        <a:cs typeface="Times New Roman" pitchFamily="18" charset="0"/>
                      </a:rPr>
                      <m:t>𝑞</m:t>
                    </m:r>
                    <m:r>
                      <a:rPr lang="en-US" sz="2400" b="0" i="1" smtClean="0">
                        <a:solidFill>
                          <a:srgbClr val="000000"/>
                        </a:solidFill>
                        <a:latin typeface="Cambria Math"/>
                        <a:cs typeface="Times New Roman" pitchFamily="18" charset="0"/>
                      </a:rPr>
                      <m:t>,</m:t>
                    </m:r>
                    <m:r>
                      <a:rPr lang="en-US" sz="2400" b="0" i="1" smtClean="0">
                        <a:solidFill>
                          <a:srgbClr val="000000"/>
                        </a:solidFill>
                        <a:latin typeface="Cambria Math"/>
                        <a:cs typeface="Times New Roman" pitchFamily="18" charset="0"/>
                      </a:rPr>
                      <m:t>𝑟</m:t>
                    </m:r>
                    <m:r>
                      <a:rPr lang="en-US" sz="2400" b="0" i="1" smtClean="0">
                        <a:solidFill>
                          <a:srgbClr val="000000"/>
                        </a:solidFill>
                        <a:latin typeface="Cambria Math"/>
                        <a:cs typeface="Times New Roman" pitchFamily="18" charset="0"/>
                      </a:rPr>
                      <m:t>,</m:t>
                    </m:r>
                    <m:r>
                      <a:rPr lang="en-US" sz="2400" b="0" i="1" smtClean="0">
                        <a:solidFill>
                          <a:srgbClr val="000000"/>
                        </a:solidFill>
                        <a:latin typeface="Cambria Math"/>
                        <a:cs typeface="Times New Roman" pitchFamily="18" charset="0"/>
                      </a:rPr>
                      <m:t>𝑠</m:t>
                    </m:r>
                    <m:r>
                      <a:rPr lang="en-US" sz="2400" b="0" i="1" smtClean="0">
                        <a:solidFill>
                          <a:srgbClr val="000000"/>
                        </a:solidFill>
                        <a:latin typeface="Cambria Math"/>
                        <a:cs typeface="Times New Roman" pitchFamily="18" charset="0"/>
                      </a:rPr>
                      <m:t>,… </m:t>
                    </m:r>
                  </m:oMath>
                </a14:m>
                <a:r>
                  <a:rPr lang="en-US" sz="2400" dirty="0" smtClean="0">
                    <a:solidFill>
                      <a:srgbClr val="000000"/>
                    </a:solidFill>
                    <a:latin typeface="Times New Roman" pitchFamily="18" charset="0"/>
                    <a:cs typeface="Times New Roman" pitchFamily="18" charset="0"/>
                  </a:rPr>
                  <a:t>(which </a:t>
                </a:r>
                <a:r>
                  <a:rPr lang="en-US" sz="2400" dirty="0" smtClean="0">
                    <a:solidFill>
                      <a:srgbClr val="000000"/>
                    </a:solidFill>
                    <a:latin typeface="Times New Roman" pitchFamily="18" charset="0"/>
                    <a:cs typeface="Times New Roman" pitchFamily="18" charset="0"/>
                  </a:rPr>
                  <a:t>are simple statements).</a:t>
                </a:r>
              </a:p>
              <a:p>
                <a:pPr algn="just">
                  <a:buFont typeface="Arial" pitchFamily="34" charset="0"/>
                  <a:buChar char="•"/>
                </a:pPr>
                <a:r>
                  <a:rPr lang="en-US" sz="2400" dirty="0" smtClean="0">
                    <a:solidFill>
                      <a:srgbClr val="000000"/>
                    </a:solidFill>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Propositional constants</a:t>
                </a:r>
                <a:r>
                  <a:rPr lang="en-US" sz="2400" dirty="0" smtClean="0">
                    <a:solidFill>
                      <a:srgbClr val="000000"/>
                    </a:solidFill>
                    <a:latin typeface="Times New Roman" pitchFamily="18" charset="0"/>
                    <a:cs typeface="Times New Roman" pitchFamily="18" charset="0"/>
                  </a:rPr>
                  <a:t>, denoted by          (True or False).</a:t>
                </a:r>
              </a:p>
              <a:p>
                <a:pPr algn="just">
                  <a:buFont typeface="Arial" pitchFamily="34" charset="0"/>
                  <a:buChar char="•"/>
                </a:pPr>
                <a:r>
                  <a:rPr lang="en-US" sz="2400" dirty="0" smtClean="0">
                    <a:solidFill>
                      <a:srgbClr val="FF0000"/>
                    </a:solidFill>
                    <a:latin typeface="Times New Roman" pitchFamily="18" charset="0"/>
                    <a:cs typeface="Times New Roman" pitchFamily="18" charset="0"/>
                  </a:rPr>
                  <a:t>Connectives or basic logical operators </a:t>
                </a:r>
                <a:r>
                  <a:rPr lang="en-US" sz="2400" dirty="0" smtClean="0">
                    <a:solidFill>
                      <a:srgbClr val="000000"/>
                    </a:solidFill>
                    <a:latin typeface="Times New Roman" pitchFamily="18" charset="0"/>
                    <a:cs typeface="Times New Roman" pitchFamily="18" charset="0"/>
                  </a:rPr>
                  <a:t>denoted by ˅, </a:t>
                </a:r>
                <a:r>
                  <a:rPr lang="en-US" sz="2400" dirty="0" smtClean="0">
                    <a:solidFill>
                      <a:srgbClr val="000000"/>
                    </a:solidFill>
                    <a:latin typeface="Times New Roman"/>
                    <a:cs typeface="Times New Roman"/>
                  </a:rPr>
                  <a:t>˄ , </a:t>
                </a:r>
              </a:p>
              <a:p>
                <a:pPr algn="just">
                  <a:buNone/>
                </a:pPr>
                <a:r>
                  <a:rPr lang="en-US" sz="2400" dirty="0" smtClean="0">
                    <a:solidFill>
                      <a:srgbClr val="000000"/>
                    </a:solidFill>
                    <a:latin typeface="Times New Roman"/>
                    <a:cs typeface="Times New Roman"/>
                  </a:rPr>
                  <a:t>       ¬ ,          .  </a:t>
                </a:r>
                <a:r>
                  <a:rPr lang="en-US" sz="2400" dirty="0" smtClean="0">
                    <a:solidFill>
                      <a:srgbClr val="000000"/>
                    </a:solidFill>
                    <a:latin typeface="Times New Roman" pitchFamily="18" charset="0"/>
                    <a:cs typeface="Times New Roman" pitchFamily="18" charset="0"/>
                  </a:rPr>
                  <a:t>             </a:t>
                </a:r>
              </a:p>
              <a:p>
                <a:pPr algn="just">
                  <a:buNone/>
                </a:pPr>
                <a:r>
                  <a:rPr lang="en-US" sz="2400" dirty="0" smtClean="0">
                    <a:solidFill>
                      <a:srgbClr val="000000"/>
                    </a:solidFill>
                    <a:latin typeface="Times New Roman" pitchFamily="18" charset="0"/>
                    <a:cs typeface="Times New Roman" pitchFamily="18" charset="0"/>
                  </a:rPr>
                  <a:t> </a:t>
                </a:r>
              </a:p>
              <a:p>
                <a:pPr>
                  <a:buNone/>
                </a:pPr>
                <a:r>
                  <a:rPr lang="en-US" sz="2400" dirty="0" smtClean="0">
                    <a:solidFill>
                      <a:srgbClr val="FF0000"/>
                    </a:solidFill>
                    <a:latin typeface="Times New Roman" pitchFamily="18" charset="0"/>
                    <a:cs typeface="Times New Roman" pitchFamily="18" charset="0"/>
                  </a:rPr>
                  <a:t>    </a:t>
                </a:r>
                <a:endParaRPr lang="en-IN" sz="2400" dirty="0" smtClean="0">
                  <a:solidFill>
                    <a:srgbClr val="FF0000"/>
                  </a:solidFill>
                  <a:latin typeface="Times New Roman" pitchFamily="18" charset="0"/>
                  <a:cs typeface="Times New Roman" pitchFamily="18" charset="0"/>
                </a:endParaRPr>
              </a:p>
              <a:p>
                <a:pPr>
                  <a:buFont typeface="Arial" pitchFamily="34" charset="0"/>
                  <a:buChar char="•"/>
                </a:pPr>
                <a:endParaRPr lang="en-IN" sz="2400" dirty="0" smtClean="0">
                  <a:latin typeface="Times New Roman" pitchFamily="18" charset="0"/>
                  <a:cs typeface="Times New Roman" pitchFamily="18" charset="0"/>
                </a:endParaRPr>
              </a:p>
              <a:p>
                <a:pPr>
                  <a:buFont typeface="Arial" pitchFamily="34" charset="0"/>
                  <a:buChar char="•"/>
                </a:pPr>
                <a:endParaRPr lang="en-IN" sz="2400" dirty="0" smtClean="0">
                  <a:latin typeface="Times New Roman" pitchFamily="18" charset="0"/>
                  <a:cs typeface="Times New Roman" pitchFamily="18" charset="0"/>
                </a:endParaRPr>
              </a:p>
              <a:p>
                <a:pPr>
                  <a:buFont typeface="Arial" pitchFamily="34" charset="0"/>
                  <a:buChar char="•"/>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a:t>
                </a:r>
                <a:endParaRPr lang="en-IN" sz="2400" dirty="0" smtClean="0">
                  <a:solidFill>
                    <a:srgbClr val="000000"/>
                  </a:solidFill>
                  <a:latin typeface="Times New Roman" pitchFamily="18" charset="0"/>
                  <a:cs typeface="Times New Roman" pitchFamily="18" charset="0"/>
                </a:endParaRPr>
              </a:p>
              <a:p>
                <a:pPr>
                  <a:buFont typeface="Arial" pitchFamily="34" charset="0"/>
                  <a:buChar char="•"/>
                </a:pPr>
                <a:endParaRPr lang="en-IN" sz="2400" dirty="0" smtClean="0">
                  <a:latin typeface="Times New Roman" pitchFamily="18" charset="0"/>
                  <a:cs typeface="Times New Roman" pitchFamily="18" charset="0"/>
                </a:endParaRPr>
              </a:p>
              <a:p>
                <a:pPr>
                  <a:buNone/>
                </a:pPr>
                <a:endParaRPr lang="en-IN" sz="2400" dirty="0" smtClean="0">
                  <a:solidFill>
                    <a:srgbClr val="000000"/>
                  </a:solidFill>
                  <a:latin typeface="Times New Roman" pitchFamily="18" charset="0"/>
                  <a:cs typeface="Times New Roman" pitchFamily="18" charset="0"/>
                </a:endParaRPr>
              </a:p>
              <a:p>
                <a:pPr>
                  <a:buNone/>
                </a:pPr>
                <a:endParaRPr lang="en-US" sz="2400" dirty="0" smtClean="0">
                  <a:solidFill>
                    <a:srgbClr val="000000"/>
                  </a:solidFill>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85786" y="1571612"/>
                <a:ext cx="7715304" cy="4429156"/>
              </a:xfrm>
              <a:blipFill rotWithShape="1">
                <a:blip r:embed="rId3"/>
                <a:stretch>
                  <a:fillRect l="-1264" t="-1102" r="-2212" b="-77135"/>
                </a:stretch>
              </a:blipFill>
            </p:spPr>
            <p:txBody>
              <a:bodyPr/>
              <a:lstStyle/>
              <a:p>
                <a:r>
                  <a:rPr lang="en-IN">
                    <a:noFill/>
                  </a:rPr>
                  <a:t> </a:t>
                </a:r>
              </a:p>
            </p:txBody>
          </p:sp>
        </mc:Fallback>
      </mc:AlternateContent>
      <p:graphicFrame>
        <p:nvGraphicFramePr>
          <p:cNvPr id="8" name="Object 7"/>
          <p:cNvGraphicFramePr>
            <a:graphicFrameLocks noChangeAspect="1"/>
          </p:cNvGraphicFramePr>
          <p:nvPr/>
        </p:nvGraphicFramePr>
        <p:xfrm>
          <a:off x="5715008" y="4071942"/>
          <a:ext cx="714380" cy="405640"/>
        </p:xfrm>
        <a:graphic>
          <a:graphicData uri="http://schemas.openxmlformats.org/presentationml/2006/ole">
            <mc:AlternateContent xmlns:mc="http://schemas.openxmlformats.org/markup-compatibility/2006">
              <mc:Choice xmlns:v="urn:schemas-microsoft-com:vml" Requires="v">
                <p:oleObj spid="_x0000_s112667" name="Equation" r:id="rId4" imgW="317160" imgH="203040" progId="Equation.3">
                  <p:embed/>
                </p:oleObj>
              </mc:Choice>
              <mc:Fallback>
                <p:oleObj name="Equation" r:id="rId4" imgW="317160" imgH="2030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8" y="4071942"/>
                        <a:ext cx="714380" cy="405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1714480" y="5000636"/>
          <a:ext cx="785819" cy="261196"/>
        </p:xfrm>
        <a:graphic>
          <a:graphicData uri="http://schemas.openxmlformats.org/presentationml/2006/ole">
            <mc:AlternateContent xmlns:mc="http://schemas.openxmlformats.org/markup-compatibility/2006">
              <mc:Choice xmlns:v="urn:schemas-microsoft-com:vml" Requires="v">
                <p:oleObj spid="_x0000_s112668" name="Equation" r:id="rId6" imgW="406080" imgH="164880" progId="Equation.3">
                  <p:embed/>
                </p:oleObj>
              </mc:Choice>
              <mc:Fallback>
                <p:oleObj name="Equation" r:id="rId6" imgW="406080" imgH="164880" progId="Equation.3">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4480" y="5000636"/>
                        <a:ext cx="785819" cy="2611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anose="02020603050405020304" pitchFamily="18" charset="0"/>
                <a:cs typeface="Times New Roman" panose="02020603050405020304" pitchFamily="18" charset="0"/>
              </a:rPr>
              <a:t>Proposition</a:t>
            </a:r>
            <a:endParaRPr lang="en-US" sz="3200" b="1" dirty="0">
              <a:solidFill>
                <a:srgbClr val="335295"/>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500034" y="1571612"/>
            <a:ext cx="8358246" cy="4554551"/>
          </a:xfrm>
        </p:spPr>
        <p:txBody>
          <a:bodyPr/>
          <a:lstStyle/>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Font typeface="Wingdings" pitchFamily="2" charset="2"/>
              <a:buChar char="§"/>
            </a:pPr>
            <a:endParaRPr lang="en-US" sz="2400" dirty="0" smtClean="0">
              <a:latin typeface="Times New Roman" pitchFamily="18" charset="0"/>
              <a:cs typeface="Times New Roman" pitchFamily="18" charset="0"/>
            </a:endParaRPr>
          </a:p>
          <a:p>
            <a:pPr>
              <a:buFont typeface="Wingdings" pitchFamily="2" charset="2"/>
              <a:buChar char="§"/>
            </a:pPr>
            <a:endParaRPr lang="en-US"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A </a:t>
            </a:r>
            <a:r>
              <a:rPr lang="en-US" sz="2400" dirty="0" smtClean="0">
                <a:solidFill>
                  <a:srgbClr val="FF0000"/>
                </a:solidFill>
                <a:latin typeface="Times New Roman" pitchFamily="18" charset="0"/>
                <a:cs typeface="Times New Roman" pitchFamily="18" charset="0"/>
              </a:rPr>
              <a:t>proposition</a:t>
            </a:r>
            <a:r>
              <a:rPr lang="en-US" sz="2400" dirty="0" smtClean="0">
                <a:latin typeface="Times New Roman" pitchFamily="18" charset="0"/>
                <a:cs typeface="Times New Roman" pitchFamily="18" charset="0"/>
              </a:rPr>
              <a:t> is the basic building block of logic. </a:t>
            </a:r>
          </a:p>
          <a:p>
            <a:pPr algn="just">
              <a:buFont typeface="Wingdings" pitchFamily="2" charset="2"/>
              <a:buChar char="§"/>
            </a:pPr>
            <a:r>
              <a:rPr lang="en-US" sz="2400" dirty="0" smtClean="0">
                <a:latin typeface="Times New Roman" pitchFamily="18" charset="0"/>
                <a:cs typeface="Times New Roman" pitchFamily="18" charset="0"/>
              </a:rPr>
              <a:t>It is defined as a </a:t>
            </a:r>
            <a:r>
              <a:rPr lang="en-US" sz="2400" dirty="0" smtClean="0">
                <a:solidFill>
                  <a:srgbClr val="FF0000"/>
                </a:solidFill>
                <a:latin typeface="Times New Roman" pitchFamily="18" charset="0"/>
                <a:cs typeface="Times New Roman" pitchFamily="18" charset="0"/>
              </a:rPr>
              <a:t>declarative sentence </a:t>
            </a:r>
            <a:r>
              <a:rPr lang="en-US" sz="2400" dirty="0" smtClean="0">
                <a:latin typeface="Times New Roman" pitchFamily="18" charset="0"/>
                <a:cs typeface="Times New Roman" pitchFamily="18" charset="0"/>
              </a:rPr>
              <a:t>that is either </a:t>
            </a:r>
            <a:r>
              <a:rPr lang="en-US" sz="2400" dirty="0" smtClean="0">
                <a:solidFill>
                  <a:srgbClr val="FF0000"/>
                </a:solidFill>
                <a:latin typeface="Times New Roman" pitchFamily="18" charset="0"/>
                <a:cs typeface="Times New Roman" pitchFamily="18" charset="0"/>
              </a:rPr>
              <a:t>True</a:t>
            </a:r>
            <a:r>
              <a:rPr lang="en-US" sz="2400" dirty="0" smtClean="0">
                <a:latin typeface="Times New Roman" pitchFamily="18" charset="0"/>
                <a:cs typeface="Times New Roman" pitchFamily="18" charset="0"/>
              </a:rPr>
              <a:t> or </a:t>
            </a:r>
            <a:r>
              <a:rPr lang="en-US" sz="2400" dirty="0" smtClean="0">
                <a:solidFill>
                  <a:srgbClr val="FF0000"/>
                </a:solidFill>
                <a:latin typeface="Times New Roman" pitchFamily="18" charset="0"/>
                <a:cs typeface="Times New Roman" pitchFamily="18" charset="0"/>
              </a:rPr>
              <a:t>False</a:t>
            </a:r>
            <a:r>
              <a:rPr lang="en-US" sz="2400" dirty="0" smtClean="0">
                <a:latin typeface="Times New Roman" pitchFamily="18" charset="0"/>
                <a:cs typeface="Times New Roman" pitchFamily="18" charset="0"/>
              </a:rPr>
              <a:t> but not both.   </a:t>
            </a:r>
          </a:p>
          <a:p>
            <a:pPr algn="just">
              <a:buFont typeface="Wingdings" pitchFamily="2" charset="2"/>
              <a:buChar char="§"/>
            </a:pPr>
            <a:r>
              <a:rPr lang="en-IN" sz="2400" dirty="0" smtClean="0">
                <a:latin typeface="Times New Roman" pitchFamily="18" charset="0"/>
                <a:cs typeface="Times New Roman" pitchFamily="18" charset="0"/>
              </a:rPr>
              <a:t>The </a:t>
            </a:r>
            <a:r>
              <a:rPr lang="en-IN" sz="2400" dirty="0" smtClean="0">
                <a:solidFill>
                  <a:srgbClr val="FF0000"/>
                </a:solidFill>
                <a:latin typeface="Times New Roman" pitchFamily="18" charset="0"/>
                <a:cs typeface="Times New Roman" pitchFamily="18" charset="0"/>
              </a:rPr>
              <a:t>Truth Value</a:t>
            </a:r>
            <a:r>
              <a:rPr lang="en-IN" sz="2400" dirty="0" smtClean="0">
                <a:latin typeface="Times New Roman" pitchFamily="18" charset="0"/>
                <a:cs typeface="Times New Roman" pitchFamily="18" charset="0"/>
              </a:rPr>
              <a:t> of a proposition is True (denoted as </a:t>
            </a:r>
            <a:r>
              <a:rPr lang="en-IN" sz="2400" dirty="0" smtClean="0">
                <a:solidFill>
                  <a:srgbClr val="FF0000"/>
                </a:solidFill>
                <a:latin typeface="Times New Roman" pitchFamily="18" charset="0"/>
                <a:cs typeface="Times New Roman" pitchFamily="18" charset="0"/>
              </a:rPr>
              <a:t>T</a:t>
            </a:r>
            <a:r>
              <a:rPr lang="en-IN" sz="2400" dirty="0" smtClean="0">
                <a:latin typeface="Times New Roman" pitchFamily="18" charset="0"/>
                <a:cs typeface="Times New Roman" pitchFamily="18" charset="0"/>
              </a:rPr>
              <a:t>) if it is a true statement and False (denoted as </a:t>
            </a:r>
            <a:r>
              <a:rPr lang="en-IN" sz="2400" dirty="0" smtClean="0">
                <a:solidFill>
                  <a:srgbClr val="FF0000"/>
                </a:solidFill>
                <a:latin typeface="Times New Roman" pitchFamily="18" charset="0"/>
                <a:cs typeface="Times New Roman" pitchFamily="18" charset="0"/>
              </a:rPr>
              <a:t>F</a:t>
            </a:r>
            <a:r>
              <a:rPr lang="en-IN" sz="2400" dirty="0" smtClean="0">
                <a:latin typeface="Times New Roman" pitchFamily="18" charset="0"/>
                <a:cs typeface="Times New Roman" pitchFamily="18" charset="0"/>
              </a:rPr>
              <a:t>) if it is a false statement</a:t>
            </a:r>
            <a:endParaRPr lang="en-IN" sz="2400" dirty="0">
              <a:latin typeface="Times New Roman" pitchFamily="18" charset="0"/>
              <a:cs typeface="Times New Roman" pitchFamily="18" charset="0"/>
            </a:endParaRPr>
          </a:p>
        </p:txBody>
      </p:sp>
      <p:pic>
        <p:nvPicPr>
          <p:cNvPr id="23556" name="Picture 4" descr="C:\Users\WELCOME\Desktop\logic\propositional-logic-by-shawan-2-638.jpg"/>
          <p:cNvPicPr>
            <a:picLocks noChangeAspect="1" noChangeArrowheads="1"/>
          </p:cNvPicPr>
          <p:nvPr/>
        </p:nvPicPr>
        <p:blipFill>
          <a:blip r:embed="rId2"/>
          <a:srcRect/>
          <a:stretch>
            <a:fillRect/>
          </a:stretch>
        </p:blipFill>
        <p:spPr bwMode="auto">
          <a:xfrm>
            <a:off x="2214546" y="1667164"/>
            <a:ext cx="4857784" cy="2030567"/>
          </a:xfrm>
          <a:prstGeom prst="rect">
            <a:avLst/>
          </a:prstGeom>
          <a:noFill/>
        </p:spPr>
      </p:pic>
    </p:spTree>
    <p:extLst>
      <p:ext uri="{BB962C8B-B14F-4D97-AF65-F5344CB8AC3E}">
        <p14:creationId xmlns:p14="http://schemas.microsoft.com/office/powerpoint/2010/main" val="302907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57158" y="714356"/>
                <a:ext cx="8329642" cy="5411807"/>
              </a:xfrm>
            </p:spPr>
            <p:txBody>
              <a:bodyPr/>
              <a:lstStyle/>
              <a:p>
                <a:pPr algn="just">
                  <a:buFont typeface="Wingdings" pitchFamily="2" charset="2"/>
                  <a:buChar char="§"/>
                </a:pPr>
                <a:r>
                  <a:rPr lang="en-IN" sz="2400" dirty="0" smtClean="0">
                    <a:latin typeface="Times New Roman" pitchFamily="18" charset="0"/>
                    <a:cs typeface="Times New Roman" pitchFamily="18" charset="0"/>
                  </a:rPr>
                  <a:t>To represent propositions, </a:t>
                </a:r>
                <a:r>
                  <a:rPr lang="en-IN" sz="2400" dirty="0" smtClean="0">
                    <a:solidFill>
                      <a:srgbClr val="FF0000"/>
                    </a:solidFill>
                    <a:latin typeface="Times New Roman" pitchFamily="18" charset="0"/>
                    <a:cs typeface="Times New Roman" pitchFamily="18" charset="0"/>
                  </a:rPr>
                  <a:t>propositional variables</a:t>
                </a:r>
                <a:r>
                  <a:rPr lang="en-IN" sz="2400" dirty="0" smtClean="0">
                    <a:latin typeface="Times New Roman" pitchFamily="18" charset="0"/>
                    <a:cs typeface="Times New Roman" pitchFamily="18" charset="0"/>
                  </a:rPr>
                  <a:t> are used.</a:t>
                </a:r>
              </a:p>
              <a:p>
                <a:pPr algn="just">
                  <a:buFont typeface="Wingdings" pitchFamily="2" charset="2"/>
                  <a:buChar char="§"/>
                </a:pPr>
                <a:r>
                  <a:rPr lang="en-IN" sz="2400" dirty="0" smtClean="0">
                    <a:latin typeface="Times New Roman" pitchFamily="18" charset="0"/>
                    <a:cs typeface="Times New Roman" pitchFamily="18" charset="0"/>
                  </a:rPr>
                  <a:t>We denote the propositional </a:t>
                </a:r>
                <a:r>
                  <a:rPr lang="en-IN" sz="2400" dirty="0" smtClean="0">
                    <a:latin typeface="Times New Roman" pitchFamily="18" charset="0"/>
                    <a:cs typeface="Times New Roman" pitchFamily="18" charset="0"/>
                  </a:rPr>
                  <a:t>variables </a:t>
                </a:r>
                <a:r>
                  <a:rPr lang="en-IN" sz="2400" dirty="0" smtClean="0">
                    <a:latin typeface="Times New Roman" pitchFamily="18" charset="0"/>
                    <a:cs typeface="Times New Roman" pitchFamily="18" charset="0"/>
                  </a:rPr>
                  <a:t>by small letters </a:t>
                </a:r>
                <a14:m>
                  <m:oMath xmlns:m="http://schemas.openxmlformats.org/officeDocument/2006/math">
                    <m:r>
                      <a:rPr lang="en-US" sz="2400" b="0" i="1" smtClean="0">
                        <a:latin typeface="Cambria Math"/>
                        <a:cs typeface="Times New Roman" pitchFamily="18" charset="0"/>
                      </a:rPr>
                      <m:t>𝑎</m:t>
                    </m:r>
                    <m:r>
                      <a:rPr lang="en-US" sz="2400" b="0" i="1" smtClean="0">
                        <a:latin typeface="Cambria Math"/>
                        <a:cs typeface="Times New Roman" pitchFamily="18" charset="0"/>
                      </a:rPr>
                      <m:t>,</m:t>
                    </m:r>
                    <m:r>
                      <a:rPr lang="en-US" sz="2400" b="0" i="1" smtClean="0">
                        <a:latin typeface="Cambria Math"/>
                        <a:cs typeface="Times New Roman" pitchFamily="18" charset="0"/>
                      </a:rPr>
                      <m:t>𝑏</m:t>
                    </m:r>
                    <m:r>
                      <a:rPr lang="en-US" sz="2400" b="0" i="1" smtClean="0">
                        <a:latin typeface="Cambria Math"/>
                        <a:cs typeface="Times New Roman" pitchFamily="18" charset="0"/>
                      </a:rPr>
                      <m:t>,</m:t>
                    </m:r>
                    <m:r>
                      <a:rPr lang="en-US" sz="2400" b="0" i="1" smtClean="0">
                        <a:latin typeface="Cambria Math"/>
                        <a:cs typeface="Times New Roman" pitchFamily="18" charset="0"/>
                      </a:rPr>
                      <m:t>𝑐</m:t>
                    </m:r>
                    <m:r>
                      <a:rPr lang="en-US" sz="2400" b="0" i="1" smtClean="0">
                        <a:latin typeface="Cambria Math"/>
                        <a:cs typeface="Times New Roman" pitchFamily="18" charset="0"/>
                      </a:rPr>
                      <m:t>,…  .</m:t>
                    </m:r>
                  </m:oMath>
                </a14:m>
                <a:endParaRPr lang="en-IN" sz="2400" dirty="0" smtClean="0">
                  <a:latin typeface="Times New Roman" pitchFamily="18" charset="0"/>
                  <a:cs typeface="Times New Roman" pitchFamily="18" charset="0"/>
                </a:endParaRPr>
              </a:p>
              <a:p>
                <a:pPr algn="just">
                  <a:buFont typeface="Wingdings" pitchFamily="2" charset="2"/>
                  <a:buChar char="§"/>
                </a:pPr>
                <a:r>
                  <a:rPr lang="en-US" sz="2400" dirty="0" smtClean="0">
                    <a:latin typeface="Times New Roman" pitchFamily="18" charset="0"/>
                    <a:cs typeface="Times New Roman" pitchFamily="18" charset="0"/>
                  </a:rPr>
                  <a:t> T</a:t>
                </a:r>
                <a:r>
                  <a:rPr lang="en-IN" sz="2400" dirty="0" smtClean="0">
                    <a:latin typeface="Times New Roman" pitchFamily="18" charset="0"/>
                    <a:cs typeface="Times New Roman" pitchFamily="18" charset="0"/>
                  </a:rPr>
                  <a:t>he </a:t>
                </a:r>
                <a:r>
                  <a:rPr lang="en-IN" sz="2400" dirty="0" smtClean="0">
                    <a:solidFill>
                      <a:srgbClr val="FF0000"/>
                    </a:solidFill>
                    <a:latin typeface="Times New Roman" pitchFamily="18" charset="0"/>
                    <a:cs typeface="Times New Roman" pitchFamily="18" charset="0"/>
                  </a:rPr>
                  <a:t>connectives</a:t>
                </a:r>
                <a:r>
                  <a:rPr lang="en-IN" sz="2400" dirty="0" smtClean="0">
                    <a:latin typeface="Times New Roman" pitchFamily="18" charset="0"/>
                    <a:cs typeface="Times New Roman" pitchFamily="18" charset="0"/>
                  </a:rPr>
                  <a:t> connect propositional variables.</a:t>
                </a:r>
              </a:p>
              <a:p>
                <a:pPr>
                  <a:buNone/>
                </a:pPr>
                <a:r>
                  <a:rPr lang="en-US" sz="2400" dirty="0" smtClean="0">
                    <a:latin typeface="Times New Roman" pitchFamily="18" charset="0"/>
                    <a:cs typeface="Times New Roman" pitchFamily="18" charset="0"/>
                  </a:rPr>
                  <a:t> </a:t>
                </a:r>
              </a:p>
              <a:p>
                <a:pPr>
                  <a:buNone/>
                </a:pPr>
                <a:r>
                  <a:rPr lang="en-US" sz="2400" dirty="0" smtClean="0">
                    <a:solidFill>
                      <a:srgbClr val="FF0000"/>
                    </a:solidFill>
                    <a:latin typeface="Times New Roman" pitchFamily="18" charset="0"/>
                    <a:cs typeface="Times New Roman" pitchFamily="18" charset="0"/>
                  </a:rPr>
                  <a:t>Examples</a:t>
                </a:r>
                <a:r>
                  <a:rPr lang="en-US" dirty="0" smtClean="0">
                    <a:solidFill>
                      <a:srgbClr val="FF0000"/>
                    </a:solidFill>
                    <a:latin typeface="Times New Roman" pitchFamily="18" charset="0"/>
                    <a:cs typeface="Times New Roman" pitchFamily="18" charset="0"/>
                  </a:rPr>
                  <a:t> </a:t>
                </a:r>
              </a:p>
              <a:p>
                <a:pPr marL="457200" indent="-457200" algn="just">
                  <a:buFont typeface="+mj-lt"/>
                  <a:buAutoNum type="arabicPeriod"/>
                </a:pPr>
                <a:r>
                  <a:rPr lang="en-US" sz="2400" dirty="0" smtClean="0">
                    <a:latin typeface="Times New Roman" pitchFamily="18" charset="0"/>
                    <a:cs typeface="Times New Roman" pitchFamily="18" charset="0"/>
                  </a:rPr>
                  <a:t>T</a:t>
                </a:r>
                <a:r>
                  <a:rPr lang="en-IN" sz="2400" dirty="0" smtClean="0">
                    <a:latin typeface="Times New Roman" pitchFamily="18" charset="0"/>
                    <a:cs typeface="Times New Roman" pitchFamily="18" charset="0"/>
                  </a:rPr>
                  <a:t>he sun rises in the East.</a:t>
                </a:r>
              </a:p>
              <a:p>
                <a:pPr marL="457200" indent="-457200" algn="just">
                  <a:buFont typeface="+mj-lt"/>
                  <a:buAutoNum type="arabicPeriod"/>
                </a:pPr>
                <a:r>
                  <a:rPr lang="en-IN" sz="2400" dirty="0" smtClean="0">
                    <a:latin typeface="Times New Roman" pitchFamily="18" charset="0"/>
                    <a:cs typeface="Times New Roman" pitchFamily="18" charset="0"/>
                  </a:rPr>
                  <a:t>‘</a:t>
                </a:r>
                <a:r>
                  <a:rPr lang="en-IN" sz="2400" dirty="0" err="1" smtClean="0">
                    <a:latin typeface="Times New Roman" pitchFamily="18" charset="0"/>
                    <a:cs typeface="Times New Roman" pitchFamily="18" charset="0"/>
                  </a:rPr>
                  <a:t>i</a:t>
                </a:r>
                <a:r>
                  <a:rPr lang="en-IN" sz="2400" dirty="0" smtClean="0">
                    <a:latin typeface="Times New Roman" pitchFamily="18" charset="0"/>
                    <a:cs typeface="Times New Roman" pitchFamily="18" charset="0"/>
                  </a:rPr>
                  <a:t>' is a vowel.</a:t>
                </a:r>
              </a:p>
              <a:p>
                <a:pPr marL="457200" indent="-457200" algn="just">
                  <a:buFont typeface="+mj-lt"/>
                  <a:buAutoNum type="arabicPeriod"/>
                </a:pPr>
                <a:r>
                  <a:rPr lang="en-US" sz="2400" dirty="0" smtClean="0">
                    <a:latin typeface="Times New Roman" pitchFamily="18" charset="0"/>
                    <a:cs typeface="Times New Roman" pitchFamily="18" charset="0"/>
                  </a:rPr>
                  <a:t>4+4=9.</a:t>
                </a:r>
              </a:p>
              <a:p>
                <a:pPr marL="457200" indent="-457200" algn="just">
                  <a:buNone/>
                </a:pPr>
                <a:r>
                  <a:rPr lang="en-IN" sz="2400" dirty="0" smtClean="0">
                    <a:latin typeface="Times New Roman" pitchFamily="18" charset="0"/>
                    <a:cs typeface="Times New Roman" pitchFamily="18" charset="0"/>
                  </a:rPr>
                  <a:t>All of the above sentences are propositions, where the first two </a:t>
                </a:r>
              </a:p>
              <a:p>
                <a:pPr marL="457200" indent="-457200" algn="just">
                  <a:buNone/>
                </a:pPr>
                <a:r>
                  <a:rPr lang="en-IN" sz="2400" dirty="0" smtClean="0">
                    <a:latin typeface="Times New Roman" pitchFamily="18" charset="0"/>
                    <a:cs typeface="Times New Roman" pitchFamily="18" charset="0"/>
                  </a:rPr>
                  <a:t>are Valid (True) and the third one is Invalid (False).</a:t>
                </a:r>
              </a:p>
              <a:p>
                <a:pPr>
                  <a:buNone/>
                </a:pPr>
                <a:r>
                  <a:rPr lang="en-US" sz="2400" dirty="0" smtClean="0">
                    <a:solidFill>
                      <a:srgbClr val="FF0000"/>
                    </a:solidFill>
                    <a:latin typeface="Times New Roman" pitchFamily="18" charset="0"/>
                    <a:cs typeface="Times New Roman" pitchFamily="18" charset="0"/>
                  </a:rPr>
                  <a:t>         </a:t>
                </a:r>
                <a:endParaRPr lang="en-IN" sz="2400" dirty="0">
                  <a:solidFill>
                    <a:srgbClr val="FF0000"/>
                  </a:solidFill>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57158" y="714356"/>
                <a:ext cx="8329642" cy="5411807"/>
              </a:xfrm>
              <a:blipFill rotWithShape="1">
                <a:blip r:embed="rId2"/>
                <a:stretch>
                  <a:fillRect l="-1171" t="-901" r="-1977" b="-1577"/>
                </a:stretch>
              </a:blipFill>
            </p:spPr>
            <p:txBody>
              <a:bodyPr/>
              <a:lstStyle/>
              <a:p>
                <a:r>
                  <a:rPr lang="en-IN">
                    <a:noFill/>
                  </a:rPr>
                  <a:t> </a:t>
                </a:r>
              </a:p>
            </p:txBody>
          </p:sp>
        </mc:Fallback>
      </mc:AlternateContent>
      <p:pic>
        <p:nvPicPr>
          <p:cNvPr id="4" name="Picture 2" descr="C:\Users\WELCOME\Desktop\logic\sun rise.jpg"/>
          <p:cNvPicPr>
            <a:picLocks noChangeAspect="1" noChangeArrowheads="1"/>
          </p:cNvPicPr>
          <p:nvPr/>
        </p:nvPicPr>
        <p:blipFill>
          <a:blip r:embed="rId3"/>
          <a:srcRect/>
          <a:stretch>
            <a:fillRect/>
          </a:stretch>
        </p:blipFill>
        <p:spPr bwMode="auto">
          <a:xfrm flipH="1">
            <a:off x="4143372" y="3103768"/>
            <a:ext cx="2000264" cy="114930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335295"/>
                </a:solidFill>
                <a:latin typeface="Times New Roman" pitchFamily="18" charset="0"/>
                <a:cs typeface="Times New Roman" pitchFamily="18" charset="0"/>
              </a:rPr>
              <a:t>The following sentences are not propositions</a:t>
            </a:r>
            <a:endParaRPr lang="en-IN" sz="3200" b="1" dirty="0">
              <a:solidFill>
                <a:srgbClr val="335295"/>
              </a:solidFill>
              <a:latin typeface="Times New Roman" pitchFamily="18" charset="0"/>
              <a:cs typeface="Times New Roman" pitchFamily="18" charset="0"/>
            </a:endParaRPr>
          </a:p>
        </p:txBody>
      </p:sp>
      <p:sp>
        <p:nvSpPr>
          <p:cNvPr id="3" name="Content Placeholder 2"/>
          <p:cNvSpPr>
            <a:spLocks noGrp="1"/>
          </p:cNvSpPr>
          <p:nvPr>
            <p:ph idx="1"/>
          </p:nvPr>
        </p:nvSpPr>
        <p:spPr>
          <a:xfrm>
            <a:off x="500034" y="1285860"/>
            <a:ext cx="8358246" cy="4840303"/>
          </a:xfrm>
        </p:spPr>
        <p:txBody>
          <a:bodyPr/>
          <a:lstStyle/>
          <a:p>
            <a:pPr marL="457200" indent="-457200" algn="just">
              <a:buFont typeface="Arial" pitchFamily="34" charset="0"/>
              <a:buChar char="•"/>
            </a:pPr>
            <a:r>
              <a:rPr lang="en-US" sz="2400" dirty="0" smtClean="0">
                <a:latin typeface="Times New Roman" pitchFamily="18" charset="0"/>
                <a:cs typeface="Times New Roman" pitchFamily="18" charset="0"/>
              </a:rPr>
              <a:t>What a wonderful place </a:t>
            </a:r>
            <a:r>
              <a:rPr lang="en-US" sz="2400" smtClean="0">
                <a:latin typeface="Times New Roman" pitchFamily="18" charset="0"/>
                <a:cs typeface="Times New Roman" pitchFamily="18" charset="0"/>
              </a:rPr>
              <a:t>this </a:t>
            </a:r>
            <a:r>
              <a:rPr lang="en-US" sz="2400" smtClean="0">
                <a:latin typeface="Times New Roman" pitchFamily="18" charset="0"/>
                <a:cs typeface="Times New Roman" pitchFamily="18" charset="0"/>
              </a:rPr>
              <a:t>is ! </a:t>
            </a:r>
            <a:r>
              <a:rPr lang="en-US" sz="2400" dirty="0" smtClean="0">
                <a:latin typeface="Times New Roman" pitchFamily="18" charset="0"/>
                <a:cs typeface="Times New Roman" pitchFamily="18" charset="0"/>
              </a:rPr>
              <a:t>(</a:t>
            </a:r>
            <a:r>
              <a:rPr lang="en-US" sz="2400" dirty="0" smtClean="0">
                <a:solidFill>
                  <a:srgbClr val="FF0000"/>
                </a:solidFill>
                <a:latin typeface="Times New Roman" pitchFamily="18" charset="0"/>
                <a:cs typeface="Times New Roman" pitchFamily="18" charset="0"/>
              </a:rPr>
              <a:t>Exclamatory sentence</a:t>
            </a:r>
            <a:r>
              <a:rPr lang="en-US" sz="2400" dirty="0" smtClean="0">
                <a:latin typeface="Times New Roman" pitchFamily="18" charset="0"/>
                <a:cs typeface="Times New Roman" pitchFamily="18" charset="0"/>
              </a:rPr>
              <a:t>)</a:t>
            </a:r>
          </a:p>
          <a:p>
            <a:pPr marL="457200" indent="-457200" algn="just">
              <a:buFont typeface="Arial" pitchFamily="34" charset="0"/>
              <a:buChar char="•"/>
            </a:pPr>
            <a:r>
              <a:rPr lang="en-US" sz="2400" dirty="0" smtClean="0">
                <a:latin typeface="Times New Roman" pitchFamily="18" charset="0"/>
                <a:cs typeface="Times New Roman" pitchFamily="18" charset="0"/>
              </a:rPr>
              <a:t>What is the height of Mount Everest? (</a:t>
            </a:r>
            <a:r>
              <a:rPr lang="en-US" sz="2400" dirty="0" smtClean="0">
                <a:solidFill>
                  <a:srgbClr val="FF0000"/>
                </a:solidFill>
                <a:latin typeface="Times New Roman" pitchFamily="18" charset="0"/>
                <a:cs typeface="Times New Roman" pitchFamily="18" charset="0"/>
              </a:rPr>
              <a:t>Interrogative sentence</a:t>
            </a:r>
            <a:r>
              <a:rPr lang="en-US" sz="2400" dirty="0" smtClean="0">
                <a:latin typeface="Times New Roman" pitchFamily="18" charset="0"/>
                <a:cs typeface="Times New Roman" pitchFamily="18" charset="0"/>
              </a:rPr>
              <a:t>)</a:t>
            </a:r>
          </a:p>
          <a:p>
            <a:pPr marL="457200" indent="-457200" algn="just">
              <a:buFont typeface="Arial" pitchFamily="34" charset="0"/>
              <a:buChar char="•"/>
            </a:pPr>
            <a:r>
              <a:rPr lang="en-US" sz="2400" dirty="0" smtClean="0">
                <a:latin typeface="Times New Roman" pitchFamily="18" charset="0"/>
                <a:cs typeface="Times New Roman" pitchFamily="18" charset="0"/>
              </a:rPr>
              <a:t>Obey my words (</a:t>
            </a:r>
            <a:r>
              <a:rPr lang="en-US" sz="2400" dirty="0" smtClean="0">
                <a:solidFill>
                  <a:srgbClr val="FF0000"/>
                </a:solidFill>
                <a:latin typeface="Times New Roman" pitchFamily="18" charset="0"/>
                <a:cs typeface="Times New Roman" pitchFamily="18" charset="0"/>
              </a:rPr>
              <a:t>command</a:t>
            </a:r>
            <a:r>
              <a:rPr lang="en-US" sz="2400" dirty="0" smtClean="0">
                <a:latin typeface="Times New Roman" pitchFamily="18" charset="0"/>
                <a:cs typeface="Times New Roman" pitchFamily="18" charset="0"/>
              </a:rPr>
              <a:t>)</a:t>
            </a:r>
          </a:p>
          <a:p>
            <a:pPr marL="457200" indent="-457200" algn="just">
              <a:buFont typeface="Arial" pitchFamily="34" charset="0"/>
              <a:buChar char="•"/>
            </a:pPr>
            <a:r>
              <a:rPr lang="en-US" sz="2400" dirty="0" smtClean="0">
                <a:latin typeface="Times New Roman" pitchFamily="18" charset="0"/>
                <a:cs typeface="Times New Roman" pitchFamily="18" charset="0"/>
              </a:rPr>
              <a:t>x+2=4</a:t>
            </a:r>
          </a:p>
          <a:p>
            <a:pPr marL="457200" indent="-457200" algn="just">
              <a:buNone/>
            </a:pPr>
            <a:r>
              <a:rPr lang="en-US" sz="2400" dirty="0" smtClean="0">
                <a:latin typeface="Times New Roman" pitchFamily="18" charset="0"/>
                <a:cs typeface="Times New Roman" pitchFamily="18" charset="0"/>
              </a:rPr>
              <a:t>      Since these sentences are not propositions, we cannot assign true or false.</a:t>
            </a:r>
          </a:p>
          <a:p>
            <a:pPr marL="457200" indent="-457200" algn="just">
              <a:buNone/>
            </a:pPr>
            <a:r>
              <a:rPr lang="en-US" sz="2400" dirty="0" smtClean="0">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Primary statements</a:t>
            </a:r>
          </a:p>
          <a:p>
            <a:pPr marL="457200" indent="-457200" algn="just">
              <a:buNone/>
            </a:pPr>
            <a:r>
              <a:rPr lang="en-US" sz="2400" dirty="0" smtClean="0">
                <a:solidFill>
                  <a:srgbClr val="FF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A</a:t>
            </a:r>
            <a:r>
              <a:rPr lang="en-US" sz="2400" dirty="0" smtClean="0">
                <a:latin typeface="Times New Roman" pitchFamily="18" charset="0"/>
                <a:cs typeface="Times New Roman" pitchFamily="18" charset="0"/>
              </a:rPr>
              <a:t> declarative sentence which cannot be further split up into simple sentences are called </a:t>
            </a:r>
            <a:r>
              <a:rPr lang="en-US" sz="2400" dirty="0" smtClean="0">
                <a:solidFill>
                  <a:srgbClr val="FF0000"/>
                </a:solidFill>
                <a:latin typeface="Times New Roman" pitchFamily="18" charset="0"/>
                <a:cs typeface="Times New Roman" pitchFamily="18" charset="0"/>
              </a:rPr>
              <a:t>Primary statements </a:t>
            </a:r>
            <a:r>
              <a:rPr lang="en-US" sz="2400" dirty="0" smtClean="0">
                <a:latin typeface="Times New Roman" pitchFamily="18" charset="0"/>
                <a:cs typeface="Times New Roman" pitchFamily="18" charset="0"/>
              </a:rPr>
              <a:t>or </a:t>
            </a:r>
            <a:r>
              <a:rPr lang="en-US" sz="2400" dirty="0" smtClean="0">
                <a:solidFill>
                  <a:srgbClr val="FF0000"/>
                </a:solidFill>
                <a:latin typeface="Times New Roman" pitchFamily="18" charset="0"/>
                <a:cs typeface="Times New Roman" pitchFamily="18" charset="0"/>
              </a:rPr>
              <a:t>Atomic statements</a:t>
            </a:r>
            <a:r>
              <a:rPr lang="en-US" sz="2400" dirty="0" smtClean="0">
                <a:latin typeface="Times New Roman" pitchFamily="18" charset="0"/>
                <a:cs typeface="Times New Roman" pitchFamily="18" charset="0"/>
              </a:rPr>
              <a:t> or </a:t>
            </a:r>
            <a:r>
              <a:rPr lang="en-US" sz="2400" dirty="0" smtClean="0">
                <a:solidFill>
                  <a:srgbClr val="FF0000"/>
                </a:solidFill>
                <a:latin typeface="Times New Roman" pitchFamily="18" charset="0"/>
                <a:cs typeface="Times New Roman" pitchFamily="18" charset="0"/>
              </a:rPr>
              <a:t>Primitive statements</a:t>
            </a:r>
            <a:r>
              <a:rPr lang="en-US" sz="2400" dirty="0" smtClean="0">
                <a:latin typeface="Times New Roman" pitchFamily="18" charset="0"/>
                <a:cs typeface="Times New Roman" pitchFamily="18" charset="0"/>
              </a:rPr>
              <a:t>.</a:t>
            </a:r>
            <a:endParaRPr lang="en-US" sz="2400" dirty="0" smtClean="0">
              <a:solidFill>
                <a:srgbClr val="FF0000"/>
              </a:solidFill>
              <a:latin typeface="Times New Roman" pitchFamily="18" charset="0"/>
              <a:cs typeface="Times New Roman" pitchFamily="18" charset="0"/>
            </a:endParaRPr>
          </a:p>
          <a:p>
            <a:pPr marL="457200" indent="-457200">
              <a:buNone/>
            </a:pPr>
            <a:r>
              <a:rPr lang="en-US" sz="2400" dirty="0" smtClean="0">
                <a:solidFill>
                  <a:srgbClr val="FF0000"/>
                </a:solidFill>
                <a:latin typeface="Times New Roman" pitchFamily="18" charset="0"/>
                <a:cs typeface="Times New Roman" pitchFamily="18" charset="0"/>
              </a:rPr>
              <a:t>          </a:t>
            </a:r>
          </a:p>
          <a:p>
            <a:pPr marL="457200" indent="-457200">
              <a:buFont typeface="Arial" pitchFamily="34" charset="0"/>
              <a:buChar char="•"/>
            </a:pPr>
            <a:endParaRPr lang="en-US" sz="2400" dirty="0" smtClean="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714356"/>
            <a:ext cx="8329642" cy="5411807"/>
          </a:xfrm>
        </p:spPr>
        <p:txBody>
          <a:bodyPr/>
          <a:lstStyle/>
          <a:p>
            <a:pPr algn="just">
              <a:buNone/>
            </a:pPr>
            <a:r>
              <a:rPr lang="en-US" sz="2400" b="1" dirty="0" smtClean="0">
                <a:solidFill>
                  <a:srgbClr val="FF0000"/>
                </a:solidFill>
                <a:latin typeface="Times New Roman" pitchFamily="18" charset="0"/>
                <a:cs typeface="Times New Roman" pitchFamily="18" charset="0"/>
              </a:rPr>
              <a:t>Connectives </a:t>
            </a:r>
          </a:p>
          <a:p>
            <a:pPr algn="just">
              <a:buNone/>
            </a:pPr>
            <a:r>
              <a:rPr lang="en-IN" sz="2400" dirty="0" smtClean="0">
                <a:latin typeface="Times New Roman" pitchFamily="18" charset="0"/>
                <a:cs typeface="Times New Roman" pitchFamily="18" charset="0"/>
              </a:rPr>
              <a:t>    Connectives is an operation which is used to connect two or more than two statements. It is also known as </a:t>
            </a:r>
            <a:r>
              <a:rPr lang="en-IN" sz="2400" dirty="0" smtClean="0">
                <a:solidFill>
                  <a:srgbClr val="FF0000"/>
                </a:solidFill>
                <a:latin typeface="Times New Roman" pitchFamily="18" charset="0"/>
                <a:cs typeface="Times New Roman" pitchFamily="18" charset="0"/>
              </a:rPr>
              <a:t>Logical connectives</a:t>
            </a:r>
            <a:r>
              <a:rPr lang="en-IN" sz="2400" dirty="0" smtClean="0">
                <a:latin typeface="Times New Roman" pitchFamily="18" charset="0"/>
                <a:cs typeface="Times New Roman" pitchFamily="18" charset="0"/>
              </a:rPr>
              <a:t> or </a:t>
            </a:r>
            <a:r>
              <a:rPr lang="en-IN" sz="2400" dirty="0" smtClean="0">
                <a:solidFill>
                  <a:srgbClr val="FF0000"/>
                </a:solidFill>
                <a:latin typeface="Times New Roman" pitchFamily="18" charset="0"/>
                <a:cs typeface="Times New Roman" pitchFamily="18" charset="0"/>
              </a:rPr>
              <a:t>Logical operators</a:t>
            </a:r>
            <a:r>
              <a:rPr lang="en-IN" sz="2400" dirty="0" smtClean="0">
                <a:latin typeface="Times New Roman" pitchFamily="18" charset="0"/>
                <a:cs typeface="Times New Roman" pitchFamily="18" charset="0"/>
              </a:rPr>
              <a:t>.</a:t>
            </a:r>
          </a:p>
          <a:p>
            <a:pPr algn="just">
              <a:buNone/>
            </a:pPr>
            <a:r>
              <a:rPr lang="en-US" sz="2400" b="1" dirty="0" smtClean="0">
                <a:solidFill>
                  <a:srgbClr val="FF0000"/>
                </a:solidFill>
                <a:latin typeface="Times New Roman" pitchFamily="18" charset="0"/>
                <a:cs typeface="Times New Roman" pitchFamily="18" charset="0"/>
              </a:rPr>
              <a:t>Compound proposition </a:t>
            </a:r>
          </a:p>
          <a:p>
            <a:pPr algn="just">
              <a:buNone/>
            </a:pPr>
            <a:r>
              <a:rPr lang="en-IN" sz="2400" dirty="0" smtClean="0">
                <a:latin typeface="Times New Roman" pitchFamily="18" charset="0"/>
                <a:cs typeface="Times New Roman" pitchFamily="18" charset="0"/>
              </a:rPr>
              <a:t>    Statements which contain one or more primary statements and some connectives are called </a:t>
            </a:r>
            <a:r>
              <a:rPr lang="en-IN" sz="2400" dirty="0" smtClean="0">
                <a:solidFill>
                  <a:srgbClr val="FF0000"/>
                </a:solidFill>
                <a:latin typeface="Times New Roman" pitchFamily="18" charset="0"/>
                <a:cs typeface="Times New Roman" pitchFamily="18" charset="0"/>
              </a:rPr>
              <a:t>Compound </a:t>
            </a:r>
            <a:r>
              <a:rPr lang="en-IN" sz="2400" dirty="0" smtClean="0">
                <a:latin typeface="Times New Roman" pitchFamily="18" charset="0"/>
                <a:cs typeface="Times New Roman" pitchFamily="18" charset="0"/>
              </a:rPr>
              <a:t>or </a:t>
            </a:r>
            <a:r>
              <a:rPr lang="en-IN" sz="2400" dirty="0" smtClean="0">
                <a:solidFill>
                  <a:srgbClr val="FF0000"/>
                </a:solidFill>
                <a:latin typeface="Times New Roman" pitchFamily="18" charset="0"/>
                <a:cs typeface="Times New Roman" pitchFamily="18" charset="0"/>
              </a:rPr>
              <a:t>Molecular</a:t>
            </a:r>
            <a:r>
              <a:rPr lang="en-IN" sz="2400" dirty="0" smtClean="0">
                <a:latin typeface="Times New Roman" pitchFamily="18" charset="0"/>
                <a:cs typeface="Times New Roman" pitchFamily="18" charset="0"/>
              </a:rPr>
              <a:t> or </a:t>
            </a:r>
            <a:r>
              <a:rPr lang="en-IN" sz="2400" dirty="0" smtClean="0">
                <a:solidFill>
                  <a:srgbClr val="FF0000"/>
                </a:solidFill>
                <a:latin typeface="Times New Roman" pitchFamily="18" charset="0"/>
                <a:cs typeface="Times New Roman" pitchFamily="18" charset="0"/>
              </a:rPr>
              <a:t>Composite statements</a:t>
            </a:r>
            <a:r>
              <a:rPr lang="en-IN" sz="2400" dirty="0" smtClean="0">
                <a:latin typeface="Times New Roman" pitchFamily="18" charset="0"/>
                <a:cs typeface="Times New Roman" pitchFamily="18" charset="0"/>
              </a:rPr>
              <a:t>. </a:t>
            </a:r>
          </a:p>
          <a:p>
            <a:pPr algn="just">
              <a:buNone/>
            </a:pPr>
            <a:r>
              <a:rPr lang="en-US" sz="2400" b="1" dirty="0" smtClean="0">
                <a:solidFill>
                  <a:srgbClr val="FF0000"/>
                </a:solidFill>
                <a:latin typeface="Times New Roman" pitchFamily="18" charset="0"/>
                <a:cs typeface="Times New Roman" pitchFamily="18" charset="0"/>
              </a:rPr>
              <a:t>Truth table</a:t>
            </a:r>
          </a:p>
          <a:p>
            <a:pPr algn="just">
              <a:buNone/>
            </a:pPr>
            <a:r>
              <a:rPr lang="en-IN" sz="2400" dirty="0" smtClean="0">
                <a:latin typeface="Times New Roman" pitchFamily="18" charset="0"/>
                <a:cs typeface="Times New Roman" pitchFamily="18" charset="0"/>
              </a:rPr>
              <a:t>    Since we need to know the truth value of a proposition in all possible scenarios, we consider all the possible combinations of propositions which are joined together by logical connectives to </a:t>
            </a:r>
            <a:endParaRPr lang="en-US" dirty="0" smtClean="0">
              <a:solidFill>
                <a:srgbClr val="FF0000"/>
              </a:solidFill>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2910" y="714357"/>
            <a:ext cx="8043890" cy="5143536"/>
          </a:xfrm>
        </p:spPr>
        <p:txBody>
          <a:bodyPr/>
          <a:lstStyle/>
          <a:p>
            <a:pPr>
              <a:buNone/>
            </a:pPr>
            <a:r>
              <a:rPr lang="en-US" sz="2400" dirty="0" smtClean="0">
                <a:solidFill>
                  <a:srgbClr val="000000"/>
                </a:solidFill>
                <a:latin typeface="Times New Roman" pitchFamily="18" charset="0"/>
                <a:cs typeface="Times New Roman" pitchFamily="18" charset="0"/>
              </a:rPr>
              <a:t>    form </a:t>
            </a:r>
            <a:r>
              <a:rPr lang="en-IN" sz="2400" dirty="0" smtClean="0">
                <a:latin typeface="Times New Roman" pitchFamily="18" charset="0"/>
                <a:cs typeface="Times New Roman" pitchFamily="18" charset="0"/>
              </a:rPr>
              <a:t>the given compound proposition. This compilation of all possible scenarios in a tabular format is called a </a:t>
            </a:r>
            <a:r>
              <a:rPr lang="en-IN" sz="2400" dirty="0" smtClean="0">
                <a:solidFill>
                  <a:srgbClr val="FF0000"/>
                </a:solidFill>
                <a:latin typeface="Times New Roman" pitchFamily="18" charset="0"/>
                <a:cs typeface="Times New Roman" pitchFamily="18" charset="0"/>
              </a:rPr>
              <a:t>Truth table</a:t>
            </a:r>
            <a:r>
              <a:rPr lang="en-IN" sz="2400" dirty="0" smtClean="0">
                <a:latin typeface="Times New Roman" pitchFamily="18" charset="0"/>
                <a:cs typeface="Times New Roman" pitchFamily="18" charset="0"/>
              </a:rPr>
              <a:t>.</a:t>
            </a:r>
          </a:p>
          <a:p>
            <a:pPr algn="ctr">
              <a:buNone/>
            </a:pPr>
            <a:r>
              <a:rPr lang="en-US" b="1" dirty="0" smtClean="0">
                <a:solidFill>
                  <a:srgbClr val="000000"/>
                </a:solidFill>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BASIC CONNECTIVES</a:t>
            </a:r>
          </a:p>
          <a:p>
            <a:pPr algn="ctr">
              <a:buNone/>
            </a:pPr>
            <a:endParaRPr lang="en-US" dirty="0" smtClean="0">
              <a:solidFill>
                <a:srgbClr val="FF0000"/>
              </a:solidFill>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1142976" y="2143115"/>
          <a:ext cx="7500990" cy="3500464"/>
        </p:xfrm>
        <a:graphic>
          <a:graphicData uri="http://schemas.openxmlformats.org/drawingml/2006/table">
            <a:tbl>
              <a:tblPr firstRow="1" bandRow="1">
                <a:tableStyleId>{5C22544A-7EE6-4342-B048-85BDC9FD1C3A}</a:tableStyleId>
              </a:tblPr>
              <a:tblGrid>
                <a:gridCol w="1956780"/>
                <a:gridCol w="1900872"/>
                <a:gridCol w="1928843"/>
                <a:gridCol w="1714495"/>
              </a:tblGrid>
              <a:tr h="829925">
                <a:tc>
                  <a:txBody>
                    <a:bodyPr/>
                    <a:lstStyle/>
                    <a:p>
                      <a:r>
                        <a:rPr lang="en-US" sz="2400" b="1" dirty="0" smtClean="0">
                          <a:solidFill>
                            <a:srgbClr val="335295"/>
                          </a:solidFill>
                          <a:latin typeface="Times New Roman" pitchFamily="18" charset="0"/>
                          <a:cs typeface="Times New Roman" pitchFamily="18" charset="0"/>
                        </a:rPr>
                        <a:t>Logical</a:t>
                      </a:r>
                      <a:r>
                        <a:rPr lang="en-US" sz="2400" b="1" baseline="0" dirty="0" smtClean="0">
                          <a:solidFill>
                            <a:srgbClr val="335295"/>
                          </a:solidFill>
                          <a:latin typeface="Times New Roman" pitchFamily="18" charset="0"/>
                          <a:cs typeface="Times New Roman" pitchFamily="18" charset="0"/>
                        </a:rPr>
                        <a:t> connectives</a:t>
                      </a:r>
                      <a:endParaRPr lang="en-IN" sz="2400" b="1" dirty="0">
                        <a:solidFill>
                          <a:srgbClr val="335295"/>
                        </a:solidFill>
                        <a:latin typeface="Times New Roman" pitchFamily="18" charset="0"/>
                        <a:cs typeface="Times New Roman" pitchFamily="18" charset="0"/>
                      </a:endParaRPr>
                    </a:p>
                  </a:txBody>
                  <a:tcPr/>
                </a:tc>
                <a:tc>
                  <a:txBody>
                    <a:bodyPr/>
                    <a:lstStyle/>
                    <a:p>
                      <a:pPr algn="just"/>
                      <a:endParaRPr lang="en-US" sz="2400" b="1" dirty="0" smtClean="0">
                        <a:solidFill>
                          <a:srgbClr val="335295"/>
                        </a:solidFill>
                        <a:latin typeface="Times New Roman" pitchFamily="18" charset="0"/>
                        <a:cs typeface="Times New Roman" pitchFamily="18" charset="0"/>
                      </a:endParaRPr>
                    </a:p>
                    <a:p>
                      <a:pPr algn="just"/>
                      <a:r>
                        <a:rPr lang="en-US" sz="2400" b="1" dirty="0" smtClean="0">
                          <a:solidFill>
                            <a:srgbClr val="335295"/>
                          </a:solidFill>
                          <a:latin typeface="Times New Roman" pitchFamily="18" charset="0"/>
                          <a:cs typeface="Times New Roman" pitchFamily="18" charset="0"/>
                        </a:rPr>
                        <a:t>  Name</a:t>
                      </a:r>
                      <a:endParaRPr lang="en-IN" sz="2400" b="1" dirty="0">
                        <a:solidFill>
                          <a:srgbClr val="335295"/>
                        </a:solidFill>
                        <a:latin typeface="Times New Roman" pitchFamily="18" charset="0"/>
                        <a:cs typeface="Times New Roman" pitchFamily="18" charset="0"/>
                      </a:endParaRPr>
                    </a:p>
                  </a:txBody>
                  <a:tcPr/>
                </a:tc>
                <a:tc>
                  <a:txBody>
                    <a:bodyPr/>
                    <a:lstStyle/>
                    <a:p>
                      <a:pPr algn="just"/>
                      <a:endParaRPr lang="en-US" sz="2400" b="1" dirty="0" smtClean="0">
                        <a:solidFill>
                          <a:srgbClr val="335295"/>
                        </a:solidFill>
                        <a:latin typeface="Times New Roman" pitchFamily="18" charset="0"/>
                        <a:cs typeface="Times New Roman" pitchFamily="18" charset="0"/>
                      </a:endParaRPr>
                    </a:p>
                    <a:p>
                      <a:pPr algn="just"/>
                      <a:r>
                        <a:rPr lang="en-US" sz="2400" b="1" dirty="0" smtClean="0">
                          <a:solidFill>
                            <a:srgbClr val="335295"/>
                          </a:solidFill>
                          <a:latin typeface="Times New Roman" pitchFamily="18" charset="0"/>
                          <a:cs typeface="Times New Roman" pitchFamily="18" charset="0"/>
                        </a:rPr>
                        <a:t>   Symbols</a:t>
                      </a:r>
                      <a:endParaRPr lang="en-IN" sz="2400" b="1" dirty="0">
                        <a:solidFill>
                          <a:srgbClr val="335295"/>
                        </a:solidFill>
                        <a:latin typeface="Times New Roman" pitchFamily="18" charset="0"/>
                        <a:cs typeface="Times New Roman" pitchFamily="18" charset="0"/>
                      </a:endParaRPr>
                    </a:p>
                  </a:txBody>
                  <a:tcPr/>
                </a:tc>
                <a:tc>
                  <a:txBody>
                    <a:bodyPr/>
                    <a:lstStyle/>
                    <a:p>
                      <a:r>
                        <a:rPr lang="en-US" sz="2400" b="1" dirty="0" smtClean="0">
                          <a:solidFill>
                            <a:srgbClr val="335295"/>
                          </a:solidFill>
                          <a:latin typeface="Times New Roman" pitchFamily="18" charset="0"/>
                          <a:cs typeface="Times New Roman" pitchFamily="18" charset="0"/>
                        </a:rPr>
                        <a:t>Type of operator</a:t>
                      </a:r>
                      <a:endParaRPr lang="en-IN" sz="2400" b="1" dirty="0">
                        <a:solidFill>
                          <a:srgbClr val="335295"/>
                        </a:solidFill>
                        <a:latin typeface="Times New Roman" pitchFamily="18" charset="0"/>
                        <a:cs typeface="Times New Roman" pitchFamily="18" charset="0"/>
                      </a:endParaRPr>
                    </a:p>
                  </a:txBody>
                  <a:tcPr/>
                </a:tc>
              </a:tr>
              <a:tr h="8299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Not</a:t>
                      </a:r>
                      <a:endParaRPr lang="en-IN" sz="2400" dirty="0" smtClean="0">
                        <a:latin typeface="Times New Roman" pitchFamily="18" charset="0"/>
                        <a:cs typeface="Times New Roman" pitchFamily="18" charset="0"/>
                      </a:endParaRPr>
                    </a:p>
                    <a:p>
                      <a:pPr algn="ctr"/>
                      <a:r>
                        <a:rPr lang="en-US" sz="2400" dirty="0" smtClean="0">
                          <a:latin typeface="Times New Roman" pitchFamily="18" charset="0"/>
                          <a:cs typeface="Times New Roman" pitchFamily="18" charset="0"/>
                        </a:rPr>
                        <a:t>And</a:t>
                      </a:r>
                      <a:endParaRPr lang="en-IN" sz="24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  Negation</a:t>
                      </a:r>
                      <a:endParaRPr lang="en-IN" sz="2400" dirty="0" smtClean="0">
                        <a:latin typeface="Times New Roman" pitchFamily="18" charset="0"/>
                        <a:cs typeface="Times New Roman" pitchFamily="18" charset="0"/>
                      </a:endParaRPr>
                    </a:p>
                    <a:p>
                      <a:pPr algn="ctr"/>
                      <a:r>
                        <a:rPr lang="en-US" sz="2400" dirty="0" smtClean="0">
                          <a:latin typeface="Times New Roman" pitchFamily="18" charset="0"/>
                          <a:cs typeface="Times New Roman" pitchFamily="18" charset="0"/>
                        </a:rPr>
                        <a:t>Conjunction</a:t>
                      </a:r>
                      <a:endParaRPr lang="en-IN" sz="24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Times New Roman" pitchFamily="18" charset="0"/>
                          <a:cs typeface="Times New Roman" pitchFamily="18" charset="0"/>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Times New Roman" pitchFamily="18" charset="0"/>
                          <a:cs typeface="Times New Roman" pitchFamily="18" charset="0"/>
                        </a:rPr>
                        <a:t>˅</a:t>
                      </a:r>
                    </a:p>
                  </a:txBody>
                  <a:tcPr/>
                </a:tc>
                <a:tc>
                  <a:txBody>
                    <a:bodyPr/>
                    <a:lstStyle/>
                    <a:p>
                      <a:pPr algn="ctr"/>
                      <a:r>
                        <a:rPr lang="en-US" sz="2400" dirty="0" smtClean="0">
                          <a:latin typeface="Times New Roman" pitchFamily="18" charset="0"/>
                          <a:cs typeface="Times New Roman" pitchFamily="18" charset="0"/>
                        </a:rPr>
                        <a:t>Unary</a:t>
                      </a:r>
                    </a:p>
                    <a:p>
                      <a:pPr algn="ctr"/>
                      <a:r>
                        <a:rPr lang="en-US" sz="2400" dirty="0" smtClean="0">
                          <a:latin typeface="Times New Roman" pitchFamily="18" charset="0"/>
                          <a:cs typeface="Times New Roman" pitchFamily="18" charset="0"/>
                        </a:rPr>
                        <a:t>Binary</a:t>
                      </a:r>
                      <a:endParaRPr lang="en-IN" sz="2400" dirty="0">
                        <a:latin typeface="Times New Roman" pitchFamily="18" charset="0"/>
                        <a:cs typeface="Times New Roman" pitchFamily="18" charset="0"/>
                      </a:endParaRPr>
                    </a:p>
                  </a:txBody>
                  <a:tcPr/>
                </a:tc>
              </a:tr>
              <a:tr h="520714">
                <a:tc>
                  <a:txBody>
                    <a:bodyPr/>
                    <a:lstStyle/>
                    <a:p>
                      <a:pPr algn="ctr"/>
                      <a:r>
                        <a:rPr lang="en-US" sz="2400" dirty="0" smtClean="0">
                          <a:latin typeface="Times New Roman" pitchFamily="18" charset="0"/>
                          <a:cs typeface="Times New Roman" pitchFamily="18" charset="0"/>
                        </a:rPr>
                        <a:t>Or</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 Disjunction</a:t>
                      </a:r>
                      <a:endParaRPr lang="en-IN" sz="2400" dirty="0">
                        <a:latin typeface="Times New Roman" pitchFamily="18" charset="0"/>
                        <a:cs typeface="Times New Roman" pitchFamily="18" charset="0"/>
                      </a:endParaRPr>
                    </a:p>
                  </a:txBody>
                  <a:tcPr/>
                </a:tc>
                <a:tc>
                  <a:txBody>
                    <a:bodyPr/>
                    <a:lstStyle/>
                    <a:p>
                      <a:pPr algn="ctr"/>
                      <a:r>
                        <a:rPr lang="en-IN"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smtClean="0">
                          <a:latin typeface="Times New Roman" pitchFamily="18" charset="0"/>
                          <a:cs typeface="Times New Roman" pitchFamily="18" charset="0"/>
                        </a:rPr>
                        <a:t>Binary</a:t>
                      </a:r>
                      <a:endParaRPr lang="en-IN" sz="2400" dirty="0" smtClean="0">
                        <a:latin typeface="Times New Roman" pitchFamily="18" charset="0"/>
                        <a:cs typeface="Times New Roman" pitchFamily="18" charset="0"/>
                      </a:endParaRPr>
                    </a:p>
                  </a:txBody>
                  <a:tcPr/>
                </a:tc>
              </a:tr>
              <a:tr h="520714">
                <a:tc>
                  <a:txBody>
                    <a:bodyPr/>
                    <a:lstStyle/>
                    <a:p>
                      <a:pPr algn="ctr"/>
                      <a:r>
                        <a:rPr lang="en-US" sz="2400" dirty="0" smtClean="0">
                          <a:latin typeface="Times New Roman" pitchFamily="18" charset="0"/>
                          <a:cs typeface="Times New Roman" pitchFamily="18" charset="0"/>
                        </a:rPr>
                        <a:t>If</a:t>
                      </a:r>
                      <a:r>
                        <a:rPr lang="en-US" sz="2400" baseline="0" dirty="0" smtClean="0">
                          <a:latin typeface="Times New Roman" pitchFamily="18" charset="0"/>
                          <a:cs typeface="Times New Roman" pitchFamily="18" charset="0"/>
                        </a:rPr>
                        <a:t> … then</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 Conditional</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Binary</a:t>
                      </a:r>
                      <a:endParaRPr lang="en-IN" sz="2400" dirty="0">
                        <a:latin typeface="Times New Roman" pitchFamily="18" charset="0"/>
                        <a:cs typeface="Times New Roman" pitchFamily="18" charset="0"/>
                      </a:endParaRPr>
                    </a:p>
                  </a:txBody>
                  <a:tcPr/>
                </a:tc>
              </a:tr>
              <a:tr h="799186">
                <a:tc>
                  <a:txBody>
                    <a:bodyPr/>
                    <a:lstStyle/>
                    <a:p>
                      <a:pPr algn="ctr"/>
                      <a:r>
                        <a:rPr lang="en-US" sz="2400" dirty="0" smtClean="0">
                          <a:latin typeface="Times New Roman" pitchFamily="18" charset="0"/>
                          <a:cs typeface="Times New Roman" pitchFamily="18" charset="0"/>
                        </a:rPr>
                        <a:t>If</a:t>
                      </a:r>
                      <a:r>
                        <a:rPr lang="en-US" sz="2400" baseline="0" dirty="0" smtClean="0">
                          <a:latin typeface="Times New Roman" pitchFamily="18" charset="0"/>
                          <a:cs typeface="Times New Roman" pitchFamily="18" charset="0"/>
                        </a:rPr>
                        <a:t> and only if</a:t>
                      </a: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Biconditional </a:t>
                      </a:r>
                      <a:endParaRPr lang="en-IN" sz="2400" dirty="0">
                        <a:latin typeface="Times New Roman" pitchFamily="18" charset="0"/>
                        <a:cs typeface="Times New Roman" pitchFamily="18" charset="0"/>
                      </a:endParaRPr>
                    </a:p>
                  </a:txBody>
                  <a:tcPr/>
                </a:tc>
                <a:tc>
                  <a:txBody>
                    <a:bodyPr/>
                    <a:lstStyle/>
                    <a:p>
                      <a:pPr algn="ctr"/>
                      <a:endParaRPr lang="en-IN" sz="2400" dirty="0">
                        <a:latin typeface="Times New Roman" pitchFamily="18" charset="0"/>
                        <a:cs typeface="Times New Roman" pitchFamily="18" charset="0"/>
                      </a:endParaRPr>
                    </a:p>
                  </a:txBody>
                  <a:tcPr/>
                </a:tc>
                <a:tc>
                  <a:txBody>
                    <a:bodyPr/>
                    <a:lstStyle/>
                    <a:p>
                      <a:pPr algn="ctr"/>
                      <a:r>
                        <a:rPr lang="en-US" sz="2400" dirty="0" smtClean="0">
                          <a:latin typeface="Times New Roman" pitchFamily="18" charset="0"/>
                          <a:cs typeface="Times New Roman" pitchFamily="18" charset="0"/>
                        </a:rPr>
                        <a:t>Binary</a:t>
                      </a:r>
                      <a:endParaRPr lang="en-IN" sz="2400" dirty="0">
                        <a:latin typeface="Times New Roman" pitchFamily="18" charset="0"/>
                        <a:cs typeface="Times New Roman" pitchFamily="18" charset="0"/>
                      </a:endParaRPr>
                    </a:p>
                  </a:txBody>
                  <a:tcPr/>
                </a:tc>
              </a:tr>
            </a:tbl>
          </a:graphicData>
        </a:graphic>
      </p:graphicFrame>
      <p:graphicFrame>
        <p:nvGraphicFramePr>
          <p:cNvPr id="23555" name="Object 3"/>
          <p:cNvGraphicFramePr>
            <a:graphicFrameLocks noChangeAspect="1"/>
          </p:cNvGraphicFramePr>
          <p:nvPr/>
        </p:nvGraphicFramePr>
        <p:xfrm>
          <a:off x="5715008" y="4429132"/>
          <a:ext cx="674601" cy="263842"/>
        </p:xfrm>
        <a:graphic>
          <a:graphicData uri="http://schemas.openxmlformats.org/presentationml/2006/ole">
            <mc:AlternateContent xmlns:mc="http://schemas.openxmlformats.org/markup-compatibility/2006">
              <mc:Choice xmlns:v="urn:schemas-microsoft-com:vml" Requires="v">
                <p:oleObj spid="_x0000_s23571" name="Equation" r:id="rId3" imgW="190440" imgH="139680" progId="Equation.3">
                  <p:embed/>
                </p:oleObj>
              </mc:Choice>
              <mc:Fallback>
                <p:oleObj name="Equation" r:id="rId3" imgW="190440" imgH="13968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8" y="4429132"/>
                        <a:ext cx="674601" cy="2638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flipH="1">
          <a:off x="5775331" y="5000636"/>
          <a:ext cx="519549" cy="357190"/>
        </p:xfrm>
        <a:graphic>
          <a:graphicData uri="http://schemas.openxmlformats.org/presentationml/2006/ole">
            <mc:AlternateContent xmlns:mc="http://schemas.openxmlformats.org/markup-compatibility/2006">
              <mc:Choice xmlns:v="urn:schemas-microsoft-com:vml" Requires="v">
                <p:oleObj spid="_x0000_s23572" name="Equation" r:id="rId5" imgW="203040" imgH="139680" progId="Equation.3">
                  <p:embed/>
                </p:oleObj>
              </mc:Choice>
              <mc:Fallback>
                <p:oleObj name="Equation" r:id="rId5" imgW="203040" imgH="13968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775331" y="5000636"/>
                        <a:ext cx="519549"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2484</TotalTime>
  <Words>767</Words>
  <Application>Microsoft Office PowerPoint</Application>
  <PresentationFormat>On-screen Show (4:3)</PresentationFormat>
  <Paragraphs>109</Paragraphs>
  <Slides>13</Slides>
  <Notes>2</Notes>
  <HiddenSlides>0</HiddenSlides>
  <MMClips>0</MMClips>
  <ScaleCrop>false</ScaleCrop>
  <HeadingPairs>
    <vt:vector size="6" baseType="variant">
      <vt:variant>
        <vt:lpstr>Theme</vt:lpstr>
      </vt:variant>
      <vt:variant>
        <vt:i4>2</vt:i4>
      </vt:variant>
      <vt:variant>
        <vt:lpstr>Embedded OLE Servers</vt:lpstr>
      </vt:variant>
      <vt:variant>
        <vt:i4>2</vt:i4>
      </vt:variant>
      <vt:variant>
        <vt:lpstr>Slide Titles</vt:lpstr>
      </vt:variant>
      <vt:variant>
        <vt:i4>13</vt:i4>
      </vt:variant>
    </vt:vector>
  </HeadingPairs>
  <TitlesOfParts>
    <vt:vector size="17" baseType="lpstr">
      <vt:lpstr>Default Design</vt:lpstr>
      <vt:lpstr>1_Default Design</vt:lpstr>
      <vt:lpstr>CorelDRAW</vt:lpstr>
      <vt:lpstr>Equation</vt:lpstr>
      <vt:lpstr>PowerPoint Presentation</vt:lpstr>
      <vt:lpstr>Module 1.1</vt:lpstr>
      <vt:lpstr>Logic</vt:lpstr>
      <vt:lpstr>Mathematical  Logic</vt:lpstr>
      <vt:lpstr>History of Logic</vt:lpstr>
      <vt:lpstr>Development of Logic</vt:lpstr>
      <vt:lpstr>Components of Logic </vt:lpstr>
      <vt:lpstr>Propositional Logic </vt:lpstr>
      <vt:lpstr>Proposition</vt:lpstr>
      <vt:lpstr>PowerPoint Presentation</vt:lpstr>
      <vt:lpstr>The following sentences are not propositions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dc:creator>
  <cp:lastModifiedBy>S.V</cp:lastModifiedBy>
  <cp:revision>567</cp:revision>
  <dcterms:created xsi:type="dcterms:W3CDTF">2006-09-22T10:59:01Z</dcterms:created>
  <dcterms:modified xsi:type="dcterms:W3CDTF">2020-07-14T09:48:04Z</dcterms:modified>
</cp:coreProperties>
</file>