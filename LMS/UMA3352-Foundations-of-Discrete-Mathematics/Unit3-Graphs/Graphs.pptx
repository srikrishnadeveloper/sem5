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84" r:id="rId14"/>
    <p:sldId id="285" r:id="rId15"/>
    <p:sldId id="286" r:id="rId16"/>
    <p:sldId id="272" r:id="rId17"/>
    <p:sldId id="273" r:id="rId18"/>
    <p:sldId id="275" r:id="rId19"/>
    <p:sldId id="276" r:id="rId20"/>
    <p:sldId id="277" r:id="rId21"/>
    <p:sldId id="278" r:id="rId22"/>
    <p:sldId id="279" r:id="rId23"/>
    <p:sldId id="280" r:id="rId24"/>
    <p:sldId id="281" r:id="rId25"/>
    <p:sldId id="282" r:id="rId26"/>
    <p:sldId id="283" r:id="rId27"/>
    <p:sldId id="271" r:id="rId28"/>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57B5"/>
    <a:srgbClr val="000000"/>
    <a:srgbClr val="3352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71" autoAdjust="0"/>
    <p:restoredTop sz="84380" autoAdjust="0"/>
  </p:normalViewPr>
  <p:slideViewPr>
    <p:cSldViewPr>
      <p:cViewPr>
        <p:scale>
          <a:sx n="66" d="100"/>
          <a:sy n="66" d="100"/>
        </p:scale>
        <p:origin x="1260" y="-48"/>
      </p:cViewPr>
      <p:guideLst>
        <p:guide orient="horz" pos="2160"/>
        <p:guide pos="2880"/>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3F44D709-BD32-4E7C-8370-59A8D36383F6}" type="slidenum">
              <a:rPr lang="en-US" altLang="en-US"/>
              <a:pPr/>
              <a:t>‹#›</a:t>
            </a:fld>
            <a:endParaRPr lang="en-US" altLang="en-US"/>
          </a:p>
        </p:txBody>
      </p:sp>
    </p:spTree>
    <p:extLst>
      <p:ext uri="{BB962C8B-B14F-4D97-AF65-F5344CB8AC3E}">
        <p14:creationId xmlns:p14="http://schemas.microsoft.com/office/powerpoint/2010/main" val="246311397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A5B455-2930-444F-993F-A1D62A137782}" type="slidenum">
              <a:rPr lang="en-US" altLang="en-US"/>
              <a:pPr/>
              <a:t>1</a:t>
            </a:fld>
            <a:endParaRPr lang="en-US" altLang="en-US" dirty="0"/>
          </a:p>
        </p:txBody>
      </p:sp>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97420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Each path is traversed once – simple path</a:t>
            </a:r>
          </a:p>
          <a:p>
            <a:r>
              <a:rPr lang="en-US" dirty="0"/>
              <a:t>Each edge is traversed once – Euler path</a:t>
            </a:r>
          </a:p>
          <a:p>
            <a:r>
              <a:rPr lang="en-US" dirty="0"/>
              <a:t>In the above graph, an Euler path is possible only when</a:t>
            </a:r>
            <a:r>
              <a:rPr lang="en-US" baseline="0" dirty="0"/>
              <a:t> odd degree vertex is either 0 or 2. In the case of Konigsberg all the 4 vertices are odd degree. So add one bridge – two vertices are even degree and 2 are odd degree. Hence solution is possible.</a:t>
            </a:r>
            <a:endParaRPr lang="en-US" dirty="0"/>
          </a:p>
        </p:txBody>
      </p:sp>
      <p:sp>
        <p:nvSpPr>
          <p:cNvPr id="4" name="Slide Number Placeholder 3"/>
          <p:cNvSpPr>
            <a:spLocks noGrp="1"/>
          </p:cNvSpPr>
          <p:nvPr>
            <p:ph type="sldNum" sz="quarter" idx="10"/>
          </p:nvPr>
        </p:nvSpPr>
        <p:spPr/>
        <p:txBody>
          <a:bodyPr/>
          <a:lstStyle/>
          <a:p>
            <a:fld id="{0724495B-A6E1-4090-9905-50520AECE5F9}" type="slidenum">
              <a:rPr lang="en-GB" altLang="en-US" smtClean="0"/>
              <a:pPr/>
              <a:t>4</a:t>
            </a:fld>
            <a:endParaRPr lang="en-GB" altLang="en-US" dirty="0"/>
          </a:p>
        </p:txBody>
      </p:sp>
      <p:sp>
        <p:nvSpPr>
          <p:cNvPr id="5" name="Date Placeholder 4"/>
          <p:cNvSpPr>
            <a:spLocks noGrp="1"/>
          </p:cNvSpPr>
          <p:nvPr>
            <p:ph type="dt" idx="11"/>
          </p:nvPr>
        </p:nvSpPr>
        <p:spPr/>
        <p:txBody>
          <a:bodyPr/>
          <a:lstStyle/>
          <a:p>
            <a:pPr>
              <a:defRPr/>
            </a:pPr>
            <a:r>
              <a:rPr lang="en-US"/>
              <a:t>January 29, 2018</a:t>
            </a:r>
            <a:endParaRPr lang="en-GB" dirty="0"/>
          </a:p>
        </p:txBody>
      </p:sp>
      <p:sp>
        <p:nvSpPr>
          <p:cNvPr id="6" name="Footer Placeholder 5"/>
          <p:cNvSpPr>
            <a:spLocks noGrp="1"/>
          </p:cNvSpPr>
          <p:nvPr>
            <p:ph type="ftr" sz="quarter" idx="12"/>
          </p:nvPr>
        </p:nvSpPr>
        <p:spPr/>
        <p:txBody>
          <a:bodyPr/>
          <a:lstStyle/>
          <a:p>
            <a:pPr>
              <a:defRPr/>
            </a:pPr>
            <a:r>
              <a:rPr lang="en-US"/>
              <a:t>Graph theory and its applications </a:t>
            </a:r>
            <a:endParaRPr lang="en-GB" dirty="0"/>
          </a:p>
        </p:txBody>
      </p:sp>
    </p:spTree>
    <p:extLst>
      <p:ext uri="{BB962C8B-B14F-4D97-AF65-F5344CB8AC3E}">
        <p14:creationId xmlns:p14="http://schemas.microsoft.com/office/powerpoint/2010/main" val="3917847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Tahoma" pitchFamily="34" charset="0"/>
                <a:ea typeface="Tahoma" pitchFamily="34" charset="0"/>
                <a:cs typeface="Tahoma" pitchFamily="34" charset="0"/>
              </a:rPr>
              <a:t>A graph G(V,E) is a non-empty set V of vertices and a set E of edges with incidence relationship </a:t>
            </a:r>
            <a:endParaRPr lang="en-US" dirty="0"/>
          </a:p>
        </p:txBody>
      </p:sp>
      <p:sp>
        <p:nvSpPr>
          <p:cNvPr id="4" name="Date Placeholder 3"/>
          <p:cNvSpPr>
            <a:spLocks noGrp="1"/>
          </p:cNvSpPr>
          <p:nvPr>
            <p:ph type="dt" idx="10"/>
          </p:nvPr>
        </p:nvSpPr>
        <p:spPr/>
        <p:txBody>
          <a:bodyPr/>
          <a:lstStyle/>
          <a:p>
            <a:pPr>
              <a:defRPr/>
            </a:pPr>
            <a:r>
              <a:rPr lang="en-US"/>
              <a:t>January 29, 2018</a:t>
            </a:r>
            <a:endParaRPr lang="en-GB" dirty="0"/>
          </a:p>
        </p:txBody>
      </p:sp>
      <p:sp>
        <p:nvSpPr>
          <p:cNvPr id="5" name="Footer Placeholder 4"/>
          <p:cNvSpPr>
            <a:spLocks noGrp="1"/>
          </p:cNvSpPr>
          <p:nvPr>
            <p:ph type="ftr" sz="quarter" idx="11"/>
          </p:nvPr>
        </p:nvSpPr>
        <p:spPr/>
        <p:txBody>
          <a:bodyPr/>
          <a:lstStyle/>
          <a:p>
            <a:pPr>
              <a:defRPr/>
            </a:pPr>
            <a:r>
              <a:rPr lang="en-US"/>
              <a:t>Graph theory and its applications </a:t>
            </a:r>
            <a:endParaRPr lang="en-GB" dirty="0"/>
          </a:p>
        </p:txBody>
      </p:sp>
      <p:sp>
        <p:nvSpPr>
          <p:cNvPr id="6" name="Slide Number Placeholder 5"/>
          <p:cNvSpPr>
            <a:spLocks noGrp="1"/>
          </p:cNvSpPr>
          <p:nvPr>
            <p:ph type="sldNum" sz="quarter" idx="12"/>
          </p:nvPr>
        </p:nvSpPr>
        <p:spPr/>
        <p:txBody>
          <a:bodyPr/>
          <a:lstStyle/>
          <a:p>
            <a:fld id="{0724495B-A6E1-4090-9905-50520AECE5F9}" type="slidenum">
              <a:rPr lang="en-GB" altLang="en-US" smtClean="0"/>
              <a:pPr/>
              <a:t>5</a:t>
            </a:fld>
            <a:endParaRPr lang="en-GB" altLang="en-US" dirty="0"/>
          </a:p>
        </p:txBody>
      </p:sp>
    </p:spTree>
    <p:extLst>
      <p:ext uri="{BB962C8B-B14F-4D97-AF65-F5344CB8AC3E}">
        <p14:creationId xmlns:p14="http://schemas.microsoft.com/office/powerpoint/2010/main" val="2562304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Tahoma" pitchFamily="34" charset="0"/>
                <a:ea typeface="Tahoma" pitchFamily="34" charset="0"/>
                <a:cs typeface="Tahoma" pitchFamily="34" charset="0"/>
              </a:rPr>
              <a:t>Let G be a </a:t>
            </a:r>
            <a:r>
              <a:rPr lang="en-US" sz="1200" b="1" i="0" kern="1200" baseline="0" dirty="0">
                <a:solidFill>
                  <a:schemeClr val="tx1"/>
                </a:solidFill>
                <a:latin typeface="Tahoma" pitchFamily="34" charset="0"/>
                <a:ea typeface="Tahoma" pitchFamily="34" charset="0"/>
                <a:cs typeface="Tahoma" pitchFamily="34" charset="0"/>
              </a:rPr>
              <a:t>simple graph</a:t>
            </a:r>
            <a:r>
              <a:rPr lang="en-US" sz="1200" b="0" i="0" kern="1200" baseline="0" dirty="0">
                <a:solidFill>
                  <a:schemeClr val="tx1"/>
                </a:solidFill>
                <a:latin typeface="Tahoma" pitchFamily="34" charset="0"/>
                <a:ea typeface="Tahoma" pitchFamily="34" charset="0"/>
                <a:cs typeface="Tahoma" pitchFamily="34" charset="0"/>
              </a:rPr>
              <a:t> with n-</a:t>
            </a:r>
            <a:r>
              <a:rPr lang="en-US" sz="1200" b="1" i="0" kern="1200" baseline="0" dirty="0">
                <a:solidFill>
                  <a:schemeClr val="tx1"/>
                </a:solidFill>
                <a:latin typeface="Tahoma" pitchFamily="34" charset="0"/>
                <a:ea typeface="Tahoma" pitchFamily="34" charset="0"/>
                <a:cs typeface="Tahoma" pitchFamily="34" charset="0"/>
              </a:rPr>
              <a:t>vertices</a:t>
            </a:r>
            <a:r>
              <a:rPr lang="en-US" sz="1200" b="0" i="0" kern="1200" baseline="0" dirty="0">
                <a:solidFill>
                  <a:schemeClr val="tx1"/>
                </a:solidFill>
                <a:latin typeface="Tahoma" pitchFamily="34" charset="0"/>
                <a:ea typeface="Tahoma" pitchFamily="34" charset="0"/>
                <a:cs typeface="Tahoma" pitchFamily="34" charset="0"/>
              </a:rPr>
              <a:t>. Consider </a:t>
            </a:r>
            <a:r>
              <a:rPr lang="en-US" sz="1200" b="1" i="0" kern="1200" baseline="0" dirty="0">
                <a:solidFill>
                  <a:schemeClr val="tx1"/>
                </a:solidFill>
                <a:latin typeface="Tahoma" pitchFamily="34" charset="0"/>
                <a:ea typeface="Tahoma" pitchFamily="34" charset="0"/>
                <a:cs typeface="Tahoma" pitchFamily="34" charset="0"/>
              </a:rPr>
              <a:t>any vertex</a:t>
            </a:r>
            <a:r>
              <a:rPr lang="en-US" sz="1200" b="0" i="0" kern="1200" baseline="0" dirty="0">
                <a:solidFill>
                  <a:schemeClr val="tx1"/>
                </a:solidFill>
                <a:latin typeface="Tahoma" pitchFamily="34" charset="0"/>
                <a:ea typeface="Tahoma" pitchFamily="34" charset="0"/>
                <a:cs typeface="Tahoma" pitchFamily="34" charset="0"/>
              </a:rPr>
              <a:t> v of G. Since the </a:t>
            </a:r>
            <a:r>
              <a:rPr lang="en-US" sz="1200" b="1" i="0" kern="1200" baseline="0" dirty="0">
                <a:solidFill>
                  <a:schemeClr val="tx1"/>
                </a:solidFill>
                <a:latin typeface="Tahoma" pitchFamily="34" charset="0"/>
                <a:ea typeface="Tahoma" pitchFamily="34" charset="0"/>
                <a:cs typeface="Tahoma" pitchFamily="34" charset="0"/>
              </a:rPr>
              <a:t>graph</a:t>
            </a:r>
            <a:r>
              <a:rPr lang="en-US" sz="1200" b="0" i="0" kern="1200" baseline="0" dirty="0">
                <a:solidFill>
                  <a:schemeClr val="tx1"/>
                </a:solidFill>
                <a:latin typeface="Tahoma" pitchFamily="34" charset="0"/>
                <a:ea typeface="Tahoma" pitchFamily="34" charset="0"/>
                <a:cs typeface="Tahoma" pitchFamily="34" charset="0"/>
              </a:rPr>
              <a:t> is </a:t>
            </a:r>
            <a:r>
              <a:rPr lang="en-US" sz="1200" b="1" i="0" kern="1200" baseline="0" dirty="0">
                <a:solidFill>
                  <a:schemeClr val="tx1"/>
                </a:solidFill>
                <a:latin typeface="Tahoma" pitchFamily="34" charset="0"/>
                <a:ea typeface="Tahoma" pitchFamily="34" charset="0"/>
                <a:cs typeface="Tahoma" pitchFamily="34" charset="0"/>
              </a:rPr>
              <a:t>simple</a:t>
            </a:r>
            <a:r>
              <a:rPr lang="en-US" sz="1200" b="0" i="0" kern="1200" baseline="0" dirty="0">
                <a:solidFill>
                  <a:schemeClr val="tx1"/>
                </a:solidFill>
                <a:latin typeface="Tahoma" pitchFamily="34" charset="0"/>
                <a:ea typeface="Tahoma" pitchFamily="34" charset="0"/>
                <a:cs typeface="Tahoma" pitchFamily="34" charset="0"/>
              </a:rPr>
              <a:t> (i.e., without self loops and parallel edges), the </a:t>
            </a:r>
            <a:r>
              <a:rPr lang="en-US" sz="1200" b="1" i="0" kern="1200" baseline="0" dirty="0">
                <a:solidFill>
                  <a:schemeClr val="tx1"/>
                </a:solidFill>
                <a:latin typeface="Tahoma" pitchFamily="34" charset="0"/>
                <a:ea typeface="Tahoma" pitchFamily="34" charset="0"/>
                <a:cs typeface="Tahoma" pitchFamily="34" charset="0"/>
              </a:rPr>
              <a:t>vertex</a:t>
            </a:r>
            <a:r>
              <a:rPr lang="en-US" sz="1200" b="0" i="0" kern="1200" baseline="0" dirty="0">
                <a:solidFill>
                  <a:schemeClr val="tx1"/>
                </a:solidFill>
                <a:latin typeface="Tahoma" pitchFamily="34" charset="0"/>
                <a:ea typeface="Tahoma" pitchFamily="34" charset="0"/>
                <a:cs typeface="Tahoma" pitchFamily="34" charset="0"/>
              </a:rPr>
              <a:t> v can be adjacent to </a:t>
            </a:r>
            <a:r>
              <a:rPr lang="en-US" sz="1200" b="0" i="0" kern="1200" baseline="0" dirty="0" err="1">
                <a:solidFill>
                  <a:schemeClr val="tx1"/>
                </a:solidFill>
                <a:latin typeface="Tahoma" pitchFamily="34" charset="0"/>
                <a:ea typeface="Tahoma" pitchFamily="34" charset="0"/>
                <a:cs typeface="Tahoma" pitchFamily="34" charset="0"/>
              </a:rPr>
              <a:t>atmost</a:t>
            </a:r>
            <a:r>
              <a:rPr lang="en-US" sz="1200" b="0" i="0" kern="1200" baseline="0" dirty="0">
                <a:solidFill>
                  <a:schemeClr val="tx1"/>
                </a:solidFill>
                <a:latin typeface="Tahoma" pitchFamily="34" charset="0"/>
                <a:ea typeface="Tahoma" pitchFamily="34" charset="0"/>
                <a:cs typeface="Tahoma" pitchFamily="34" charset="0"/>
              </a:rPr>
              <a:t> remaining (n – </a:t>
            </a:r>
            <a:r>
              <a:rPr lang="en-US" sz="1200" b="1" i="0" kern="1200" baseline="0" dirty="0">
                <a:solidFill>
                  <a:schemeClr val="tx1"/>
                </a:solidFill>
                <a:latin typeface="Tahoma" pitchFamily="34" charset="0"/>
                <a:ea typeface="Tahoma" pitchFamily="34" charset="0"/>
                <a:cs typeface="Tahoma" pitchFamily="34" charset="0"/>
              </a:rPr>
              <a:t>1</a:t>
            </a:r>
            <a:r>
              <a:rPr lang="en-US" sz="1200" b="0" i="0" kern="1200" baseline="0" dirty="0">
                <a:solidFill>
                  <a:schemeClr val="tx1"/>
                </a:solidFill>
                <a:latin typeface="Tahoma" pitchFamily="34" charset="0"/>
                <a:ea typeface="Tahoma" pitchFamily="34" charset="0"/>
                <a:cs typeface="Tahoma" pitchFamily="34" charset="0"/>
              </a:rPr>
              <a:t>) </a:t>
            </a:r>
            <a:r>
              <a:rPr lang="en-US" sz="1200" b="1" i="0" kern="1200" baseline="0" dirty="0">
                <a:solidFill>
                  <a:schemeClr val="tx1"/>
                </a:solidFill>
                <a:latin typeface="Tahoma" pitchFamily="34" charset="0"/>
                <a:ea typeface="Tahoma" pitchFamily="34" charset="0"/>
                <a:cs typeface="Tahoma" pitchFamily="34" charset="0"/>
              </a:rPr>
              <a:t>vertices</a:t>
            </a:r>
            <a:r>
              <a:rPr lang="en-US" sz="1200" b="0" i="0" kern="1200" baseline="0" dirty="0">
                <a:solidFill>
                  <a:schemeClr val="tx1"/>
                </a:solidFill>
                <a:latin typeface="Tahoma" pitchFamily="34" charset="0"/>
                <a:ea typeface="Tahoma" pitchFamily="34" charset="0"/>
                <a:cs typeface="Tahoma" pitchFamily="34" charset="0"/>
              </a:rPr>
              <a:t>. Hence the </a:t>
            </a:r>
            <a:r>
              <a:rPr lang="en-US" sz="1200" b="1" i="0" kern="1200" baseline="0" dirty="0">
                <a:solidFill>
                  <a:schemeClr val="tx1"/>
                </a:solidFill>
                <a:latin typeface="Tahoma" pitchFamily="34" charset="0"/>
                <a:ea typeface="Tahoma" pitchFamily="34" charset="0"/>
                <a:cs typeface="Tahoma" pitchFamily="34" charset="0"/>
              </a:rPr>
              <a:t>maximum degree of any vertex in a simple graph</a:t>
            </a:r>
            <a:r>
              <a:rPr lang="en-US" sz="1200" b="0" i="0" kern="1200" baseline="0" dirty="0">
                <a:solidFill>
                  <a:schemeClr val="tx1"/>
                </a:solidFill>
                <a:latin typeface="Tahoma" pitchFamily="34" charset="0"/>
                <a:ea typeface="Tahoma" pitchFamily="34" charset="0"/>
                <a:cs typeface="Tahoma" pitchFamily="34" charset="0"/>
              </a:rPr>
              <a:t> with n </a:t>
            </a:r>
            <a:r>
              <a:rPr lang="en-US" sz="1200" b="1" i="0" kern="1200" baseline="0" dirty="0">
                <a:solidFill>
                  <a:schemeClr val="tx1"/>
                </a:solidFill>
                <a:latin typeface="Tahoma" pitchFamily="34" charset="0"/>
                <a:ea typeface="Tahoma" pitchFamily="34" charset="0"/>
                <a:cs typeface="Tahoma" pitchFamily="34" charset="0"/>
              </a:rPr>
              <a:t>vertices</a:t>
            </a:r>
            <a:r>
              <a:rPr lang="en-US" sz="1200" b="0" i="0" kern="1200" baseline="0" dirty="0">
                <a:solidFill>
                  <a:schemeClr val="tx1"/>
                </a:solidFill>
                <a:latin typeface="Tahoma" pitchFamily="34" charset="0"/>
                <a:ea typeface="Tahoma" pitchFamily="34" charset="0"/>
                <a:cs typeface="Tahoma" pitchFamily="34" charset="0"/>
              </a:rPr>
              <a:t> is (n – </a:t>
            </a:r>
            <a:r>
              <a:rPr lang="en-US" sz="1200" b="1" i="0" kern="1200" baseline="0" dirty="0">
                <a:solidFill>
                  <a:schemeClr val="tx1"/>
                </a:solidFill>
                <a:latin typeface="Tahoma" pitchFamily="34" charset="0"/>
                <a:ea typeface="Tahoma" pitchFamily="34" charset="0"/>
                <a:cs typeface="Tahoma" pitchFamily="34" charset="0"/>
              </a:rPr>
              <a:t>1</a:t>
            </a:r>
            <a:r>
              <a:rPr lang="en-US" sz="1200" b="0" i="0" kern="1200" baseline="0" dirty="0">
                <a:solidFill>
                  <a:schemeClr val="tx1"/>
                </a:solidFill>
                <a:latin typeface="Tahoma" pitchFamily="34" charset="0"/>
                <a:ea typeface="Tahoma" pitchFamily="34" charset="0"/>
                <a:cs typeface="Tahoma" pitchFamily="34" charset="0"/>
              </a:rPr>
              <a:t>).</a:t>
            </a:r>
            <a:endParaRPr lang="en-US" dirty="0"/>
          </a:p>
        </p:txBody>
      </p:sp>
      <p:sp>
        <p:nvSpPr>
          <p:cNvPr id="4" name="Slide Number Placeholder 3"/>
          <p:cNvSpPr>
            <a:spLocks noGrp="1"/>
          </p:cNvSpPr>
          <p:nvPr>
            <p:ph type="sldNum" sz="quarter" idx="10"/>
          </p:nvPr>
        </p:nvSpPr>
        <p:spPr/>
        <p:txBody>
          <a:bodyPr/>
          <a:lstStyle/>
          <a:p>
            <a:fld id="{0724495B-A6E1-4090-9905-50520AECE5F9}" type="slidenum">
              <a:rPr lang="en-GB" altLang="en-US" smtClean="0"/>
              <a:pPr/>
              <a:t>6</a:t>
            </a:fld>
            <a:endParaRPr lang="en-GB" altLang="en-US" dirty="0"/>
          </a:p>
        </p:txBody>
      </p:sp>
      <p:sp>
        <p:nvSpPr>
          <p:cNvPr id="5" name="Date Placeholder 4"/>
          <p:cNvSpPr>
            <a:spLocks noGrp="1"/>
          </p:cNvSpPr>
          <p:nvPr>
            <p:ph type="dt" idx="11"/>
          </p:nvPr>
        </p:nvSpPr>
        <p:spPr/>
        <p:txBody>
          <a:bodyPr/>
          <a:lstStyle/>
          <a:p>
            <a:pPr>
              <a:defRPr/>
            </a:pPr>
            <a:r>
              <a:rPr lang="en-US"/>
              <a:t>January 29, 2018</a:t>
            </a:r>
            <a:endParaRPr lang="en-GB" dirty="0"/>
          </a:p>
        </p:txBody>
      </p:sp>
      <p:sp>
        <p:nvSpPr>
          <p:cNvPr id="6" name="Footer Placeholder 5"/>
          <p:cNvSpPr>
            <a:spLocks noGrp="1"/>
          </p:cNvSpPr>
          <p:nvPr>
            <p:ph type="ftr" sz="quarter" idx="12"/>
          </p:nvPr>
        </p:nvSpPr>
        <p:spPr/>
        <p:txBody>
          <a:bodyPr/>
          <a:lstStyle/>
          <a:p>
            <a:pPr>
              <a:defRPr/>
            </a:pPr>
            <a:r>
              <a:rPr lang="en-US"/>
              <a:t>Graph theory and its applications </a:t>
            </a:r>
            <a:endParaRPr lang="en-GB" dirty="0"/>
          </a:p>
        </p:txBody>
      </p:sp>
    </p:spTree>
    <p:extLst>
      <p:ext uri="{BB962C8B-B14F-4D97-AF65-F5344CB8AC3E}">
        <p14:creationId xmlns:p14="http://schemas.microsoft.com/office/powerpoint/2010/main" val="108659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44D709-BD32-4E7C-8370-59A8D36383F6}" type="slidenum">
              <a:rPr lang="en-US" altLang="en-US" smtClean="0"/>
              <a:pPr/>
              <a:t>8</a:t>
            </a:fld>
            <a:endParaRPr lang="en-US" altLang="en-US"/>
          </a:p>
        </p:txBody>
      </p:sp>
    </p:spTree>
    <p:extLst>
      <p:ext uri="{BB962C8B-B14F-4D97-AF65-F5344CB8AC3E}">
        <p14:creationId xmlns:p14="http://schemas.microsoft.com/office/powerpoint/2010/main" val="4105596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24495B-A6E1-4090-9905-50520AECE5F9}" type="slidenum">
              <a:rPr lang="en-GB" altLang="en-US" smtClean="0"/>
              <a:pPr/>
              <a:t>9</a:t>
            </a:fld>
            <a:endParaRPr lang="en-GB" altLang="en-US" dirty="0"/>
          </a:p>
        </p:txBody>
      </p:sp>
      <p:sp>
        <p:nvSpPr>
          <p:cNvPr id="5" name="Date Placeholder 4"/>
          <p:cNvSpPr>
            <a:spLocks noGrp="1"/>
          </p:cNvSpPr>
          <p:nvPr>
            <p:ph type="dt" idx="11"/>
          </p:nvPr>
        </p:nvSpPr>
        <p:spPr/>
        <p:txBody>
          <a:bodyPr/>
          <a:lstStyle/>
          <a:p>
            <a:pPr>
              <a:defRPr/>
            </a:pPr>
            <a:r>
              <a:rPr lang="en-US"/>
              <a:t>January 29, 2018</a:t>
            </a:r>
            <a:endParaRPr lang="en-GB" dirty="0"/>
          </a:p>
        </p:txBody>
      </p:sp>
      <p:sp>
        <p:nvSpPr>
          <p:cNvPr id="6" name="Footer Placeholder 5"/>
          <p:cNvSpPr>
            <a:spLocks noGrp="1"/>
          </p:cNvSpPr>
          <p:nvPr>
            <p:ph type="ftr" sz="quarter" idx="12"/>
          </p:nvPr>
        </p:nvSpPr>
        <p:spPr/>
        <p:txBody>
          <a:bodyPr/>
          <a:lstStyle/>
          <a:p>
            <a:pPr>
              <a:defRPr/>
            </a:pPr>
            <a:r>
              <a:rPr lang="en-US"/>
              <a:t>Graph theory and its applications </a:t>
            </a:r>
            <a:endParaRPr lang="en-GB" dirty="0"/>
          </a:p>
        </p:txBody>
      </p:sp>
    </p:spTree>
    <p:extLst>
      <p:ext uri="{BB962C8B-B14F-4D97-AF65-F5344CB8AC3E}">
        <p14:creationId xmlns:p14="http://schemas.microsoft.com/office/powerpoint/2010/main" val="42342237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131" name="Picture 11" descr="band"/>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589588"/>
            <a:ext cx="8991600" cy="1268412"/>
          </a:xfrm>
          <a:prstGeom prst="rect">
            <a:avLst/>
          </a:prstGeom>
          <a:noFill/>
          <a:extLst>
            <a:ext uri="{909E8E84-426E-40DD-AFC4-6F175D3DCCD1}">
              <a14:hiddenFill xmlns:a14="http://schemas.microsoft.com/office/drawing/2010/main">
                <a:solidFill>
                  <a:srgbClr val="FFFFFF"/>
                </a:solidFill>
              </a14:hiddenFill>
            </a:ext>
          </a:extLst>
        </p:spPr>
      </p:pic>
      <p:sp>
        <p:nvSpPr>
          <p:cNvPr id="5122" name="Rectangle 2"/>
          <p:cNvSpPr>
            <a:spLocks noGrp="1" noChangeArrowheads="1"/>
          </p:cNvSpPr>
          <p:nvPr>
            <p:ph type="ctrTitle"/>
          </p:nvPr>
        </p:nvSpPr>
        <p:spPr>
          <a:xfrm>
            <a:off x="685800" y="2286000"/>
            <a:ext cx="7772400" cy="1143000"/>
          </a:xfrm>
        </p:spPr>
        <p:txBody>
          <a:bodyPr/>
          <a:lstStyle>
            <a:lvl1pPr>
              <a:defRPr>
                <a:solidFill>
                  <a:srgbClr val="1B57B5"/>
                </a:solidFill>
              </a:defRPr>
            </a:lvl1pPr>
          </a:lstStyle>
          <a:p>
            <a:pPr lvl="0"/>
            <a:r>
              <a:rPr lang="en-US" altLang="en-US" noProof="0"/>
              <a:t>Click to edit Master title style</a:t>
            </a:r>
          </a:p>
        </p:txBody>
      </p:sp>
      <p:sp>
        <p:nvSpPr>
          <p:cNvPr id="5123" name="Rectangle 3"/>
          <p:cNvSpPr>
            <a:spLocks noGrp="1" noChangeArrowheads="1"/>
          </p:cNvSpPr>
          <p:nvPr>
            <p:ph type="subTitle" idx="1"/>
          </p:nvPr>
        </p:nvSpPr>
        <p:spPr>
          <a:xfrm>
            <a:off x="1371600" y="3810000"/>
            <a:ext cx="6400800" cy="1752600"/>
          </a:xfrm>
        </p:spPr>
        <p:txBody>
          <a:bodyPr/>
          <a:lstStyle>
            <a:lvl1pPr marL="0" indent="0" algn="ctr">
              <a:buFontTx/>
              <a:buNone/>
              <a:defRPr>
                <a:solidFill>
                  <a:schemeClr val="bg2"/>
                </a:solidFill>
              </a:defRPr>
            </a:lvl1pPr>
          </a:lstStyle>
          <a:p>
            <a:pPr lvl="0"/>
            <a:r>
              <a:rPr lang="en-US" altLang="en-US" noProof="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6277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1577493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9615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0502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3716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50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116485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911396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7136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7695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45" name="Picture 21" descr="ban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589588"/>
            <a:ext cx="8991600" cy="1268412"/>
          </a:xfrm>
          <a:prstGeom prst="rect">
            <a:avLst/>
          </a:prstGeom>
          <a:noFill/>
          <a:extLst>
            <a:ext uri="{909E8E84-426E-40DD-AFC4-6F175D3DCCD1}">
              <a14:hiddenFill xmlns:a14="http://schemas.microsoft.com/office/drawing/2010/main">
                <a:solidFill>
                  <a:srgbClr val="FFFFFF"/>
                </a:solidFill>
              </a14:hiddenFill>
            </a:ext>
          </a:extLst>
        </p:spPr>
      </p:pic>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rtl="0" fontAlgn="base">
        <a:spcBef>
          <a:spcPct val="0"/>
        </a:spcBef>
        <a:spcAft>
          <a:spcPct val="0"/>
        </a:spcAft>
        <a:defRPr sz="4000" kern="1200">
          <a:solidFill>
            <a:schemeClr val="tx2"/>
          </a:solidFill>
          <a:latin typeface="+mj-lt"/>
          <a:ea typeface="+mj-ea"/>
          <a:cs typeface="+mj-cs"/>
        </a:defRPr>
      </a:lvl1pPr>
      <a:lvl2pPr algn="ctr" rtl="0" fontAlgn="base">
        <a:spcBef>
          <a:spcPct val="0"/>
        </a:spcBef>
        <a:spcAft>
          <a:spcPct val="0"/>
        </a:spcAft>
        <a:defRPr sz="4000">
          <a:solidFill>
            <a:schemeClr val="tx2"/>
          </a:solidFill>
          <a:latin typeface="Verdana" panose="020B0604030504040204" pitchFamily="34" charset="0"/>
        </a:defRPr>
      </a:lvl2pPr>
      <a:lvl3pPr algn="ctr" rtl="0" fontAlgn="base">
        <a:spcBef>
          <a:spcPct val="0"/>
        </a:spcBef>
        <a:spcAft>
          <a:spcPct val="0"/>
        </a:spcAft>
        <a:defRPr sz="4000">
          <a:solidFill>
            <a:schemeClr val="tx2"/>
          </a:solidFill>
          <a:latin typeface="Verdana" panose="020B0604030504040204" pitchFamily="34" charset="0"/>
        </a:defRPr>
      </a:lvl3pPr>
      <a:lvl4pPr algn="ctr" rtl="0" fontAlgn="base">
        <a:spcBef>
          <a:spcPct val="0"/>
        </a:spcBef>
        <a:spcAft>
          <a:spcPct val="0"/>
        </a:spcAft>
        <a:defRPr sz="4000">
          <a:solidFill>
            <a:schemeClr val="tx2"/>
          </a:solidFill>
          <a:latin typeface="Verdana" panose="020B0604030504040204" pitchFamily="34" charset="0"/>
        </a:defRPr>
      </a:lvl4pPr>
      <a:lvl5pPr algn="ctr" rtl="0" fontAlgn="base">
        <a:spcBef>
          <a:spcPct val="0"/>
        </a:spcBef>
        <a:spcAft>
          <a:spcPct val="0"/>
        </a:spcAft>
        <a:defRPr sz="4000">
          <a:solidFill>
            <a:schemeClr val="tx2"/>
          </a:solidFill>
          <a:latin typeface="Verdana" panose="020B0604030504040204" pitchFamily="34" charset="0"/>
        </a:defRPr>
      </a:lvl5pPr>
      <a:lvl6pPr marL="457200" algn="ctr" rtl="0" fontAlgn="base">
        <a:spcBef>
          <a:spcPct val="0"/>
        </a:spcBef>
        <a:spcAft>
          <a:spcPct val="0"/>
        </a:spcAft>
        <a:defRPr sz="4000">
          <a:solidFill>
            <a:schemeClr val="tx2"/>
          </a:solidFill>
          <a:latin typeface="Verdana" panose="020B0604030504040204" pitchFamily="34" charset="0"/>
        </a:defRPr>
      </a:lvl6pPr>
      <a:lvl7pPr marL="914400" algn="ctr" rtl="0" fontAlgn="base">
        <a:spcBef>
          <a:spcPct val="0"/>
        </a:spcBef>
        <a:spcAft>
          <a:spcPct val="0"/>
        </a:spcAft>
        <a:defRPr sz="4000">
          <a:solidFill>
            <a:schemeClr val="tx2"/>
          </a:solidFill>
          <a:latin typeface="Verdana" panose="020B0604030504040204" pitchFamily="34" charset="0"/>
        </a:defRPr>
      </a:lvl7pPr>
      <a:lvl8pPr marL="1371600" algn="ctr" rtl="0" fontAlgn="base">
        <a:spcBef>
          <a:spcPct val="0"/>
        </a:spcBef>
        <a:spcAft>
          <a:spcPct val="0"/>
        </a:spcAft>
        <a:defRPr sz="4000">
          <a:solidFill>
            <a:schemeClr val="tx2"/>
          </a:solidFill>
          <a:latin typeface="Verdana" panose="020B0604030504040204" pitchFamily="34" charset="0"/>
        </a:defRPr>
      </a:lvl8pPr>
      <a:lvl9pPr marL="1828800" algn="ctr" rtl="0" fontAlgn="base">
        <a:spcBef>
          <a:spcPct val="0"/>
        </a:spcBef>
        <a:spcAft>
          <a:spcPct val="0"/>
        </a:spcAft>
        <a:defRPr sz="4000">
          <a:solidFill>
            <a:schemeClr val="tx2"/>
          </a:solidFill>
          <a:latin typeface="Verdana" panose="020B060403050404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3.xml"/><Relationship Id="rId7"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1.bin"/><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d3gt.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685800" y="2362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000">
                <a:solidFill>
                  <a:srgbClr val="1B57B5"/>
                </a:solidFill>
                <a:latin typeface="Verdana" panose="020B0604030504040204" pitchFamily="34" charset="0"/>
              </a:defRPr>
            </a:lvl1pPr>
            <a:lvl2pPr algn="ctr">
              <a:defRPr sz="4000">
                <a:solidFill>
                  <a:srgbClr val="1B57B5"/>
                </a:solidFill>
                <a:latin typeface="Verdana" panose="020B0604030504040204" pitchFamily="34" charset="0"/>
              </a:defRPr>
            </a:lvl2pPr>
            <a:lvl3pPr algn="ctr">
              <a:defRPr sz="4000">
                <a:solidFill>
                  <a:srgbClr val="1B57B5"/>
                </a:solidFill>
                <a:latin typeface="Verdana" panose="020B0604030504040204" pitchFamily="34" charset="0"/>
              </a:defRPr>
            </a:lvl3pPr>
            <a:lvl4pPr algn="ctr">
              <a:defRPr sz="4000">
                <a:solidFill>
                  <a:srgbClr val="1B57B5"/>
                </a:solidFill>
                <a:latin typeface="Verdana" panose="020B0604030504040204" pitchFamily="34" charset="0"/>
              </a:defRPr>
            </a:lvl4pPr>
            <a:lvl5pPr algn="ctr">
              <a:defRPr sz="4000">
                <a:solidFill>
                  <a:srgbClr val="1B57B5"/>
                </a:solidFill>
                <a:latin typeface="Verdana" panose="020B0604030504040204" pitchFamily="34" charset="0"/>
              </a:defRPr>
            </a:lvl5pPr>
            <a:lvl6pPr marL="457200" algn="ctr" fontAlgn="base">
              <a:spcBef>
                <a:spcPct val="0"/>
              </a:spcBef>
              <a:spcAft>
                <a:spcPct val="0"/>
              </a:spcAft>
              <a:defRPr sz="4000">
                <a:solidFill>
                  <a:srgbClr val="1B57B5"/>
                </a:solidFill>
                <a:latin typeface="Verdana" panose="020B0604030504040204" pitchFamily="34" charset="0"/>
              </a:defRPr>
            </a:lvl6pPr>
            <a:lvl7pPr marL="914400" algn="ctr" fontAlgn="base">
              <a:spcBef>
                <a:spcPct val="0"/>
              </a:spcBef>
              <a:spcAft>
                <a:spcPct val="0"/>
              </a:spcAft>
              <a:defRPr sz="4000">
                <a:solidFill>
                  <a:srgbClr val="1B57B5"/>
                </a:solidFill>
                <a:latin typeface="Verdana" panose="020B0604030504040204" pitchFamily="34" charset="0"/>
              </a:defRPr>
            </a:lvl7pPr>
            <a:lvl8pPr marL="1371600" algn="ctr" fontAlgn="base">
              <a:spcBef>
                <a:spcPct val="0"/>
              </a:spcBef>
              <a:spcAft>
                <a:spcPct val="0"/>
              </a:spcAft>
              <a:defRPr sz="4000">
                <a:solidFill>
                  <a:srgbClr val="1B57B5"/>
                </a:solidFill>
                <a:latin typeface="Verdana" panose="020B0604030504040204" pitchFamily="34" charset="0"/>
              </a:defRPr>
            </a:lvl8pPr>
            <a:lvl9pPr marL="1828800" algn="ctr" fontAlgn="base">
              <a:spcBef>
                <a:spcPct val="0"/>
              </a:spcBef>
              <a:spcAft>
                <a:spcPct val="0"/>
              </a:spcAft>
              <a:defRPr sz="4000">
                <a:solidFill>
                  <a:srgbClr val="1B57B5"/>
                </a:solidFill>
                <a:latin typeface="Verdana" panose="020B0604030504040204" pitchFamily="34" charset="0"/>
              </a:defRPr>
            </a:lvl9pPr>
          </a:lstStyle>
          <a:p>
            <a:r>
              <a:rPr lang="en-US" altLang="en-US" sz="4400" b="1" dirty="0">
                <a:solidFill>
                  <a:srgbClr val="FF0000"/>
                </a:solidFill>
                <a:latin typeface="Times New Roman" panose="02020603050405020304" pitchFamily="18" charset="0"/>
                <a:cs typeface="Times New Roman" panose="02020603050405020304" pitchFamily="18" charset="0"/>
              </a:rPr>
              <a:t>DISCRETE MATHEMATICS</a:t>
            </a:r>
          </a:p>
        </p:txBody>
      </p:sp>
      <p:sp>
        <p:nvSpPr>
          <p:cNvPr id="6147" name="Rectangle 3"/>
          <p:cNvSpPr>
            <a:spLocks noChangeArrowheads="1"/>
          </p:cNvSpPr>
          <p:nvPr/>
        </p:nvSpPr>
        <p:spPr bwMode="auto">
          <a:xfrm>
            <a:off x="228600" y="3886200"/>
            <a:ext cx="8763000" cy="1432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ctr">
              <a:spcBef>
                <a:spcPct val="20000"/>
              </a:spcBef>
              <a:defRPr sz="3200">
                <a:solidFill>
                  <a:schemeClr val="bg2"/>
                </a:solidFill>
                <a:latin typeface="Verdana" panose="020B0604030504040204" pitchFamily="34" charset="0"/>
              </a:defRPr>
            </a:lvl1pPr>
            <a:lvl2pPr marL="742950" indent="-285750" algn="ctr">
              <a:spcBef>
                <a:spcPct val="20000"/>
              </a:spcBef>
              <a:defRPr sz="2800">
                <a:solidFill>
                  <a:schemeClr val="tx1"/>
                </a:solidFill>
                <a:latin typeface="Verdana" panose="020B0604030504040204" pitchFamily="34" charset="0"/>
              </a:defRPr>
            </a:lvl2pPr>
            <a:lvl3pPr marL="1143000" indent="-228600" algn="ctr">
              <a:spcBef>
                <a:spcPct val="20000"/>
              </a:spcBef>
              <a:defRPr sz="2400">
                <a:solidFill>
                  <a:schemeClr val="tx1"/>
                </a:solidFill>
                <a:latin typeface="Verdana" panose="020B0604030504040204" pitchFamily="34" charset="0"/>
              </a:defRPr>
            </a:lvl3pPr>
            <a:lvl4pPr marL="1600200" indent="-228600" algn="ctr">
              <a:spcBef>
                <a:spcPct val="20000"/>
              </a:spcBef>
              <a:defRPr sz="2000">
                <a:solidFill>
                  <a:schemeClr val="tx1"/>
                </a:solidFill>
                <a:latin typeface="Verdana" panose="020B0604030504040204" pitchFamily="34" charset="0"/>
              </a:defRPr>
            </a:lvl4pPr>
            <a:lvl5pPr marL="2057400" indent="-228600" algn="ctr">
              <a:spcBef>
                <a:spcPct val="20000"/>
              </a:spcBef>
              <a:defRPr sz="2000">
                <a:solidFill>
                  <a:schemeClr val="tx1"/>
                </a:solidFill>
                <a:latin typeface="Verdana" panose="020B0604030504040204" pitchFamily="34" charset="0"/>
              </a:defRPr>
            </a:lvl5pPr>
            <a:lvl6pPr marL="2514600" indent="-228600" algn="ctr" fontAlgn="base">
              <a:spcBef>
                <a:spcPct val="20000"/>
              </a:spcBef>
              <a:spcAft>
                <a:spcPct val="0"/>
              </a:spcAft>
              <a:defRPr sz="2000">
                <a:solidFill>
                  <a:schemeClr val="tx1"/>
                </a:solidFill>
                <a:latin typeface="Verdana" panose="020B0604030504040204" pitchFamily="34" charset="0"/>
              </a:defRPr>
            </a:lvl6pPr>
            <a:lvl7pPr marL="2971800" indent="-228600" algn="ctr" fontAlgn="base">
              <a:spcBef>
                <a:spcPct val="20000"/>
              </a:spcBef>
              <a:spcAft>
                <a:spcPct val="0"/>
              </a:spcAft>
              <a:defRPr sz="2000">
                <a:solidFill>
                  <a:schemeClr val="tx1"/>
                </a:solidFill>
                <a:latin typeface="Verdana" panose="020B0604030504040204" pitchFamily="34" charset="0"/>
              </a:defRPr>
            </a:lvl7pPr>
            <a:lvl8pPr marL="3429000" indent="-228600" algn="ctr" fontAlgn="base">
              <a:spcBef>
                <a:spcPct val="20000"/>
              </a:spcBef>
              <a:spcAft>
                <a:spcPct val="0"/>
              </a:spcAft>
              <a:defRPr sz="2000">
                <a:solidFill>
                  <a:schemeClr val="tx1"/>
                </a:solidFill>
                <a:latin typeface="Verdana" panose="020B0604030504040204" pitchFamily="34" charset="0"/>
              </a:defRPr>
            </a:lvl8pPr>
            <a:lvl9pPr marL="3886200" indent="-228600" algn="ctr" fontAlgn="base">
              <a:spcBef>
                <a:spcPct val="20000"/>
              </a:spcBef>
              <a:spcAft>
                <a:spcPct val="0"/>
              </a:spcAft>
              <a:defRPr sz="2000">
                <a:solidFill>
                  <a:schemeClr val="tx1"/>
                </a:solidFill>
                <a:latin typeface="Verdana" panose="020B0604030504040204" pitchFamily="34" charset="0"/>
              </a:defRPr>
            </a:lvl9pPr>
          </a:lstStyle>
          <a:p>
            <a:r>
              <a:rPr lang="en-US" altLang="en-US" sz="2800" b="1" dirty="0">
                <a:solidFill>
                  <a:srgbClr val="7030A0"/>
                </a:solidFill>
              </a:rPr>
              <a:t>Department of Mathematics</a:t>
            </a:r>
          </a:p>
          <a:p>
            <a:r>
              <a:rPr lang="en-US" altLang="en-US" sz="2800" b="1" dirty="0">
                <a:solidFill>
                  <a:srgbClr val="002060"/>
                </a:solidFill>
              </a:rPr>
              <a:t>SSN College of Engineering (Autonomous)</a:t>
            </a:r>
          </a:p>
        </p:txBody>
      </p:sp>
      <p:sp>
        <p:nvSpPr>
          <p:cNvPr id="6161" name="Rectangle 17"/>
          <p:cNvSpPr>
            <a:spLocks noChangeArrowheads="1"/>
          </p:cNvSpPr>
          <p:nvPr/>
        </p:nvSpPr>
        <p:spPr bwMode="auto">
          <a:xfrm>
            <a:off x="2365375" y="46038"/>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dirty="0"/>
          </a:p>
        </p:txBody>
      </p:sp>
      <p:sp>
        <p:nvSpPr>
          <p:cNvPr id="6162" name="Rectangle 18"/>
          <p:cNvSpPr>
            <a:spLocks noChangeArrowheads="1"/>
          </p:cNvSpPr>
          <p:nvPr/>
        </p:nvSpPr>
        <p:spPr bwMode="auto">
          <a:xfrm>
            <a:off x="0" y="-15499"/>
            <a:ext cx="9144000" cy="1597479"/>
          </a:xfrm>
          <a:prstGeom prst="rect">
            <a:avLst/>
          </a:prstGeom>
          <a:solidFill>
            <a:srgbClr val="33529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32656"/>
            <a:ext cx="7886700" cy="1218188"/>
          </a:xfrm>
        </p:spPr>
        <p:txBody>
          <a:bodyPr>
            <a:noAutofit/>
          </a:bodyPr>
          <a:lstStyle/>
          <a:p>
            <a:r>
              <a:rPr lang="en-IN" dirty="0">
                <a:latin typeface="Times New Roman" panose="02020603050405020304" pitchFamily="18" charset="0"/>
                <a:cs typeface="Times New Roman" panose="02020603050405020304" pitchFamily="18" charset="0"/>
              </a:rPr>
              <a:t>Euler and Seven Bridges of Konigsberg</a:t>
            </a:r>
          </a:p>
        </p:txBody>
      </p:sp>
      <p:sp>
        <p:nvSpPr>
          <p:cNvPr id="3" name="Content Placeholder 2"/>
          <p:cNvSpPr>
            <a:spLocks noGrp="1"/>
          </p:cNvSpPr>
          <p:nvPr>
            <p:ph idx="1"/>
          </p:nvPr>
        </p:nvSpPr>
        <p:spPr>
          <a:xfrm>
            <a:off x="628650" y="1620982"/>
            <a:ext cx="7886700" cy="4379768"/>
          </a:xfrm>
        </p:spPr>
        <p:txBody>
          <a:bodyPr/>
          <a:lstStyle/>
          <a:p>
            <a:pPr marL="0" indent="0" algn="just">
              <a:buNone/>
            </a:pPr>
            <a:r>
              <a:rPr lang="en-IN" b="1" dirty="0"/>
              <a:t>Wikipedia:</a:t>
            </a:r>
            <a:r>
              <a:rPr lang="en-IN" dirty="0"/>
              <a:t> </a:t>
            </a:r>
            <a:r>
              <a:rPr lang="en-IN" sz="1800" dirty="0">
                <a:latin typeface="Times New Roman" panose="02020603050405020304" pitchFamily="18" charset="0"/>
                <a:cs typeface="Times New Roman" panose="02020603050405020304" pitchFamily="18" charset="0"/>
              </a:rPr>
              <a:t>The city of Konigsberg in Prussia (now Kaliningrad, Russia) was set on both sides of the </a:t>
            </a:r>
            <a:r>
              <a:rPr lang="en-IN" sz="1800" dirty="0" err="1">
                <a:latin typeface="Times New Roman" panose="02020603050405020304" pitchFamily="18" charset="0"/>
                <a:cs typeface="Times New Roman" panose="02020603050405020304" pitchFamily="18" charset="0"/>
              </a:rPr>
              <a:t>Pregel</a:t>
            </a:r>
            <a:r>
              <a:rPr lang="en-IN" sz="1800" dirty="0">
                <a:latin typeface="Times New Roman" panose="02020603050405020304" pitchFamily="18" charset="0"/>
                <a:cs typeface="Times New Roman" panose="02020603050405020304" pitchFamily="18" charset="0"/>
              </a:rPr>
              <a:t> River, and included two large islands which were connected to each other and the mainland by seven bridges. The problem was to find a walk through the city that would cross each bridge once and only once.</a:t>
            </a:r>
          </a:p>
          <a:p>
            <a:pPr marL="0" indent="0">
              <a:buNone/>
            </a:pPr>
            <a:endParaRPr lang="en-IN" dirty="0"/>
          </a:p>
        </p:txBody>
      </p:sp>
      <p:sp>
        <p:nvSpPr>
          <p:cNvPr id="5" name="Rectangle 4"/>
          <p:cNvSpPr/>
          <p:nvPr/>
        </p:nvSpPr>
        <p:spPr>
          <a:xfrm>
            <a:off x="3662795" y="5612867"/>
            <a:ext cx="1940503" cy="553998"/>
          </a:xfrm>
          <a:prstGeom prst="rect">
            <a:avLst/>
          </a:prstGeom>
        </p:spPr>
        <p:txBody>
          <a:bodyPr wrap="square">
            <a:spAutoFit/>
          </a:bodyPr>
          <a:lstStyle/>
          <a:p>
            <a:pPr algn="ctr"/>
            <a:r>
              <a:rPr lang="en-IN" sz="1500" dirty="0">
                <a:solidFill>
                  <a:srgbClr val="000000"/>
                </a:solidFill>
                <a:latin typeface="CMSS10"/>
              </a:rPr>
              <a:t>   Konigsberg in 1652.   </a:t>
            </a:r>
            <a:endParaRPr lang="en-IN" sz="15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0098" y="3163252"/>
            <a:ext cx="3125066" cy="2379476"/>
          </a:xfrm>
          <a:prstGeom prst="rect">
            <a:avLst/>
          </a:prstGeom>
        </p:spPr>
      </p:pic>
    </p:spTree>
    <p:extLst>
      <p:ext uri="{BB962C8B-B14F-4D97-AF65-F5344CB8AC3E}">
        <p14:creationId xmlns:p14="http://schemas.microsoft.com/office/powerpoint/2010/main" val="3993383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04664"/>
            <a:ext cx="7886700" cy="1309836"/>
          </a:xfrm>
        </p:spPr>
        <p:txBody>
          <a:bodyPr/>
          <a:lstStyle/>
          <a:p>
            <a:r>
              <a:rPr lang="en-IN" dirty="0">
                <a:latin typeface="Times New Roman" panose="02020603050405020304" pitchFamily="18" charset="0"/>
                <a:cs typeface="Times New Roman" panose="02020603050405020304" pitchFamily="18" charset="0"/>
              </a:rPr>
              <a:t>Euler and Seven Bridges of Konigsberg</a:t>
            </a:r>
          </a:p>
        </p:txBody>
      </p:sp>
      <p:sp>
        <p:nvSpPr>
          <p:cNvPr id="3" name="Content Placeholder 2"/>
          <p:cNvSpPr>
            <a:spLocks noGrp="1"/>
          </p:cNvSpPr>
          <p:nvPr>
            <p:ph idx="1"/>
          </p:nvPr>
        </p:nvSpPr>
        <p:spPr>
          <a:xfrm>
            <a:off x="628650" y="1714500"/>
            <a:ext cx="7886700" cy="3866198"/>
          </a:xfrm>
        </p:spPr>
        <p:txBody>
          <a:bodyPr/>
          <a:lstStyle/>
          <a:p>
            <a:pPr algn="just">
              <a:buNone/>
            </a:pPr>
            <a:r>
              <a:rPr lang="en-US" sz="1500" dirty="0">
                <a:latin typeface="Times New Roman" panose="02020603050405020304" pitchFamily="18" charset="0"/>
                <a:ea typeface="Verdana" pitchFamily="34" charset="0"/>
                <a:cs typeface="Times New Roman" panose="02020603050405020304" pitchFamily="18" charset="0"/>
              </a:rPr>
              <a:t>    In 1736 the Swiss mathematician </a:t>
            </a:r>
            <a:r>
              <a:rPr lang="en-US" sz="1500" b="1" dirty="0">
                <a:latin typeface="Times New Roman" panose="02020603050405020304" pitchFamily="18" charset="0"/>
                <a:ea typeface="Verdana" pitchFamily="34" charset="0"/>
                <a:cs typeface="Times New Roman" panose="02020603050405020304" pitchFamily="18" charset="0"/>
              </a:rPr>
              <a:t>Leonhard Euler </a:t>
            </a:r>
            <a:r>
              <a:rPr lang="en-US" sz="1500" dirty="0">
                <a:latin typeface="Times New Roman" panose="02020603050405020304" pitchFamily="18" charset="0"/>
                <a:ea typeface="Verdana" pitchFamily="34" charset="0"/>
                <a:cs typeface="Times New Roman" panose="02020603050405020304" pitchFamily="18" charset="0"/>
              </a:rPr>
              <a:t>presented a solution to this problem, concluding that such a walk was impossible, if an odd number of bridges are connected to more than two land masses. In demonstrating that the answer is no, he laid the foundation for graph theory - </a:t>
            </a:r>
            <a:r>
              <a:rPr lang="en-US" sz="1500" dirty="0">
                <a:latin typeface="Times New Roman" panose="02020603050405020304" pitchFamily="18" charset="0"/>
                <a:ea typeface="Tahoma" pitchFamily="34" charset="0"/>
                <a:cs typeface="Times New Roman" panose="02020603050405020304" pitchFamily="18" charset="0"/>
              </a:rPr>
              <a:t>the first theorem in graph theory. </a:t>
            </a:r>
            <a:r>
              <a:rPr lang="en-US" sz="1500" b="1" dirty="0" err="1">
                <a:latin typeface="Times New Roman" panose="02020603050405020304" pitchFamily="18" charset="0"/>
                <a:ea typeface="Verdana" pitchFamily="34" charset="0"/>
                <a:cs typeface="Times New Roman" panose="02020603050405020304" pitchFamily="18" charset="0"/>
              </a:rPr>
              <a:t>W.W.Rouse</a:t>
            </a:r>
            <a:r>
              <a:rPr lang="en-US" sz="1500" b="1" dirty="0">
                <a:latin typeface="Times New Roman" panose="02020603050405020304" pitchFamily="18" charset="0"/>
                <a:ea typeface="Verdana" pitchFamily="34" charset="0"/>
                <a:cs typeface="Times New Roman" panose="02020603050405020304" pitchFamily="18" charset="0"/>
              </a:rPr>
              <a:t> Ball </a:t>
            </a:r>
            <a:r>
              <a:rPr lang="en-US" sz="1500" dirty="0">
                <a:latin typeface="Times New Roman" panose="02020603050405020304" pitchFamily="18" charset="0"/>
                <a:ea typeface="Verdana" pitchFamily="34" charset="0"/>
                <a:cs typeface="Times New Roman" panose="02020603050405020304" pitchFamily="18" charset="0"/>
              </a:rPr>
              <a:t>(in 1892) seems to have been the first to use the graph in the following figure to solve the problem.</a:t>
            </a:r>
          </a:p>
          <a:p>
            <a:pPr algn="just">
              <a:buNone/>
            </a:pPr>
            <a:endParaRPr lang="en-US" dirty="0">
              <a:latin typeface="Verdana" pitchFamily="34" charset="0"/>
              <a:ea typeface="Verdana" pitchFamily="34" charset="0"/>
              <a:cs typeface="Verdana" pitchFamily="34" charset="0"/>
            </a:endParaRPr>
          </a:p>
          <a:p>
            <a:endParaRPr lang="en-IN" dirty="0"/>
          </a:p>
          <a:p>
            <a:endParaRPr lang="en-IN" dirty="0"/>
          </a:p>
        </p:txBody>
      </p:sp>
      <p:sp>
        <p:nvSpPr>
          <p:cNvPr id="5" name="Rectangle 4"/>
          <p:cNvSpPr/>
          <p:nvPr/>
        </p:nvSpPr>
        <p:spPr>
          <a:xfrm>
            <a:off x="1901536" y="4979063"/>
            <a:ext cx="4956464" cy="553998"/>
          </a:xfrm>
          <a:prstGeom prst="rect">
            <a:avLst/>
          </a:prstGeom>
        </p:spPr>
        <p:txBody>
          <a:bodyPr wrap="square">
            <a:spAutoFit/>
          </a:bodyPr>
          <a:lstStyle/>
          <a:p>
            <a:r>
              <a:rPr lang="en-IN" sz="1500" dirty="0">
                <a:latin typeface="CMSS10"/>
              </a:rPr>
              <a:t>The seven bridges of Konigsberg, as drawn by Leonhard Euler</a:t>
            </a:r>
            <a:endParaRPr lang="en-IN" sz="15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739" y="3168631"/>
            <a:ext cx="5333581" cy="1518728"/>
          </a:xfrm>
          <a:prstGeom prst="rect">
            <a:avLst/>
          </a:prstGeom>
        </p:spPr>
      </p:pic>
    </p:spTree>
    <p:extLst>
      <p:ext uri="{BB962C8B-B14F-4D97-AF65-F5344CB8AC3E}">
        <p14:creationId xmlns:p14="http://schemas.microsoft.com/office/powerpoint/2010/main" val="3649327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b="1" dirty="0">
                <a:latin typeface="Times New Roman" panose="02020603050405020304" pitchFamily="18" charset="0"/>
                <a:ea typeface="Verdana" pitchFamily="34" charset="0"/>
                <a:cs typeface="Times New Roman" panose="02020603050405020304" pitchFamily="18" charset="0"/>
              </a:rPr>
              <a:t>Graph Model</a:t>
            </a:r>
          </a:p>
        </p:txBody>
      </p:sp>
      <p:pic>
        <p:nvPicPr>
          <p:cNvPr id="6" name="Picture 2"/>
          <p:cNvPicPr>
            <a:picLocks noGrp="1" noChangeAspect="1" noChangeArrowheads="1"/>
          </p:cNvPicPr>
          <p:nvPr>
            <p:ph sz="half" idx="1"/>
          </p:nvPr>
        </p:nvPicPr>
        <p:blipFill>
          <a:blip r:embed="rId3"/>
          <a:srcRect/>
          <a:stretch>
            <a:fillRect/>
          </a:stretch>
        </p:blipFill>
        <p:spPr bwMode="auto">
          <a:xfrm>
            <a:off x="1660208" y="2154868"/>
            <a:ext cx="2680335" cy="1794510"/>
          </a:xfrm>
          <a:prstGeom prst="rect">
            <a:avLst/>
          </a:prstGeom>
          <a:noFill/>
          <a:ln w="9525">
            <a:noFill/>
            <a:miter lim="800000"/>
            <a:headEnd/>
            <a:tailEnd/>
          </a:ln>
          <a:effectLst/>
        </p:spPr>
      </p:pic>
      <p:pic>
        <p:nvPicPr>
          <p:cNvPr id="3075" name="Picture 3" descr="C:\Users\VENUGOPAL\Desktop\Ethiraj\3.png"/>
          <p:cNvPicPr>
            <a:picLocks noGrp="1" noChangeAspect="1" noChangeArrowheads="1"/>
          </p:cNvPicPr>
          <p:nvPr>
            <p:ph sz="half" idx="2"/>
          </p:nvPr>
        </p:nvPicPr>
        <p:blipFill>
          <a:blip r:embed="rId4"/>
          <a:srcRect/>
          <a:stretch>
            <a:fillRect/>
          </a:stretch>
        </p:blipFill>
        <p:spPr bwMode="auto">
          <a:xfrm>
            <a:off x="4315028" y="1664334"/>
            <a:ext cx="3435069" cy="2743200"/>
          </a:xfrm>
          <a:prstGeom prst="rect">
            <a:avLst/>
          </a:prstGeom>
          <a:noFill/>
        </p:spPr>
      </p:pic>
      <p:sp>
        <p:nvSpPr>
          <p:cNvPr id="5" name="Rectangle 4"/>
          <p:cNvSpPr/>
          <p:nvPr/>
        </p:nvSpPr>
        <p:spPr>
          <a:xfrm>
            <a:off x="1276815" y="4382572"/>
            <a:ext cx="6038385" cy="553998"/>
          </a:xfrm>
          <a:prstGeom prst="rect">
            <a:avLst/>
          </a:prstGeom>
        </p:spPr>
        <p:txBody>
          <a:bodyPr wrap="square">
            <a:spAutoFit/>
          </a:bodyPr>
          <a:lstStyle/>
          <a:p>
            <a:r>
              <a:rPr lang="en-US" sz="1500" dirty="0">
                <a:latin typeface="Times New Roman" panose="02020603050405020304" pitchFamily="18" charset="0"/>
                <a:cs typeface="Times New Roman" panose="02020603050405020304" pitchFamily="18" charset="0"/>
              </a:rPr>
              <a:t>The word "graph" was first used in this sense by English Mathematician James Joseph Sylvester in 1878.</a:t>
            </a:r>
          </a:p>
        </p:txBody>
      </p:sp>
    </p:spTree>
    <p:extLst>
      <p:ext uri="{BB962C8B-B14F-4D97-AF65-F5344CB8AC3E}">
        <p14:creationId xmlns:p14="http://schemas.microsoft.com/office/powerpoint/2010/main" val="3759274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b="1" dirty="0">
                <a:latin typeface="Times New Roman" panose="02020603050405020304" pitchFamily="18" charset="0"/>
                <a:ea typeface="Verdana" pitchFamily="34" charset="0"/>
                <a:cs typeface="Times New Roman" panose="02020603050405020304" pitchFamily="18" charset="0"/>
              </a:rPr>
              <a:t>What is Graph?....</a:t>
            </a:r>
          </a:p>
        </p:txBody>
      </p:sp>
      <p:sp>
        <p:nvSpPr>
          <p:cNvPr id="3" name="Content Placeholder 2"/>
          <p:cNvSpPr>
            <a:spLocks noGrp="1"/>
          </p:cNvSpPr>
          <p:nvPr>
            <p:ph sz="half" idx="1"/>
          </p:nvPr>
        </p:nvSpPr>
        <p:spPr>
          <a:xfrm>
            <a:off x="628651" y="2226469"/>
            <a:ext cx="3667349" cy="3244345"/>
          </a:xfrm>
        </p:spPr>
        <p:txBody>
          <a:bodyPr>
            <a:normAutofit/>
          </a:bodyPr>
          <a:lstStyle/>
          <a:p>
            <a:pPr algn="just">
              <a:lnSpc>
                <a:spcPct val="150000"/>
              </a:lnSpc>
              <a:buNone/>
            </a:pPr>
            <a:r>
              <a:rPr lang="en-US" sz="1500" dirty="0">
                <a:latin typeface="Verdana" pitchFamily="34" charset="0"/>
                <a:ea typeface="Verdana" pitchFamily="34" charset="0"/>
                <a:cs typeface="Verdana" pitchFamily="34" charset="0"/>
              </a:rPr>
              <a:t>   A graph is an ordered pair                     G = (V,E) where V is a set of vertices and E is a set of edges. </a:t>
            </a:r>
          </a:p>
          <a:p>
            <a:pPr algn="just">
              <a:lnSpc>
                <a:spcPct val="150000"/>
              </a:lnSpc>
              <a:buNone/>
            </a:pPr>
            <a:r>
              <a:rPr lang="en-US" sz="1500" dirty="0">
                <a:latin typeface="Verdana" pitchFamily="34" charset="0"/>
                <a:ea typeface="Verdana" pitchFamily="34" charset="0"/>
                <a:cs typeface="Verdana" pitchFamily="34" charset="0"/>
              </a:rPr>
              <a:t>                             are also called as </a:t>
            </a:r>
            <a:r>
              <a:rPr lang="en-US" sz="1500" i="1" dirty="0">
                <a:latin typeface="Verdana" pitchFamily="34" charset="0"/>
                <a:ea typeface="Verdana" pitchFamily="34" charset="0"/>
                <a:cs typeface="Verdana" pitchFamily="34" charset="0"/>
              </a:rPr>
              <a:t>points </a:t>
            </a:r>
            <a:r>
              <a:rPr lang="en-US" sz="1500" dirty="0">
                <a:latin typeface="Verdana" pitchFamily="34" charset="0"/>
                <a:ea typeface="Verdana" pitchFamily="34" charset="0"/>
                <a:cs typeface="Verdana" pitchFamily="34" charset="0"/>
              </a:rPr>
              <a:t>or</a:t>
            </a:r>
            <a:r>
              <a:rPr lang="en-US" sz="1500" i="1" dirty="0">
                <a:latin typeface="Verdana" pitchFamily="34" charset="0"/>
                <a:ea typeface="Verdana" pitchFamily="34" charset="0"/>
                <a:cs typeface="Verdana" pitchFamily="34" charset="0"/>
              </a:rPr>
              <a:t> </a:t>
            </a:r>
            <a:r>
              <a:rPr lang="en-US" sz="1500" dirty="0">
                <a:latin typeface="Verdana" pitchFamily="34" charset="0"/>
                <a:ea typeface="Verdana" pitchFamily="34" charset="0"/>
                <a:cs typeface="Verdana" pitchFamily="34" charset="0"/>
              </a:rPr>
              <a:t>nodes. </a:t>
            </a:r>
          </a:p>
          <a:p>
            <a:pPr algn="just">
              <a:lnSpc>
                <a:spcPct val="150000"/>
              </a:lnSpc>
              <a:buNone/>
            </a:pPr>
            <a:r>
              <a:rPr lang="en-US" sz="1500" dirty="0">
                <a:latin typeface="Verdana" pitchFamily="34" charset="0"/>
                <a:ea typeface="Verdana" pitchFamily="34" charset="0"/>
                <a:cs typeface="Verdana" pitchFamily="34" charset="0"/>
              </a:rPr>
              <a:t>  Edges                  are called as </a:t>
            </a:r>
            <a:r>
              <a:rPr lang="en-US" sz="1500" i="1" dirty="0">
                <a:latin typeface="Verdana" pitchFamily="34" charset="0"/>
                <a:ea typeface="Verdana" pitchFamily="34" charset="0"/>
                <a:cs typeface="Verdana" pitchFamily="34" charset="0"/>
              </a:rPr>
              <a:t>lines </a:t>
            </a:r>
            <a:r>
              <a:rPr lang="en-US" sz="1500" dirty="0">
                <a:latin typeface="Verdana" pitchFamily="34" charset="0"/>
                <a:ea typeface="Verdana" pitchFamily="34" charset="0"/>
                <a:cs typeface="Verdana" pitchFamily="34" charset="0"/>
              </a:rPr>
              <a:t>or</a:t>
            </a:r>
            <a:r>
              <a:rPr lang="en-US" sz="1500" i="1" dirty="0">
                <a:latin typeface="Verdana" pitchFamily="34" charset="0"/>
                <a:ea typeface="Verdana" pitchFamily="34" charset="0"/>
                <a:cs typeface="Verdana" pitchFamily="34" charset="0"/>
              </a:rPr>
              <a:t> arcs.</a:t>
            </a:r>
          </a:p>
          <a:p>
            <a:pPr algn="just">
              <a:buNone/>
            </a:pPr>
            <a:r>
              <a:rPr lang="en-US" sz="1500" dirty="0">
                <a:latin typeface="Verdana" pitchFamily="34" charset="0"/>
                <a:ea typeface="Verdana" pitchFamily="34" charset="0"/>
                <a:cs typeface="Verdana" pitchFamily="34" charset="0"/>
              </a:rPr>
              <a:t>    </a:t>
            </a:r>
            <a:endParaRPr lang="en-US" b="1" dirty="0">
              <a:solidFill>
                <a:schemeClr val="tx1"/>
              </a:solidFill>
              <a:latin typeface="Verdana" pitchFamily="34" charset="0"/>
              <a:ea typeface="Verdana" pitchFamily="34" charset="0"/>
              <a:cs typeface="Verdana" pitchFamily="34" charset="0"/>
            </a:endParaRPr>
          </a:p>
        </p:txBody>
      </p:sp>
      <p:sp>
        <p:nvSpPr>
          <p:cNvPr id="17" name="TextBox 40"/>
          <p:cNvSpPr txBox="1">
            <a:spLocks noChangeArrowheads="1"/>
          </p:cNvSpPr>
          <p:nvPr/>
        </p:nvSpPr>
        <p:spPr bwMode="auto">
          <a:xfrm>
            <a:off x="3018236" y="5380434"/>
            <a:ext cx="321469" cy="323165"/>
          </a:xfrm>
          <a:prstGeom prst="rect">
            <a:avLst/>
          </a:prstGeom>
          <a:noFill/>
          <a:ln w="9525">
            <a:noFill/>
            <a:miter lim="800000"/>
            <a:headEnd/>
            <a:tailEnd/>
          </a:ln>
        </p:spPr>
        <p:txBody>
          <a:bodyPr>
            <a:spAutoFit/>
          </a:bodyPr>
          <a:lstStyle/>
          <a:p>
            <a:endParaRPr lang="he-IL" sz="1500" dirty="0">
              <a:latin typeface="Calibri" pitchFamily="34" charset="0"/>
            </a:endParaRPr>
          </a:p>
        </p:txBody>
      </p:sp>
      <p:pic>
        <p:nvPicPr>
          <p:cNvPr id="42" name="Content Placeholder 41" descr="graph.emf"/>
          <p:cNvPicPr>
            <a:picLocks noGrp="1" noChangeAspect="1"/>
          </p:cNvPicPr>
          <p:nvPr>
            <p:ph sz="half" idx="2"/>
          </p:nvPr>
        </p:nvPicPr>
        <p:blipFill>
          <a:blip r:embed="rId4"/>
          <a:stretch>
            <a:fillRect/>
          </a:stretch>
        </p:blipFill>
        <p:spPr>
          <a:xfrm>
            <a:off x="4669154" y="2396125"/>
            <a:ext cx="3210059" cy="1940312"/>
          </a:xfrm>
        </p:spPr>
      </p:pic>
      <p:sp>
        <p:nvSpPr>
          <p:cNvPr id="82945" name="Rectangle 1"/>
          <p:cNvSpPr>
            <a:spLocks noChangeArrowheads="1"/>
          </p:cNvSpPr>
          <p:nvPr/>
        </p:nvSpPr>
        <p:spPr bwMode="auto">
          <a:xfrm>
            <a:off x="4295999" y="4525041"/>
            <a:ext cx="3705002" cy="30008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ctr" fontAlgn="base">
              <a:spcBef>
                <a:spcPct val="0"/>
              </a:spcBef>
              <a:spcAft>
                <a:spcPct val="0"/>
              </a:spcAft>
            </a:pPr>
            <a:r>
              <a:rPr lang="en-US" sz="1500" b="1" dirty="0">
                <a:solidFill>
                  <a:srgbClr val="0070C0"/>
                </a:solidFill>
                <a:ea typeface="Verdana" pitchFamily="34" charset="0"/>
              </a:rPr>
              <a:t>Graph </a:t>
            </a:r>
            <a:r>
              <a:rPr lang="en-US" sz="1500" b="1" i="1" dirty="0">
                <a:solidFill>
                  <a:srgbClr val="0070C0"/>
                </a:solidFill>
                <a:ea typeface="Verdana" pitchFamily="34" charset="0"/>
              </a:rPr>
              <a:t>G</a:t>
            </a:r>
            <a:r>
              <a:rPr lang="en-US" sz="1500" b="1" dirty="0">
                <a:solidFill>
                  <a:srgbClr val="0070C0"/>
                </a:solidFill>
                <a:ea typeface="Verdana" pitchFamily="34" charset="0"/>
              </a:rPr>
              <a:t> with 6 vertices and 9 edges</a:t>
            </a:r>
            <a:endParaRPr lang="en-US" sz="3300" dirty="0">
              <a:solidFill>
                <a:srgbClr val="0070C0"/>
              </a:solidFill>
              <a:ea typeface="Verdana" pitchFamily="34" charset="0"/>
            </a:endParaRPr>
          </a:p>
        </p:txBody>
      </p:sp>
      <p:graphicFrame>
        <p:nvGraphicFramePr>
          <p:cNvPr id="148482" name="Object 2"/>
          <p:cNvGraphicFramePr>
            <a:graphicFrameLocks noChangeAspect="1"/>
          </p:cNvGraphicFramePr>
          <p:nvPr/>
        </p:nvGraphicFramePr>
        <p:xfrm>
          <a:off x="935616" y="3409321"/>
          <a:ext cx="1465659" cy="376238"/>
        </p:xfrm>
        <a:graphic>
          <a:graphicData uri="http://schemas.openxmlformats.org/presentationml/2006/ole">
            <mc:AlternateContent xmlns:mc="http://schemas.openxmlformats.org/markup-compatibility/2006">
              <mc:Choice xmlns:v="urn:schemas-microsoft-com:vml" Requires="v">
                <p:oleObj spid="_x0000_s116752" name="Equation" r:id="rId5" imgW="838080" imgH="215640" progId="Equation.3">
                  <p:embed/>
                </p:oleObj>
              </mc:Choice>
              <mc:Fallback>
                <p:oleObj name="Equation" r:id="rId5" imgW="83808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5616" y="3409321"/>
                        <a:ext cx="1465659"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8484" name="Object 4"/>
          <p:cNvGraphicFramePr>
            <a:graphicFrameLocks noChangeAspect="1"/>
          </p:cNvGraphicFramePr>
          <p:nvPr/>
        </p:nvGraphicFramePr>
        <p:xfrm>
          <a:off x="1412374" y="4160344"/>
          <a:ext cx="1444229" cy="376238"/>
        </p:xfrm>
        <a:graphic>
          <a:graphicData uri="http://schemas.openxmlformats.org/presentationml/2006/ole">
            <mc:AlternateContent xmlns:mc="http://schemas.openxmlformats.org/markup-compatibility/2006">
              <mc:Choice xmlns:v="urn:schemas-microsoft-com:vml" Requires="v">
                <p:oleObj spid="_x0000_s116753" name="Equation" r:id="rId7" imgW="825480" imgH="215640" progId="Equation.3">
                  <p:embed/>
                </p:oleObj>
              </mc:Choice>
              <mc:Fallback>
                <p:oleObj name="Equation" r:id="rId7" imgW="825480" imgH="215640" progId="Equation.3">
                  <p:embed/>
                  <p:pic>
                    <p:nvPicPr>
                      <p:cNvPr id="0" name=""/>
                      <p:cNvPicPr>
                        <a:picLocks noChangeAspect="1" noChangeArrowheads="1"/>
                      </p:cNvPicPr>
                      <p:nvPr/>
                    </p:nvPicPr>
                    <p:blipFill>
                      <a:blip r:embed="rId8"/>
                      <a:srcRect/>
                      <a:stretch>
                        <a:fillRect/>
                      </a:stretch>
                    </p:blipFill>
                    <p:spPr bwMode="auto">
                      <a:xfrm>
                        <a:off x="1412374" y="4160344"/>
                        <a:ext cx="1444229"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80252940"/>
      </p:ext>
    </p:extLst>
  </p:cSld>
  <p:clrMapOvr>
    <a:masterClrMapping/>
  </p:clrMapOvr>
  <p:transition>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b="1" dirty="0">
                <a:latin typeface="Times New Roman" panose="02020603050405020304" pitchFamily="18" charset="0"/>
                <a:ea typeface="Verdana" pitchFamily="34" charset="0"/>
                <a:cs typeface="Times New Roman" panose="02020603050405020304" pitchFamily="18" charset="0"/>
              </a:rPr>
              <a:t>Graph Terminologies</a:t>
            </a:r>
            <a:endParaRPr lang="en-US" sz="3000" dirty="0">
              <a:latin typeface="Times New Roman" panose="02020603050405020304" pitchFamily="18" charset="0"/>
              <a:ea typeface="Verdana" pitchFamily="34" charset="0"/>
              <a:cs typeface="Times New Roman" panose="02020603050405020304" pitchFamily="18" charset="0"/>
            </a:endParaRPr>
          </a:p>
        </p:txBody>
      </p:sp>
      <p:sp>
        <p:nvSpPr>
          <p:cNvPr id="3" name="Content Placeholder 2"/>
          <p:cNvSpPr>
            <a:spLocks noGrp="1"/>
          </p:cNvSpPr>
          <p:nvPr>
            <p:ph idx="1"/>
          </p:nvPr>
        </p:nvSpPr>
        <p:spPr>
          <a:xfrm>
            <a:off x="740352" y="2132738"/>
            <a:ext cx="7089198" cy="3623072"/>
          </a:xfrm>
        </p:spPr>
        <p:txBody>
          <a:bodyPr/>
          <a:lstStyle/>
          <a:p>
            <a:pPr algn="just"/>
            <a:r>
              <a:rPr lang="en-US" sz="1500" dirty="0">
                <a:latin typeface="Verdana" pitchFamily="34" charset="0"/>
                <a:ea typeface="Verdana" pitchFamily="34" charset="0"/>
                <a:cs typeface="Verdana" pitchFamily="34" charset="0"/>
              </a:rPr>
              <a:t>Adjacent vertices</a:t>
            </a:r>
          </a:p>
          <a:p>
            <a:pPr algn="just"/>
            <a:r>
              <a:rPr lang="en-US" sz="1500" dirty="0">
                <a:latin typeface="Verdana" pitchFamily="34" charset="0"/>
                <a:ea typeface="Verdana" pitchFamily="34" charset="0"/>
                <a:cs typeface="Verdana" pitchFamily="34" charset="0"/>
              </a:rPr>
              <a:t>Adjacent edges</a:t>
            </a:r>
          </a:p>
          <a:p>
            <a:pPr algn="just"/>
            <a:r>
              <a:rPr lang="en-US" sz="1500" dirty="0">
                <a:latin typeface="Verdana" pitchFamily="34" charset="0"/>
                <a:ea typeface="Verdana" pitchFamily="34" charset="0"/>
                <a:cs typeface="Verdana" pitchFamily="34" charset="0"/>
              </a:rPr>
              <a:t>Parallel edges/ multiple edges</a:t>
            </a:r>
          </a:p>
          <a:p>
            <a:pPr algn="just"/>
            <a:r>
              <a:rPr lang="en-US" sz="1500" dirty="0">
                <a:latin typeface="Verdana" pitchFamily="34" charset="0"/>
                <a:ea typeface="Verdana" pitchFamily="34" charset="0"/>
                <a:cs typeface="Verdana" pitchFamily="34" charset="0"/>
              </a:rPr>
              <a:t>Loop</a:t>
            </a:r>
          </a:p>
          <a:p>
            <a:pPr algn="just"/>
            <a:r>
              <a:rPr lang="en-US" sz="1500" dirty="0">
                <a:latin typeface="Verdana" pitchFamily="34" charset="0"/>
                <a:ea typeface="Verdana" pitchFamily="34" charset="0"/>
                <a:cs typeface="Verdana" pitchFamily="34" charset="0"/>
              </a:rPr>
              <a:t>Simple graph</a:t>
            </a:r>
          </a:p>
          <a:p>
            <a:pPr algn="just"/>
            <a:r>
              <a:rPr lang="en-US" sz="1500" dirty="0">
                <a:latin typeface="Verdana" pitchFamily="34" charset="0"/>
                <a:ea typeface="Verdana" pitchFamily="34" charset="0"/>
                <a:cs typeface="Verdana" pitchFamily="34" charset="0"/>
              </a:rPr>
              <a:t>Multi graph</a:t>
            </a:r>
          </a:p>
          <a:p>
            <a:pPr algn="just"/>
            <a:r>
              <a:rPr lang="en-US" sz="1500" dirty="0">
                <a:latin typeface="Verdana" pitchFamily="34" charset="0"/>
                <a:ea typeface="Verdana" pitchFamily="34" charset="0"/>
                <a:cs typeface="Verdana" pitchFamily="34" charset="0"/>
              </a:rPr>
              <a:t>Pseudo graph </a:t>
            </a:r>
          </a:p>
          <a:p>
            <a:pPr algn="just"/>
            <a:r>
              <a:rPr lang="en-US" sz="1500" dirty="0">
                <a:latin typeface="Verdana" pitchFamily="34" charset="0"/>
                <a:ea typeface="Verdana" pitchFamily="34" charset="0"/>
                <a:cs typeface="Verdana" pitchFamily="34" charset="0"/>
              </a:rPr>
              <a:t>Degree of a graph</a:t>
            </a:r>
          </a:p>
          <a:p>
            <a:pPr algn="just">
              <a:lnSpc>
                <a:spcPct val="90000"/>
              </a:lnSpc>
              <a:buNone/>
            </a:pPr>
            <a:endParaRPr lang="en-US" sz="1500" dirty="0">
              <a:solidFill>
                <a:srgbClr val="FF0000"/>
              </a:solidFill>
              <a:latin typeface="Verdana" pitchFamily="34" charset="0"/>
              <a:ea typeface="Verdana" pitchFamily="34" charset="0"/>
              <a:cs typeface="Verdana" pitchFamily="34" charset="0"/>
            </a:endParaRPr>
          </a:p>
          <a:p>
            <a:pPr algn="just"/>
            <a:r>
              <a:rPr lang="en-US" sz="1500" b="1" dirty="0">
                <a:latin typeface="Verdana" pitchFamily="34" charset="0"/>
                <a:ea typeface="Verdana" pitchFamily="34" charset="0"/>
                <a:cs typeface="Verdana" pitchFamily="34" charset="0"/>
              </a:rPr>
              <a:t>First Theorem of Graph</a:t>
            </a:r>
            <a:endParaRPr lang="en-US" sz="1500" dirty="0">
              <a:latin typeface="Verdana" pitchFamily="34" charset="0"/>
              <a:ea typeface="Verdana" pitchFamily="34" charset="0"/>
              <a:cs typeface="Verdana" pitchFamily="34" charset="0"/>
            </a:endParaRPr>
          </a:p>
          <a:p>
            <a:pPr algn="just">
              <a:lnSpc>
                <a:spcPct val="90000"/>
              </a:lnSpc>
              <a:buNone/>
            </a:pPr>
            <a:r>
              <a:rPr lang="en-US" sz="1500" dirty="0">
                <a:latin typeface="Verdana" pitchFamily="34" charset="0"/>
                <a:ea typeface="Verdana" pitchFamily="34" charset="0"/>
                <a:cs typeface="Verdana" pitchFamily="34" charset="0"/>
              </a:rPr>
              <a:t>    In a </a:t>
            </a:r>
            <a:r>
              <a:rPr lang="en-US" sz="1500" b="1" dirty="0">
                <a:latin typeface="Verdana" pitchFamily="34" charset="0"/>
                <a:ea typeface="Verdana" pitchFamily="34" charset="0"/>
                <a:cs typeface="Verdana" pitchFamily="34" charset="0"/>
              </a:rPr>
              <a:t>graph</a:t>
            </a:r>
            <a:r>
              <a:rPr lang="en-US" sz="1500" dirty="0">
                <a:latin typeface="Verdana" pitchFamily="34" charset="0"/>
                <a:ea typeface="Verdana" pitchFamily="34" charset="0"/>
                <a:cs typeface="Verdana" pitchFamily="34" charset="0"/>
              </a:rPr>
              <a:t> G, the sum of the degrees of the vertices is equal to twice the number of edges.</a:t>
            </a:r>
            <a:r>
              <a:rPr lang="en-US" sz="1500" dirty="0">
                <a:solidFill>
                  <a:srgbClr val="FF0000"/>
                </a:solidFill>
                <a:latin typeface="Verdana" pitchFamily="34" charset="0"/>
                <a:ea typeface="Verdana" pitchFamily="34" charset="0"/>
                <a:cs typeface="Verdana" pitchFamily="34" charset="0"/>
              </a:rPr>
              <a:t> </a:t>
            </a:r>
          </a:p>
          <a:p>
            <a:pPr algn="just">
              <a:lnSpc>
                <a:spcPct val="90000"/>
              </a:lnSpc>
              <a:buNone/>
            </a:pPr>
            <a:endParaRPr lang="en-US" sz="1500" dirty="0">
              <a:solidFill>
                <a:srgbClr val="FF0000"/>
              </a:solidFill>
              <a:latin typeface="Verdana" pitchFamily="34" charset="0"/>
              <a:ea typeface="Verdana" pitchFamily="34" charset="0"/>
              <a:cs typeface="Verdana" pitchFamily="34" charset="0"/>
            </a:endParaRPr>
          </a:p>
          <a:p>
            <a:endParaRPr lang="en-US" sz="1500" dirty="0">
              <a:latin typeface="Verdana" pitchFamily="34" charset="0"/>
              <a:ea typeface="Verdana" pitchFamily="34" charset="0"/>
              <a:cs typeface="Verdana" pitchFamily="34" charset="0"/>
            </a:endParaRPr>
          </a:p>
        </p:txBody>
      </p:sp>
      <p:pic>
        <p:nvPicPr>
          <p:cNvPr id="4" name="Content Placeholder 41" descr="graph.emf"/>
          <p:cNvPicPr>
            <a:picLocks noChangeAspect="1"/>
          </p:cNvPicPr>
          <p:nvPr/>
        </p:nvPicPr>
        <p:blipFill>
          <a:blip r:embed="rId3"/>
          <a:stretch>
            <a:fillRect/>
          </a:stretch>
        </p:blipFill>
        <p:spPr>
          <a:xfrm>
            <a:off x="4496182" y="2253574"/>
            <a:ext cx="3210059" cy="1940312"/>
          </a:xfrm>
          <a:prstGeom prst="rect">
            <a:avLst/>
          </a:prstGeom>
        </p:spPr>
      </p:pic>
    </p:spTree>
    <p:extLst>
      <p:ext uri="{BB962C8B-B14F-4D97-AF65-F5344CB8AC3E}">
        <p14:creationId xmlns:p14="http://schemas.microsoft.com/office/powerpoint/2010/main" val="2674360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u="sng" dirty="0">
                <a:solidFill>
                  <a:srgbClr val="FF0000"/>
                </a:solidFill>
                <a:latin typeface="Times New Roman" panose="02020603050405020304" pitchFamily="18" charset="0"/>
                <a:cs typeface="Times New Roman" panose="02020603050405020304" pitchFamily="18" charset="0"/>
              </a:rPr>
              <a:t>Example for the degree of a graph</a:t>
            </a:r>
            <a:endParaRPr lang="en-US" sz="2400" u="sng"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sz="2250" dirty="0">
                <a:latin typeface="Times New Roman" panose="02020603050405020304" pitchFamily="18" charset="0"/>
                <a:cs typeface="Times New Roman" panose="02020603050405020304" pitchFamily="18" charset="0"/>
              </a:rPr>
              <a:t>For the graph in Figure, </a:t>
            </a:r>
            <a:r>
              <a:rPr lang="en-US" sz="2250" dirty="0" err="1">
                <a:latin typeface="Times New Roman" panose="02020603050405020304" pitchFamily="18" charset="0"/>
                <a:cs typeface="Times New Roman" panose="02020603050405020304" pitchFamily="18" charset="0"/>
              </a:rPr>
              <a:t>deg</a:t>
            </a:r>
            <a:r>
              <a:rPr lang="en-US" sz="2250" dirty="0">
                <a:latin typeface="Times New Roman" panose="02020603050405020304" pitchFamily="18" charset="0"/>
                <a:cs typeface="Times New Roman" panose="02020603050405020304" pitchFamily="18" charset="0"/>
              </a:rPr>
              <a:t>(b) = </a:t>
            </a:r>
            <a:r>
              <a:rPr lang="en-US" sz="2250" dirty="0" err="1">
                <a:latin typeface="Times New Roman" panose="02020603050405020304" pitchFamily="18" charset="0"/>
                <a:cs typeface="Times New Roman" panose="02020603050405020304" pitchFamily="18" charset="0"/>
              </a:rPr>
              <a:t>deg</a:t>
            </a:r>
            <a:r>
              <a:rPr lang="en-US" sz="2250" dirty="0">
                <a:latin typeface="Times New Roman" panose="02020603050405020304" pitchFamily="18" charset="0"/>
                <a:cs typeface="Times New Roman" panose="02020603050405020304" pitchFamily="18" charset="0"/>
              </a:rPr>
              <a:t>(d) = </a:t>
            </a:r>
            <a:r>
              <a:rPr lang="en-US" sz="2250" dirty="0" err="1">
                <a:latin typeface="Times New Roman" panose="02020603050405020304" pitchFamily="18" charset="0"/>
                <a:cs typeface="Times New Roman" panose="02020603050405020304" pitchFamily="18" charset="0"/>
              </a:rPr>
              <a:t>deg</a:t>
            </a:r>
            <a:r>
              <a:rPr lang="en-US" sz="2250" dirty="0">
                <a:latin typeface="Times New Roman" panose="02020603050405020304" pitchFamily="18" charset="0"/>
                <a:cs typeface="Times New Roman" panose="02020603050405020304" pitchFamily="18" charset="0"/>
              </a:rPr>
              <a:t>(f) = </a:t>
            </a:r>
            <a:r>
              <a:rPr lang="en-US" sz="2250" dirty="0" err="1">
                <a:latin typeface="Times New Roman" panose="02020603050405020304" pitchFamily="18" charset="0"/>
                <a:cs typeface="Times New Roman" panose="02020603050405020304" pitchFamily="18" charset="0"/>
              </a:rPr>
              <a:t>deg</a:t>
            </a:r>
            <a:r>
              <a:rPr lang="en-US" sz="2250" dirty="0">
                <a:latin typeface="Times New Roman" panose="02020603050405020304" pitchFamily="18" charset="0"/>
                <a:cs typeface="Times New Roman" panose="02020603050405020304" pitchFamily="18" charset="0"/>
              </a:rPr>
              <a:t>(g) = 2, </a:t>
            </a:r>
            <a:r>
              <a:rPr lang="en-US" sz="2250" dirty="0" err="1">
                <a:latin typeface="Times New Roman" panose="02020603050405020304" pitchFamily="18" charset="0"/>
                <a:cs typeface="Times New Roman" panose="02020603050405020304" pitchFamily="18" charset="0"/>
              </a:rPr>
              <a:t>deg</a:t>
            </a:r>
            <a:r>
              <a:rPr lang="en-US" sz="2250" dirty="0">
                <a:latin typeface="Times New Roman" panose="02020603050405020304" pitchFamily="18" charset="0"/>
                <a:cs typeface="Times New Roman" panose="02020603050405020304" pitchFamily="18" charset="0"/>
              </a:rPr>
              <a:t>(c) = 4, </a:t>
            </a:r>
            <a:r>
              <a:rPr lang="en-US" sz="2250" dirty="0" err="1">
                <a:latin typeface="Times New Roman" panose="02020603050405020304" pitchFamily="18" charset="0"/>
                <a:cs typeface="Times New Roman" panose="02020603050405020304" pitchFamily="18" charset="0"/>
              </a:rPr>
              <a:t>deg</a:t>
            </a:r>
            <a:r>
              <a:rPr lang="en-US" sz="2250" dirty="0">
                <a:latin typeface="Times New Roman" panose="02020603050405020304" pitchFamily="18" charset="0"/>
                <a:cs typeface="Times New Roman" panose="02020603050405020304" pitchFamily="18" charset="0"/>
              </a:rPr>
              <a:t>(e) = 0, and </a:t>
            </a:r>
            <a:r>
              <a:rPr lang="en-US" sz="2250" dirty="0" err="1">
                <a:latin typeface="Times New Roman" panose="02020603050405020304" pitchFamily="18" charset="0"/>
                <a:cs typeface="Times New Roman" panose="02020603050405020304" pitchFamily="18" charset="0"/>
              </a:rPr>
              <a:t>deg</a:t>
            </a:r>
            <a:r>
              <a:rPr lang="en-US" sz="2250" dirty="0">
                <a:latin typeface="Times New Roman" panose="02020603050405020304" pitchFamily="18" charset="0"/>
                <a:cs typeface="Times New Roman" panose="02020603050405020304" pitchFamily="18" charset="0"/>
              </a:rPr>
              <a:t>(h)=1. For vertex a we have       </a:t>
            </a:r>
            <a:r>
              <a:rPr lang="en-US" sz="2250" dirty="0" err="1">
                <a:latin typeface="Times New Roman" panose="02020603050405020304" pitchFamily="18" charset="0"/>
                <a:cs typeface="Times New Roman" panose="02020603050405020304" pitchFamily="18" charset="0"/>
              </a:rPr>
              <a:t>deg</a:t>
            </a:r>
            <a:r>
              <a:rPr lang="en-US" sz="2250" dirty="0">
                <a:latin typeface="Times New Roman" panose="02020603050405020304" pitchFamily="18" charset="0"/>
                <a:cs typeface="Times New Roman" panose="02020603050405020304" pitchFamily="18" charset="0"/>
              </a:rPr>
              <a:t>(a) = 3 because we count a loop twice. Since h has degree 1, it is called a pendant vertex. Since vertex e has degree 0, it is called an isolated vertex. </a:t>
            </a:r>
          </a:p>
          <a:p>
            <a:endParaRPr lang="en-US" dirty="0"/>
          </a:p>
        </p:txBody>
      </p:sp>
      <p:pic>
        <p:nvPicPr>
          <p:cNvPr id="4" name="Picture 3"/>
          <p:cNvPicPr>
            <a:picLocks noChangeAspect="1"/>
          </p:cNvPicPr>
          <p:nvPr/>
        </p:nvPicPr>
        <p:blipFill>
          <a:blip r:embed="rId2"/>
          <a:stretch>
            <a:fillRect/>
          </a:stretch>
        </p:blipFill>
        <p:spPr>
          <a:xfrm>
            <a:off x="3193804" y="3575593"/>
            <a:ext cx="2756391" cy="2116910"/>
          </a:xfrm>
          <a:prstGeom prst="rect">
            <a:avLst/>
          </a:prstGeom>
        </p:spPr>
      </p:pic>
    </p:spTree>
    <p:extLst>
      <p:ext uri="{BB962C8B-B14F-4D97-AF65-F5344CB8AC3E}">
        <p14:creationId xmlns:p14="http://schemas.microsoft.com/office/powerpoint/2010/main" val="890914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1094"/>
            <a:ext cx="7886700" cy="577715"/>
          </a:xfrm>
        </p:spPr>
        <p:txBody>
          <a:bodyPr>
            <a:normAutofit/>
          </a:bodyPr>
          <a:lstStyle/>
          <a:p>
            <a:r>
              <a:rPr lang="en-US" sz="3000" b="1" dirty="0">
                <a:latin typeface="Times New Roman" panose="02020603050405020304" pitchFamily="18" charset="0"/>
                <a:ea typeface="Verdana" pitchFamily="34" charset="0"/>
                <a:cs typeface="Times New Roman" panose="02020603050405020304" pitchFamily="18" charset="0"/>
              </a:rPr>
              <a:t>Graph Terminologies-Contd.</a:t>
            </a:r>
            <a:endParaRPr lang="en-US" sz="3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18284" y="1893745"/>
            <a:ext cx="6915087" cy="3680540"/>
          </a:xfrm>
        </p:spPr>
        <p:txBody>
          <a:bodyPr>
            <a:normAutofit/>
          </a:bodyPr>
          <a:lstStyle/>
          <a:p>
            <a:pPr algn="just"/>
            <a:r>
              <a:rPr lang="en-US" sz="1950" dirty="0">
                <a:latin typeface="Times New Roman" panose="02020603050405020304" pitchFamily="18" charset="0"/>
                <a:ea typeface="Verdana" pitchFamily="34" charset="0"/>
                <a:cs typeface="Times New Roman" panose="02020603050405020304" pitchFamily="18" charset="0"/>
              </a:rPr>
              <a:t>Regular graph</a:t>
            </a:r>
          </a:p>
          <a:p>
            <a:pPr algn="just">
              <a:lnSpc>
                <a:spcPct val="90000"/>
              </a:lnSpc>
              <a:buFont typeface="Wingdings" pitchFamily="2" charset="2"/>
              <a:buChar char="§"/>
            </a:pPr>
            <a:endParaRPr lang="en-US" sz="1500" dirty="0">
              <a:latin typeface="Verdana" pitchFamily="34" charset="0"/>
              <a:ea typeface="Verdana" pitchFamily="34" charset="0"/>
              <a:cs typeface="Verdana" pitchFamily="34" charset="0"/>
            </a:endParaRPr>
          </a:p>
          <a:p>
            <a:pPr algn="just">
              <a:lnSpc>
                <a:spcPct val="90000"/>
              </a:lnSpc>
              <a:buNone/>
            </a:pPr>
            <a:endParaRPr lang="en-US" sz="1200" dirty="0"/>
          </a:p>
          <a:p>
            <a:pPr algn="just">
              <a:lnSpc>
                <a:spcPct val="90000"/>
              </a:lnSpc>
              <a:buNone/>
            </a:pPr>
            <a:endParaRPr lang="en-US" sz="1200" dirty="0"/>
          </a:p>
          <a:p>
            <a:pPr algn="just">
              <a:lnSpc>
                <a:spcPct val="90000"/>
              </a:lnSpc>
              <a:buNone/>
            </a:pPr>
            <a:r>
              <a:rPr lang="en-US" sz="1200" dirty="0"/>
              <a:t>                                         </a:t>
            </a:r>
          </a:p>
          <a:p>
            <a:pPr algn="just">
              <a:lnSpc>
                <a:spcPct val="90000"/>
              </a:lnSpc>
              <a:buNone/>
            </a:pPr>
            <a:r>
              <a:rPr lang="en-US" sz="1275" dirty="0">
                <a:solidFill>
                  <a:srgbClr val="0070C0"/>
                </a:solidFill>
                <a:latin typeface="Times New Roman" panose="02020603050405020304" pitchFamily="18" charset="0"/>
                <a:ea typeface="Verdana" pitchFamily="34" charset="0"/>
                <a:cs typeface="Times New Roman" panose="02020603050405020304" pitchFamily="18" charset="0"/>
              </a:rPr>
              <a:t>                                       </a:t>
            </a:r>
            <a:r>
              <a:rPr lang="en-US" sz="1275" dirty="0">
                <a:latin typeface="Times New Roman" panose="02020603050405020304" pitchFamily="18" charset="0"/>
                <a:ea typeface="Verdana" pitchFamily="34" charset="0"/>
                <a:cs typeface="Times New Roman" panose="02020603050405020304" pitchFamily="18" charset="0"/>
              </a:rPr>
              <a:t>2-regular graph and 3-regular graph</a:t>
            </a:r>
          </a:p>
          <a:p>
            <a:pPr algn="just">
              <a:lnSpc>
                <a:spcPct val="90000"/>
              </a:lnSpc>
              <a:buFont typeface="Wingdings" pitchFamily="2" charset="2"/>
              <a:buChar char="§"/>
            </a:pPr>
            <a:endParaRPr lang="en-US" sz="1500" dirty="0">
              <a:latin typeface="Verdana" pitchFamily="34" charset="0"/>
              <a:ea typeface="Verdana" pitchFamily="34" charset="0"/>
              <a:cs typeface="Verdana" pitchFamily="34" charset="0"/>
            </a:endParaRPr>
          </a:p>
          <a:p>
            <a:pPr algn="just"/>
            <a:r>
              <a:rPr lang="en-US" sz="1950" dirty="0">
                <a:latin typeface="Times New Roman" panose="02020603050405020304" pitchFamily="18" charset="0"/>
                <a:ea typeface="Verdana" pitchFamily="34" charset="0"/>
                <a:cs typeface="Times New Roman" panose="02020603050405020304" pitchFamily="18" charset="0"/>
              </a:rPr>
              <a:t>Complete graph</a:t>
            </a:r>
          </a:p>
          <a:p>
            <a:pPr algn="just">
              <a:lnSpc>
                <a:spcPct val="90000"/>
              </a:lnSpc>
              <a:buNone/>
            </a:pPr>
            <a:endParaRPr lang="en-US" sz="1200" dirty="0"/>
          </a:p>
          <a:p>
            <a:pPr algn="just">
              <a:lnSpc>
                <a:spcPct val="90000"/>
              </a:lnSpc>
              <a:buNone/>
            </a:pPr>
            <a:endParaRPr lang="en-US" sz="1200" dirty="0"/>
          </a:p>
          <a:p>
            <a:pPr algn="just">
              <a:lnSpc>
                <a:spcPct val="90000"/>
              </a:lnSpc>
              <a:buNone/>
            </a:pPr>
            <a:endParaRPr lang="en-US" sz="1200" dirty="0"/>
          </a:p>
          <a:p>
            <a:pPr algn="just">
              <a:lnSpc>
                <a:spcPct val="90000"/>
              </a:lnSpc>
              <a:buNone/>
            </a:pPr>
            <a:endParaRPr lang="en-US" sz="1200" dirty="0"/>
          </a:p>
          <a:p>
            <a:pPr algn="just">
              <a:lnSpc>
                <a:spcPct val="90000"/>
              </a:lnSpc>
              <a:buNone/>
            </a:pPr>
            <a:r>
              <a:rPr lang="en-US" sz="1200" dirty="0"/>
              <a:t>                                      </a:t>
            </a:r>
          </a:p>
          <a:p>
            <a:pPr algn="just">
              <a:lnSpc>
                <a:spcPct val="90000"/>
              </a:lnSpc>
              <a:buNone/>
            </a:pPr>
            <a:r>
              <a:rPr lang="en-US" sz="1275" dirty="0">
                <a:latin typeface="Times New Roman" panose="02020603050405020304" pitchFamily="18" charset="0"/>
                <a:ea typeface="Verdana" pitchFamily="34" charset="0"/>
                <a:cs typeface="Times New Roman" panose="02020603050405020304" pitchFamily="18" charset="0"/>
              </a:rPr>
              <a:t>                                      Complete graphs </a:t>
            </a:r>
            <a:r>
              <a:rPr lang="en-US" sz="1275" i="1" dirty="0">
                <a:latin typeface="Times New Roman" panose="02020603050405020304" pitchFamily="18" charset="0"/>
                <a:ea typeface="Verdana" pitchFamily="34" charset="0"/>
                <a:cs typeface="Times New Roman" panose="02020603050405020304" pitchFamily="18" charset="0"/>
              </a:rPr>
              <a:t>K</a:t>
            </a:r>
            <a:r>
              <a:rPr lang="en-US" sz="1275" baseline="-25000" dirty="0">
                <a:latin typeface="Times New Roman" panose="02020603050405020304" pitchFamily="18" charset="0"/>
                <a:ea typeface="Verdana" pitchFamily="34" charset="0"/>
                <a:cs typeface="Times New Roman" panose="02020603050405020304" pitchFamily="18" charset="0"/>
              </a:rPr>
              <a:t>1</a:t>
            </a:r>
            <a:r>
              <a:rPr lang="en-US" sz="1275" dirty="0">
                <a:latin typeface="Times New Roman" panose="02020603050405020304" pitchFamily="18" charset="0"/>
                <a:ea typeface="Verdana" pitchFamily="34" charset="0"/>
                <a:cs typeface="Times New Roman" panose="02020603050405020304" pitchFamily="18" charset="0"/>
              </a:rPr>
              <a:t>, </a:t>
            </a:r>
            <a:r>
              <a:rPr lang="en-US" sz="1275" i="1" dirty="0">
                <a:latin typeface="Times New Roman" panose="02020603050405020304" pitchFamily="18" charset="0"/>
                <a:ea typeface="Verdana" pitchFamily="34" charset="0"/>
                <a:cs typeface="Times New Roman" panose="02020603050405020304" pitchFamily="18" charset="0"/>
              </a:rPr>
              <a:t>K</a:t>
            </a:r>
            <a:r>
              <a:rPr lang="en-US" sz="1275" baseline="-25000" dirty="0">
                <a:latin typeface="Times New Roman" panose="02020603050405020304" pitchFamily="18" charset="0"/>
                <a:ea typeface="Verdana" pitchFamily="34" charset="0"/>
                <a:cs typeface="Times New Roman" panose="02020603050405020304" pitchFamily="18" charset="0"/>
              </a:rPr>
              <a:t>2</a:t>
            </a:r>
            <a:r>
              <a:rPr lang="en-US" sz="1275" dirty="0">
                <a:latin typeface="Times New Roman" panose="02020603050405020304" pitchFamily="18" charset="0"/>
                <a:ea typeface="Verdana" pitchFamily="34" charset="0"/>
                <a:cs typeface="Times New Roman" panose="02020603050405020304" pitchFamily="18" charset="0"/>
              </a:rPr>
              <a:t>, </a:t>
            </a:r>
            <a:r>
              <a:rPr lang="en-US" sz="1275" i="1" dirty="0">
                <a:latin typeface="Times New Roman" panose="02020603050405020304" pitchFamily="18" charset="0"/>
                <a:ea typeface="Verdana" pitchFamily="34" charset="0"/>
                <a:cs typeface="Times New Roman" panose="02020603050405020304" pitchFamily="18" charset="0"/>
              </a:rPr>
              <a:t>K</a:t>
            </a:r>
            <a:r>
              <a:rPr lang="en-US" sz="1275" baseline="-25000" dirty="0">
                <a:latin typeface="Times New Roman" panose="02020603050405020304" pitchFamily="18" charset="0"/>
                <a:ea typeface="Verdana" pitchFamily="34" charset="0"/>
                <a:cs typeface="Times New Roman" panose="02020603050405020304" pitchFamily="18" charset="0"/>
              </a:rPr>
              <a:t>3</a:t>
            </a:r>
            <a:r>
              <a:rPr lang="en-US" sz="1275" dirty="0">
                <a:latin typeface="Times New Roman" panose="02020603050405020304" pitchFamily="18" charset="0"/>
                <a:ea typeface="Verdana" pitchFamily="34" charset="0"/>
                <a:cs typeface="Times New Roman" panose="02020603050405020304" pitchFamily="18" charset="0"/>
              </a:rPr>
              <a:t>, </a:t>
            </a:r>
            <a:r>
              <a:rPr lang="en-US" sz="1275" i="1" dirty="0">
                <a:latin typeface="Times New Roman" panose="02020603050405020304" pitchFamily="18" charset="0"/>
                <a:ea typeface="Verdana" pitchFamily="34" charset="0"/>
                <a:cs typeface="Times New Roman" panose="02020603050405020304" pitchFamily="18" charset="0"/>
              </a:rPr>
              <a:t>K</a:t>
            </a:r>
            <a:r>
              <a:rPr lang="en-US" sz="1275" baseline="-25000" dirty="0">
                <a:latin typeface="Times New Roman" panose="02020603050405020304" pitchFamily="18" charset="0"/>
                <a:ea typeface="Verdana" pitchFamily="34" charset="0"/>
                <a:cs typeface="Times New Roman" panose="02020603050405020304" pitchFamily="18" charset="0"/>
              </a:rPr>
              <a:t>4 </a:t>
            </a:r>
            <a:r>
              <a:rPr lang="en-US" sz="1275" dirty="0">
                <a:latin typeface="Times New Roman" panose="02020603050405020304" pitchFamily="18" charset="0"/>
                <a:ea typeface="Verdana" pitchFamily="34" charset="0"/>
                <a:cs typeface="Times New Roman" panose="02020603050405020304" pitchFamily="18" charset="0"/>
              </a:rPr>
              <a:t>and </a:t>
            </a:r>
            <a:r>
              <a:rPr lang="en-US" sz="1275" i="1" dirty="0">
                <a:latin typeface="Times New Roman" panose="02020603050405020304" pitchFamily="18" charset="0"/>
                <a:ea typeface="Verdana" pitchFamily="34" charset="0"/>
                <a:cs typeface="Times New Roman" panose="02020603050405020304" pitchFamily="18" charset="0"/>
              </a:rPr>
              <a:t>K</a:t>
            </a:r>
            <a:r>
              <a:rPr lang="en-US" sz="1275" baseline="-25000" dirty="0">
                <a:latin typeface="Times New Roman" panose="02020603050405020304" pitchFamily="18" charset="0"/>
                <a:ea typeface="Verdana" pitchFamily="34" charset="0"/>
                <a:cs typeface="Times New Roman" panose="02020603050405020304" pitchFamily="18" charset="0"/>
              </a:rPr>
              <a:t>5</a:t>
            </a:r>
            <a:endParaRPr lang="en-US" sz="1275" dirty="0">
              <a:latin typeface="Times New Roman" panose="02020603050405020304" pitchFamily="18" charset="0"/>
              <a:ea typeface="Verdana" pitchFamily="34" charset="0"/>
              <a:cs typeface="Times New Roman" panose="02020603050405020304" pitchFamily="18" charset="0"/>
            </a:endParaRPr>
          </a:p>
          <a:p>
            <a:pPr algn="just">
              <a:lnSpc>
                <a:spcPct val="90000"/>
              </a:lnSpc>
            </a:pPr>
            <a:endParaRPr lang="en-US" sz="1500" dirty="0">
              <a:latin typeface="Marker Felt" pitchFamily="1" charset="0"/>
            </a:endParaRPr>
          </a:p>
          <a:p>
            <a:pPr algn="just">
              <a:lnSpc>
                <a:spcPct val="90000"/>
              </a:lnSpc>
              <a:buNone/>
            </a:pPr>
            <a:endParaRPr lang="en-US" sz="1500" dirty="0">
              <a:latin typeface="Verdana" pitchFamily="34" charset="0"/>
              <a:ea typeface="Verdana" pitchFamily="34" charset="0"/>
              <a:cs typeface="Verdana" pitchFamily="34" charset="0"/>
            </a:endParaRPr>
          </a:p>
          <a:p>
            <a:endParaRPr lang="en-US" sz="1500" dirty="0"/>
          </a:p>
        </p:txBody>
      </p:sp>
      <p:pic>
        <p:nvPicPr>
          <p:cNvPr id="4" name="Picture 3" descr="completegraph.emf"/>
          <p:cNvPicPr/>
          <p:nvPr/>
        </p:nvPicPr>
        <p:blipFill>
          <a:blip r:embed="rId3"/>
          <a:stretch>
            <a:fillRect/>
          </a:stretch>
        </p:blipFill>
        <p:spPr>
          <a:xfrm>
            <a:off x="2144956" y="4233215"/>
            <a:ext cx="2595206" cy="505609"/>
          </a:xfrm>
          <a:prstGeom prst="rect">
            <a:avLst/>
          </a:prstGeom>
        </p:spPr>
      </p:pic>
      <p:pic>
        <p:nvPicPr>
          <p:cNvPr id="6" name="Picture 5" descr="reguargraph.emf"/>
          <p:cNvPicPr/>
          <p:nvPr/>
        </p:nvPicPr>
        <p:blipFill>
          <a:blip r:embed="rId4"/>
          <a:stretch>
            <a:fillRect/>
          </a:stretch>
        </p:blipFill>
        <p:spPr>
          <a:xfrm>
            <a:off x="2807120" y="2367415"/>
            <a:ext cx="1597050" cy="605306"/>
          </a:xfrm>
          <a:prstGeom prst="rect">
            <a:avLst/>
          </a:prstGeom>
        </p:spPr>
      </p:pic>
      <p:sp>
        <p:nvSpPr>
          <p:cNvPr id="7" name="TextBox 6"/>
          <p:cNvSpPr txBox="1"/>
          <p:nvPr/>
        </p:nvSpPr>
        <p:spPr>
          <a:xfrm>
            <a:off x="1812075" y="5482223"/>
            <a:ext cx="827978" cy="323165"/>
          </a:xfrm>
          <a:prstGeom prst="rect">
            <a:avLst/>
          </a:prstGeom>
          <a:solidFill>
            <a:schemeClr val="bg1"/>
          </a:solidFill>
        </p:spPr>
        <p:txBody>
          <a:bodyPr wrap="square" rtlCol="0">
            <a:spAutoFit/>
          </a:bodyPr>
          <a:lstStyle/>
          <a:p>
            <a:endParaRPr lang="en-US" sz="1500" dirty="0"/>
          </a:p>
        </p:txBody>
      </p:sp>
    </p:spTree>
    <p:extLst>
      <p:ext uri="{BB962C8B-B14F-4D97-AF65-F5344CB8AC3E}">
        <p14:creationId xmlns:p14="http://schemas.microsoft.com/office/powerpoint/2010/main" val="1489115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1094"/>
            <a:ext cx="7886700" cy="443129"/>
          </a:xfrm>
        </p:spPr>
        <p:txBody>
          <a:bodyPr>
            <a:normAutofit fontScale="90000"/>
          </a:bodyPr>
          <a:lstStyle/>
          <a:p>
            <a:r>
              <a:rPr lang="en-US" sz="3000" b="1" dirty="0">
                <a:latin typeface="Times New Roman" panose="02020603050405020304" pitchFamily="18" charset="0"/>
                <a:ea typeface="Verdana" pitchFamily="34" charset="0"/>
                <a:cs typeface="Times New Roman" panose="02020603050405020304" pitchFamily="18" charset="0"/>
              </a:rPr>
              <a:t>Graph Terminologies-Contd.</a:t>
            </a:r>
            <a:endParaRPr lang="en-US" sz="30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1"/>
          </p:nvPr>
        </p:nvSpPr>
        <p:spPr>
          <a:xfrm>
            <a:off x="810492" y="1764687"/>
            <a:ext cx="7704858" cy="1934759"/>
          </a:xfrm>
          <a:solidFill>
            <a:schemeClr val="bg1"/>
          </a:solidFill>
        </p:spPr>
        <p:txBody>
          <a:bodyPr>
            <a:noAutofit/>
          </a:bodyPr>
          <a:lstStyle/>
          <a:p>
            <a:pPr marL="0" indent="0" algn="just">
              <a:buClr>
                <a:srgbClr val="FF0000"/>
              </a:buClr>
              <a:buNone/>
            </a:pPr>
            <a:r>
              <a:rPr lang="en-US" sz="1500" b="1" dirty="0">
                <a:latin typeface="Times New Roman" panose="02020603050405020304" pitchFamily="18" charset="0"/>
                <a:ea typeface="Verdana" pitchFamily="34" charset="0"/>
                <a:cs typeface="Times New Roman" panose="02020603050405020304" pitchFamily="18" charset="0"/>
              </a:rPr>
              <a:t>Bipartite graph</a:t>
            </a:r>
          </a:p>
          <a:p>
            <a:pPr algn="just"/>
            <a:r>
              <a:rPr lang="en-US" sz="1500" dirty="0">
                <a:latin typeface="Times New Roman" panose="02020603050405020304" pitchFamily="18" charset="0"/>
                <a:ea typeface="Verdana" pitchFamily="34" charset="0"/>
                <a:cs typeface="Times New Roman" panose="02020603050405020304" pitchFamily="18" charset="0"/>
              </a:rPr>
              <a:t>Let</a:t>
            </a:r>
            <a:r>
              <a:rPr lang="en-US" sz="1500" b="1" dirty="0">
                <a:latin typeface="Times New Roman" panose="02020603050405020304" pitchFamily="18" charset="0"/>
                <a:ea typeface="Verdana" pitchFamily="34" charset="0"/>
                <a:cs typeface="Times New Roman" panose="02020603050405020304" pitchFamily="18" charset="0"/>
              </a:rPr>
              <a:t> </a:t>
            </a:r>
            <a:r>
              <a:rPr lang="en-US" sz="1500" i="1" dirty="0">
                <a:latin typeface="Times New Roman" panose="02020603050405020304" pitchFamily="18" charset="0"/>
                <a:ea typeface="Verdana" pitchFamily="34" charset="0"/>
                <a:cs typeface="Times New Roman" panose="02020603050405020304" pitchFamily="18" charset="0"/>
              </a:rPr>
              <a:t>G</a:t>
            </a:r>
            <a:r>
              <a:rPr lang="en-US" sz="1500" dirty="0">
                <a:latin typeface="Times New Roman" panose="02020603050405020304" pitchFamily="18" charset="0"/>
                <a:ea typeface="Verdana" pitchFamily="34" charset="0"/>
                <a:cs typeface="Times New Roman" panose="02020603050405020304" pitchFamily="18" charset="0"/>
              </a:rPr>
              <a:t> be a graph. If the vertex set of </a:t>
            </a:r>
            <a:r>
              <a:rPr lang="en-US" sz="1500" i="1" dirty="0">
                <a:latin typeface="Times New Roman" panose="02020603050405020304" pitchFamily="18" charset="0"/>
                <a:ea typeface="Verdana" pitchFamily="34" charset="0"/>
                <a:cs typeface="Times New Roman" panose="02020603050405020304" pitchFamily="18" charset="0"/>
              </a:rPr>
              <a:t>G</a:t>
            </a:r>
            <a:r>
              <a:rPr lang="en-US" sz="1500" dirty="0">
                <a:latin typeface="Times New Roman" panose="02020603050405020304" pitchFamily="18" charset="0"/>
                <a:ea typeface="Verdana" pitchFamily="34" charset="0"/>
                <a:cs typeface="Times New Roman" panose="02020603050405020304" pitchFamily="18" charset="0"/>
              </a:rPr>
              <a:t> can be partitioned into two non-empty subsets </a:t>
            </a:r>
            <a:r>
              <a:rPr lang="en-US" sz="1500" i="1" dirty="0">
                <a:latin typeface="Times New Roman" panose="02020603050405020304" pitchFamily="18" charset="0"/>
                <a:ea typeface="Verdana" pitchFamily="34" charset="0"/>
                <a:cs typeface="Times New Roman" panose="02020603050405020304" pitchFamily="18" charset="0"/>
              </a:rPr>
              <a:t>X</a:t>
            </a:r>
            <a:r>
              <a:rPr lang="en-US" sz="1500" dirty="0">
                <a:latin typeface="Times New Roman" panose="02020603050405020304" pitchFamily="18" charset="0"/>
                <a:ea typeface="Verdana" pitchFamily="34" charset="0"/>
                <a:cs typeface="Times New Roman" panose="02020603050405020304" pitchFamily="18" charset="0"/>
              </a:rPr>
              <a:t> and </a:t>
            </a:r>
            <a:r>
              <a:rPr lang="en-US" sz="1500" i="1" dirty="0">
                <a:latin typeface="Times New Roman" panose="02020603050405020304" pitchFamily="18" charset="0"/>
                <a:ea typeface="Verdana" pitchFamily="34" charset="0"/>
                <a:cs typeface="Times New Roman" panose="02020603050405020304" pitchFamily="18" charset="0"/>
              </a:rPr>
              <a:t>Y</a:t>
            </a:r>
            <a:r>
              <a:rPr lang="en-US" sz="1500" dirty="0">
                <a:latin typeface="Times New Roman" panose="02020603050405020304" pitchFamily="18" charset="0"/>
                <a:ea typeface="Verdana" pitchFamily="34" charset="0"/>
                <a:cs typeface="Times New Roman" panose="02020603050405020304" pitchFamily="18" charset="0"/>
              </a:rPr>
              <a:t>  (i.e., </a:t>
            </a:r>
            <a:r>
              <a:rPr lang="en-US" sz="1500" i="1" dirty="0">
                <a:latin typeface="Times New Roman" panose="02020603050405020304" pitchFamily="18" charset="0"/>
                <a:ea typeface="Verdana" pitchFamily="34" charset="0"/>
                <a:cs typeface="Times New Roman" panose="02020603050405020304" pitchFamily="18" charset="0"/>
              </a:rPr>
              <a:t>X </a:t>
            </a:r>
            <a:r>
              <a:rPr lang="en-US" sz="1500" dirty="0">
                <a:latin typeface="Times New Roman" panose="02020603050405020304" pitchFamily="18" charset="0"/>
                <a:ea typeface="Verdana" pitchFamily="34" charset="0"/>
                <a:cs typeface="Times New Roman" panose="02020603050405020304" pitchFamily="18" charset="0"/>
                <a:sym typeface="Mathematica1"/>
              </a:rPr>
              <a:t>U</a:t>
            </a:r>
            <a:r>
              <a:rPr lang="en-US" sz="1500" dirty="0">
                <a:latin typeface="Times New Roman" panose="02020603050405020304" pitchFamily="18" charset="0"/>
                <a:ea typeface="Verdana" pitchFamily="34" charset="0"/>
                <a:cs typeface="Times New Roman" panose="02020603050405020304" pitchFamily="18" charset="0"/>
              </a:rPr>
              <a:t> </a:t>
            </a:r>
            <a:r>
              <a:rPr lang="en-US" sz="1500" i="1" dirty="0">
                <a:latin typeface="Times New Roman" panose="02020603050405020304" pitchFamily="18" charset="0"/>
                <a:ea typeface="Verdana" pitchFamily="34" charset="0"/>
                <a:cs typeface="Times New Roman" panose="02020603050405020304" pitchFamily="18" charset="0"/>
              </a:rPr>
              <a:t>Y</a:t>
            </a:r>
            <a:r>
              <a:rPr lang="en-US" sz="1500" dirty="0">
                <a:latin typeface="Times New Roman" panose="02020603050405020304" pitchFamily="18" charset="0"/>
                <a:ea typeface="Verdana" pitchFamily="34" charset="0"/>
                <a:cs typeface="Times New Roman" panose="02020603050405020304" pitchFamily="18" charset="0"/>
              </a:rPr>
              <a:t> = </a:t>
            </a:r>
            <a:r>
              <a:rPr lang="en-US" sz="1500" i="1" dirty="0">
                <a:latin typeface="Times New Roman" panose="02020603050405020304" pitchFamily="18" charset="0"/>
                <a:ea typeface="Verdana" pitchFamily="34" charset="0"/>
                <a:cs typeface="Times New Roman" panose="02020603050405020304" pitchFamily="18" charset="0"/>
              </a:rPr>
              <a:t>V</a:t>
            </a:r>
            <a:r>
              <a:rPr lang="en-US" sz="1500" dirty="0">
                <a:latin typeface="Times New Roman" panose="02020603050405020304" pitchFamily="18" charset="0"/>
                <a:ea typeface="Verdana" pitchFamily="34" charset="0"/>
                <a:cs typeface="Times New Roman" panose="02020603050405020304" pitchFamily="18" charset="0"/>
              </a:rPr>
              <a:t> and </a:t>
            </a:r>
            <a:r>
              <a:rPr lang="en-US" sz="1500" i="1" dirty="0">
                <a:latin typeface="Times New Roman" panose="02020603050405020304" pitchFamily="18" charset="0"/>
                <a:ea typeface="Verdana" pitchFamily="34" charset="0"/>
                <a:cs typeface="Times New Roman" panose="02020603050405020304" pitchFamily="18" charset="0"/>
              </a:rPr>
              <a:t>X </a:t>
            </a:r>
            <a:r>
              <a:rPr lang="en-US" sz="1500" i="1" dirty="0">
                <a:latin typeface="Times New Roman" panose="02020603050405020304" pitchFamily="18" charset="0"/>
                <a:ea typeface="Verdana" pitchFamily="34" charset="0"/>
                <a:cs typeface="Times New Roman" panose="02020603050405020304" pitchFamily="18" charset="0"/>
                <a:sym typeface="Mathematica1"/>
              </a:rPr>
              <a:t>∩</a:t>
            </a:r>
            <a:r>
              <a:rPr lang="en-US" sz="1500" dirty="0">
                <a:latin typeface="Times New Roman" panose="02020603050405020304" pitchFamily="18" charset="0"/>
                <a:ea typeface="Verdana" pitchFamily="34" charset="0"/>
                <a:cs typeface="Times New Roman" panose="02020603050405020304" pitchFamily="18" charset="0"/>
              </a:rPr>
              <a:t> </a:t>
            </a:r>
            <a:r>
              <a:rPr lang="en-US" sz="1500" i="1" dirty="0">
                <a:latin typeface="Times New Roman" panose="02020603050405020304" pitchFamily="18" charset="0"/>
                <a:ea typeface="Verdana" pitchFamily="34" charset="0"/>
                <a:cs typeface="Times New Roman" panose="02020603050405020304" pitchFamily="18" charset="0"/>
              </a:rPr>
              <a:t>Y</a:t>
            </a:r>
            <a:r>
              <a:rPr lang="en-US" sz="1500" dirty="0">
                <a:latin typeface="Times New Roman" panose="02020603050405020304" pitchFamily="18" charset="0"/>
                <a:ea typeface="Verdana" pitchFamily="34" charset="0"/>
                <a:cs typeface="Times New Roman" panose="02020603050405020304" pitchFamily="18" charset="0"/>
              </a:rPr>
              <a:t> = </a:t>
            </a:r>
            <a:r>
              <a:rPr lang="el-GR" sz="1500" i="1" dirty="0">
                <a:latin typeface="Times New Roman" panose="02020603050405020304" pitchFamily="18" charset="0"/>
                <a:ea typeface="Verdana" pitchFamily="34" charset="0"/>
                <a:cs typeface="Times New Roman" panose="02020603050405020304" pitchFamily="18" charset="0"/>
                <a:sym typeface="Mathematica1"/>
              </a:rPr>
              <a:t>Φ</a:t>
            </a:r>
            <a:r>
              <a:rPr lang="en-US" sz="1500" i="1" dirty="0">
                <a:latin typeface="Times New Roman" panose="02020603050405020304" pitchFamily="18" charset="0"/>
                <a:ea typeface="Verdana" pitchFamily="34" charset="0"/>
                <a:cs typeface="Times New Roman" panose="02020603050405020304" pitchFamily="18" charset="0"/>
              </a:rPr>
              <a:t> </a:t>
            </a:r>
            <a:r>
              <a:rPr lang="en-US" sz="1500" dirty="0">
                <a:latin typeface="Times New Roman" panose="02020603050405020304" pitchFamily="18" charset="0"/>
                <a:ea typeface="Verdana" pitchFamily="34" charset="0"/>
                <a:cs typeface="Times New Roman" panose="02020603050405020304" pitchFamily="18" charset="0"/>
              </a:rPr>
              <a:t>) in such a way that each edge of </a:t>
            </a:r>
            <a:r>
              <a:rPr lang="en-US" sz="1500" i="1" dirty="0">
                <a:latin typeface="Times New Roman" panose="02020603050405020304" pitchFamily="18" charset="0"/>
                <a:ea typeface="Verdana" pitchFamily="34" charset="0"/>
                <a:cs typeface="Times New Roman" panose="02020603050405020304" pitchFamily="18" charset="0"/>
              </a:rPr>
              <a:t>G</a:t>
            </a:r>
            <a:r>
              <a:rPr lang="en-US" sz="1500" dirty="0">
                <a:latin typeface="Times New Roman" panose="02020603050405020304" pitchFamily="18" charset="0"/>
                <a:ea typeface="Verdana" pitchFamily="34" charset="0"/>
                <a:cs typeface="Times New Roman" panose="02020603050405020304" pitchFamily="18" charset="0"/>
              </a:rPr>
              <a:t> has one end in </a:t>
            </a:r>
            <a:r>
              <a:rPr lang="en-US" sz="1500" i="1" dirty="0">
                <a:latin typeface="Times New Roman" panose="02020603050405020304" pitchFamily="18" charset="0"/>
                <a:ea typeface="Verdana" pitchFamily="34" charset="0"/>
                <a:cs typeface="Times New Roman" panose="02020603050405020304" pitchFamily="18" charset="0"/>
              </a:rPr>
              <a:t>X</a:t>
            </a:r>
            <a:r>
              <a:rPr lang="en-US" sz="1500" dirty="0">
                <a:latin typeface="Times New Roman" panose="02020603050405020304" pitchFamily="18" charset="0"/>
                <a:ea typeface="Verdana" pitchFamily="34" charset="0"/>
                <a:cs typeface="Times New Roman" panose="02020603050405020304" pitchFamily="18" charset="0"/>
              </a:rPr>
              <a:t> and the other end in </a:t>
            </a:r>
            <a:r>
              <a:rPr lang="en-US" sz="1500" i="1" dirty="0">
                <a:latin typeface="Times New Roman" panose="02020603050405020304" pitchFamily="18" charset="0"/>
                <a:ea typeface="Verdana" pitchFamily="34" charset="0"/>
                <a:cs typeface="Times New Roman" panose="02020603050405020304" pitchFamily="18" charset="0"/>
              </a:rPr>
              <a:t>Y</a:t>
            </a:r>
            <a:r>
              <a:rPr lang="en-US" sz="1500" dirty="0">
                <a:latin typeface="Times New Roman" panose="02020603050405020304" pitchFamily="18" charset="0"/>
                <a:ea typeface="Verdana" pitchFamily="34" charset="0"/>
                <a:cs typeface="Times New Roman" panose="02020603050405020304" pitchFamily="18" charset="0"/>
              </a:rPr>
              <a:t>, then </a:t>
            </a:r>
            <a:r>
              <a:rPr lang="en-US" sz="1500" i="1" dirty="0">
                <a:latin typeface="Times New Roman" panose="02020603050405020304" pitchFamily="18" charset="0"/>
                <a:ea typeface="Verdana" pitchFamily="34" charset="0"/>
                <a:cs typeface="Times New Roman" panose="02020603050405020304" pitchFamily="18" charset="0"/>
              </a:rPr>
              <a:t>G</a:t>
            </a:r>
            <a:r>
              <a:rPr lang="en-US" sz="1500" dirty="0">
                <a:latin typeface="Times New Roman" panose="02020603050405020304" pitchFamily="18" charset="0"/>
                <a:ea typeface="Verdana" pitchFamily="34" charset="0"/>
                <a:cs typeface="Times New Roman" panose="02020603050405020304" pitchFamily="18" charset="0"/>
              </a:rPr>
              <a:t> is called </a:t>
            </a:r>
            <a:r>
              <a:rPr lang="en-US" sz="1500" i="1" dirty="0">
                <a:latin typeface="Times New Roman" panose="02020603050405020304" pitchFamily="18" charset="0"/>
                <a:ea typeface="Verdana" pitchFamily="34" charset="0"/>
                <a:cs typeface="Times New Roman" panose="02020603050405020304" pitchFamily="18" charset="0"/>
              </a:rPr>
              <a:t>bipartite</a:t>
            </a:r>
            <a:r>
              <a:rPr lang="en-US" sz="1500" dirty="0">
                <a:latin typeface="Times New Roman" panose="02020603050405020304" pitchFamily="18" charset="0"/>
                <a:ea typeface="Verdana" pitchFamily="34" charset="0"/>
                <a:cs typeface="Times New Roman" panose="02020603050405020304" pitchFamily="18" charset="0"/>
              </a:rPr>
              <a:t>. </a:t>
            </a:r>
          </a:p>
          <a:p>
            <a:pPr algn="just"/>
            <a:r>
              <a:rPr lang="en-US" sz="1500" dirty="0">
                <a:latin typeface="Times New Roman" panose="02020603050405020304" pitchFamily="18" charset="0"/>
                <a:ea typeface="Verdana" pitchFamily="34" charset="0"/>
                <a:cs typeface="Times New Roman" panose="02020603050405020304" pitchFamily="18" charset="0"/>
              </a:rPr>
              <a:t>A </a:t>
            </a:r>
            <a:r>
              <a:rPr lang="en-US" sz="1500" i="1" dirty="0">
                <a:latin typeface="Times New Roman" panose="02020603050405020304" pitchFamily="18" charset="0"/>
                <a:ea typeface="Verdana" pitchFamily="34" charset="0"/>
                <a:cs typeface="Times New Roman" panose="02020603050405020304" pitchFamily="18" charset="0"/>
              </a:rPr>
              <a:t>complete bipartite graph</a:t>
            </a:r>
            <a:r>
              <a:rPr lang="en-US" sz="1500" dirty="0">
                <a:latin typeface="Times New Roman" panose="02020603050405020304" pitchFamily="18" charset="0"/>
                <a:ea typeface="Verdana" pitchFamily="34" charset="0"/>
                <a:cs typeface="Times New Roman" panose="02020603050405020304" pitchFamily="18" charset="0"/>
              </a:rPr>
              <a:t> is a simple bipartite graph </a:t>
            </a:r>
            <a:r>
              <a:rPr lang="en-US" sz="1500" i="1" dirty="0">
                <a:latin typeface="Times New Roman" panose="02020603050405020304" pitchFamily="18" charset="0"/>
                <a:ea typeface="Verdana" pitchFamily="34" charset="0"/>
                <a:cs typeface="Times New Roman" panose="02020603050405020304" pitchFamily="18" charset="0"/>
              </a:rPr>
              <a:t>G</a:t>
            </a:r>
            <a:r>
              <a:rPr lang="en-US" sz="1500" dirty="0">
                <a:latin typeface="Times New Roman" panose="02020603050405020304" pitchFamily="18" charset="0"/>
                <a:ea typeface="Verdana" pitchFamily="34" charset="0"/>
                <a:cs typeface="Times New Roman" panose="02020603050405020304" pitchFamily="18" charset="0"/>
              </a:rPr>
              <a:t>, with bipartition </a:t>
            </a:r>
            <a:r>
              <a:rPr lang="en-US" sz="1500" i="1" dirty="0">
                <a:latin typeface="Times New Roman" panose="02020603050405020304" pitchFamily="18" charset="0"/>
                <a:ea typeface="Verdana" pitchFamily="34" charset="0"/>
                <a:cs typeface="Times New Roman" panose="02020603050405020304" pitchFamily="18" charset="0"/>
              </a:rPr>
              <a:t>V</a:t>
            </a:r>
            <a:r>
              <a:rPr lang="en-US" sz="1500" dirty="0">
                <a:latin typeface="Times New Roman" panose="02020603050405020304" pitchFamily="18" charset="0"/>
                <a:ea typeface="Verdana" pitchFamily="34" charset="0"/>
                <a:cs typeface="Times New Roman" panose="02020603050405020304" pitchFamily="18" charset="0"/>
              </a:rPr>
              <a:t> = </a:t>
            </a:r>
            <a:r>
              <a:rPr lang="en-US" sz="1500" i="1" dirty="0">
                <a:latin typeface="Times New Roman" panose="02020603050405020304" pitchFamily="18" charset="0"/>
                <a:ea typeface="Verdana" pitchFamily="34" charset="0"/>
                <a:cs typeface="Times New Roman" panose="02020603050405020304" pitchFamily="18" charset="0"/>
              </a:rPr>
              <a:t>X </a:t>
            </a:r>
            <a:r>
              <a:rPr lang="en-US" sz="1500" i="1" dirty="0">
                <a:latin typeface="Times New Roman" panose="02020603050405020304" pitchFamily="18" charset="0"/>
                <a:ea typeface="Verdana" pitchFamily="34" charset="0"/>
                <a:cs typeface="Times New Roman" panose="02020603050405020304" pitchFamily="18" charset="0"/>
                <a:sym typeface="Mathematica1"/>
              </a:rPr>
              <a:t>U</a:t>
            </a:r>
            <a:r>
              <a:rPr lang="en-US" sz="1500" dirty="0">
                <a:latin typeface="Times New Roman" panose="02020603050405020304" pitchFamily="18" charset="0"/>
                <a:ea typeface="Verdana" pitchFamily="34" charset="0"/>
                <a:cs typeface="Times New Roman" panose="02020603050405020304" pitchFamily="18" charset="0"/>
              </a:rPr>
              <a:t> </a:t>
            </a:r>
            <a:r>
              <a:rPr lang="en-US" sz="1500" i="1" dirty="0">
                <a:latin typeface="Times New Roman" panose="02020603050405020304" pitchFamily="18" charset="0"/>
                <a:ea typeface="Verdana" pitchFamily="34" charset="0"/>
                <a:cs typeface="Times New Roman" panose="02020603050405020304" pitchFamily="18" charset="0"/>
              </a:rPr>
              <a:t>Y</a:t>
            </a:r>
            <a:r>
              <a:rPr lang="en-US" sz="1500" dirty="0">
                <a:latin typeface="Times New Roman" panose="02020603050405020304" pitchFamily="18" charset="0"/>
                <a:ea typeface="Verdana" pitchFamily="34" charset="0"/>
                <a:cs typeface="Times New Roman" panose="02020603050405020304" pitchFamily="18" charset="0"/>
              </a:rPr>
              <a:t>, in which every vertex in </a:t>
            </a:r>
            <a:r>
              <a:rPr lang="en-US" sz="1500" i="1" dirty="0">
                <a:latin typeface="Times New Roman" panose="02020603050405020304" pitchFamily="18" charset="0"/>
                <a:ea typeface="Verdana" pitchFamily="34" charset="0"/>
                <a:cs typeface="Times New Roman" panose="02020603050405020304" pitchFamily="18" charset="0"/>
              </a:rPr>
              <a:t>X</a:t>
            </a:r>
            <a:r>
              <a:rPr lang="en-US" sz="1500" dirty="0">
                <a:latin typeface="Times New Roman" panose="02020603050405020304" pitchFamily="18" charset="0"/>
                <a:ea typeface="Verdana" pitchFamily="34" charset="0"/>
                <a:cs typeface="Times New Roman" panose="02020603050405020304" pitchFamily="18" charset="0"/>
              </a:rPr>
              <a:t> is joined to every vertex in </a:t>
            </a:r>
            <a:r>
              <a:rPr lang="en-US" sz="1500" i="1" dirty="0">
                <a:latin typeface="Times New Roman" panose="02020603050405020304" pitchFamily="18" charset="0"/>
                <a:ea typeface="Verdana" pitchFamily="34" charset="0"/>
                <a:cs typeface="Times New Roman" panose="02020603050405020304" pitchFamily="18" charset="0"/>
              </a:rPr>
              <a:t>Y</a:t>
            </a:r>
            <a:r>
              <a:rPr lang="en-US" sz="1500" dirty="0">
                <a:latin typeface="Times New Roman" panose="02020603050405020304" pitchFamily="18" charset="0"/>
                <a:ea typeface="Verdana" pitchFamily="34" charset="0"/>
                <a:cs typeface="Times New Roman" panose="02020603050405020304" pitchFamily="18" charset="0"/>
              </a:rPr>
              <a:t>. </a:t>
            </a:r>
          </a:p>
          <a:p>
            <a:pPr algn="just"/>
            <a:r>
              <a:rPr lang="en-US" sz="1500" dirty="0">
                <a:latin typeface="Times New Roman" panose="02020603050405020304" pitchFamily="18" charset="0"/>
                <a:ea typeface="Verdana" pitchFamily="34" charset="0"/>
                <a:cs typeface="Times New Roman" panose="02020603050405020304" pitchFamily="18" charset="0"/>
              </a:rPr>
              <a:t>If </a:t>
            </a:r>
            <a:r>
              <a:rPr lang="en-US" sz="1500" i="1" dirty="0">
                <a:latin typeface="Times New Roman" panose="02020603050405020304" pitchFamily="18" charset="0"/>
                <a:ea typeface="Verdana" pitchFamily="34" charset="0"/>
                <a:cs typeface="Times New Roman" panose="02020603050405020304" pitchFamily="18" charset="0"/>
              </a:rPr>
              <a:t>X</a:t>
            </a:r>
            <a:r>
              <a:rPr lang="en-US" sz="1500" dirty="0">
                <a:latin typeface="Times New Roman" panose="02020603050405020304" pitchFamily="18" charset="0"/>
                <a:ea typeface="Verdana" pitchFamily="34" charset="0"/>
                <a:cs typeface="Times New Roman" panose="02020603050405020304" pitchFamily="18" charset="0"/>
              </a:rPr>
              <a:t> has </a:t>
            </a:r>
            <a:r>
              <a:rPr lang="en-US" sz="1500" i="1" dirty="0">
                <a:latin typeface="Times New Roman" panose="02020603050405020304" pitchFamily="18" charset="0"/>
                <a:ea typeface="Verdana" pitchFamily="34" charset="0"/>
                <a:cs typeface="Times New Roman" panose="02020603050405020304" pitchFamily="18" charset="0"/>
              </a:rPr>
              <a:t>m</a:t>
            </a:r>
            <a:r>
              <a:rPr lang="en-US" sz="1500" dirty="0">
                <a:latin typeface="Times New Roman" panose="02020603050405020304" pitchFamily="18" charset="0"/>
                <a:ea typeface="Verdana" pitchFamily="34" charset="0"/>
                <a:cs typeface="Times New Roman" panose="02020603050405020304" pitchFamily="18" charset="0"/>
              </a:rPr>
              <a:t> vertices and </a:t>
            </a:r>
            <a:r>
              <a:rPr lang="en-US" sz="1500" i="1" dirty="0">
                <a:latin typeface="Times New Roman" panose="02020603050405020304" pitchFamily="18" charset="0"/>
                <a:ea typeface="Verdana" pitchFamily="34" charset="0"/>
                <a:cs typeface="Times New Roman" panose="02020603050405020304" pitchFamily="18" charset="0"/>
              </a:rPr>
              <a:t>Y</a:t>
            </a:r>
            <a:r>
              <a:rPr lang="en-US" sz="1500" dirty="0">
                <a:latin typeface="Times New Roman" panose="02020603050405020304" pitchFamily="18" charset="0"/>
                <a:ea typeface="Verdana" pitchFamily="34" charset="0"/>
                <a:cs typeface="Times New Roman" panose="02020603050405020304" pitchFamily="18" charset="0"/>
              </a:rPr>
              <a:t> has </a:t>
            </a:r>
            <a:r>
              <a:rPr lang="en-US" sz="1500" i="1" dirty="0">
                <a:latin typeface="Times New Roman" panose="02020603050405020304" pitchFamily="18" charset="0"/>
                <a:ea typeface="Verdana" pitchFamily="34" charset="0"/>
                <a:cs typeface="Times New Roman" panose="02020603050405020304" pitchFamily="18" charset="0"/>
              </a:rPr>
              <a:t>n</a:t>
            </a:r>
            <a:r>
              <a:rPr lang="en-US" sz="1500" dirty="0">
                <a:latin typeface="Times New Roman" panose="02020603050405020304" pitchFamily="18" charset="0"/>
                <a:ea typeface="Verdana" pitchFamily="34" charset="0"/>
                <a:cs typeface="Times New Roman" panose="02020603050405020304" pitchFamily="18" charset="0"/>
              </a:rPr>
              <a:t> vertices, then the complete bipartite graph is denoted by </a:t>
            </a:r>
            <a:r>
              <a:rPr lang="en-US" sz="1500" i="1" dirty="0" err="1">
                <a:latin typeface="Times New Roman" panose="02020603050405020304" pitchFamily="18" charset="0"/>
                <a:ea typeface="Verdana" pitchFamily="34" charset="0"/>
                <a:cs typeface="Times New Roman" panose="02020603050405020304" pitchFamily="18" charset="0"/>
              </a:rPr>
              <a:t>Km</a:t>
            </a:r>
            <a:r>
              <a:rPr lang="en-US" sz="1500" dirty="0" err="1">
                <a:latin typeface="Times New Roman" panose="02020603050405020304" pitchFamily="18" charset="0"/>
                <a:ea typeface="Verdana" pitchFamily="34" charset="0"/>
                <a:cs typeface="Times New Roman" panose="02020603050405020304" pitchFamily="18" charset="0"/>
              </a:rPr>
              <a:t>,</a:t>
            </a:r>
            <a:r>
              <a:rPr lang="en-US" sz="1500" i="1" dirty="0" err="1">
                <a:latin typeface="Times New Roman" panose="02020603050405020304" pitchFamily="18" charset="0"/>
                <a:ea typeface="Verdana" pitchFamily="34" charset="0"/>
                <a:cs typeface="Times New Roman" panose="02020603050405020304" pitchFamily="18" charset="0"/>
              </a:rPr>
              <a:t>n</a:t>
            </a:r>
            <a:r>
              <a:rPr lang="en-US" sz="1500" dirty="0">
                <a:latin typeface="Times New Roman" panose="02020603050405020304" pitchFamily="18" charset="0"/>
                <a:ea typeface="Verdana" pitchFamily="34" charset="0"/>
                <a:cs typeface="Times New Roman" panose="02020603050405020304" pitchFamily="18" charset="0"/>
              </a:rPr>
              <a:t>.</a:t>
            </a:r>
          </a:p>
        </p:txBody>
      </p:sp>
      <p:pic>
        <p:nvPicPr>
          <p:cNvPr id="6" name="Picture 5" descr="completebipartitegraph.emf"/>
          <p:cNvPicPr/>
          <p:nvPr/>
        </p:nvPicPr>
        <p:blipFill>
          <a:blip r:embed="rId3"/>
          <a:stretch>
            <a:fillRect/>
          </a:stretch>
        </p:blipFill>
        <p:spPr>
          <a:xfrm>
            <a:off x="2448800" y="4015768"/>
            <a:ext cx="2525751" cy="694163"/>
          </a:xfrm>
          <a:prstGeom prst="rect">
            <a:avLst/>
          </a:prstGeom>
        </p:spPr>
      </p:pic>
      <p:sp>
        <p:nvSpPr>
          <p:cNvPr id="7" name="Rectangle 6"/>
          <p:cNvSpPr/>
          <p:nvPr/>
        </p:nvSpPr>
        <p:spPr>
          <a:xfrm>
            <a:off x="2255701" y="5026254"/>
            <a:ext cx="3175869" cy="323165"/>
          </a:xfrm>
          <a:prstGeom prst="rect">
            <a:avLst/>
          </a:prstGeom>
        </p:spPr>
        <p:txBody>
          <a:bodyPr wrap="none">
            <a:spAutoFit/>
          </a:bodyPr>
          <a:lstStyle/>
          <a:p>
            <a:r>
              <a:rPr lang="en-US" sz="1500" dirty="0">
                <a:latin typeface="Times New Roman" panose="02020603050405020304" pitchFamily="18" charset="0"/>
                <a:ea typeface="Verdana" pitchFamily="34" charset="0"/>
                <a:cs typeface="Times New Roman" panose="02020603050405020304" pitchFamily="18" charset="0"/>
              </a:rPr>
              <a:t>Complete bipartite graphs </a:t>
            </a:r>
            <a:r>
              <a:rPr lang="en-US" sz="1500" i="1" dirty="0">
                <a:latin typeface="Times New Roman" panose="02020603050405020304" pitchFamily="18" charset="0"/>
                <a:ea typeface="Verdana" pitchFamily="34" charset="0"/>
                <a:cs typeface="Times New Roman" panose="02020603050405020304" pitchFamily="18" charset="0"/>
              </a:rPr>
              <a:t>K</a:t>
            </a:r>
            <a:r>
              <a:rPr lang="en-US" sz="1500" baseline="-25000" dirty="0">
                <a:latin typeface="Times New Roman" panose="02020603050405020304" pitchFamily="18" charset="0"/>
                <a:ea typeface="Verdana" pitchFamily="34" charset="0"/>
                <a:cs typeface="Times New Roman" panose="02020603050405020304" pitchFamily="18" charset="0"/>
              </a:rPr>
              <a:t>1,8</a:t>
            </a:r>
            <a:r>
              <a:rPr lang="en-US" sz="1500" dirty="0">
                <a:latin typeface="Times New Roman" panose="02020603050405020304" pitchFamily="18" charset="0"/>
                <a:ea typeface="Verdana" pitchFamily="34" charset="0"/>
                <a:cs typeface="Times New Roman" panose="02020603050405020304" pitchFamily="18" charset="0"/>
              </a:rPr>
              <a:t> and </a:t>
            </a:r>
            <a:r>
              <a:rPr lang="en-US" sz="1500" i="1" dirty="0">
                <a:latin typeface="Times New Roman" panose="02020603050405020304" pitchFamily="18" charset="0"/>
                <a:ea typeface="Verdana" pitchFamily="34" charset="0"/>
                <a:cs typeface="Times New Roman" panose="02020603050405020304" pitchFamily="18" charset="0"/>
              </a:rPr>
              <a:t>K</a:t>
            </a:r>
            <a:r>
              <a:rPr lang="en-US" sz="1500" baseline="-25000" dirty="0">
                <a:latin typeface="Times New Roman" panose="02020603050405020304" pitchFamily="18" charset="0"/>
                <a:ea typeface="Verdana" pitchFamily="34" charset="0"/>
                <a:cs typeface="Times New Roman" panose="02020603050405020304" pitchFamily="18" charset="0"/>
              </a:rPr>
              <a:t>3,3</a:t>
            </a:r>
            <a:endParaRPr lang="en-US" sz="1500" dirty="0">
              <a:latin typeface="Times New Roman" panose="02020603050405020304" pitchFamily="18" charset="0"/>
              <a:ea typeface="Verdana" pitchFamily="34" charset="0"/>
              <a:cs typeface="Times New Roman" panose="02020603050405020304" pitchFamily="18" charset="0"/>
            </a:endParaRPr>
          </a:p>
        </p:txBody>
      </p:sp>
    </p:spTree>
    <p:extLst>
      <p:ext uri="{BB962C8B-B14F-4D97-AF65-F5344CB8AC3E}">
        <p14:creationId xmlns:p14="http://schemas.microsoft.com/office/powerpoint/2010/main" val="3009402065"/>
      </p:ext>
    </p:extLst>
  </p:cSld>
  <p:clrMapOvr>
    <a:masterClrMapping/>
  </p:clrMapOvr>
  <p:transition>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Examples - </a:t>
            </a:r>
            <a:r>
              <a:rPr lang="en-US" b="1" dirty="0" err="1">
                <a:solidFill>
                  <a:srgbClr val="FF0000"/>
                </a:solidFill>
                <a:latin typeface="Times New Roman" panose="02020603050405020304" pitchFamily="18" charset="0"/>
                <a:cs typeface="Times New Roman" panose="02020603050405020304" pitchFamily="18" charset="0"/>
              </a:rPr>
              <a:t>Subgraphs</a:t>
            </a: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637096" y="2326822"/>
            <a:ext cx="7869809" cy="2420973"/>
          </a:xfrm>
          <a:prstGeom prst="rect">
            <a:avLst/>
          </a:prstGeom>
        </p:spPr>
      </p:pic>
    </p:spTree>
    <p:extLst>
      <p:ext uri="{BB962C8B-B14F-4D97-AF65-F5344CB8AC3E}">
        <p14:creationId xmlns:p14="http://schemas.microsoft.com/office/powerpoint/2010/main" val="2015876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700" u="sng" dirty="0">
                <a:solidFill>
                  <a:srgbClr val="FF0000"/>
                </a:solidFill>
                <a:latin typeface="Times New Roman" panose="02020603050405020304" pitchFamily="18" charset="0"/>
                <a:cs typeface="Times New Roman" panose="02020603050405020304" pitchFamily="18" charset="0"/>
              </a:rPr>
              <a:t>Directed weighted Graph</a:t>
            </a:r>
          </a:p>
        </p:txBody>
      </p:sp>
      <p:pic>
        <p:nvPicPr>
          <p:cNvPr id="4" name="Content Placeholder 3"/>
          <p:cNvPicPr>
            <a:picLocks noGrp="1" noChangeAspect="1"/>
          </p:cNvPicPr>
          <p:nvPr>
            <p:ph idx="1"/>
          </p:nvPr>
        </p:nvPicPr>
        <p:blipFill>
          <a:blip r:embed="rId2"/>
          <a:stretch>
            <a:fillRect/>
          </a:stretch>
        </p:blipFill>
        <p:spPr>
          <a:xfrm>
            <a:off x="1577022" y="2250637"/>
            <a:ext cx="5989956" cy="3008000"/>
          </a:xfrm>
          <a:prstGeom prst="rect">
            <a:avLst/>
          </a:prstGeom>
        </p:spPr>
      </p:pic>
    </p:spTree>
    <p:extLst>
      <p:ext uri="{BB962C8B-B14F-4D97-AF65-F5344CB8AC3E}">
        <p14:creationId xmlns:p14="http://schemas.microsoft.com/office/powerpoint/2010/main" val="3644027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0648"/>
            <a:ext cx="7886700" cy="464732"/>
          </a:xfrm>
        </p:spPr>
        <p:txBody>
          <a:bodyPr>
            <a:normAutofit fontScale="90000"/>
          </a:bodyPr>
          <a:lstStyle/>
          <a:p>
            <a:r>
              <a:rPr lang="en-US" sz="3000" b="1" dirty="0">
                <a:latin typeface="Times New Roman" panose="02020603050405020304" pitchFamily="18" charset="0"/>
                <a:ea typeface="Verdana" pitchFamily="34" charset="0"/>
                <a:cs typeface="Times New Roman" panose="02020603050405020304" pitchFamily="18" charset="0"/>
              </a:rPr>
              <a:t>Graph Terminologies-Contd.</a:t>
            </a:r>
            <a:endParaRPr lang="en-IN" sz="3000" dirty="0"/>
          </a:p>
        </p:txBody>
      </p:sp>
      <p:sp>
        <p:nvSpPr>
          <p:cNvPr id="3" name="Content Placeholder 2"/>
          <p:cNvSpPr>
            <a:spLocks noGrp="1"/>
          </p:cNvSpPr>
          <p:nvPr>
            <p:ph idx="1"/>
          </p:nvPr>
        </p:nvSpPr>
        <p:spPr>
          <a:xfrm>
            <a:off x="628650" y="725380"/>
            <a:ext cx="7886700" cy="5275370"/>
          </a:xfrm>
        </p:spPr>
        <p:txBody>
          <a:bodyPr/>
          <a:lstStyle/>
          <a:p>
            <a:pPr algn="just">
              <a:buNone/>
            </a:pPr>
            <a:r>
              <a:rPr lang="en-US" b="1" dirty="0">
                <a:latin typeface="Times New Roman" panose="02020603050405020304" pitchFamily="18" charset="0"/>
                <a:ea typeface="Verdana" pitchFamily="34" charset="0"/>
                <a:cs typeface="Times New Roman" panose="02020603050405020304" pitchFamily="18" charset="0"/>
              </a:rPr>
              <a:t>Path</a:t>
            </a:r>
            <a:r>
              <a:rPr lang="en-US" dirty="0">
                <a:latin typeface="Times New Roman" panose="02020603050405020304" pitchFamily="18" charset="0"/>
                <a:ea typeface="Verdana" pitchFamily="34" charset="0"/>
                <a:cs typeface="Times New Roman" panose="02020603050405020304" pitchFamily="18" charset="0"/>
              </a:rPr>
              <a:t> - </a:t>
            </a:r>
            <a:r>
              <a:rPr lang="en-US" sz="2400" dirty="0">
                <a:latin typeface="Times New Roman" panose="02020603050405020304" pitchFamily="18" charset="0"/>
                <a:ea typeface="Verdana" pitchFamily="34" charset="0"/>
                <a:cs typeface="Times New Roman" panose="02020603050405020304" pitchFamily="18" charset="0"/>
              </a:rPr>
              <a:t>A path is a sequence of vertices such that each vertex is adjacent to the next. In a path, each edge can be traveled only once. The length of a path is the number of edges in that path.</a:t>
            </a:r>
          </a:p>
          <a:p>
            <a:pPr algn="just">
              <a:buNone/>
            </a:pPr>
            <a:r>
              <a:rPr lang="en-US" sz="2400" b="1" dirty="0">
                <a:latin typeface="Times New Roman" panose="02020603050405020304" pitchFamily="18" charset="0"/>
                <a:ea typeface="Verdana" pitchFamily="34" charset="0"/>
                <a:cs typeface="Times New Roman" panose="02020603050405020304" pitchFamily="18" charset="0"/>
              </a:rPr>
              <a:t>Cycle</a:t>
            </a:r>
            <a:r>
              <a:rPr lang="en-US" sz="2400" dirty="0">
                <a:latin typeface="Times New Roman" panose="02020603050405020304" pitchFamily="18" charset="0"/>
                <a:ea typeface="Verdana" pitchFamily="34" charset="0"/>
                <a:cs typeface="Times New Roman" panose="02020603050405020304" pitchFamily="18" charset="0"/>
              </a:rPr>
              <a:t> - A</a:t>
            </a:r>
            <a:r>
              <a:rPr lang="en-US" sz="2400" dirty="0">
                <a:solidFill>
                  <a:srgbClr val="FF0000"/>
                </a:solidFill>
                <a:latin typeface="Times New Roman" panose="02020603050405020304" pitchFamily="18" charset="0"/>
                <a:ea typeface="Verdana" pitchFamily="34" charset="0"/>
                <a:cs typeface="Times New Roman" panose="02020603050405020304" pitchFamily="18" charset="0"/>
              </a:rPr>
              <a:t> </a:t>
            </a:r>
            <a:r>
              <a:rPr lang="en-US" sz="2400" dirty="0">
                <a:latin typeface="Times New Roman" panose="02020603050405020304" pitchFamily="18" charset="0"/>
                <a:ea typeface="Verdana" pitchFamily="34" charset="0"/>
                <a:cs typeface="Times New Roman" panose="02020603050405020304" pitchFamily="18" charset="0"/>
              </a:rPr>
              <a:t>cycle</a:t>
            </a:r>
            <a:r>
              <a:rPr lang="en-US" sz="2400" dirty="0">
                <a:solidFill>
                  <a:srgbClr val="FF0000"/>
                </a:solidFill>
                <a:latin typeface="Times New Roman" panose="02020603050405020304" pitchFamily="18" charset="0"/>
                <a:ea typeface="Verdana" pitchFamily="34" charset="0"/>
                <a:cs typeface="Times New Roman" panose="02020603050405020304" pitchFamily="18" charset="0"/>
              </a:rPr>
              <a:t> </a:t>
            </a:r>
            <a:r>
              <a:rPr lang="en-US" sz="2400" dirty="0">
                <a:latin typeface="Times New Roman" panose="02020603050405020304" pitchFamily="18" charset="0"/>
                <a:ea typeface="Verdana" pitchFamily="34" charset="0"/>
                <a:cs typeface="Times New Roman" panose="02020603050405020304" pitchFamily="18" charset="0"/>
              </a:rPr>
              <a:t>or a circuit is a path that starts and ends at the same vertex. </a:t>
            </a:r>
          </a:p>
          <a:p>
            <a:pPr algn="just">
              <a:buNone/>
            </a:pPr>
            <a:r>
              <a:rPr lang="en-US" sz="2400" b="1" dirty="0">
                <a:latin typeface="Times New Roman" panose="02020603050405020304" pitchFamily="18" charset="0"/>
                <a:ea typeface="Verdana" pitchFamily="34" charset="0"/>
                <a:cs typeface="Times New Roman" panose="02020603050405020304" pitchFamily="18" charset="0"/>
              </a:rPr>
              <a:t>Connected graph </a:t>
            </a:r>
            <a:r>
              <a:rPr lang="en-US" sz="2400" dirty="0">
                <a:latin typeface="Times New Roman" panose="02020603050405020304" pitchFamily="18" charset="0"/>
                <a:ea typeface="Verdana" pitchFamily="34" charset="0"/>
                <a:cs typeface="Times New Roman" panose="02020603050405020304" pitchFamily="18" charset="0"/>
              </a:rPr>
              <a:t>- A graph is connected if any two vertices can be joined by a path.  Otherwise the graph is disconnected.</a:t>
            </a:r>
          </a:p>
          <a:p>
            <a:pPr algn="just">
              <a:buNone/>
            </a:pPr>
            <a:endParaRPr lang="en-US" dirty="0">
              <a:latin typeface="Times New Roman" panose="02020603050405020304" pitchFamily="18" charset="0"/>
              <a:ea typeface="Verdana" pitchFamily="34" charset="0"/>
              <a:cs typeface="Times New Roman" panose="02020603050405020304" pitchFamily="18" charset="0"/>
            </a:endParaRPr>
          </a:p>
          <a:p>
            <a:pPr marL="0" indent="0">
              <a:buNone/>
            </a:pPr>
            <a:endParaRPr lang="en-IN" dirty="0"/>
          </a:p>
        </p:txBody>
      </p:sp>
      <p:pic>
        <p:nvPicPr>
          <p:cNvPr id="4" name="Picture 3" descr="connectedgraph.emf"/>
          <p:cNvPicPr/>
          <p:nvPr/>
        </p:nvPicPr>
        <p:blipFill>
          <a:blip r:embed="rId2"/>
          <a:stretch>
            <a:fillRect/>
          </a:stretch>
        </p:blipFill>
        <p:spPr>
          <a:xfrm>
            <a:off x="2975567" y="4190983"/>
            <a:ext cx="3700520" cy="915979"/>
          </a:xfrm>
          <a:prstGeom prst="rect">
            <a:avLst/>
          </a:prstGeom>
        </p:spPr>
      </p:pic>
      <p:sp>
        <p:nvSpPr>
          <p:cNvPr id="6" name="Rectangle 5"/>
          <p:cNvSpPr/>
          <p:nvPr/>
        </p:nvSpPr>
        <p:spPr>
          <a:xfrm>
            <a:off x="2516541" y="5339328"/>
            <a:ext cx="4618572" cy="323165"/>
          </a:xfrm>
          <a:prstGeom prst="rect">
            <a:avLst/>
          </a:prstGeom>
        </p:spPr>
        <p:txBody>
          <a:bodyPr wrap="none">
            <a:spAutoFit/>
          </a:bodyPr>
          <a:lstStyle/>
          <a:p>
            <a:r>
              <a:rPr lang="en-US" sz="1500" b="1" dirty="0"/>
              <a:t>Connected graph                   Disconnected graph</a:t>
            </a:r>
          </a:p>
        </p:txBody>
      </p:sp>
    </p:spTree>
    <p:extLst>
      <p:ext uri="{BB962C8B-B14F-4D97-AF65-F5344CB8AC3E}">
        <p14:creationId xmlns:p14="http://schemas.microsoft.com/office/powerpoint/2010/main" val="2018090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sz="2100" b="1" u="sng" dirty="0">
                <a:solidFill>
                  <a:srgbClr val="FF0000"/>
                </a:solidFill>
              </a:rPr>
            </a:br>
            <a:r>
              <a:rPr lang="en-US" sz="2325" b="1" u="sng" dirty="0">
                <a:solidFill>
                  <a:srgbClr val="FF0000"/>
                </a:solidFill>
                <a:latin typeface="Times New Roman" panose="02020603050405020304" pitchFamily="18" charset="0"/>
                <a:cs typeface="Times New Roman" panose="02020603050405020304" pitchFamily="18" charset="0"/>
              </a:rPr>
              <a:t>The Adjacency Matrix of a Graph</a:t>
            </a:r>
            <a:br>
              <a:rPr lang="en-US" sz="2325" b="1" u="sng" dirty="0">
                <a:solidFill>
                  <a:srgbClr val="FF0000"/>
                </a:solidFill>
                <a:latin typeface="Times New Roman" panose="02020603050405020304" pitchFamily="18" charset="0"/>
                <a:cs typeface="Times New Roman" panose="02020603050405020304" pitchFamily="18" charset="0"/>
              </a:rPr>
            </a:br>
            <a:r>
              <a:rPr lang="en-US" sz="2100" b="1" u="sng" dirty="0">
                <a:solidFill>
                  <a:srgbClr val="FF0000"/>
                </a:solidFill>
                <a:latin typeface="Times New Roman" panose="02020603050405020304" pitchFamily="18" charset="0"/>
                <a:cs typeface="Times New Roman" panose="02020603050405020304" pitchFamily="18" charset="0"/>
              </a:rPr>
              <a:t> </a:t>
            </a:r>
            <a:br>
              <a:rPr lang="en-US" sz="2100" b="1" u="sng" dirty="0">
                <a:solidFill>
                  <a:srgbClr val="FF0000"/>
                </a:solidFill>
              </a:rPr>
            </a:br>
            <a:endParaRPr lang="en-US" sz="2100" b="1" u="sng" dirty="0">
              <a:solidFill>
                <a:srgbClr val="FF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920479"/>
                <a:ext cx="8229600" cy="3531395"/>
              </a:xfrm>
            </p:spPr>
            <p:txBody>
              <a:bodyPr/>
              <a:lstStyle/>
              <a:p>
                <a:pPr marL="0" indent="0">
                  <a:buNone/>
                </a:pPr>
                <a:r>
                  <a:rPr lang="en-US" sz="2250" dirty="0">
                    <a:latin typeface="Times New Roman" panose="02020603050405020304" pitchFamily="18" charset="0"/>
                    <a:cs typeface="Times New Roman" panose="02020603050405020304" pitchFamily="18" charset="0"/>
                  </a:rPr>
                  <a:t>We have seen that a graph can be defined or described by means of sets or diagrams. There are also matrix representations of graphs. </a:t>
                </a:r>
              </a:p>
              <a:p>
                <a:pPr marL="0" indent="0">
                  <a:buNone/>
                </a:pPr>
                <a:endParaRPr lang="en-US" sz="2250" dirty="0">
                  <a:latin typeface="Times New Roman" panose="02020603050405020304" pitchFamily="18" charset="0"/>
                  <a:cs typeface="Times New Roman" panose="02020603050405020304" pitchFamily="18" charset="0"/>
                </a:endParaRPr>
              </a:p>
              <a:p>
                <a:pPr marL="0" indent="0">
                  <a:buNone/>
                </a:pPr>
                <a:r>
                  <a:rPr lang="en-US" sz="2250" dirty="0">
                    <a:latin typeface="Times New Roman" panose="02020603050405020304" pitchFamily="18" charset="0"/>
                    <a:cs typeface="Times New Roman" panose="02020603050405020304" pitchFamily="18" charset="0"/>
                  </a:rPr>
                  <a:t>Suppose that G is a graph of order n, where V(G)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𝑣</m:t>
                        </m:r>
                      </m:e>
                      <m:sub>
                        <m:r>
                          <a:rPr lang="en-US" sz="2250" i="1">
                            <a:latin typeface="Cambria Math" panose="02040503050406030204" pitchFamily="18" charset="0"/>
                          </a:rPr>
                          <m:t>1</m:t>
                        </m:r>
                      </m:sub>
                    </m:sSub>
                    <m:r>
                      <a:rPr lang="en-US" sz="2250" i="1">
                        <a:latin typeface="Cambria Math" panose="02040503050406030204" pitchFamily="18" charset="0"/>
                      </a:rPr>
                      <m:t>, </m:t>
                    </m:r>
                    <m:sSub>
                      <m:sSubPr>
                        <m:ctrlPr>
                          <a:rPr lang="en-US" sz="2250" i="1">
                            <a:latin typeface="Cambria Math" panose="02040503050406030204" pitchFamily="18" charset="0"/>
                          </a:rPr>
                        </m:ctrlPr>
                      </m:sSubPr>
                      <m:e>
                        <m:r>
                          <a:rPr lang="en-US" sz="2250" i="1">
                            <a:latin typeface="Cambria Math" panose="02040503050406030204" pitchFamily="18" charset="0"/>
                          </a:rPr>
                          <m:t>𝑣</m:t>
                        </m:r>
                      </m:e>
                      <m:sub>
                        <m:r>
                          <a:rPr lang="en-US" sz="2250" i="1">
                            <a:latin typeface="Cambria Math" panose="02040503050406030204" pitchFamily="18" charset="0"/>
                          </a:rPr>
                          <m:t>2</m:t>
                        </m:r>
                      </m:sub>
                    </m:sSub>
                    <m:r>
                      <a:rPr lang="en-US" sz="2250" i="1">
                        <a:latin typeface="Cambria Math" panose="02040503050406030204" pitchFamily="18" charset="0"/>
                      </a:rPr>
                      <m:t>, </m:t>
                    </m:r>
                    <m:sSub>
                      <m:sSubPr>
                        <m:ctrlPr>
                          <a:rPr lang="en-US" sz="2250" i="1">
                            <a:latin typeface="Cambria Math" panose="02040503050406030204" pitchFamily="18" charset="0"/>
                          </a:rPr>
                        </m:ctrlPr>
                      </m:sSubPr>
                      <m:e>
                        <m:r>
                          <a:rPr lang="en-US" sz="2250" i="1">
                            <a:latin typeface="Cambria Math" panose="02040503050406030204" pitchFamily="18" charset="0"/>
                          </a:rPr>
                          <m:t>𝑣</m:t>
                        </m:r>
                      </m:e>
                      <m:sub>
                        <m:r>
                          <a:rPr lang="en-US" sz="2250" i="1">
                            <a:latin typeface="Cambria Math" panose="02040503050406030204" pitchFamily="18" charset="0"/>
                          </a:rPr>
                          <m:t>3</m:t>
                        </m:r>
                      </m:sub>
                    </m:sSub>
                    <m:r>
                      <a:rPr lang="en-US" sz="2250" i="1">
                        <a:latin typeface="Cambria Math" panose="02040503050406030204" pitchFamily="18" charset="0"/>
                      </a:rPr>
                      <m:t>, . . . , </m:t>
                    </m:r>
                    <m:sSub>
                      <m:sSubPr>
                        <m:ctrlPr>
                          <a:rPr lang="en-US" sz="2250" i="1">
                            <a:latin typeface="Cambria Math" panose="02040503050406030204" pitchFamily="18" charset="0"/>
                          </a:rPr>
                        </m:ctrlPr>
                      </m:sSubPr>
                      <m:e>
                        <m:r>
                          <a:rPr lang="en-US" sz="2250" i="1">
                            <a:latin typeface="Cambria Math" panose="02040503050406030204" pitchFamily="18" charset="0"/>
                          </a:rPr>
                          <m:t>𝑣</m:t>
                        </m:r>
                      </m:e>
                      <m:sub>
                        <m:r>
                          <a:rPr lang="en-US" sz="2250" i="1">
                            <a:latin typeface="Cambria Math" panose="02040503050406030204" pitchFamily="18" charset="0"/>
                          </a:rPr>
                          <m:t>𝑛</m:t>
                        </m:r>
                      </m:sub>
                    </m:sSub>
                    <m:r>
                      <a:rPr lang="en-US" sz="2250" i="1">
                        <a:latin typeface="Cambria Math" panose="02040503050406030204" pitchFamily="18" charset="0"/>
                      </a:rPr>
                      <m:t>}</m:t>
                    </m:r>
                  </m:oMath>
                </a14:m>
                <a:r>
                  <a:rPr lang="en-US" sz="2250" dirty="0">
                    <a:latin typeface="Times New Roman" panose="02020603050405020304" pitchFamily="18" charset="0"/>
                    <a:cs typeface="Times New Roman" panose="02020603050405020304" pitchFamily="18" charset="0"/>
                  </a:rPr>
                  <a:t>. </a:t>
                </a:r>
              </a:p>
              <a:p>
                <a:pPr marL="0" indent="0">
                  <a:buNone/>
                </a:pPr>
                <a:r>
                  <a:rPr lang="en-US" sz="2250" dirty="0">
                    <a:latin typeface="Times New Roman" panose="02020603050405020304" pitchFamily="18" charset="0"/>
                    <a:cs typeface="Times New Roman" panose="02020603050405020304" pitchFamily="18" charset="0"/>
                  </a:rPr>
                  <a:t>The adjacency matrix of G is the n × n zero-one matrix     A(G) =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𝑎</m:t>
                        </m:r>
                      </m:e>
                      <m:sub>
                        <m:r>
                          <a:rPr lang="en-US" sz="2250" i="1">
                            <a:latin typeface="Cambria Math" panose="02040503050406030204" pitchFamily="18" charset="0"/>
                          </a:rPr>
                          <m:t>𝑖𝑗</m:t>
                        </m:r>
                      </m:sub>
                    </m:sSub>
                  </m:oMath>
                </a14:m>
                <a:r>
                  <a:rPr lang="en-US" sz="2250" dirty="0">
                    <a:latin typeface="Times New Roman" panose="02020603050405020304" pitchFamily="18" charset="0"/>
                    <a:cs typeface="Times New Roman" panose="02020603050405020304" pitchFamily="18" charset="0"/>
                  </a:rPr>
                  <a:t>], or simply A=[</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𝑎</m:t>
                        </m:r>
                      </m:e>
                      <m:sub>
                        <m:r>
                          <a:rPr lang="en-US" sz="2250" i="1">
                            <a:latin typeface="Cambria Math" panose="02040503050406030204" pitchFamily="18" charset="0"/>
                          </a:rPr>
                          <m:t>𝑖𝑗</m:t>
                        </m:r>
                      </m:sub>
                    </m:sSub>
                  </m:oMath>
                </a14:m>
                <a:r>
                  <a:rPr lang="en-US" sz="2250" dirty="0">
                    <a:latin typeface="Times New Roman" panose="02020603050405020304" pitchFamily="18" charset="0"/>
                    <a:cs typeface="Times New Roman" panose="02020603050405020304" pitchFamily="18" charset="0"/>
                  </a:rPr>
                  <a:t>], where</a:t>
                </a:r>
              </a:p>
              <a:p>
                <a:pPr marL="0" indent="0">
                  <a:buNone/>
                </a:pPr>
                <a:br>
                  <a:rPr lang="en-US" sz="2250" dirty="0">
                    <a:latin typeface="Times New Roman" panose="02020603050405020304" pitchFamily="18"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𝑎</m:t>
                          </m:r>
                        </m:e>
                        <m:sub>
                          <m:r>
                            <a:rPr lang="en-US" sz="2250" i="1">
                              <a:latin typeface="Cambria Math" panose="02040503050406030204" pitchFamily="18" charset="0"/>
                            </a:rPr>
                            <m:t>𝑖𝑗</m:t>
                          </m:r>
                        </m:sub>
                      </m:sSub>
                      <m:r>
                        <a:rPr lang="en-US" sz="2250" i="1">
                          <a:latin typeface="Cambria Math" panose="02040503050406030204" pitchFamily="18" charset="0"/>
                        </a:rPr>
                        <m:t>=</m:t>
                      </m:r>
                      <m:d>
                        <m:dPr>
                          <m:begChr m:val="{"/>
                          <m:endChr m:val=""/>
                          <m:ctrlPr>
                            <a:rPr lang="en-US" sz="2250" i="1">
                              <a:latin typeface="Cambria Math" panose="02040503050406030204" pitchFamily="18" charset="0"/>
                            </a:rPr>
                          </m:ctrlPr>
                        </m:dPr>
                        <m:e>
                          <m:eqArr>
                            <m:eqArrPr>
                              <m:ctrlPr>
                                <a:rPr lang="en-US" sz="2250" i="1">
                                  <a:latin typeface="Cambria Math" panose="02040503050406030204" pitchFamily="18" charset="0"/>
                                </a:rPr>
                              </m:ctrlPr>
                            </m:eqArrPr>
                            <m:e>
                              <m:r>
                                <a:rPr lang="en-US" sz="2250" i="1">
                                  <a:latin typeface="Cambria Math" panose="02040503050406030204" pitchFamily="18" charset="0"/>
                                </a:rPr>
                                <m:t>1     </m:t>
                              </m:r>
                              <m:r>
                                <a:rPr lang="en-US" sz="2250" i="1">
                                  <a:latin typeface="Cambria Math" panose="02040503050406030204" pitchFamily="18" charset="0"/>
                                </a:rPr>
                                <m:t>𝑖𝑓</m:t>
                              </m:r>
                              <m:r>
                                <a:rPr lang="en-US" sz="2250" i="1">
                                  <a:latin typeface="Cambria Math" panose="02040503050406030204" pitchFamily="18" charset="0"/>
                                </a:rPr>
                                <m:t>       </m:t>
                              </m:r>
                              <m:sSub>
                                <m:sSubPr>
                                  <m:ctrlPr>
                                    <a:rPr lang="en-US" sz="2250" i="1">
                                      <a:latin typeface="Cambria Math" panose="02040503050406030204" pitchFamily="18" charset="0"/>
                                    </a:rPr>
                                  </m:ctrlPr>
                                </m:sSubPr>
                                <m:e>
                                  <m:r>
                                    <a:rPr lang="en-US" sz="2250" i="1">
                                      <a:latin typeface="Cambria Math" panose="02040503050406030204" pitchFamily="18" charset="0"/>
                                    </a:rPr>
                                    <m:t>𝑣</m:t>
                                  </m:r>
                                </m:e>
                                <m:sub>
                                  <m:r>
                                    <a:rPr lang="en-US" sz="2250" i="1">
                                      <a:latin typeface="Cambria Math" panose="02040503050406030204" pitchFamily="18" charset="0"/>
                                    </a:rPr>
                                    <m:t>𝑖</m:t>
                                  </m:r>
                                </m:sub>
                              </m:sSub>
                              <m:sSub>
                                <m:sSubPr>
                                  <m:ctrlPr>
                                    <a:rPr lang="en-US" sz="2250" i="1">
                                      <a:latin typeface="Cambria Math" panose="02040503050406030204" pitchFamily="18" charset="0"/>
                                    </a:rPr>
                                  </m:ctrlPr>
                                </m:sSubPr>
                                <m:e>
                                  <m:r>
                                    <a:rPr lang="en-US" sz="2250" i="1">
                                      <a:latin typeface="Cambria Math" panose="02040503050406030204" pitchFamily="18" charset="0"/>
                                    </a:rPr>
                                    <m:t>𝑣</m:t>
                                  </m:r>
                                </m:e>
                                <m:sub>
                                  <m:r>
                                    <a:rPr lang="en-US" sz="2250" i="1">
                                      <a:latin typeface="Cambria Math" panose="02040503050406030204" pitchFamily="18" charset="0"/>
                                    </a:rPr>
                                    <m:t>𝑗</m:t>
                                  </m:r>
                                </m:sub>
                              </m:sSub>
                              <m:r>
                                <a:rPr lang="en-US" sz="2250" i="1">
                                  <a:latin typeface="Cambria Math" panose="02040503050406030204" pitchFamily="18" charset="0"/>
                                </a:rPr>
                                <m:t>∈</m:t>
                              </m:r>
                              <m:r>
                                <a:rPr lang="en-US" sz="2250" i="1">
                                  <a:latin typeface="Cambria Math" panose="02040503050406030204" pitchFamily="18" charset="0"/>
                                </a:rPr>
                                <m:t>𝐸</m:t>
                              </m:r>
                              <m:r>
                                <a:rPr lang="en-US" sz="2250" i="1">
                                  <a:latin typeface="Cambria Math" panose="02040503050406030204" pitchFamily="18" charset="0"/>
                                </a:rPr>
                                <m:t>(</m:t>
                              </m:r>
                              <m:r>
                                <a:rPr lang="en-US" sz="2250" i="1">
                                  <a:latin typeface="Cambria Math" panose="02040503050406030204" pitchFamily="18" charset="0"/>
                                </a:rPr>
                                <m:t>𝐺</m:t>
                              </m:r>
                              <m:r>
                                <a:rPr lang="en-US" sz="2250" i="1">
                                  <a:latin typeface="Cambria Math" panose="02040503050406030204" pitchFamily="18" charset="0"/>
                                </a:rPr>
                                <m:t>)</m:t>
                              </m:r>
                            </m:e>
                            <m:e>
                              <m:r>
                                <a:rPr lang="en-US" sz="2250" i="1">
                                  <a:latin typeface="Cambria Math" panose="02040503050406030204" pitchFamily="18" charset="0"/>
                                </a:rPr>
                                <m:t>0    </m:t>
                              </m:r>
                              <m:r>
                                <a:rPr lang="en-US" sz="2250" i="1">
                                  <a:latin typeface="Cambria Math" panose="02040503050406030204" pitchFamily="18" charset="0"/>
                                </a:rPr>
                                <m:t>𝑖𝑓</m:t>
                              </m:r>
                              <m:r>
                                <a:rPr lang="en-US" sz="2250" i="1">
                                  <a:latin typeface="Cambria Math" panose="02040503050406030204" pitchFamily="18" charset="0"/>
                                </a:rPr>
                                <m:t> </m:t>
                              </m:r>
                              <m:sSub>
                                <m:sSubPr>
                                  <m:ctrlPr>
                                    <a:rPr lang="en-US" sz="2250" i="1">
                                      <a:latin typeface="Cambria Math" panose="02040503050406030204" pitchFamily="18" charset="0"/>
                                    </a:rPr>
                                  </m:ctrlPr>
                                </m:sSubPr>
                                <m:e>
                                  <m:r>
                                    <a:rPr lang="en-US" sz="2250" i="1">
                                      <a:latin typeface="Cambria Math" panose="02040503050406030204" pitchFamily="18" charset="0"/>
                                    </a:rPr>
                                    <m:t>       </m:t>
                                  </m:r>
                                  <m:r>
                                    <a:rPr lang="en-US" sz="2250" i="1">
                                      <a:latin typeface="Cambria Math" panose="02040503050406030204" pitchFamily="18" charset="0"/>
                                    </a:rPr>
                                    <m:t>𝑣</m:t>
                                  </m:r>
                                </m:e>
                                <m:sub>
                                  <m:r>
                                    <a:rPr lang="en-US" sz="2250" i="1">
                                      <a:latin typeface="Cambria Math" panose="02040503050406030204" pitchFamily="18" charset="0"/>
                                    </a:rPr>
                                    <m:t>𝑖</m:t>
                                  </m:r>
                                </m:sub>
                              </m:sSub>
                              <m:sSub>
                                <m:sSubPr>
                                  <m:ctrlPr>
                                    <a:rPr lang="en-US" sz="2250" i="1">
                                      <a:latin typeface="Cambria Math" panose="02040503050406030204" pitchFamily="18" charset="0"/>
                                    </a:rPr>
                                  </m:ctrlPr>
                                </m:sSubPr>
                                <m:e>
                                  <m:r>
                                    <a:rPr lang="en-US" sz="2250" i="1">
                                      <a:latin typeface="Cambria Math" panose="02040503050406030204" pitchFamily="18" charset="0"/>
                                    </a:rPr>
                                    <m:t>𝑣</m:t>
                                  </m:r>
                                </m:e>
                                <m:sub>
                                  <m:r>
                                    <a:rPr lang="en-US" sz="2250" i="1">
                                      <a:latin typeface="Cambria Math" panose="02040503050406030204" pitchFamily="18" charset="0"/>
                                    </a:rPr>
                                    <m:t>𝑗</m:t>
                                  </m:r>
                                </m:sub>
                              </m:sSub>
                              <m:r>
                                <a:rPr lang="en-US" sz="2250" i="1">
                                  <a:latin typeface="Cambria Math" panose="02040503050406030204" pitchFamily="18" charset="0"/>
                                </a:rPr>
                                <m:t>∉</m:t>
                              </m:r>
                              <m:r>
                                <a:rPr lang="en-US" sz="2250" i="1">
                                  <a:latin typeface="Cambria Math" panose="02040503050406030204" pitchFamily="18" charset="0"/>
                                </a:rPr>
                                <m:t>𝐸</m:t>
                              </m:r>
                              <m:r>
                                <a:rPr lang="en-US" sz="2250" i="1">
                                  <a:latin typeface="Cambria Math" panose="02040503050406030204" pitchFamily="18" charset="0"/>
                                </a:rPr>
                                <m:t>(</m:t>
                              </m:r>
                              <m:r>
                                <a:rPr lang="en-US" sz="2250" i="1">
                                  <a:latin typeface="Cambria Math" panose="02040503050406030204" pitchFamily="18" charset="0"/>
                                </a:rPr>
                                <m:t>𝐺</m:t>
                              </m:r>
                              <m:r>
                                <a:rPr lang="en-US" sz="2250" i="1">
                                  <a:latin typeface="Cambria Math" panose="02040503050406030204" pitchFamily="18" charset="0"/>
                                </a:rPr>
                                <m:t>)</m:t>
                              </m:r>
                            </m:e>
                          </m:eqArr>
                        </m:e>
                      </m:d>
                    </m:oMath>
                  </m:oMathPara>
                </a14:m>
                <a:endParaRPr lang="en-US" sz="2250" dirty="0">
                  <a:latin typeface="Times New Roman" panose="02020603050405020304" pitchFamily="18" charset="0"/>
                  <a:cs typeface="Times New Roman" panose="02020603050405020304" pitchFamily="18" charset="0"/>
                </a:endParaRPr>
              </a:p>
              <a:p>
                <a:endParaRPr lang="en-US" sz="27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920479"/>
                <a:ext cx="8229600" cy="3531395"/>
              </a:xfrm>
              <a:blipFill rotWithShape="0">
                <a:blip r:embed="rId2"/>
                <a:stretch>
                  <a:fillRect l="-963" t="-1209" b="-12781"/>
                </a:stretch>
              </a:blipFill>
            </p:spPr>
            <p:txBody>
              <a:bodyPr/>
              <a:lstStyle/>
              <a:p>
                <a:r>
                  <a:rPr lang="en-IN">
                    <a:noFill/>
                  </a:rPr>
                  <a:t> </a:t>
                </a:r>
              </a:p>
            </p:txBody>
          </p:sp>
        </mc:Fallback>
      </mc:AlternateContent>
    </p:spTree>
    <p:extLst>
      <p:ext uri="{BB962C8B-B14F-4D97-AF65-F5344CB8AC3E}">
        <p14:creationId xmlns:p14="http://schemas.microsoft.com/office/powerpoint/2010/main" val="1669144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700" u="sng" dirty="0">
                <a:solidFill>
                  <a:srgbClr val="FF0000"/>
                </a:solidFill>
                <a:latin typeface="Times New Roman" panose="02020603050405020304" pitchFamily="18" charset="0"/>
                <a:cs typeface="Times New Roman" panose="02020603050405020304" pitchFamily="18" charset="0"/>
              </a:rPr>
              <a:t>Example 1</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Figure  shows the adjacency matrix of a graph G.</a:t>
            </a:r>
          </a:p>
          <a:p>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571409" y="2606489"/>
            <a:ext cx="8001180" cy="2742300"/>
          </a:xfrm>
          <a:prstGeom prst="rect">
            <a:avLst/>
          </a:prstGeom>
          <a:noFill/>
          <a:ln>
            <a:noFill/>
          </a:ln>
        </p:spPr>
      </p:pic>
    </p:spTree>
    <p:extLst>
      <p:ext uri="{BB962C8B-B14F-4D97-AF65-F5344CB8AC3E}">
        <p14:creationId xmlns:p14="http://schemas.microsoft.com/office/powerpoint/2010/main" val="4160904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FF0000"/>
                </a:solidFill>
                <a:latin typeface="Times New Roman" panose="02020603050405020304" pitchFamily="18" charset="0"/>
                <a:cs typeface="Times New Roman" panose="02020603050405020304" pitchFamily="18" charset="0"/>
              </a:rPr>
              <a:t>Example 2 </a:t>
            </a:r>
            <a:br>
              <a:rPr lang="en-US" u="sng" dirty="0">
                <a:solidFill>
                  <a:srgbClr val="FF0000"/>
                </a:solidFill>
                <a:latin typeface="Times New Roman" panose="02020603050405020304" pitchFamily="18" charset="0"/>
                <a:cs typeface="Times New Roman" panose="02020603050405020304" pitchFamily="18" charset="0"/>
              </a:rPr>
            </a:br>
            <a:endParaRPr lang="en-US" u="sng"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401663" y="2147981"/>
            <a:ext cx="6340674" cy="3213309"/>
          </a:xfrm>
          <a:prstGeom prst="rect">
            <a:avLst/>
          </a:prstGeom>
        </p:spPr>
      </p:pic>
    </p:spTree>
    <p:extLst>
      <p:ext uri="{BB962C8B-B14F-4D97-AF65-F5344CB8AC3E}">
        <p14:creationId xmlns:p14="http://schemas.microsoft.com/office/powerpoint/2010/main" val="4092323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solidFill>
                  <a:srgbClr val="FF0000"/>
                </a:solidFill>
                <a:latin typeface="Times New Roman" panose="02020603050405020304" pitchFamily="18" charset="0"/>
                <a:cs typeface="Times New Roman" panose="02020603050405020304" pitchFamily="18" charset="0"/>
              </a:rPr>
              <a:t>Isomorphism</a:t>
            </a:r>
            <a:r>
              <a:rPr lang="en-US" dirty="0"/>
              <a:t> </a:t>
            </a:r>
            <a:br>
              <a:rPr lang="en-US" dirty="0"/>
            </a:b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99805"/>
                <a:ext cx="8229600" cy="3752069"/>
              </a:xfrm>
            </p:spPr>
            <p:txBody>
              <a:bodyPr/>
              <a:lstStyle/>
              <a:p>
                <a:pPr algn="just"/>
                <a:r>
                  <a:rPr lang="en-US" sz="2250" dirty="0">
                    <a:latin typeface="Times New Roman" panose="02020603050405020304" pitchFamily="18" charset="0"/>
                    <a:cs typeface="Times New Roman" panose="02020603050405020304" pitchFamily="18" charset="0"/>
                  </a:rPr>
                  <a:t>Two graphs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𝐺</m:t>
                        </m:r>
                      </m:e>
                      <m:sub>
                        <m:r>
                          <a:rPr lang="en-US" sz="2250" i="1">
                            <a:latin typeface="Cambria Math" panose="02040503050406030204" pitchFamily="18" charset="0"/>
                          </a:rPr>
                          <m:t>1</m:t>
                        </m:r>
                      </m:sub>
                    </m:sSub>
                  </m:oMath>
                </a14:m>
                <a:r>
                  <a:rPr lang="en-US" sz="225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𝐺</m:t>
                        </m:r>
                      </m:e>
                      <m:sub>
                        <m:r>
                          <a:rPr lang="en-US" sz="2250" i="1">
                            <a:latin typeface="Cambria Math" panose="02040503050406030204" pitchFamily="18" charset="0"/>
                          </a:rPr>
                          <m:t>2</m:t>
                        </m:r>
                      </m:sub>
                    </m:sSub>
                  </m:oMath>
                </a14:m>
                <a:r>
                  <a:rPr lang="en-US" sz="2250" dirty="0">
                    <a:latin typeface="Times New Roman" panose="02020603050405020304" pitchFamily="18" charset="0"/>
                    <a:cs typeface="Times New Roman" panose="02020603050405020304" pitchFamily="18" charset="0"/>
                  </a:rPr>
                  <a:t> are isomorphic if there is a one-one correspondence between the vertices of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𝐺</m:t>
                        </m:r>
                      </m:e>
                      <m:sub>
                        <m:r>
                          <a:rPr lang="en-US" sz="2250" i="1">
                            <a:latin typeface="Cambria Math" panose="02040503050406030204" pitchFamily="18" charset="0"/>
                          </a:rPr>
                          <m:t>1</m:t>
                        </m:r>
                      </m:sub>
                    </m:sSub>
                  </m:oMath>
                </a14:m>
                <a:r>
                  <a:rPr lang="en-US" sz="2250" dirty="0">
                    <a:latin typeface="Times New Roman" panose="02020603050405020304" pitchFamily="18" charset="0"/>
                    <a:cs typeface="Times New Roman" panose="02020603050405020304" pitchFamily="18" charset="0"/>
                  </a:rPr>
                  <a:t> and those of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𝐺</m:t>
                        </m:r>
                      </m:e>
                      <m:sub>
                        <m:r>
                          <a:rPr lang="en-US" sz="2250" i="1">
                            <a:latin typeface="Cambria Math" panose="02040503050406030204" pitchFamily="18" charset="0"/>
                          </a:rPr>
                          <m:t>2</m:t>
                        </m:r>
                      </m:sub>
                    </m:sSub>
                  </m:oMath>
                </a14:m>
                <a:r>
                  <a:rPr lang="en-US" sz="2250" dirty="0">
                    <a:latin typeface="Times New Roman" panose="02020603050405020304" pitchFamily="18" charset="0"/>
                    <a:cs typeface="Times New Roman" panose="02020603050405020304" pitchFamily="18" charset="0"/>
                  </a:rPr>
                  <a:t> such that the number of edges joining any two vertices of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𝐺</m:t>
                        </m:r>
                      </m:e>
                      <m:sub>
                        <m:r>
                          <a:rPr lang="en-US" sz="2250" i="1">
                            <a:latin typeface="Cambria Math" panose="02040503050406030204" pitchFamily="18" charset="0"/>
                          </a:rPr>
                          <m:t>1</m:t>
                        </m:r>
                      </m:sub>
                    </m:sSub>
                  </m:oMath>
                </a14:m>
                <a:r>
                  <a:rPr lang="en-US" sz="2250" dirty="0">
                    <a:latin typeface="Times New Roman" panose="02020603050405020304" pitchFamily="18" charset="0"/>
                    <a:cs typeface="Times New Roman" panose="02020603050405020304" pitchFamily="18" charset="0"/>
                  </a:rPr>
                  <a:t> is equal to the number of edges joining the corresponding vertices of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𝐺</m:t>
                        </m:r>
                      </m:e>
                      <m:sub>
                        <m:r>
                          <a:rPr lang="en-US" sz="2250" i="1">
                            <a:latin typeface="Cambria Math" panose="02040503050406030204" pitchFamily="18" charset="0"/>
                          </a:rPr>
                          <m:t>2</m:t>
                        </m:r>
                      </m:sub>
                    </m:sSub>
                  </m:oMath>
                </a14:m>
                <a:r>
                  <a:rPr lang="en-US" sz="2250" dirty="0">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99805"/>
                <a:ext cx="8229600" cy="3752069"/>
              </a:xfrm>
              <a:blipFill rotWithShape="0">
                <a:blip r:embed="rId2"/>
                <a:stretch>
                  <a:fillRect l="-815" t="-1138" r="-963"/>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2473469" y="3522073"/>
            <a:ext cx="4560880" cy="2036864"/>
          </a:xfrm>
          <a:prstGeom prst="rect">
            <a:avLst/>
          </a:prstGeom>
        </p:spPr>
      </p:pic>
    </p:spTree>
    <p:extLst>
      <p:ext uri="{BB962C8B-B14F-4D97-AF65-F5344CB8AC3E}">
        <p14:creationId xmlns:p14="http://schemas.microsoft.com/office/powerpoint/2010/main" val="4220527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43051"/>
            <a:ext cx="8229600" cy="3908823"/>
          </a:xfrm>
        </p:spPr>
        <p:txBody>
          <a:bodyPr/>
          <a:lstStyle/>
          <a:p>
            <a:r>
              <a:rPr lang="en-US" sz="2250" dirty="0">
                <a:latin typeface="Times New Roman" panose="02020603050405020304" pitchFamily="18" charset="0"/>
                <a:cs typeface="Times New Roman" panose="02020603050405020304" pitchFamily="18" charset="0"/>
              </a:rPr>
              <a:t>We have two graphs, each on ten vertices. It is not immediately apparent whether or not these graphs are isomorphic. </a:t>
            </a:r>
          </a:p>
          <a:p>
            <a:pPr marL="0" indent="0">
              <a:buNone/>
            </a:pPr>
            <a:endParaRPr lang="en-US" dirty="0"/>
          </a:p>
        </p:txBody>
      </p:sp>
      <p:pic>
        <p:nvPicPr>
          <p:cNvPr id="4" name="Picture 3"/>
          <p:cNvPicPr>
            <a:picLocks noChangeAspect="1"/>
          </p:cNvPicPr>
          <p:nvPr/>
        </p:nvPicPr>
        <p:blipFill>
          <a:blip r:embed="rId2"/>
          <a:stretch>
            <a:fillRect/>
          </a:stretch>
        </p:blipFill>
        <p:spPr>
          <a:xfrm>
            <a:off x="1983775" y="2618495"/>
            <a:ext cx="5176449" cy="2659503"/>
          </a:xfrm>
          <a:prstGeom prst="rect">
            <a:avLst/>
          </a:prstGeom>
        </p:spPr>
      </p:pic>
    </p:spTree>
    <p:extLst>
      <p:ext uri="{BB962C8B-B14F-4D97-AF65-F5344CB8AC3E}">
        <p14:creationId xmlns:p14="http://schemas.microsoft.com/office/powerpoint/2010/main" val="2161060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Times New Roman" panose="02020603050405020304" pitchFamily="18" charset="0"/>
                <a:cs typeface="Times New Roman" panose="02020603050405020304" pitchFamily="18" charset="0"/>
              </a:rPr>
              <a:t>Euler Paths and Circuits</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An Euler path, in a graph, is a walk through the graph which uses every edge exactly once. </a:t>
            </a:r>
          </a:p>
          <a:p>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Euler circuit is an Euler path which starts and stops at the same vertex. Our goal is to find a quick way to check whether a graph has an Euler path or circuit.</a:t>
            </a:r>
          </a:p>
          <a:p>
            <a:pPr marL="0" indent="0">
              <a:buNone/>
            </a:pP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5661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anim calcmode="lin" valueType="num">
                                      <p:cBhvr>
                                        <p:cTn id="1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499416"/>
          </a:xfrm>
        </p:spPr>
        <p:txBody>
          <a:bodyPr/>
          <a:lstStyle/>
          <a:p>
            <a:r>
              <a:rPr lang="en-US" sz="2400" b="1" u="sng" dirty="0">
                <a:solidFill>
                  <a:srgbClr val="FF0000"/>
                </a:solidFill>
                <a:latin typeface="Times New Roman" panose="02020603050405020304" pitchFamily="18" charset="0"/>
                <a:cs typeface="Times New Roman" panose="02020603050405020304" pitchFamily="18" charset="0"/>
              </a:rPr>
              <a:t>Euler path &amp; Euler Circuit</a:t>
            </a:r>
          </a:p>
        </p:txBody>
      </p:sp>
      <p:sp>
        <p:nvSpPr>
          <p:cNvPr id="3" name="Content Placeholder 2"/>
          <p:cNvSpPr>
            <a:spLocks noGrp="1"/>
          </p:cNvSpPr>
          <p:nvPr>
            <p:ph idx="1"/>
          </p:nvPr>
        </p:nvSpPr>
        <p:spPr>
          <a:xfrm>
            <a:off x="457200" y="1562645"/>
            <a:ext cx="8229600" cy="3889229"/>
          </a:xfrm>
        </p:spPr>
        <p:txBody>
          <a:bodyPr/>
          <a:lstStyle/>
          <a:p>
            <a:pPr marL="0" indent="0" algn="just">
              <a:buNone/>
            </a:pPr>
            <a:r>
              <a:rPr lang="en-US" sz="2250" dirty="0">
                <a:latin typeface="Times New Roman" panose="02020603050405020304" pitchFamily="18" charset="0"/>
                <a:cs typeface="Times New Roman" panose="02020603050405020304" pitchFamily="18" charset="0"/>
              </a:rPr>
              <a:t>If we start at a vertex and trace along edges to get to other vertices, we create a </a:t>
            </a:r>
            <a:r>
              <a:rPr lang="en-US" sz="2250" i="1" dirty="0">
                <a:latin typeface="Times New Roman" panose="02020603050405020304" pitchFamily="18" charset="0"/>
                <a:cs typeface="Times New Roman" panose="02020603050405020304" pitchFamily="18" charset="0"/>
              </a:rPr>
              <a:t>walk</a:t>
            </a:r>
            <a:r>
              <a:rPr lang="en-US" sz="2250" dirty="0">
                <a:latin typeface="Times New Roman" panose="02020603050405020304" pitchFamily="18" charset="0"/>
                <a:cs typeface="Times New Roman" panose="02020603050405020304" pitchFamily="18" charset="0"/>
              </a:rPr>
              <a:t> through the graph. More precisely, a walk in a graph is a sequence of vertices such that every vertex in the sequence is adjacent to the vertices before and after it in the sequence. If the walk travels along every edge exactly once, then the walk is called an Euler path (or Euler walk). </a:t>
            </a:r>
          </a:p>
          <a:p>
            <a:pPr marL="0" indent="0" algn="just">
              <a:buNone/>
            </a:pPr>
            <a:endParaRPr lang="en-US" sz="2250" dirty="0">
              <a:latin typeface="Times New Roman" panose="02020603050405020304" pitchFamily="18" charset="0"/>
              <a:cs typeface="Times New Roman" panose="02020603050405020304" pitchFamily="18" charset="0"/>
            </a:endParaRPr>
          </a:p>
          <a:p>
            <a:pPr marL="0" indent="0" algn="just">
              <a:buNone/>
            </a:pPr>
            <a:r>
              <a:rPr lang="en-US" sz="2250" dirty="0">
                <a:latin typeface="Times New Roman" panose="02020603050405020304" pitchFamily="18" charset="0"/>
                <a:cs typeface="Times New Roman" panose="02020603050405020304" pitchFamily="18" charset="0"/>
              </a:rPr>
              <a:t>If, in addition, the starting and ending vertices are the same (so you trace along every edge exactly once and end up where you started), then the walk is called an </a:t>
            </a:r>
            <a:r>
              <a:rPr lang="en-US" sz="2250" i="1" dirty="0">
                <a:latin typeface="Times New Roman" panose="02020603050405020304" pitchFamily="18" charset="0"/>
                <a:cs typeface="Times New Roman" panose="02020603050405020304" pitchFamily="18" charset="0"/>
              </a:rPr>
              <a:t>Euler circuit</a:t>
            </a:r>
            <a:r>
              <a:rPr lang="en-US" sz="2250" dirty="0">
                <a:latin typeface="Times New Roman" panose="02020603050405020304" pitchFamily="18" charset="0"/>
                <a:cs typeface="Times New Roman" panose="02020603050405020304" pitchFamily="18" charset="0"/>
              </a:rPr>
              <a:t> (or Euler tour). Of course if a graph is not connected, there is no hope of finding such a path or circuit. </a:t>
            </a:r>
          </a:p>
          <a:p>
            <a:endParaRPr lang="en-US" sz="22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012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barn(inVertical)">
                                      <p:cBhvr>
                                        <p:cTn id="14"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Times New Roman" panose="02020603050405020304" pitchFamily="18" charset="0"/>
                <a:cs typeface="Times New Roman" panose="02020603050405020304" pitchFamily="18" charset="0"/>
              </a:rPr>
              <a:t>Examples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sz="2250" dirty="0">
                    <a:latin typeface="Times New Roman" panose="02020603050405020304" pitchFamily="18" charset="0"/>
                    <a:cs typeface="Times New Roman" panose="02020603050405020304" pitchFamily="18" charset="0"/>
                  </a:rPr>
                  <a:t>The graph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𝐺</m:t>
                        </m:r>
                      </m:e>
                      <m:sub>
                        <m:r>
                          <a:rPr lang="en-US" sz="2250" i="1">
                            <a:latin typeface="Cambria Math" panose="02040503050406030204" pitchFamily="18" charset="0"/>
                          </a:rPr>
                          <m:t>1</m:t>
                        </m:r>
                      </m:sub>
                    </m:sSub>
                  </m:oMath>
                </a14:m>
                <a:r>
                  <a:rPr lang="en-US" sz="2250" dirty="0">
                    <a:latin typeface="Times New Roman" panose="02020603050405020304" pitchFamily="18" charset="0"/>
                    <a:cs typeface="Times New Roman" panose="02020603050405020304" pitchFamily="18" charset="0"/>
                  </a:rPr>
                  <a:t> of Figure  contains an Eulerian trail while </a:t>
                </a:r>
                <a14:m>
                  <m:oMath xmlns:m="http://schemas.openxmlformats.org/officeDocument/2006/math">
                    <m:sSub>
                      <m:sSubPr>
                        <m:ctrlPr>
                          <a:rPr lang="en-US" sz="2250" i="1">
                            <a:latin typeface="Cambria Math" panose="02040503050406030204" pitchFamily="18" charset="0"/>
                          </a:rPr>
                        </m:ctrlPr>
                      </m:sSubPr>
                      <m:e>
                        <m:r>
                          <a:rPr lang="en-US" sz="2250" i="1">
                            <a:latin typeface="Cambria Math" panose="02040503050406030204" pitchFamily="18" charset="0"/>
                          </a:rPr>
                          <m:t>𝐺</m:t>
                        </m:r>
                      </m:e>
                      <m:sub>
                        <m:r>
                          <a:rPr lang="en-US" sz="2250" i="1">
                            <a:latin typeface="Cambria Math" panose="02040503050406030204" pitchFamily="18" charset="0"/>
                          </a:rPr>
                          <m:t>2</m:t>
                        </m:r>
                      </m:sub>
                    </m:sSub>
                  </m:oMath>
                </a14:m>
                <a:r>
                  <a:rPr lang="en-US" sz="2250" dirty="0">
                    <a:latin typeface="Times New Roman" panose="02020603050405020304" pitchFamily="18" charset="0"/>
                    <a:cs typeface="Times New Roman" panose="02020603050405020304" pitchFamily="18" charset="0"/>
                  </a:rPr>
                  <a:t> contains an Eulerian circuit.</a:t>
                </a:r>
              </a:p>
              <a:p>
                <a:endParaRPr lang="en-US" sz="225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63" t="-943"/>
                </a:stretch>
              </a:blipFill>
            </p:spPr>
            <p:txBody>
              <a:bodyPr/>
              <a:lstStyle/>
              <a:p>
                <a:r>
                  <a:rPr lang="en-IN">
                    <a:noFill/>
                  </a:rPr>
                  <a:t> </a:t>
                </a:r>
              </a:p>
            </p:txBody>
          </p:sp>
        </mc:Fallback>
      </mc:AlternateContent>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1287298" y="2419715"/>
            <a:ext cx="6569402" cy="2424972"/>
          </a:xfrm>
          <a:prstGeom prst="rect">
            <a:avLst/>
          </a:prstGeom>
          <a:noFill/>
          <a:ln>
            <a:noFill/>
          </a:ln>
        </p:spPr>
      </p:pic>
      <p:sp>
        <p:nvSpPr>
          <p:cNvPr id="6" name="Rectangle 5"/>
          <p:cNvSpPr/>
          <p:nvPr/>
        </p:nvSpPr>
        <p:spPr>
          <a:xfrm>
            <a:off x="1126672" y="4999102"/>
            <a:ext cx="6505303" cy="646331"/>
          </a:xfrm>
          <a:prstGeom prst="rect">
            <a:avLst/>
          </a:prstGeom>
        </p:spPr>
        <p:txBody>
          <a:bodyPr wrap="square">
            <a:spAutoFit/>
          </a:bodyPr>
          <a:lstStyle/>
          <a:p>
            <a:pPr algn="ctr"/>
            <a:r>
              <a:rPr lang="en-US" sz="1800" dirty="0">
                <a:latin typeface="Times New Roman" panose="02020603050405020304" pitchFamily="18" charset="0"/>
                <a:ea typeface="Times New Roman" panose="02020603050405020304" pitchFamily="18" charset="0"/>
                <a:cs typeface="Calibri" panose="020F0502020204030204" pitchFamily="34" charset="0"/>
              </a:rPr>
              <a:t>Figure : Graphs with Eulerian trails and Eulerian circuits</a:t>
            </a:r>
            <a:endParaRPr lang="en-US" sz="1800" dirty="0">
              <a:latin typeface="Calibri" panose="020F0502020204030204" pitchFamily="34" charset="0"/>
              <a:ea typeface="Times New Roman" panose="02020603050405020304" pitchFamily="18" charset="0"/>
              <a:cs typeface="Calibri" panose="020F0502020204030204" pitchFamily="34" charset="0"/>
            </a:endParaRPr>
          </a:p>
          <a:p>
            <a:pPr algn="ctr"/>
            <a:r>
              <a:rPr lang="en-US" sz="1800" dirty="0">
                <a:latin typeface="Times New Roman" panose="02020603050405020304" pitchFamily="18" charset="0"/>
                <a:ea typeface="Times New Roman" panose="02020603050405020304" pitchFamily="18" charset="0"/>
                <a:cs typeface="Calibri" panose="020F0502020204030204" pitchFamily="34" charset="0"/>
              </a:rPr>
              <a:t> </a:t>
            </a:r>
            <a:endParaRPr lang="en-US" sz="18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333546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700" b="1" u="sng" dirty="0">
                <a:solidFill>
                  <a:srgbClr val="FF0000"/>
                </a:solidFill>
                <a:latin typeface="Times New Roman" panose="02020603050405020304" pitchFamily="18" charset="0"/>
                <a:cs typeface="Times New Roman" panose="02020603050405020304" pitchFamily="18" charset="0"/>
              </a:rPr>
              <a:t>Euler’s Theorem</a:t>
            </a:r>
            <a:br>
              <a:rPr lang="en-US" sz="2700" b="1" u="sng" dirty="0">
                <a:solidFill>
                  <a:srgbClr val="FF0000"/>
                </a:solidFill>
                <a:latin typeface="Times New Roman" panose="02020603050405020304" pitchFamily="18" charset="0"/>
                <a:cs typeface="Times New Roman" panose="02020603050405020304" pitchFamily="18" charset="0"/>
              </a:rPr>
            </a:br>
            <a:endParaRPr lang="en-US" sz="2700" b="1" u="sng"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A connected graph containing an Eulerian circuit is an Eulerian graph. Thus, the graph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2</m:t>
                        </m:r>
                      </m:sub>
                    </m:sSub>
                  </m:oMath>
                </a14:m>
                <a:r>
                  <a:rPr lang="en-US" dirty="0">
                    <a:latin typeface="Times New Roman" panose="02020603050405020304" pitchFamily="18" charset="0"/>
                    <a:cs typeface="Times New Roman" panose="02020603050405020304" pitchFamily="18" charset="0"/>
                  </a:rPr>
                  <a:t> of is Eulerian. Simple but useful characterizations of both Eulerian graphs and graphs with Eulerian trails exist; </a:t>
                </a:r>
              </a:p>
              <a:p>
                <a:pPr marL="0" indent="0">
                  <a:buNone/>
                </a:pPr>
                <a:r>
                  <a:rPr lang="en-US" dirty="0">
                    <a:solidFill>
                      <a:srgbClr val="FF0000"/>
                    </a:solidFill>
                    <a:latin typeface="Times New Roman" panose="02020603050405020304" pitchFamily="18" charset="0"/>
                    <a:cs typeface="Times New Roman" panose="02020603050405020304" pitchFamily="18" charset="0"/>
                  </a:rPr>
                  <a:t>Theorem :  </a:t>
                </a:r>
                <a:r>
                  <a:rPr lang="en-US" dirty="0">
                    <a:latin typeface="Times New Roman" panose="02020603050405020304" pitchFamily="18" charset="0"/>
                    <a:cs typeface="Times New Roman" panose="02020603050405020304" pitchFamily="18" charset="0"/>
                  </a:rPr>
                  <a:t>A nontrivial connected graph G is Eulerian if and only if every vertex of G has even degree.</a:t>
                </a:r>
              </a:p>
              <a:p>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852" t="-1887" r="-1852"/>
                </a:stretch>
              </a:blipFill>
            </p:spPr>
            <p:txBody>
              <a:bodyPr/>
              <a:lstStyle/>
              <a:p>
                <a:r>
                  <a:rPr lang="en-IN">
                    <a:noFill/>
                  </a:rPr>
                  <a:t> </a:t>
                </a:r>
              </a:p>
            </p:txBody>
          </p:sp>
        </mc:Fallback>
      </mc:AlternateContent>
    </p:spTree>
    <p:extLst>
      <p:ext uri="{BB962C8B-B14F-4D97-AF65-F5344CB8AC3E}">
        <p14:creationId xmlns:p14="http://schemas.microsoft.com/office/powerpoint/2010/main" val="2792423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sz="2700" u="sng" dirty="0">
                    <a:solidFill>
                      <a:srgbClr val="FF0000"/>
                    </a:solidFill>
                    <a:latin typeface="Times New Roman" panose="02020603050405020304" pitchFamily="18" charset="0"/>
                    <a:cs typeface="Times New Roman" panose="02020603050405020304" pitchFamily="18" charset="0"/>
                  </a:rPr>
                  <a:t>The K</a:t>
                </a:r>
                <a14:m>
                  <m:oMath xmlns:m="http://schemas.openxmlformats.org/officeDocument/2006/math">
                    <m:acc>
                      <m:accPr>
                        <m:chr m:val="̈"/>
                        <m:ctrlPr>
                          <a:rPr lang="en-US" sz="2700" i="1" u="sng">
                            <a:solidFill>
                              <a:srgbClr val="FF0000"/>
                            </a:solidFill>
                            <a:latin typeface="Cambria Math" panose="02040503050406030204" pitchFamily="18" charset="0"/>
                          </a:rPr>
                        </m:ctrlPr>
                      </m:accPr>
                      <m:e>
                        <m:r>
                          <a:rPr lang="en-US" sz="2700" i="1" u="sng">
                            <a:solidFill>
                              <a:srgbClr val="FF0000"/>
                            </a:solidFill>
                            <a:latin typeface="Cambria Math" panose="02040503050406030204" pitchFamily="18" charset="0"/>
                          </a:rPr>
                          <m:t>𝑜</m:t>
                        </m:r>
                      </m:e>
                    </m:acc>
                  </m:oMath>
                </a14:m>
                <a:r>
                  <a:rPr lang="en-US" sz="2700" u="sng" dirty="0" err="1">
                    <a:solidFill>
                      <a:srgbClr val="FF0000"/>
                    </a:solidFill>
                    <a:latin typeface="Times New Roman" panose="02020603050405020304" pitchFamily="18" charset="0"/>
                    <a:cs typeface="Times New Roman" panose="02020603050405020304" pitchFamily="18" charset="0"/>
                  </a:rPr>
                  <a:t>nigsberg</a:t>
                </a:r>
                <a:r>
                  <a:rPr lang="en-US" sz="2700" u="sng" dirty="0">
                    <a:solidFill>
                      <a:srgbClr val="FF0000"/>
                    </a:solidFill>
                    <a:latin typeface="Times New Roman" panose="02020603050405020304" pitchFamily="18" charset="0"/>
                    <a:cs typeface="Times New Roman" panose="02020603050405020304" pitchFamily="18" charset="0"/>
                  </a:rPr>
                  <a:t> Bridge problem</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2"/>
                <a:stretch>
                  <a:fillRect/>
                </a:stretch>
              </a:blipFill>
            </p:spPr>
            <p:txBody>
              <a:bodyPr/>
              <a:lstStyle/>
              <a:p>
                <a:r>
                  <a:rPr lang="en-IN">
                    <a:noFill/>
                  </a:rPr>
                  <a:t> </a:t>
                </a:r>
              </a:p>
            </p:txBody>
          </p:sp>
        </mc:Fallback>
      </mc:AlternateContent>
      <p:pic>
        <p:nvPicPr>
          <p:cNvPr id="4" name="Content Placeholder 3"/>
          <p:cNvPicPr>
            <a:picLocks noGrp="1" noChangeAspect="1"/>
          </p:cNvPicPr>
          <p:nvPr>
            <p:ph idx="1"/>
          </p:nvPr>
        </p:nvPicPr>
        <p:blipFill>
          <a:blip r:embed="rId3"/>
          <a:stretch>
            <a:fillRect/>
          </a:stretch>
        </p:blipFill>
        <p:spPr>
          <a:xfrm>
            <a:off x="711390" y="2434590"/>
            <a:ext cx="3096960" cy="2301322"/>
          </a:xfrm>
          <a:prstGeom prst="rect">
            <a:avLst/>
          </a:prstGeom>
        </p:spPr>
      </p:pic>
      <p:pic>
        <p:nvPicPr>
          <p:cNvPr id="5" name="Picture 4"/>
          <p:cNvPicPr>
            <a:picLocks noChangeAspect="1"/>
          </p:cNvPicPr>
          <p:nvPr/>
        </p:nvPicPr>
        <p:blipFill>
          <a:blip r:embed="rId4"/>
          <a:stretch>
            <a:fillRect/>
          </a:stretch>
        </p:blipFill>
        <p:spPr>
          <a:xfrm>
            <a:off x="4606301" y="2311864"/>
            <a:ext cx="2792165" cy="2234272"/>
          </a:xfrm>
          <a:prstGeom prst="rect">
            <a:avLst/>
          </a:prstGeom>
        </p:spPr>
      </p:pic>
    </p:spTree>
    <p:extLst>
      <p:ext uri="{BB962C8B-B14F-4D97-AF65-F5344CB8AC3E}">
        <p14:creationId xmlns:p14="http://schemas.microsoft.com/office/powerpoint/2010/main" val="4008002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Times New Roman" panose="02020603050405020304" pitchFamily="18" charset="0"/>
                <a:cs typeface="Times New Roman" panose="02020603050405020304" pitchFamily="18" charset="0"/>
              </a:rPr>
              <a:t>Hamiltonian graph</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Let G be a graph. A path in G that contains every vertex of G is called a Hamiltonian path of G, while a cycle in G that contains every vertex of G is called a Hamiltonian cycle of G.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graph that contains a Hamiltonian cycle is itself called Hamiltonian. </a:t>
            </a:r>
          </a:p>
          <a:p>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3321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8680"/>
            <a:ext cx="8229600" cy="303473"/>
          </a:xfrm>
        </p:spPr>
        <p:txBody>
          <a:bodyPr/>
          <a:lstStyle/>
          <a:p>
            <a:r>
              <a:rPr lang="en-US" b="1" u="sng" dirty="0">
                <a:solidFill>
                  <a:srgbClr val="FF0000"/>
                </a:solidFill>
                <a:latin typeface="Times New Roman" panose="02020603050405020304" pitchFamily="18" charset="0"/>
                <a:cs typeface="Times New Roman" panose="02020603050405020304" pitchFamily="18" charset="0"/>
              </a:rPr>
              <a:t>Examples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94065"/>
                <a:ext cx="8229600" cy="3957809"/>
              </a:xfrm>
            </p:spPr>
            <p:txBody>
              <a:bodyPr/>
              <a:lstStyle/>
              <a:p>
                <a:pPr algn="just"/>
                <a:r>
                  <a:rPr lang="en-US" sz="1950" dirty="0"/>
                  <a:t>The graph </a:t>
                </a:r>
                <a14:m>
                  <m:oMath xmlns:m="http://schemas.openxmlformats.org/officeDocument/2006/math">
                    <m:sSub>
                      <m:sSubPr>
                        <m:ctrlPr>
                          <a:rPr lang="en-US" sz="1950" i="1">
                            <a:latin typeface="Cambria Math" panose="02040503050406030204" pitchFamily="18" charset="0"/>
                          </a:rPr>
                        </m:ctrlPr>
                      </m:sSubPr>
                      <m:e>
                        <m:r>
                          <a:rPr lang="en-US" sz="1950" i="1">
                            <a:latin typeface="Cambria Math" panose="02040503050406030204" pitchFamily="18" charset="0"/>
                          </a:rPr>
                          <m:t>𝐺</m:t>
                        </m:r>
                      </m:e>
                      <m:sub>
                        <m:r>
                          <a:rPr lang="en-US" sz="1950" i="1">
                            <a:latin typeface="Cambria Math" panose="02040503050406030204" pitchFamily="18" charset="0"/>
                          </a:rPr>
                          <m:t>1</m:t>
                        </m:r>
                      </m:sub>
                    </m:sSub>
                  </m:oMath>
                </a14:m>
                <a:r>
                  <a:rPr lang="en-US" sz="1950" dirty="0"/>
                  <a:t> of Figure is Hamiltonian and therefore contains both a Hamiltonian cycle and a Hamiltonian path. The graph </a:t>
                </a:r>
                <a14:m>
                  <m:oMath xmlns:m="http://schemas.openxmlformats.org/officeDocument/2006/math">
                    <m:sSub>
                      <m:sSubPr>
                        <m:ctrlPr>
                          <a:rPr lang="en-US" sz="1950" i="1">
                            <a:latin typeface="Cambria Math" panose="02040503050406030204" pitchFamily="18" charset="0"/>
                          </a:rPr>
                        </m:ctrlPr>
                      </m:sSubPr>
                      <m:e>
                        <m:r>
                          <a:rPr lang="en-US" sz="1950" i="1">
                            <a:latin typeface="Cambria Math" panose="02040503050406030204" pitchFamily="18" charset="0"/>
                          </a:rPr>
                          <m:t>𝐺</m:t>
                        </m:r>
                      </m:e>
                      <m:sub>
                        <m:r>
                          <a:rPr lang="en-US" sz="1950" i="1">
                            <a:latin typeface="Cambria Math" panose="02040503050406030204" pitchFamily="18" charset="0"/>
                          </a:rPr>
                          <m:t>2</m:t>
                        </m:r>
                      </m:sub>
                    </m:sSub>
                  </m:oMath>
                </a14:m>
                <a:r>
                  <a:rPr lang="en-US" sz="1950" dirty="0"/>
                  <a:t> contains a Hamiltonian path but is not Hamiltonian; while </a:t>
                </a:r>
                <a14:m>
                  <m:oMath xmlns:m="http://schemas.openxmlformats.org/officeDocument/2006/math">
                    <m:sSub>
                      <m:sSubPr>
                        <m:ctrlPr>
                          <a:rPr lang="en-US" sz="1950" i="1">
                            <a:latin typeface="Cambria Math" panose="02040503050406030204" pitchFamily="18" charset="0"/>
                          </a:rPr>
                        </m:ctrlPr>
                      </m:sSubPr>
                      <m:e>
                        <m:r>
                          <a:rPr lang="en-US" sz="1950" i="1">
                            <a:latin typeface="Cambria Math" panose="02040503050406030204" pitchFamily="18" charset="0"/>
                          </a:rPr>
                          <m:t>𝐺</m:t>
                        </m:r>
                      </m:e>
                      <m:sub>
                        <m:r>
                          <a:rPr lang="en-US" sz="1950" i="1">
                            <a:latin typeface="Cambria Math" panose="02040503050406030204" pitchFamily="18" charset="0"/>
                          </a:rPr>
                          <m:t>3</m:t>
                        </m:r>
                      </m:sub>
                    </m:sSub>
                  </m:oMath>
                </a14:m>
                <a:r>
                  <a:rPr lang="en-US" sz="1950" dirty="0"/>
                  <a:t> contains neither a Hamiltonian cycle nor a Hamiltonian path.</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94065"/>
                <a:ext cx="8229600" cy="3957809"/>
              </a:xfrm>
              <a:blipFill rotWithShape="0">
                <a:blip r:embed="rId2"/>
                <a:stretch>
                  <a:fillRect l="-741" t="-924" r="-741"/>
                </a:stretch>
              </a:blipFill>
            </p:spPr>
            <p:txBody>
              <a:bodyPr/>
              <a:lstStyle/>
              <a:p>
                <a:r>
                  <a:rPr lang="en-IN">
                    <a:noFill/>
                  </a:rPr>
                  <a:t> </a:t>
                </a:r>
              </a:p>
            </p:txBody>
          </p:sp>
        </mc:Fallback>
      </mc:AlternateContent>
      <p:pic>
        <p:nvPicPr>
          <p:cNvPr id="4" name="Picture 3"/>
          <p:cNvPicPr/>
          <p:nvPr/>
        </p:nvPicPr>
        <p:blipFill>
          <a:blip r:embed="rId3">
            <a:extLst>
              <a:ext uri="{28A0092B-C50C-407E-A947-70E740481C1C}">
                <a14:useLocalDpi xmlns:a14="http://schemas.microsoft.com/office/drawing/2010/main" val="0"/>
              </a:ext>
            </a:extLst>
          </a:blip>
          <a:srcRect/>
          <a:stretch>
            <a:fillRect/>
          </a:stretch>
        </p:blipFill>
        <p:spPr bwMode="auto">
          <a:xfrm>
            <a:off x="1523154" y="3139985"/>
            <a:ext cx="6097693" cy="2439253"/>
          </a:xfrm>
          <a:prstGeom prst="rect">
            <a:avLst/>
          </a:prstGeom>
          <a:noFill/>
          <a:ln>
            <a:noFill/>
          </a:ln>
        </p:spPr>
      </p:pic>
    </p:spTree>
    <p:extLst>
      <p:ext uri="{BB962C8B-B14F-4D97-AF65-F5344CB8AC3E}">
        <p14:creationId xmlns:p14="http://schemas.microsoft.com/office/powerpoint/2010/main" val="100838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Times New Roman" panose="02020603050405020304" pitchFamily="18" charset="0"/>
                <a:cs typeface="Times New Roman" panose="02020603050405020304" pitchFamily="18" charset="0"/>
              </a:rPr>
              <a:t>Remark</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Certainly, the order of every Hamiltonian graph is at least 3 and every Hamiltonian graph contains a Hamiltonian path.</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On the other hand, a graph with a Hamiltonian path need not be Hamiltonian.</a:t>
            </a:r>
          </a:p>
          <a:p>
            <a:endParaRPr lang="en-US" dirty="0"/>
          </a:p>
        </p:txBody>
      </p:sp>
    </p:spTree>
    <p:extLst>
      <p:ext uri="{BB962C8B-B14F-4D97-AF65-F5344CB8AC3E}">
        <p14:creationId xmlns:p14="http://schemas.microsoft.com/office/powerpoint/2010/main" val="698375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Times New Roman" panose="02020603050405020304" pitchFamily="18" charset="0"/>
                <a:cs typeface="Times New Roman" panose="02020603050405020304" pitchFamily="18" charset="0"/>
              </a:rPr>
              <a:t>Remark</a:t>
            </a:r>
            <a:endParaRPr lang="en-US" dirty="0"/>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Hamiltonian does not involve the degrees of the vertices of G but, rather, involves the cardinality of sets of pairwise nonadjacent vertices of a graph and its connectivity.</a:t>
            </a:r>
          </a:p>
          <a:p>
            <a:endParaRPr lang="en-US" dirty="0"/>
          </a:p>
        </p:txBody>
      </p:sp>
    </p:spTree>
    <p:extLst>
      <p:ext uri="{BB962C8B-B14F-4D97-AF65-F5344CB8AC3E}">
        <p14:creationId xmlns:p14="http://schemas.microsoft.com/office/powerpoint/2010/main" val="2815926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92357"/>
            <a:ext cx="6858000" cy="771525"/>
          </a:xfrm>
        </p:spPr>
        <p:txBody>
          <a:bodyPr>
            <a:normAutofit/>
          </a:bodyPr>
          <a:lstStyle/>
          <a:p>
            <a:r>
              <a:rPr lang="en-US" sz="3000" b="1" u="sng" dirty="0">
                <a:solidFill>
                  <a:srgbClr val="FF0000"/>
                </a:solidFill>
                <a:latin typeface="Times New Roman" panose="02020603050405020304" pitchFamily="18" charset="0"/>
                <a:cs typeface="Times New Roman" panose="02020603050405020304" pitchFamily="18" charset="0"/>
              </a:rPr>
              <a:t>Online resources</a:t>
            </a:r>
            <a:endParaRPr lang="en-IN" sz="3000" dirty="0"/>
          </a:p>
        </p:txBody>
      </p:sp>
      <p:sp>
        <p:nvSpPr>
          <p:cNvPr id="3" name="Subtitle 2"/>
          <p:cNvSpPr>
            <a:spLocks noGrp="1"/>
          </p:cNvSpPr>
          <p:nvPr>
            <p:ph type="subTitle" idx="1"/>
          </p:nvPr>
        </p:nvSpPr>
        <p:spPr>
          <a:xfrm>
            <a:off x="1143000" y="2569044"/>
            <a:ext cx="6858000" cy="1241822"/>
          </a:xfrm>
        </p:spPr>
        <p:txBody>
          <a:bodyPr/>
          <a:lstStyle/>
          <a:p>
            <a:r>
              <a:rPr lang="en-US" dirty="0"/>
              <a:t>For further details click : Graph Theory - Interactive</a:t>
            </a:r>
          </a:p>
          <a:p>
            <a:endParaRPr lang="en-US" dirty="0"/>
          </a:p>
          <a:p>
            <a:r>
              <a:rPr lang="en-US" dirty="0">
                <a:hlinkClick r:id="rId2"/>
              </a:rPr>
              <a:t>https://d3gt.com/</a:t>
            </a:r>
            <a:endParaRPr lang="en-US" dirty="0"/>
          </a:p>
          <a:p>
            <a:endParaRPr lang="en-IN" dirty="0"/>
          </a:p>
        </p:txBody>
      </p:sp>
    </p:spTree>
    <p:extLst>
      <p:ext uri="{BB962C8B-B14F-4D97-AF65-F5344CB8AC3E}">
        <p14:creationId xmlns:p14="http://schemas.microsoft.com/office/powerpoint/2010/main" val="78096752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2681</TotalTime>
  <Words>1567</Words>
  <Application>Microsoft Office PowerPoint</Application>
  <PresentationFormat>On-screen Show (4:3)</PresentationFormat>
  <Paragraphs>124</Paragraphs>
  <Slides>27</Slides>
  <Notes>6</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8" baseType="lpstr">
      <vt:lpstr>Arial</vt:lpstr>
      <vt:lpstr>Calibri</vt:lpstr>
      <vt:lpstr>Cambria Math</vt:lpstr>
      <vt:lpstr>CMSS10</vt:lpstr>
      <vt:lpstr>Marker Felt</vt:lpstr>
      <vt:lpstr>Tahoma</vt:lpstr>
      <vt:lpstr>Times New Roman</vt:lpstr>
      <vt:lpstr>Verdana</vt:lpstr>
      <vt:lpstr>Wingdings</vt:lpstr>
      <vt:lpstr>Default Design</vt:lpstr>
      <vt:lpstr>Equation</vt:lpstr>
      <vt:lpstr>PowerPoint Presentation</vt:lpstr>
      <vt:lpstr>Euler and Seven Bridges of Konigsberg</vt:lpstr>
      <vt:lpstr>Euler and Seven Bridges of Konigsberg</vt:lpstr>
      <vt:lpstr>Graph Model</vt:lpstr>
      <vt:lpstr>What is Graph?....</vt:lpstr>
      <vt:lpstr>Graph Terminologies</vt:lpstr>
      <vt:lpstr>Example for the degree of a graph</vt:lpstr>
      <vt:lpstr>Graph Terminologies-Contd.</vt:lpstr>
      <vt:lpstr>Graph Terminologies-Contd.</vt:lpstr>
      <vt:lpstr>Examples - Subgraphs</vt:lpstr>
      <vt:lpstr>Directed weighted Graph</vt:lpstr>
      <vt:lpstr>Graph Terminologies-Contd.</vt:lpstr>
      <vt:lpstr> The Adjacency Matrix of a Graph   </vt:lpstr>
      <vt:lpstr>Example 1</vt:lpstr>
      <vt:lpstr>Example 2  </vt:lpstr>
      <vt:lpstr>Isomorphism  </vt:lpstr>
      <vt:lpstr>PowerPoint Presentation</vt:lpstr>
      <vt:lpstr>Euler Paths and Circuits </vt:lpstr>
      <vt:lpstr>Euler path &amp; Euler Circuit</vt:lpstr>
      <vt:lpstr>Examples</vt:lpstr>
      <vt:lpstr>Euler’s Theorem </vt:lpstr>
      <vt:lpstr>The Ko ̈nigsberg Bridge problem</vt:lpstr>
      <vt:lpstr>Hamiltonian graph </vt:lpstr>
      <vt:lpstr>Examples</vt:lpstr>
      <vt:lpstr>Remark </vt:lpstr>
      <vt:lpstr>Remark</vt:lpstr>
      <vt:lpstr>Online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AA</dc:creator>
  <cp:lastModifiedBy>Rajalaxmi Tm</cp:lastModifiedBy>
  <cp:revision>571</cp:revision>
  <dcterms:created xsi:type="dcterms:W3CDTF">2006-09-22T10:59:01Z</dcterms:created>
  <dcterms:modified xsi:type="dcterms:W3CDTF">2021-10-26T06:26:01Z</dcterms:modified>
</cp:coreProperties>
</file>