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0"/>
  </p:notesMasterIdLst>
  <p:handoutMasterIdLst>
    <p:handoutMasterId r:id="rId11"/>
  </p:handoutMasterIdLst>
  <p:sldIdLst>
    <p:sldId id="631" r:id="rId2"/>
    <p:sldId id="702" r:id="rId3"/>
    <p:sldId id="706" r:id="rId4"/>
    <p:sldId id="707" r:id="rId5"/>
    <p:sldId id="709" r:id="rId6"/>
    <p:sldId id="710" r:id="rId7"/>
    <p:sldId id="711" r:id="rId8"/>
    <p:sldId id="712" r:id="rId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C90"/>
    <a:srgbClr val="C0309A"/>
    <a:srgbClr val="66CCFF"/>
    <a:srgbClr val="90B0D4"/>
    <a:srgbClr val="B4593C"/>
    <a:srgbClr val="0066CC"/>
    <a:srgbClr val="547B9C"/>
    <a:srgbClr val="0079BC"/>
    <a:srgbClr val="3E708E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07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5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794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04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03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71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75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Greibach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Normal Form</a:t>
            </a: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 - 1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6784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Convert the grammar 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𝐴𝐵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𝐵𝑆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𝑆𝐴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Into GNF.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Solution: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Replace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;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784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9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24059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63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𝐴𝐵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𝐵𝑆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𝑆𝐴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becomes 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since productions must starts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with terminals or with higher numbered variable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correct form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</m:oMath>
                  </m:oMathPara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16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</m:oMath>
                  </m:oMathPara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into a required form.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622" b="-72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676777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79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 cont’d..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applying substitution in RHS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becomes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again applying substitution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we get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200" b="1" i="1" smtClean="0">
                          <a:solidFill>
                            <a:srgbClr val="209C9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Therefore we get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117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879896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31EBC-19F0-02B0-6DB7-237512169EC0}"/>
                  </a:ext>
                </a:extLst>
              </p:cNvPr>
              <p:cNvSpPr/>
              <p:nvPr/>
            </p:nvSpPr>
            <p:spPr>
              <a:xfrm>
                <a:off x="6617894" y="1676400"/>
                <a:ext cx="2362200" cy="13716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09C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/</m:t>
                      </m:r>
                      <m:r>
                        <a:rPr lang="en-US" sz="2000" b="0" i="1" smtClean="0">
                          <a:solidFill>
                            <a:srgbClr val="209C9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/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31EBC-19F0-02B0-6DB7-237512169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894" y="1676400"/>
                <a:ext cx="23622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01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C2A092-420B-4CF6-144F-7FCC3492A83B}"/>
              </a:ext>
            </a:extLst>
          </p:cNvPr>
          <p:cNvSpPr/>
          <p:nvPr/>
        </p:nvSpPr>
        <p:spPr>
          <a:xfrm>
            <a:off x="163906" y="1676400"/>
            <a:ext cx="3646094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 cont’d..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Eliminating the left recursion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we get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 smtClean="0">
                          <a:solidFill>
                            <a:srgbClr val="209C9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4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309A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200" b="1" i="1" smtClean="0">
                          <a:solidFill>
                            <a:srgbClr val="209C9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906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117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87187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AA2285-AFA5-63F7-B92C-4782471E0C20}"/>
                  </a:ext>
                </a:extLst>
              </p:cNvPr>
              <p:cNvSpPr/>
              <p:nvPr/>
            </p:nvSpPr>
            <p:spPr>
              <a:xfrm>
                <a:off x="5791200" y="1295400"/>
                <a:ext cx="3188894" cy="22860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Left Recursion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𝛼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𝛽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by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𝛽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′/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𝛽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𝛼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′/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𝛼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AA2285-AFA5-63F7-B92C-4782471E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295400"/>
                <a:ext cx="3188894" cy="2286000"/>
              </a:xfrm>
              <a:prstGeom prst="rect">
                <a:avLst/>
              </a:prstGeom>
              <a:blipFill>
                <a:blip r:embed="rId4"/>
                <a:stretch>
                  <a:fillRect l="-15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6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 cont’d..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Thus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𝐚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Now all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productions start with terminals. With the help of substitution we can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the RHS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𝒃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|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𝐚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Now all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productions start with terminals.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With the help of substitution we can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the RHS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1037" r="-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77951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4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 cont’d..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𝐀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𝒂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𝑩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𝐀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|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𝒃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𝑩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𝐀</m:t>
                        </m:r>
                      </m:e>
                      <m:sub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|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𝒂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𝐀</m:t>
                        </m:r>
                      </m:e>
                      <m:sub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|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𝒃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𝐀</m:t>
                        </m:r>
                      </m:e>
                      <m:sub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|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𝐚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becomes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𝐚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in GNF.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But B production is not in GNF.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𝑩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𝑩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|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𝑨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applying substitution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the RHS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we get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𝐁</m:t>
                          </m:r>
                        </m:e>
                        <m:sub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𝐚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𝒂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𝒃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𝐚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𝐀</m:t>
                          </m:r>
                        </m:e>
                        <m:sub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103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447992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7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55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Consider the following grammar and write its equivalent GNF.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𝐴𝐵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𝑎𝐴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𝑏𝐵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Solution: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the GNF, each production should be of the form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𝑉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Replace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or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or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Thus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𝑆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𝑎𝐴𝐵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𝑏𝐵𝐵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𝑏𝐵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𝑎𝐴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𝑏𝐵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" y="1039849"/>
                <a:ext cx="8820150" cy="5029200"/>
              </a:xfrm>
              <a:prstGeom prst="rect">
                <a:avLst/>
              </a:prstGeom>
              <a:blipFill>
                <a:blip r:embed="rId3"/>
                <a:stretch>
                  <a:fillRect l="-1037" b="-206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F990756-5271-6C55-8FB4-FAC01A4F9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4604"/>
              </p:ext>
            </p:extLst>
          </p:nvPr>
        </p:nvGraphicFramePr>
        <p:xfrm>
          <a:off x="304800" y="6248400"/>
          <a:ext cx="73152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722113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31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004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T. M. Rajalaxmi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Bookman Old Style" panose="020506040505050202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lang="en-IN" sz="1600" b="1" dirty="0"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Mathematics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5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31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20625</TotalTime>
  <Words>630</Words>
  <Application>Microsoft Office PowerPoint</Application>
  <PresentationFormat>On-screen Show (4:3)</PresentationFormat>
  <Paragraphs>117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Cambria Math</vt:lpstr>
      <vt:lpstr>Times New Roman</vt:lpstr>
      <vt:lpstr>Verdana</vt:lpstr>
      <vt:lpstr>1_Default Design</vt:lpstr>
      <vt:lpstr>CorelDRAW</vt:lpstr>
      <vt:lpstr>Greibach Normal Form</vt:lpstr>
      <vt:lpstr>Problem - 1</vt:lpstr>
      <vt:lpstr>Solution</vt:lpstr>
      <vt:lpstr>Solution cont’d..</vt:lpstr>
      <vt:lpstr>Solution cont’d..</vt:lpstr>
      <vt:lpstr>Solution cont’d..</vt:lpstr>
      <vt:lpstr>Solution cont’d..</vt:lpstr>
      <vt:lpstr>Problem - 2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 M</cp:lastModifiedBy>
  <cp:revision>3602</cp:revision>
  <cp:lastPrinted>2026-06-22T02:58:59Z</cp:lastPrinted>
  <dcterms:created xsi:type="dcterms:W3CDTF">2006-09-22T10:59:01Z</dcterms:created>
  <dcterms:modified xsi:type="dcterms:W3CDTF">2026-07-28T15:23:44Z</dcterms:modified>
</cp:coreProperties>
</file>