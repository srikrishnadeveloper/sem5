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4"/>
  </p:notesMasterIdLst>
  <p:sldIdLst>
    <p:sldId id="256" r:id="rId2"/>
    <p:sldId id="260" r:id="rId3"/>
    <p:sldId id="261" r:id="rId4"/>
    <p:sldId id="262" r:id="rId5"/>
    <p:sldId id="264" r:id="rId6"/>
    <p:sldId id="265" r:id="rId7"/>
    <p:sldId id="266" r:id="rId8"/>
    <p:sldId id="267" r:id="rId9"/>
    <p:sldId id="268" r:id="rId10"/>
    <p:sldId id="269" r:id="rId11"/>
    <p:sldId id="377" r:id="rId12"/>
    <p:sldId id="376" r:id="rId13"/>
    <p:sldId id="378" r:id="rId14"/>
    <p:sldId id="270"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3"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379" r:id="rId42"/>
    <p:sldId id="380" r:id="rId43"/>
    <p:sldId id="381" r:id="rId44"/>
    <p:sldId id="382" r:id="rId45"/>
    <p:sldId id="383" r:id="rId46"/>
    <p:sldId id="298" r:id="rId47"/>
    <p:sldId id="299" r:id="rId48"/>
    <p:sldId id="300" r:id="rId49"/>
    <p:sldId id="301" r:id="rId50"/>
    <p:sldId id="302" r:id="rId51"/>
    <p:sldId id="303" r:id="rId52"/>
    <p:sldId id="304" r:id="rId53"/>
    <p:sldId id="305" r:id="rId54"/>
    <p:sldId id="306" r:id="rId55"/>
    <p:sldId id="307" r:id="rId56"/>
    <p:sldId id="339"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9" r:id="rId71"/>
    <p:sldId id="330" r:id="rId72"/>
    <p:sldId id="331" r:id="rId73"/>
    <p:sldId id="332" r:id="rId74"/>
    <p:sldId id="333" r:id="rId75"/>
    <p:sldId id="334" r:id="rId76"/>
    <p:sldId id="335" r:id="rId77"/>
    <p:sldId id="336" r:id="rId78"/>
    <p:sldId id="337" r:id="rId79"/>
    <p:sldId id="338" r:id="rId80"/>
    <p:sldId id="345" r:id="rId81"/>
    <p:sldId id="342" r:id="rId82"/>
    <p:sldId id="343" r:id="rId83"/>
    <p:sldId id="344" r:id="rId84"/>
    <p:sldId id="321" r:id="rId85"/>
    <p:sldId id="340" r:id="rId86"/>
    <p:sldId id="322" r:id="rId87"/>
    <p:sldId id="323" r:id="rId88"/>
    <p:sldId id="324" r:id="rId89"/>
    <p:sldId id="325" r:id="rId90"/>
    <p:sldId id="326" r:id="rId91"/>
    <p:sldId id="327" r:id="rId92"/>
    <p:sldId id="328" r:id="rId9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472" y="40"/>
      </p:cViewPr>
      <p:guideLst>
        <p:guide orient="horz" pos="2160"/>
        <p:guide pos="2880"/>
      </p:guideLst>
    </p:cSldViewPr>
  </p:slideViewPr>
  <p:notesTextViewPr>
    <p:cViewPr>
      <p:scale>
        <a:sx n="1" d="1"/>
        <a:sy n="1" d="1"/>
      </p:scale>
      <p:origin x="0" y="0"/>
    </p:cViewPr>
  </p:notesTextViewPr>
  <p:sorterViewPr>
    <p:cViewPr>
      <p:scale>
        <a:sx n="100" d="100"/>
        <a:sy n="100" d="100"/>
      </p:scale>
      <p:origin x="0" y="1171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CC087-3CFB-4292-B39B-2C7C3871F070}" type="datetimeFigureOut">
              <a:rPr lang="en-IN" smtClean="0"/>
              <a:t>22-06-2026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F1DCEE-A665-4B38-A0CD-88200CA0D81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FBF57C06-38D9-4F75-9208-B2987A3C9070}" type="datetime1">
              <a:rPr lang="en-IN" smtClean="0"/>
              <a:t>22-06-2026</a:t>
            </a:fld>
            <a:endParaRPr lang="en-IN"/>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IN"/>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EA7D41E8-55CE-4D73-90D6-F936F71D14C1}"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30C9752C-DA30-4E88-89A3-1BC4A9424115}" type="datetime1">
              <a:rPr lang="en-IN" smtClean="0"/>
              <a:t>22-06-2026</a:t>
            </a:fld>
            <a:endParaRPr lang="en-IN"/>
          </a:p>
        </p:txBody>
      </p:sp>
      <p:sp>
        <p:nvSpPr>
          <p:cNvPr id="9" name="Slide Number Placeholder 8"/>
          <p:cNvSpPr>
            <a:spLocks noGrp="1"/>
          </p:cNvSpPr>
          <p:nvPr>
            <p:ph type="sldNum" sz="quarter" idx="15"/>
          </p:nvPr>
        </p:nvSpPr>
        <p:spPr/>
        <p:txBody>
          <a:bodyPr rtlCol="0"/>
          <a:lstStyle/>
          <a:p>
            <a:fld id="{EA7D41E8-55CE-4D73-90D6-F936F71D14C1}" type="slidenum">
              <a:rPr lang="en-IN" smtClean="0"/>
              <a:t>‹#›</a:t>
            </a:fld>
            <a:endParaRPr lang="en-IN"/>
          </a:p>
        </p:txBody>
      </p:sp>
      <p:sp>
        <p:nvSpPr>
          <p:cNvPr id="10" name="Footer Placeholder 9"/>
          <p:cNvSpPr>
            <a:spLocks noGrp="1"/>
          </p:cNvSpPr>
          <p:nvPr>
            <p:ph type="ftr" sz="quarter" idx="16"/>
          </p:nvPr>
        </p:nvSpPr>
        <p:spPr/>
        <p:txBody>
          <a:bodyPr rtlCol="0"/>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A594C4B-885A-458B-B688-361BB5DCEE2E}" type="datetime1">
              <a:rPr lang="en-IN" smtClean="0"/>
              <a:t>22-06-2026</a:t>
            </a:fld>
            <a:endParaRPr lang="en-IN"/>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IN"/>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EA7D41E8-55CE-4D73-90D6-F936F71D14C1}"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FCD13F5-0CB9-4B06-A871-EFAD2F01D288}" type="datetime1">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A7D41E8-55CE-4D73-90D6-F936F71D14C1}" type="slidenum">
              <a:rPr lang="en-IN" smtClean="0"/>
              <a:t>‹#›</a:t>
            </a:fld>
            <a:endParaRPr lang="en-IN"/>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E44B3666-9478-42CD-B2D5-848925466127}" type="datetime1">
              <a:rPr lang="en-IN" smtClean="0"/>
              <a:t>22-06-2026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A7D41E8-55CE-4D73-90D6-F936F71D14C1}" type="slidenum">
              <a:rPr lang="en-IN" smtClean="0"/>
              <a:t>‹#›</a:t>
            </a:fld>
            <a:endParaRPr lang="en-IN"/>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7CD472AE-3102-4E05-A16E-35DED36A8E30}" type="datetime1">
              <a:rPr lang="en-IN" smtClean="0"/>
              <a:t>22-06-2026</a:t>
            </a:fld>
            <a:endParaRPr lang="en-IN"/>
          </a:p>
        </p:txBody>
      </p:sp>
      <p:sp>
        <p:nvSpPr>
          <p:cNvPr id="7" name="Slide Number Placeholder 6"/>
          <p:cNvSpPr>
            <a:spLocks noGrp="1"/>
          </p:cNvSpPr>
          <p:nvPr>
            <p:ph type="sldNum" sz="quarter" idx="11"/>
          </p:nvPr>
        </p:nvSpPr>
        <p:spPr/>
        <p:txBody>
          <a:bodyPr rtlCol="0"/>
          <a:lstStyle/>
          <a:p>
            <a:fld id="{EA7D41E8-55CE-4D73-90D6-F936F71D14C1}" type="slidenum">
              <a:rPr lang="en-IN" smtClean="0"/>
              <a:t>‹#›</a:t>
            </a:fld>
            <a:endParaRPr lang="en-IN"/>
          </a:p>
        </p:txBody>
      </p:sp>
      <p:sp>
        <p:nvSpPr>
          <p:cNvPr id="8" name="Footer Placeholder 7"/>
          <p:cNvSpPr>
            <a:spLocks noGrp="1"/>
          </p:cNvSpPr>
          <p:nvPr>
            <p:ph type="ftr" sz="quarter" idx="12"/>
          </p:nvPr>
        </p:nvSpPr>
        <p:spPr/>
        <p:txBody>
          <a:bodyPr rtlCol="0"/>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C3DCD-E40D-4508-B82E-E448100CC6FB}" type="datetime1">
              <a:rPr lang="en-IN" smtClean="0"/>
              <a:t>22-06-2026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A7D41E8-55CE-4D73-90D6-F936F71D14C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C8F0E229-97E1-4CB0-B8D5-A3FFB3F431F3}" type="datetime1">
              <a:rPr lang="en-IN" smtClean="0"/>
              <a:t>22-06-2026</a:t>
            </a:fld>
            <a:endParaRPr lang="en-IN"/>
          </a:p>
        </p:txBody>
      </p:sp>
      <p:sp>
        <p:nvSpPr>
          <p:cNvPr id="22" name="Slide Number Placeholder 21"/>
          <p:cNvSpPr>
            <a:spLocks noGrp="1"/>
          </p:cNvSpPr>
          <p:nvPr>
            <p:ph type="sldNum" sz="quarter" idx="15"/>
          </p:nvPr>
        </p:nvSpPr>
        <p:spPr/>
        <p:txBody>
          <a:bodyPr rtlCol="0"/>
          <a:lstStyle/>
          <a:p>
            <a:fld id="{EA7D41E8-55CE-4D73-90D6-F936F71D14C1}" type="slidenum">
              <a:rPr lang="en-IN" smtClean="0"/>
              <a:t>‹#›</a:t>
            </a:fld>
            <a:endParaRPr lang="en-IN"/>
          </a:p>
        </p:txBody>
      </p:sp>
      <p:sp>
        <p:nvSpPr>
          <p:cNvPr id="23" name="Footer Placeholder 22"/>
          <p:cNvSpPr>
            <a:spLocks noGrp="1"/>
          </p:cNvSpPr>
          <p:nvPr>
            <p:ph type="ftr" sz="quarter" idx="16"/>
          </p:nvPr>
        </p:nvSpPr>
        <p:spPr/>
        <p:txBody>
          <a:bodyPr rtlCol="0"/>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F6295B7C-28E8-46DC-94A6-355B64A9A69A}" type="datetime1">
              <a:rPr lang="en-IN" smtClean="0"/>
              <a:t>22-06-2026</a:t>
            </a:fld>
            <a:endParaRPr lang="en-IN"/>
          </a:p>
        </p:txBody>
      </p:sp>
      <p:sp>
        <p:nvSpPr>
          <p:cNvPr id="18" name="Slide Number Placeholder 17"/>
          <p:cNvSpPr>
            <a:spLocks noGrp="1"/>
          </p:cNvSpPr>
          <p:nvPr>
            <p:ph type="sldNum" sz="quarter" idx="11"/>
          </p:nvPr>
        </p:nvSpPr>
        <p:spPr/>
        <p:txBody>
          <a:bodyPr rtlCol="0"/>
          <a:lstStyle/>
          <a:p>
            <a:fld id="{EA7D41E8-55CE-4D73-90D6-F936F71D14C1}" type="slidenum">
              <a:rPr lang="en-IN" smtClean="0"/>
              <a:t>‹#›</a:t>
            </a:fld>
            <a:endParaRPr lang="en-IN"/>
          </a:p>
        </p:txBody>
      </p:sp>
      <p:sp>
        <p:nvSpPr>
          <p:cNvPr id="21" name="Footer Placeholder 20"/>
          <p:cNvSpPr>
            <a:spLocks noGrp="1"/>
          </p:cNvSpPr>
          <p:nvPr>
            <p:ph type="ftr" sz="quarter" idx="12"/>
          </p:nvPr>
        </p:nvSpPr>
        <p:spPr/>
        <p:txBody>
          <a:bodyPr rtlCol="0"/>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7EFE314-4B9A-4B44-8AD8-F63C9FF7B1F6}" type="datetime1">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A7D41E8-55CE-4D73-90D6-F936F71D14C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86619D-1235-4D0E-86F6-58F07B3A79A7}" type="datetime1">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A7D41E8-55CE-4D73-90D6-F936F71D14C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43AF841-8C5B-417B-A003-F89AB034564D}" type="datetime1">
              <a:rPr lang="en-IN" smtClean="0"/>
              <a:t>22-06-2026</a:t>
            </a:fld>
            <a:endParaRPr lang="en-IN"/>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IN"/>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EA7D41E8-55CE-4D73-90D6-F936F71D14C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panose="05000000000000000000"/>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panose="05020102010507070707"/>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anose="05000000000000000000"/>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panose="05000000000000000000"/>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panose="05020102010507070707"/>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94261F-1ED3-4E90-88E6-134791440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975946" y="590062"/>
            <a:ext cx="4138367" cy="2838938"/>
          </a:xfrm>
        </p:spPr>
        <p:txBody>
          <a:bodyPr>
            <a:normAutofit/>
          </a:bodyPr>
          <a:lstStyle/>
          <a:p>
            <a:br>
              <a:rPr lang="en-US" sz="3400" b="1">
                <a:solidFill>
                  <a:srgbClr val="FFFFFF"/>
                </a:solidFill>
              </a:rPr>
            </a:br>
            <a:r>
              <a:rPr lang="en-IN" sz="3400">
                <a:solidFill>
                  <a:srgbClr val="FFFFFF"/>
                </a:solidFill>
              </a:rPr>
              <a:t>THEORY OF COMPUTATION</a:t>
            </a:r>
          </a:p>
        </p:txBody>
      </p:sp>
      <p:sp>
        <p:nvSpPr>
          <p:cNvPr id="4" name="Slide Number Placeholder 3"/>
          <p:cNvSpPr>
            <a:spLocks noGrp="1"/>
          </p:cNvSpPr>
          <p:nvPr>
            <p:ph type="sldNum" sz="quarter" idx="12"/>
          </p:nvPr>
        </p:nvSpPr>
        <p:spPr>
          <a:xfrm>
            <a:off x="6457950" y="224937"/>
            <a:ext cx="2057400" cy="365125"/>
          </a:xfrm>
        </p:spPr>
        <p:txBody>
          <a:bodyPr>
            <a:normAutofit/>
          </a:bodyPr>
          <a:lstStyle/>
          <a:p>
            <a:pPr>
              <a:spcAft>
                <a:spcPts val="600"/>
              </a:spcAft>
            </a:pPr>
            <a:fld id="{EA7D41E8-55CE-4D73-90D6-F936F71D14C1}" type="slidenum">
              <a:rPr lang="en-IN" smtClean="0"/>
              <a:pPr>
                <a:spcAft>
                  <a:spcPts val="600"/>
                </a:spcAft>
              </a:pPr>
              <a:t>1</a:t>
            </a:fld>
            <a:endParaRPr lang="en-IN"/>
          </a:p>
        </p:txBody>
      </p:sp>
      <p:cxnSp>
        <p:nvCxnSpPr>
          <p:cNvPr id="11" name="Straight Connector 1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5946"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a:t>UNIT II: </a:t>
            </a:r>
            <a:br>
              <a:rPr lang="en-IN" sz="2400" b="1" dirty="0"/>
            </a:br>
            <a:r>
              <a:rPr lang="en-IN" sz="2400" b="1" dirty="0"/>
              <a:t>REGULAR EXPRESSIONS AND LANGUAGES</a:t>
            </a:r>
            <a:endParaRPr lang="en-IN" sz="2400" dirty="0"/>
          </a:p>
        </p:txBody>
      </p:sp>
      <p:sp>
        <p:nvSpPr>
          <p:cNvPr id="3" name="Content Placeholder 2"/>
          <p:cNvSpPr>
            <a:spLocks noGrp="1"/>
          </p:cNvSpPr>
          <p:nvPr>
            <p:ph sz="quarter" idx="1"/>
          </p:nvPr>
        </p:nvSpPr>
        <p:spPr/>
        <p:txBody>
          <a:bodyPr>
            <a:normAutofit/>
          </a:bodyPr>
          <a:lstStyle/>
          <a:p>
            <a:r>
              <a:rPr lang="en-IN" dirty="0">
                <a:solidFill>
                  <a:srgbClr val="FF0000"/>
                </a:solidFill>
              </a:rPr>
              <a:t>Regular expressions, Identity rules, </a:t>
            </a:r>
          </a:p>
          <a:p>
            <a:r>
              <a:rPr lang="en-IN" dirty="0">
                <a:solidFill>
                  <a:srgbClr val="FF0000"/>
                </a:solidFill>
              </a:rPr>
              <a:t>Finite automata and Regular expressions, Applications of regular expressions</a:t>
            </a:r>
            <a:r>
              <a:rPr lang="en-IN" dirty="0"/>
              <a:t>, </a:t>
            </a:r>
          </a:p>
          <a:p>
            <a:r>
              <a:rPr lang="en-IN" dirty="0">
                <a:solidFill>
                  <a:srgbClr val="FF0000"/>
                </a:solidFill>
              </a:rPr>
              <a:t>Closure properties of regular languages, </a:t>
            </a:r>
          </a:p>
          <a:p>
            <a:r>
              <a:rPr lang="en-IN" dirty="0"/>
              <a:t>Pumping lemma for regular languages, Applications of the pumping lemma, </a:t>
            </a:r>
          </a:p>
          <a:p>
            <a:r>
              <a:rPr lang="en-IN" dirty="0"/>
              <a:t>Equivalence of two regular expressions, Equivalence of two finite automata and minimization of automata..</a:t>
            </a:r>
          </a:p>
        </p:txBody>
      </p:sp>
      <p:sp>
        <p:nvSpPr>
          <p:cNvPr id="4" name="Slide Number Placeholder 3"/>
          <p:cNvSpPr>
            <a:spLocks noGrp="1"/>
          </p:cNvSpPr>
          <p:nvPr>
            <p:ph type="sldNum" sz="quarter" idx="15"/>
          </p:nvPr>
        </p:nvSpPr>
        <p:spPr/>
        <p:txBody>
          <a:bodyPr/>
          <a:lstStyle/>
          <a:p>
            <a:fld id="{EA7D41E8-55CE-4D73-90D6-F936F71D14C1}"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Regular Expression</a:t>
            </a:r>
          </a:p>
        </p:txBody>
      </p:sp>
      <p:sp>
        <p:nvSpPr>
          <p:cNvPr id="3" name="Content Placeholder 2"/>
          <p:cNvSpPr>
            <a:spLocks noGrp="1"/>
          </p:cNvSpPr>
          <p:nvPr>
            <p:ph sz="quarter" idx="1"/>
          </p:nvPr>
        </p:nvSpPr>
        <p:spPr>
          <a:xfrm>
            <a:off x="457200" y="1600200"/>
            <a:ext cx="7931224" cy="4873752"/>
          </a:xfrm>
        </p:spPr>
        <p:txBody>
          <a:bodyPr>
            <a:normAutofit lnSpcReduction="10000"/>
          </a:bodyPr>
          <a:lstStyle/>
          <a:p>
            <a:pPr algn="just"/>
            <a:r>
              <a:rPr lang="en-IN" sz="2000" dirty="0"/>
              <a:t>The language accepted by finite automata can be easily described by simple expressions called Regular Expressions. It is the most effective way to represent any language.</a:t>
            </a:r>
          </a:p>
          <a:p>
            <a:pPr algn="just"/>
            <a:r>
              <a:rPr lang="en-IN" sz="2000" dirty="0"/>
              <a:t>The languages accepted by some regular expression are referred to as Regular languages.</a:t>
            </a:r>
          </a:p>
          <a:p>
            <a:pPr algn="just"/>
            <a:r>
              <a:rPr lang="en-IN" sz="2000" dirty="0"/>
              <a:t>A regular expression can also be described as a sequence of pattern that defines a string.</a:t>
            </a:r>
          </a:p>
          <a:p>
            <a:pPr algn="just"/>
            <a:r>
              <a:rPr lang="en-IN" sz="2000" dirty="0"/>
              <a:t>Regular expressions are used to match character combinations in strings. String searching algorithm used this pattern to find the operations on a string.</a:t>
            </a:r>
          </a:p>
          <a:p>
            <a:r>
              <a:rPr lang="en-IN" sz="2000" b="1" dirty="0"/>
              <a:t>For instance:</a:t>
            </a:r>
            <a:endParaRPr lang="en-IN" sz="2000" dirty="0"/>
          </a:p>
          <a:p>
            <a:pPr lvl="1"/>
            <a:r>
              <a:rPr lang="en-IN" sz="1700" dirty="0"/>
              <a:t>In a regular expression, x* means zero or more occurrence of x. It can generate {</a:t>
            </a:r>
            <a:r>
              <a:rPr lang="en-IN" sz="1800" dirty="0"/>
              <a:t>ε</a:t>
            </a:r>
            <a:r>
              <a:rPr lang="en-IN" sz="1700" dirty="0"/>
              <a:t>, x, xx, xxx, </a:t>
            </a:r>
            <a:r>
              <a:rPr lang="en-IN" sz="1700" dirty="0" err="1"/>
              <a:t>xxxx</a:t>
            </a:r>
            <a:r>
              <a:rPr lang="en-IN" sz="1700" dirty="0"/>
              <a:t>, .....}</a:t>
            </a:r>
          </a:p>
          <a:p>
            <a:pPr lvl="1"/>
            <a:r>
              <a:rPr lang="en-IN" sz="1700" dirty="0"/>
              <a:t>In a regular expression, x</a:t>
            </a:r>
            <a:r>
              <a:rPr lang="en-IN" sz="1700" baseline="30000" dirty="0"/>
              <a:t>+</a:t>
            </a:r>
            <a:r>
              <a:rPr lang="en-IN" sz="1700" dirty="0"/>
              <a:t> means one or more occurrence of x. It can generate {x, xx, xxx, </a:t>
            </a:r>
            <a:r>
              <a:rPr lang="en-IN" sz="1700" dirty="0" err="1"/>
              <a:t>xxxx</a:t>
            </a:r>
            <a:r>
              <a:rPr lang="en-IN" sz="1700" dirty="0"/>
              <a:t>, .....}</a:t>
            </a:r>
          </a:p>
          <a:p>
            <a:pPr algn="just"/>
            <a:endParaRPr lang="en-IN" sz="2000" dirty="0"/>
          </a:p>
          <a:p>
            <a:pPr algn="just"/>
            <a:endParaRPr lang="en-IN" sz="2000" dirty="0"/>
          </a:p>
        </p:txBody>
      </p:sp>
      <p:sp>
        <p:nvSpPr>
          <p:cNvPr id="4" name="Slide Number Placeholder 3"/>
          <p:cNvSpPr>
            <a:spLocks noGrp="1"/>
          </p:cNvSpPr>
          <p:nvPr>
            <p:ph type="sldNum" sz="quarter" idx="15"/>
          </p:nvPr>
        </p:nvSpPr>
        <p:spPr/>
        <p:txBody>
          <a:bodyPr/>
          <a:lstStyle/>
          <a:p>
            <a:fld id="{EA7D41E8-55CE-4D73-90D6-F936F71D14C1}"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Operations on Regular Language</a:t>
            </a:r>
          </a:p>
        </p:txBody>
      </p:sp>
      <p:sp>
        <p:nvSpPr>
          <p:cNvPr id="3" name="Content Placeholder 2"/>
          <p:cNvSpPr>
            <a:spLocks noGrp="1"/>
          </p:cNvSpPr>
          <p:nvPr>
            <p:ph sz="quarter" idx="1"/>
          </p:nvPr>
        </p:nvSpPr>
        <p:spPr/>
        <p:txBody>
          <a:bodyPr>
            <a:normAutofit/>
          </a:bodyPr>
          <a:lstStyle/>
          <a:p>
            <a:r>
              <a:rPr lang="en-IN" dirty="0"/>
              <a:t>The various operations on regular language are:</a:t>
            </a:r>
          </a:p>
          <a:p>
            <a:r>
              <a:rPr lang="en-IN" b="1" dirty="0"/>
              <a:t>Union:</a:t>
            </a:r>
            <a:r>
              <a:rPr lang="en-IN" dirty="0"/>
              <a:t> If L and M are two regular languages then their union L U M is also a union.</a:t>
            </a:r>
          </a:p>
          <a:p>
            <a:pPr lvl="1"/>
            <a:r>
              <a:rPr lang="en-IN" dirty="0"/>
              <a:t>L U M = {s | s is in L or s is in M}  </a:t>
            </a:r>
          </a:p>
          <a:p>
            <a:r>
              <a:rPr lang="en-IN" b="1" dirty="0"/>
              <a:t>Intersection:</a:t>
            </a:r>
            <a:r>
              <a:rPr lang="en-IN" dirty="0"/>
              <a:t> If L and M are two regular languages then their intersection is also an intersection.</a:t>
            </a:r>
          </a:p>
          <a:p>
            <a:pPr lvl="1"/>
            <a:r>
              <a:rPr lang="en-IN" dirty="0"/>
              <a:t>L ⋂ M = {</a:t>
            </a:r>
            <a:r>
              <a:rPr lang="en-IN" dirty="0" err="1"/>
              <a:t>st</a:t>
            </a:r>
            <a:r>
              <a:rPr lang="en-IN" dirty="0"/>
              <a:t> | s is in L and t is in M}  </a:t>
            </a:r>
          </a:p>
          <a:p>
            <a:r>
              <a:rPr lang="en-IN" b="1" dirty="0" err="1"/>
              <a:t>Kleen</a:t>
            </a:r>
            <a:r>
              <a:rPr lang="en-IN" b="1" dirty="0"/>
              <a:t> closure:</a:t>
            </a:r>
            <a:r>
              <a:rPr lang="en-IN" dirty="0"/>
              <a:t> If L is a regular language then its </a:t>
            </a:r>
            <a:r>
              <a:rPr lang="en-IN" dirty="0" err="1"/>
              <a:t>Kleen</a:t>
            </a:r>
            <a:r>
              <a:rPr lang="en-IN" dirty="0"/>
              <a:t> closure L1* will also be a regular language.</a:t>
            </a:r>
          </a:p>
          <a:p>
            <a:pPr lvl="1"/>
            <a:r>
              <a:rPr lang="en-IN" dirty="0"/>
              <a:t>L* = Zero or more occurrence of language L.  </a:t>
            </a:r>
          </a:p>
          <a:p>
            <a:endParaRPr lang="en-IN" dirty="0"/>
          </a:p>
        </p:txBody>
      </p:sp>
      <p:sp>
        <p:nvSpPr>
          <p:cNvPr id="4" name="Slide Number Placeholder 3"/>
          <p:cNvSpPr>
            <a:spLocks noGrp="1"/>
          </p:cNvSpPr>
          <p:nvPr>
            <p:ph type="sldNum" sz="quarter" idx="15"/>
          </p:nvPr>
        </p:nvSpPr>
        <p:spPr/>
        <p:txBody>
          <a:bodyPr/>
          <a:lstStyle/>
          <a:p>
            <a:fld id="{EA7D41E8-55CE-4D73-90D6-F936F71D14C1}"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a:t>
            </a:fld>
            <a:endParaRPr lang="en-IN"/>
          </a:p>
        </p:txBody>
      </p:sp>
      <p:sp>
        <p:nvSpPr>
          <p:cNvPr id="5" name="Rectangle 4"/>
          <p:cNvSpPr/>
          <p:nvPr/>
        </p:nvSpPr>
        <p:spPr>
          <a:xfrm>
            <a:off x="179512" y="188640"/>
            <a:ext cx="8784976"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1:</a:t>
            </a:r>
          </a:p>
          <a:p>
            <a:r>
              <a:rPr lang="en-IN" dirty="0"/>
              <a:t>Write the regular expression for the language accepting all combinations of a's, over the set ∑ = {a}</a:t>
            </a:r>
          </a:p>
        </p:txBody>
      </p:sp>
      <p:sp>
        <p:nvSpPr>
          <p:cNvPr id="6" name="Rectangle 5"/>
          <p:cNvSpPr/>
          <p:nvPr/>
        </p:nvSpPr>
        <p:spPr>
          <a:xfrm>
            <a:off x="179512" y="1268760"/>
            <a:ext cx="8640960" cy="2308324"/>
          </a:xfrm>
          <a:prstGeom prst="rect">
            <a:avLst/>
          </a:prstGeom>
        </p:spPr>
        <p:txBody>
          <a:bodyPr wrap="square">
            <a:spAutoFit/>
          </a:bodyPr>
          <a:lstStyle/>
          <a:p>
            <a:pPr algn="just"/>
            <a:r>
              <a:rPr lang="en-IN" b="1" i="1" dirty="0">
                <a:solidFill>
                  <a:srgbClr val="008000"/>
                </a:solidFill>
                <a:effectLst>
                  <a:outerShdw blurRad="38100" dist="38100" dir="2700000" algn="tl">
                    <a:srgbClr val="000000">
                      <a:alpha val="43137"/>
                    </a:srgbClr>
                  </a:outerShdw>
                </a:effectLst>
              </a:rPr>
              <a:t>Solution:</a:t>
            </a:r>
          </a:p>
          <a:p>
            <a:pPr algn="just"/>
            <a:endParaRPr lang="en-IN" i="1" dirty="0">
              <a:solidFill>
                <a:srgbClr val="008000"/>
              </a:solidFill>
              <a:effectLst>
                <a:outerShdw blurRad="38100" dist="38100" dir="2700000" algn="tl">
                  <a:srgbClr val="000000">
                    <a:alpha val="43137"/>
                  </a:srgbClr>
                </a:outerShdw>
              </a:effectLst>
            </a:endParaRPr>
          </a:p>
          <a:p>
            <a:pPr algn="just"/>
            <a:r>
              <a:rPr lang="en-IN" dirty="0"/>
              <a:t>All combinations of a's means a may be zero, single, double and so on. If a is appearing zero times, that means a null string. </a:t>
            </a:r>
          </a:p>
          <a:p>
            <a:pPr algn="just"/>
            <a:r>
              <a:rPr lang="en-IN" dirty="0"/>
              <a:t>That is we expect the set of {ε, a, </a:t>
            </a:r>
            <a:r>
              <a:rPr lang="en-IN" dirty="0" err="1"/>
              <a:t>aa</a:t>
            </a:r>
            <a:r>
              <a:rPr lang="en-IN" dirty="0"/>
              <a:t>, </a:t>
            </a:r>
            <a:r>
              <a:rPr lang="en-IN" dirty="0" err="1"/>
              <a:t>aaa</a:t>
            </a:r>
            <a:r>
              <a:rPr lang="en-IN" dirty="0"/>
              <a:t>, ....}. So we give a regular expression for this as:</a:t>
            </a:r>
          </a:p>
          <a:p>
            <a:pPr algn="just"/>
            <a:r>
              <a:rPr lang="en-IN" dirty="0"/>
              <a:t>R = a*  </a:t>
            </a:r>
          </a:p>
          <a:p>
            <a:pPr algn="just"/>
            <a:r>
              <a:rPr lang="en-IN" b="1" dirty="0">
                <a:solidFill>
                  <a:srgbClr val="C00000"/>
                </a:solidFill>
              </a:rPr>
              <a:t>That is </a:t>
            </a:r>
            <a:r>
              <a:rPr lang="en-IN" b="1" dirty="0" err="1">
                <a:solidFill>
                  <a:srgbClr val="C00000"/>
                </a:solidFill>
              </a:rPr>
              <a:t>Kleen</a:t>
            </a:r>
            <a:r>
              <a:rPr lang="en-IN" b="1" dirty="0">
                <a:solidFill>
                  <a:srgbClr val="C00000"/>
                </a:solidFill>
              </a:rPr>
              <a:t> closure of a.</a:t>
            </a:r>
          </a:p>
        </p:txBody>
      </p:sp>
      <p:sp>
        <p:nvSpPr>
          <p:cNvPr id="7" name="Rectangle 6"/>
          <p:cNvSpPr/>
          <p:nvPr/>
        </p:nvSpPr>
        <p:spPr>
          <a:xfrm>
            <a:off x="179512" y="3657798"/>
            <a:ext cx="8784976"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2:</a:t>
            </a:r>
          </a:p>
          <a:p>
            <a:r>
              <a:rPr lang="en-IN" dirty="0"/>
              <a:t>Write the regular expression for the language accepting all combinations of a's except the null string, over the set ∑ = {a}</a:t>
            </a:r>
          </a:p>
        </p:txBody>
      </p:sp>
      <p:cxnSp>
        <p:nvCxnSpPr>
          <p:cNvPr id="10" name="Straight Connector 9"/>
          <p:cNvCxnSpPr/>
          <p:nvPr/>
        </p:nvCxnSpPr>
        <p:spPr>
          <a:xfrm>
            <a:off x="72008" y="3573016"/>
            <a:ext cx="8964488"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84270" y="4521894"/>
            <a:ext cx="8492186" cy="923330"/>
          </a:xfrm>
          <a:prstGeom prst="rect">
            <a:avLst/>
          </a:prstGeom>
        </p:spPr>
        <p:txBody>
          <a:bodyPr wrap="square">
            <a:spAutoFit/>
          </a:bodyPr>
          <a:lstStyle/>
          <a:p>
            <a:r>
              <a:rPr lang="en-IN" b="1" i="1" dirty="0">
                <a:solidFill>
                  <a:srgbClr val="008000"/>
                </a:solidFill>
                <a:effectLst>
                  <a:outerShdw blurRad="38100" dist="38100" dir="2700000" algn="tl">
                    <a:srgbClr val="000000">
                      <a:alpha val="43137"/>
                    </a:srgbClr>
                  </a:outerShdw>
                </a:effectLst>
              </a:rPr>
              <a:t>Solution:</a:t>
            </a:r>
            <a:endParaRPr lang="en-IN" i="1" dirty="0">
              <a:solidFill>
                <a:srgbClr val="008000"/>
              </a:solidFill>
              <a:effectLst>
                <a:outerShdw blurRad="38100" dist="38100" dir="2700000" algn="tl">
                  <a:srgbClr val="000000">
                    <a:alpha val="43137"/>
                  </a:srgbClr>
                </a:outerShdw>
              </a:effectLst>
            </a:endParaRPr>
          </a:p>
          <a:p>
            <a:r>
              <a:rPr lang="en-IN" dirty="0"/>
              <a:t>The regular expression has to be built for the language</a:t>
            </a:r>
          </a:p>
          <a:p>
            <a:r>
              <a:rPr lang="en-IN" dirty="0"/>
              <a:t>L = {a, </a:t>
            </a:r>
            <a:r>
              <a:rPr lang="en-IN" dirty="0" err="1"/>
              <a:t>aa</a:t>
            </a:r>
            <a:r>
              <a:rPr lang="en-IN" dirty="0"/>
              <a:t>, </a:t>
            </a:r>
            <a:r>
              <a:rPr lang="en-IN" dirty="0" err="1"/>
              <a:t>aaa</a:t>
            </a:r>
            <a:r>
              <a:rPr lang="en-IN" dirty="0"/>
              <a:t>, ....}  </a:t>
            </a:r>
          </a:p>
        </p:txBody>
      </p:sp>
      <p:sp>
        <p:nvSpPr>
          <p:cNvPr id="14" name="Rectangle 5"/>
          <p:cNvSpPr>
            <a:spLocks noChangeArrowheads="1"/>
          </p:cNvSpPr>
          <p:nvPr/>
        </p:nvSpPr>
        <p:spPr bwMode="auto">
          <a:xfrm>
            <a:off x="323527" y="5676615"/>
            <a:ext cx="8496945" cy="92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6654" tIns="44436" rIns="91440" bIns="44436"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b="0" i="0" u="none" strike="noStrike" cap="none" normalizeH="0" baseline="0" dirty="0">
                <a:ln>
                  <a:noFill/>
                </a:ln>
                <a:solidFill>
                  <a:srgbClr val="333333"/>
                </a:solidFill>
                <a:effectLst/>
                <a:cs typeface="Arial" panose="020B0604020202020204" pitchFamily="34" charset="0"/>
              </a:rPr>
              <a:t>This set indicates that there is no null string. </a:t>
            </a:r>
          </a:p>
          <a:p>
            <a:pPr marL="0" marR="0" lvl="0" indent="0" algn="just" defTabSz="914400" rtl="0" eaLnBrk="1" fontAlgn="base" latinLnBrk="0" hangingPunct="1">
              <a:lnSpc>
                <a:spcPct val="100000"/>
              </a:lnSpc>
              <a:spcBef>
                <a:spcPct val="0"/>
              </a:spcBef>
              <a:spcAft>
                <a:spcPct val="0"/>
              </a:spcAft>
              <a:buClrTx/>
              <a:buSzTx/>
              <a:buFontTx/>
              <a:buNone/>
            </a:pPr>
            <a:r>
              <a:rPr kumimoji="0" lang="en-US" b="0" i="0" u="none" strike="noStrike" cap="none" normalizeH="0" baseline="0" dirty="0">
                <a:ln>
                  <a:noFill/>
                </a:ln>
                <a:solidFill>
                  <a:srgbClr val="333333"/>
                </a:solidFill>
                <a:effectLst/>
                <a:cs typeface="Arial" panose="020B0604020202020204" pitchFamily="34" charset="0"/>
              </a:rPr>
              <a:t>So we can denote regular expression as:</a:t>
            </a:r>
            <a:endParaRPr kumimoji="0" lang="en-US" b="0" i="0" u="none" strike="noStrike" cap="none" normalizeH="0" baseline="0" dirty="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a:ln>
                  <a:noFill/>
                </a:ln>
                <a:solidFill>
                  <a:srgbClr val="333333"/>
                </a:solidFill>
                <a:effectLst/>
                <a:cs typeface="Arial" panose="020B0604020202020204" pitchFamily="34" charset="0"/>
              </a:rPr>
              <a:t>R = a</a:t>
            </a:r>
            <a:r>
              <a:rPr kumimoji="0" lang="en-US" b="0" i="0" u="none" strike="noStrike" cap="none" normalizeH="0" baseline="30000" dirty="0">
                <a:ln>
                  <a:noFill/>
                </a:ln>
                <a:solidFill>
                  <a:srgbClr val="333333"/>
                </a:solidFill>
                <a:effectLst/>
                <a:cs typeface="Arial" panose="020B0604020202020204" pitchFamily="34" charset="0"/>
              </a:rPr>
              <a:t>+</a:t>
            </a:r>
            <a:endParaRPr kumimoji="0" lang="en-US" b="0" i="0" u="none" strike="noStrike" cap="none" normalizeH="0" baseline="0" dirty="0">
              <a:ln>
                <a:noFill/>
              </a:ln>
              <a:solidFill>
                <a:schemeClr val="tx1"/>
              </a:solidFill>
              <a:effectLst/>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a:t>
            </a:fld>
            <a:endParaRPr lang="en-IN"/>
          </a:p>
        </p:txBody>
      </p:sp>
      <p:sp>
        <p:nvSpPr>
          <p:cNvPr id="3" name="Rectangle 2"/>
          <p:cNvSpPr/>
          <p:nvPr/>
        </p:nvSpPr>
        <p:spPr>
          <a:xfrm>
            <a:off x="179512" y="188640"/>
            <a:ext cx="8856984"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3:</a:t>
            </a:r>
          </a:p>
          <a:p>
            <a:r>
              <a:rPr lang="en-IN" dirty="0"/>
              <a:t>Write the regular expression for the language accepting all the string containing any number of a's and b's.</a:t>
            </a:r>
          </a:p>
        </p:txBody>
      </p:sp>
      <p:sp>
        <p:nvSpPr>
          <p:cNvPr id="4" name="Rectangle 3"/>
          <p:cNvSpPr/>
          <p:nvPr/>
        </p:nvSpPr>
        <p:spPr>
          <a:xfrm>
            <a:off x="180402" y="1142854"/>
            <a:ext cx="6911877" cy="923330"/>
          </a:xfrm>
          <a:prstGeom prst="rect">
            <a:avLst/>
          </a:prstGeom>
        </p:spPr>
        <p:txBody>
          <a:bodyPr wrap="square">
            <a:spAutoFit/>
          </a:bodyPr>
          <a:lstStyle/>
          <a:p>
            <a:r>
              <a:rPr lang="en-IN" b="1" dirty="0">
                <a:solidFill>
                  <a:srgbClr val="008000"/>
                </a:solidFill>
              </a:rPr>
              <a:t>Solution:</a:t>
            </a:r>
            <a:endParaRPr lang="en-IN" dirty="0">
              <a:solidFill>
                <a:srgbClr val="008000"/>
              </a:solidFill>
            </a:endParaRPr>
          </a:p>
          <a:p>
            <a:r>
              <a:rPr lang="en-IN" dirty="0"/>
              <a:t>The regular expression will be:</a:t>
            </a:r>
          </a:p>
          <a:p>
            <a:r>
              <a:rPr lang="en-IN" dirty="0" err="1"/>
              <a:t>r.e</a:t>
            </a:r>
            <a:r>
              <a:rPr lang="en-IN" dirty="0"/>
              <a:t>. = (a + b)*  </a:t>
            </a:r>
          </a:p>
        </p:txBody>
      </p:sp>
      <p:sp>
        <p:nvSpPr>
          <p:cNvPr id="5" name="Rectangle 4"/>
          <p:cNvSpPr/>
          <p:nvPr/>
        </p:nvSpPr>
        <p:spPr>
          <a:xfrm>
            <a:off x="251520" y="2093600"/>
            <a:ext cx="8136904" cy="1200329"/>
          </a:xfrm>
          <a:prstGeom prst="rect">
            <a:avLst/>
          </a:prstGeom>
        </p:spPr>
        <p:txBody>
          <a:bodyPr wrap="square">
            <a:spAutoFit/>
          </a:bodyPr>
          <a:lstStyle/>
          <a:p>
            <a:r>
              <a:rPr lang="en-IN" dirty="0"/>
              <a:t>This will give the set as L = {ε, a, </a:t>
            </a:r>
            <a:r>
              <a:rPr lang="en-IN" dirty="0" err="1"/>
              <a:t>aa</a:t>
            </a:r>
            <a:r>
              <a:rPr lang="en-IN" dirty="0"/>
              <a:t>, b, bb, </a:t>
            </a:r>
            <a:r>
              <a:rPr lang="en-IN" dirty="0" err="1"/>
              <a:t>ab</a:t>
            </a:r>
            <a:r>
              <a:rPr lang="en-IN" dirty="0"/>
              <a:t>, </a:t>
            </a:r>
            <a:r>
              <a:rPr lang="en-IN" dirty="0" err="1"/>
              <a:t>ba</a:t>
            </a:r>
            <a:r>
              <a:rPr lang="en-IN" dirty="0"/>
              <a:t>, aba, </a:t>
            </a:r>
            <a:r>
              <a:rPr lang="en-IN" dirty="0" err="1"/>
              <a:t>bab</a:t>
            </a:r>
            <a:r>
              <a:rPr lang="en-IN" dirty="0"/>
              <a:t>, .....}, any combination of a and b.</a:t>
            </a:r>
          </a:p>
          <a:p>
            <a:endParaRPr lang="en-IN" dirty="0"/>
          </a:p>
          <a:p>
            <a:r>
              <a:rPr lang="en-IN" dirty="0"/>
              <a:t>The (a + b)* shows any combination with a and b even a null string.</a:t>
            </a:r>
          </a:p>
        </p:txBody>
      </p:sp>
      <p:sp>
        <p:nvSpPr>
          <p:cNvPr id="6" name="Rectangle 5"/>
          <p:cNvSpPr/>
          <p:nvPr/>
        </p:nvSpPr>
        <p:spPr>
          <a:xfrm>
            <a:off x="211559" y="3573016"/>
            <a:ext cx="8496944"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4:</a:t>
            </a:r>
          </a:p>
          <a:p>
            <a:r>
              <a:rPr lang="en-IN" dirty="0"/>
              <a:t>Write the regular expression for the language accepting all the string which are starting with 1 and ending with 0, over ∑ = {0, 1}.</a:t>
            </a:r>
          </a:p>
        </p:txBody>
      </p:sp>
      <p:sp>
        <p:nvSpPr>
          <p:cNvPr id="7" name="Rectangle 6"/>
          <p:cNvSpPr/>
          <p:nvPr/>
        </p:nvSpPr>
        <p:spPr>
          <a:xfrm>
            <a:off x="224345" y="4941168"/>
            <a:ext cx="8456982" cy="1200329"/>
          </a:xfrm>
          <a:prstGeom prst="rect">
            <a:avLst/>
          </a:prstGeom>
        </p:spPr>
        <p:txBody>
          <a:bodyPr wrap="square">
            <a:spAutoFit/>
          </a:bodyPr>
          <a:lstStyle/>
          <a:p>
            <a:r>
              <a:rPr lang="en-IN" b="1" dirty="0"/>
              <a:t>Solution:</a:t>
            </a:r>
            <a:endParaRPr lang="en-IN" dirty="0"/>
          </a:p>
          <a:p>
            <a:r>
              <a:rPr lang="en-IN" dirty="0"/>
              <a:t>In a regular expression, the first symbol should be 1, and the last symbol should be 0. The </a:t>
            </a:r>
            <a:r>
              <a:rPr lang="en-IN" dirty="0" err="1"/>
              <a:t>r.e</a:t>
            </a:r>
            <a:r>
              <a:rPr lang="en-IN" dirty="0"/>
              <a:t>. is as follows:</a:t>
            </a:r>
          </a:p>
          <a:p>
            <a:r>
              <a:rPr lang="en-IN" dirty="0"/>
              <a:t>R = 1 (0+1)* 0  </a:t>
            </a:r>
          </a:p>
        </p:txBody>
      </p:sp>
      <p:cxnSp>
        <p:nvCxnSpPr>
          <p:cNvPr id="8" name="Straight Connector 7"/>
          <p:cNvCxnSpPr/>
          <p:nvPr/>
        </p:nvCxnSpPr>
        <p:spPr>
          <a:xfrm>
            <a:off x="72008" y="3429000"/>
            <a:ext cx="8964488"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a:t>
            </a:fld>
            <a:endParaRPr lang="en-IN"/>
          </a:p>
        </p:txBody>
      </p:sp>
      <p:sp>
        <p:nvSpPr>
          <p:cNvPr id="4" name="Rectangle 3"/>
          <p:cNvSpPr/>
          <p:nvPr/>
        </p:nvSpPr>
        <p:spPr>
          <a:xfrm>
            <a:off x="251520" y="116632"/>
            <a:ext cx="8568952"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5:</a:t>
            </a:r>
          </a:p>
          <a:p>
            <a:r>
              <a:rPr lang="en-IN" dirty="0"/>
              <a:t>Write the regular expression for the language starting and ending with a and having any having any combination of b's in between.</a:t>
            </a:r>
          </a:p>
        </p:txBody>
      </p:sp>
      <p:sp>
        <p:nvSpPr>
          <p:cNvPr id="5" name="Rectangle 4"/>
          <p:cNvSpPr/>
          <p:nvPr/>
        </p:nvSpPr>
        <p:spPr>
          <a:xfrm>
            <a:off x="395536" y="1196752"/>
            <a:ext cx="6408712" cy="923330"/>
          </a:xfrm>
          <a:prstGeom prst="rect">
            <a:avLst/>
          </a:prstGeom>
        </p:spPr>
        <p:txBody>
          <a:bodyPr wrap="square">
            <a:spAutoFit/>
          </a:bodyPr>
          <a:lstStyle/>
          <a:p>
            <a:r>
              <a:rPr lang="en-IN" b="1" dirty="0"/>
              <a:t>Solution:</a:t>
            </a:r>
            <a:endParaRPr lang="en-IN" dirty="0"/>
          </a:p>
          <a:p>
            <a:r>
              <a:rPr lang="en-IN" dirty="0"/>
              <a:t>The regular expression will be:</a:t>
            </a:r>
          </a:p>
          <a:p>
            <a:r>
              <a:rPr lang="en-IN" dirty="0"/>
              <a:t>R = a b*</a:t>
            </a:r>
            <a:r>
              <a:rPr lang="en-IN"/>
              <a:t> a</a:t>
            </a:r>
            <a:r>
              <a:rPr lang="en-IN" dirty="0"/>
              <a:t>  </a:t>
            </a:r>
          </a:p>
        </p:txBody>
      </p:sp>
      <p:cxnSp>
        <p:nvCxnSpPr>
          <p:cNvPr id="6" name="Straight Connector 5"/>
          <p:cNvCxnSpPr/>
          <p:nvPr/>
        </p:nvCxnSpPr>
        <p:spPr>
          <a:xfrm>
            <a:off x="0" y="2276872"/>
            <a:ext cx="8964488"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51520" y="2420888"/>
            <a:ext cx="8399517"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6:</a:t>
            </a:r>
          </a:p>
          <a:p>
            <a:r>
              <a:rPr lang="en-IN" dirty="0"/>
              <a:t>Write the regular expression for the language starting with a but not having consecutive b's.</a:t>
            </a:r>
          </a:p>
        </p:txBody>
      </p:sp>
      <p:sp>
        <p:nvSpPr>
          <p:cNvPr id="8" name="Rectangle 7"/>
          <p:cNvSpPr/>
          <p:nvPr/>
        </p:nvSpPr>
        <p:spPr>
          <a:xfrm>
            <a:off x="395535" y="3717032"/>
            <a:ext cx="8255501" cy="2308324"/>
          </a:xfrm>
          <a:prstGeom prst="rect">
            <a:avLst/>
          </a:prstGeom>
        </p:spPr>
        <p:txBody>
          <a:bodyPr wrap="square">
            <a:spAutoFit/>
          </a:bodyPr>
          <a:lstStyle/>
          <a:p>
            <a:r>
              <a:rPr lang="en-IN" b="1" dirty="0"/>
              <a:t>Solution:</a:t>
            </a:r>
            <a:r>
              <a:rPr lang="en-IN" dirty="0"/>
              <a:t> </a:t>
            </a:r>
          </a:p>
          <a:p>
            <a:endParaRPr lang="en-IN" dirty="0"/>
          </a:p>
          <a:p>
            <a:r>
              <a:rPr lang="en-IN" dirty="0"/>
              <a:t>The regular expression has to be built for the language:</a:t>
            </a:r>
          </a:p>
          <a:p>
            <a:r>
              <a:rPr lang="en-IN" dirty="0"/>
              <a:t>L = {a, aba, </a:t>
            </a:r>
            <a:r>
              <a:rPr lang="en-IN" dirty="0" err="1"/>
              <a:t>aab</a:t>
            </a:r>
            <a:r>
              <a:rPr lang="en-IN" dirty="0"/>
              <a:t>, aba, </a:t>
            </a:r>
            <a:r>
              <a:rPr lang="en-IN" dirty="0" err="1"/>
              <a:t>aaa</a:t>
            </a:r>
            <a:r>
              <a:rPr lang="en-IN" dirty="0"/>
              <a:t>, </a:t>
            </a:r>
            <a:r>
              <a:rPr lang="en-IN" dirty="0" err="1"/>
              <a:t>abab</a:t>
            </a:r>
            <a:r>
              <a:rPr lang="en-IN" dirty="0"/>
              <a:t>, .....} </a:t>
            </a:r>
          </a:p>
          <a:p>
            <a:endParaRPr lang="en-IN" dirty="0"/>
          </a:p>
          <a:p>
            <a:r>
              <a:rPr lang="en-IN" dirty="0"/>
              <a:t> </a:t>
            </a:r>
          </a:p>
          <a:p>
            <a:r>
              <a:rPr lang="en-IN" dirty="0"/>
              <a:t>The regular expression for the above language is:</a:t>
            </a:r>
          </a:p>
          <a:p>
            <a:r>
              <a:rPr lang="en-IN" dirty="0"/>
              <a:t>R = {a + </a:t>
            </a:r>
            <a:r>
              <a:rPr lang="en-IN" dirty="0" err="1"/>
              <a:t>ab</a:t>
            </a:r>
            <a:r>
              <a:rPr lang="en-IN"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a:t>
            </a:fld>
            <a:endParaRPr lang="en-IN"/>
          </a:p>
        </p:txBody>
      </p:sp>
      <p:sp>
        <p:nvSpPr>
          <p:cNvPr id="3" name="Rectangle 2"/>
          <p:cNvSpPr/>
          <p:nvPr/>
        </p:nvSpPr>
        <p:spPr>
          <a:xfrm>
            <a:off x="251520" y="188640"/>
            <a:ext cx="8496944" cy="1200329"/>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7:</a:t>
            </a:r>
          </a:p>
          <a:p>
            <a:r>
              <a:rPr lang="en-IN" dirty="0"/>
              <a:t>Write the regular expression for the language accepting all the string in which any number of a's is followed by any number of b's is followed by any number of c's.</a:t>
            </a:r>
          </a:p>
        </p:txBody>
      </p:sp>
      <p:sp>
        <p:nvSpPr>
          <p:cNvPr id="4" name="Rectangle 3"/>
          <p:cNvSpPr/>
          <p:nvPr/>
        </p:nvSpPr>
        <p:spPr>
          <a:xfrm>
            <a:off x="251520" y="1405471"/>
            <a:ext cx="8496944" cy="1754326"/>
          </a:xfrm>
          <a:prstGeom prst="rect">
            <a:avLst/>
          </a:prstGeom>
        </p:spPr>
        <p:txBody>
          <a:bodyPr wrap="square">
            <a:spAutoFit/>
          </a:bodyPr>
          <a:lstStyle/>
          <a:p>
            <a:r>
              <a:rPr lang="en-IN" b="1" dirty="0"/>
              <a:t>Solution:</a:t>
            </a:r>
            <a:r>
              <a:rPr lang="en-IN" dirty="0"/>
              <a:t> </a:t>
            </a:r>
          </a:p>
          <a:p>
            <a:r>
              <a:rPr lang="en-IN" dirty="0"/>
              <a:t>As we know, any number of a's means a* any number of b's means b*, any number of c's means c*. Since as given in problem statement, b's appear after a's and c's appear after b's. </a:t>
            </a:r>
          </a:p>
          <a:p>
            <a:r>
              <a:rPr lang="en-IN" dirty="0"/>
              <a:t>So the regular expression could be:</a:t>
            </a:r>
          </a:p>
          <a:p>
            <a:r>
              <a:rPr lang="en-IN" dirty="0"/>
              <a:t>R = a* b* c*  </a:t>
            </a:r>
          </a:p>
        </p:txBody>
      </p:sp>
      <p:cxnSp>
        <p:nvCxnSpPr>
          <p:cNvPr id="5" name="Straight Connector 4"/>
          <p:cNvCxnSpPr/>
          <p:nvPr/>
        </p:nvCxnSpPr>
        <p:spPr>
          <a:xfrm>
            <a:off x="17748" y="3159797"/>
            <a:ext cx="8964488"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85056" y="3284984"/>
            <a:ext cx="8463408"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8:</a:t>
            </a:r>
          </a:p>
          <a:p>
            <a:r>
              <a:rPr lang="en-IN" dirty="0"/>
              <a:t>Write the regular expression for the language over ∑ = {0} having even length of the string.</a:t>
            </a:r>
          </a:p>
        </p:txBody>
      </p:sp>
      <p:sp>
        <p:nvSpPr>
          <p:cNvPr id="7" name="Rectangle 6"/>
          <p:cNvSpPr/>
          <p:nvPr/>
        </p:nvSpPr>
        <p:spPr>
          <a:xfrm>
            <a:off x="285056" y="4219522"/>
            <a:ext cx="8463408" cy="2308324"/>
          </a:xfrm>
          <a:prstGeom prst="rect">
            <a:avLst/>
          </a:prstGeom>
        </p:spPr>
        <p:txBody>
          <a:bodyPr wrap="square">
            <a:spAutoFit/>
          </a:bodyPr>
          <a:lstStyle/>
          <a:p>
            <a:r>
              <a:rPr lang="en-IN" b="1" dirty="0"/>
              <a:t>Solution:</a:t>
            </a:r>
            <a:endParaRPr lang="en-IN" dirty="0"/>
          </a:p>
          <a:p>
            <a:r>
              <a:rPr lang="en-IN" dirty="0"/>
              <a:t>The regular expression has to be built for the language:</a:t>
            </a:r>
          </a:p>
          <a:p>
            <a:endParaRPr lang="en-IN" dirty="0"/>
          </a:p>
          <a:p>
            <a:r>
              <a:rPr lang="en-IN" dirty="0"/>
              <a:t>L = {ε, 00, 0000, 000000, ......}  </a:t>
            </a:r>
          </a:p>
          <a:p>
            <a:endParaRPr lang="en-IN" dirty="0"/>
          </a:p>
          <a:p>
            <a:r>
              <a:rPr lang="en-IN" dirty="0"/>
              <a:t>The regular expression for the above language is:</a:t>
            </a:r>
          </a:p>
          <a:p>
            <a:endParaRPr lang="en-IN" dirty="0"/>
          </a:p>
          <a:p>
            <a:r>
              <a:rPr lang="en-IN" dirty="0"/>
              <a:t>R = (00)*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9</a:t>
            </a:fld>
            <a:endParaRPr lang="en-IN"/>
          </a:p>
        </p:txBody>
      </p:sp>
      <p:sp>
        <p:nvSpPr>
          <p:cNvPr id="3" name="Rectangle 2"/>
          <p:cNvSpPr/>
          <p:nvPr/>
        </p:nvSpPr>
        <p:spPr>
          <a:xfrm>
            <a:off x="179512" y="116632"/>
            <a:ext cx="8568952"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9:</a:t>
            </a:r>
          </a:p>
          <a:p>
            <a:r>
              <a:rPr lang="en-IN" dirty="0"/>
              <a:t>Write the regular expression for the language having a string which should have </a:t>
            </a:r>
            <a:r>
              <a:rPr lang="en-IN" dirty="0" err="1"/>
              <a:t>atleast</a:t>
            </a:r>
            <a:r>
              <a:rPr lang="en-IN" dirty="0"/>
              <a:t> one 0 and </a:t>
            </a:r>
            <a:r>
              <a:rPr lang="en-IN" dirty="0" err="1"/>
              <a:t>alteast</a:t>
            </a:r>
            <a:r>
              <a:rPr lang="en-IN" dirty="0"/>
              <a:t> one 1.</a:t>
            </a:r>
          </a:p>
        </p:txBody>
      </p:sp>
      <p:sp>
        <p:nvSpPr>
          <p:cNvPr id="4" name="Rectangle 3"/>
          <p:cNvSpPr/>
          <p:nvPr/>
        </p:nvSpPr>
        <p:spPr>
          <a:xfrm>
            <a:off x="323528" y="1196752"/>
            <a:ext cx="8280920" cy="1477328"/>
          </a:xfrm>
          <a:prstGeom prst="rect">
            <a:avLst/>
          </a:prstGeom>
        </p:spPr>
        <p:txBody>
          <a:bodyPr wrap="square">
            <a:spAutoFit/>
          </a:bodyPr>
          <a:lstStyle/>
          <a:p>
            <a:r>
              <a:rPr lang="en-IN" b="1" dirty="0"/>
              <a:t>Solution:</a:t>
            </a:r>
          </a:p>
          <a:p>
            <a:endParaRPr lang="en-IN" dirty="0"/>
          </a:p>
          <a:p>
            <a:r>
              <a:rPr lang="en-IN" dirty="0"/>
              <a:t>The regular expression will be:</a:t>
            </a:r>
          </a:p>
          <a:p>
            <a:endParaRPr lang="en-IN" dirty="0"/>
          </a:p>
          <a:p>
            <a:r>
              <a:rPr lang="en-IN" dirty="0"/>
              <a:t>R = [(0 + 1)* 0 (0 + 1)* 1 (0 + 1)*] + [(0 + 1)* 1 (0 + 1)* 0 (0 + 1)*]</a:t>
            </a:r>
          </a:p>
        </p:txBody>
      </p:sp>
      <p:cxnSp>
        <p:nvCxnSpPr>
          <p:cNvPr id="5" name="Straight Connector 4"/>
          <p:cNvCxnSpPr/>
          <p:nvPr/>
        </p:nvCxnSpPr>
        <p:spPr>
          <a:xfrm>
            <a:off x="17748" y="2708920"/>
            <a:ext cx="8964488"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23528" y="2955943"/>
            <a:ext cx="8280920" cy="923330"/>
          </a:xfrm>
          <a:prstGeom prst="rect">
            <a:avLst/>
          </a:prstGeom>
        </p:spPr>
        <p:txBody>
          <a:bodyPr wrap="square">
            <a:spAutoFit/>
          </a:bodyPr>
          <a:lstStyle/>
          <a:p>
            <a:r>
              <a:rPr lang="en-IN" b="1" dirty="0">
                <a:solidFill>
                  <a:srgbClr val="C00000"/>
                </a:solidFill>
                <a:effectLst>
                  <a:outerShdw blurRad="38100" dist="38100" dir="2700000" algn="tl">
                    <a:srgbClr val="000000">
                      <a:alpha val="43137"/>
                    </a:srgbClr>
                  </a:outerShdw>
                </a:effectLst>
              </a:rPr>
              <a:t>Example 10</a:t>
            </a:r>
            <a:r>
              <a:rPr lang="en-IN" dirty="0"/>
              <a:t>:</a:t>
            </a:r>
          </a:p>
          <a:p>
            <a:r>
              <a:rPr lang="en-IN" dirty="0"/>
              <a:t>Describe the language denoted by following regular expression </a:t>
            </a:r>
          </a:p>
          <a:p>
            <a:r>
              <a:rPr lang="en-IN" dirty="0" err="1"/>
              <a:t>r.e</a:t>
            </a:r>
            <a:r>
              <a:rPr lang="en-IN" dirty="0"/>
              <a:t>. = (b* (</a:t>
            </a:r>
            <a:r>
              <a:rPr lang="en-IN" dirty="0" err="1"/>
              <a:t>aaa</a:t>
            </a:r>
            <a:r>
              <a:rPr lang="en-IN" dirty="0"/>
              <a:t>)* b*)*  </a:t>
            </a:r>
          </a:p>
        </p:txBody>
      </p:sp>
      <p:sp>
        <p:nvSpPr>
          <p:cNvPr id="7" name="Rectangle 6"/>
          <p:cNvSpPr/>
          <p:nvPr/>
        </p:nvSpPr>
        <p:spPr>
          <a:xfrm>
            <a:off x="251520" y="4000996"/>
            <a:ext cx="7992888" cy="2308324"/>
          </a:xfrm>
          <a:prstGeom prst="rect">
            <a:avLst/>
          </a:prstGeom>
        </p:spPr>
        <p:txBody>
          <a:bodyPr wrap="square">
            <a:spAutoFit/>
          </a:bodyPr>
          <a:lstStyle/>
          <a:p>
            <a:r>
              <a:rPr lang="en-IN" b="1" dirty="0"/>
              <a:t>Solution:</a:t>
            </a:r>
            <a:endParaRPr lang="en-IN" dirty="0"/>
          </a:p>
          <a:p>
            <a:r>
              <a:rPr lang="en-IN" dirty="0"/>
              <a:t>The language can be predicted from the regular expression by finding the meaning of it. We will first split the regular expression as:</a:t>
            </a:r>
          </a:p>
          <a:p>
            <a:endParaRPr lang="en-IN" dirty="0"/>
          </a:p>
          <a:p>
            <a:r>
              <a:rPr lang="en-IN" dirty="0" err="1"/>
              <a:t>r.e</a:t>
            </a:r>
            <a:r>
              <a:rPr lang="en-IN" dirty="0"/>
              <a:t>. = (any combination of b's) (</a:t>
            </a:r>
            <a:r>
              <a:rPr lang="en-IN" dirty="0" err="1"/>
              <a:t>aaa</a:t>
            </a:r>
            <a:r>
              <a:rPr lang="en-IN" dirty="0"/>
              <a:t>)* (any combination of b's)</a:t>
            </a:r>
          </a:p>
          <a:p>
            <a:endParaRPr lang="en-IN" dirty="0"/>
          </a:p>
          <a:p>
            <a:r>
              <a:rPr lang="en-IN" dirty="0"/>
              <a:t>L = {The language consists of the string in which a's appear triples, there is no restriction on the number of b's}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Regular expression to ∈-NFA</a:t>
            </a:r>
            <a:endParaRPr lang="en-IN" dirty="0"/>
          </a:p>
        </p:txBody>
      </p:sp>
      <p:sp>
        <p:nvSpPr>
          <p:cNvPr id="3" name="Content Placeholder 2"/>
          <p:cNvSpPr>
            <a:spLocks noGrp="1"/>
          </p:cNvSpPr>
          <p:nvPr>
            <p:ph sz="quarter" idx="1"/>
          </p:nvPr>
        </p:nvSpPr>
        <p:spPr/>
        <p:txBody>
          <a:bodyPr>
            <a:normAutofit lnSpcReduction="10000"/>
          </a:bodyPr>
          <a:lstStyle/>
          <a:p>
            <a:r>
              <a:rPr lang="en-IN" dirty="0"/>
              <a:t>Union case</a:t>
            </a:r>
          </a:p>
          <a:p>
            <a:pPr lvl="1"/>
            <a:r>
              <a:rPr lang="en-IN" dirty="0" err="1"/>
              <a:t>a+b</a:t>
            </a:r>
            <a:r>
              <a:rPr lang="en-IN" dirty="0"/>
              <a:t>, a x b, a-b, or a/b</a:t>
            </a:r>
          </a:p>
          <a:p>
            <a:pPr lvl="1"/>
            <a:endParaRPr lang="en-IN" dirty="0"/>
          </a:p>
          <a:p>
            <a:pPr lvl="1"/>
            <a:endParaRPr lang="en-IN" dirty="0"/>
          </a:p>
          <a:p>
            <a:endParaRPr lang="en-IN" dirty="0"/>
          </a:p>
          <a:p>
            <a:endParaRPr lang="en-IN" dirty="0"/>
          </a:p>
          <a:p>
            <a:endParaRPr lang="en-IN" dirty="0"/>
          </a:p>
          <a:p>
            <a:endParaRPr lang="en-IN" dirty="0"/>
          </a:p>
          <a:p>
            <a:r>
              <a:rPr lang="en-IN" dirty="0"/>
              <a:t>Concatenation case</a:t>
            </a:r>
          </a:p>
          <a:p>
            <a:pPr lvl="1"/>
            <a:r>
              <a:rPr lang="en-IN" dirty="0" err="1"/>
              <a:t>ab</a:t>
            </a:r>
            <a:endParaRPr lang="en-IN" dirty="0"/>
          </a:p>
          <a:p>
            <a:r>
              <a:rPr lang="en-IN" dirty="0"/>
              <a:t>Closure case</a:t>
            </a:r>
          </a:p>
          <a:p>
            <a:pPr lvl="1"/>
            <a:r>
              <a:rPr lang="en-IN" dirty="0"/>
              <a:t>a* </a:t>
            </a:r>
          </a:p>
          <a:p>
            <a:endParaRPr lang="en-IN" dirty="0"/>
          </a:p>
        </p:txBody>
      </p:sp>
      <p:sp>
        <p:nvSpPr>
          <p:cNvPr id="4" name="Slide Number Placeholder 3"/>
          <p:cNvSpPr>
            <a:spLocks noGrp="1"/>
          </p:cNvSpPr>
          <p:nvPr>
            <p:ph type="sldNum" sz="quarter" idx="15"/>
          </p:nvPr>
        </p:nvSpPr>
        <p:spPr/>
        <p:txBody>
          <a:bodyPr/>
          <a:lstStyle/>
          <a:p>
            <a:fld id="{EA7D41E8-55CE-4D73-90D6-F936F71D14C1}" type="slidenum">
              <a:rPr lang="en-IN" smtClean="0"/>
              <a:t>10</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636912"/>
            <a:ext cx="551497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2341637"/>
            <a:ext cx="267652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195195" y="1700530"/>
            <a:ext cx="6172200" cy="1894362"/>
          </a:xfrm>
        </p:spPr>
        <p:txBody>
          <a:bodyPr/>
          <a:lstStyle/>
          <a:p>
            <a:r>
              <a:rPr lang="en-US"/>
              <a:t>Regular Expression to nfa</a:t>
            </a:r>
          </a:p>
        </p:txBody>
      </p:sp>
      <p:sp>
        <p:nvSpPr>
          <p:cNvPr id="6" name="Subtitle 5"/>
          <p:cNvSpPr>
            <a:spLocks noGrp="1"/>
          </p:cNvSpPr>
          <p:nvPr>
            <p:ph type="subTitle" idx="1"/>
          </p:nvPr>
        </p:nvSpPr>
        <p:spPr/>
        <p:txBody>
          <a:bodyPr/>
          <a:lstStyle/>
          <a:p>
            <a:r>
              <a:rPr lang="en-US">
                <a:latin typeface="Arial" panose="020B0604020202020204" pitchFamily="34" charset="0"/>
                <a:cs typeface="Arial" panose="020B0604020202020204" pitchFamily="34" charset="0"/>
              </a:rPr>
              <a:t>Let r be a regular expression, then there exists a NFA eith ε transitions that accepts L (r).</a:t>
            </a:r>
          </a:p>
        </p:txBody>
      </p:sp>
      <p:sp>
        <p:nvSpPr>
          <p:cNvPr id="4" name="Slide Number Placeholder 3"/>
          <p:cNvSpPr>
            <a:spLocks noGrp="1"/>
          </p:cNvSpPr>
          <p:nvPr>
            <p:ph type="sldNum" sz="quarter" idx="12"/>
          </p:nvPr>
        </p:nvSpPr>
        <p:spPr/>
        <p:txBody>
          <a:bodyPr/>
          <a:lstStyle/>
          <a:p>
            <a:fld id="{EA7D41E8-55CE-4D73-90D6-F936F71D14C1}" type="slidenum">
              <a:rPr lang="en-IN" smtClean="0"/>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fld id="{EA7D41E8-55CE-4D73-90D6-F936F71D14C1}" type="slidenum">
              <a:rPr lang="en-IN" smtClean="0"/>
              <a:t>12</a:t>
            </a:fld>
            <a:endParaRPr lang="en-IN"/>
          </a:p>
        </p:txBody>
      </p:sp>
      <p:pic>
        <p:nvPicPr>
          <p:cNvPr id="5" name="Content Placeholder 4" descr="theorem_1"/>
          <p:cNvPicPr>
            <a:picLocks noGrp="1" noChangeAspect="1"/>
          </p:cNvPicPr>
          <p:nvPr>
            <p:ph sz="quarter" idx="1"/>
          </p:nvPr>
        </p:nvPicPr>
        <p:blipFill>
          <a:blip r:embed="rId2"/>
          <a:stretch>
            <a:fillRect/>
          </a:stretch>
        </p:blipFill>
        <p:spPr>
          <a:xfrm>
            <a:off x="165735" y="143510"/>
            <a:ext cx="8564245" cy="67138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fld id="{EA7D41E8-55CE-4D73-90D6-F936F71D14C1}" type="slidenum">
              <a:rPr lang="en-IN" smtClean="0"/>
              <a:t>13</a:t>
            </a:fld>
            <a:endParaRPr lang="en-IN"/>
          </a:p>
        </p:txBody>
      </p:sp>
      <p:pic>
        <p:nvPicPr>
          <p:cNvPr id="5" name="Content Placeholder 4" descr="theorem_2"/>
          <p:cNvPicPr>
            <a:picLocks noGrp="1" noChangeAspect="1"/>
          </p:cNvPicPr>
          <p:nvPr>
            <p:ph sz="quarter" idx="1"/>
          </p:nvPr>
        </p:nvPicPr>
        <p:blipFill>
          <a:blip r:embed="rId2"/>
          <a:stretch>
            <a:fillRect/>
          </a:stretch>
        </p:blipFill>
        <p:spPr>
          <a:xfrm>
            <a:off x="269875" y="99695"/>
            <a:ext cx="8468360" cy="6644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fld id="{EA7D41E8-55CE-4D73-90D6-F936F71D14C1}" type="slidenum">
              <a:rPr lang="en-IN" smtClean="0"/>
              <a:t>14</a:t>
            </a:fld>
            <a:endParaRPr lang="en-IN"/>
          </a:p>
        </p:txBody>
      </p:sp>
      <p:pic>
        <p:nvPicPr>
          <p:cNvPr id="7" name="Content Placeholder 6" descr="theorem_3"/>
          <p:cNvPicPr>
            <a:picLocks noGrp="1" noChangeAspect="1"/>
          </p:cNvPicPr>
          <p:nvPr>
            <p:ph sz="quarter" idx="1"/>
          </p:nvPr>
        </p:nvPicPr>
        <p:blipFill>
          <a:blip r:embed="rId2"/>
          <a:stretch>
            <a:fillRect/>
          </a:stretch>
        </p:blipFill>
        <p:spPr>
          <a:xfrm>
            <a:off x="253365" y="319405"/>
            <a:ext cx="8289290" cy="60477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15</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7560840" cy="62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946" y="914399"/>
            <a:ext cx="6857350" cy="329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94" y="4237676"/>
            <a:ext cx="9017704" cy="1037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1746" y="5517232"/>
            <a:ext cx="3787434"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16</a:t>
            </a:fld>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88639"/>
            <a:ext cx="8424936" cy="2791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72" y="3212976"/>
            <a:ext cx="8048625"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17</a:t>
            </a:fld>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908720"/>
            <a:ext cx="8610600"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18</a:t>
            </a:fld>
            <a:endParaRPr lang="en-IN"/>
          </a:p>
        </p:txBody>
      </p:sp>
      <p:sp>
        <p:nvSpPr>
          <p:cNvPr id="3" name="TextBox 2"/>
          <p:cNvSpPr txBox="1"/>
          <p:nvPr/>
        </p:nvSpPr>
        <p:spPr>
          <a:xfrm>
            <a:off x="251520" y="107340"/>
            <a:ext cx="1574470" cy="369332"/>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Example - 2</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76672"/>
            <a:ext cx="5124450"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952328"/>
            <a:ext cx="8010525"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19</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16632"/>
            <a:ext cx="803910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96" y="4015996"/>
            <a:ext cx="8964488"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300" y="3284984"/>
            <a:ext cx="429577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20</a:t>
            </a:fld>
            <a:endParaRPr lang="en-IN"/>
          </a:p>
        </p:txBody>
      </p:sp>
      <p:sp>
        <p:nvSpPr>
          <p:cNvPr id="4" name="TextBox 3"/>
          <p:cNvSpPr txBox="1"/>
          <p:nvPr/>
        </p:nvSpPr>
        <p:spPr>
          <a:xfrm>
            <a:off x="179511" y="51922"/>
            <a:ext cx="1574470" cy="369332"/>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Example - 3</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14413"/>
            <a:ext cx="8839200"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21</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 y="1052736"/>
            <a:ext cx="8829675"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8129016" y="5733256"/>
            <a:ext cx="609600" cy="521208"/>
          </a:xfrm>
        </p:spPr>
        <p:txBody>
          <a:bodyPr/>
          <a:lstStyle/>
          <a:p>
            <a:fld id="{EA7D41E8-55CE-4D73-90D6-F936F71D14C1}" type="slidenum">
              <a:rPr lang="en-IN" smtClean="0"/>
              <a:t>22</a:t>
            </a:fld>
            <a:endParaRPr lang="en-I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324049"/>
            <a:ext cx="8280920" cy="848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51520" y="881482"/>
            <a:ext cx="1574470" cy="369332"/>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Example - 4</a:t>
            </a:r>
          </a:p>
        </p:txBody>
      </p:sp>
      <p:sp>
        <p:nvSpPr>
          <p:cNvPr id="5" name="TextBox 4"/>
          <p:cNvSpPr txBox="1"/>
          <p:nvPr/>
        </p:nvSpPr>
        <p:spPr>
          <a:xfrm>
            <a:off x="320457" y="2618966"/>
            <a:ext cx="1574470" cy="369332"/>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Example - 5</a:t>
            </a:r>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609" y="3267038"/>
            <a:ext cx="8186831" cy="546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347830" y="4275150"/>
            <a:ext cx="1574470" cy="369332"/>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Example - 6</a:t>
            </a:r>
          </a:p>
        </p:txBody>
      </p:sp>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457" y="4851214"/>
            <a:ext cx="8355999" cy="739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812225" y="260647"/>
            <a:ext cx="5347939" cy="461665"/>
          </a:xfrm>
          <a:prstGeom prst="rect">
            <a:avLst/>
          </a:prstGeom>
          <a:solidFill>
            <a:schemeClr val="accent4">
              <a:lumMod val="60000"/>
              <a:lumOff val="40000"/>
            </a:schemeClr>
          </a:solidFill>
        </p:spPr>
        <p:txBody>
          <a:bodyPr wrap="none" rtlCol="0">
            <a:spAutoFit/>
          </a:bodyPr>
          <a:lstStyle/>
          <a:p>
            <a:r>
              <a:rPr lang="en-IN" sz="2400" b="1" dirty="0">
                <a:solidFill>
                  <a:srgbClr val="C00000"/>
                </a:solidFill>
                <a:effectLst>
                  <a:outerShdw blurRad="38100" dist="38100" dir="2700000" algn="tl">
                    <a:srgbClr val="000000">
                      <a:alpha val="43137"/>
                    </a:srgbClr>
                  </a:outerShdw>
                </a:effectLst>
              </a:rPr>
              <a:t>Unsolved Questions for Practice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3034680" cy="490066"/>
          </a:xfrm>
        </p:spPr>
        <p:txBody>
          <a:bodyPr>
            <a:normAutofit fontScale="90000"/>
          </a:bodyPr>
          <a:lstStyle/>
          <a:p>
            <a:r>
              <a:rPr lang="en-IN" dirty="0"/>
              <a:t>Identity rules</a:t>
            </a:r>
          </a:p>
        </p:txBody>
      </p:sp>
      <p:sp>
        <p:nvSpPr>
          <p:cNvPr id="3" name="Slide Number Placeholder 2"/>
          <p:cNvSpPr>
            <a:spLocks noGrp="1"/>
          </p:cNvSpPr>
          <p:nvPr>
            <p:ph type="sldNum" sz="quarter" idx="12"/>
          </p:nvPr>
        </p:nvSpPr>
        <p:spPr/>
        <p:txBody>
          <a:bodyPr/>
          <a:lstStyle/>
          <a:p>
            <a:fld id="{EA7D41E8-55CE-4D73-90D6-F936F71D14C1}" type="slidenum">
              <a:rPr lang="en-IN" smtClean="0"/>
              <a:t>23</a:t>
            </a:fld>
            <a:endParaRPr lang="en-IN"/>
          </a:p>
        </p:txBody>
      </p:sp>
      <p:sp>
        <p:nvSpPr>
          <p:cNvPr id="4" name="Content Placeholder 3"/>
          <p:cNvSpPr>
            <a:spLocks noGrp="1"/>
          </p:cNvSpPr>
          <p:nvPr>
            <p:ph sz="quarter" idx="1"/>
          </p:nvPr>
        </p:nvSpPr>
        <p:spPr>
          <a:xfrm>
            <a:off x="251520" y="1124744"/>
            <a:ext cx="3528392" cy="5047456"/>
          </a:xfrm>
        </p:spPr>
        <p:txBody>
          <a:bodyPr>
            <a:normAutofit/>
          </a:bodyPr>
          <a:lstStyle/>
          <a:p>
            <a:pPr algn="just"/>
            <a:r>
              <a:rPr lang="en-IN" sz="2000" dirty="0">
                <a:cs typeface="Arial" panose="020B0604020202020204" pitchFamily="34" charset="0"/>
              </a:rPr>
              <a:t>The two regular expressions P and Q are equivalent (denoted as P=Q) if and only if  P represents the same set of strings as Q does. For showing this equivalence of regular expressions we need to show some identities of regular expressions.</a:t>
            </a:r>
          </a:p>
          <a:p>
            <a:pPr algn="just"/>
            <a:r>
              <a:rPr lang="en-IN" sz="2000" dirty="0">
                <a:cs typeface="Arial" panose="020B0604020202020204" pitchFamily="34" charset="0"/>
              </a:rPr>
              <a:t>Let P, Q and R are some regular expressions and the identity rules are given as </a:t>
            </a:r>
          </a:p>
        </p:txBody>
      </p:sp>
      <p:pic>
        <p:nvPicPr>
          <p:cNvPr id="6" name="Content Placeholder 5"/>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3935050" y="34174"/>
            <a:ext cx="5065557" cy="6775342"/>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Generating regular expression from Finite Automata</a:t>
            </a:r>
            <a:endParaRPr lang="en-IN" dirty="0"/>
          </a:p>
        </p:txBody>
      </p:sp>
      <p:pic>
        <p:nvPicPr>
          <p:cNvPr id="5" name="Content Placeholder 4"/>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95535" y="1556792"/>
            <a:ext cx="8157811" cy="3816424"/>
          </a:xfrm>
        </p:spPr>
      </p:pic>
      <p:sp>
        <p:nvSpPr>
          <p:cNvPr id="4" name="Slide Number Placeholder 3"/>
          <p:cNvSpPr>
            <a:spLocks noGrp="1"/>
          </p:cNvSpPr>
          <p:nvPr>
            <p:ph type="sldNum" sz="quarter" idx="15"/>
          </p:nvPr>
        </p:nvSpPr>
        <p:spPr/>
        <p:txBody>
          <a:bodyPr/>
          <a:lstStyle/>
          <a:p>
            <a:fld id="{EA7D41E8-55CE-4D73-90D6-F936F71D14C1}" type="slidenum">
              <a:rPr lang="en-IN" smtClean="0"/>
              <a:t>24</a:t>
            </a:fld>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25</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4624"/>
            <a:ext cx="8590393"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348873"/>
            <a:ext cx="5328591" cy="4438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216" y="3284984"/>
            <a:ext cx="1872208" cy="2980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569764" y="755412"/>
            <a:ext cx="1462260" cy="369332"/>
          </a:xfrm>
          <a:prstGeom prst="rect">
            <a:avLst/>
          </a:prstGeom>
          <a:solidFill>
            <a:srgbClr val="FFC000"/>
          </a:solidFill>
        </p:spPr>
        <p:txBody>
          <a:bodyPr wrap="none" rtlCol="0">
            <a:spAutoFit/>
          </a:bodyPr>
          <a:lstStyle/>
          <a:p>
            <a:r>
              <a:rPr lang="en-IN" dirty="0"/>
              <a:t>Example - 1</a:t>
            </a:r>
          </a:p>
        </p:txBody>
      </p:sp>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1124744"/>
            <a:ext cx="908685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26</a:t>
            </a:fld>
            <a:endParaRPr lang="en-IN"/>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16" y="20604"/>
            <a:ext cx="8005967" cy="5229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860032" y="4149080"/>
            <a:ext cx="1726755" cy="369332"/>
          </a:xfrm>
          <a:prstGeom prst="rect">
            <a:avLst/>
          </a:prstGeom>
          <a:solidFill>
            <a:schemeClr val="bg2">
              <a:lumMod val="90000"/>
            </a:schemeClr>
          </a:solidFill>
        </p:spPr>
        <p:txBody>
          <a:bodyPr wrap="none" rtlCol="0">
            <a:spAutoFit/>
          </a:bodyPr>
          <a:lstStyle/>
          <a:p>
            <a:r>
              <a:rPr lang="en-IN" dirty="0"/>
              <a:t>Apply rule </a:t>
            </a:r>
            <a:r>
              <a:rPr lang="en-IN" dirty="0">
                <a:sym typeface="Wingdings" panose="05000000000000000000" pitchFamily="2" charset="2"/>
              </a:rPr>
              <a:t>1</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27</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6632"/>
            <a:ext cx="6336704" cy="646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28</a:t>
            </a:fld>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4613910"/>
            <a:ext cx="4803438" cy="1191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53" y="3385938"/>
            <a:ext cx="782955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685" y="5803014"/>
            <a:ext cx="5778887" cy="93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453" y="116632"/>
            <a:ext cx="596265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29</a:t>
            </a:fld>
            <a:endParaRPr lang="en-IN"/>
          </a:p>
        </p:txBody>
      </p:sp>
      <p:sp>
        <p:nvSpPr>
          <p:cNvPr id="3" name="TextBox 2"/>
          <p:cNvSpPr txBox="1"/>
          <p:nvPr/>
        </p:nvSpPr>
        <p:spPr>
          <a:xfrm>
            <a:off x="107504" y="87248"/>
            <a:ext cx="1462260" cy="369332"/>
          </a:xfrm>
          <a:prstGeom prst="rect">
            <a:avLst/>
          </a:prstGeom>
          <a:solidFill>
            <a:srgbClr val="FFC000"/>
          </a:solidFill>
        </p:spPr>
        <p:txBody>
          <a:bodyPr wrap="none" rtlCol="0">
            <a:spAutoFit/>
          </a:bodyPr>
          <a:lstStyle/>
          <a:p>
            <a:r>
              <a:rPr lang="en-IN" dirty="0"/>
              <a:t>Example - 2</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87248"/>
            <a:ext cx="61436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749584"/>
            <a:ext cx="5040560" cy="277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74" y="1154048"/>
            <a:ext cx="7908033" cy="2490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30</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8640"/>
            <a:ext cx="30384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62" y="620689"/>
            <a:ext cx="3679756"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03" y="3501009"/>
            <a:ext cx="3668815" cy="2298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670198"/>
            <a:ext cx="4452495" cy="2398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5735" y="3355536"/>
            <a:ext cx="4752975"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31</a:t>
            </a:fld>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32656"/>
            <a:ext cx="8019677"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267744" y="3284984"/>
            <a:ext cx="1854995" cy="369332"/>
          </a:xfrm>
          <a:prstGeom prst="rect">
            <a:avLst/>
          </a:prstGeom>
          <a:solidFill>
            <a:schemeClr val="bg2">
              <a:lumMod val="90000"/>
            </a:schemeClr>
          </a:solidFill>
        </p:spPr>
        <p:txBody>
          <a:bodyPr wrap="none" rtlCol="0">
            <a:spAutoFit/>
          </a:bodyPr>
          <a:lstStyle/>
          <a:p>
            <a:r>
              <a:rPr lang="en-IN" dirty="0"/>
              <a:t>Apply rule </a:t>
            </a:r>
            <a:r>
              <a:rPr lang="en-IN" dirty="0">
                <a:sym typeface="Wingdings" panose="05000000000000000000" pitchFamily="2" charset="2"/>
              </a:rPr>
              <a:t>12</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32</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802" y="41565"/>
            <a:ext cx="76009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806" y="2718089"/>
            <a:ext cx="7527946" cy="40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24806" y="1420771"/>
            <a:ext cx="1462260" cy="369332"/>
          </a:xfrm>
          <a:prstGeom prst="rect">
            <a:avLst/>
          </a:prstGeom>
          <a:solidFill>
            <a:srgbClr val="FFC000"/>
          </a:solidFill>
        </p:spPr>
        <p:txBody>
          <a:bodyPr wrap="none" rtlCol="0">
            <a:spAutoFit/>
          </a:bodyPr>
          <a:lstStyle/>
          <a:p>
            <a:r>
              <a:rPr lang="en-IN" dirty="0"/>
              <a:t>Example - 3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33</a:t>
            </a:fld>
            <a:endParaRPr lang="en-IN"/>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00" y="18403"/>
            <a:ext cx="4329800" cy="6004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34</a:t>
            </a:fld>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116" y="332656"/>
            <a:ext cx="7769300"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35</a:t>
            </a:fld>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88640"/>
            <a:ext cx="7361200"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36</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4624"/>
            <a:ext cx="860856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28" y="4653135"/>
            <a:ext cx="4361688" cy="2227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37</a:t>
            </a:fld>
            <a:endParaRPr lang="en-IN"/>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88639"/>
            <a:ext cx="6624736" cy="632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38</a:t>
            </a:fld>
            <a:endParaRPr lang="en-IN"/>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9" y="44624"/>
            <a:ext cx="4352649" cy="2743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0" y="2849175"/>
            <a:ext cx="9108504" cy="3967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39</a:t>
            </a:fld>
            <a:endParaRPr lang="en-IN"/>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8105330"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40</a:t>
            </a:fld>
            <a:endParaRPr lang="en-IN"/>
          </a:p>
        </p:txBody>
      </p:sp>
      <p:sp>
        <p:nvSpPr>
          <p:cNvPr id="3" name="TextBox 2"/>
          <p:cNvSpPr txBox="1"/>
          <p:nvPr/>
        </p:nvSpPr>
        <p:spPr>
          <a:xfrm>
            <a:off x="755576" y="395372"/>
            <a:ext cx="4095993" cy="369332"/>
          </a:xfrm>
          <a:prstGeom prst="rect">
            <a:avLst/>
          </a:prstGeom>
          <a:solidFill>
            <a:srgbClr val="FFC000"/>
          </a:solidFill>
        </p:spPr>
        <p:txBody>
          <a:bodyPr wrap="none" rtlCol="0">
            <a:spAutoFit/>
          </a:bodyPr>
          <a:lstStyle/>
          <a:p>
            <a:r>
              <a:rPr lang="en-IN" dirty="0"/>
              <a:t>Example -4 : Self Study /Assignment</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90" y="1052736"/>
            <a:ext cx="90678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8" y="3914775"/>
            <a:ext cx="8848725"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726201" y="2996952"/>
            <a:ext cx="4224233" cy="369332"/>
          </a:xfrm>
          <a:prstGeom prst="rect">
            <a:avLst/>
          </a:prstGeom>
          <a:solidFill>
            <a:srgbClr val="FFC000"/>
          </a:solidFill>
        </p:spPr>
        <p:txBody>
          <a:bodyPr wrap="none" rtlCol="0">
            <a:spAutoFit/>
          </a:bodyPr>
          <a:lstStyle/>
          <a:p>
            <a:r>
              <a:rPr lang="en-IN" dirty="0"/>
              <a:t>Example -5 : Self Study /Assignment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DCD38C-D7B4-4152-03BC-5A56A7C39D7E}"/>
              </a:ext>
            </a:extLst>
          </p:cNvPr>
          <p:cNvSpPr>
            <a:spLocks noGrp="1"/>
          </p:cNvSpPr>
          <p:nvPr>
            <p:ph type="title"/>
          </p:nvPr>
        </p:nvSpPr>
        <p:spPr/>
        <p:txBody>
          <a:bodyPr/>
          <a:lstStyle/>
          <a:p>
            <a:r>
              <a:rPr lang="en-IN" dirty="0"/>
              <a:t>Arden’s Method for converting </a:t>
            </a:r>
            <a:r>
              <a:rPr lang="en-IN" dirty="0" err="1"/>
              <a:t>dfa</a:t>
            </a:r>
            <a:r>
              <a:rPr lang="en-IN" dirty="0"/>
              <a:t> to re</a:t>
            </a:r>
          </a:p>
        </p:txBody>
      </p:sp>
      <p:sp>
        <p:nvSpPr>
          <p:cNvPr id="2" name="Slide Number Placeholder 1">
            <a:extLst>
              <a:ext uri="{FF2B5EF4-FFF2-40B4-BE49-F238E27FC236}">
                <a16:creationId xmlns:a16="http://schemas.microsoft.com/office/drawing/2014/main" id="{061064E7-1B72-CFD6-040F-5814A8284267}"/>
              </a:ext>
            </a:extLst>
          </p:cNvPr>
          <p:cNvSpPr>
            <a:spLocks noGrp="1"/>
          </p:cNvSpPr>
          <p:nvPr>
            <p:ph type="sldNum" sz="quarter" idx="15"/>
          </p:nvPr>
        </p:nvSpPr>
        <p:spPr/>
        <p:txBody>
          <a:bodyPr/>
          <a:lstStyle/>
          <a:p>
            <a:fld id="{EA7D41E8-55CE-4D73-90D6-F936F71D14C1}" type="slidenum">
              <a:rPr lang="en-IN" smtClean="0"/>
              <a:t>41</a:t>
            </a:fld>
            <a:endParaRPr lang="en-IN"/>
          </a:p>
        </p:txBody>
      </p:sp>
      <p:pic>
        <p:nvPicPr>
          <p:cNvPr id="6" name="Picture 5">
            <a:extLst>
              <a:ext uri="{FF2B5EF4-FFF2-40B4-BE49-F238E27FC236}">
                <a16:creationId xmlns:a16="http://schemas.microsoft.com/office/drawing/2014/main" id="{9EECAED8-AA8D-9CAD-628B-05F185A84B9F}"/>
              </a:ext>
            </a:extLst>
          </p:cNvPr>
          <p:cNvPicPr>
            <a:picLocks noChangeAspect="1"/>
          </p:cNvPicPr>
          <p:nvPr/>
        </p:nvPicPr>
        <p:blipFill>
          <a:blip r:embed="rId2"/>
          <a:stretch>
            <a:fillRect/>
          </a:stretch>
        </p:blipFill>
        <p:spPr>
          <a:xfrm>
            <a:off x="251520" y="1739812"/>
            <a:ext cx="7686153" cy="4425491"/>
          </a:xfrm>
          <a:prstGeom prst="rect">
            <a:avLst/>
          </a:prstGeom>
        </p:spPr>
      </p:pic>
    </p:spTree>
    <p:extLst>
      <p:ext uri="{BB962C8B-B14F-4D97-AF65-F5344CB8AC3E}">
        <p14:creationId xmlns:p14="http://schemas.microsoft.com/office/powerpoint/2010/main" val="1760091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FEECE3-DE3D-7A5E-03C2-94700DD49163}"/>
              </a:ext>
            </a:extLst>
          </p:cNvPr>
          <p:cNvSpPr>
            <a:spLocks noGrp="1"/>
          </p:cNvSpPr>
          <p:nvPr>
            <p:ph type="sldNum" sz="quarter" idx="15"/>
          </p:nvPr>
        </p:nvSpPr>
        <p:spPr/>
        <p:txBody>
          <a:bodyPr/>
          <a:lstStyle/>
          <a:p>
            <a:fld id="{EA7D41E8-55CE-4D73-90D6-F936F71D14C1}" type="slidenum">
              <a:rPr lang="en-IN" smtClean="0"/>
              <a:t>42</a:t>
            </a:fld>
            <a:endParaRPr lang="en-IN"/>
          </a:p>
        </p:txBody>
      </p:sp>
      <p:pic>
        <p:nvPicPr>
          <p:cNvPr id="6" name="Picture 5">
            <a:extLst>
              <a:ext uri="{FF2B5EF4-FFF2-40B4-BE49-F238E27FC236}">
                <a16:creationId xmlns:a16="http://schemas.microsoft.com/office/drawing/2014/main" id="{E12081B7-F1C7-1F3E-871B-108D2B737F77}"/>
              </a:ext>
            </a:extLst>
          </p:cNvPr>
          <p:cNvPicPr>
            <a:picLocks noChangeAspect="1"/>
          </p:cNvPicPr>
          <p:nvPr/>
        </p:nvPicPr>
        <p:blipFill>
          <a:blip r:embed="rId2"/>
          <a:stretch>
            <a:fillRect/>
          </a:stretch>
        </p:blipFill>
        <p:spPr>
          <a:xfrm>
            <a:off x="827584" y="384048"/>
            <a:ext cx="6912768" cy="927427"/>
          </a:xfrm>
          <a:prstGeom prst="rect">
            <a:avLst/>
          </a:prstGeom>
        </p:spPr>
      </p:pic>
      <p:pic>
        <p:nvPicPr>
          <p:cNvPr id="8" name="Picture 7">
            <a:extLst>
              <a:ext uri="{FF2B5EF4-FFF2-40B4-BE49-F238E27FC236}">
                <a16:creationId xmlns:a16="http://schemas.microsoft.com/office/drawing/2014/main" id="{7B999152-E008-0696-6F66-D7E1DFD67090}"/>
              </a:ext>
            </a:extLst>
          </p:cNvPr>
          <p:cNvPicPr>
            <a:picLocks noChangeAspect="1"/>
          </p:cNvPicPr>
          <p:nvPr/>
        </p:nvPicPr>
        <p:blipFill>
          <a:blip r:embed="rId3"/>
          <a:stretch>
            <a:fillRect/>
          </a:stretch>
        </p:blipFill>
        <p:spPr>
          <a:xfrm>
            <a:off x="971600" y="1567870"/>
            <a:ext cx="4536504" cy="348962"/>
          </a:xfrm>
          <a:prstGeom prst="rect">
            <a:avLst/>
          </a:prstGeom>
        </p:spPr>
      </p:pic>
      <p:pic>
        <p:nvPicPr>
          <p:cNvPr id="10" name="Picture 9">
            <a:extLst>
              <a:ext uri="{FF2B5EF4-FFF2-40B4-BE49-F238E27FC236}">
                <a16:creationId xmlns:a16="http://schemas.microsoft.com/office/drawing/2014/main" id="{2C8E2E33-C92A-3142-254D-63B4FD326C7B}"/>
              </a:ext>
            </a:extLst>
          </p:cNvPr>
          <p:cNvPicPr>
            <a:picLocks noChangeAspect="1"/>
          </p:cNvPicPr>
          <p:nvPr/>
        </p:nvPicPr>
        <p:blipFill>
          <a:blip r:embed="rId4"/>
          <a:stretch>
            <a:fillRect/>
          </a:stretch>
        </p:blipFill>
        <p:spPr>
          <a:xfrm>
            <a:off x="539552" y="2288601"/>
            <a:ext cx="6984776" cy="3948711"/>
          </a:xfrm>
          <a:prstGeom prst="rect">
            <a:avLst/>
          </a:prstGeom>
        </p:spPr>
      </p:pic>
    </p:spTree>
    <p:extLst>
      <p:ext uri="{BB962C8B-B14F-4D97-AF65-F5344CB8AC3E}">
        <p14:creationId xmlns:p14="http://schemas.microsoft.com/office/powerpoint/2010/main" val="3859965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FD3AA3-F214-5C5F-32E8-32935BAB197F}"/>
              </a:ext>
            </a:extLst>
          </p:cNvPr>
          <p:cNvSpPr>
            <a:spLocks noGrp="1"/>
          </p:cNvSpPr>
          <p:nvPr>
            <p:ph type="sldNum" sz="quarter" idx="15"/>
          </p:nvPr>
        </p:nvSpPr>
        <p:spPr/>
        <p:txBody>
          <a:bodyPr/>
          <a:lstStyle/>
          <a:p>
            <a:fld id="{EA7D41E8-55CE-4D73-90D6-F936F71D14C1}" type="slidenum">
              <a:rPr lang="en-IN" smtClean="0"/>
              <a:t>43</a:t>
            </a:fld>
            <a:endParaRPr lang="en-IN"/>
          </a:p>
        </p:txBody>
      </p:sp>
      <p:pic>
        <p:nvPicPr>
          <p:cNvPr id="6" name="Picture 5">
            <a:extLst>
              <a:ext uri="{FF2B5EF4-FFF2-40B4-BE49-F238E27FC236}">
                <a16:creationId xmlns:a16="http://schemas.microsoft.com/office/drawing/2014/main" id="{03B0E805-FC5E-0C78-4B8A-7E9CCD472ADE}"/>
              </a:ext>
            </a:extLst>
          </p:cNvPr>
          <p:cNvPicPr>
            <a:picLocks noChangeAspect="1"/>
          </p:cNvPicPr>
          <p:nvPr/>
        </p:nvPicPr>
        <p:blipFill>
          <a:blip r:embed="rId2"/>
          <a:stretch>
            <a:fillRect/>
          </a:stretch>
        </p:blipFill>
        <p:spPr>
          <a:xfrm>
            <a:off x="1101546" y="980728"/>
            <a:ext cx="6940907" cy="3960440"/>
          </a:xfrm>
          <a:prstGeom prst="rect">
            <a:avLst/>
          </a:prstGeom>
        </p:spPr>
      </p:pic>
    </p:spTree>
    <p:extLst>
      <p:ext uri="{BB962C8B-B14F-4D97-AF65-F5344CB8AC3E}">
        <p14:creationId xmlns:p14="http://schemas.microsoft.com/office/powerpoint/2010/main" val="541404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3A1E9F-3E58-BE11-4480-DEE41E9A9CF8}"/>
              </a:ext>
            </a:extLst>
          </p:cNvPr>
          <p:cNvSpPr>
            <a:spLocks noGrp="1"/>
          </p:cNvSpPr>
          <p:nvPr>
            <p:ph type="title"/>
          </p:nvPr>
        </p:nvSpPr>
        <p:spPr/>
        <p:txBody>
          <a:bodyPr>
            <a:noAutofit/>
          </a:bodyPr>
          <a:lstStyle/>
          <a:p>
            <a:r>
              <a:rPr lang="en-IN" sz="2000" dirty="0"/>
              <a:t>Example 2</a:t>
            </a:r>
            <a:br>
              <a:rPr lang="en-IN" sz="2000" dirty="0"/>
            </a:br>
            <a:r>
              <a:rPr lang="en-IN" sz="2000" dirty="0"/>
              <a:t>Find out the regular expression from given </a:t>
            </a:r>
            <a:r>
              <a:rPr lang="en-IN" sz="2000" dirty="0" err="1"/>
              <a:t>dfa</a:t>
            </a:r>
            <a:endParaRPr lang="en-IN" sz="2000" dirty="0"/>
          </a:p>
        </p:txBody>
      </p:sp>
      <p:sp>
        <p:nvSpPr>
          <p:cNvPr id="4" name="Slide Number Placeholder 3">
            <a:extLst>
              <a:ext uri="{FF2B5EF4-FFF2-40B4-BE49-F238E27FC236}">
                <a16:creationId xmlns:a16="http://schemas.microsoft.com/office/drawing/2014/main" id="{04A209CF-7840-CD86-A042-1914FA93F98F}"/>
              </a:ext>
            </a:extLst>
          </p:cNvPr>
          <p:cNvSpPr>
            <a:spLocks noGrp="1"/>
          </p:cNvSpPr>
          <p:nvPr>
            <p:ph type="sldNum" sz="quarter" idx="11"/>
          </p:nvPr>
        </p:nvSpPr>
        <p:spPr/>
        <p:txBody>
          <a:bodyPr/>
          <a:lstStyle/>
          <a:p>
            <a:fld id="{EA7D41E8-55CE-4D73-90D6-F936F71D14C1}" type="slidenum">
              <a:rPr lang="en-IN" smtClean="0"/>
              <a:t>44</a:t>
            </a:fld>
            <a:endParaRPr lang="en-IN"/>
          </a:p>
        </p:txBody>
      </p:sp>
      <p:pic>
        <p:nvPicPr>
          <p:cNvPr id="7" name="Picture 6">
            <a:extLst>
              <a:ext uri="{FF2B5EF4-FFF2-40B4-BE49-F238E27FC236}">
                <a16:creationId xmlns:a16="http://schemas.microsoft.com/office/drawing/2014/main" id="{6F23FA4D-08C5-AA45-9D21-345EE5DDF440}"/>
              </a:ext>
            </a:extLst>
          </p:cNvPr>
          <p:cNvPicPr>
            <a:picLocks noChangeAspect="1"/>
          </p:cNvPicPr>
          <p:nvPr/>
        </p:nvPicPr>
        <p:blipFill>
          <a:blip r:embed="rId2"/>
          <a:stretch>
            <a:fillRect/>
          </a:stretch>
        </p:blipFill>
        <p:spPr>
          <a:xfrm>
            <a:off x="827583" y="1628800"/>
            <a:ext cx="2385747" cy="1728192"/>
          </a:xfrm>
          <a:prstGeom prst="rect">
            <a:avLst/>
          </a:prstGeom>
        </p:spPr>
      </p:pic>
      <p:pic>
        <p:nvPicPr>
          <p:cNvPr id="9" name="Picture 8">
            <a:extLst>
              <a:ext uri="{FF2B5EF4-FFF2-40B4-BE49-F238E27FC236}">
                <a16:creationId xmlns:a16="http://schemas.microsoft.com/office/drawing/2014/main" id="{306B2B1B-ACE3-0969-CD19-3F2D158E6D0B}"/>
              </a:ext>
            </a:extLst>
          </p:cNvPr>
          <p:cNvPicPr>
            <a:picLocks noChangeAspect="1"/>
          </p:cNvPicPr>
          <p:nvPr/>
        </p:nvPicPr>
        <p:blipFill>
          <a:blip r:embed="rId3"/>
          <a:stretch>
            <a:fillRect/>
          </a:stretch>
        </p:blipFill>
        <p:spPr>
          <a:xfrm>
            <a:off x="539552" y="3513072"/>
            <a:ext cx="6840760" cy="3070290"/>
          </a:xfrm>
          <a:prstGeom prst="rect">
            <a:avLst/>
          </a:prstGeom>
        </p:spPr>
      </p:pic>
    </p:spTree>
    <p:extLst>
      <p:ext uri="{BB962C8B-B14F-4D97-AF65-F5344CB8AC3E}">
        <p14:creationId xmlns:p14="http://schemas.microsoft.com/office/powerpoint/2010/main" val="2574033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C81283-93E9-499E-A435-DB5167CA0424}"/>
              </a:ext>
            </a:extLst>
          </p:cNvPr>
          <p:cNvSpPr>
            <a:spLocks noGrp="1"/>
          </p:cNvSpPr>
          <p:nvPr>
            <p:ph type="sldNum" sz="quarter" idx="11"/>
          </p:nvPr>
        </p:nvSpPr>
        <p:spPr/>
        <p:txBody>
          <a:bodyPr/>
          <a:lstStyle/>
          <a:p>
            <a:fld id="{EA7D41E8-55CE-4D73-90D6-F936F71D14C1}" type="slidenum">
              <a:rPr lang="en-IN" smtClean="0"/>
              <a:t>45</a:t>
            </a:fld>
            <a:endParaRPr lang="en-IN"/>
          </a:p>
        </p:txBody>
      </p:sp>
      <p:pic>
        <p:nvPicPr>
          <p:cNvPr id="5" name="Picture 4">
            <a:extLst>
              <a:ext uri="{FF2B5EF4-FFF2-40B4-BE49-F238E27FC236}">
                <a16:creationId xmlns:a16="http://schemas.microsoft.com/office/drawing/2014/main" id="{2EEDA015-53F3-D8D7-4A82-34B2702D3DE9}"/>
              </a:ext>
            </a:extLst>
          </p:cNvPr>
          <p:cNvPicPr>
            <a:picLocks noChangeAspect="1"/>
          </p:cNvPicPr>
          <p:nvPr/>
        </p:nvPicPr>
        <p:blipFill>
          <a:blip r:embed="rId2"/>
          <a:stretch>
            <a:fillRect/>
          </a:stretch>
        </p:blipFill>
        <p:spPr>
          <a:xfrm>
            <a:off x="1406362" y="980728"/>
            <a:ext cx="6331275" cy="3689761"/>
          </a:xfrm>
          <a:prstGeom prst="rect">
            <a:avLst/>
          </a:prstGeom>
        </p:spPr>
      </p:pic>
    </p:spTree>
    <p:extLst>
      <p:ext uri="{BB962C8B-B14F-4D97-AF65-F5344CB8AC3E}">
        <p14:creationId xmlns:p14="http://schemas.microsoft.com/office/powerpoint/2010/main" val="26290148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579296" cy="706090"/>
          </a:xfrm>
        </p:spPr>
        <p:txBody>
          <a:bodyPr>
            <a:normAutofit/>
          </a:bodyPr>
          <a:lstStyle/>
          <a:p>
            <a:r>
              <a:rPr lang="en-IN" sz="2800" dirty="0"/>
              <a:t>Closure Properties of Regular Languages</a:t>
            </a:r>
          </a:p>
        </p:txBody>
      </p:sp>
      <p:sp>
        <p:nvSpPr>
          <p:cNvPr id="3" name="Slide Number Placeholder 2"/>
          <p:cNvSpPr>
            <a:spLocks noGrp="1"/>
          </p:cNvSpPr>
          <p:nvPr>
            <p:ph type="sldNum" sz="quarter" idx="11"/>
          </p:nvPr>
        </p:nvSpPr>
        <p:spPr/>
        <p:txBody>
          <a:bodyPr/>
          <a:lstStyle/>
          <a:p>
            <a:fld id="{EA7D41E8-55CE-4D73-90D6-F936F71D14C1}" type="slidenum">
              <a:rPr lang="en-IN" smtClean="0"/>
              <a:t>46</a:t>
            </a:fld>
            <a:endParaRPr lang="en-IN"/>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19" y="836712"/>
            <a:ext cx="8417735"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EA7D41E8-55CE-4D73-90D6-F936F71D14C1}" type="slidenum">
              <a:rPr lang="en-IN" smtClean="0"/>
              <a:t>47</a:t>
            </a:fld>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92499"/>
            <a:ext cx="8421144" cy="4223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48</a:t>
            </a:fld>
            <a:endParaRPr lang="en-IN"/>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88640"/>
            <a:ext cx="9103869"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052735"/>
            <a:ext cx="8832350" cy="4099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49</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6" y="764704"/>
            <a:ext cx="8892480"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50</a:t>
            </a:fld>
            <a:endParaRPr lang="en-IN"/>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4624"/>
            <a:ext cx="7992888" cy="3981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25" y="4026321"/>
            <a:ext cx="6385924" cy="283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51</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60648"/>
            <a:ext cx="8711788"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52</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535" y="260647"/>
            <a:ext cx="8640960" cy="513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53</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25" y="620688"/>
            <a:ext cx="8694038"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54</a:t>
            </a:fld>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6632"/>
            <a:ext cx="8843174" cy="6336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55</a:t>
            </a:fld>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45" y="260648"/>
            <a:ext cx="8602819"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204864"/>
            <a:ext cx="7467600" cy="1143000"/>
          </a:xfrm>
        </p:spPr>
        <p:style>
          <a:lnRef idx="2">
            <a:schemeClr val="accent1"/>
          </a:lnRef>
          <a:fillRef idx="1">
            <a:schemeClr val="lt1"/>
          </a:fillRef>
          <a:effectRef idx="0">
            <a:schemeClr val="accent1"/>
          </a:effectRef>
          <a:fontRef idx="minor">
            <a:schemeClr val="dk1"/>
          </a:fontRef>
        </p:style>
        <p:txBody>
          <a:bodyPr>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IN" b="1" cap="none" dirty="0">
                <a:solidFill>
                  <a:schemeClr val="accent3"/>
                </a:solidFill>
              </a:rPr>
              <a:t>Minimization of DFA</a:t>
            </a:r>
          </a:p>
        </p:txBody>
      </p:sp>
      <p:sp>
        <p:nvSpPr>
          <p:cNvPr id="3" name="Slide Number Placeholder 2"/>
          <p:cNvSpPr>
            <a:spLocks noGrp="1"/>
          </p:cNvSpPr>
          <p:nvPr>
            <p:ph type="sldNum" sz="quarter" idx="11"/>
          </p:nvPr>
        </p:nvSpPr>
        <p:spPr/>
        <p:txBody>
          <a:bodyPr/>
          <a:lstStyle/>
          <a:p>
            <a:fld id="{EA7D41E8-55CE-4D73-90D6-F936F71D14C1}" type="slidenum">
              <a:rPr lang="en-IN" smtClean="0"/>
              <a:t>56</a:t>
            </a:fld>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Minimization of DFA	</a:t>
            </a:r>
          </a:p>
        </p:txBody>
      </p:sp>
      <p:sp>
        <p:nvSpPr>
          <p:cNvPr id="3" name="Content Placeholder 2"/>
          <p:cNvSpPr>
            <a:spLocks noGrp="1"/>
          </p:cNvSpPr>
          <p:nvPr>
            <p:ph sz="quarter" idx="1"/>
          </p:nvPr>
        </p:nvSpPr>
        <p:spPr/>
        <p:txBody>
          <a:bodyPr>
            <a:normAutofit lnSpcReduction="10000"/>
          </a:bodyPr>
          <a:lstStyle/>
          <a:p>
            <a:pPr algn="just"/>
            <a:r>
              <a:rPr lang="en-IN" dirty="0"/>
              <a:t>The minimization of FSM means reducing the number of states from the given FA. Thus we get the FSM with redundant states after minimising the FSM.</a:t>
            </a:r>
          </a:p>
          <a:p>
            <a:pPr algn="just"/>
            <a:r>
              <a:rPr lang="en-IN" dirty="0"/>
              <a:t>While minimising the FSM we first find out which two states are equivalent we can represent those two states by one representative state.</a:t>
            </a:r>
          </a:p>
          <a:p>
            <a:pPr algn="just"/>
            <a:r>
              <a:rPr lang="en-IN" dirty="0"/>
              <a:t>The two state q1 and q2 are equivalent, if both δ (q1, x) and δ(q2, x) are final states or both of them are non final states for all  x</a:t>
            </a:r>
            <a:r>
              <a:rPr lang="en-US" dirty="0"/>
              <a:t> ∈ </a:t>
            </a:r>
            <a:r>
              <a:rPr lang="en-IN" dirty="0"/>
              <a:t>∑</a:t>
            </a:r>
            <a:r>
              <a:rPr lang="en-IN" baseline="30000" dirty="0"/>
              <a:t>* </a:t>
            </a:r>
            <a:r>
              <a:rPr lang="en-IN" dirty="0"/>
              <a:t>(∑</a:t>
            </a:r>
            <a:r>
              <a:rPr lang="en-IN" baseline="30000" dirty="0"/>
              <a:t>*</a:t>
            </a:r>
            <a:r>
              <a:rPr lang="en-IN" dirty="0"/>
              <a:t> indicate any string of any length) we can minimize the given FSM by finding equivalent states.</a:t>
            </a:r>
            <a:r>
              <a:rPr lang="en-IN" baseline="30000" dirty="0"/>
              <a:t>    </a:t>
            </a:r>
          </a:p>
          <a:p>
            <a:pPr algn="just"/>
            <a:endParaRPr lang="en-IN" dirty="0"/>
          </a:p>
          <a:p>
            <a:pPr algn="just"/>
            <a:endParaRPr lang="en-IN" dirty="0"/>
          </a:p>
          <a:p>
            <a:pPr algn="just"/>
            <a:endParaRPr lang="en-IN" dirty="0"/>
          </a:p>
        </p:txBody>
      </p:sp>
      <p:sp>
        <p:nvSpPr>
          <p:cNvPr id="4" name="Slide Number Placeholder 3"/>
          <p:cNvSpPr>
            <a:spLocks noGrp="1"/>
          </p:cNvSpPr>
          <p:nvPr>
            <p:ph type="sldNum" sz="quarter" idx="15"/>
          </p:nvPr>
        </p:nvSpPr>
        <p:spPr/>
        <p:txBody>
          <a:bodyPr/>
          <a:lstStyle/>
          <a:p>
            <a:fld id="{EA7D41E8-55CE-4D73-90D6-F936F71D14C1}" type="slidenum">
              <a:rPr lang="en-IN" smtClean="0"/>
              <a:t>57</a:t>
            </a:fld>
            <a:endParaRPr lang="en-I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4638"/>
            <a:ext cx="8568952" cy="850106"/>
          </a:xfrm>
        </p:spPr>
        <p:txBody>
          <a:bodyPr>
            <a:normAutofit/>
          </a:bodyPr>
          <a:lstStyle/>
          <a:p>
            <a:r>
              <a:rPr lang="en-IN" sz="2400" dirty="0"/>
              <a:t>Method for construction of minimum state automata</a:t>
            </a:r>
          </a:p>
        </p:txBody>
      </p:sp>
      <p:sp>
        <p:nvSpPr>
          <p:cNvPr id="4" name="Slide Number Placeholder 3"/>
          <p:cNvSpPr>
            <a:spLocks noGrp="1"/>
          </p:cNvSpPr>
          <p:nvPr>
            <p:ph type="sldNum" sz="quarter" idx="15"/>
          </p:nvPr>
        </p:nvSpPr>
        <p:spPr/>
        <p:txBody>
          <a:bodyPr/>
          <a:lstStyle/>
          <a:p>
            <a:fld id="{EA7D41E8-55CE-4D73-90D6-F936F71D14C1}" type="slidenum">
              <a:rPr lang="en-IN" smtClean="0"/>
              <a:t>58</a:t>
            </a:fld>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05855"/>
            <a:ext cx="8930203" cy="475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59</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692696"/>
            <a:ext cx="7847013"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67544" y="116632"/>
            <a:ext cx="1462260" cy="369332"/>
          </a:xfrm>
          <a:prstGeom prst="rect">
            <a:avLst/>
          </a:prstGeom>
          <a:solidFill>
            <a:srgbClr val="FFC000"/>
          </a:solidFill>
        </p:spPr>
        <p:txBody>
          <a:bodyPr wrap="none" rtlCol="0">
            <a:spAutoFit/>
          </a:bodyPr>
          <a:lstStyle/>
          <a:p>
            <a:r>
              <a:rPr lang="en-IN" dirty="0"/>
              <a:t>Example - 1</a:t>
            </a:r>
          </a:p>
        </p:txBody>
      </p:sp>
      <p:sp>
        <p:nvSpPr>
          <p:cNvPr id="5" name="TextBox 4"/>
          <p:cNvSpPr txBox="1"/>
          <p:nvPr/>
        </p:nvSpPr>
        <p:spPr>
          <a:xfrm>
            <a:off x="755576" y="4653136"/>
            <a:ext cx="6264857" cy="1477328"/>
          </a:xfrm>
          <a:prstGeom prst="rect">
            <a:avLst/>
          </a:prstGeom>
          <a:noFill/>
        </p:spPr>
        <p:txBody>
          <a:bodyPr wrap="none" rtlCol="0">
            <a:spAutoFit/>
          </a:bodyPr>
          <a:lstStyle/>
          <a:p>
            <a:r>
              <a:rPr lang="en-IN" b="1" dirty="0">
                <a:solidFill>
                  <a:srgbClr val="C00000"/>
                </a:solidFill>
                <a:effectLst>
                  <a:outerShdw blurRad="38100" dist="38100" dir="2700000" algn="tl">
                    <a:srgbClr val="000000">
                      <a:alpha val="43137"/>
                    </a:srgbClr>
                  </a:outerShdw>
                </a:effectLst>
              </a:rPr>
              <a:t>Solution: </a:t>
            </a:r>
          </a:p>
          <a:p>
            <a:endParaRPr lang="en-IN" dirty="0"/>
          </a:p>
          <a:p>
            <a:r>
              <a:rPr lang="en-IN" dirty="0"/>
              <a:t>We first construct the transition table for the given DFA.</a:t>
            </a:r>
          </a:p>
          <a:p>
            <a:endParaRPr lang="en-IN" dirty="0"/>
          </a:p>
          <a:p>
            <a:r>
              <a:rPr lang="en-IN" dirty="0"/>
              <a:t>Then we will start constructing equivalence classes.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60</a:t>
            </a:fld>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166309"/>
            <a:ext cx="266700"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42" y="0"/>
            <a:ext cx="790575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61</a:t>
            </a:fld>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25" y="311193"/>
            <a:ext cx="8912471" cy="599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62</a:t>
            </a:fld>
            <a:endParaRPr lang="en-IN"/>
          </a:p>
        </p:txBody>
      </p:sp>
      <p:pic>
        <p:nvPicPr>
          <p:cNvPr id="410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32048"/>
            <a:ext cx="8707076" cy="5157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63</a:t>
            </a:fld>
            <a:endParaRPr lang="en-IN"/>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0648"/>
            <a:ext cx="835342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64</a:t>
            </a:fld>
            <a:endParaRPr lang="en-IN"/>
          </a:p>
        </p:txBody>
      </p:sp>
      <p:pic>
        <p:nvPicPr>
          <p:cNvPr id="615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5896"/>
            <a:ext cx="7560840" cy="660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65</a:t>
            </a:fld>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8680"/>
            <a:ext cx="8448673" cy="3955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66</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7005756"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67</a:t>
            </a:fld>
            <a:endParaRPr lang="en-IN"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2656"/>
            <a:ext cx="8078519"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68</a:t>
            </a:fld>
            <a:endParaRPr lang="en-IN"/>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32656"/>
            <a:ext cx="7324482"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69</a:t>
            </a:fld>
            <a:endParaRPr lang="en-IN"/>
          </a:p>
        </p:txBody>
      </p:sp>
      <p:sp>
        <p:nvSpPr>
          <p:cNvPr id="4" name="TextBox 3"/>
          <p:cNvSpPr txBox="1"/>
          <p:nvPr/>
        </p:nvSpPr>
        <p:spPr>
          <a:xfrm>
            <a:off x="755576" y="395372"/>
            <a:ext cx="1590500" cy="369332"/>
          </a:xfrm>
          <a:prstGeom prst="rect">
            <a:avLst/>
          </a:prstGeom>
          <a:solidFill>
            <a:srgbClr val="FFC000"/>
          </a:solidFill>
        </p:spPr>
        <p:txBody>
          <a:bodyPr wrap="none" rtlCol="0">
            <a:spAutoFit/>
          </a:bodyPr>
          <a:lstStyle/>
          <a:p>
            <a:r>
              <a:rPr lang="en-IN" dirty="0"/>
              <a:t>Example -2 : </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980728"/>
            <a:ext cx="5686425" cy="541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70</a:t>
            </a:fld>
            <a:endParaRPr lang="en-IN"/>
          </a:p>
        </p:txBody>
      </p:sp>
      <p:pic>
        <p:nvPicPr>
          <p:cNvPr id="615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95250"/>
            <a:ext cx="6477000" cy="666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71</a:t>
            </a:fld>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332655"/>
            <a:ext cx="8640960" cy="4413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72</a:t>
            </a:fld>
            <a:endParaRPr lang="en-IN"/>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60648"/>
            <a:ext cx="8567006"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73</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37206"/>
            <a:ext cx="8064896" cy="6172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74</a:t>
            </a:fld>
            <a:endParaRPr lang="en-IN"/>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 y="476672"/>
            <a:ext cx="8715375"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75</a:t>
            </a:fld>
            <a:endParaRPr lang="en-IN"/>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32656"/>
            <a:ext cx="8906749"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76</a:t>
            </a:fld>
            <a:endParaRPr lang="en-IN"/>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60648"/>
            <a:ext cx="8276055"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77</a:t>
            </a:fld>
            <a:endParaRPr lang="en-IN"/>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7" y="260648"/>
            <a:ext cx="8083479"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78</a:t>
            </a:fld>
            <a:endParaRPr lang="en-IN"/>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8336771"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2" name="Slide Number Placeholder 1"/>
          <p:cNvSpPr>
            <a:spLocks noGrp="1"/>
          </p:cNvSpPr>
          <p:nvPr>
            <p:ph type="sldNum" sz="quarter" idx="11"/>
          </p:nvPr>
        </p:nvSpPr>
        <p:spPr/>
        <p:txBody>
          <a:bodyPr/>
          <a:lstStyle/>
          <a:p>
            <a:fld id="{EA7D41E8-55CE-4D73-90D6-F936F71D14C1}" type="slidenum">
              <a:rPr lang="en-IN" smtClean="0"/>
              <a:t>79</a:t>
            </a:fld>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8290896"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1928802"/>
            <a:ext cx="7467600" cy="1143000"/>
          </a:xfrm>
        </p:spPr>
        <p:txBody>
          <a:bodyPr/>
          <a:lstStyle/>
          <a:p>
            <a:r>
              <a:rPr lang="en-US" dirty="0"/>
              <a:t>Minimization of </a:t>
            </a:r>
            <a:r>
              <a:rPr lang="en-US" dirty="0" err="1"/>
              <a:t>dfa</a:t>
            </a:r>
            <a:r>
              <a:rPr lang="en-US" dirty="0"/>
              <a:t> (alternate method)</a:t>
            </a:r>
          </a:p>
        </p:txBody>
      </p:sp>
      <p:sp>
        <p:nvSpPr>
          <p:cNvPr id="3" name="Slide Number Placeholder 2"/>
          <p:cNvSpPr>
            <a:spLocks noGrp="1"/>
          </p:cNvSpPr>
          <p:nvPr>
            <p:ph type="sldNum" sz="quarter" idx="11"/>
          </p:nvPr>
        </p:nvSpPr>
        <p:spPr/>
        <p:txBody>
          <a:bodyPr/>
          <a:lstStyle/>
          <a:p>
            <a:fld id="{EA7D41E8-55CE-4D73-90D6-F936F71D14C1}" type="slidenum">
              <a:rPr lang="en-IN" smtClean="0"/>
              <a:t>80</a:t>
            </a:fld>
            <a:endParaRPr lang="en-I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81</a:t>
            </a:fld>
            <a:endParaRPr lang="en-IN"/>
          </a:p>
        </p:txBody>
      </p:sp>
      <p:pic>
        <p:nvPicPr>
          <p:cNvPr id="1026" name="Picture 2" descr="C:\Users\ANAND\Downloads\minimization of DFA_1.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82</a:t>
            </a:fld>
            <a:endParaRPr lang="en-IN"/>
          </a:p>
        </p:txBody>
      </p:sp>
      <p:pic>
        <p:nvPicPr>
          <p:cNvPr id="2050" name="Picture 2" descr="C:\Users\ANAND\Downloads\minimization of DFA_2.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83</a:t>
            </a:fld>
            <a:endParaRPr lang="en-IN"/>
          </a:p>
        </p:txBody>
      </p:sp>
      <p:pic>
        <p:nvPicPr>
          <p:cNvPr id="3074" name="Picture 2" descr="C:\Users\ANAND\Downloads\minimization of DFA_3.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84</a:t>
            </a:fld>
            <a:endParaRPr lang="en-IN"/>
          </a:p>
        </p:txBody>
      </p:sp>
      <p:sp>
        <p:nvSpPr>
          <p:cNvPr id="4" name="TextBox 3"/>
          <p:cNvSpPr txBox="1"/>
          <p:nvPr/>
        </p:nvSpPr>
        <p:spPr>
          <a:xfrm>
            <a:off x="755576" y="395372"/>
            <a:ext cx="4224233" cy="369332"/>
          </a:xfrm>
          <a:prstGeom prst="rect">
            <a:avLst/>
          </a:prstGeom>
          <a:solidFill>
            <a:srgbClr val="FFC000"/>
          </a:solidFill>
        </p:spPr>
        <p:txBody>
          <a:bodyPr wrap="none" rtlCol="0">
            <a:spAutoFit/>
          </a:bodyPr>
          <a:lstStyle/>
          <a:p>
            <a:r>
              <a:rPr lang="en-IN" dirty="0"/>
              <a:t>Example -3 : Self Study /Assignment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908720"/>
            <a:ext cx="5351859" cy="5540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276872"/>
            <a:ext cx="8568952" cy="854968"/>
          </a:xfrm>
        </p:spPr>
        <p:txBody>
          <a:bodyPr>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IN"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PUMPING LEMMA FOR REGULAR SETS</a:t>
            </a:r>
          </a:p>
        </p:txBody>
      </p:sp>
      <p:sp>
        <p:nvSpPr>
          <p:cNvPr id="3" name="Slide Number Placeholder 2"/>
          <p:cNvSpPr>
            <a:spLocks noGrp="1"/>
          </p:cNvSpPr>
          <p:nvPr>
            <p:ph type="sldNum" sz="quarter" idx="11"/>
          </p:nvPr>
        </p:nvSpPr>
        <p:spPr/>
        <p:txBody>
          <a:bodyPr/>
          <a:lstStyle/>
          <a:p>
            <a:fld id="{EA7D41E8-55CE-4D73-90D6-F936F71D14C1}" type="slidenum">
              <a:rPr lang="en-IN" smtClean="0"/>
              <a:t>85</a:t>
            </a:fld>
            <a:endParaRPr lang="en-I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Pumping lemma for regular sets</a:t>
            </a:r>
          </a:p>
        </p:txBody>
      </p:sp>
      <p:sp>
        <p:nvSpPr>
          <p:cNvPr id="3" name="Content Placeholder 2"/>
          <p:cNvSpPr>
            <a:spLocks noGrp="1"/>
          </p:cNvSpPr>
          <p:nvPr>
            <p:ph sz="quarter" idx="1"/>
          </p:nvPr>
        </p:nvSpPr>
        <p:spPr/>
        <p:txBody>
          <a:bodyPr/>
          <a:lstStyle/>
          <a:p>
            <a:pPr algn="just"/>
            <a:r>
              <a:rPr lang="en-IN" dirty="0"/>
              <a:t>This is a basic and important theorem used for checking whether given string is accepted by regular expression or not. </a:t>
            </a:r>
          </a:p>
          <a:p>
            <a:pPr algn="just"/>
            <a:r>
              <a:rPr lang="en-IN" b="1" i="1" dirty="0">
                <a:solidFill>
                  <a:srgbClr val="C00000"/>
                </a:solidFill>
                <a:effectLst>
                  <a:outerShdw blurRad="38100" dist="38100" dir="2700000" algn="tl">
                    <a:srgbClr val="000000">
                      <a:alpha val="43137"/>
                    </a:srgbClr>
                  </a:outerShdw>
                </a:effectLst>
              </a:rPr>
              <a:t>Theorem:</a:t>
            </a:r>
          </a:p>
          <a:p>
            <a:pPr algn="just"/>
            <a:r>
              <a:rPr lang="en-IN" dirty="0"/>
              <a:t>Let </a:t>
            </a:r>
            <a:r>
              <a:rPr lang="en-IN" b="1" dirty="0"/>
              <a:t>L</a:t>
            </a:r>
            <a:r>
              <a:rPr lang="en-IN" dirty="0"/>
              <a:t> be the regular set. Then there is a constant </a:t>
            </a:r>
            <a:r>
              <a:rPr lang="en-IN" b="1" dirty="0"/>
              <a:t>n</a:t>
            </a:r>
            <a:r>
              <a:rPr lang="en-IN" dirty="0"/>
              <a:t> such that if </a:t>
            </a:r>
            <a:r>
              <a:rPr lang="en-IN" b="1" dirty="0"/>
              <a:t>Z</a:t>
            </a:r>
            <a:r>
              <a:rPr lang="en-IN" dirty="0"/>
              <a:t> is any word in </a:t>
            </a:r>
            <a:r>
              <a:rPr lang="en-IN" b="1" dirty="0"/>
              <a:t>L</a:t>
            </a:r>
            <a:r>
              <a:rPr lang="en-IN" dirty="0"/>
              <a:t> and </a:t>
            </a:r>
            <a:r>
              <a:rPr lang="en-IN" b="1" dirty="0"/>
              <a:t>|Z| ≥  n</a:t>
            </a:r>
            <a:r>
              <a:rPr lang="en-IN" dirty="0"/>
              <a:t>, we can write </a:t>
            </a:r>
            <a:r>
              <a:rPr lang="en-IN" b="1" dirty="0"/>
              <a:t>z= u v w </a:t>
            </a:r>
            <a:r>
              <a:rPr lang="en-IN" dirty="0"/>
              <a:t>such that </a:t>
            </a:r>
            <a:r>
              <a:rPr lang="en-IN" b="1" dirty="0"/>
              <a:t>|u v| ≤ n</a:t>
            </a:r>
            <a:r>
              <a:rPr lang="en-IN" dirty="0"/>
              <a:t>, </a:t>
            </a:r>
            <a:r>
              <a:rPr lang="en-IN" b="1" dirty="0"/>
              <a:t>|v|≥1</a:t>
            </a:r>
            <a:r>
              <a:rPr lang="en-IN" dirty="0"/>
              <a:t> for all </a:t>
            </a:r>
            <a:r>
              <a:rPr lang="en-IN" b="1" dirty="0"/>
              <a:t>i≥0, u v</a:t>
            </a:r>
            <a:r>
              <a:rPr lang="en-IN" b="1" baseline="30000" dirty="0"/>
              <a:t>i </a:t>
            </a:r>
            <a:r>
              <a:rPr lang="en-IN" b="1" dirty="0"/>
              <a:t> w </a:t>
            </a:r>
            <a:r>
              <a:rPr lang="en-IN" dirty="0"/>
              <a:t>is in </a:t>
            </a:r>
            <a:r>
              <a:rPr lang="en-IN" b="1" dirty="0"/>
              <a:t>L</a:t>
            </a:r>
            <a:r>
              <a:rPr lang="en-IN" dirty="0"/>
              <a:t>. The </a:t>
            </a:r>
            <a:r>
              <a:rPr lang="en-IN" b="1" dirty="0"/>
              <a:t>n</a:t>
            </a:r>
            <a:r>
              <a:rPr lang="en-IN" dirty="0"/>
              <a:t> should be greater than number of states.</a:t>
            </a:r>
          </a:p>
          <a:p>
            <a:pPr algn="just"/>
            <a:endParaRPr lang="en-IN" dirty="0"/>
          </a:p>
        </p:txBody>
      </p:sp>
      <p:sp>
        <p:nvSpPr>
          <p:cNvPr id="4" name="Slide Number Placeholder 3"/>
          <p:cNvSpPr>
            <a:spLocks noGrp="1"/>
          </p:cNvSpPr>
          <p:nvPr>
            <p:ph type="sldNum" sz="quarter" idx="15"/>
          </p:nvPr>
        </p:nvSpPr>
        <p:spPr/>
        <p:txBody>
          <a:bodyPr/>
          <a:lstStyle/>
          <a:p>
            <a:fld id="{EA7D41E8-55CE-4D73-90D6-F936F71D14C1}" type="slidenum">
              <a:rPr lang="en-IN" smtClean="0"/>
              <a:t>86</a:t>
            </a:fld>
            <a:endParaRPr lang="en-I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87</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76250"/>
            <a:ext cx="8839200"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88</a:t>
            </a:fld>
            <a:endParaRPr lang="en-IN"/>
          </a:p>
        </p:txBody>
      </p:sp>
      <p:sp>
        <p:nvSpPr>
          <p:cNvPr id="3" name="TextBox 2"/>
          <p:cNvSpPr txBox="1"/>
          <p:nvPr/>
        </p:nvSpPr>
        <p:spPr>
          <a:xfrm>
            <a:off x="251520" y="190442"/>
            <a:ext cx="1462260" cy="369332"/>
          </a:xfrm>
          <a:prstGeom prst="rect">
            <a:avLst/>
          </a:prstGeom>
          <a:solidFill>
            <a:srgbClr val="FFC000"/>
          </a:solidFill>
        </p:spPr>
        <p:txBody>
          <a:bodyPr wrap="none" rtlCol="0">
            <a:spAutoFit/>
          </a:bodyPr>
          <a:lstStyle/>
          <a:p>
            <a:r>
              <a:rPr lang="en-IN" dirty="0"/>
              <a:t>Example -1:</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6043" y="48490"/>
            <a:ext cx="7067374" cy="1004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29" y="1182897"/>
            <a:ext cx="9027868"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89</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7704856" cy="632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90</a:t>
            </a:fld>
            <a:endParaRPr lang="en-IN"/>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60648"/>
            <a:ext cx="7486650" cy="576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91</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1"/>
            <a:ext cx="9144000" cy="524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4020" y="107339"/>
            <a:ext cx="1462260" cy="369332"/>
          </a:xfrm>
          <a:prstGeom prst="rect">
            <a:avLst/>
          </a:prstGeom>
          <a:solidFill>
            <a:srgbClr val="FFC000"/>
          </a:solidFill>
        </p:spPr>
        <p:txBody>
          <a:bodyPr wrap="none" rtlCol="0">
            <a:spAutoFit/>
          </a:bodyPr>
          <a:lstStyle/>
          <a:p>
            <a:r>
              <a:rPr lang="en-IN" dirty="0"/>
              <a:t>Example -2: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A7D41E8-55CE-4D73-90D6-F936F71D14C1}" type="slidenum">
              <a:rPr lang="en-IN" smtClean="0"/>
              <a:t>92</a:t>
            </a:fld>
            <a:endParaRPr lang="en-IN"/>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8680"/>
            <a:ext cx="7896508"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95536" y="117696"/>
            <a:ext cx="1462260" cy="369332"/>
          </a:xfrm>
          <a:prstGeom prst="rect">
            <a:avLst/>
          </a:prstGeom>
          <a:solidFill>
            <a:srgbClr val="FFC000"/>
          </a:solidFill>
        </p:spPr>
        <p:txBody>
          <a:bodyPr wrap="none" rtlCol="0">
            <a:spAutoFit/>
          </a:bodyPr>
          <a:lstStyle/>
          <a:p>
            <a:r>
              <a:rPr lang="en-IN" dirty="0"/>
              <a:t>Example -3:</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11</TotalTime>
  <Words>1667</Words>
  <Application>Microsoft Office PowerPoint</Application>
  <PresentationFormat>On-screen Show (4:3)</PresentationFormat>
  <Paragraphs>250</Paragraphs>
  <Slides>92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92</vt:i4>
      </vt:variant>
    </vt:vector>
  </HeadingPairs>
  <TitlesOfParts>
    <vt:vector size="98" baseType="lpstr">
      <vt:lpstr>Arial</vt:lpstr>
      <vt:lpstr>Calibri</vt:lpstr>
      <vt:lpstr>Century Schoolbook</vt:lpstr>
      <vt:lpstr>Wingdings</vt:lpstr>
      <vt:lpstr>Wingdings 2</vt:lpstr>
      <vt:lpstr>Oriel</vt:lpstr>
      <vt:lpstr> THEORY OF COMPUTATION</vt:lpstr>
      <vt:lpstr>UNIT II:  REGULAR EXPRESSIONS AND LANGUAGES</vt:lpstr>
      <vt:lpstr>Regular Expression</vt:lpstr>
      <vt:lpstr>Operations on Regular Language</vt:lpstr>
      <vt:lpstr>PowerPoint Presentation</vt:lpstr>
      <vt:lpstr>PowerPoint Presentation</vt:lpstr>
      <vt:lpstr>PowerPoint Presentation</vt:lpstr>
      <vt:lpstr>PowerPoint Presentation</vt:lpstr>
      <vt:lpstr>PowerPoint Presentation</vt:lpstr>
      <vt:lpstr>Regular expression to ∈-NFA</vt:lpstr>
      <vt:lpstr>Regular Expression to nfa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Identity rules</vt:lpstr>
      <vt:lpstr>Generating regular expression from Finite Automata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Arden’s Method for converting dfa to re</vt:lpstr>
      <vt:lpstr>PowerPoint Presentation</vt:lpstr>
      <vt:lpstr>PowerPoint Presentation</vt:lpstr>
      <vt:lpstr>Example 2 Find out the regular expression from given dfa</vt:lpstr>
      <vt:lpstr>PowerPoint Presentation</vt:lpstr>
      <vt:lpstr>Closure Properties of Regular Languages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Minimization of DFA</vt:lpstr>
      <vt:lpstr>Minimization of DFA </vt:lpstr>
      <vt:lpstr>Method for construction of minimum state automata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Minimization of dfa (alternate method)</vt:lpstr>
      <vt:lpstr>PowerPoint Presentation</vt:lpstr>
      <vt:lpstr>PowerPoint Presentation</vt:lpstr>
      <vt:lpstr>PowerPoint Presentation</vt:lpstr>
      <vt:lpstr>PowerPoint Presentation</vt:lpstr>
      <vt:lpstr>PUMPING LEMMA FOR REGULAR SETS</vt:lpstr>
      <vt:lpstr>Pumping lemma for regular sets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20BT31201 SOFTWARE ENGINEERING</dc:title>
  <dc:creator>ADMIN</dc:creator>
  <cp:lastModifiedBy>Sundareswaran R</cp:lastModifiedBy>
  <cp:revision>177</cp:revision>
  <dcterms:created xsi:type="dcterms:W3CDTF">2021-10-25T04:28:00Z</dcterms:created>
  <dcterms:modified xsi:type="dcterms:W3CDTF">2026-06-22T04:29:18Z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6039224E87A040D5BE5BFE1C900F742F</vt:lpwstr>
  </property>
  <property fmtid="{D5CDD505-2E9C-101B-9397-08002B2CF9AE}" pid="3" name="KSOProductBuildVer">
    <vt:lpwstr>1033-11.2.0.11306</vt:lpwstr>
  </property>
</Properties>
</file>