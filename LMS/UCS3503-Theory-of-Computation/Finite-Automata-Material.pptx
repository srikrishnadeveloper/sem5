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notesMasterIdLst>
    <p:notesMasterId r:id="rId90"/>
  </p:notesMasterIdLst>
  <p:sldIdLst>
    <p:sldId id="256" r:id="rId2"/>
    <p:sldId id="257" r:id="rId3"/>
    <p:sldId id="259" r:id="rId4"/>
    <p:sldId id="363" r:id="rId5"/>
    <p:sldId id="364" r:id="rId6"/>
    <p:sldId id="365" r:id="rId7"/>
    <p:sldId id="366" r:id="rId8"/>
    <p:sldId id="367" r:id="rId9"/>
    <p:sldId id="368" r:id="rId10"/>
    <p:sldId id="370" r:id="rId11"/>
    <p:sldId id="371" r:id="rId12"/>
    <p:sldId id="369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65" r:id="rId41"/>
    <p:sldId id="285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7" r:id="rId54"/>
    <p:sldId id="298" r:id="rId55"/>
    <p:sldId id="299" r:id="rId56"/>
    <p:sldId id="300" r:id="rId57"/>
    <p:sldId id="301" r:id="rId58"/>
    <p:sldId id="302" r:id="rId59"/>
    <p:sldId id="303" r:id="rId60"/>
    <p:sldId id="304" r:id="rId61"/>
    <p:sldId id="305" r:id="rId62"/>
    <p:sldId id="322" r:id="rId63"/>
    <p:sldId id="323" r:id="rId64"/>
    <p:sldId id="324" r:id="rId65"/>
    <p:sldId id="306" r:id="rId66"/>
    <p:sldId id="307" r:id="rId67"/>
    <p:sldId id="308" r:id="rId68"/>
    <p:sldId id="311" r:id="rId69"/>
    <p:sldId id="314" r:id="rId70"/>
    <p:sldId id="315" r:id="rId71"/>
    <p:sldId id="316" r:id="rId72"/>
    <p:sldId id="317" r:id="rId73"/>
    <p:sldId id="318" r:id="rId74"/>
    <p:sldId id="380" r:id="rId75"/>
    <p:sldId id="381" r:id="rId76"/>
    <p:sldId id="382" r:id="rId77"/>
    <p:sldId id="383" r:id="rId78"/>
    <p:sldId id="384" r:id="rId79"/>
    <p:sldId id="385" r:id="rId80"/>
    <p:sldId id="386" r:id="rId81"/>
    <p:sldId id="387" r:id="rId82"/>
    <p:sldId id="388" r:id="rId83"/>
    <p:sldId id="389" r:id="rId84"/>
    <p:sldId id="390" r:id="rId85"/>
    <p:sldId id="391" r:id="rId86"/>
    <p:sldId id="392" r:id="rId87"/>
    <p:sldId id="393" r:id="rId88"/>
    <p:sldId id="394" r:id="rId8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362" autoAdjust="0"/>
  </p:normalViewPr>
  <p:slideViewPr>
    <p:cSldViewPr>
      <p:cViewPr varScale="1">
        <p:scale>
          <a:sx n="71" d="100"/>
          <a:sy n="71" d="100"/>
        </p:scale>
        <p:origin x="1068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35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CC087-3CFB-4292-B39B-2C7C3871F070}" type="datetimeFigureOut">
              <a:rPr lang="en-IN" smtClean="0"/>
              <a:pPr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F1DCEE-A665-4B38-A0CD-88200CA0D81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AB81-4723-DDE0-B91D-9BF46FD59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04CB74-8F64-D721-8A9E-EA87812719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BC663-C898-4416-08F7-18CE22712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7C06-38D9-4F75-9208-B2987A3C9070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C596D-E56E-CC1B-B0BC-527BA29F9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C2225-3845-27A6-41BD-3EDDD7557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034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AB039-BB07-A55F-5844-6A5F542BC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9E7AE1-A64E-F869-0F95-025C990040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A2C24-389D-2B4E-1032-C5AE27C3F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C9752C-DA30-4E88-89A3-1BC4A9424115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925A7-F988-6BFE-BD38-D2F60D3FA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C837B0-5836-E64F-02FC-1F1CD28B3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02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F446-D904-67BC-35B0-778CC581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BF151-0238-8C34-F0D0-01C69CB6A3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C8081-4309-EC6A-DF9A-1B37A3038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94C4B-885A-458B-B688-361BB5DCEE2E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08553-CC9B-E97E-F0E6-AB8160F3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20BE8-1B96-DBF3-D9B3-4B2BB4B7B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07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F202-A8EA-C22B-DF2B-3BD21C818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A39C6-9FC4-61DA-5B4B-F6BD8AB2E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98F062-92C4-B588-C049-F001B7583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8648ED-18EC-666E-A573-174B61E2C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D13F5-0CB9-4B06-A871-EFAD2F01D288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40D55-202C-9B0D-8B92-709561510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088D9-6221-61C8-D0C6-A9FBCC46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1116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7A001-55E5-C7E1-2194-A00AC4469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E386D-3003-5D40-EA9A-BCCAC8DFA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16509-334A-7E8E-76D1-ECCC4EEA5C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B82AE-762D-17CF-7E26-0FBA1F362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187985-0B30-BC7A-93A1-E3056DEC6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B2D25-7952-BB87-3E76-CDA184F2C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B3666-9478-42CD-B2D5-848925466127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CC6174-23A6-A83C-3732-FF827F993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18C4CE-259F-8BB4-6341-1FEF68D6A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63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06DEB-A152-D529-E8CE-499743AC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E3B22-A175-E6D9-BF31-40C6A4028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D472AE-3102-4E05-A16E-35DED36A8E30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30B3CB-0DB8-2F4D-38BF-F74E43C8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3E874-82EF-8E9C-A46B-CDEFD2E1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29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0C97CB-016E-6EEF-480A-37184C9E8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3DCD-E40D-4508-B82E-E448100CC6FB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15BDA4-40EB-4F15-D2D8-0CDAA3125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20866-74D9-B56E-D06B-EF9FB1A8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07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4E70E-5947-4BB3-5C65-955373A84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5860F-70CF-FB96-42A4-385B5850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CE9830-ADD6-82BD-8A4B-2C7421484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7131C-F196-BF69-7799-3B81F4AC5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0E229-97E1-4CB0-B8D5-A3FFB3F431F3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041C57-24EE-794A-110C-170E57E6C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6A078-4162-F104-22BB-3AC009191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32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E14F3-09F3-0B2E-0A3E-4523169C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D7CBB4-BE7A-540D-3724-3CB57E0AE2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E5381-F1AF-F9F8-3F43-9462FA7E0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3F6DF-2BCA-B11E-D748-E064ED5A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95B7C-28E8-46DC-94A6-355B64A9A69A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79869-FB4F-3026-6B65-DDA4E50BD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98863A-D150-4FD7-5E2F-BBF28740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210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B7E5-063F-1DAB-E0AC-99717217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7614D-48F0-17D5-D304-9FF0498DB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091D1-2F58-9CAE-2CE8-62B5B397B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FE314-4B9A-4B44-8AD8-F63C9FF7B1F6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585D6-851E-DA1B-8CAC-8F193C6B6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C1C61-DFD3-3385-AEC2-4F06E2E3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7416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CA6127-142A-FE60-96B6-068FDD9B37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EF17F-6ED5-55EC-00F1-60C7A82DF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AFBFE-EFAE-CAE8-C42E-C610BA00D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6619D-1235-4D0E-86F6-58F07B3A79A7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F0687-B697-0EA4-251B-D0E280C4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5DAA1-7B98-C8BC-B5CD-30C85C86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01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F417C-30B6-7F31-A483-7430D0B42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809FB-7904-41D7-F523-571BA4C46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F916D-31C6-57ED-DCC9-255094A526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AF841-8C5B-417B-A003-F89AB034564D}" type="datetime1">
              <a:rPr lang="en-IN" smtClean="0"/>
              <a:pPr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9FBDF-1008-74CC-B1FD-C085ECDA37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D9E11-5BF0-5DDD-00A0-12EF1508FC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7D41E8-55CE-4D73-90D6-F936F71D14C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93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10322" y="583345"/>
            <a:ext cx="5370268" cy="4164820"/>
          </a:xfrm>
        </p:spPr>
        <p:txBody>
          <a:bodyPr anchor="t">
            <a:normAutofit/>
          </a:bodyPr>
          <a:lstStyle/>
          <a:p>
            <a:pPr algn="r"/>
            <a:br>
              <a:rPr lang="en-US" sz="6000" b="1">
                <a:solidFill>
                  <a:srgbClr val="FFFFFF"/>
                </a:solidFill>
              </a:rPr>
            </a:br>
            <a:r>
              <a:rPr lang="en-IN" sz="6000">
                <a:solidFill>
                  <a:srgbClr val="FFFFFF"/>
                </a:solidFill>
              </a:rPr>
              <a:t>THEORY OF COMPUTATION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224937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A7D41E8-55CE-4D73-90D6-F936F71D14C1}" type="slidenum">
              <a:rPr lang="en-IN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IN">
              <a:solidFill>
                <a:srgbClr val="FFFFFF"/>
              </a:solidFill>
            </a:endParaRPr>
          </a:p>
        </p:txBody>
      </p:sp>
      <p:sp>
        <p:nvSpPr>
          <p:cNvPr id="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05769" y="583345"/>
            <a:ext cx="10427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74854" y="812640"/>
            <a:ext cx="68353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94114" y="1037066"/>
            <a:ext cx="95785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2085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7318" y="5636680"/>
            <a:ext cx="113652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33881" y="6096759"/>
            <a:ext cx="81469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5716" y="6238029"/>
            <a:ext cx="7181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COURSE DESCRIPTION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Finite automata; </a:t>
            </a:r>
          </a:p>
          <a:p>
            <a:r>
              <a:rPr lang="en-IN" dirty="0"/>
              <a:t>Nondeterministic finite automata; </a:t>
            </a:r>
          </a:p>
          <a:p>
            <a:r>
              <a:rPr lang="en-IN" dirty="0"/>
              <a:t>Regular expressions; </a:t>
            </a:r>
          </a:p>
          <a:p>
            <a:r>
              <a:rPr lang="en-IN" dirty="0"/>
              <a:t>Applications of the pumping lemma; </a:t>
            </a:r>
          </a:p>
          <a:p>
            <a:r>
              <a:rPr lang="en-IN" dirty="0"/>
              <a:t>Context-free grammars; </a:t>
            </a:r>
          </a:p>
          <a:p>
            <a:r>
              <a:rPr lang="en-IN" dirty="0"/>
              <a:t>Normal forms for context-free grammars; </a:t>
            </a:r>
          </a:p>
          <a:p>
            <a:r>
              <a:rPr lang="en-IN" dirty="0"/>
              <a:t>Pushdown automata; </a:t>
            </a:r>
          </a:p>
          <a:p>
            <a:r>
              <a:rPr lang="en-IN" dirty="0"/>
              <a:t>Chomsky hierarchy of languages; </a:t>
            </a:r>
          </a:p>
          <a:p>
            <a:r>
              <a:rPr lang="en-IN" dirty="0"/>
              <a:t>Turing machines.</a:t>
            </a:r>
          </a:p>
          <a:p>
            <a:r>
              <a:rPr lang="en-US" altLang="en-IN" dirty="0"/>
              <a:t>Undecidable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IN" sz="2000" b="1" dirty="0"/>
              <a:t>UNIT I: </a:t>
            </a:r>
            <a:br>
              <a:rPr lang="en-IN" sz="2000" b="1" dirty="0"/>
            </a:br>
            <a:r>
              <a:rPr lang="en-US" altLang="en-IN" sz="2000" b="1" dirty="0"/>
              <a:t>INTRODUCTION TO </a:t>
            </a:r>
            <a:r>
              <a:rPr lang="en-IN" sz="2000" b="1" dirty="0"/>
              <a:t>FINITE AUTOMATA</a:t>
            </a:r>
            <a:endParaRPr lang="en-IN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IN" sz="2000" dirty="0"/>
          </a:p>
          <a:p>
            <a:pPr algn="just"/>
            <a:r>
              <a:rPr lang="en-IN" sz="2000" dirty="0"/>
              <a:t>Introduction to </a:t>
            </a:r>
            <a:r>
              <a:rPr lang="en-US" altLang="en-IN" sz="2000" dirty="0"/>
              <a:t>formal proof</a:t>
            </a:r>
            <a:r>
              <a:rPr lang="en-IN" sz="2000" dirty="0"/>
              <a:t>, </a:t>
            </a:r>
            <a:r>
              <a:rPr lang="en-US" altLang="en-IN" sz="2000" dirty="0"/>
              <a:t>Deductive proof.</a:t>
            </a:r>
          </a:p>
          <a:p>
            <a:pPr algn="just"/>
            <a:r>
              <a:rPr lang="en-US" altLang="en-IN" sz="2000" dirty="0"/>
              <a:t>Additional forms of proofs</a:t>
            </a:r>
          </a:p>
          <a:p>
            <a:pPr algn="just"/>
            <a:r>
              <a:rPr lang="en-US" altLang="en-IN" sz="2000" dirty="0"/>
              <a:t>Inductive proofs</a:t>
            </a:r>
            <a:r>
              <a:rPr lang="en-IN" sz="2000" dirty="0"/>
              <a:t> </a:t>
            </a:r>
          </a:p>
          <a:p>
            <a:pPr algn="just"/>
            <a:r>
              <a:rPr lang="en-US" altLang="en-IN" sz="2000" dirty="0"/>
              <a:t>Induction on Integers</a:t>
            </a:r>
            <a:r>
              <a:rPr lang="en-IN" sz="2000" dirty="0"/>
              <a:t>, </a:t>
            </a:r>
          </a:p>
          <a:p>
            <a:pPr algn="just"/>
            <a:r>
              <a:rPr lang="en-US" altLang="en-IN" sz="2000" dirty="0"/>
              <a:t>Central Concepts of Automata Theory</a:t>
            </a:r>
            <a:r>
              <a:rPr lang="en-IN" sz="2000" dirty="0"/>
              <a:t> </a:t>
            </a:r>
          </a:p>
          <a:p>
            <a:pPr marL="0" indent="0" algn="just">
              <a:buNone/>
            </a:pPr>
            <a:endParaRPr lang="en-IN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</a:t>
            </a:fld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Formal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Formal proof can be using deductive proof and </a:t>
            </a:r>
          </a:p>
          <a:p>
            <a:pPr marL="0" indent="0">
              <a:buNone/>
            </a:pPr>
            <a:r>
              <a:rPr lang="en-US"/>
              <a:t> inductive proof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u="sng"/>
              <a:t>Dedutive proof</a:t>
            </a:r>
          </a:p>
          <a:p>
            <a:pPr marL="0" indent="0">
              <a:buNone/>
            </a:pPr>
            <a:r>
              <a:rPr lang="en-US"/>
              <a:t>It consists of sequence of statements given with logical reasoning in order to prove the first or initial statement. The initial statement is called hypothesis.</a:t>
            </a:r>
            <a:endParaRPr lang="en-US"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Additional forms of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Proof about sets</a:t>
            </a:r>
          </a:p>
          <a:p>
            <a:r>
              <a:rPr lang="en-US"/>
              <a:t>Proof by Contradicition</a:t>
            </a:r>
          </a:p>
          <a:p>
            <a:r>
              <a:rPr lang="en-US">
                <a:sym typeface="+mn-ea"/>
              </a:rPr>
              <a:t>Proof by</a:t>
            </a:r>
            <a:r>
              <a:rPr lang="en-US"/>
              <a:t>Contrapositive</a:t>
            </a:r>
          </a:p>
          <a:p>
            <a:r>
              <a:rPr lang="en-US">
                <a:sym typeface="+mn-ea"/>
              </a:rPr>
              <a:t>Proof by Couter Example</a:t>
            </a:r>
          </a:p>
          <a:p>
            <a:r>
              <a:rPr lang="en-US"/>
              <a:t>Inductive Proofs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Proof about sets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50620"/>
            <a:ext cx="7467600" cy="5323205"/>
          </a:xfrm>
        </p:spPr>
        <p:txBody>
          <a:bodyPr/>
          <a:lstStyle/>
          <a:p>
            <a:r>
              <a:rPr lang="en-US"/>
              <a:t>Set- collection of elements or items</a:t>
            </a:r>
          </a:p>
          <a:p>
            <a:r>
              <a:rPr lang="en-US"/>
              <a:t>By giving proofs about sets-try to prove certain properties of sets</a:t>
            </a:r>
          </a:p>
          <a:p>
            <a:r>
              <a:rPr lang="en-US"/>
              <a:t>Eg. Two expressions A and B</a:t>
            </a:r>
          </a:p>
          <a:p>
            <a:r>
              <a:rPr lang="en-US"/>
              <a:t>To prove: Both the expressions are equivalent</a:t>
            </a:r>
          </a:p>
          <a:p>
            <a:r>
              <a:rPr lang="en-US"/>
              <a:t>Proof: Set represented by expression A is same as the set represented by expression B.</a:t>
            </a:r>
          </a:p>
          <a:p>
            <a:r>
              <a:rPr lang="en-US"/>
              <a:t>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υQ=QυP =&gt; mapping expression A with </a:t>
            </a:r>
            <a:r>
              <a:rPr lang="en-US">
                <a:sym typeface="+mn-ea"/>
              </a:rPr>
              <a:t>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υQ and expression B with QυP to prove A=B.</a:t>
            </a:r>
          </a:p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The proof is of kind “ if and only if”, an element ‘x’ is in A if and only if it is in B.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76225"/>
            <a:ext cx="7672070" cy="5895975"/>
          </a:xfrm>
        </p:spPr>
        <p:txBody>
          <a:bodyPr/>
          <a:lstStyle/>
          <a:p>
            <a:r>
              <a:rPr lang="en-US"/>
              <a:t>To prove the equivalence make use of sequence of statements along with logical justfication.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50" y="1412875"/>
            <a:ext cx="8039100" cy="45783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5244465"/>
            <a:ext cx="7636510" cy="927735"/>
          </a:xfrm>
        </p:spPr>
        <p:txBody>
          <a:bodyPr>
            <a:normAutofit/>
          </a:bodyPr>
          <a:lstStyle/>
          <a:p>
            <a:r>
              <a:rPr lang="en-US"/>
              <a:t>Hence </a:t>
            </a:r>
            <a:r>
              <a:rPr lang="en-US">
                <a:sym typeface="+mn-ea"/>
              </a:rPr>
              <a:t>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υQ=QυP. Thus, A=B is true as element x is in B if and only if x is in A.</a:t>
            </a:r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16560" y="431165"/>
            <a:ext cx="8086090" cy="4445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445" y="137160"/>
            <a:ext cx="7467600" cy="563245"/>
          </a:xfrm>
        </p:spPr>
        <p:txBody>
          <a:bodyPr/>
          <a:lstStyle/>
          <a:p>
            <a:r>
              <a:rPr lang="en-US">
                <a:sym typeface="+mn-ea"/>
              </a:rPr>
              <a:t>Proof by Contradicition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9775"/>
            <a:ext cx="7583805" cy="6018530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The proof is of kind “if Athen B”.</a:t>
            </a:r>
          </a:p>
          <a:p>
            <a:r>
              <a:rPr lang="en-US"/>
              <a:t>Start with statement A is not true, and thus by assuming false A try to get conclusion of statement B. </a:t>
            </a:r>
          </a:p>
          <a:p>
            <a:r>
              <a:rPr lang="en-US"/>
              <a:t>When it is impossible to reach to statement B contradict our self and accept that A is true.</a:t>
            </a:r>
          </a:p>
          <a:p>
            <a:r>
              <a:rPr lang="en-US"/>
              <a:t>Ex. </a:t>
            </a:r>
            <a:r>
              <a:rPr lang="en-US">
                <a:sym typeface="+mn-ea"/>
              </a:rPr>
              <a:t>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υQ=QυP </a:t>
            </a:r>
          </a:p>
          <a:p>
            <a:pPr marL="0" indent="0">
              <a:buNone/>
            </a:pPr>
            <a:r>
              <a:rPr lang="en-US"/>
              <a:t>1. Assume the statement is not true.</a:t>
            </a:r>
          </a:p>
          <a:p>
            <a:pPr marL="0" indent="0">
              <a:buNone/>
            </a:pPr>
            <a:r>
              <a:rPr lang="en-US"/>
              <a:t>2. Consider ‘x’ is in P or Q, we can say that ‘x’ is in     </a:t>
            </a:r>
            <a:r>
              <a:rPr lang="en-US">
                <a:sym typeface="+mn-ea"/>
              </a:rPr>
              <a:t>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υQ</a:t>
            </a:r>
          </a:p>
          <a:p>
            <a:pPr marL="0" indent="0">
              <a:buNone/>
            </a:pPr>
            <a:r>
              <a:rPr lang="en-US"/>
              <a:t>3. This also implies that ‘x’ is in </a:t>
            </a:r>
            <a:r>
              <a:rPr lang="en-US">
                <a:sym typeface="+mn-ea"/>
              </a:rPr>
              <a:t>Q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υP (definition of union)</a:t>
            </a:r>
          </a:p>
          <a:p>
            <a:pPr marL="0" indent="0">
              <a:buNone/>
            </a:pPr>
            <a:r>
              <a:rPr lang="en-US"/>
              <a:t>4. Hence assumption made initially is false. </a:t>
            </a:r>
            <a:r>
              <a:rPr lang="en-US">
                <a:sym typeface="+mn-ea"/>
              </a:rPr>
              <a:t>P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υQ=QυP hence proved.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9</a:t>
            </a:fld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215" y="45085"/>
            <a:ext cx="7467600" cy="506095"/>
          </a:xfrm>
        </p:spPr>
        <p:txBody>
          <a:bodyPr>
            <a:normAutofit fontScale="90000"/>
          </a:bodyPr>
          <a:lstStyle/>
          <a:p>
            <a:r>
              <a:rPr lang="en-US">
                <a:sym typeface="+mn-ea"/>
              </a:rPr>
              <a:t>Proof by Contrapositive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551180"/>
            <a:ext cx="7939405" cy="5621020"/>
          </a:xfrm>
        </p:spPr>
        <p:txBody>
          <a:bodyPr/>
          <a:lstStyle/>
          <a:p>
            <a:r>
              <a:rPr lang="en-US"/>
              <a:t>The contrapositive of the statement “if H then C” is “if not C then not H”. </a:t>
            </a:r>
          </a:p>
          <a:p>
            <a:r>
              <a:rPr lang="en-US"/>
              <a:t>A statement and its contrapositive are either both true or both false, we ca prove either toprove the other. </a:t>
            </a:r>
          </a:p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7680" y="2787650"/>
            <a:ext cx="7741285" cy="336169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610" y="2277110"/>
            <a:ext cx="4543425" cy="533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5920" y="6238240"/>
            <a:ext cx="2619375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57200" y="928370"/>
            <a:ext cx="7579360" cy="3582670"/>
          </a:xfrm>
          <a:prstGeom prst="rect">
            <a:avLst/>
          </a:prstGeom>
        </p:spPr>
      </p:pic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339340" y="404495"/>
            <a:ext cx="3429000" cy="35242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11</a:t>
            </a:fld>
            <a:endParaRPr lang="en-IN"/>
          </a:p>
        </p:txBody>
      </p:sp>
      <p:sp>
        <p:nvSpPr>
          <p:cNvPr id="8" name="Text Box 7"/>
          <p:cNvSpPr txBox="1"/>
          <p:nvPr/>
        </p:nvSpPr>
        <p:spPr>
          <a:xfrm>
            <a:off x="457200" y="4725035"/>
            <a:ext cx="764540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There are four cases to consider, H and C both true, H true and C false, C true and H false, H and C both false.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6370"/>
            <a:ext cx="7467600" cy="534035"/>
          </a:xfrm>
        </p:spPr>
        <p:txBody>
          <a:bodyPr>
            <a:normAutofit fontScale="90000"/>
          </a:bodyPr>
          <a:lstStyle/>
          <a:p>
            <a:r>
              <a:rPr lang="en-US">
                <a:sym typeface="+mn-ea"/>
              </a:rPr>
              <a:t>Proof by Couter Example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07085"/>
            <a:ext cx="7467600" cy="5666740"/>
          </a:xfrm>
        </p:spPr>
        <p:txBody>
          <a:bodyPr/>
          <a:lstStyle/>
          <a:p>
            <a:r>
              <a:rPr lang="en-US"/>
              <a:t>To prove certain statements, need to see all possible combinations in which the statements remains true.</a:t>
            </a:r>
          </a:p>
          <a:p>
            <a:r>
              <a:rPr lang="en-US"/>
              <a:t>There are some situations, the statement cannot be true.</a:t>
            </a:r>
          </a:p>
          <a:p>
            <a:r>
              <a:rPr lang="en-US"/>
              <a:t>Ex. There is no such pair of integers,</a:t>
            </a:r>
          </a:p>
          <a:p>
            <a:pPr marL="0" indent="0">
              <a:buNone/>
            </a:pPr>
            <a:r>
              <a:rPr lang="en-US"/>
              <a:t>	a mod b = b mod a</a:t>
            </a:r>
          </a:p>
          <a:p>
            <a:r>
              <a:rPr lang="en-US"/>
              <a:t>Proof: a=2, b=3</a:t>
            </a:r>
          </a:p>
          <a:p>
            <a:pPr marL="0" indent="0">
              <a:buNone/>
            </a:pPr>
            <a:r>
              <a:rPr lang="en-US"/>
              <a:t>	2 mod 3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≠</a:t>
            </a:r>
            <a:r>
              <a:rPr lang="en-US"/>
              <a:t> 3 mod 2</a:t>
            </a:r>
          </a:p>
          <a:p>
            <a:r>
              <a:rPr lang="en-US"/>
              <a:t>The given pair is true for any pair of integers but if a=b then a mod b = b mod a</a:t>
            </a:r>
          </a:p>
          <a:p>
            <a:r>
              <a:rPr lang="en-US"/>
              <a:t>Proof is true only at some specific condition.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4940"/>
            <a:ext cx="7467600" cy="885190"/>
          </a:xfrm>
        </p:spPr>
        <p:txBody>
          <a:bodyPr>
            <a:normAutofit fontScale="90000"/>
          </a:bodyPr>
          <a:lstStyle/>
          <a:p>
            <a:r>
              <a:rPr lang="en-US">
                <a:sym typeface="+mn-ea"/>
              </a:rPr>
              <a:t>Inductive Proofs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7467600" cy="5654675"/>
          </a:xfrm>
        </p:spPr>
        <p:txBody>
          <a:bodyPr/>
          <a:lstStyle/>
          <a:p>
            <a:r>
              <a:rPr lang="en-US"/>
              <a:t>It is a recursive kind of proof which consists of sequence of parameterized statements that use the statement itself with lower values of its parameter.</a:t>
            </a:r>
          </a:p>
          <a:p>
            <a:r>
              <a:rPr lang="en-US"/>
              <a:t>special prooofs based on observations.</a:t>
            </a:r>
          </a:p>
          <a:p>
            <a:r>
              <a:rPr lang="en-US"/>
              <a:t>used to prove resursively defined objects.</a:t>
            </a:r>
          </a:p>
          <a:p>
            <a:r>
              <a:rPr lang="en-US"/>
              <a:t>This proof is also called as proof by mathematical induction.</a:t>
            </a:r>
          </a:p>
          <a:p>
            <a:r>
              <a:rPr lang="en-US"/>
              <a:t>Steps carried out in the proof of mathematical induction are 	</a:t>
            </a:r>
          </a:p>
          <a:p>
            <a:pPr marL="0" indent="0">
              <a:buNone/>
            </a:pPr>
            <a:r>
              <a:rPr lang="en-US"/>
              <a:t>	* Basis</a:t>
            </a:r>
          </a:p>
          <a:p>
            <a:pPr marL="0" indent="0">
              <a:buNone/>
            </a:pPr>
            <a:r>
              <a:rPr lang="en-US"/>
              <a:t>	* Induction Hypothesis</a:t>
            </a:r>
          </a:p>
          <a:p>
            <a:pPr marL="0" indent="0">
              <a:buNone/>
            </a:pPr>
            <a:r>
              <a:rPr lang="en-US"/>
              <a:t>	* Inductive Step</a:t>
            </a:r>
          </a:p>
          <a:p>
            <a:pPr lv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44805"/>
            <a:ext cx="7467600" cy="6129020"/>
          </a:xfrm>
        </p:spPr>
        <p:txBody>
          <a:bodyPr/>
          <a:lstStyle/>
          <a:p>
            <a:r>
              <a:rPr lang="en-US" b="1"/>
              <a:t>Basis</a:t>
            </a:r>
            <a:r>
              <a:rPr lang="en-US"/>
              <a:t>- assume the lowest possible value, initial step in the proof of mathematical induction.</a:t>
            </a:r>
          </a:p>
          <a:p>
            <a:pPr marL="0" indent="0">
              <a:buNone/>
            </a:pPr>
            <a:r>
              <a:rPr lang="en-US"/>
              <a:t>   Ex. 	prove that the result is true for n=1 or n=0.</a:t>
            </a:r>
          </a:p>
          <a:p>
            <a:pPr marL="0" indent="0">
              <a:buNone/>
            </a:pPr>
            <a:endParaRPr lang="en-US"/>
          </a:p>
          <a:p>
            <a:r>
              <a:rPr lang="en-US" b="1">
                <a:sym typeface="+mn-ea"/>
              </a:rPr>
              <a:t>Induction Hypothesis</a:t>
            </a:r>
            <a:r>
              <a:rPr lang="en-US">
                <a:sym typeface="+mn-ea"/>
              </a:rPr>
              <a:t>- assign the value of n to some other value k, and check whether the result is true for n=k or not.</a:t>
            </a:r>
          </a:p>
          <a:p>
            <a:endParaRPr lang="en-US">
              <a:sym typeface="+mn-ea"/>
            </a:endParaRPr>
          </a:p>
          <a:p>
            <a:r>
              <a:rPr lang="en-US" b="1">
                <a:sym typeface="+mn-ea"/>
              </a:rPr>
              <a:t>Inductive Step</a:t>
            </a:r>
            <a:r>
              <a:rPr lang="en-US">
                <a:sym typeface="+mn-ea"/>
              </a:rPr>
              <a:t>- if n=k is true, check whether the result is true for n=k+1 or not. </a:t>
            </a:r>
          </a:p>
          <a:p>
            <a:r>
              <a:rPr lang="en-US">
                <a:sym typeface="+mn-ea"/>
              </a:rPr>
              <a:t>- if we get the same result at n=k+1 then state that given proof it true by priciple of mathematical induction.</a:t>
            </a:r>
            <a:endParaRPr lang="en-US" b="1"/>
          </a:p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210" y="725170"/>
            <a:ext cx="7031355" cy="563562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760" y="201295"/>
            <a:ext cx="8604885" cy="652907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16</a:t>
            </a:fld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860" y="241935"/>
            <a:ext cx="8269605" cy="63747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925" y="129540"/>
            <a:ext cx="8587740" cy="655701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760" y="173990"/>
            <a:ext cx="8648700" cy="646684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190" y="121920"/>
            <a:ext cx="8176260" cy="6450965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61658"/>
            <a:ext cx="7467600" cy="706090"/>
          </a:xfrm>
        </p:spPr>
        <p:txBody>
          <a:bodyPr>
            <a:normAutofit fontScale="90000"/>
          </a:bodyPr>
          <a:lstStyle/>
          <a:p>
            <a:br>
              <a:rPr lang="en-US" altLang="en-IN" dirty="0">
                <a:sym typeface="+mn-ea"/>
              </a:rPr>
            </a:br>
            <a:br>
              <a:rPr lang="en-US" altLang="en-IN" dirty="0">
                <a:sym typeface="+mn-ea"/>
              </a:rPr>
            </a:br>
            <a:r>
              <a:rPr lang="en-US" altLang="en-IN" dirty="0">
                <a:sym typeface="+mn-ea"/>
              </a:rPr>
              <a:t>Central Concepts of Automata Theory</a:t>
            </a:r>
            <a:r>
              <a:rPr lang="en-IN" dirty="0">
                <a:sym typeface="+mn-ea"/>
              </a:rPr>
              <a:t> </a:t>
            </a:r>
            <a:br>
              <a:rPr lang="en-IN" dirty="0"/>
            </a:br>
            <a:r>
              <a:rPr lang="en-IN" dirty="0"/>
              <a:t> 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68760"/>
            <a:ext cx="7467600" cy="5205192"/>
          </a:xfrm>
        </p:spPr>
        <p:txBody>
          <a:bodyPr>
            <a:noAutofit/>
          </a:bodyPr>
          <a:lstStyle/>
          <a:p>
            <a:pPr algn="just"/>
            <a:r>
              <a:rPr lang="en-IN" dirty="0"/>
              <a:t>Theory of automata is a theoretical branch of computer science and mathematical. </a:t>
            </a:r>
          </a:p>
          <a:p>
            <a:pPr algn="just"/>
            <a:r>
              <a:rPr lang="en-IN" dirty="0"/>
              <a:t>It is the study of </a:t>
            </a:r>
            <a:r>
              <a:rPr lang="en-IN" dirty="0">
                <a:solidFill>
                  <a:srgbClr val="C00000"/>
                </a:solidFill>
              </a:rPr>
              <a:t>abstract machines </a:t>
            </a:r>
            <a:r>
              <a:rPr lang="en-IN" dirty="0"/>
              <a:t>and the </a:t>
            </a:r>
            <a:r>
              <a:rPr lang="en-IN" dirty="0">
                <a:solidFill>
                  <a:srgbClr val="C00000"/>
                </a:solidFill>
              </a:rPr>
              <a:t>computation</a:t>
            </a:r>
            <a:r>
              <a:rPr lang="en-IN" dirty="0"/>
              <a:t> problems that can be solved using these machines. </a:t>
            </a:r>
          </a:p>
          <a:p>
            <a:pPr algn="just"/>
            <a:r>
              <a:rPr lang="en-IN" dirty="0"/>
              <a:t>The </a:t>
            </a: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 machine </a:t>
            </a:r>
            <a:r>
              <a:rPr lang="en-IN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called the automata</a:t>
            </a:r>
            <a:r>
              <a:rPr lang="en-IN" dirty="0"/>
              <a:t>. </a:t>
            </a:r>
          </a:p>
          <a:p>
            <a:pPr algn="just"/>
            <a:r>
              <a:rPr lang="en-IN" dirty="0"/>
              <a:t>An automaton with a finite number of states is called a Finite automaton.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 and transitions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The main motivation behind developing the automata theory was to develop methods to describe and analyse the dynamic behaviour of discrete systems.</a:t>
            </a:r>
          </a:p>
          <a:p>
            <a:pPr algn="just"/>
            <a:r>
              <a:rPr lang="en-IN" dirty="0"/>
              <a:t>This </a:t>
            </a:r>
            <a:r>
              <a:rPr lang="en-I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automation</a:t>
            </a:r>
            <a:r>
              <a:rPr lang="en-IN" dirty="0"/>
              <a:t> consists of </a:t>
            </a:r>
            <a:r>
              <a:rPr lang="en-IN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states</a:t>
            </a:r>
            <a:r>
              <a:rPr lang="en-IN" dirty="0"/>
              <a:t> and </a:t>
            </a:r>
            <a:r>
              <a:rPr lang="en-IN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transitions</a:t>
            </a:r>
            <a:r>
              <a:rPr lang="en-IN" dirty="0"/>
              <a:t>. </a:t>
            </a:r>
          </a:p>
          <a:p>
            <a:pPr algn="just"/>
            <a:r>
              <a:rPr lang="en-IN" dirty="0"/>
              <a:t>The </a:t>
            </a:r>
            <a:r>
              <a:rPr lang="en-IN" b="1" dirty="0"/>
              <a:t>State</a:t>
            </a:r>
            <a:r>
              <a:rPr lang="en-IN" dirty="0"/>
              <a:t> is represented by </a:t>
            </a:r>
            <a:r>
              <a:rPr lang="en-IN" b="1" dirty="0"/>
              <a:t>circles</a:t>
            </a:r>
            <a:r>
              <a:rPr lang="en-IN" dirty="0"/>
              <a:t>, and the </a:t>
            </a:r>
            <a:r>
              <a:rPr lang="en-IN" b="1" dirty="0"/>
              <a:t>Transitions</a:t>
            </a:r>
            <a:r>
              <a:rPr lang="en-IN" dirty="0"/>
              <a:t> is represented by </a:t>
            </a:r>
            <a:r>
              <a:rPr lang="en-IN" b="1" dirty="0"/>
              <a:t>arrows</a:t>
            </a:r>
            <a:r>
              <a:rPr lang="en-IN" dirty="0"/>
              <a:t>.</a:t>
            </a:r>
          </a:p>
          <a:p>
            <a:pPr algn="just"/>
            <a:r>
              <a:rPr lang="en-IN" dirty="0"/>
              <a:t>Automata is the kind of machine which takes some </a:t>
            </a:r>
            <a:r>
              <a:rPr lang="en-IN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</a:t>
            </a:r>
            <a:r>
              <a:rPr lang="en-IN" dirty="0"/>
              <a:t> as input and this input goes through a </a:t>
            </a:r>
            <a:r>
              <a:rPr lang="en-I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finite number of states</a:t>
            </a:r>
            <a:r>
              <a:rPr lang="en-IN" dirty="0"/>
              <a:t> and may enter in the final state.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Symbols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Symbols are </a:t>
            </a:r>
            <a:r>
              <a:rPr lang="en-IN" dirty="0">
                <a:solidFill>
                  <a:srgbClr val="FF0000"/>
                </a:solidFill>
              </a:rPr>
              <a:t>an entity or individual objects</a:t>
            </a:r>
            <a:r>
              <a:rPr lang="en-IN" dirty="0"/>
              <a:t>, which can be </a:t>
            </a:r>
            <a:r>
              <a:rPr lang="en-IN" u="sng" dirty="0">
                <a:solidFill>
                  <a:srgbClr val="002060"/>
                </a:solidFill>
              </a:rPr>
              <a:t>any letter, alphabet or any picture</a:t>
            </a:r>
            <a:r>
              <a:rPr lang="en-IN" dirty="0"/>
              <a:t>.</a:t>
            </a:r>
          </a:p>
          <a:p>
            <a:pPr lvl="1"/>
            <a:r>
              <a:rPr lang="en-IN" dirty="0"/>
              <a:t>Example:</a:t>
            </a:r>
          </a:p>
          <a:p>
            <a:pPr lvl="3"/>
            <a:r>
              <a:rPr lang="en-IN" dirty="0"/>
              <a:t>1, a, b, #</a:t>
            </a:r>
          </a:p>
          <a:p>
            <a:r>
              <a:rPr lang="en-IN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Alphabets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Alphabets are a </a:t>
            </a:r>
            <a:r>
              <a:rPr lang="en-IN" u="sng" dirty="0">
                <a:solidFill>
                  <a:srgbClr val="002060"/>
                </a:solidFill>
              </a:rPr>
              <a:t>finite set of symbols</a:t>
            </a:r>
            <a:r>
              <a:rPr lang="en-IN" dirty="0"/>
              <a:t>. It is denoted by ∑.</a:t>
            </a:r>
          </a:p>
          <a:p>
            <a:pPr lvl="1"/>
            <a:r>
              <a:rPr lang="en-IN" dirty="0"/>
              <a:t>Examples:</a:t>
            </a:r>
          </a:p>
          <a:p>
            <a:pPr lvl="2"/>
            <a:r>
              <a:rPr lang="en-IN" dirty="0"/>
              <a:t>∑ = {a, b}  </a:t>
            </a:r>
          </a:p>
          <a:p>
            <a:pPr lvl="2"/>
            <a:r>
              <a:rPr lang="en-IN" dirty="0"/>
              <a:t>∑ = {A, B, C, D}  </a:t>
            </a:r>
          </a:p>
          <a:p>
            <a:pPr lvl="2"/>
            <a:r>
              <a:rPr lang="en-IN" dirty="0"/>
              <a:t>∑ = {0, 1, 2}  </a:t>
            </a:r>
          </a:p>
          <a:p>
            <a:pPr lvl="2"/>
            <a:r>
              <a:rPr lang="en-IN" dirty="0"/>
              <a:t>∑ = {0, 1, ....., 5]  </a:t>
            </a:r>
          </a:p>
          <a:p>
            <a:pPr lvl="2"/>
            <a:r>
              <a:rPr lang="en-IN" dirty="0"/>
              <a:t>∑ = {#, β, Δ}  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</a:p>
          <a:p>
            <a:pPr lvl="1"/>
            <a:r>
              <a:rPr lang="en-IN" dirty="0"/>
              <a:t>It is a finite collection of symbols from the alphabet. The string is denoted by w.</a:t>
            </a:r>
          </a:p>
          <a:p>
            <a:pPr lvl="1"/>
            <a:r>
              <a:rPr lang="en-I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1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If ∑ = {a, b}, various string that can be generated from ∑ are {ab, </a:t>
            </a:r>
            <a:r>
              <a:rPr lang="en-IN" dirty="0" err="1"/>
              <a:t>aa</a:t>
            </a:r>
            <a:r>
              <a:rPr lang="en-IN" dirty="0"/>
              <a:t>, </a:t>
            </a:r>
            <a:r>
              <a:rPr lang="en-IN" dirty="0" err="1"/>
              <a:t>aaa</a:t>
            </a:r>
            <a:r>
              <a:rPr lang="en-IN" dirty="0"/>
              <a:t>, bb, </a:t>
            </a:r>
            <a:r>
              <a:rPr lang="en-IN" dirty="0" err="1"/>
              <a:t>bbb</a:t>
            </a:r>
            <a:r>
              <a:rPr lang="en-IN" dirty="0"/>
              <a:t>, </a:t>
            </a:r>
            <a:r>
              <a:rPr lang="en-IN" dirty="0" err="1"/>
              <a:t>ba</a:t>
            </a:r>
            <a:r>
              <a:rPr lang="en-IN" dirty="0"/>
              <a:t>, aba.....}.</a:t>
            </a:r>
          </a:p>
          <a:p>
            <a:pPr lvl="2"/>
            <a:r>
              <a:rPr lang="en-IN" dirty="0"/>
              <a:t>A string with zero occurrences of symbols is known as an empty string. It is represented by ε.</a:t>
            </a:r>
          </a:p>
          <a:p>
            <a:pPr lvl="2"/>
            <a:r>
              <a:rPr lang="en-IN" dirty="0"/>
              <a:t>The number of symbols in a string w is called the length of a string. It is denoted by |w|.</a:t>
            </a:r>
          </a:p>
          <a:p>
            <a:pPr lvl="1"/>
            <a:r>
              <a:rPr lang="en-IN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 2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w = 010  </a:t>
            </a:r>
          </a:p>
          <a:p>
            <a:pPr lvl="2"/>
            <a:r>
              <a:rPr lang="en-IN" dirty="0"/>
              <a:t>Number of Sting |w| = 3  </a:t>
            </a:r>
          </a:p>
          <a:p>
            <a:pPr lvl="1"/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24</a:t>
            </a:fld>
            <a:endParaRPr lang="en-IN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terminologies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Language:</a:t>
            </a:r>
          </a:p>
          <a:p>
            <a:pPr lvl="1" algn="just"/>
            <a:r>
              <a:rPr lang="en-IN" sz="2400" dirty="0"/>
              <a:t>A language is a collection of appropriate string. A language which is formed over </a:t>
            </a:r>
            <a:r>
              <a:rPr lang="el-GR" sz="2400" dirty="0"/>
              <a:t>Σ </a:t>
            </a:r>
            <a:r>
              <a:rPr lang="en-IN" sz="2400" dirty="0"/>
              <a:t>can be </a:t>
            </a:r>
            <a:r>
              <a:rPr lang="en-IN" sz="2400" b="1" dirty="0"/>
              <a:t>Finite</a:t>
            </a:r>
            <a:r>
              <a:rPr lang="en-IN" sz="2400" dirty="0"/>
              <a:t> or </a:t>
            </a:r>
            <a:r>
              <a:rPr lang="en-IN" sz="2400" b="1" dirty="0"/>
              <a:t>Infinite</a:t>
            </a:r>
            <a:r>
              <a:rPr lang="en-IN" sz="2400" dirty="0"/>
              <a:t>.</a:t>
            </a:r>
          </a:p>
          <a:p>
            <a:pPr lvl="1"/>
            <a:r>
              <a:rPr lang="en-IN" sz="2400" dirty="0"/>
              <a:t>Example: 1</a:t>
            </a:r>
          </a:p>
          <a:p>
            <a:pPr lvl="2"/>
            <a:r>
              <a:rPr lang="en-IN" sz="2000" dirty="0"/>
              <a:t>L1 = {Set of string of length 2} = {</a:t>
            </a:r>
            <a:r>
              <a:rPr lang="en-IN" sz="2000" dirty="0" err="1"/>
              <a:t>aa</a:t>
            </a:r>
            <a:r>
              <a:rPr lang="en-IN" sz="2000" dirty="0"/>
              <a:t>, bb, </a:t>
            </a:r>
            <a:r>
              <a:rPr lang="en-IN" sz="2000" dirty="0" err="1"/>
              <a:t>ba</a:t>
            </a:r>
            <a:r>
              <a:rPr lang="en-IN" sz="2000" dirty="0"/>
              <a:t>, bb} </a:t>
            </a:r>
            <a:r>
              <a:rPr lang="en-IN" sz="2000" b="1" dirty="0"/>
              <a:t>Finite Language</a:t>
            </a:r>
            <a:r>
              <a:rPr lang="en-IN" sz="2000" dirty="0"/>
              <a:t> </a:t>
            </a:r>
          </a:p>
          <a:p>
            <a:pPr lvl="1"/>
            <a:r>
              <a:rPr lang="en-IN" sz="2400" dirty="0"/>
              <a:t>Example: 2</a:t>
            </a:r>
          </a:p>
          <a:p>
            <a:pPr lvl="2"/>
            <a:r>
              <a:rPr lang="en-IN" sz="2000" dirty="0"/>
              <a:t>L2 = {Set of all strings starts with 'a'} = {a, </a:t>
            </a:r>
            <a:r>
              <a:rPr lang="en-IN" sz="2000" dirty="0" err="1"/>
              <a:t>aa</a:t>
            </a:r>
            <a:r>
              <a:rPr lang="en-IN" sz="2000" dirty="0"/>
              <a:t>, </a:t>
            </a:r>
            <a:r>
              <a:rPr lang="en-IN" sz="2000" dirty="0" err="1"/>
              <a:t>aaa</a:t>
            </a:r>
            <a:r>
              <a:rPr lang="en-IN" sz="2000" dirty="0"/>
              <a:t>, </a:t>
            </a:r>
            <a:r>
              <a:rPr lang="en-IN" sz="2000" dirty="0" err="1"/>
              <a:t>abb</a:t>
            </a:r>
            <a:r>
              <a:rPr lang="en-IN" sz="2000" dirty="0"/>
              <a:t>, </a:t>
            </a:r>
            <a:r>
              <a:rPr lang="en-IN" sz="2000" dirty="0" err="1"/>
              <a:t>abbb</a:t>
            </a:r>
            <a:r>
              <a:rPr lang="en-IN" sz="2000" dirty="0"/>
              <a:t>, </a:t>
            </a:r>
            <a:r>
              <a:rPr lang="en-IN" sz="2000" dirty="0" err="1"/>
              <a:t>ababb</a:t>
            </a:r>
            <a:r>
              <a:rPr lang="en-IN" sz="2000" dirty="0"/>
              <a:t>} </a:t>
            </a:r>
            <a:r>
              <a:rPr lang="en-IN" sz="2000" b="1" dirty="0"/>
              <a:t>Infinite Language</a:t>
            </a:r>
            <a:endParaRPr lang="en-IN" sz="2000" dirty="0"/>
          </a:p>
          <a:p>
            <a:endParaRPr lang="en-IN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Finite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Finite automata are used to recognize patterns.</a:t>
            </a:r>
          </a:p>
          <a:p>
            <a:pPr algn="just"/>
            <a:r>
              <a:rPr lang="en-IN" dirty="0"/>
              <a:t>It takes the string of symbol as input and changes its state accordingly. </a:t>
            </a:r>
          </a:p>
          <a:p>
            <a:pPr lvl="1" algn="just"/>
            <a:r>
              <a:rPr lang="en-IN" dirty="0"/>
              <a:t>When the desired symbol is found, then the transition occurs.</a:t>
            </a:r>
          </a:p>
          <a:p>
            <a:pPr algn="just"/>
            <a:r>
              <a:rPr lang="en-IN" dirty="0"/>
              <a:t>At the time of transition, the automata can either move to the next state or stay in the same state.</a:t>
            </a:r>
          </a:p>
          <a:p>
            <a:pPr algn="just"/>
            <a:r>
              <a:rPr lang="en-IN" dirty="0"/>
              <a:t>Finite automata have two states, </a:t>
            </a:r>
            <a:r>
              <a:rPr lang="en-IN" b="1" dirty="0"/>
              <a:t>Accept state</a:t>
            </a:r>
            <a:r>
              <a:rPr lang="en-IN" dirty="0"/>
              <a:t> or </a:t>
            </a:r>
            <a:r>
              <a:rPr lang="en-IN" b="1" dirty="0"/>
              <a:t>Reject state</a:t>
            </a:r>
            <a:r>
              <a:rPr lang="en-IN" dirty="0"/>
              <a:t>. </a:t>
            </a:r>
          </a:p>
          <a:p>
            <a:pPr lvl="1" algn="just"/>
            <a:r>
              <a:rPr lang="en-IN" dirty="0"/>
              <a:t>When the input string is processed successfully, and the automata reached its final state, then it will accept.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Formal Definition of 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finite automaton is a collection of 5-tuple (Q, ∑, δ, q0, F), where:</a:t>
            </a:r>
          </a:p>
          <a:p>
            <a:pPr lvl="1"/>
            <a:r>
              <a:rPr lang="en-IN" dirty="0"/>
              <a:t>Q: finite set of states  </a:t>
            </a:r>
          </a:p>
          <a:p>
            <a:pPr lvl="1"/>
            <a:r>
              <a:rPr lang="en-IN" dirty="0"/>
              <a:t>∑: finite set of the input symbol  </a:t>
            </a:r>
          </a:p>
          <a:p>
            <a:pPr lvl="1"/>
            <a:r>
              <a:rPr lang="en-IN" dirty="0"/>
              <a:t>q0: initial state   </a:t>
            </a:r>
          </a:p>
          <a:p>
            <a:pPr lvl="1"/>
            <a:r>
              <a:rPr lang="en-IN" dirty="0"/>
              <a:t>F: </a:t>
            </a:r>
            <a:r>
              <a:rPr lang="en-IN" b="1" dirty="0"/>
              <a:t>final</a:t>
            </a:r>
            <a:r>
              <a:rPr lang="en-IN" dirty="0"/>
              <a:t> state  </a:t>
            </a:r>
          </a:p>
          <a:p>
            <a:pPr lvl="1"/>
            <a:r>
              <a:rPr lang="en-IN" dirty="0"/>
              <a:t>δ: Transition function  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72334"/>
            <a:ext cx="7467600" cy="634082"/>
          </a:xfrm>
        </p:spPr>
        <p:txBody>
          <a:bodyPr/>
          <a:lstStyle/>
          <a:p>
            <a:r>
              <a:rPr lang="en-IN" dirty="0"/>
              <a:t>Finite Automata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797880"/>
            <a:ext cx="8352928" cy="2487104"/>
          </a:xfrm>
        </p:spPr>
        <p:txBody>
          <a:bodyPr>
            <a:normAutofit/>
          </a:bodyPr>
          <a:lstStyle/>
          <a:p>
            <a:pPr algn="just"/>
            <a:r>
              <a:rPr lang="en-IN" dirty="0"/>
              <a:t>Finite automata can be represented by input tape and finite control.</a:t>
            </a:r>
          </a:p>
          <a:p>
            <a:pPr lvl="1" algn="just"/>
            <a:r>
              <a:rPr lang="en-IN" b="1" dirty="0"/>
              <a:t>Input tape:</a:t>
            </a:r>
            <a:r>
              <a:rPr lang="en-IN" dirty="0"/>
              <a:t> It is a linear tape having some number of cells. Each input symbol is placed in each cell.</a:t>
            </a:r>
          </a:p>
          <a:p>
            <a:pPr lvl="1" algn="just"/>
            <a:r>
              <a:rPr lang="en-IN" b="1" dirty="0"/>
              <a:t>Finite control:</a:t>
            </a:r>
            <a:r>
              <a:rPr lang="en-IN" dirty="0"/>
              <a:t> The finite control decides the next state on receiving particular input from input tape. The tape reader reads the cells one by one from left to right, and at a time only one input symbol is read.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28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1676" y="3645024"/>
            <a:ext cx="5610225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IN" dirty="0"/>
              <a:t>Types of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7467600" cy="1368152"/>
          </a:xfrm>
        </p:spPr>
        <p:txBody>
          <a:bodyPr/>
          <a:lstStyle/>
          <a:p>
            <a:r>
              <a:rPr lang="en-IN" dirty="0"/>
              <a:t>There are two types of finite automata:</a:t>
            </a:r>
          </a:p>
          <a:p>
            <a:pPr lvl="1"/>
            <a:r>
              <a:rPr lang="en-IN" dirty="0"/>
              <a:t>DFA(deterministic finite automata)</a:t>
            </a:r>
          </a:p>
          <a:p>
            <a:pPr lvl="1"/>
            <a:r>
              <a:rPr lang="en-IN" dirty="0"/>
              <a:t>NFA(non-deterministic finite automata)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29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564904"/>
            <a:ext cx="7325978" cy="316835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IN" dirty="0"/>
              <a:t>Types of Automata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124744"/>
            <a:ext cx="7467600" cy="5184576"/>
          </a:xfrm>
        </p:spPr>
        <p:txBody>
          <a:bodyPr>
            <a:normAutofit/>
          </a:bodyPr>
          <a:lstStyle/>
          <a:p>
            <a:pPr algn="just"/>
            <a:r>
              <a:rPr lang="en-IN" b="1" dirty="0"/>
              <a:t>DFA</a:t>
            </a:r>
            <a:endParaRPr lang="en-IN" dirty="0"/>
          </a:p>
          <a:p>
            <a:pPr lvl="1" algn="just"/>
            <a:r>
              <a:rPr lang="en-IN" dirty="0"/>
              <a:t>DFA refers to deterministic finite automata. </a:t>
            </a:r>
          </a:p>
          <a:p>
            <a:pPr lvl="1" algn="just"/>
            <a:r>
              <a:rPr lang="en-IN" dirty="0"/>
              <a:t>Deterministic refers to the uniqueness of the computation. </a:t>
            </a:r>
          </a:p>
          <a:p>
            <a:pPr lvl="1" algn="just"/>
            <a:r>
              <a:rPr lang="en-IN" dirty="0"/>
              <a:t>In the DFA, the machine goes to one state only for a particular input character. </a:t>
            </a:r>
          </a:p>
          <a:p>
            <a:pPr lvl="1" algn="just"/>
            <a:r>
              <a:rPr lang="en-IN" dirty="0"/>
              <a:t>DFA does not accept the null move.</a:t>
            </a:r>
          </a:p>
          <a:p>
            <a:pPr algn="just"/>
            <a:r>
              <a:rPr lang="en-IN" b="1" dirty="0"/>
              <a:t>NFA</a:t>
            </a:r>
            <a:endParaRPr lang="en-IN" dirty="0"/>
          </a:p>
          <a:p>
            <a:pPr lvl="1" algn="just"/>
            <a:r>
              <a:rPr lang="en-IN" dirty="0"/>
              <a:t>NFA stands for non-deterministic finite automata. </a:t>
            </a:r>
          </a:p>
          <a:p>
            <a:pPr lvl="1" algn="just"/>
            <a:r>
              <a:rPr lang="en-IN" dirty="0"/>
              <a:t>It is used to transmit any number of states for a particular input. </a:t>
            </a:r>
          </a:p>
          <a:p>
            <a:pPr lvl="1" algn="just"/>
            <a:r>
              <a:rPr lang="en-IN" dirty="0"/>
              <a:t>It can accept the null move.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30</a:t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Some important points about DFA and NFA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just">
              <a:buFont typeface="+mj-lt"/>
              <a:buAutoNum type="arabicPeriod"/>
            </a:pPr>
            <a:r>
              <a:rPr lang="en-IN" dirty="0"/>
              <a:t>Every DFA is NFA, but NFA is not DFA.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There can be multiple final states in both NFA and DFA.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DFA is used in </a:t>
            </a:r>
            <a:r>
              <a:rPr lang="en-IN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Lexical Analysis </a:t>
            </a:r>
            <a:r>
              <a:rPr lang="en-IN" dirty="0"/>
              <a:t>in Compiler.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dirty="0"/>
              <a:t>NFA is more of a theoretical concept.</a:t>
            </a:r>
          </a:p>
          <a:p>
            <a:pPr marL="457200" indent="-457200" algn="just">
              <a:buFont typeface="+mj-lt"/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31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827584" y="4322618"/>
            <a:ext cx="7272808" cy="147732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en-IN" i="1" dirty="0"/>
              <a:t>Lexical Analysis is </a:t>
            </a:r>
            <a:r>
              <a:rPr lang="en-IN" b="1" i="1" dirty="0"/>
              <a:t>the first phase of the compiler also known as a scanner</a:t>
            </a:r>
            <a:r>
              <a:rPr lang="en-IN" i="1" dirty="0"/>
              <a:t>. </a:t>
            </a:r>
          </a:p>
          <a:p>
            <a:pPr algn="just"/>
            <a:r>
              <a:rPr lang="en-IN" i="1" dirty="0"/>
              <a:t>It converts the High level input program into a sequence of Tokens. </a:t>
            </a:r>
          </a:p>
          <a:p>
            <a:pPr algn="just"/>
            <a:r>
              <a:rPr lang="en-IN" i="1" dirty="0"/>
              <a:t>Lexical Analysis can be implemented with the Deterministic finite Automata. 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transition diagram or state transition diagram is a directed graph which can be constructed as follows:</a:t>
            </a:r>
          </a:p>
          <a:p>
            <a:pPr lvl="1" algn="just"/>
            <a:r>
              <a:rPr lang="en-US" dirty="0"/>
              <a:t>There is a node for each state in Q, which is represented by the circle.</a:t>
            </a:r>
          </a:p>
          <a:p>
            <a:pPr lvl="1" algn="just"/>
            <a:r>
              <a:rPr lang="en-US" dirty="0"/>
              <a:t>There is a directed edge from node q to node p labeled a if δ(q, a) = p.</a:t>
            </a:r>
          </a:p>
          <a:p>
            <a:pPr lvl="1" algn="just"/>
            <a:r>
              <a:rPr lang="en-US" dirty="0"/>
              <a:t>In the start state, there is an arrow with no source.</a:t>
            </a:r>
          </a:p>
          <a:p>
            <a:pPr lvl="1" algn="just"/>
            <a:r>
              <a:rPr lang="en-US" dirty="0"/>
              <a:t>Accepting states or final states are indicating by a double circle.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32</a:t>
            </a:fld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diagram Notations </a:t>
            </a:r>
          </a:p>
        </p:txBody>
      </p:sp>
      <p:pic>
        <p:nvPicPr>
          <p:cNvPr id="4" name="Content Placeholder 3" descr="transition-diagra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094" y="1825625"/>
            <a:ext cx="2895811" cy="4351338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33</a:t>
            </a:fld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dirty="0"/>
              <a:t>how a DFA operates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772400" cy="540715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dirty="0"/>
              <a:t>In DFA, the input to the automata can be any string.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Now, put a pointer to the start state q and read the input string w from left to right and move the pointer according to the transition function, δ.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We can read one symbol at a time.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If the next symbol of string w </a:t>
            </a:r>
            <a:r>
              <a:rPr lang="en-US"/>
              <a:t>is ‘a’ </a:t>
            </a:r>
            <a:r>
              <a:rPr lang="en-US" dirty="0"/>
              <a:t>and the pointer is on state p, move the pointer to δ(p, a).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dirty="0"/>
              <a:t>When the end of the input string w is encountered, then the pointer is on some state 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34</a:t>
            </a:fld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dirty="0"/>
              <a:t>how a DFA operates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7772400" cy="540715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2"/>
            </a:pPr>
            <a:r>
              <a:rPr lang="en-US" dirty="0"/>
              <a:t>The string w is said to be accepted by the DFA if r ∈ F that means the input string w is processed successfully and the automata reached its final state. </a:t>
            </a:r>
          </a:p>
          <a:p>
            <a:pPr marL="457200" indent="-457200" algn="just">
              <a:buFont typeface="+mj-lt"/>
              <a:buAutoNum type="arabicPeriod" startAt="2"/>
            </a:pPr>
            <a:r>
              <a:rPr lang="en-US" dirty="0"/>
              <a:t>The string is said to be rejected by DFA if r ∉ F.</a:t>
            </a:r>
          </a:p>
          <a:p>
            <a:pPr marL="457200" indent="-457200">
              <a:buFont typeface="+mj-lt"/>
              <a:buAutoNum type="arabicPeriod" startAt="2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35</a:t>
            </a:fld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7924800" cy="5483352"/>
          </a:xfrm>
        </p:spPr>
        <p:txBody>
          <a:bodyPr>
            <a:normAutofit/>
          </a:bodyPr>
          <a:lstStyle/>
          <a:p>
            <a:pPr algn="just"/>
            <a:r>
              <a:rPr lang="en-US" sz="2300" dirty="0"/>
              <a:t>DFA with ∑ = {0, 1} accepts all strings starting with 1.</a:t>
            </a:r>
          </a:p>
          <a:p>
            <a:pPr lvl="1" algn="just"/>
            <a:r>
              <a:rPr lang="en-US" dirty="0"/>
              <a:t>Solution: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2" algn="just"/>
            <a:r>
              <a:rPr lang="en-US" dirty="0"/>
              <a:t>The finite automata can be represented using a transition graph. </a:t>
            </a:r>
          </a:p>
          <a:p>
            <a:pPr lvl="2" algn="just"/>
            <a:r>
              <a:rPr lang="en-US" dirty="0"/>
              <a:t>In the above diagram, the machine initially is in start state q0 then on receiving input 1 the machine changes its state to q1. </a:t>
            </a:r>
          </a:p>
          <a:p>
            <a:pPr lvl="2" algn="just"/>
            <a:r>
              <a:rPr lang="en-US" dirty="0"/>
              <a:t>From q0 on receiving 0, the machine changes its state to q2, which is the dead state. </a:t>
            </a:r>
          </a:p>
          <a:p>
            <a:pPr lvl="2" algn="just"/>
            <a:r>
              <a:rPr lang="en-US" dirty="0"/>
              <a:t>From q1 on receiving input 0, 1 the machine changes its state to q1, which is the final state. </a:t>
            </a:r>
          </a:p>
          <a:p>
            <a:pPr lvl="2" algn="just"/>
            <a:r>
              <a:rPr lang="en-US" dirty="0"/>
              <a:t>The possible input strings that can be generated are 10, 11, 110, 101, 111......., that means all string starts with 1.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36</a:t>
            </a:fld>
            <a:endParaRPr lang="en-IN"/>
          </a:p>
        </p:txBody>
      </p:sp>
      <p:pic>
        <p:nvPicPr>
          <p:cNvPr id="4" name="Picture 3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1371600"/>
            <a:ext cx="3024356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563562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7924800" cy="5483352"/>
          </a:xfrm>
        </p:spPr>
        <p:txBody>
          <a:bodyPr>
            <a:normAutofit/>
          </a:bodyPr>
          <a:lstStyle/>
          <a:p>
            <a:pPr algn="just"/>
            <a:r>
              <a:rPr lang="en-US" sz="2000" dirty="0"/>
              <a:t>NFA with ∑ = {0, 1} accepts all strings starting with 1.</a:t>
            </a:r>
            <a:endParaRPr lang="en-US" sz="2300" dirty="0"/>
          </a:p>
          <a:p>
            <a:pPr lvl="1" algn="just"/>
            <a:r>
              <a:rPr lang="en-US" dirty="0"/>
              <a:t>Solution: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r>
              <a:rPr lang="en-US" dirty="0"/>
              <a:t>The NFA can be represented using a transition graph. </a:t>
            </a:r>
          </a:p>
          <a:p>
            <a:r>
              <a:rPr lang="en-US" dirty="0"/>
              <a:t>In the above diagram, the machine initially is in start state q0 then on receiving input 1 the machine changes its state to q1. </a:t>
            </a:r>
          </a:p>
          <a:p>
            <a:r>
              <a:rPr lang="en-US" dirty="0"/>
              <a:t>From q1 on receiving input 0, 1 the machine changes its state to q1. </a:t>
            </a:r>
          </a:p>
          <a:p>
            <a:r>
              <a:rPr lang="en-US" dirty="0"/>
              <a:t>The possible input string that can be generated is 10, 11, 110, 101, 111......, that means all string starts with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37</a:t>
            </a:fld>
            <a:endParaRPr lang="en-IN"/>
          </a:p>
        </p:txBody>
      </p:sp>
      <p:pic>
        <p:nvPicPr>
          <p:cNvPr id="5" name="Picture 4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1905000"/>
            <a:ext cx="3201129" cy="71136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transition table is basically a tabular representation of the transition function. </a:t>
            </a:r>
          </a:p>
          <a:p>
            <a:pPr algn="just"/>
            <a:r>
              <a:rPr lang="en-US" dirty="0"/>
              <a:t>It takes two arguments (a state and a symbol) and returns a state (the "next state").</a:t>
            </a:r>
          </a:p>
          <a:p>
            <a:pPr lvl="1" algn="just"/>
            <a:r>
              <a:rPr lang="en-US" dirty="0"/>
              <a:t>A transition table is represented by the following things:</a:t>
            </a:r>
          </a:p>
          <a:p>
            <a:pPr lvl="1" algn="just"/>
            <a:r>
              <a:rPr lang="en-US" dirty="0"/>
              <a:t>Columns correspond to input symbols.</a:t>
            </a:r>
          </a:p>
          <a:p>
            <a:pPr lvl="1" algn="just"/>
            <a:r>
              <a:rPr lang="en-US" dirty="0"/>
              <a:t>Rows correspond to states.</a:t>
            </a:r>
          </a:p>
          <a:p>
            <a:pPr lvl="1" algn="just"/>
            <a:r>
              <a:rPr lang="en-US" dirty="0"/>
              <a:t>Entries correspond to the next state.</a:t>
            </a:r>
          </a:p>
          <a:p>
            <a:pPr lvl="1" algn="just"/>
            <a:r>
              <a:rPr lang="en-US" dirty="0"/>
              <a:t>The start state is denoted by an arrow with no source.</a:t>
            </a:r>
          </a:p>
          <a:p>
            <a:pPr lvl="1" algn="just"/>
            <a:r>
              <a:rPr lang="en-US" dirty="0"/>
              <a:t>The accept state is denoted by a star.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38</a:t>
            </a:fld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1</a:t>
            </a:r>
          </a:p>
        </p:txBody>
      </p:sp>
      <p:pic>
        <p:nvPicPr>
          <p:cNvPr id="4" name="Content Placeholder 3" descr="transition-diagra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" y="762000"/>
            <a:ext cx="4876800" cy="1282992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39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495800" y="381000"/>
            <a:ext cx="4648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Solution: </a:t>
            </a:r>
            <a:r>
              <a:rPr lang="en-US" sz="1400" dirty="0"/>
              <a:t>Transition table of given DFA is as follows: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38800" y="838200"/>
          <a:ext cx="3048000" cy="1663662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31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Present State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Next state for Input 0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Next State of Input 1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→q0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q1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333333"/>
                          </a:solidFill>
                          <a:latin typeface="inter-regular"/>
                        </a:rPr>
                        <a:t>q1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q0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*q2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62472" marR="62472" marT="62472" marB="62472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381000" y="2971800"/>
            <a:ext cx="78486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/>
              <a:t>Explanation:</a:t>
            </a:r>
            <a:endParaRPr lang="en-US" sz="16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In the above table, the first column indicates all the current states. Under column 0 and 1, the next states are shown.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The first row of the transition table can be read as, when the current state is q0, on input 0 the next state will be q1 and on input 1 the next state will be q2.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In the second row, when the current state is q1, on input 0, the next state will be q0, and on 1 input the next state will be q2.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In the third row, when the current state is q2 on input 0, the next state will be q2, and on 1 input the next state will be q2.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The arrow marked to q0 indicates that it is a start state and circle marked to q2 indicates that it is a final state.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828800"/>
            <a:ext cx="2362200" cy="487362"/>
          </a:xfrm>
        </p:spPr>
        <p:txBody>
          <a:bodyPr>
            <a:normAutofit fontScale="90000"/>
          </a:bodyPr>
          <a:lstStyle/>
          <a:p>
            <a:r>
              <a:rPr lang="en-US" dirty="0"/>
              <a:t>Example 2</a:t>
            </a:r>
          </a:p>
        </p:txBody>
      </p:sp>
      <p:pic>
        <p:nvPicPr>
          <p:cNvPr id="9" name="Content Placeholder 8" descr="transition-diagra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28600"/>
            <a:ext cx="7278758" cy="123218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40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09600" y="2514600"/>
            <a:ext cx="4648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/>
              <a:t>Solution: </a:t>
            </a:r>
            <a:r>
              <a:rPr lang="en-US" sz="1400" dirty="0"/>
              <a:t>Transition table of given DFA is as follows: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67400" y="1828800"/>
          <a:ext cx="3048000" cy="2077176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2313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Present State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Next state for Input 0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Next State of Input 1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8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→q0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8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q1, 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8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842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*q3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3998655"/>
            <a:ext cx="78486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600" b="1" dirty="0"/>
              <a:t>Explanation:</a:t>
            </a:r>
            <a:endParaRPr lang="en-US" sz="16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The first row of the transition table can be read as, when the current state is q0, on input 0 the next state will be q0 and on input 1 the next state will be q1.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In the second row, when the current state is q1, on input 0 the next state will be either q1 or q2, and on 1 input the next state will be q2.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In the third row, when the current state is q2 on input 0, the next state will be q1, and on 1 input the next state will be q3.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1600" dirty="0"/>
              <a:t>In the fourth row, when the current state is q3 on input 0, the next state will be q2, and on 1 input the next state will be q2.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DFA (Deterministic finite automata)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000" dirty="0"/>
              <a:t>DFA refers to deterministic finite automata. </a:t>
            </a:r>
          </a:p>
          <a:p>
            <a:pPr lvl="1" algn="just"/>
            <a:r>
              <a:rPr lang="en-US" sz="1600" dirty="0"/>
              <a:t>Deterministic refers to the uniqueness of the computation. </a:t>
            </a:r>
          </a:p>
          <a:p>
            <a:pPr lvl="1" algn="just"/>
            <a:r>
              <a:rPr lang="en-US" sz="1800" dirty="0"/>
              <a:t>The finite automata are called deterministic finite automata if the machine is read an input string one symbol at a time.</a:t>
            </a:r>
            <a:endParaRPr lang="en-US" sz="1400" dirty="0"/>
          </a:p>
          <a:p>
            <a:pPr algn="just"/>
            <a:r>
              <a:rPr lang="en-US" sz="2000" dirty="0"/>
              <a:t>In DFA, there is only one path for specific input from the current state to the next state.</a:t>
            </a:r>
          </a:p>
          <a:p>
            <a:pPr algn="just"/>
            <a:r>
              <a:rPr lang="en-US" sz="2000" dirty="0"/>
              <a:t>DFA does not accept the null move, </a:t>
            </a:r>
          </a:p>
          <a:p>
            <a:pPr lvl="1" algn="just"/>
            <a:r>
              <a:rPr lang="en-US" sz="1600" dirty="0"/>
              <a:t>i.e., the DFA cannot change state without any input character.</a:t>
            </a:r>
          </a:p>
          <a:p>
            <a:pPr algn="just"/>
            <a:r>
              <a:rPr lang="en-US" sz="2000" dirty="0"/>
              <a:t>DFA can contain multiple final states. 	</a:t>
            </a:r>
          </a:p>
          <a:p>
            <a:pPr lvl="1" algn="just"/>
            <a:r>
              <a:rPr lang="en-US" sz="1600" dirty="0"/>
              <a:t>It is used in Lexical Analysis in Compiler.</a:t>
            </a:r>
          </a:p>
          <a:p>
            <a:pPr algn="just"/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41</a:t>
            </a:fld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4" name="Content Placeholder 3" descr="transition-diagram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3505200"/>
            <a:ext cx="3023289" cy="2197601"/>
          </a:xfr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85800" y="1676400"/>
            <a:ext cx="7772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In the following diagram, we can see that from state q0 for input a, there is only one path which is going to q1. </a:t>
            </a:r>
          </a:p>
          <a:p>
            <a:pPr algn="just"/>
            <a:r>
              <a:rPr lang="en-US" dirty="0"/>
              <a:t>Similarly, from q0, there is only one path for input b going to q2.</a:t>
            </a:r>
          </a:p>
          <a:p>
            <a:pPr algn="just"/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 of DFA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DFA is a collection of 5-tuples same as we described in the definition of FA.</a:t>
            </a:r>
          </a:p>
          <a:p>
            <a:pPr lvl="1" algn="just"/>
            <a:r>
              <a:rPr lang="en-US" dirty="0">
                <a:solidFill>
                  <a:srgbClr val="7030A0"/>
                </a:solidFill>
              </a:rPr>
              <a:t>Q: finite set of states  </a:t>
            </a:r>
          </a:p>
          <a:p>
            <a:pPr lvl="1" algn="just"/>
            <a:r>
              <a:rPr lang="en-US" dirty="0">
                <a:solidFill>
                  <a:srgbClr val="7030A0"/>
                </a:solidFill>
              </a:rPr>
              <a:t>∑: finite set of the input symbol  </a:t>
            </a:r>
          </a:p>
          <a:p>
            <a:pPr lvl="1" algn="just"/>
            <a:r>
              <a:rPr lang="en-US" dirty="0">
                <a:solidFill>
                  <a:srgbClr val="7030A0"/>
                </a:solidFill>
              </a:rPr>
              <a:t>q0: initial state   </a:t>
            </a:r>
          </a:p>
          <a:p>
            <a:pPr lvl="1" algn="just"/>
            <a:r>
              <a:rPr lang="en-US" dirty="0">
                <a:solidFill>
                  <a:srgbClr val="7030A0"/>
                </a:solidFill>
              </a:rPr>
              <a:t>F: </a:t>
            </a:r>
            <a:r>
              <a:rPr lang="en-US" b="1" dirty="0">
                <a:solidFill>
                  <a:srgbClr val="7030A0"/>
                </a:solidFill>
              </a:rPr>
              <a:t>final</a:t>
            </a:r>
            <a:r>
              <a:rPr lang="en-US" dirty="0">
                <a:solidFill>
                  <a:srgbClr val="7030A0"/>
                </a:solidFill>
              </a:rPr>
              <a:t> state  </a:t>
            </a:r>
          </a:p>
          <a:p>
            <a:pPr lvl="1" algn="just"/>
            <a:r>
              <a:rPr lang="en-US" dirty="0">
                <a:solidFill>
                  <a:srgbClr val="7030A0"/>
                </a:solidFill>
              </a:rPr>
              <a:t>δ: Transition function  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Transition function can be defined as: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</a:rPr>
              <a:t>δ: Q x ∑→Q  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43</a:t>
            </a:fld>
            <a:endParaRPr lang="en-I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Graphical Representation of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DFA can be represented by digraphs called state diagram. In which:</a:t>
            </a:r>
          </a:p>
          <a:p>
            <a:pPr lvl="1" algn="just"/>
            <a:r>
              <a:rPr lang="en-US" dirty="0"/>
              <a:t>The state is represented by vertices.</a:t>
            </a:r>
          </a:p>
          <a:p>
            <a:pPr lvl="1" algn="just"/>
            <a:r>
              <a:rPr lang="en-US" dirty="0"/>
              <a:t>The arc labeled with an input character show the transitions.</a:t>
            </a:r>
          </a:p>
          <a:p>
            <a:pPr lvl="1" algn="just"/>
            <a:r>
              <a:rPr lang="en-US" dirty="0"/>
              <a:t>The initial state is marked with an arrow.</a:t>
            </a:r>
          </a:p>
          <a:p>
            <a:pPr lvl="1" algn="just"/>
            <a:r>
              <a:rPr lang="en-US" dirty="0"/>
              <a:t>The final state is denoted by a double circle.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44</a:t>
            </a:fld>
            <a:endParaRPr lang="en-I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2895600" cy="563562"/>
          </a:xfrm>
        </p:spPr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3048000" cy="1371600"/>
          </a:xfrm>
          <a:ln>
            <a:solidFill>
              <a:srgbClr val="C00000"/>
            </a:solidFill>
          </a:ln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Q = {q0, q1, q2}  </a:t>
            </a:r>
          </a:p>
          <a:p>
            <a:pPr>
              <a:buNone/>
            </a:pPr>
            <a:r>
              <a:rPr lang="en-US" dirty="0"/>
              <a:t>∑ = {0, 1}  </a:t>
            </a:r>
          </a:p>
          <a:p>
            <a:pPr>
              <a:buNone/>
            </a:pPr>
            <a:r>
              <a:rPr lang="en-US" dirty="0"/>
              <a:t>q0 = {q0}  </a:t>
            </a:r>
          </a:p>
          <a:p>
            <a:pPr>
              <a:buNone/>
            </a:pPr>
            <a:r>
              <a:rPr lang="en-US" dirty="0"/>
              <a:t>F = {q2}  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45</a:t>
            </a:fld>
            <a:endParaRPr lang="en-IN"/>
          </a:p>
        </p:txBody>
      </p:sp>
      <p:pic>
        <p:nvPicPr>
          <p:cNvPr id="4" name="Picture 3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2362200"/>
            <a:ext cx="5601976" cy="71136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886200" y="1676400"/>
            <a:ext cx="4572000" cy="307777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>
            <a:spAutoFit/>
          </a:bodyPr>
          <a:lstStyle/>
          <a:p>
            <a:pPr algn="ctr"/>
            <a:r>
              <a:rPr lang="en-US" sz="1400" b="1" dirty="0"/>
              <a:t>Solution: </a:t>
            </a:r>
            <a:r>
              <a:rPr lang="en-US" sz="1400" dirty="0"/>
              <a:t>Transition Diagram:</a:t>
            </a:r>
          </a:p>
        </p:txBody>
      </p:sp>
      <p:sp>
        <p:nvSpPr>
          <p:cNvPr id="6" name="Rectangle 5"/>
          <p:cNvSpPr/>
          <p:nvPr/>
        </p:nvSpPr>
        <p:spPr>
          <a:xfrm>
            <a:off x="2438400" y="3352800"/>
            <a:ext cx="21916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Transition Table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447800" y="4038600"/>
          <a:ext cx="4800600" cy="2209801"/>
        </p:xfrm>
        <a:graphic>
          <a:graphicData uri="http://schemas.openxmlformats.org/drawingml/2006/table">
            <a:tbl>
              <a:tblPr/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2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92979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Present State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Next state for Input 0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Next State of Input 1</a:t>
                      </a:r>
                    </a:p>
                  </a:txBody>
                  <a:tcPr marL="93708" marR="93708" marT="93708" marB="93708">
                    <a:lnL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09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27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→q0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q0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27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q1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274"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*q2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400" dirty="0">
                          <a:solidFill>
                            <a:srgbClr val="333333"/>
                          </a:solidFill>
                          <a:latin typeface="inter-regular"/>
                        </a:rPr>
                        <a:t>q2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2895600" cy="563562"/>
          </a:xfrm>
        </p:spPr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4191000" cy="8382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800" dirty="0"/>
              <a:t>DFA with ∑ = {0, 1} accepts all starting with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46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5029200" y="990600"/>
            <a:ext cx="3352800" cy="307777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Solution: </a:t>
            </a:r>
            <a:r>
              <a:rPr lang="en-US" sz="1400" dirty="0"/>
              <a:t>Transition Diagram:</a:t>
            </a:r>
          </a:p>
        </p:txBody>
      </p:sp>
      <p:pic>
        <p:nvPicPr>
          <p:cNvPr id="8" name="Picture 7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400" y="1600200"/>
            <a:ext cx="3023289" cy="18546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33400" y="4038600"/>
            <a:ext cx="7239000" cy="156966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Explanation:</a:t>
            </a:r>
            <a:endParaRPr lang="en-US" sz="1600" dirty="0"/>
          </a:p>
          <a:p>
            <a:pPr algn="just"/>
            <a:r>
              <a:rPr lang="en-US" sz="1600" dirty="0"/>
              <a:t>In the above diagram, we can see that on given 0 as input to DFA in state q0 the DFA changes state to q1 and always go to final state q1 on starting input 0. </a:t>
            </a:r>
          </a:p>
          <a:p>
            <a:pPr algn="just"/>
            <a:r>
              <a:rPr lang="en-US" sz="1600" dirty="0"/>
              <a:t>It can accept 00, 01, 000, 001....etc. It can't accept any string which starts with 1, because it will never go to final state on a string starting with 1.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2895600" cy="563562"/>
          </a:xfrm>
        </p:spPr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4191000" cy="7620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 algn="ctr">
              <a:buNone/>
            </a:pPr>
            <a:r>
              <a:rPr lang="en-US" sz="1800" dirty="0"/>
              <a:t>DFA with ∑ = {0, 1} accepts all ending with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47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4953000" y="1143000"/>
            <a:ext cx="3352800" cy="307777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Solution: </a:t>
            </a:r>
            <a:r>
              <a:rPr lang="en-US" sz="1400" dirty="0"/>
              <a:t>Transition Diagram: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3733800"/>
            <a:ext cx="7543800" cy="2062103"/>
          </a:xfrm>
          <a:prstGeom prst="rect">
            <a:avLst/>
          </a:prstGeom>
          <a:ln w="1905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Explanation: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In the above diagram, we can see that on given 0 as input to DFA in state q0, the DFA changes state to q1. </a:t>
            </a:r>
          </a:p>
          <a:p>
            <a:pPr algn="just"/>
            <a:r>
              <a:rPr lang="en-US" sz="1600" dirty="0"/>
              <a:t>It can accept any string which ends with 0 like 00, 10, 110, 100....etc. </a:t>
            </a:r>
          </a:p>
          <a:p>
            <a:pPr algn="just"/>
            <a:r>
              <a:rPr lang="en-US" sz="1600" dirty="0"/>
              <a:t>It can't accept any string which ends with 1, because it will never go to the final state q1 on 1 input, so the string ending with 1, will not be accepted or will be rejected.</a:t>
            </a:r>
          </a:p>
        </p:txBody>
      </p:sp>
      <p:pic>
        <p:nvPicPr>
          <p:cNvPr id="7" name="Picture 6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2057400"/>
            <a:ext cx="3023289" cy="1003529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5181600" cy="563562"/>
          </a:xfrm>
        </p:spPr>
        <p:txBody>
          <a:bodyPr>
            <a:normAutofit/>
          </a:bodyPr>
          <a:lstStyle/>
          <a:p>
            <a:r>
              <a:rPr lang="en-US" dirty="0"/>
              <a:t>Example (1) of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153400" cy="6858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/>
              <a:t>Design a FA with ∑ = {0, 1} accepts those string which starts with 1 and ends with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48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81000" y="1828800"/>
            <a:ext cx="8153400" cy="52322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Solution: </a:t>
            </a:r>
          </a:p>
          <a:p>
            <a:r>
              <a:rPr lang="en-US" sz="1400" dirty="0"/>
              <a:t>The FA will have a start state q0 from which only the edge with input 1 will go to the next state.</a:t>
            </a:r>
          </a:p>
        </p:txBody>
      </p:sp>
      <p:pic>
        <p:nvPicPr>
          <p:cNvPr id="6" name="Picture 5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667000"/>
            <a:ext cx="4534933" cy="8637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81000" y="4495800"/>
            <a:ext cx="8229600" cy="1569660"/>
          </a:xfrm>
          <a:prstGeom prst="rect">
            <a:avLst/>
          </a:prstGeom>
          <a:solidFill>
            <a:srgbClr val="CCECFF"/>
          </a:solidFill>
          <a:ln w="1905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600" b="1" dirty="0"/>
              <a:t>Explanation: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In state q1, if we read 1, we will be in state q1, but if we read 0 at state q1, we will reach to state q2 which is the final state. </a:t>
            </a:r>
          </a:p>
          <a:p>
            <a:pPr algn="just"/>
            <a:r>
              <a:rPr lang="en-US" sz="1600" dirty="0"/>
              <a:t>In state q2, if we read either 0 or 1, we will go to q2 state or q1 state respectively. Note that if the input ends with 0, it will be in the final state.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5181600" cy="563562"/>
          </a:xfrm>
        </p:spPr>
        <p:txBody>
          <a:bodyPr>
            <a:normAutofit/>
          </a:bodyPr>
          <a:lstStyle/>
          <a:p>
            <a:r>
              <a:rPr lang="en-US" dirty="0"/>
              <a:t>Example (2) of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153400" cy="6858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/>
              <a:t>Design a FA with ∑ = {0, 1} accepts the only input 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04800" y="2385536"/>
            <a:ext cx="8153400" cy="738664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Solution: </a:t>
            </a:r>
          </a:p>
          <a:p>
            <a:r>
              <a:rPr lang="en-US" sz="1400" dirty="0"/>
              <a:t>In the given solution, we can see that only input 101 will be accepted. Hence, for input 101, there is no other path shown for other input.</a:t>
            </a:r>
          </a:p>
        </p:txBody>
      </p:sp>
      <p:pic>
        <p:nvPicPr>
          <p:cNvPr id="10" name="Picture 9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7400"/>
            <a:ext cx="9144000" cy="106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5181600" cy="38100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Example (3) of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685800"/>
            <a:ext cx="8153400" cy="4572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/>
              <a:t>Design FA with ∑ = {0, 1} accepts even number of 0's and even number of 1's.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50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81000" y="1219200"/>
            <a:ext cx="8153400" cy="52322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Solution: </a:t>
            </a:r>
          </a:p>
          <a:p>
            <a:r>
              <a:rPr lang="en-US" sz="1400" dirty="0"/>
              <a:t>This FA will consider four different stages for input 0 and input 1. The stages could be: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124200"/>
            <a:ext cx="5257800" cy="2169825"/>
          </a:xfrm>
          <a:prstGeom prst="rect">
            <a:avLst/>
          </a:prstGeom>
          <a:solidFill>
            <a:srgbClr val="CCECFF"/>
          </a:solidFill>
          <a:ln w="1905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en-US" sz="1500" b="1" dirty="0"/>
              <a:t>Explanation:</a:t>
            </a:r>
          </a:p>
          <a:p>
            <a:pPr algn="just"/>
            <a:endParaRPr lang="en-US" sz="1500" dirty="0"/>
          </a:p>
          <a:p>
            <a:r>
              <a:rPr lang="en-US" sz="1500" dirty="0"/>
              <a:t>Here q0 is a start state and the final state also. Note carefully that a symmetry of 0's and 1's is maintained. We can associate meanings to each state as:</a:t>
            </a:r>
          </a:p>
          <a:p>
            <a:r>
              <a:rPr lang="en-US" sz="1500" dirty="0"/>
              <a:t>q0: state of even number of 0's and even number of 1's.</a:t>
            </a:r>
            <a:br>
              <a:rPr lang="en-US" sz="1500" dirty="0"/>
            </a:br>
            <a:r>
              <a:rPr lang="en-US" sz="1500" dirty="0"/>
              <a:t>q1: state of odd number of 0's and even number of 1's.</a:t>
            </a:r>
            <a:br>
              <a:rPr lang="en-US" sz="1500" dirty="0"/>
            </a:br>
            <a:r>
              <a:rPr lang="en-US" sz="1500" dirty="0"/>
              <a:t>q2: state of odd number of 0's and odd number of 1's.</a:t>
            </a:r>
            <a:br>
              <a:rPr lang="en-US" sz="1500" dirty="0"/>
            </a:br>
            <a:r>
              <a:rPr lang="en-US" sz="1500" dirty="0"/>
              <a:t>q3: state of even number of 0's and odd number of 1's.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20" y="2132856"/>
            <a:ext cx="3286125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5181600" cy="38100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Example (4) of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914400"/>
            <a:ext cx="8153400" cy="4572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/>
              <a:t>Design FA with ∑ = {0, 1} accepts the set of all strings with three consecutive 0's.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51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81000" y="1828800"/>
            <a:ext cx="8153400" cy="738664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Solution: </a:t>
            </a:r>
          </a:p>
          <a:p>
            <a:r>
              <a:rPr lang="en-US" sz="1400" dirty="0"/>
              <a:t>The strings that will be generated for this particular languages are 000, 0001, 1000, 10001, .... in which 0 always appears in a clump of 3. The transition graph is as follows: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029200"/>
            <a:ext cx="7620000" cy="338554"/>
          </a:xfrm>
          <a:prstGeom prst="rect">
            <a:avLst/>
          </a:prstGeom>
          <a:solidFill>
            <a:srgbClr val="CCECFF"/>
          </a:solidFill>
          <a:ln w="1905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Note that the sequence of triple zeros is maintained to reach the final state.</a:t>
            </a:r>
          </a:p>
        </p:txBody>
      </p:sp>
      <p:pic>
        <p:nvPicPr>
          <p:cNvPr id="8" name="Picture 7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276600"/>
            <a:ext cx="6160904" cy="125758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5181600" cy="38100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Example (5) of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4572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/>
              <a:t>Design a DFA L(M) = {w | w ε {0, 1}*} and W is a string that does not contain consecutive 1's.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28600" y="1447800"/>
            <a:ext cx="8153400" cy="52322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Solution: </a:t>
            </a:r>
          </a:p>
          <a:p>
            <a:pPr algn="ctr"/>
            <a:r>
              <a:rPr lang="en-US" sz="1400" dirty="0"/>
              <a:t>When three consecutive 1's occur the DFA will be: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10200"/>
            <a:ext cx="7620000" cy="584775"/>
          </a:xfrm>
          <a:prstGeom prst="rect">
            <a:avLst/>
          </a:prstGeom>
          <a:solidFill>
            <a:srgbClr val="CCECFF"/>
          </a:solidFill>
          <a:ln w="19050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en-US" sz="1600" dirty="0"/>
              <a:t>The stages q0, q1, q2 are the final states. The DFA will generate the strings that do not contain consecutive 1's like 10, 110, 101,..... etc.</a:t>
            </a:r>
          </a:p>
        </p:txBody>
      </p:sp>
      <p:pic>
        <p:nvPicPr>
          <p:cNvPr id="7" name="Picture 6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09800"/>
            <a:ext cx="9144000" cy="62812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38200" y="3105835"/>
            <a:ext cx="7696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Here two consecutive 1's or single 1 is acceptable, hence</a:t>
            </a:r>
          </a:p>
        </p:txBody>
      </p:sp>
      <p:pic>
        <p:nvPicPr>
          <p:cNvPr id="11" name="Picture 10" descr="transition-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8516"/>
            <a:ext cx="9144000" cy="123208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5181600" cy="381000"/>
          </a:xfrm>
        </p:spPr>
        <p:txBody>
          <a:bodyPr>
            <a:normAutofit fontScale="90000"/>
          </a:bodyPr>
          <a:lstStyle/>
          <a:p>
            <a:r>
              <a:rPr lang="en-US" sz="2400" dirty="0"/>
              <a:t>Example (6) of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686800" cy="457200"/>
          </a:xfrm>
          <a:ln>
            <a:solidFill>
              <a:srgbClr val="C00000"/>
            </a:solidFill>
          </a:ln>
        </p:spPr>
        <p:txBody>
          <a:bodyPr>
            <a:normAutofit/>
          </a:bodyPr>
          <a:lstStyle/>
          <a:p>
            <a:pPr>
              <a:buNone/>
            </a:pPr>
            <a:r>
              <a:rPr lang="en-US" sz="1600" dirty="0"/>
              <a:t>Design a FA with ∑ = {0, 1} accepts the strings with an even number of 0's followed by single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53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28600" y="1676400"/>
            <a:ext cx="8153400" cy="523220"/>
          </a:xfrm>
          <a:prstGeom prst="rect">
            <a:avLst/>
          </a:prstGeom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b="1" dirty="0"/>
              <a:t>Solution: </a:t>
            </a:r>
          </a:p>
          <a:p>
            <a:pPr algn="ctr"/>
            <a:r>
              <a:rPr lang="en-US" sz="1400" dirty="0"/>
              <a:t>The DFA can be shown by a transition diagram as:</a:t>
            </a:r>
          </a:p>
        </p:txBody>
      </p:sp>
      <p:pic>
        <p:nvPicPr>
          <p:cNvPr id="12" name="Picture 11" descr="transition-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548" y="2895600"/>
            <a:ext cx="3933952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Conversion from NFA to DFA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Let, M = (Q, ∑, δ, q0, F) is an NFA which accepts the language L(M). There should be equivalent DFA denoted by M' = (Q', ∑', q0', δ', F') such that L(M) = L(M').</a:t>
            </a:r>
          </a:p>
          <a:p>
            <a:pPr algn="just"/>
            <a:r>
              <a:rPr lang="en-IN" dirty="0"/>
              <a:t>Steps for converting NFA to DFA:</a:t>
            </a:r>
          </a:p>
          <a:p>
            <a:pPr lvl="1" algn="just"/>
            <a:r>
              <a:rPr lang="en-IN" b="1" i="1" dirty="0">
                <a:solidFill>
                  <a:srgbClr val="C00000"/>
                </a:solidFill>
              </a:rPr>
              <a:t>Step 1:</a:t>
            </a:r>
            <a:r>
              <a:rPr lang="en-IN" dirty="0"/>
              <a:t> Initially Q' = ϕ</a:t>
            </a:r>
          </a:p>
          <a:p>
            <a:pPr lvl="1" algn="just"/>
            <a:r>
              <a:rPr lang="en-IN" b="1" i="1" dirty="0">
                <a:solidFill>
                  <a:srgbClr val="C00000"/>
                </a:solidFill>
              </a:rPr>
              <a:t>Step 2:</a:t>
            </a:r>
            <a:r>
              <a:rPr lang="en-IN" dirty="0"/>
              <a:t> Add q0 of NFA to Q'. Then find the transitions from this start state.</a:t>
            </a:r>
          </a:p>
          <a:p>
            <a:pPr lvl="1" algn="just"/>
            <a:r>
              <a:rPr lang="en-IN" b="1" i="1" dirty="0">
                <a:solidFill>
                  <a:srgbClr val="C00000"/>
                </a:solidFill>
              </a:rPr>
              <a:t>Step 3:</a:t>
            </a:r>
            <a:r>
              <a:rPr lang="en-IN" i="1" dirty="0">
                <a:solidFill>
                  <a:srgbClr val="C00000"/>
                </a:solidFill>
              </a:rPr>
              <a:t> </a:t>
            </a:r>
            <a:r>
              <a:rPr lang="en-IN" dirty="0"/>
              <a:t>In Q', find the possible set of states for each input symbol. If this set of states is not in Q', then add it to Q'.</a:t>
            </a:r>
          </a:p>
          <a:p>
            <a:pPr lvl="1" algn="just"/>
            <a:r>
              <a:rPr lang="en-IN" b="1" i="1" dirty="0">
                <a:solidFill>
                  <a:srgbClr val="C00000"/>
                </a:solidFill>
              </a:rPr>
              <a:t>Step 4:</a:t>
            </a:r>
            <a:r>
              <a:rPr lang="en-IN" dirty="0"/>
              <a:t> In DFA, the final state will be all the states which contain F(final states of NFA)</a:t>
            </a:r>
          </a:p>
          <a:p>
            <a:pPr algn="just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54</a:t>
            </a:fld>
            <a:endParaRPr lang="en-I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55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940233"/>
            <a:ext cx="6984776" cy="5441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94017" y="260648"/>
            <a:ext cx="157447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Example - 1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56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27" y="116632"/>
            <a:ext cx="8352928" cy="28987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5075440"/>
            <a:ext cx="4933950" cy="1771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52" y="3015365"/>
            <a:ext cx="4086225" cy="105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3989590"/>
            <a:ext cx="2905125" cy="108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82527" y="4017220"/>
            <a:ext cx="906147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57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6632"/>
            <a:ext cx="7454114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492896"/>
            <a:ext cx="7053488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4" y="4429125"/>
            <a:ext cx="2781300" cy="242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5643562"/>
            <a:ext cx="1905000" cy="314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78097" y="3496362"/>
            <a:ext cx="157447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Example - 2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58</a:t>
            </a:fld>
            <a:endParaRPr lang="en-IN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76672"/>
            <a:ext cx="8606746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2996952"/>
            <a:ext cx="9051495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43608" y="107340"/>
            <a:ext cx="157447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Example - 3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59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35" y="1268760"/>
            <a:ext cx="8633161" cy="3240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4017" y="260648"/>
            <a:ext cx="157447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Example - 4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60</a:t>
            </a:fld>
            <a:endParaRPr lang="en-IN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46100"/>
            <a:ext cx="8820472" cy="508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95536" y="75982"/>
            <a:ext cx="1574470" cy="369332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Example - 5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61</a:t>
            </a:fld>
            <a:endParaRPr lang="en-IN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0" y="188640"/>
            <a:ext cx="3534938" cy="1944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443" y="2166032"/>
            <a:ext cx="8908104" cy="2664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62</a:t>
            </a:fld>
            <a:endParaRPr lang="en-IN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88640"/>
            <a:ext cx="8712968" cy="4797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73" y="5229199"/>
            <a:ext cx="8964723" cy="1440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63</a:t>
            </a:fld>
            <a:endParaRPr lang="en-IN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16632"/>
            <a:ext cx="8930508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64</a:t>
            </a:fld>
            <a:endParaRPr lang="en-IN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332656"/>
            <a:ext cx="8501753" cy="409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1" y="4344469"/>
            <a:ext cx="8319956" cy="1892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65</a:t>
            </a:fld>
            <a:endParaRPr lang="en-IN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1" y="908720"/>
            <a:ext cx="8964488" cy="4392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66</a:t>
            </a:fld>
            <a:endParaRPr lang="en-IN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1" y="260648"/>
            <a:ext cx="8723255" cy="216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95" y="2996952"/>
            <a:ext cx="8885559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-37819" y="2780928"/>
            <a:ext cx="906147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67</a:t>
            </a:fld>
            <a:endParaRPr lang="en-IN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37" y="260648"/>
            <a:ext cx="8924191" cy="15841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94" y="2636912"/>
            <a:ext cx="9012676" cy="3128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Connector 4"/>
          <p:cNvCxnSpPr/>
          <p:nvPr/>
        </p:nvCxnSpPr>
        <p:spPr>
          <a:xfrm>
            <a:off x="47031" y="2276872"/>
            <a:ext cx="906147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68</a:t>
            </a:fld>
            <a:endParaRPr lang="en-IN"/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620688"/>
            <a:ext cx="8901831" cy="36724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69</a:t>
            </a:fld>
            <a:endParaRPr lang="en-IN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7" y="188640"/>
            <a:ext cx="5407497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476" y="301468"/>
            <a:ext cx="2835825" cy="276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16632"/>
            <a:ext cx="3931637" cy="43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61" y="3405060"/>
            <a:ext cx="8814075" cy="30243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Connector 6"/>
          <p:cNvCxnSpPr/>
          <p:nvPr/>
        </p:nvCxnSpPr>
        <p:spPr>
          <a:xfrm>
            <a:off x="33175" y="3212976"/>
            <a:ext cx="9061473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70</a:t>
            </a:fld>
            <a:endParaRPr lang="en-IN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836712"/>
            <a:ext cx="8892480" cy="3554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71</a:t>
            </a:fld>
            <a:endParaRPr lang="en-IN"/>
          </a:p>
        </p:txBody>
      </p:sp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828" y="3289686"/>
            <a:ext cx="805815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89" y="0"/>
            <a:ext cx="7514971" cy="32896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72</a:t>
            </a:fld>
            <a:endParaRPr lang="en-IN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32168"/>
            <a:ext cx="8974048" cy="3656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73</a:t>
            </a:fld>
            <a:endParaRPr lang="en-IN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404664"/>
            <a:ext cx="8820472" cy="3534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0"/>
            <a:ext cx="7467600" cy="85723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Theorem: NFA to DFA conversion</a:t>
            </a:r>
            <a:br>
              <a:rPr lang="en-US" dirty="0"/>
            </a:b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74</a:t>
            </a:fld>
            <a:endParaRPr lang="en-IN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9144000" cy="635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75</a:t>
            </a:fld>
            <a:endParaRPr lang="en-IN"/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572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7158" y="0"/>
            <a:ext cx="7467600" cy="560406"/>
          </a:xfrm>
        </p:spPr>
        <p:txBody>
          <a:bodyPr/>
          <a:lstStyle/>
          <a:p>
            <a:r>
              <a:rPr lang="en-US" dirty="0"/>
              <a:t>Alternate method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76</a:t>
            </a:fld>
            <a:endParaRPr lang="en-IN"/>
          </a:p>
        </p:txBody>
      </p:sp>
      <p:pic>
        <p:nvPicPr>
          <p:cNvPr id="9216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00042"/>
            <a:ext cx="9144000" cy="635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5403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Theorem: NFA with ε to DFA directly</a:t>
            </a: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77</a:t>
            </a:fld>
            <a:endParaRPr lang="en-IN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642918"/>
            <a:ext cx="8215370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929718" cy="2225668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Theorem: NFA-ε to NFA without ε</a:t>
            </a:r>
            <a:br>
              <a:rPr lang="en-IN" b="1" dirty="0"/>
            </a:br>
            <a:r>
              <a:rPr lang="en-IN" dirty="0"/>
              <a:t>If L is accepted by an NFA with ε-transition then show that L is accepted by NFA without ε -transition. 		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78</a:t>
            </a:fld>
            <a:endParaRPr lang="en-IN"/>
          </a:p>
        </p:txBody>
      </p:sp>
      <p:pic>
        <p:nvPicPr>
          <p:cNvPr id="9421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976438"/>
            <a:ext cx="8429684" cy="4310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79</a:t>
            </a:fld>
            <a:endParaRPr lang="en-IN"/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85728"/>
            <a:ext cx="8501122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US" dirty="0"/>
              <a:t>                   NFA to DFA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80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5" y="1052736"/>
            <a:ext cx="3168352" cy="381642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7454" y="1124743"/>
            <a:ext cx="3971562" cy="516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9052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81</a:t>
            </a:fld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7" y="476671"/>
            <a:ext cx="4752528" cy="63341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908720"/>
            <a:ext cx="3384375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30369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dirty="0"/>
              <a:t>     NFA with €  to DFA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82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7" y="764704"/>
            <a:ext cx="3672408" cy="37438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764703"/>
            <a:ext cx="3496163" cy="549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38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83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692697"/>
            <a:ext cx="5239481" cy="55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65915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84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36712"/>
            <a:ext cx="3898776" cy="54185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8" y="836712"/>
            <a:ext cx="3528392" cy="586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3780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/>
          <a:lstStyle/>
          <a:p>
            <a:r>
              <a:rPr lang="en-US" dirty="0"/>
              <a:t>NFA with € to NFA without €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85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93" y="980728"/>
            <a:ext cx="3849875" cy="44964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052736"/>
            <a:ext cx="3648584" cy="570194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36" y="5549163"/>
            <a:ext cx="4105848" cy="112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208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86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1" y="577566"/>
            <a:ext cx="3456384" cy="56776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944" y="1556792"/>
            <a:ext cx="4464496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029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87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6632"/>
            <a:ext cx="5515745" cy="309634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356992"/>
            <a:ext cx="3858163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837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D41E8-55CE-4D73-90D6-F936F71D14C1}" type="slidenum">
              <a:rPr lang="en-IN" smtClean="0"/>
              <a:pPr/>
              <a:t>88</a:t>
            </a:fld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88640"/>
            <a:ext cx="5506218" cy="421765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406296"/>
            <a:ext cx="3515216" cy="122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482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3941</Words>
  <Application>Microsoft Office PowerPoint</Application>
  <PresentationFormat>On-screen Show (4:3)</PresentationFormat>
  <Paragraphs>452</Paragraphs>
  <Slides>88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5" baseType="lpstr">
      <vt:lpstr>Aptos</vt:lpstr>
      <vt:lpstr>Aptos Display</vt:lpstr>
      <vt:lpstr>Arial</vt:lpstr>
      <vt:lpstr>Calibri</vt:lpstr>
      <vt:lpstr>inter-regular</vt:lpstr>
      <vt:lpstr>Times New Roman</vt:lpstr>
      <vt:lpstr>Office Theme</vt:lpstr>
      <vt:lpstr> THEORY OF COMPUTATION</vt:lpstr>
      <vt:lpstr>COURSE DESCRIPTION</vt:lpstr>
      <vt:lpstr>UNIT I:  INTRODUCTION TO FINITE AUTOMATA</vt:lpstr>
      <vt:lpstr>Formal Proof</vt:lpstr>
      <vt:lpstr>Additional forms of proof</vt:lpstr>
      <vt:lpstr>Proof about sets </vt:lpstr>
      <vt:lpstr>PowerPoint Presentation</vt:lpstr>
      <vt:lpstr>PowerPoint Presentation</vt:lpstr>
      <vt:lpstr>Proof by Contradicition</vt:lpstr>
      <vt:lpstr>Proof by Contrapositive</vt:lpstr>
      <vt:lpstr>PowerPoint Presentation</vt:lpstr>
      <vt:lpstr>Proof by Couter Example</vt:lpstr>
      <vt:lpstr>Inductive Proofs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Central Concepts of Automata Theory   </vt:lpstr>
      <vt:lpstr>State and transitions</vt:lpstr>
      <vt:lpstr>basic terminologies</vt:lpstr>
      <vt:lpstr>basic terminologies</vt:lpstr>
      <vt:lpstr>basic terminologies</vt:lpstr>
      <vt:lpstr>Finite Automata</vt:lpstr>
      <vt:lpstr>Formal Definition of FA</vt:lpstr>
      <vt:lpstr>Finite Automata Model</vt:lpstr>
      <vt:lpstr>Types of Automata</vt:lpstr>
      <vt:lpstr>Types of Automata</vt:lpstr>
      <vt:lpstr>Some important points about DFA and NFA</vt:lpstr>
      <vt:lpstr>Transition Diagram</vt:lpstr>
      <vt:lpstr>transition diagram Notations </vt:lpstr>
      <vt:lpstr>how a DFA operates</vt:lpstr>
      <vt:lpstr>how a DFA operates</vt:lpstr>
      <vt:lpstr>Example 1</vt:lpstr>
      <vt:lpstr>Example 2</vt:lpstr>
      <vt:lpstr>Transition Table</vt:lpstr>
      <vt:lpstr>Example 1</vt:lpstr>
      <vt:lpstr>Example 2</vt:lpstr>
      <vt:lpstr>DFA (Deterministic finite automata)</vt:lpstr>
      <vt:lpstr>Example</vt:lpstr>
      <vt:lpstr>Formal Definition of DFA </vt:lpstr>
      <vt:lpstr>Graphical Representation of DFA</vt:lpstr>
      <vt:lpstr>Example 1</vt:lpstr>
      <vt:lpstr>Example 2</vt:lpstr>
      <vt:lpstr>Example 3</vt:lpstr>
      <vt:lpstr>Example (1) of DFA</vt:lpstr>
      <vt:lpstr>Example (2) of DFA</vt:lpstr>
      <vt:lpstr>Example (3) of DFA</vt:lpstr>
      <vt:lpstr>Example (4) of DFA</vt:lpstr>
      <vt:lpstr>Example (5) of DFA</vt:lpstr>
      <vt:lpstr>Example (6) of DFA</vt:lpstr>
      <vt:lpstr>Conversion from NFA to DFA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Theorem: NFA to DFA conversion </vt:lpstr>
      <vt:lpstr>PowerPoint Presentation</vt:lpstr>
      <vt:lpstr>Alternate method</vt:lpstr>
      <vt:lpstr>Theorem: NFA with ε to DFA directly </vt:lpstr>
      <vt:lpstr>Theorem: NFA-ε to NFA without ε If L is accepted by an NFA with ε-transition then show that L is accepted by NFA without ε -transition.     </vt:lpstr>
      <vt:lpstr>PowerPoint Presentation</vt:lpstr>
      <vt:lpstr>                   NFA to DFA</vt:lpstr>
      <vt:lpstr>PowerPoint Presentation</vt:lpstr>
      <vt:lpstr>     NFA with €  to DFA</vt:lpstr>
      <vt:lpstr>PowerPoint Presentation</vt:lpstr>
      <vt:lpstr>PowerPoint Presentation</vt:lpstr>
      <vt:lpstr>NFA with € to NFA without €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20BT31201 SOFTWARE ENGINEERING</dc:title>
  <dc:creator>ADMIN</dc:creator>
  <cp:lastModifiedBy>Sundareswaran R</cp:lastModifiedBy>
  <cp:revision>117</cp:revision>
  <dcterms:created xsi:type="dcterms:W3CDTF">2021-10-25T04:28:00Z</dcterms:created>
  <dcterms:modified xsi:type="dcterms:W3CDTF">2026-06-22T04:27:47Z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EF22A9DEE4C4466CB8B713389EEAC8A9</vt:lpwstr>
  </property>
  <property fmtid="{D5CDD505-2E9C-101B-9397-08002B2CF9AE}" pid="3" name="KSOProductBuildVer">
    <vt:lpwstr>1033-11.2.0.11191</vt:lpwstr>
  </property>
</Properties>
</file>