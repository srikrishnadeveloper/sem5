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51"/>
  </p:notesMasterIdLst>
  <p:sldIdLst>
    <p:sldId id="256" r:id="rId2"/>
    <p:sldId id="260" r:id="rId3"/>
    <p:sldId id="261" r:id="rId4"/>
    <p:sldId id="262" r:id="rId5"/>
    <p:sldId id="264" r:id="rId6"/>
    <p:sldId id="265" r:id="rId7"/>
    <p:sldId id="266" r:id="rId8"/>
    <p:sldId id="347" r:id="rId9"/>
    <p:sldId id="346" r:id="rId10"/>
    <p:sldId id="379" r:id="rId11"/>
    <p:sldId id="380" r:id="rId12"/>
    <p:sldId id="275" r:id="rId13"/>
    <p:sldId id="277" r:id="rId14"/>
    <p:sldId id="278" r:id="rId15"/>
    <p:sldId id="281" r:id="rId16"/>
    <p:sldId id="348" r:id="rId17"/>
    <p:sldId id="349" r:id="rId18"/>
    <p:sldId id="350" r:id="rId19"/>
    <p:sldId id="351" r:id="rId20"/>
    <p:sldId id="353" r:id="rId21"/>
    <p:sldId id="352" r:id="rId22"/>
    <p:sldId id="354" r:id="rId23"/>
    <p:sldId id="355" r:id="rId24"/>
    <p:sldId id="356" r:id="rId25"/>
    <p:sldId id="357" r:id="rId26"/>
    <p:sldId id="358" r:id="rId27"/>
    <p:sldId id="359" r:id="rId28"/>
    <p:sldId id="360" r:id="rId29"/>
    <p:sldId id="298" r:id="rId30"/>
    <p:sldId id="361" r:id="rId31"/>
    <p:sldId id="363" r:id="rId32"/>
    <p:sldId id="364" r:id="rId33"/>
    <p:sldId id="365" r:id="rId34"/>
    <p:sldId id="366" r:id="rId35"/>
    <p:sldId id="367" r:id="rId36"/>
    <p:sldId id="368" r:id="rId37"/>
    <p:sldId id="369" r:id="rId38"/>
    <p:sldId id="370" r:id="rId39"/>
    <p:sldId id="371" r:id="rId40"/>
    <p:sldId id="372" r:id="rId41"/>
    <p:sldId id="373" r:id="rId42"/>
    <p:sldId id="374" r:id="rId43"/>
    <p:sldId id="375" r:id="rId44"/>
    <p:sldId id="376" r:id="rId45"/>
    <p:sldId id="340" r:id="rId46"/>
    <p:sldId id="322" r:id="rId47"/>
    <p:sldId id="377" r:id="rId48"/>
    <p:sldId id="378" r:id="rId49"/>
    <p:sldId id="324" r:id="rId5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a:srgbClr val="00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7" d="100"/>
          <a:sy n="67" d="100"/>
        </p:scale>
        <p:origin x="472" y="44"/>
      </p:cViewPr>
      <p:guideLst>
        <p:guide orient="horz" pos="2160"/>
        <p:guide pos="2880"/>
      </p:guideLst>
    </p:cSldViewPr>
  </p:slideViewPr>
  <p:notesTextViewPr>
    <p:cViewPr>
      <p:scale>
        <a:sx n="1" d="1"/>
        <a:sy n="1" d="1"/>
      </p:scale>
      <p:origin x="0" y="0"/>
    </p:cViewPr>
  </p:notesTextViewPr>
  <p:sorterViewPr>
    <p:cViewPr>
      <p:scale>
        <a:sx n="100" d="100"/>
        <a:sy n="100" d="100"/>
      </p:scale>
      <p:origin x="0" y="1171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95CC087-3CFB-4292-B39B-2C7C3871F070}" type="datetimeFigureOut">
              <a:rPr lang="en-IN" smtClean="0"/>
              <a:pPr/>
              <a:t>22-06-2026</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1F1DCEE-A665-4B38-A0CD-88200CA0D81F}" type="slidenum">
              <a:rPr lang="en-IN" smtClean="0"/>
              <a:pPr/>
              <a:t>‹#›</a:t>
            </a:fld>
            <a:endParaRPr lang="en-IN"/>
          </a:p>
        </p:txBody>
      </p:sp>
    </p:spTree>
    <p:extLst>
      <p:ext uri="{BB962C8B-B14F-4D97-AF65-F5344CB8AC3E}">
        <p14:creationId xmlns:p14="http://schemas.microsoft.com/office/powerpoint/2010/main" val="36340622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8B2B82-0A0D-FFD0-AA6A-7FAA0941C0BD}"/>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DA9E0317-3060-903E-66C2-F0AE69DEA7A2}"/>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56BBBE2-4C9D-6377-3AC1-1B3EC6E20F4E}"/>
              </a:ext>
            </a:extLst>
          </p:cNvPr>
          <p:cNvSpPr>
            <a:spLocks noGrp="1"/>
          </p:cNvSpPr>
          <p:nvPr>
            <p:ph type="dt" sz="half" idx="10"/>
          </p:nvPr>
        </p:nvSpPr>
        <p:spPr/>
        <p:txBody>
          <a:bodyPr/>
          <a:lstStyle/>
          <a:p>
            <a:fld id="{FBF57C06-38D9-4F75-9208-B2987A3C9070}" type="datetime1">
              <a:rPr lang="en-IN" smtClean="0"/>
              <a:pPr/>
              <a:t>22-06-2026</a:t>
            </a:fld>
            <a:endParaRPr lang="en-IN"/>
          </a:p>
        </p:txBody>
      </p:sp>
      <p:sp>
        <p:nvSpPr>
          <p:cNvPr id="5" name="Footer Placeholder 4">
            <a:extLst>
              <a:ext uri="{FF2B5EF4-FFF2-40B4-BE49-F238E27FC236}">
                <a16:creationId xmlns:a16="http://schemas.microsoft.com/office/drawing/2014/main" id="{7D5B5F61-78C0-AF05-0066-3065426FF7E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D3034CC-423A-F9CC-4275-E71BF497B1EB}"/>
              </a:ext>
            </a:extLst>
          </p:cNvPr>
          <p:cNvSpPr>
            <a:spLocks noGrp="1"/>
          </p:cNvSpPr>
          <p:nvPr>
            <p:ph type="sldNum" sz="quarter" idx="12"/>
          </p:nvPr>
        </p:nvSpPr>
        <p:spPr/>
        <p:txBody>
          <a:bodyPr/>
          <a:lstStyle/>
          <a:p>
            <a:fld id="{EA7D41E8-55CE-4D73-90D6-F936F71D14C1}" type="slidenum">
              <a:rPr lang="en-IN" smtClean="0"/>
              <a:pPr/>
              <a:t>‹#›</a:t>
            </a:fld>
            <a:endParaRPr lang="en-IN"/>
          </a:p>
        </p:txBody>
      </p:sp>
    </p:spTree>
    <p:extLst>
      <p:ext uri="{BB962C8B-B14F-4D97-AF65-F5344CB8AC3E}">
        <p14:creationId xmlns:p14="http://schemas.microsoft.com/office/powerpoint/2010/main" val="4590749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04B4EB-7A90-598C-7120-99FACE20778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0321154-CEDC-742D-A23D-8B302EB2797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0D89E35-217E-DEE5-653A-689F348E368B}"/>
              </a:ext>
            </a:extLst>
          </p:cNvPr>
          <p:cNvSpPr>
            <a:spLocks noGrp="1"/>
          </p:cNvSpPr>
          <p:nvPr>
            <p:ph type="dt" sz="half" idx="10"/>
          </p:nvPr>
        </p:nvSpPr>
        <p:spPr/>
        <p:txBody>
          <a:bodyPr/>
          <a:lstStyle/>
          <a:p>
            <a:fld id="{30C9752C-DA30-4E88-89A3-1BC4A9424115}" type="datetime1">
              <a:rPr lang="en-IN" smtClean="0"/>
              <a:pPr/>
              <a:t>22-06-2026</a:t>
            </a:fld>
            <a:endParaRPr lang="en-IN"/>
          </a:p>
        </p:txBody>
      </p:sp>
      <p:sp>
        <p:nvSpPr>
          <p:cNvPr id="5" name="Footer Placeholder 4">
            <a:extLst>
              <a:ext uri="{FF2B5EF4-FFF2-40B4-BE49-F238E27FC236}">
                <a16:creationId xmlns:a16="http://schemas.microsoft.com/office/drawing/2014/main" id="{A7FDC341-7DA4-6D39-1D0D-03E77994124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AB260C2-F4E5-7935-9999-273A344C3BDF}"/>
              </a:ext>
            </a:extLst>
          </p:cNvPr>
          <p:cNvSpPr>
            <a:spLocks noGrp="1"/>
          </p:cNvSpPr>
          <p:nvPr>
            <p:ph type="sldNum" sz="quarter" idx="12"/>
          </p:nvPr>
        </p:nvSpPr>
        <p:spPr/>
        <p:txBody>
          <a:bodyPr/>
          <a:lstStyle/>
          <a:p>
            <a:fld id="{EA7D41E8-55CE-4D73-90D6-F936F71D14C1}" type="slidenum">
              <a:rPr lang="en-IN" smtClean="0"/>
              <a:pPr/>
              <a:t>‹#›</a:t>
            </a:fld>
            <a:endParaRPr lang="en-IN"/>
          </a:p>
        </p:txBody>
      </p:sp>
    </p:spTree>
    <p:extLst>
      <p:ext uri="{BB962C8B-B14F-4D97-AF65-F5344CB8AC3E}">
        <p14:creationId xmlns:p14="http://schemas.microsoft.com/office/powerpoint/2010/main" val="42218898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2A187E-C713-E653-E938-0754BE1C7559}"/>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4A0AFEF-F699-8D32-882F-3789977B6CF4}"/>
              </a:ext>
            </a:extLst>
          </p:cNvPr>
          <p:cNvSpPr>
            <a:spLocks noGrp="1"/>
          </p:cNvSpPr>
          <p:nvPr>
            <p:ph type="body" idx="1"/>
          </p:nvPr>
        </p:nvSpPr>
        <p:spPr>
          <a:xfrm>
            <a:off x="623888" y="4589464"/>
            <a:ext cx="78867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9ED46FE-AA0D-F4DF-2197-94CEA3A67293}"/>
              </a:ext>
            </a:extLst>
          </p:cNvPr>
          <p:cNvSpPr>
            <a:spLocks noGrp="1"/>
          </p:cNvSpPr>
          <p:nvPr>
            <p:ph type="dt" sz="half" idx="10"/>
          </p:nvPr>
        </p:nvSpPr>
        <p:spPr/>
        <p:txBody>
          <a:bodyPr/>
          <a:lstStyle/>
          <a:p>
            <a:fld id="{BA594C4B-885A-458B-B688-361BB5DCEE2E}" type="datetime1">
              <a:rPr lang="en-IN" smtClean="0"/>
              <a:pPr/>
              <a:t>22-06-2026</a:t>
            </a:fld>
            <a:endParaRPr lang="en-IN"/>
          </a:p>
        </p:txBody>
      </p:sp>
      <p:sp>
        <p:nvSpPr>
          <p:cNvPr id="5" name="Footer Placeholder 4">
            <a:extLst>
              <a:ext uri="{FF2B5EF4-FFF2-40B4-BE49-F238E27FC236}">
                <a16:creationId xmlns:a16="http://schemas.microsoft.com/office/drawing/2014/main" id="{DD7092D1-76F6-1C10-AC3C-0BB22DCA444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BB1CB42-6855-30FC-A1B1-70EE8B92BDDD}"/>
              </a:ext>
            </a:extLst>
          </p:cNvPr>
          <p:cNvSpPr>
            <a:spLocks noGrp="1"/>
          </p:cNvSpPr>
          <p:nvPr>
            <p:ph type="sldNum" sz="quarter" idx="12"/>
          </p:nvPr>
        </p:nvSpPr>
        <p:spPr/>
        <p:txBody>
          <a:bodyPr/>
          <a:lstStyle/>
          <a:p>
            <a:fld id="{EA7D41E8-55CE-4D73-90D6-F936F71D14C1}" type="slidenum">
              <a:rPr lang="en-IN" smtClean="0"/>
              <a:pPr/>
              <a:t>‹#›</a:t>
            </a:fld>
            <a:endParaRPr lang="en-IN"/>
          </a:p>
        </p:txBody>
      </p:sp>
    </p:spTree>
    <p:extLst>
      <p:ext uri="{BB962C8B-B14F-4D97-AF65-F5344CB8AC3E}">
        <p14:creationId xmlns:p14="http://schemas.microsoft.com/office/powerpoint/2010/main" val="7601429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238D53-56C9-DAFF-EECB-1293B3CBEB6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BC29395-6E2B-FE24-20ED-2C0DB297F97A}"/>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B5C7F93-A5A7-5355-4E30-ED5BDF643CA7}"/>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9CA19A5-32A3-4F01-AA0A-BE5D6C353BA6}"/>
              </a:ext>
            </a:extLst>
          </p:cNvPr>
          <p:cNvSpPr>
            <a:spLocks noGrp="1"/>
          </p:cNvSpPr>
          <p:nvPr>
            <p:ph type="dt" sz="half" idx="10"/>
          </p:nvPr>
        </p:nvSpPr>
        <p:spPr/>
        <p:txBody>
          <a:bodyPr/>
          <a:lstStyle/>
          <a:p>
            <a:fld id="{BFCD13F5-0CB9-4B06-A871-EFAD2F01D288}" type="datetime1">
              <a:rPr lang="en-IN" smtClean="0"/>
              <a:pPr/>
              <a:t>22-06-2026</a:t>
            </a:fld>
            <a:endParaRPr lang="en-IN"/>
          </a:p>
        </p:txBody>
      </p:sp>
      <p:sp>
        <p:nvSpPr>
          <p:cNvPr id="6" name="Footer Placeholder 5">
            <a:extLst>
              <a:ext uri="{FF2B5EF4-FFF2-40B4-BE49-F238E27FC236}">
                <a16:creationId xmlns:a16="http://schemas.microsoft.com/office/drawing/2014/main" id="{AEB90B4E-B02D-0AFA-35C2-D8D36ABE72E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D2A5D0A-D213-0DCE-A864-7AEB2C6A5EA0}"/>
              </a:ext>
            </a:extLst>
          </p:cNvPr>
          <p:cNvSpPr>
            <a:spLocks noGrp="1"/>
          </p:cNvSpPr>
          <p:nvPr>
            <p:ph type="sldNum" sz="quarter" idx="12"/>
          </p:nvPr>
        </p:nvSpPr>
        <p:spPr/>
        <p:txBody>
          <a:bodyPr/>
          <a:lstStyle/>
          <a:p>
            <a:fld id="{EA7D41E8-55CE-4D73-90D6-F936F71D14C1}" type="slidenum">
              <a:rPr lang="en-IN" smtClean="0"/>
              <a:pPr/>
              <a:t>‹#›</a:t>
            </a:fld>
            <a:endParaRPr lang="en-IN"/>
          </a:p>
        </p:txBody>
      </p:sp>
    </p:spTree>
    <p:extLst>
      <p:ext uri="{BB962C8B-B14F-4D97-AF65-F5344CB8AC3E}">
        <p14:creationId xmlns:p14="http://schemas.microsoft.com/office/powerpoint/2010/main" val="10926108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3D3CA-4DAD-FBF8-4077-75F43A4B755A}"/>
              </a:ext>
            </a:extLst>
          </p:cNvPr>
          <p:cNvSpPr>
            <a:spLocks noGrp="1"/>
          </p:cNvSpPr>
          <p:nvPr>
            <p:ph type="title"/>
          </p:nvPr>
        </p:nvSpPr>
        <p:spPr>
          <a:xfrm>
            <a:off x="629841" y="365126"/>
            <a:ext cx="78867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85361D6-DBDB-7B0A-2A3D-286F0DBBE4A7}"/>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57DDA389-D1DD-B231-23B6-869AC7B3E6EA}"/>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E9C87C4-124E-2E25-65E7-ED26C8B1F8E8}"/>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04CDEF4E-E8D7-2475-6EC9-4487FDE63A5A}"/>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0257623-A43F-7D73-6091-A0EEFC07FB86}"/>
              </a:ext>
            </a:extLst>
          </p:cNvPr>
          <p:cNvSpPr>
            <a:spLocks noGrp="1"/>
          </p:cNvSpPr>
          <p:nvPr>
            <p:ph type="dt" sz="half" idx="10"/>
          </p:nvPr>
        </p:nvSpPr>
        <p:spPr/>
        <p:txBody>
          <a:bodyPr/>
          <a:lstStyle/>
          <a:p>
            <a:fld id="{E44B3666-9478-42CD-B2D5-848925466127}" type="datetime1">
              <a:rPr lang="en-IN" smtClean="0"/>
              <a:pPr/>
              <a:t>22-06-2026</a:t>
            </a:fld>
            <a:endParaRPr lang="en-IN"/>
          </a:p>
        </p:txBody>
      </p:sp>
      <p:sp>
        <p:nvSpPr>
          <p:cNvPr id="8" name="Footer Placeholder 7">
            <a:extLst>
              <a:ext uri="{FF2B5EF4-FFF2-40B4-BE49-F238E27FC236}">
                <a16:creationId xmlns:a16="http://schemas.microsoft.com/office/drawing/2014/main" id="{ED61F990-5378-5DBC-C0F9-40A81DB5370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2BB99DC-0C82-C77A-8057-6D0F7CCAB922}"/>
              </a:ext>
            </a:extLst>
          </p:cNvPr>
          <p:cNvSpPr>
            <a:spLocks noGrp="1"/>
          </p:cNvSpPr>
          <p:nvPr>
            <p:ph type="sldNum" sz="quarter" idx="12"/>
          </p:nvPr>
        </p:nvSpPr>
        <p:spPr/>
        <p:txBody>
          <a:bodyPr/>
          <a:lstStyle/>
          <a:p>
            <a:fld id="{EA7D41E8-55CE-4D73-90D6-F936F71D14C1}" type="slidenum">
              <a:rPr lang="en-IN" smtClean="0"/>
              <a:pPr/>
              <a:t>‹#›</a:t>
            </a:fld>
            <a:endParaRPr lang="en-IN"/>
          </a:p>
        </p:txBody>
      </p:sp>
    </p:spTree>
    <p:extLst>
      <p:ext uri="{BB962C8B-B14F-4D97-AF65-F5344CB8AC3E}">
        <p14:creationId xmlns:p14="http://schemas.microsoft.com/office/powerpoint/2010/main" val="2285925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90CD51-91E8-AC14-3A97-935F4A90435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070A488-2615-85C4-6C63-B60334EDE52D}"/>
              </a:ext>
            </a:extLst>
          </p:cNvPr>
          <p:cNvSpPr>
            <a:spLocks noGrp="1"/>
          </p:cNvSpPr>
          <p:nvPr>
            <p:ph type="dt" sz="half" idx="10"/>
          </p:nvPr>
        </p:nvSpPr>
        <p:spPr/>
        <p:txBody>
          <a:bodyPr/>
          <a:lstStyle/>
          <a:p>
            <a:fld id="{7CD472AE-3102-4E05-A16E-35DED36A8E30}" type="datetime1">
              <a:rPr lang="en-IN" smtClean="0"/>
              <a:pPr/>
              <a:t>22-06-2026</a:t>
            </a:fld>
            <a:endParaRPr lang="en-IN"/>
          </a:p>
        </p:txBody>
      </p:sp>
      <p:sp>
        <p:nvSpPr>
          <p:cNvPr id="4" name="Footer Placeholder 3">
            <a:extLst>
              <a:ext uri="{FF2B5EF4-FFF2-40B4-BE49-F238E27FC236}">
                <a16:creationId xmlns:a16="http://schemas.microsoft.com/office/drawing/2014/main" id="{26E7DC78-B9FC-4A3E-7838-87B687417E5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F327BF2-E87A-8DAF-3D48-87AAE4C7C75F}"/>
              </a:ext>
            </a:extLst>
          </p:cNvPr>
          <p:cNvSpPr>
            <a:spLocks noGrp="1"/>
          </p:cNvSpPr>
          <p:nvPr>
            <p:ph type="sldNum" sz="quarter" idx="12"/>
          </p:nvPr>
        </p:nvSpPr>
        <p:spPr/>
        <p:txBody>
          <a:bodyPr/>
          <a:lstStyle/>
          <a:p>
            <a:fld id="{EA7D41E8-55CE-4D73-90D6-F936F71D14C1}" type="slidenum">
              <a:rPr lang="en-IN" smtClean="0"/>
              <a:pPr/>
              <a:t>‹#›</a:t>
            </a:fld>
            <a:endParaRPr lang="en-IN"/>
          </a:p>
        </p:txBody>
      </p:sp>
    </p:spTree>
    <p:extLst>
      <p:ext uri="{BB962C8B-B14F-4D97-AF65-F5344CB8AC3E}">
        <p14:creationId xmlns:p14="http://schemas.microsoft.com/office/powerpoint/2010/main" val="30285212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E71C312-A857-09D5-0754-874462193E6E}"/>
              </a:ext>
            </a:extLst>
          </p:cNvPr>
          <p:cNvSpPr>
            <a:spLocks noGrp="1"/>
          </p:cNvSpPr>
          <p:nvPr>
            <p:ph type="dt" sz="half" idx="10"/>
          </p:nvPr>
        </p:nvSpPr>
        <p:spPr/>
        <p:txBody>
          <a:bodyPr/>
          <a:lstStyle/>
          <a:p>
            <a:fld id="{F4AC3DCD-E40D-4508-B82E-E448100CC6FB}" type="datetime1">
              <a:rPr lang="en-IN" smtClean="0"/>
              <a:pPr/>
              <a:t>22-06-2026</a:t>
            </a:fld>
            <a:endParaRPr lang="en-IN"/>
          </a:p>
        </p:txBody>
      </p:sp>
      <p:sp>
        <p:nvSpPr>
          <p:cNvPr id="3" name="Footer Placeholder 2">
            <a:extLst>
              <a:ext uri="{FF2B5EF4-FFF2-40B4-BE49-F238E27FC236}">
                <a16:creationId xmlns:a16="http://schemas.microsoft.com/office/drawing/2014/main" id="{CABD88F7-BF4F-973B-6022-BCFAB018553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55EC13E-B4E1-E08E-ED09-048AD2B8728C}"/>
              </a:ext>
            </a:extLst>
          </p:cNvPr>
          <p:cNvSpPr>
            <a:spLocks noGrp="1"/>
          </p:cNvSpPr>
          <p:nvPr>
            <p:ph type="sldNum" sz="quarter" idx="12"/>
          </p:nvPr>
        </p:nvSpPr>
        <p:spPr/>
        <p:txBody>
          <a:bodyPr/>
          <a:lstStyle/>
          <a:p>
            <a:fld id="{EA7D41E8-55CE-4D73-90D6-F936F71D14C1}" type="slidenum">
              <a:rPr lang="en-IN" smtClean="0"/>
              <a:pPr/>
              <a:t>‹#›</a:t>
            </a:fld>
            <a:endParaRPr lang="en-IN"/>
          </a:p>
        </p:txBody>
      </p:sp>
    </p:spTree>
    <p:extLst>
      <p:ext uri="{BB962C8B-B14F-4D97-AF65-F5344CB8AC3E}">
        <p14:creationId xmlns:p14="http://schemas.microsoft.com/office/powerpoint/2010/main" val="8928940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E609E-D7E8-22BC-B9E7-B85A9A6AE2FA}"/>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3D0EA7C-1FA6-06AE-1579-8ADBA08E0210}"/>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0AFE560-AAAF-2F18-2800-227BCBD6F8FE}"/>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2B16617F-6701-DB07-DB41-AAECE7CD80D9}"/>
              </a:ext>
            </a:extLst>
          </p:cNvPr>
          <p:cNvSpPr>
            <a:spLocks noGrp="1"/>
          </p:cNvSpPr>
          <p:nvPr>
            <p:ph type="dt" sz="half" idx="10"/>
          </p:nvPr>
        </p:nvSpPr>
        <p:spPr/>
        <p:txBody>
          <a:bodyPr/>
          <a:lstStyle/>
          <a:p>
            <a:fld id="{C8F0E229-97E1-4CB0-B8D5-A3FFB3F431F3}" type="datetime1">
              <a:rPr lang="en-IN" smtClean="0"/>
              <a:pPr/>
              <a:t>22-06-2026</a:t>
            </a:fld>
            <a:endParaRPr lang="en-IN"/>
          </a:p>
        </p:txBody>
      </p:sp>
      <p:sp>
        <p:nvSpPr>
          <p:cNvPr id="6" name="Footer Placeholder 5">
            <a:extLst>
              <a:ext uri="{FF2B5EF4-FFF2-40B4-BE49-F238E27FC236}">
                <a16:creationId xmlns:a16="http://schemas.microsoft.com/office/drawing/2014/main" id="{72C7F560-ADD8-2A65-CF1D-C7612A78E97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0AC0280-0B5E-0C81-29A3-61194F0F1F91}"/>
              </a:ext>
            </a:extLst>
          </p:cNvPr>
          <p:cNvSpPr>
            <a:spLocks noGrp="1"/>
          </p:cNvSpPr>
          <p:nvPr>
            <p:ph type="sldNum" sz="quarter" idx="12"/>
          </p:nvPr>
        </p:nvSpPr>
        <p:spPr/>
        <p:txBody>
          <a:bodyPr/>
          <a:lstStyle/>
          <a:p>
            <a:fld id="{EA7D41E8-55CE-4D73-90D6-F936F71D14C1}" type="slidenum">
              <a:rPr lang="en-IN" smtClean="0"/>
              <a:pPr/>
              <a:t>‹#›</a:t>
            </a:fld>
            <a:endParaRPr lang="en-IN"/>
          </a:p>
        </p:txBody>
      </p:sp>
    </p:spTree>
    <p:extLst>
      <p:ext uri="{BB962C8B-B14F-4D97-AF65-F5344CB8AC3E}">
        <p14:creationId xmlns:p14="http://schemas.microsoft.com/office/powerpoint/2010/main" val="27494182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FFA8E-2297-8FD3-5225-F2AFB29CACC6}"/>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62665CC-F8C5-9F28-C204-4D1DFC2EAFEE}"/>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id="{003FB3AD-54AD-02DD-9588-27B0809DDD34}"/>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925C77FE-D4AD-0A43-B722-61E1B1E5C358}"/>
              </a:ext>
            </a:extLst>
          </p:cNvPr>
          <p:cNvSpPr>
            <a:spLocks noGrp="1"/>
          </p:cNvSpPr>
          <p:nvPr>
            <p:ph type="dt" sz="half" idx="10"/>
          </p:nvPr>
        </p:nvSpPr>
        <p:spPr/>
        <p:txBody>
          <a:bodyPr/>
          <a:lstStyle/>
          <a:p>
            <a:fld id="{F6295B7C-28E8-46DC-94A6-355B64A9A69A}" type="datetime1">
              <a:rPr lang="en-IN" smtClean="0"/>
              <a:pPr/>
              <a:t>22-06-2026</a:t>
            </a:fld>
            <a:endParaRPr lang="en-IN"/>
          </a:p>
        </p:txBody>
      </p:sp>
      <p:sp>
        <p:nvSpPr>
          <p:cNvPr id="6" name="Footer Placeholder 5">
            <a:extLst>
              <a:ext uri="{FF2B5EF4-FFF2-40B4-BE49-F238E27FC236}">
                <a16:creationId xmlns:a16="http://schemas.microsoft.com/office/drawing/2014/main" id="{B267646E-2385-5622-CB32-09D22C8316B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880CA90-3127-F35D-BBA6-B24EE6F6B240}"/>
              </a:ext>
            </a:extLst>
          </p:cNvPr>
          <p:cNvSpPr>
            <a:spLocks noGrp="1"/>
          </p:cNvSpPr>
          <p:nvPr>
            <p:ph type="sldNum" sz="quarter" idx="12"/>
          </p:nvPr>
        </p:nvSpPr>
        <p:spPr/>
        <p:txBody>
          <a:bodyPr/>
          <a:lstStyle/>
          <a:p>
            <a:fld id="{EA7D41E8-55CE-4D73-90D6-F936F71D14C1}" type="slidenum">
              <a:rPr lang="en-IN" smtClean="0"/>
              <a:pPr/>
              <a:t>‹#›</a:t>
            </a:fld>
            <a:endParaRPr lang="en-IN"/>
          </a:p>
        </p:txBody>
      </p:sp>
    </p:spTree>
    <p:extLst>
      <p:ext uri="{BB962C8B-B14F-4D97-AF65-F5344CB8AC3E}">
        <p14:creationId xmlns:p14="http://schemas.microsoft.com/office/powerpoint/2010/main" val="2446018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48D85-4CB6-7A7A-1E4E-5EF90D392A4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E62A5EC-CDB5-840C-1F14-2A5825C73E5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99545B7-5EFA-416F-91D3-5F118C59F1F9}"/>
              </a:ext>
            </a:extLst>
          </p:cNvPr>
          <p:cNvSpPr>
            <a:spLocks noGrp="1"/>
          </p:cNvSpPr>
          <p:nvPr>
            <p:ph type="dt" sz="half" idx="10"/>
          </p:nvPr>
        </p:nvSpPr>
        <p:spPr/>
        <p:txBody>
          <a:bodyPr/>
          <a:lstStyle/>
          <a:p>
            <a:fld id="{97EFE314-4B9A-4B44-8AD8-F63C9FF7B1F6}" type="datetime1">
              <a:rPr lang="en-IN" smtClean="0"/>
              <a:pPr/>
              <a:t>22-06-2026</a:t>
            </a:fld>
            <a:endParaRPr lang="en-IN"/>
          </a:p>
        </p:txBody>
      </p:sp>
      <p:sp>
        <p:nvSpPr>
          <p:cNvPr id="5" name="Footer Placeholder 4">
            <a:extLst>
              <a:ext uri="{FF2B5EF4-FFF2-40B4-BE49-F238E27FC236}">
                <a16:creationId xmlns:a16="http://schemas.microsoft.com/office/drawing/2014/main" id="{7BAB035E-EE97-1A8E-A110-4E0CB93B6CE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3F160C8-DC1C-3E55-F19E-12626F599B55}"/>
              </a:ext>
            </a:extLst>
          </p:cNvPr>
          <p:cNvSpPr>
            <a:spLocks noGrp="1"/>
          </p:cNvSpPr>
          <p:nvPr>
            <p:ph type="sldNum" sz="quarter" idx="12"/>
          </p:nvPr>
        </p:nvSpPr>
        <p:spPr/>
        <p:txBody>
          <a:bodyPr/>
          <a:lstStyle/>
          <a:p>
            <a:fld id="{EA7D41E8-55CE-4D73-90D6-F936F71D14C1}" type="slidenum">
              <a:rPr lang="en-IN" smtClean="0"/>
              <a:pPr/>
              <a:t>‹#›</a:t>
            </a:fld>
            <a:endParaRPr lang="en-IN"/>
          </a:p>
        </p:txBody>
      </p:sp>
    </p:spTree>
    <p:extLst>
      <p:ext uri="{BB962C8B-B14F-4D97-AF65-F5344CB8AC3E}">
        <p14:creationId xmlns:p14="http://schemas.microsoft.com/office/powerpoint/2010/main" val="15404340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A540DA7-F269-ACFE-17C9-5F7E6DD3D6B5}"/>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7537B5B-D67B-3042-2780-7563052BE7A8}"/>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BD8AC2F-2732-3C5F-F25C-5DE35AA86A06}"/>
              </a:ext>
            </a:extLst>
          </p:cNvPr>
          <p:cNvSpPr>
            <a:spLocks noGrp="1"/>
          </p:cNvSpPr>
          <p:nvPr>
            <p:ph type="dt" sz="half" idx="10"/>
          </p:nvPr>
        </p:nvSpPr>
        <p:spPr/>
        <p:txBody>
          <a:bodyPr/>
          <a:lstStyle/>
          <a:p>
            <a:fld id="{A186619D-1235-4D0E-86F6-58F07B3A79A7}" type="datetime1">
              <a:rPr lang="en-IN" smtClean="0"/>
              <a:pPr/>
              <a:t>22-06-2026</a:t>
            </a:fld>
            <a:endParaRPr lang="en-IN"/>
          </a:p>
        </p:txBody>
      </p:sp>
      <p:sp>
        <p:nvSpPr>
          <p:cNvPr id="5" name="Footer Placeholder 4">
            <a:extLst>
              <a:ext uri="{FF2B5EF4-FFF2-40B4-BE49-F238E27FC236}">
                <a16:creationId xmlns:a16="http://schemas.microsoft.com/office/drawing/2014/main" id="{3F8F2A32-65D4-2B36-B43F-8DE2D98CC12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99E18BA-AA6F-4792-FE68-D306528CDD6E}"/>
              </a:ext>
            </a:extLst>
          </p:cNvPr>
          <p:cNvSpPr>
            <a:spLocks noGrp="1"/>
          </p:cNvSpPr>
          <p:nvPr>
            <p:ph type="sldNum" sz="quarter" idx="12"/>
          </p:nvPr>
        </p:nvSpPr>
        <p:spPr/>
        <p:txBody>
          <a:bodyPr/>
          <a:lstStyle/>
          <a:p>
            <a:fld id="{EA7D41E8-55CE-4D73-90D6-F936F71D14C1}" type="slidenum">
              <a:rPr lang="en-IN" smtClean="0"/>
              <a:pPr/>
              <a:t>‹#›</a:t>
            </a:fld>
            <a:endParaRPr lang="en-IN"/>
          </a:p>
        </p:txBody>
      </p:sp>
    </p:spTree>
    <p:extLst>
      <p:ext uri="{BB962C8B-B14F-4D97-AF65-F5344CB8AC3E}">
        <p14:creationId xmlns:p14="http://schemas.microsoft.com/office/powerpoint/2010/main" val="11150580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7E914D5-4A6E-4451-1A98-1955C68AF5D0}"/>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2D9EAF5-D47A-1AC9-D218-66687476FE50}"/>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A787886-9445-F5F0-3C4A-D1C82DC35242}"/>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82000"/>
                  </a:schemeClr>
                </a:solidFill>
              </a:defRPr>
            </a:lvl1pPr>
          </a:lstStyle>
          <a:p>
            <a:fld id="{E43AF841-8C5B-417B-A003-F89AB034564D}" type="datetime1">
              <a:rPr lang="en-IN" smtClean="0"/>
              <a:pPr/>
              <a:t>22-06-2026</a:t>
            </a:fld>
            <a:endParaRPr lang="en-IN"/>
          </a:p>
        </p:txBody>
      </p:sp>
      <p:sp>
        <p:nvSpPr>
          <p:cNvPr id="5" name="Footer Placeholder 4">
            <a:extLst>
              <a:ext uri="{FF2B5EF4-FFF2-40B4-BE49-F238E27FC236}">
                <a16:creationId xmlns:a16="http://schemas.microsoft.com/office/drawing/2014/main" id="{85B8DBD1-A24F-E083-D04A-C6EA428D7178}"/>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D5C8153D-695F-20FF-7400-FAD2B07D2E61}"/>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82000"/>
                  </a:schemeClr>
                </a:solidFill>
              </a:defRPr>
            </a:lvl1pPr>
          </a:lstStyle>
          <a:p>
            <a:fld id="{EA7D41E8-55CE-4D73-90D6-F936F71D14C1}" type="slidenum">
              <a:rPr lang="en-IN" smtClean="0"/>
              <a:pPr/>
              <a:t>‹#›</a:t>
            </a:fld>
            <a:endParaRPr lang="en-IN"/>
          </a:p>
        </p:txBody>
      </p:sp>
    </p:spTree>
    <p:extLst>
      <p:ext uri="{BB962C8B-B14F-4D97-AF65-F5344CB8AC3E}">
        <p14:creationId xmlns:p14="http://schemas.microsoft.com/office/powerpoint/2010/main" val="348252649"/>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br>
              <a:rPr lang="en-US" b="1" dirty="0"/>
            </a:br>
            <a:r>
              <a:rPr lang="en-IN" dirty="0"/>
              <a:t>THEORY OF COMPUTATION</a:t>
            </a:r>
          </a:p>
        </p:txBody>
      </p:sp>
      <p:sp>
        <p:nvSpPr>
          <p:cNvPr id="4" name="Slide Number Placeholder 3"/>
          <p:cNvSpPr>
            <a:spLocks noGrp="1"/>
          </p:cNvSpPr>
          <p:nvPr>
            <p:ph type="sldNum" sz="quarter" idx="12"/>
          </p:nvPr>
        </p:nvSpPr>
        <p:spPr/>
        <p:txBody>
          <a:bodyPr/>
          <a:lstStyle/>
          <a:p>
            <a:fld id="{EA7D41E8-55CE-4D73-90D6-F936F71D14C1}" type="slidenum">
              <a:rPr lang="en-IN" smtClean="0"/>
              <a:pPr/>
              <a:t>1</a:t>
            </a:fld>
            <a:endParaRPr lang="en-IN"/>
          </a:p>
        </p:txBody>
      </p:sp>
    </p:spTree>
    <p:extLst>
      <p:ext uri="{BB962C8B-B14F-4D97-AF65-F5344CB8AC3E}">
        <p14:creationId xmlns:p14="http://schemas.microsoft.com/office/powerpoint/2010/main" val="29183335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400" b="1" dirty="0"/>
              <a:t>UNIT III: </a:t>
            </a:r>
            <a:br>
              <a:rPr lang="en-IN" sz="2400" b="1" dirty="0"/>
            </a:br>
            <a:r>
              <a:rPr lang="en-US" sz="2400" dirty="0"/>
              <a:t>GRAMMARS AND PUSH DOWN AUTOMATA </a:t>
            </a:r>
            <a:endParaRPr lang="en-IN" sz="2400" dirty="0"/>
          </a:p>
        </p:txBody>
      </p:sp>
      <p:sp>
        <p:nvSpPr>
          <p:cNvPr id="3" name="Content Placeholder 2"/>
          <p:cNvSpPr>
            <a:spLocks noGrp="1"/>
          </p:cNvSpPr>
          <p:nvPr>
            <p:ph idx="1"/>
          </p:nvPr>
        </p:nvSpPr>
        <p:spPr/>
        <p:txBody>
          <a:bodyPr>
            <a:normAutofit/>
          </a:bodyPr>
          <a:lstStyle/>
          <a:p>
            <a:r>
              <a:rPr lang="en-US" dirty="0"/>
              <a:t>Context-free Grammars</a:t>
            </a:r>
          </a:p>
          <a:p>
            <a:r>
              <a:rPr lang="en-US" dirty="0"/>
              <a:t>Derivations ( Leftmost and Rightmost)</a:t>
            </a:r>
          </a:p>
          <a:p>
            <a:r>
              <a:rPr lang="en-US" dirty="0"/>
              <a:t>Parse Trees</a:t>
            </a:r>
          </a:p>
          <a:p>
            <a:r>
              <a:rPr lang="en-US" dirty="0"/>
              <a:t>Ambiguity</a:t>
            </a:r>
          </a:p>
          <a:p>
            <a:r>
              <a:rPr lang="en-US" dirty="0"/>
              <a:t>Normal Forms (CNF &amp; GNF)</a:t>
            </a:r>
          </a:p>
          <a:p>
            <a:r>
              <a:rPr lang="en-US" dirty="0"/>
              <a:t>Pushdown Automata</a:t>
            </a:r>
          </a:p>
          <a:p>
            <a:r>
              <a:rPr lang="en-US" dirty="0"/>
              <a:t>Pumping Lemma for CFL</a:t>
            </a:r>
          </a:p>
          <a:p>
            <a:r>
              <a:rPr lang="en-US" dirty="0"/>
              <a:t>Closure Properties of Context-free Languages</a:t>
            </a:r>
            <a:endParaRPr lang="en-IN" dirty="0"/>
          </a:p>
        </p:txBody>
      </p:sp>
      <p:sp>
        <p:nvSpPr>
          <p:cNvPr id="4" name="Slide Number Placeholder 3"/>
          <p:cNvSpPr>
            <a:spLocks noGrp="1"/>
          </p:cNvSpPr>
          <p:nvPr>
            <p:ph type="sldNum" sz="quarter" idx="12"/>
          </p:nvPr>
        </p:nvSpPr>
        <p:spPr/>
        <p:txBody>
          <a:bodyPr/>
          <a:lstStyle/>
          <a:p>
            <a:fld id="{EA7D41E8-55CE-4D73-90D6-F936F71D14C1}" type="slidenum">
              <a:rPr lang="en-IN" smtClean="0"/>
              <a:pPr/>
              <a:t>2</a:t>
            </a:fld>
            <a:endParaRPr lang="en-IN"/>
          </a:p>
        </p:txBody>
      </p:sp>
    </p:spTree>
    <p:extLst>
      <p:ext uri="{BB962C8B-B14F-4D97-AF65-F5344CB8AC3E}">
        <p14:creationId xmlns:p14="http://schemas.microsoft.com/office/powerpoint/2010/main" val="6807498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Context-free Grammars</a:t>
            </a:r>
            <a:endParaRPr lang="en-IN" dirty="0"/>
          </a:p>
        </p:txBody>
      </p:sp>
      <p:sp>
        <p:nvSpPr>
          <p:cNvPr id="3" name="Content Placeholder 2"/>
          <p:cNvSpPr>
            <a:spLocks noGrp="1"/>
          </p:cNvSpPr>
          <p:nvPr>
            <p:ph idx="1"/>
          </p:nvPr>
        </p:nvSpPr>
        <p:spPr>
          <a:xfrm>
            <a:off x="457200" y="1600200"/>
            <a:ext cx="7931224" cy="4873752"/>
          </a:xfrm>
        </p:spPr>
        <p:txBody>
          <a:bodyPr>
            <a:normAutofit/>
          </a:bodyPr>
          <a:lstStyle/>
          <a:p>
            <a:r>
              <a:rPr lang="en-US" sz="2800" dirty="0">
                <a:latin typeface="Times New Roman" pitchFamily="18" charset="0"/>
              </a:rPr>
              <a:t>A context-free grammar (CFG) is a 4-tuple </a:t>
            </a:r>
            <a:br>
              <a:rPr lang="en-US" sz="2800" dirty="0">
                <a:latin typeface="Times New Roman" pitchFamily="18" charset="0"/>
              </a:rPr>
            </a:br>
            <a:r>
              <a:rPr lang="en-US" sz="2800" dirty="0">
                <a:latin typeface="Times New Roman" pitchFamily="18" charset="0"/>
              </a:rPr>
              <a:t>(</a:t>
            </a:r>
            <a:r>
              <a:rPr lang="en-US" sz="2800" i="1" dirty="0">
                <a:latin typeface="Times New Roman" pitchFamily="18" charset="0"/>
              </a:rPr>
              <a:t>V</a:t>
            </a:r>
            <a:r>
              <a:rPr lang="en-US" sz="2800" dirty="0">
                <a:latin typeface="Times New Roman" pitchFamily="18" charset="0"/>
              </a:rPr>
              <a:t>, </a:t>
            </a:r>
            <a:r>
              <a:rPr lang="en-US" sz="2800" i="1" dirty="0">
                <a:latin typeface="Times New Roman" pitchFamily="18" charset="0"/>
              </a:rPr>
              <a:t>T</a:t>
            </a:r>
            <a:r>
              <a:rPr lang="en-US" sz="2800" dirty="0">
                <a:latin typeface="Times New Roman" pitchFamily="18" charset="0"/>
              </a:rPr>
              <a:t>, </a:t>
            </a:r>
            <a:r>
              <a:rPr lang="en-US" sz="2800" i="1" dirty="0">
                <a:latin typeface="Times New Roman" pitchFamily="18" charset="0"/>
              </a:rPr>
              <a:t>P</a:t>
            </a:r>
            <a:r>
              <a:rPr lang="en-US" sz="2800" dirty="0">
                <a:latin typeface="Times New Roman" pitchFamily="18" charset="0"/>
              </a:rPr>
              <a:t>, S) where</a:t>
            </a:r>
          </a:p>
          <a:p>
            <a:pPr lvl="1"/>
            <a:r>
              <a:rPr lang="en-US" i="1" dirty="0">
                <a:latin typeface="Times New Roman" pitchFamily="18" charset="0"/>
              </a:rPr>
              <a:t>V</a:t>
            </a:r>
            <a:r>
              <a:rPr lang="en-US" dirty="0">
                <a:latin typeface="Times New Roman" pitchFamily="18" charset="0"/>
              </a:rPr>
              <a:t> is a finite set of variables or non-terminals</a:t>
            </a:r>
          </a:p>
          <a:p>
            <a:pPr lvl="1"/>
            <a:r>
              <a:rPr lang="en-US" i="1" dirty="0">
                <a:latin typeface="Times New Roman" pitchFamily="18" charset="0"/>
              </a:rPr>
              <a:t>T</a:t>
            </a:r>
            <a:r>
              <a:rPr lang="en-US" dirty="0">
                <a:latin typeface="Times New Roman" pitchFamily="18" charset="0"/>
              </a:rPr>
              <a:t> is a finite set of terminals (</a:t>
            </a:r>
            <a:r>
              <a:rPr lang="en-US" i="1" dirty="0">
                <a:latin typeface="Times New Roman" pitchFamily="18" charset="0"/>
              </a:rPr>
              <a:t>V</a:t>
            </a:r>
            <a:r>
              <a:rPr lang="en-US" sz="2400" dirty="0">
                <a:latin typeface="Times New Roman" pitchFamily="18" charset="0"/>
              </a:rPr>
              <a:t> </a:t>
            </a:r>
            <a:r>
              <a:rPr lang="en-US" sz="2400" dirty="0">
                <a:latin typeface="Times New Roman" pitchFamily="18" charset="0"/>
                <a:sym typeface="Symbol" pitchFamily="18" charset="2"/>
              </a:rPr>
              <a:t></a:t>
            </a:r>
            <a:r>
              <a:rPr lang="en-US" i="1" dirty="0">
                <a:latin typeface="Times New Roman" pitchFamily="18" charset="0"/>
              </a:rPr>
              <a:t>T</a:t>
            </a:r>
            <a:r>
              <a:rPr lang="en-US" dirty="0">
                <a:latin typeface="Times New Roman" pitchFamily="18" charset="0"/>
              </a:rPr>
              <a:t> =</a:t>
            </a:r>
            <a:r>
              <a:rPr lang="en-US" sz="2400" dirty="0">
                <a:latin typeface="Times New Roman" pitchFamily="18" charset="0"/>
              </a:rPr>
              <a:t> </a:t>
            </a:r>
            <a:r>
              <a:rPr lang="en-US" sz="2400" dirty="0">
                <a:latin typeface="Times New Roman" pitchFamily="18" charset="0"/>
                <a:sym typeface="Symbol" pitchFamily="18" charset="2"/>
              </a:rPr>
              <a:t></a:t>
            </a:r>
            <a:r>
              <a:rPr lang="en-US" dirty="0">
                <a:latin typeface="Times New Roman" pitchFamily="18" charset="0"/>
              </a:rPr>
              <a:t>)</a:t>
            </a:r>
          </a:p>
          <a:p>
            <a:pPr lvl="1"/>
            <a:r>
              <a:rPr lang="en-US" i="1" dirty="0">
                <a:latin typeface="Times New Roman" pitchFamily="18" charset="0"/>
              </a:rPr>
              <a:t>P</a:t>
            </a:r>
            <a:r>
              <a:rPr lang="en-US" dirty="0">
                <a:latin typeface="Times New Roman" pitchFamily="18" charset="0"/>
              </a:rPr>
              <a:t> is a set of productions or substitution rules of the</a:t>
            </a:r>
            <a:r>
              <a:rPr lang="en-US" dirty="0"/>
              <a:t> </a:t>
            </a:r>
            <a:r>
              <a:rPr lang="en-US" dirty="0">
                <a:latin typeface="Times New Roman" pitchFamily="18" charset="0"/>
              </a:rPr>
              <a:t>form</a:t>
            </a:r>
            <a:r>
              <a:rPr lang="en-US" sz="2400" dirty="0"/>
              <a:t>              </a:t>
            </a:r>
            <a:r>
              <a:rPr lang="en-US" dirty="0">
                <a:latin typeface="Times New Roman" pitchFamily="18" charset="0"/>
              </a:rPr>
              <a:t>where A is a symbol in </a:t>
            </a:r>
            <a:r>
              <a:rPr lang="en-US" i="1" dirty="0">
                <a:latin typeface="Times New Roman" pitchFamily="18" charset="0"/>
              </a:rPr>
              <a:t>V</a:t>
            </a:r>
            <a:r>
              <a:rPr lang="en-US" dirty="0">
                <a:latin typeface="Times New Roman" pitchFamily="18" charset="0"/>
              </a:rPr>
              <a:t> and</a:t>
            </a:r>
            <a:r>
              <a:rPr lang="en-US" sz="2400" dirty="0"/>
              <a:t> </a:t>
            </a:r>
            <a:r>
              <a:rPr lang="en-US" sz="2400" dirty="0">
                <a:latin typeface="Symbol" pitchFamily="18" charset="2"/>
              </a:rPr>
              <a:t>a </a:t>
            </a:r>
            <a:r>
              <a:rPr lang="en-US" dirty="0">
                <a:latin typeface="Times New Roman" pitchFamily="18" charset="0"/>
              </a:rPr>
              <a:t>is a string over </a:t>
            </a:r>
            <a:r>
              <a:rPr lang="en-US" i="1" dirty="0">
                <a:latin typeface="Times New Roman" pitchFamily="18" charset="0"/>
              </a:rPr>
              <a:t>V</a:t>
            </a:r>
            <a:r>
              <a:rPr lang="en-US" sz="2400" dirty="0">
                <a:latin typeface="Times New Roman" pitchFamily="18" charset="0"/>
              </a:rPr>
              <a:t> </a:t>
            </a:r>
            <a:r>
              <a:rPr lang="en-US" sz="2400" dirty="0">
                <a:latin typeface="Garamond" pitchFamily="18" charset="0"/>
                <a:sym typeface="Symbol" pitchFamily="18" charset="2"/>
              </a:rPr>
              <a:t> </a:t>
            </a:r>
            <a:r>
              <a:rPr lang="en-US" i="1" dirty="0">
                <a:latin typeface="Times New Roman" pitchFamily="18" charset="0"/>
              </a:rPr>
              <a:t>T.</a:t>
            </a:r>
          </a:p>
          <a:p>
            <a:pPr lvl="1"/>
            <a:r>
              <a:rPr lang="en-US" dirty="0">
                <a:latin typeface="Times New Roman" pitchFamily="18" charset="0"/>
              </a:rPr>
              <a:t>S</a:t>
            </a:r>
            <a:r>
              <a:rPr lang="en-US" dirty="0"/>
              <a:t> </a:t>
            </a:r>
            <a:r>
              <a:rPr lang="en-US" dirty="0">
                <a:latin typeface="Times New Roman" pitchFamily="18" charset="0"/>
              </a:rPr>
              <a:t>is a variable in </a:t>
            </a:r>
            <a:r>
              <a:rPr lang="en-US" i="1" dirty="0">
                <a:latin typeface="Times New Roman" pitchFamily="18" charset="0"/>
              </a:rPr>
              <a:t>V</a:t>
            </a:r>
            <a:r>
              <a:rPr lang="en-US" dirty="0">
                <a:latin typeface="Times New Roman" pitchFamily="18" charset="0"/>
              </a:rPr>
              <a:t> called the start variable.</a:t>
            </a:r>
          </a:p>
          <a:p>
            <a:pPr algn="just"/>
            <a:endParaRPr lang="en-IN" sz="2000" dirty="0"/>
          </a:p>
          <a:p>
            <a:pPr algn="just"/>
            <a:endParaRPr lang="en-IN" sz="2000" dirty="0"/>
          </a:p>
        </p:txBody>
      </p:sp>
      <p:sp>
        <p:nvSpPr>
          <p:cNvPr id="4" name="Slide Number Placeholder 3"/>
          <p:cNvSpPr>
            <a:spLocks noGrp="1"/>
          </p:cNvSpPr>
          <p:nvPr>
            <p:ph type="sldNum" sz="quarter" idx="12"/>
          </p:nvPr>
        </p:nvSpPr>
        <p:spPr/>
        <p:txBody>
          <a:bodyPr/>
          <a:lstStyle/>
          <a:p>
            <a:fld id="{EA7D41E8-55CE-4D73-90D6-F936F71D14C1}" type="slidenum">
              <a:rPr lang="en-IN" smtClean="0"/>
              <a:pPr/>
              <a:t>3</a:t>
            </a:fld>
            <a:endParaRPr lang="en-IN"/>
          </a:p>
        </p:txBody>
      </p:sp>
    </p:spTree>
    <p:extLst>
      <p:ext uri="{BB962C8B-B14F-4D97-AF65-F5344CB8AC3E}">
        <p14:creationId xmlns:p14="http://schemas.microsoft.com/office/powerpoint/2010/main" val="17520503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rPr>
              <a:t>Shorthand notation for productions</a:t>
            </a:r>
            <a:endParaRPr lang="en-IN" dirty="0"/>
          </a:p>
        </p:txBody>
      </p:sp>
      <p:sp>
        <p:nvSpPr>
          <p:cNvPr id="3" name="Content Placeholder 2"/>
          <p:cNvSpPr>
            <a:spLocks noGrp="1"/>
          </p:cNvSpPr>
          <p:nvPr>
            <p:ph idx="1"/>
          </p:nvPr>
        </p:nvSpPr>
        <p:spPr/>
        <p:txBody>
          <a:bodyPr>
            <a:normAutofit/>
          </a:bodyPr>
          <a:lstStyle/>
          <a:p>
            <a:r>
              <a:rPr lang="en-US" dirty="0">
                <a:latin typeface="Times New Roman" pitchFamily="18" charset="0"/>
              </a:rPr>
              <a:t>When we have multiple productions with the same variable on the left like</a:t>
            </a:r>
          </a:p>
          <a:p>
            <a:endParaRPr lang="en-IN" dirty="0"/>
          </a:p>
        </p:txBody>
      </p:sp>
      <p:sp>
        <p:nvSpPr>
          <p:cNvPr id="4" name="Slide Number Placeholder 3"/>
          <p:cNvSpPr>
            <a:spLocks noGrp="1"/>
          </p:cNvSpPr>
          <p:nvPr>
            <p:ph type="sldNum" sz="quarter" idx="12"/>
          </p:nvPr>
        </p:nvSpPr>
        <p:spPr/>
        <p:txBody>
          <a:bodyPr/>
          <a:lstStyle/>
          <a:p>
            <a:fld id="{EA7D41E8-55CE-4D73-90D6-F936F71D14C1}" type="slidenum">
              <a:rPr lang="en-IN" smtClean="0"/>
              <a:pPr/>
              <a:t>4</a:t>
            </a:fld>
            <a:endParaRPr lang="en-IN"/>
          </a:p>
        </p:txBody>
      </p:sp>
      <p:sp>
        <p:nvSpPr>
          <p:cNvPr id="5" name="Rectangle 5"/>
          <p:cNvSpPr>
            <a:spLocks noChangeArrowheads="1"/>
          </p:cNvSpPr>
          <p:nvPr/>
        </p:nvSpPr>
        <p:spPr bwMode="auto">
          <a:xfrm>
            <a:off x="914400" y="2667000"/>
            <a:ext cx="1676400" cy="1771650"/>
          </a:xfrm>
          <a:prstGeom prst="rect">
            <a:avLst/>
          </a:prstGeom>
          <a:noFill/>
          <a:ln w="9525">
            <a:noFill/>
            <a:miter lim="800000"/>
            <a:headEnd/>
            <a:tailEnd/>
          </a:ln>
          <a:effectLst/>
        </p:spPr>
        <p:txBody>
          <a:bodyPr>
            <a:spAutoFit/>
          </a:bodyPr>
          <a:lstStyle/>
          <a:p>
            <a:pPr algn="l">
              <a:spcBef>
                <a:spcPct val="20000"/>
              </a:spcBef>
            </a:pPr>
            <a:r>
              <a:rPr lang="en-US" altLang="zh-TW" sz="2400" dirty="0">
                <a:ea typeface="PMingLiU" pitchFamily="2" charset="-120"/>
              </a:rPr>
              <a:t>E </a:t>
            </a:r>
            <a:r>
              <a:rPr lang="en-US" altLang="zh-TW" sz="2400" dirty="0">
                <a:ea typeface="PMingLiU" pitchFamily="2" charset="-120"/>
                <a:sym typeface="Symbol" pitchFamily="18" charset="2"/>
              </a:rPr>
              <a:t> E + E</a:t>
            </a:r>
          </a:p>
          <a:p>
            <a:pPr algn="l">
              <a:spcBef>
                <a:spcPct val="20000"/>
              </a:spcBef>
            </a:pPr>
            <a:r>
              <a:rPr lang="en-US" altLang="zh-TW" sz="2400" dirty="0">
                <a:ea typeface="PMingLiU" pitchFamily="2" charset="-120"/>
              </a:rPr>
              <a:t>E </a:t>
            </a:r>
            <a:r>
              <a:rPr lang="en-US" altLang="zh-TW" sz="2400" dirty="0">
                <a:ea typeface="PMingLiU" pitchFamily="2" charset="-120"/>
                <a:sym typeface="Symbol" pitchFamily="18" charset="2"/>
              </a:rPr>
              <a:t> E * E</a:t>
            </a:r>
          </a:p>
          <a:p>
            <a:pPr algn="l">
              <a:spcBef>
                <a:spcPct val="20000"/>
              </a:spcBef>
            </a:pPr>
            <a:r>
              <a:rPr lang="en-US" altLang="zh-TW" sz="2400" dirty="0">
                <a:ea typeface="PMingLiU" pitchFamily="2" charset="-120"/>
                <a:sym typeface="Symbol" pitchFamily="18" charset="2"/>
              </a:rPr>
              <a:t>E  (E)</a:t>
            </a:r>
          </a:p>
          <a:p>
            <a:pPr algn="l">
              <a:spcBef>
                <a:spcPct val="20000"/>
              </a:spcBef>
            </a:pPr>
            <a:r>
              <a:rPr lang="en-US" altLang="zh-TW" sz="2400" dirty="0">
                <a:ea typeface="PMingLiU" pitchFamily="2" charset="-120"/>
                <a:sym typeface="Symbol" pitchFamily="18" charset="2"/>
              </a:rPr>
              <a:t>E</a:t>
            </a:r>
            <a:r>
              <a:rPr lang="en-US" altLang="zh-TW" sz="2400" dirty="0">
                <a:ea typeface="PMingLiU" pitchFamily="2" charset="-120"/>
              </a:rPr>
              <a:t> </a:t>
            </a:r>
            <a:r>
              <a:rPr lang="en-US" altLang="zh-TW" sz="2400" dirty="0">
                <a:ea typeface="PMingLiU" pitchFamily="2" charset="-120"/>
                <a:sym typeface="Symbol" pitchFamily="18" charset="2"/>
              </a:rPr>
              <a:t> N</a:t>
            </a:r>
          </a:p>
        </p:txBody>
      </p:sp>
      <p:sp>
        <p:nvSpPr>
          <p:cNvPr id="6" name="Rectangle 9"/>
          <p:cNvSpPr>
            <a:spLocks noChangeArrowheads="1"/>
          </p:cNvSpPr>
          <p:nvPr/>
        </p:nvSpPr>
        <p:spPr bwMode="auto">
          <a:xfrm>
            <a:off x="3124200" y="2667000"/>
            <a:ext cx="1371600" cy="1771650"/>
          </a:xfrm>
          <a:prstGeom prst="rect">
            <a:avLst/>
          </a:prstGeom>
          <a:noFill/>
          <a:ln w="9525">
            <a:noFill/>
            <a:miter lim="800000"/>
            <a:headEnd/>
            <a:tailEnd/>
          </a:ln>
          <a:effectLst/>
        </p:spPr>
        <p:txBody>
          <a:bodyPr>
            <a:spAutoFit/>
          </a:bodyPr>
          <a:lstStyle/>
          <a:p>
            <a:pPr algn="l">
              <a:spcBef>
                <a:spcPct val="20000"/>
              </a:spcBef>
            </a:pPr>
            <a:r>
              <a:rPr lang="en-US" altLang="zh-TW" sz="2400" dirty="0">
                <a:ea typeface="PMingLiU" pitchFamily="2" charset="-120"/>
                <a:sym typeface="Symbol" pitchFamily="18" charset="2"/>
              </a:rPr>
              <a:t>N  0N</a:t>
            </a:r>
          </a:p>
          <a:p>
            <a:pPr algn="l">
              <a:spcBef>
                <a:spcPct val="20000"/>
              </a:spcBef>
            </a:pPr>
            <a:r>
              <a:rPr lang="en-US" altLang="zh-TW" sz="2400" dirty="0">
                <a:ea typeface="PMingLiU" pitchFamily="2" charset="-120"/>
                <a:sym typeface="Symbol" pitchFamily="18" charset="2"/>
              </a:rPr>
              <a:t>N  1N</a:t>
            </a:r>
          </a:p>
          <a:p>
            <a:pPr algn="l">
              <a:spcBef>
                <a:spcPct val="20000"/>
              </a:spcBef>
            </a:pPr>
            <a:r>
              <a:rPr lang="en-US" altLang="zh-TW" sz="2400" dirty="0">
                <a:ea typeface="PMingLiU" pitchFamily="2" charset="-120"/>
                <a:sym typeface="Symbol" pitchFamily="18" charset="2"/>
              </a:rPr>
              <a:t>N  0</a:t>
            </a:r>
          </a:p>
          <a:p>
            <a:pPr algn="l">
              <a:spcBef>
                <a:spcPct val="20000"/>
              </a:spcBef>
            </a:pPr>
            <a:r>
              <a:rPr lang="en-US" altLang="zh-TW" sz="2400" dirty="0">
                <a:ea typeface="PMingLiU" pitchFamily="2" charset="-120"/>
                <a:sym typeface="Symbol" pitchFamily="18" charset="2"/>
              </a:rPr>
              <a:t>N  1</a:t>
            </a:r>
          </a:p>
        </p:txBody>
      </p:sp>
      <p:sp>
        <p:nvSpPr>
          <p:cNvPr id="7" name="Rectangle 7"/>
          <p:cNvSpPr>
            <a:spLocks noChangeArrowheads="1"/>
          </p:cNvSpPr>
          <p:nvPr/>
        </p:nvSpPr>
        <p:spPr bwMode="auto">
          <a:xfrm>
            <a:off x="4643438" y="2667000"/>
            <a:ext cx="3662362" cy="1348061"/>
          </a:xfrm>
          <a:prstGeom prst="rect">
            <a:avLst/>
          </a:prstGeom>
          <a:noFill/>
          <a:ln w="9525">
            <a:noFill/>
            <a:miter lim="800000"/>
            <a:headEnd/>
            <a:tailEnd/>
          </a:ln>
          <a:effectLst/>
        </p:spPr>
        <p:txBody>
          <a:bodyPr wrap="square">
            <a:spAutoFit/>
          </a:bodyPr>
          <a:lstStyle/>
          <a:p>
            <a:pPr algn="l">
              <a:spcBef>
                <a:spcPct val="20000"/>
              </a:spcBef>
            </a:pPr>
            <a:r>
              <a:rPr lang="en-US" altLang="zh-TW" sz="2400" dirty="0">
                <a:ea typeface="PMingLiU" pitchFamily="2" charset="-120"/>
                <a:sym typeface="Symbol" pitchFamily="18" charset="2"/>
              </a:rPr>
              <a:t>Variables</a:t>
            </a:r>
            <a:r>
              <a:rPr lang="en-US" altLang="zh-TW" sz="2400" dirty="0">
                <a:latin typeface="Gill Sans MT" pitchFamily="34" charset="0"/>
                <a:ea typeface="PMingLiU" pitchFamily="2" charset="-120"/>
                <a:sym typeface="Symbol" pitchFamily="18" charset="2"/>
              </a:rPr>
              <a:t>:</a:t>
            </a:r>
            <a:r>
              <a:rPr lang="en-US" altLang="zh-TW" sz="2400" dirty="0">
                <a:ea typeface="PMingLiU" pitchFamily="2" charset="-120"/>
                <a:sym typeface="Symbol" pitchFamily="18" charset="2"/>
              </a:rPr>
              <a:t> E, N</a:t>
            </a:r>
          </a:p>
          <a:p>
            <a:pPr algn="l">
              <a:spcBef>
                <a:spcPct val="20000"/>
              </a:spcBef>
            </a:pPr>
            <a:r>
              <a:rPr lang="en-US" altLang="zh-TW" sz="2400" dirty="0">
                <a:ea typeface="PMingLiU" pitchFamily="2" charset="-120"/>
                <a:sym typeface="Symbol" pitchFamily="18" charset="2"/>
              </a:rPr>
              <a:t>Terminals</a:t>
            </a:r>
            <a:r>
              <a:rPr lang="en-US" altLang="zh-TW" sz="2400" dirty="0">
                <a:latin typeface="Gill Sans MT" pitchFamily="34" charset="0"/>
                <a:ea typeface="PMingLiU" pitchFamily="2" charset="-120"/>
                <a:sym typeface="Symbol" pitchFamily="18" charset="2"/>
              </a:rPr>
              <a:t>:</a:t>
            </a:r>
            <a:r>
              <a:rPr lang="en-US" altLang="zh-TW" sz="2400" dirty="0">
                <a:ea typeface="PMingLiU" pitchFamily="2" charset="-120"/>
                <a:sym typeface="Symbol" pitchFamily="18" charset="2"/>
              </a:rPr>
              <a:t> +, *, (, ), 0, 1</a:t>
            </a:r>
          </a:p>
          <a:p>
            <a:pPr algn="l">
              <a:spcBef>
                <a:spcPct val="20000"/>
              </a:spcBef>
            </a:pPr>
            <a:r>
              <a:rPr lang="en-US" altLang="zh-TW" sz="2400" dirty="0">
                <a:ea typeface="PMingLiU" pitchFamily="2" charset="-120"/>
                <a:sym typeface="Symbol" pitchFamily="18" charset="2"/>
              </a:rPr>
              <a:t>Start variable</a:t>
            </a:r>
            <a:r>
              <a:rPr lang="en-US" altLang="zh-TW" sz="2400" dirty="0">
                <a:latin typeface="Gill Sans MT" pitchFamily="34" charset="0"/>
                <a:ea typeface="PMingLiU" pitchFamily="2" charset="-120"/>
                <a:sym typeface="Symbol" pitchFamily="18" charset="2"/>
              </a:rPr>
              <a:t>: </a:t>
            </a:r>
            <a:r>
              <a:rPr lang="en-US" altLang="zh-TW" sz="2400" dirty="0">
                <a:ea typeface="PMingLiU" pitchFamily="2" charset="-120"/>
                <a:sym typeface="Symbol" pitchFamily="18" charset="2"/>
              </a:rPr>
              <a:t>E</a:t>
            </a:r>
          </a:p>
        </p:txBody>
      </p:sp>
      <p:sp>
        <p:nvSpPr>
          <p:cNvPr id="8" name="Rectangle 7"/>
          <p:cNvSpPr/>
          <p:nvPr/>
        </p:nvSpPr>
        <p:spPr>
          <a:xfrm>
            <a:off x="857224" y="4714884"/>
            <a:ext cx="3211135" cy="369332"/>
          </a:xfrm>
          <a:prstGeom prst="rect">
            <a:avLst/>
          </a:prstGeom>
        </p:spPr>
        <p:txBody>
          <a:bodyPr wrap="none">
            <a:spAutoFit/>
          </a:bodyPr>
          <a:lstStyle/>
          <a:p>
            <a:r>
              <a:rPr lang="en-US" dirty="0">
                <a:latin typeface="Times New Roman" pitchFamily="18" charset="0"/>
              </a:rPr>
              <a:t>we can write this in shorthand as</a:t>
            </a:r>
          </a:p>
        </p:txBody>
      </p:sp>
      <p:sp>
        <p:nvSpPr>
          <p:cNvPr id="9" name="Rectangle 6"/>
          <p:cNvSpPr>
            <a:spLocks noChangeArrowheads="1"/>
          </p:cNvSpPr>
          <p:nvPr/>
        </p:nvSpPr>
        <p:spPr bwMode="auto">
          <a:xfrm>
            <a:off x="1066800" y="5072074"/>
            <a:ext cx="5362588" cy="904863"/>
          </a:xfrm>
          <a:prstGeom prst="rect">
            <a:avLst/>
          </a:prstGeom>
          <a:noFill/>
          <a:ln w="9525">
            <a:noFill/>
            <a:miter lim="800000"/>
            <a:headEnd/>
            <a:tailEnd/>
          </a:ln>
          <a:effectLst/>
        </p:spPr>
        <p:txBody>
          <a:bodyPr wrap="square">
            <a:spAutoFit/>
          </a:bodyPr>
          <a:lstStyle/>
          <a:p>
            <a:pPr algn="l">
              <a:spcBef>
                <a:spcPct val="20000"/>
              </a:spcBef>
            </a:pPr>
            <a:r>
              <a:rPr lang="en-US" altLang="zh-TW" sz="2400" dirty="0">
                <a:ea typeface="PMingLiU" pitchFamily="2" charset="-120"/>
              </a:rPr>
              <a:t>E </a:t>
            </a:r>
            <a:r>
              <a:rPr lang="en-US" altLang="zh-TW" sz="2400" dirty="0">
                <a:ea typeface="PMingLiU" pitchFamily="2" charset="-120"/>
                <a:sym typeface="Symbol" pitchFamily="18" charset="2"/>
              </a:rPr>
              <a:t> E + E | E * E | (E)</a:t>
            </a:r>
            <a:r>
              <a:rPr lang="en-US" altLang="zh-TW" sz="2400" dirty="0">
                <a:ea typeface="PMingLiU" pitchFamily="2" charset="-120"/>
              </a:rPr>
              <a:t> </a:t>
            </a:r>
            <a:r>
              <a:rPr lang="en-US" altLang="zh-TW" sz="2400" dirty="0">
                <a:ea typeface="PMingLiU" pitchFamily="2" charset="-120"/>
                <a:sym typeface="Symbol" pitchFamily="18" charset="2"/>
              </a:rPr>
              <a:t>| 0 | 1</a:t>
            </a:r>
          </a:p>
          <a:p>
            <a:pPr algn="l">
              <a:spcBef>
                <a:spcPct val="20000"/>
              </a:spcBef>
            </a:pPr>
            <a:r>
              <a:rPr lang="en-US" altLang="zh-TW" sz="2400" dirty="0">
                <a:ea typeface="PMingLiU" pitchFamily="2" charset="-120"/>
                <a:sym typeface="Symbol" pitchFamily="18" charset="2"/>
              </a:rPr>
              <a:t>N  0N | 1N | 0 | 1</a:t>
            </a:r>
          </a:p>
        </p:txBody>
      </p:sp>
    </p:spTree>
    <p:extLst>
      <p:ext uri="{BB962C8B-B14F-4D97-AF65-F5344CB8AC3E}">
        <p14:creationId xmlns:p14="http://schemas.microsoft.com/office/powerpoint/2010/main" val="12179931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pPr/>
              <a:t>5</a:t>
            </a:fld>
            <a:endParaRPr lang="en-IN"/>
          </a:p>
        </p:txBody>
      </p:sp>
      <p:sp>
        <p:nvSpPr>
          <p:cNvPr id="5" name="Rectangle 4"/>
          <p:cNvSpPr/>
          <p:nvPr/>
        </p:nvSpPr>
        <p:spPr>
          <a:xfrm>
            <a:off x="179512" y="188640"/>
            <a:ext cx="8784976" cy="923330"/>
          </a:xfrm>
          <a:prstGeom prst="rect">
            <a:avLst/>
          </a:prstGeom>
        </p:spPr>
        <p:txBody>
          <a:bodyPr wrap="square">
            <a:spAutoFit/>
          </a:bodyPr>
          <a:lstStyle/>
          <a:p>
            <a:r>
              <a:rPr lang="en-IN" b="1" dirty="0">
                <a:solidFill>
                  <a:srgbClr val="C00000"/>
                </a:solidFill>
                <a:effectLst>
                  <a:outerShdw blurRad="38100" dist="38100" dir="2700000" algn="tl">
                    <a:srgbClr val="000000">
                      <a:alpha val="43137"/>
                    </a:srgbClr>
                  </a:outerShdw>
                </a:effectLst>
              </a:rPr>
              <a:t>Example 1:</a:t>
            </a:r>
          </a:p>
          <a:p>
            <a:pPr lvl="0"/>
            <a:r>
              <a:rPr lang="en-US" dirty="0"/>
              <a:t>Construct the CFG for the following L= {0</a:t>
            </a:r>
            <a:r>
              <a:rPr lang="en-US" baseline="30000" dirty="0"/>
              <a:t>n</a:t>
            </a:r>
            <a:r>
              <a:rPr lang="en-US" dirty="0"/>
              <a:t>/n≥1}.</a:t>
            </a:r>
            <a:endParaRPr lang="en-US" b="1" dirty="0"/>
          </a:p>
          <a:p>
            <a:endParaRPr lang="en-IN" dirty="0"/>
          </a:p>
        </p:txBody>
      </p:sp>
      <p:sp>
        <p:nvSpPr>
          <p:cNvPr id="6" name="Rectangle 5"/>
          <p:cNvSpPr/>
          <p:nvPr/>
        </p:nvSpPr>
        <p:spPr>
          <a:xfrm>
            <a:off x="179512" y="1268760"/>
            <a:ext cx="8640960" cy="1754326"/>
          </a:xfrm>
          <a:prstGeom prst="rect">
            <a:avLst/>
          </a:prstGeom>
        </p:spPr>
        <p:txBody>
          <a:bodyPr wrap="square">
            <a:spAutoFit/>
          </a:bodyPr>
          <a:lstStyle/>
          <a:p>
            <a:pPr algn="just"/>
            <a:r>
              <a:rPr lang="en-IN" b="1" i="1" dirty="0">
                <a:solidFill>
                  <a:srgbClr val="008000"/>
                </a:solidFill>
                <a:effectLst>
                  <a:outerShdw blurRad="38100" dist="38100" dir="2700000" algn="tl">
                    <a:srgbClr val="000000">
                      <a:alpha val="43137"/>
                    </a:srgbClr>
                  </a:outerShdw>
                </a:effectLst>
              </a:rPr>
              <a:t>Solution:</a:t>
            </a:r>
          </a:p>
          <a:p>
            <a:pPr algn="just"/>
            <a:endParaRPr lang="en-IN" i="1" dirty="0">
              <a:solidFill>
                <a:srgbClr val="008000"/>
              </a:solidFill>
              <a:effectLst>
                <a:outerShdw blurRad="38100" dist="38100" dir="2700000" algn="tl">
                  <a:srgbClr val="000000">
                    <a:alpha val="43137"/>
                  </a:srgbClr>
                </a:outerShdw>
              </a:effectLst>
            </a:endParaRPr>
          </a:p>
          <a:p>
            <a:r>
              <a:rPr lang="en-US" dirty="0"/>
              <a:t>The CFG is</a:t>
            </a:r>
            <a:endParaRPr lang="en-US" b="1" dirty="0"/>
          </a:p>
          <a:p>
            <a:r>
              <a:rPr lang="en-US" dirty="0"/>
              <a:t>		S → 0A | 0</a:t>
            </a:r>
            <a:endParaRPr lang="en-US" b="1" dirty="0"/>
          </a:p>
          <a:p>
            <a:r>
              <a:rPr lang="en-US" dirty="0"/>
              <a:t>		A → 0A | ε</a:t>
            </a:r>
            <a:endParaRPr lang="en-US" b="1" dirty="0"/>
          </a:p>
          <a:p>
            <a:pPr algn="just"/>
            <a:endParaRPr lang="en-IN" b="1" dirty="0">
              <a:solidFill>
                <a:srgbClr val="C00000"/>
              </a:solidFill>
            </a:endParaRPr>
          </a:p>
        </p:txBody>
      </p:sp>
      <p:sp>
        <p:nvSpPr>
          <p:cNvPr id="7" name="Rectangle 6"/>
          <p:cNvSpPr/>
          <p:nvPr/>
        </p:nvSpPr>
        <p:spPr>
          <a:xfrm>
            <a:off x="179512" y="3657798"/>
            <a:ext cx="8784976" cy="1200329"/>
          </a:xfrm>
          <a:prstGeom prst="rect">
            <a:avLst/>
          </a:prstGeom>
        </p:spPr>
        <p:txBody>
          <a:bodyPr wrap="square">
            <a:spAutoFit/>
          </a:bodyPr>
          <a:lstStyle/>
          <a:p>
            <a:r>
              <a:rPr lang="en-IN" b="1" dirty="0">
                <a:solidFill>
                  <a:srgbClr val="C00000"/>
                </a:solidFill>
                <a:effectLst>
                  <a:outerShdw blurRad="38100" dist="38100" dir="2700000" algn="tl">
                    <a:srgbClr val="000000">
                      <a:alpha val="43137"/>
                    </a:srgbClr>
                  </a:outerShdw>
                </a:effectLst>
              </a:rPr>
              <a:t>Example 2:</a:t>
            </a:r>
          </a:p>
          <a:p>
            <a:r>
              <a:rPr lang="en-US" dirty="0"/>
              <a:t>Construct the CFG for the language L= {0</a:t>
            </a:r>
            <a:r>
              <a:rPr lang="en-US" baseline="30000" dirty="0"/>
              <a:t>n</a:t>
            </a:r>
            <a:r>
              <a:rPr lang="en-US" dirty="0"/>
              <a:t> 1</a:t>
            </a:r>
            <a:r>
              <a:rPr lang="en-US" baseline="30000" dirty="0"/>
              <a:t>n</a:t>
            </a:r>
            <a:r>
              <a:rPr lang="en-US" dirty="0"/>
              <a:t> | n=1}.</a:t>
            </a:r>
          </a:p>
          <a:p>
            <a:pPr lvl="0"/>
            <a:endParaRPr lang="en-US" b="1" dirty="0"/>
          </a:p>
          <a:p>
            <a:endParaRPr lang="en-IN" b="1" dirty="0">
              <a:solidFill>
                <a:srgbClr val="C00000"/>
              </a:solidFill>
              <a:effectLst>
                <a:outerShdw blurRad="38100" dist="38100" dir="2700000" algn="tl">
                  <a:srgbClr val="000000">
                    <a:alpha val="43137"/>
                  </a:srgbClr>
                </a:outerShdw>
              </a:effectLst>
            </a:endParaRPr>
          </a:p>
        </p:txBody>
      </p:sp>
      <p:cxnSp>
        <p:nvCxnSpPr>
          <p:cNvPr id="10" name="Straight Connector 9"/>
          <p:cNvCxnSpPr/>
          <p:nvPr/>
        </p:nvCxnSpPr>
        <p:spPr>
          <a:xfrm>
            <a:off x="72008" y="3573016"/>
            <a:ext cx="8964488" cy="0"/>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184270" y="4521894"/>
            <a:ext cx="8492186" cy="1200329"/>
          </a:xfrm>
          <a:prstGeom prst="rect">
            <a:avLst/>
          </a:prstGeom>
        </p:spPr>
        <p:txBody>
          <a:bodyPr wrap="square">
            <a:spAutoFit/>
          </a:bodyPr>
          <a:lstStyle/>
          <a:p>
            <a:r>
              <a:rPr lang="en-IN" b="1" i="1" dirty="0">
                <a:solidFill>
                  <a:srgbClr val="008000"/>
                </a:solidFill>
                <a:effectLst>
                  <a:outerShdw blurRad="38100" dist="38100" dir="2700000" algn="tl">
                    <a:srgbClr val="000000">
                      <a:alpha val="43137"/>
                    </a:srgbClr>
                  </a:outerShdw>
                </a:effectLst>
              </a:rPr>
              <a:t>Solution:</a:t>
            </a:r>
          </a:p>
          <a:p>
            <a:r>
              <a:rPr lang="en-US" dirty="0"/>
              <a:t>S → 0B1 | 01</a:t>
            </a:r>
            <a:endParaRPr lang="en-US" b="1" dirty="0"/>
          </a:p>
          <a:p>
            <a:r>
              <a:rPr lang="en-US" dirty="0"/>
              <a:t>B →ε</a:t>
            </a:r>
            <a:endParaRPr lang="en-US" b="1" dirty="0"/>
          </a:p>
          <a:p>
            <a:endParaRPr lang="en-IN" i="1" dirty="0">
              <a:solidFill>
                <a:srgbClr val="008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6853187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pPr/>
              <a:t>6</a:t>
            </a:fld>
            <a:endParaRPr lang="en-IN"/>
          </a:p>
        </p:txBody>
      </p:sp>
      <p:sp>
        <p:nvSpPr>
          <p:cNvPr id="3" name="Rectangle 2"/>
          <p:cNvSpPr/>
          <p:nvPr/>
        </p:nvSpPr>
        <p:spPr>
          <a:xfrm>
            <a:off x="179512" y="188640"/>
            <a:ext cx="8856984" cy="1477328"/>
          </a:xfrm>
          <a:prstGeom prst="rect">
            <a:avLst/>
          </a:prstGeom>
        </p:spPr>
        <p:txBody>
          <a:bodyPr wrap="square">
            <a:spAutoFit/>
          </a:bodyPr>
          <a:lstStyle/>
          <a:p>
            <a:r>
              <a:rPr lang="en-IN" b="1" dirty="0">
                <a:solidFill>
                  <a:srgbClr val="C00000"/>
                </a:solidFill>
                <a:effectLst>
                  <a:outerShdw blurRad="38100" dist="38100" dir="2700000" algn="tl">
                    <a:srgbClr val="000000">
                      <a:alpha val="43137"/>
                    </a:srgbClr>
                  </a:outerShdw>
                </a:effectLst>
              </a:rPr>
              <a:t>Example 3:</a:t>
            </a:r>
          </a:p>
          <a:p>
            <a:pPr lvl="0"/>
            <a:r>
              <a:rPr lang="en-US" dirty="0"/>
              <a:t>Consider the alphabet ∑= {a, b, (, ), +, *,., ε}. Construct a context free grammar that generates all strings in ∑* that are regular expressions over the alphabet {a, b}.</a:t>
            </a:r>
            <a:endParaRPr lang="en-US" b="1" dirty="0"/>
          </a:p>
          <a:p>
            <a:endParaRPr lang="en-IN" b="1" dirty="0">
              <a:solidFill>
                <a:srgbClr val="C00000"/>
              </a:solidFill>
              <a:effectLst>
                <a:outerShdw blurRad="38100" dist="38100" dir="2700000" algn="tl">
                  <a:srgbClr val="000000">
                    <a:alpha val="43137"/>
                  </a:srgbClr>
                </a:outerShdw>
              </a:effectLst>
            </a:endParaRPr>
          </a:p>
        </p:txBody>
      </p:sp>
      <p:sp>
        <p:nvSpPr>
          <p:cNvPr id="4" name="Rectangle 3"/>
          <p:cNvSpPr/>
          <p:nvPr/>
        </p:nvSpPr>
        <p:spPr>
          <a:xfrm>
            <a:off x="180402" y="1142854"/>
            <a:ext cx="6911877" cy="3139321"/>
          </a:xfrm>
          <a:prstGeom prst="rect">
            <a:avLst/>
          </a:prstGeom>
        </p:spPr>
        <p:txBody>
          <a:bodyPr wrap="square">
            <a:spAutoFit/>
          </a:bodyPr>
          <a:lstStyle/>
          <a:p>
            <a:endParaRPr lang="en-IN" b="1" dirty="0">
              <a:solidFill>
                <a:srgbClr val="008000"/>
              </a:solidFill>
            </a:endParaRPr>
          </a:p>
          <a:p>
            <a:r>
              <a:rPr lang="en-IN" b="1" dirty="0">
                <a:solidFill>
                  <a:srgbClr val="008000"/>
                </a:solidFill>
              </a:rPr>
              <a:t>Solution:</a:t>
            </a:r>
          </a:p>
          <a:p>
            <a:endParaRPr lang="en-US" dirty="0"/>
          </a:p>
          <a:p>
            <a:r>
              <a:rPr lang="en-US" dirty="0"/>
              <a:t>S → S + S</a:t>
            </a:r>
            <a:endParaRPr lang="en-US" b="1" dirty="0"/>
          </a:p>
          <a:p>
            <a:r>
              <a:rPr lang="en-US" dirty="0"/>
              <a:t>S → S. S</a:t>
            </a:r>
            <a:endParaRPr lang="en-US" b="1" dirty="0"/>
          </a:p>
          <a:p>
            <a:r>
              <a:rPr lang="en-US" dirty="0"/>
              <a:t>S → S *</a:t>
            </a:r>
            <a:endParaRPr lang="en-US" b="1" dirty="0"/>
          </a:p>
          <a:p>
            <a:r>
              <a:rPr lang="en-US" dirty="0"/>
              <a:t>S → (S)</a:t>
            </a:r>
            <a:endParaRPr lang="en-US" b="1" dirty="0"/>
          </a:p>
          <a:p>
            <a:r>
              <a:rPr lang="en-US" dirty="0"/>
              <a:t>S → a | b | ε</a:t>
            </a:r>
            <a:endParaRPr lang="en-US" b="1" dirty="0"/>
          </a:p>
          <a:p>
            <a:endParaRPr lang="en-IN" b="1" dirty="0">
              <a:solidFill>
                <a:srgbClr val="008000"/>
              </a:solidFill>
            </a:endParaRPr>
          </a:p>
          <a:p>
            <a:endParaRPr lang="en-IN" dirty="0">
              <a:solidFill>
                <a:srgbClr val="008000"/>
              </a:solidFill>
            </a:endParaRPr>
          </a:p>
          <a:p>
            <a:endParaRPr lang="en-IN" dirty="0"/>
          </a:p>
        </p:txBody>
      </p:sp>
    </p:spTree>
    <p:extLst>
      <p:ext uri="{BB962C8B-B14F-4D97-AF65-F5344CB8AC3E}">
        <p14:creationId xmlns:p14="http://schemas.microsoft.com/office/powerpoint/2010/main" val="18483160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pPr/>
              <a:t>7</a:t>
            </a:fld>
            <a:endParaRPr lang="en-IN"/>
          </a:p>
        </p:txBody>
      </p:sp>
      <p:sp>
        <p:nvSpPr>
          <p:cNvPr id="4" name="Rectangle 3"/>
          <p:cNvSpPr/>
          <p:nvPr/>
        </p:nvSpPr>
        <p:spPr>
          <a:xfrm>
            <a:off x="251520" y="116632"/>
            <a:ext cx="8568952" cy="646331"/>
          </a:xfrm>
          <a:prstGeom prst="rect">
            <a:avLst/>
          </a:prstGeom>
        </p:spPr>
        <p:txBody>
          <a:bodyPr wrap="square">
            <a:spAutoFit/>
          </a:bodyPr>
          <a:lstStyle/>
          <a:p>
            <a:r>
              <a:rPr lang="en-IN" b="1" dirty="0">
                <a:solidFill>
                  <a:srgbClr val="C00000"/>
                </a:solidFill>
                <a:effectLst>
                  <a:outerShdw blurRad="38100" dist="38100" dir="2700000" algn="tl">
                    <a:srgbClr val="000000">
                      <a:alpha val="43137"/>
                    </a:srgbClr>
                  </a:outerShdw>
                </a:effectLst>
              </a:rPr>
              <a:t>Example 4:</a:t>
            </a:r>
          </a:p>
          <a:p>
            <a:pPr lvl="0"/>
            <a:r>
              <a:rPr lang="en-US" dirty="0"/>
              <a:t>Find the language generated by the grammar S </a:t>
            </a:r>
            <a:r>
              <a:rPr lang="en-US" dirty="0">
                <a:sym typeface="Wingdings"/>
              </a:rPr>
              <a:t></a:t>
            </a:r>
            <a:r>
              <a:rPr lang="en-US" dirty="0" err="1"/>
              <a:t>aSb</a:t>
            </a:r>
            <a:r>
              <a:rPr lang="en-US" dirty="0"/>
              <a:t>, S </a:t>
            </a:r>
            <a:r>
              <a:rPr lang="en-US" dirty="0">
                <a:sym typeface="Wingdings"/>
              </a:rPr>
              <a:t></a:t>
            </a:r>
            <a:r>
              <a:rPr lang="en-US" dirty="0"/>
              <a:t> ab.</a:t>
            </a:r>
            <a:endParaRPr lang="en-US" b="1" dirty="0"/>
          </a:p>
        </p:txBody>
      </p:sp>
      <p:sp>
        <p:nvSpPr>
          <p:cNvPr id="5" name="Rectangle 4"/>
          <p:cNvSpPr/>
          <p:nvPr/>
        </p:nvSpPr>
        <p:spPr>
          <a:xfrm>
            <a:off x="395536" y="1196752"/>
            <a:ext cx="6408712" cy="3693319"/>
          </a:xfrm>
          <a:prstGeom prst="rect">
            <a:avLst/>
          </a:prstGeom>
        </p:spPr>
        <p:txBody>
          <a:bodyPr wrap="square">
            <a:spAutoFit/>
          </a:bodyPr>
          <a:lstStyle/>
          <a:p>
            <a:r>
              <a:rPr lang="en-IN" b="1" dirty="0"/>
              <a:t>Solution:</a:t>
            </a:r>
          </a:p>
          <a:p>
            <a:r>
              <a:rPr lang="en-US" dirty="0"/>
              <a:t>S → </a:t>
            </a:r>
            <a:r>
              <a:rPr lang="en-US" dirty="0" err="1"/>
              <a:t>aSb</a:t>
            </a:r>
            <a:endParaRPr lang="en-US" dirty="0"/>
          </a:p>
          <a:p>
            <a:r>
              <a:rPr lang="en-US" dirty="0"/>
              <a:t>    → </a:t>
            </a:r>
            <a:r>
              <a:rPr lang="en-US" dirty="0" err="1"/>
              <a:t>aaSbb</a:t>
            </a:r>
            <a:endParaRPr lang="en-US" dirty="0"/>
          </a:p>
          <a:p>
            <a:r>
              <a:rPr lang="en-US" dirty="0"/>
              <a:t>.</a:t>
            </a:r>
          </a:p>
          <a:p>
            <a:r>
              <a:rPr lang="en-US" dirty="0"/>
              <a:t>.</a:t>
            </a:r>
          </a:p>
          <a:p>
            <a:r>
              <a:rPr lang="en-US" dirty="0"/>
              <a:t>.</a:t>
            </a:r>
          </a:p>
          <a:p>
            <a:r>
              <a:rPr lang="en-US" dirty="0"/>
              <a:t>    → </a:t>
            </a:r>
            <a:r>
              <a:rPr lang="en-US" dirty="0" err="1"/>
              <a:t>a</a:t>
            </a:r>
            <a:r>
              <a:rPr lang="en-US" baseline="30000" dirty="0" err="1"/>
              <a:t>n</a:t>
            </a:r>
            <a:r>
              <a:rPr lang="en-US" dirty="0" err="1"/>
              <a:t>Sb</a:t>
            </a:r>
            <a:r>
              <a:rPr lang="en-US" baseline="30000" dirty="0" err="1"/>
              <a:t>n</a:t>
            </a:r>
            <a:endParaRPr lang="en-US" dirty="0"/>
          </a:p>
          <a:p>
            <a:r>
              <a:rPr lang="en-US" dirty="0"/>
              <a:t>		    → </a:t>
            </a:r>
            <a:r>
              <a:rPr lang="en-US" dirty="0" err="1"/>
              <a:t>a</a:t>
            </a:r>
            <a:r>
              <a:rPr lang="en-US" baseline="30000" dirty="0" err="1"/>
              <a:t>n</a:t>
            </a:r>
            <a:r>
              <a:rPr lang="en-US" dirty="0" err="1"/>
              <a:t>b</a:t>
            </a:r>
            <a:r>
              <a:rPr lang="en-US" baseline="30000" dirty="0" err="1"/>
              <a:t>n</a:t>
            </a:r>
            <a:endParaRPr lang="en-US" dirty="0"/>
          </a:p>
          <a:p>
            <a:r>
              <a:rPr lang="en-US" dirty="0"/>
              <a:t>L (G) = {</a:t>
            </a:r>
            <a:r>
              <a:rPr lang="en-US" dirty="0" err="1"/>
              <a:t>ab</a:t>
            </a:r>
            <a:r>
              <a:rPr lang="en-US" dirty="0"/>
              <a:t>, </a:t>
            </a:r>
            <a:r>
              <a:rPr lang="en-US" dirty="0" err="1"/>
              <a:t>aabb</a:t>
            </a:r>
            <a:r>
              <a:rPr lang="en-US" dirty="0"/>
              <a:t>, </a:t>
            </a:r>
            <a:r>
              <a:rPr lang="en-US" dirty="0" err="1"/>
              <a:t>aaabbb</a:t>
            </a:r>
            <a:r>
              <a:rPr lang="en-US" dirty="0"/>
              <a:t>…….}</a:t>
            </a:r>
          </a:p>
          <a:p>
            <a:r>
              <a:rPr lang="en-US" dirty="0"/>
              <a:t>	Therefore,</a:t>
            </a:r>
          </a:p>
          <a:p>
            <a:endParaRPr lang="en-US" dirty="0"/>
          </a:p>
          <a:p>
            <a:r>
              <a:rPr lang="en-US" dirty="0"/>
              <a:t>L (G) = { </a:t>
            </a:r>
            <a:r>
              <a:rPr lang="en-US" dirty="0" err="1"/>
              <a:t>a</a:t>
            </a:r>
            <a:r>
              <a:rPr lang="en-US" baseline="30000" dirty="0" err="1"/>
              <a:t>n</a:t>
            </a:r>
            <a:r>
              <a:rPr lang="en-US" dirty="0" err="1"/>
              <a:t>b</a:t>
            </a:r>
            <a:r>
              <a:rPr lang="en-US" baseline="30000" dirty="0" err="1"/>
              <a:t>n</a:t>
            </a:r>
            <a:r>
              <a:rPr lang="en-US" dirty="0"/>
              <a:t>/ n ≥1}</a:t>
            </a:r>
            <a:endParaRPr lang="en-US" b="1" dirty="0"/>
          </a:p>
          <a:p>
            <a:endParaRPr lang="en-IN" dirty="0"/>
          </a:p>
        </p:txBody>
      </p:sp>
    </p:spTree>
    <p:extLst>
      <p:ext uri="{BB962C8B-B14F-4D97-AF65-F5344CB8AC3E}">
        <p14:creationId xmlns:p14="http://schemas.microsoft.com/office/powerpoint/2010/main" val="39890106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normAutofit/>
          </a:bodyPr>
          <a:lstStyle/>
          <a:p>
            <a:r>
              <a:rPr lang="en-US" sz="1800" dirty="0"/>
              <a:t>Relationship between derivation (Leftmost and Rightmost) and derivation trees</a:t>
            </a:r>
            <a:br>
              <a:rPr lang="en-US" sz="1800" dirty="0"/>
            </a:br>
            <a:br>
              <a:rPr lang="en-US" sz="1800" dirty="0"/>
            </a:br>
            <a:br>
              <a:rPr lang="en-US" sz="1800" dirty="0"/>
            </a:br>
            <a:r>
              <a:rPr lang="en-US" sz="1600" dirty="0"/>
              <a:t>Theorem</a:t>
            </a:r>
            <a:br>
              <a:rPr lang="en-US" sz="1600" dirty="0"/>
            </a:br>
            <a:r>
              <a:rPr lang="en-US" sz="1600" dirty="0"/>
              <a:t>	Let G = (V, T, P, S) be a context free grammar. Then S=&gt;α if and only if there is a derivation tree in grammar G which gives the string α.</a:t>
            </a:r>
            <a:br>
              <a:rPr lang="en-US" sz="1600" dirty="0"/>
            </a:br>
            <a:endParaRPr lang="en-US" sz="1600" dirty="0"/>
          </a:p>
        </p:txBody>
      </p:sp>
      <p:sp>
        <p:nvSpPr>
          <p:cNvPr id="4" name="Subtitle 3"/>
          <p:cNvSpPr>
            <a:spLocks noGrp="1"/>
          </p:cNvSpPr>
          <p:nvPr>
            <p:ph type="subTitle" idx="1"/>
          </p:nvPr>
        </p:nvSpPr>
        <p:spPr/>
        <p:txBody>
          <a:bodyPr/>
          <a:lstStyle/>
          <a:p>
            <a:endParaRPr lang="en-US" dirty="0"/>
          </a:p>
        </p:txBody>
      </p:sp>
      <p:sp>
        <p:nvSpPr>
          <p:cNvPr id="2" name="Slide Number Placeholder 1"/>
          <p:cNvSpPr>
            <a:spLocks noGrp="1"/>
          </p:cNvSpPr>
          <p:nvPr>
            <p:ph type="sldNum" sz="quarter" idx="12"/>
          </p:nvPr>
        </p:nvSpPr>
        <p:spPr/>
        <p:txBody>
          <a:bodyPr/>
          <a:lstStyle/>
          <a:p>
            <a:fld id="{EA7D41E8-55CE-4D73-90D6-F936F71D14C1}" type="slidenum">
              <a:rPr lang="en-IN" smtClean="0"/>
              <a:pPr/>
              <a:t>8</a:t>
            </a:fld>
            <a:endParaRPr lang="en-IN"/>
          </a:p>
        </p:txBody>
      </p:sp>
      <p:pic>
        <p:nvPicPr>
          <p:cNvPr id="100354" name="Picture 2"/>
          <p:cNvPicPr>
            <a:picLocks noChangeAspect="1" noChangeArrowheads="1"/>
          </p:cNvPicPr>
          <p:nvPr/>
        </p:nvPicPr>
        <p:blipFill>
          <a:blip r:embed="rId2"/>
          <a:srcRect/>
          <a:stretch>
            <a:fillRect/>
          </a:stretch>
        </p:blipFill>
        <p:spPr bwMode="auto">
          <a:xfrm>
            <a:off x="2285984" y="5000636"/>
            <a:ext cx="6215105" cy="1357322"/>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pPr/>
              <a:t>9</a:t>
            </a:fld>
            <a:endParaRPr lang="en-IN"/>
          </a:p>
        </p:txBody>
      </p:sp>
      <p:pic>
        <p:nvPicPr>
          <p:cNvPr id="32770" name="Picture 2"/>
          <p:cNvPicPr>
            <a:picLocks noChangeAspect="1" noChangeArrowheads="1"/>
          </p:cNvPicPr>
          <p:nvPr/>
        </p:nvPicPr>
        <p:blipFill>
          <a:blip r:embed="rId2"/>
          <a:srcRect/>
          <a:stretch>
            <a:fillRect/>
          </a:stretch>
        </p:blipFill>
        <p:spPr bwMode="auto">
          <a:xfrm>
            <a:off x="642910" y="428604"/>
            <a:ext cx="7429552" cy="6429396"/>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EA7D41E8-55CE-4D73-90D6-F936F71D14C1}" type="slidenum">
              <a:rPr lang="en-IN" smtClean="0"/>
              <a:pPr/>
              <a:t>10</a:t>
            </a:fld>
            <a:endParaRPr lang="en-IN"/>
          </a:p>
        </p:txBody>
      </p:sp>
      <p:pic>
        <p:nvPicPr>
          <p:cNvPr id="33794" name="Picture 2"/>
          <p:cNvPicPr>
            <a:picLocks noChangeAspect="1" noChangeArrowheads="1"/>
          </p:cNvPicPr>
          <p:nvPr/>
        </p:nvPicPr>
        <p:blipFill>
          <a:blip r:embed="rId2"/>
          <a:srcRect/>
          <a:stretch>
            <a:fillRect/>
          </a:stretch>
        </p:blipFill>
        <p:spPr bwMode="auto">
          <a:xfrm>
            <a:off x="642910" y="642918"/>
            <a:ext cx="7286676" cy="5857915"/>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EA7D41E8-55CE-4D73-90D6-F936F71D14C1}" type="slidenum">
              <a:rPr lang="en-IN" smtClean="0"/>
              <a:pPr/>
              <a:t>11</a:t>
            </a:fld>
            <a:endParaRPr lang="en-IN"/>
          </a:p>
        </p:txBody>
      </p:sp>
      <p:pic>
        <p:nvPicPr>
          <p:cNvPr id="34818" name="Picture 2"/>
          <p:cNvPicPr>
            <a:picLocks noChangeAspect="1" noChangeArrowheads="1"/>
          </p:cNvPicPr>
          <p:nvPr/>
        </p:nvPicPr>
        <p:blipFill>
          <a:blip r:embed="rId2"/>
          <a:srcRect/>
          <a:stretch>
            <a:fillRect/>
          </a:stretch>
        </p:blipFill>
        <p:spPr bwMode="auto">
          <a:xfrm>
            <a:off x="1142976" y="1000108"/>
            <a:ext cx="6353199" cy="3462355"/>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pPr/>
              <a:t>12</a:t>
            </a:fld>
            <a:endParaRPr lang="en-IN"/>
          </a:p>
        </p:txBody>
      </p:sp>
      <p:sp>
        <p:nvSpPr>
          <p:cNvPr id="3" name="TextBox 2"/>
          <p:cNvSpPr txBox="1"/>
          <p:nvPr/>
        </p:nvSpPr>
        <p:spPr>
          <a:xfrm>
            <a:off x="251520" y="107340"/>
            <a:ext cx="9852377" cy="2031325"/>
          </a:xfrm>
          <a:prstGeom prst="rect">
            <a:avLst/>
          </a:prstGeom>
          <a:noFill/>
        </p:spPr>
        <p:txBody>
          <a:bodyPr wrap="square" rtlCol="0">
            <a:spAutoFit/>
          </a:bodyPr>
          <a:lstStyle/>
          <a:p>
            <a:r>
              <a:rPr lang="en-IN" b="1" dirty="0">
                <a:solidFill>
                  <a:srgbClr val="C00000"/>
                </a:solidFill>
                <a:effectLst>
                  <a:outerShdw blurRad="38100" dist="38100" dir="2700000" algn="tl">
                    <a:srgbClr val="000000">
                      <a:alpha val="43137"/>
                    </a:srgbClr>
                  </a:outerShdw>
                </a:effectLst>
              </a:rPr>
              <a:t>Example – 1</a:t>
            </a:r>
          </a:p>
          <a:p>
            <a:pPr lvl="0"/>
            <a:r>
              <a:rPr lang="en-US" dirty="0"/>
              <a:t>Let G be the grammar S →</a:t>
            </a:r>
            <a:r>
              <a:rPr lang="en-US" dirty="0" err="1"/>
              <a:t>aB</a:t>
            </a:r>
            <a:r>
              <a:rPr lang="en-US" dirty="0"/>
              <a:t> | </a:t>
            </a:r>
            <a:r>
              <a:rPr lang="en-US" dirty="0" err="1"/>
              <a:t>bA</a:t>
            </a:r>
            <a:r>
              <a:rPr lang="en-US" dirty="0"/>
              <a:t>	</a:t>
            </a:r>
            <a:endParaRPr lang="en-US" b="1" dirty="0"/>
          </a:p>
          <a:p>
            <a:r>
              <a:rPr lang="en-US" dirty="0"/>
              <a:t>	A → a | </a:t>
            </a:r>
            <a:r>
              <a:rPr lang="en-US" dirty="0" err="1"/>
              <a:t>aS</a:t>
            </a:r>
            <a:r>
              <a:rPr lang="en-US" dirty="0"/>
              <a:t> | </a:t>
            </a:r>
            <a:r>
              <a:rPr lang="en-US" dirty="0" err="1"/>
              <a:t>bAA</a:t>
            </a:r>
            <a:endParaRPr lang="en-US" b="1" dirty="0"/>
          </a:p>
          <a:p>
            <a:r>
              <a:rPr lang="en-US" dirty="0"/>
              <a:t>	B → b |</a:t>
            </a:r>
            <a:r>
              <a:rPr lang="en-US" dirty="0" err="1"/>
              <a:t>bS</a:t>
            </a:r>
            <a:r>
              <a:rPr lang="en-US" dirty="0"/>
              <a:t> | </a:t>
            </a:r>
            <a:r>
              <a:rPr lang="en-US" dirty="0" err="1"/>
              <a:t>aBB</a:t>
            </a:r>
            <a:endParaRPr lang="en-US" b="1" dirty="0"/>
          </a:p>
          <a:p>
            <a:r>
              <a:rPr lang="en-US" dirty="0"/>
              <a:t>for the string </a:t>
            </a:r>
            <a:r>
              <a:rPr lang="en-US" dirty="0" err="1"/>
              <a:t>baaabbabba</a:t>
            </a:r>
            <a:r>
              <a:rPr lang="en-US" dirty="0"/>
              <a:t>. Find left most derivation, right most derivation</a:t>
            </a:r>
          </a:p>
          <a:p>
            <a:r>
              <a:rPr lang="en-US" dirty="0"/>
              <a:t> and parse tree. </a:t>
            </a:r>
            <a:endParaRPr lang="en-US" b="1" dirty="0"/>
          </a:p>
          <a:p>
            <a:endParaRPr lang="en-IN" b="1" dirty="0">
              <a:solidFill>
                <a:srgbClr val="C00000"/>
              </a:solidFill>
              <a:effectLst>
                <a:outerShdw blurRad="38100" dist="38100" dir="2700000" algn="tl">
                  <a:srgbClr val="000000">
                    <a:alpha val="43137"/>
                  </a:srgbClr>
                </a:outerShdw>
              </a:effectLst>
            </a:endParaRPr>
          </a:p>
        </p:txBody>
      </p:sp>
      <p:pic>
        <p:nvPicPr>
          <p:cNvPr id="73729" name="Picture 1"/>
          <p:cNvPicPr>
            <a:picLocks noChangeAspect="1" noChangeArrowheads="1"/>
          </p:cNvPicPr>
          <p:nvPr/>
        </p:nvPicPr>
        <p:blipFill>
          <a:blip r:embed="rId2"/>
          <a:srcRect/>
          <a:stretch>
            <a:fillRect/>
          </a:stretch>
        </p:blipFill>
        <p:spPr bwMode="auto">
          <a:xfrm>
            <a:off x="571472" y="1857364"/>
            <a:ext cx="7429552" cy="4429156"/>
          </a:xfrm>
          <a:prstGeom prst="rect">
            <a:avLst/>
          </a:prstGeom>
          <a:noFill/>
          <a:ln w="9525">
            <a:noFill/>
            <a:miter lim="800000"/>
            <a:headEnd/>
            <a:tailEnd/>
          </a:ln>
          <a:effectLst/>
        </p:spPr>
      </p:pic>
    </p:spTree>
    <p:extLst>
      <p:ext uri="{BB962C8B-B14F-4D97-AF65-F5344CB8AC3E}">
        <p14:creationId xmlns:p14="http://schemas.microsoft.com/office/powerpoint/2010/main" val="19757152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pPr/>
              <a:t>13</a:t>
            </a:fld>
            <a:endParaRPr lang="en-IN"/>
          </a:p>
        </p:txBody>
      </p:sp>
      <p:sp>
        <p:nvSpPr>
          <p:cNvPr id="4" name="TextBox 3"/>
          <p:cNvSpPr txBox="1"/>
          <p:nvPr/>
        </p:nvSpPr>
        <p:spPr>
          <a:xfrm>
            <a:off x="179511" y="51922"/>
            <a:ext cx="8384026" cy="1200329"/>
          </a:xfrm>
          <a:prstGeom prst="rect">
            <a:avLst/>
          </a:prstGeom>
          <a:noFill/>
        </p:spPr>
        <p:txBody>
          <a:bodyPr wrap="none" rtlCol="0">
            <a:spAutoFit/>
          </a:bodyPr>
          <a:lstStyle/>
          <a:p>
            <a:r>
              <a:rPr lang="en-IN" b="1" dirty="0">
                <a:solidFill>
                  <a:srgbClr val="C00000"/>
                </a:solidFill>
                <a:effectLst>
                  <a:outerShdw blurRad="38100" dist="38100" dir="2700000" algn="tl">
                    <a:srgbClr val="000000">
                      <a:alpha val="43137"/>
                    </a:srgbClr>
                  </a:outerShdw>
                </a:effectLst>
              </a:rPr>
              <a:t>Example – 2</a:t>
            </a:r>
          </a:p>
          <a:p>
            <a:pPr lvl="0"/>
            <a:r>
              <a:rPr lang="en-US" dirty="0"/>
              <a:t>Consider the following grammar for list structures, S → a | ^ | (T)</a:t>
            </a:r>
          </a:p>
          <a:p>
            <a:r>
              <a:rPr lang="en-US" dirty="0"/>
              <a:t>T →T , S | S </a:t>
            </a:r>
          </a:p>
          <a:p>
            <a:r>
              <a:rPr lang="en-US" dirty="0"/>
              <a:t>Find the leftmost derivation and rightmost derivation for (((a , a) , ^, (a)) , a).</a:t>
            </a:r>
            <a:endParaRPr lang="en-IN" b="1" dirty="0">
              <a:solidFill>
                <a:srgbClr val="C00000"/>
              </a:solidFill>
              <a:effectLst>
                <a:outerShdw blurRad="38100" dist="38100" dir="2700000" algn="tl">
                  <a:srgbClr val="000000">
                    <a:alpha val="43137"/>
                  </a:srgbClr>
                </a:outerShdw>
              </a:effectLst>
            </a:endParaRPr>
          </a:p>
        </p:txBody>
      </p:sp>
      <p:pic>
        <p:nvPicPr>
          <p:cNvPr id="71685" name="Picture 5"/>
          <p:cNvPicPr>
            <a:picLocks noChangeAspect="1" noChangeArrowheads="1"/>
          </p:cNvPicPr>
          <p:nvPr/>
        </p:nvPicPr>
        <p:blipFill>
          <a:blip r:embed="rId2"/>
          <a:srcRect/>
          <a:stretch>
            <a:fillRect/>
          </a:stretch>
        </p:blipFill>
        <p:spPr bwMode="auto">
          <a:xfrm>
            <a:off x="714348" y="1357298"/>
            <a:ext cx="6429420" cy="5072098"/>
          </a:xfrm>
          <a:prstGeom prst="rect">
            <a:avLst/>
          </a:prstGeom>
          <a:noFill/>
          <a:ln w="9525">
            <a:noFill/>
            <a:miter lim="800000"/>
            <a:headEnd/>
            <a:tailEnd/>
          </a:ln>
          <a:effectLst/>
        </p:spPr>
      </p:pic>
    </p:spTree>
    <p:extLst>
      <p:ext uri="{BB962C8B-B14F-4D97-AF65-F5344CB8AC3E}">
        <p14:creationId xmlns:p14="http://schemas.microsoft.com/office/powerpoint/2010/main" val="29883211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pPr/>
              <a:t>14</a:t>
            </a:fld>
            <a:endParaRPr lang="en-IN"/>
          </a:p>
        </p:txBody>
      </p:sp>
      <p:pic>
        <p:nvPicPr>
          <p:cNvPr id="70658" name="Picture 2"/>
          <p:cNvPicPr>
            <a:picLocks noChangeAspect="1" noChangeArrowheads="1"/>
          </p:cNvPicPr>
          <p:nvPr/>
        </p:nvPicPr>
        <p:blipFill>
          <a:blip r:embed="rId2"/>
          <a:srcRect/>
          <a:stretch>
            <a:fillRect/>
          </a:stretch>
        </p:blipFill>
        <p:spPr bwMode="auto">
          <a:xfrm>
            <a:off x="1000100" y="285728"/>
            <a:ext cx="6643734" cy="6072230"/>
          </a:xfrm>
          <a:prstGeom prst="rect">
            <a:avLst/>
          </a:prstGeom>
          <a:noFill/>
          <a:ln w="9525">
            <a:noFill/>
            <a:miter lim="800000"/>
            <a:headEnd/>
            <a:tailEnd/>
          </a:ln>
          <a:effectLst/>
        </p:spPr>
      </p:pic>
    </p:spTree>
    <p:extLst>
      <p:ext uri="{BB962C8B-B14F-4D97-AF65-F5344CB8AC3E}">
        <p14:creationId xmlns:p14="http://schemas.microsoft.com/office/powerpoint/2010/main" val="9697427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796908"/>
          </a:xfrm>
        </p:spPr>
        <p:txBody>
          <a:bodyPr>
            <a:normAutofit/>
          </a:bodyPr>
          <a:lstStyle/>
          <a:p>
            <a:r>
              <a:rPr lang="en-US" b="1" dirty="0"/>
              <a:t>Ambiguity</a:t>
            </a:r>
            <a:endParaRPr lang="en-IN" dirty="0"/>
          </a:p>
        </p:txBody>
      </p:sp>
      <p:sp>
        <p:nvSpPr>
          <p:cNvPr id="4" name="Slide Number Placeholder 3"/>
          <p:cNvSpPr>
            <a:spLocks noGrp="1"/>
          </p:cNvSpPr>
          <p:nvPr>
            <p:ph type="sldNum" sz="quarter" idx="12"/>
          </p:nvPr>
        </p:nvSpPr>
        <p:spPr/>
        <p:txBody>
          <a:bodyPr/>
          <a:lstStyle/>
          <a:p>
            <a:fld id="{EA7D41E8-55CE-4D73-90D6-F936F71D14C1}" type="slidenum">
              <a:rPr lang="en-IN" smtClean="0"/>
              <a:pPr/>
              <a:t>15</a:t>
            </a:fld>
            <a:endParaRPr lang="en-IN"/>
          </a:p>
        </p:txBody>
      </p:sp>
      <p:pic>
        <p:nvPicPr>
          <p:cNvPr id="67585" name="Picture 1"/>
          <p:cNvPicPr>
            <a:picLocks noChangeAspect="1" noChangeArrowheads="1"/>
          </p:cNvPicPr>
          <p:nvPr/>
        </p:nvPicPr>
        <p:blipFill>
          <a:blip r:embed="rId2"/>
          <a:srcRect/>
          <a:stretch>
            <a:fillRect/>
          </a:stretch>
        </p:blipFill>
        <p:spPr bwMode="auto">
          <a:xfrm>
            <a:off x="571472" y="1285860"/>
            <a:ext cx="7572428" cy="3357586"/>
          </a:xfrm>
          <a:prstGeom prst="rect">
            <a:avLst/>
          </a:prstGeom>
          <a:noFill/>
          <a:ln w="9525">
            <a:noFill/>
            <a:miter lim="800000"/>
            <a:headEnd/>
            <a:tailEnd/>
          </a:ln>
          <a:effectLst/>
        </p:spPr>
      </p:pic>
    </p:spTree>
    <p:extLst>
      <p:ext uri="{BB962C8B-B14F-4D97-AF65-F5344CB8AC3E}">
        <p14:creationId xmlns:p14="http://schemas.microsoft.com/office/powerpoint/2010/main" val="3649958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pPr/>
              <a:t>16</a:t>
            </a:fld>
            <a:endParaRPr lang="en-IN"/>
          </a:p>
        </p:txBody>
      </p:sp>
      <p:sp>
        <p:nvSpPr>
          <p:cNvPr id="3" name="TextBox 2"/>
          <p:cNvSpPr txBox="1"/>
          <p:nvPr/>
        </p:nvSpPr>
        <p:spPr>
          <a:xfrm>
            <a:off x="251520" y="107340"/>
            <a:ext cx="9852377" cy="646331"/>
          </a:xfrm>
          <a:prstGeom prst="rect">
            <a:avLst/>
          </a:prstGeom>
          <a:noFill/>
        </p:spPr>
        <p:txBody>
          <a:bodyPr wrap="square" rtlCol="0">
            <a:spAutoFit/>
          </a:bodyPr>
          <a:lstStyle/>
          <a:p>
            <a:r>
              <a:rPr lang="en-IN" b="1" dirty="0">
                <a:solidFill>
                  <a:srgbClr val="C00000"/>
                </a:solidFill>
                <a:effectLst>
                  <a:outerShdw blurRad="38100" dist="38100" dir="2700000" algn="tl">
                    <a:srgbClr val="000000">
                      <a:alpha val="43137"/>
                    </a:srgbClr>
                  </a:outerShdw>
                </a:effectLst>
              </a:rPr>
              <a:t>Example – 1</a:t>
            </a:r>
          </a:p>
          <a:p>
            <a:r>
              <a:rPr lang="en-US" dirty="0"/>
              <a:t>Show that the grammar E →E + E | E *E | (E) | a is ambiguous.</a:t>
            </a:r>
            <a:endParaRPr lang="en-IN" b="1" dirty="0">
              <a:solidFill>
                <a:srgbClr val="C00000"/>
              </a:solidFill>
              <a:effectLst>
                <a:outerShdw blurRad="38100" dist="38100" dir="2700000" algn="tl">
                  <a:srgbClr val="000000">
                    <a:alpha val="43137"/>
                  </a:srgbClr>
                </a:outerShdw>
              </a:effectLst>
            </a:endParaRPr>
          </a:p>
        </p:txBody>
      </p:sp>
      <p:pic>
        <p:nvPicPr>
          <p:cNvPr id="1026" name="Picture 2"/>
          <p:cNvPicPr>
            <a:picLocks noChangeAspect="1" noChangeArrowheads="1"/>
          </p:cNvPicPr>
          <p:nvPr/>
        </p:nvPicPr>
        <p:blipFill>
          <a:blip r:embed="rId2"/>
          <a:srcRect/>
          <a:stretch>
            <a:fillRect/>
          </a:stretch>
        </p:blipFill>
        <p:spPr bwMode="auto">
          <a:xfrm>
            <a:off x="428596" y="1000108"/>
            <a:ext cx="6715172" cy="5357850"/>
          </a:xfrm>
          <a:prstGeom prst="rect">
            <a:avLst/>
          </a:prstGeom>
          <a:noFill/>
          <a:ln w="9525">
            <a:noFill/>
            <a:miter lim="800000"/>
            <a:headEnd/>
            <a:tailEnd/>
          </a:ln>
          <a:effectLst/>
        </p:spPr>
      </p:pic>
    </p:spTree>
    <p:extLst>
      <p:ext uri="{BB962C8B-B14F-4D97-AF65-F5344CB8AC3E}">
        <p14:creationId xmlns:p14="http://schemas.microsoft.com/office/powerpoint/2010/main" val="19757152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pPr/>
              <a:t>17</a:t>
            </a:fld>
            <a:endParaRPr lang="en-IN"/>
          </a:p>
        </p:txBody>
      </p:sp>
      <p:sp>
        <p:nvSpPr>
          <p:cNvPr id="3" name="TextBox 2"/>
          <p:cNvSpPr txBox="1"/>
          <p:nvPr/>
        </p:nvSpPr>
        <p:spPr>
          <a:xfrm>
            <a:off x="251520" y="107340"/>
            <a:ext cx="9852377" cy="1200329"/>
          </a:xfrm>
          <a:prstGeom prst="rect">
            <a:avLst/>
          </a:prstGeom>
          <a:noFill/>
        </p:spPr>
        <p:txBody>
          <a:bodyPr wrap="square" rtlCol="0">
            <a:spAutoFit/>
          </a:bodyPr>
          <a:lstStyle/>
          <a:p>
            <a:r>
              <a:rPr lang="en-IN" b="1" dirty="0">
                <a:solidFill>
                  <a:srgbClr val="C00000"/>
                </a:solidFill>
                <a:effectLst>
                  <a:outerShdw blurRad="38100" dist="38100" dir="2700000" algn="tl">
                    <a:srgbClr val="000000">
                      <a:alpha val="43137"/>
                    </a:srgbClr>
                  </a:outerShdw>
                </a:effectLst>
              </a:rPr>
              <a:t>Example – 2</a:t>
            </a:r>
          </a:p>
          <a:p>
            <a:r>
              <a:rPr lang="en-US" dirty="0"/>
              <a:t>Show that the following grammar is ambiguous. </a:t>
            </a:r>
          </a:p>
          <a:p>
            <a:pPr lvl="0"/>
            <a:r>
              <a:rPr lang="en-US" dirty="0"/>
              <a:t>S →</a:t>
            </a:r>
            <a:r>
              <a:rPr lang="en-US" dirty="0" err="1"/>
              <a:t>aSbS</a:t>
            </a:r>
            <a:r>
              <a:rPr lang="en-US" dirty="0"/>
              <a:t> | </a:t>
            </a:r>
            <a:r>
              <a:rPr lang="en-US" dirty="0" err="1"/>
              <a:t>bSaS</a:t>
            </a:r>
            <a:r>
              <a:rPr lang="en-US" dirty="0"/>
              <a:t> | ε</a:t>
            </a:r>
          </a:p>
          <a:p>
            <a:endParaRPr lang="en-IN" b="1" dirty="0">
              <a:solidFill>
                <a:srgbClr val="C00000"/>
              </a:solidFill>
              <a:effectLst>
                <a:outerShdw blurRad="38100" dist="38100" dir="2700000" algn="tl">
                  <a:srgbClr val="000000">
                    <a:alpha val="43137"/>
                  </a:srgbClr>
                </a:outerShdw>
              </a:effectLst>
            </a:endParaRPr>
          </a:p>
        </p:txBody>
      </p:sp>
      <p:pic>
        <p:nvPicPr>
          <p:cNvPr id="2050" name="Picture 2"/>
          <p:cNvPicPr>
            <a:picLocks noChangeAspect="1" noChangeArrowheads="1"/>
          </p:cNvPicPr>
          <p:nvPr/>
        </p:nvPicPr>
        <p:blipFill>
          <a:blip r:embed="rId2"/>
          <a:srcRect/>
          <a:stretch>
            <a:fillRect/>
          </a:stretch>
        </p:blipFill>
        <p:spPr bwMode="auto">
          <a:xfrm>
            <a:off x="214282" y="1142984"/>
            <a:ext cx="6929486" cy="4929222"/>
          </a:xfrm>
          <a:prstGeom prst="rect">
            <a:avLst/>
          </a:prstGeom>
          <a:noFill/>
          <a:ln w="9525">
            <a:noFill/>
            <a:miter lim="800000"/>
            <a:headEnd/>
            <a:tailEnd/>
          </a:ln>
          <a:effectLst/>
        </p:spPr>
      </p:pic>
    </p:spTree>
    <p:extLst>
      <p:ext uri="{BB962C8B-B14F-4D97-AF65-F5344CB8AC3E}">
        <p14:creationId xmlns:p14="http://schemas.microsoft.com/office/powerpoint/2010/main" val="19757152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Normal Forms </a:t>
            </a:r>
          </a:p>
        </p:txBody>
      </p:sp>
      <p:sp>
        <p:nvSpPr>
          <p:cNvPr id="4" name="Content Placeholder 3"/>
          <p:cNvSpPr>
            <a:spLocks noGrp="1"/>
          </p:cNvSpPr>
          <p:nvPr>
            <p:ph idx="1"/>
          </p:nvPr>
        </p:nvSpPr>
        <p:spPr>
          <a:xfrm>
            <a:off x="0" y="1600200"/>
            <a:ext cx="8715404" cy="4873752"/>
          </a:xfrm>
        </p:spPr>
        <p:txBody>
          <a:bodyPr>
            <a:normAutofit/>
          </a:bodyPr>
          <a:lstStyle/>
          <a:p>
            <a:r>
              <a:rPr lang="en-US" b="1" dirty="0"/>
              <a:t>Chomsky Normal Form</a:t>
            </a:r>
            <a:endParaRPr lang="en-US" dirty="0"/>
          </a:p>
          <a:p>
            <a:r>
              <a:rPr lang="en-US" dirty="0"/>
              <a:t>The grammar is said to be in Chomsky normal form, if all the productions in G are in the following formats,</a:t>
            </a:r>
          </a:p>
          <a:p>
            <a:pPr>
              <a:buNone/>
            </a:pPr>
            <a:endParaRPr lang="en-US" dirty="0"/>
          </a:p>
          <a:p>
            <a:r>
              <a:rPr lang="en-US" dirty="0"/>
              <a:t>Non-terminal → Non-terminal. Non-terminal (A → BC)</a:t>
            </a:r>
          </a:p>
          <a:p>
            <a:r>
              <a:rPr lang="en-US" dirty="0"/>
              <a:t>Non-terminal → terminal (A → a)</a:t>
            </a:r>
          </a:p>
          <a:p>
            <a:pPr>
              <a:buNone/>
            </a:pPr>
            <a:r>
              <a:rPr lang="en-US" dirty="0"/>
              <a:t>		Before converting the given grammar into CNF, check whether the given grammar is in reduced form which means remove all useless symbols, unit productions and null productions. Then this reduced grammar can be changed to CNF.</a:t>
            </a:r>
          </a:p>
          <a:p>
            <a:endParaRPr lang="en-US" dirty="0"/>
          </a:p>
        </p:txBody>
      </p:sp>
      <p:sp>
        <p:nvSpPr>
          <p:cNvPr id="2" name="Slide Number Placeholder 1"/>
          <p:cNvSpPr>
            <a:spLocks noGrp="1"/>
          </p:cNvSpPr>
          <p:nvPr>
            <p:ph type="sldNum" sz="quarter" idx="12"/>
          </p:nvPr>
        </p:nvSpPr>
        <p:spPr/>
        <p:txBody>
          <a:bodyPr/>
          <a:lstStyle/>
          <a:p>
            <a:fld id="{EA7D41E8-55CE-4D73-90D6-F936F71D14C1}" type="slidenum">
              <a:rPr lang="en-IN" smtClean="0"/>
              <a:pPr/>
              <a:t>18</a:t>
            </a:fld>
            <a:endParaRPr lang="en-I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pPr/>
              <a:t>19</a:t>
            </a:fld>
            <a:endParaRPr lang="en-IN"/>
          </a:p>
        </p:txBody>
      </p:sp>
      <p:sp>
        <p:nvSpPr>
          <p:cNvPr id="3" name="TextBox 2"/>
          <p:cNvSpPr txBox="1"/>
          <p:nvPr/>
        </p:nvSpPr>
        <p:spPr>
          <a:xfrm>
            <a:off x="251520" y="107340"/>
            <a:ext cx="9852377" cy="1477328"/>
          </a:xfrm>
          <a:prstGeom prst="rect">
            <a:avLst/>
          </a:prstGeom>
          <a:noFill/>
        </p:spPr>
        <p:txBody>
          <a:bodyPr wrap="square" rtlCol="0">
            <a:spAutoFit/>
          </a:bodyPr>
          <a:lstStyle/>
          <a:p>
            <a:r>
              <a:rPr lang="en-IN" b="1" dirty="0">
                <a:solidFill>
                  <a:srgbClr val="C00000"/>
                </a:solidFill>
                <a:effectLst>
                  <a:outerShdw blurRad="38100" dist="38100" dir="2700000" algn="tl">
                    <a:srgbClr val="000000">
                      <a:alpha val="43137"/>
                    </a:srgbClr>
                  </a:outerShdw>
                </a:effectLst>
              </a:rPr>
              <a:t>Example – 1</a:t>
            </a:r>
          </a:p>
          <a:p>
            <a:pPr lvl="0"/>
            <a:r>
              <a:rPr lang="en-US" dirty="0"/>
              <a:t>Reduce the following grammar 	S →a | AAB</a:t>
            </a:r>
          </a:p>
          <a:p>
            <a:r>
              <a:rPr lang="en-US" dirty="0"/>
              <a:t>A →</a:t>
            </a:r>
            <a:r>
              <a:rPr lang="en-US" dirty="0" err="1"/>
              <a:t>ab</a:t>
            </a:r>
            <a:r>
              <a:rPr lang="en-US" dirty="0"/>
              <a:t> | </a:t>
            </a:r>
            <a:r>
              <a:rPr lang="en-US" dirty="0" err="1"/>
              <a:t>aB</a:t>
            </a:r>
            <a:r>
              <a:rPr lang="en-US" dirty="0"/>
              <a:t> | ε</a:t>
            </a:r>
          </a:p>
          <a:p>
            <a:r>
              <a:rPr lang="en-US" dirty="0"/>
              <a:t>B →</a:t>
            </a:r>
            <a:r>
              <a:rPr lang="en-US" dirty="0" err="1"/>
              <a:t>aba</a:t>
            </a:r>
            <a:r>
              <a:rPr lang="en-US" dirty="0"/>
              <a:t> | ε </a:t>
            </a:r>
          </a:p>
          <a:p>
            <a:r>
              <a:rPr lang="en-US" dirty="0"/>
              <a:t>to Chomsky normal form. 							</a:t>
            </a:r>
            <a:endParaRPr lang="en-IN" b="1" dirty="0">
              <a:solidFill>
                <a:srgbClr val="C00000"/>
              </a:solidFill>
              <a:effectLst>
                <a:outerShdw blurRad="38100" dist="38100" dir="2700000" algn="tl">
                  <a:srgbClr val="000000">
                    <a:alpha val="43137"/>
                  </a:srgbClr>
                </a:outerShdw>
              </a:effectLst>
            </a:endParaRPr>
          </a:p>
        </p:txBody>
      </p:sp>
      <p:pic>
        <p:nvPicPr>
          <p:cNvPr id="3074" name="Picture 2"/>
          <p:cNvPicPr>
            <a:picLocks noChangeAspect="1" noChangeArrowheads="1"/>
          </p:cNvPicPr>
          <p:nvPr/>
        </p:nvPicPr>
        <p:blipFill>
          <a:blip r:embed="rId2"/>
          <a:srcRect/>
          <a:stretch>
            <a:fillRect/>
          </a:stretch>
        </p:blipFill>
        <p:spPr bwMode="auto">
          <a:xfrm>
            <a:off x="285720" y="1643050"/>
            <a:ext cx="7643866" cy="5000660"/>
          </a:xfrm>
          <a:prstGeom prst="rect">
            <a:avLst/>
          </a:prstGeom>
          <a:noFill/>
          <a:ln w="9525">
            <a:noFill/>
            <a:miter lim="800000"/>
            <a:headEnd/>
            <a:tailEnd/>
          </a:ln>
          <a:effectLst/>
        </p:spPr>
      </p:pic>
    </p:spTree>
    <p:extLst>
      <p:ext uri="{BB962C8B-B14F-4D97-AF65-F5344CB8AC3E}">
        <p14:creationId xmlns:p14="http://schemas.microsoft.com/office/powerpoint/2010/main" val="19757152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pPr/>
              <a:t>20</a:t>
            </a:fld>
            <a:endParaRPr lang="en-IN"/>
          </a:p>
        </p:txBody>
      </p:sp>
      <p:pic>
        <p:nvPicPr>
          <p:cNvPr id="4098" name="Picture 2"/>
          <p:cNvPicPr>
            <a:picLocks noChangeAspect="1" noChangeArrowheads="1"/>
          </p:cNvPicPr>
          <p:nvPr/>
        </p:nvPicPr>
        <p:blipFill>
          <a:blip r:embed="rId2"/>
          <a:srcRect/>
          <a:stretch>
            <a:fillRect/>
          </a:stretch>
        </p:blipFill>
        <p:spPr bwMode="auto">
          <a:xfrm>
            <a:off x="500034" y="214290"/>
            <a:ext cx="5072098" cy="6000792"/>
          </a:xfrm>
          <a:prstGeom prst="rect">
            <a:avLst/>
          </a:prstGeom>
          <a:noFill/>
          <a:ln w="9525">
            <a:noFill/>
            <a:miter lim="800000"/>
            <a:headEnd/>
            <a:tailEnd/>
          </a:ln>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pPr/>
              <a:t>21</a:t>
            </a:fld>
            <a:endParaRPr lang="en-IN"/>
          </a:p>
        </p:txBody>
      </p:sp>
      <p:sp>
        <p:nvSpPr>
          <p:cNvPr id="3" name="TextBox 2"/>
          <p:cNvSpPr txBox="1"/>
          <p:nvPr/>
        </p:nvSpPr>
        <p:spPr>
          <a:xfrm>
            <a:off x="251520" y="107340"/>
            <a:ext cx="9852377" cy="1754326"/>
          </a:xfrm>
          <a:prstGeom prst="rect">
            <a:avLst/>
          </a:prstGeom>
          <a:noFill/>
        </p:spPr>
        <p:txBody>
          <a:bodyPr wrap="square" rtlCol="0">
            <a:spAutoFit/>
          </a:bodyPr>
          <a:lstStyle/>
          <a:p>
            <a:r>
              <a:rPr lang="en-IN" b="1" dirty="0">
                <a:solidFill>
                  <a:srgbClr val="C00000"/>
                </a:solidFill>
                <a:effectLst>
                  <a:outerShdw blurRad="38100" dist="38100" dir="2700000" algn="tl">
                    <a:srgbClr val="000000">
                      <a:alpha val="43137"/>
                    </a:srgbClr>
                  </a:outerShdw>
                </a:effectLst>
              </a:rPr>
              <a:t>Example – 2</a:t>
            </a:r>
          </a:p>
          <a:p>
            <a:pPr lvl="0"/>
            <a:r>
              <a:rPr lang="en-US" dirty="0"/>
              <a:t>Convert the grammar into CNF. 	</a:t>
            </a:r>
          </a:p>
          <a:p>
            <a:r>
              <a:rPr lang="en-US" dirty="0"/>
              <a:t>S→ AB | </a:t>
            </a:r>
            <a:r>
              <a:rPr lang="en-US" dirty="0" err="1"/>
              <a:t>aB</a:t>
            </a:r>
            <a:endParaRPr lang="en-US" dirty="0"/>
          </a:p>
          <a:p>
            <a:r>
              <a:rPr lang="en-US" dirty="0"/>
              <a:t>A→ </a:t>
            </a:r>
            <a:r>
              <a:rPr lang="en-US" dirty="0" err="1"/>
              <a:t>aab</a:t>
            </a:r>
            <a:r>
              <a:rPr lang="en-US" dirty="0"/>
              <a:t> | ε</a:t>
            </a:r>
          </a:p>
          <a:p>
            <a:r>
              <a:rPr lang="en-US" dirty="0"/>
              <a:t>B→ </a:t>
            </a:r>
            <a:r>
              <a:rPr lang="en-US" dirty="0" err="1"/>
              <a:t>bbA</a:t>
            </a:r>
            <a:endParaRPr lang="en-US" dirty="0"/>
          </a:p>
          <a:p>
            <a:endParaRPr lang="en-IN" b="1" dirty="0">
              <a:solidFill>
                <a:srgbClr val="C00000"/>
              </a:solidFill>
              <a:effectLst>
                <a:outerShdw blurRad="38100" dist="38100" dir="2700000" algn="tl">
                  <a:srgbClr val="000000">
                    <a:alpha val="43137"/>
                  </a:srgbClr>
                </a:outerShdw>
              </a:effectLst>
            </a:endParaRPr>
          </a:p>
        </p:txBody>
      </p:sp>
      <p:pic>
        <p:nvPicPr>
          <p:cNvPr id="5122" name="Picture 2"/>
          <p:cNvPicPr>
            <a:picLocks noChangeAspect="1" noChangeArrowheads="1"/>
          </p:cNvPicPr>
          <p:nvPr/>
        </p:nvPicPr>
        <p:blipFill>
          <a:blip r:embed="rId2"/>
          <a:srcRect/>
          <a:stretch>
            <a:fillRect/>
          </a:stretch>
        </p:blipFill>
        <p:spPr bwMode="auto">
          <a:xfrm>
            <a:off x="285720" y="1643050"/>
            <a:ext cx="8358246" cy="4981575"/>
          </a:xfrm>
          <a:prstGeom prst="rect">
            <a:avLst/>
          </a:prstGeom>
          <a:noFill/>
          <a:ln w="9525">
            <a:noFill/>
            <a:miter lim="800000"/>
            <a:headEnd/>
            <a:tailEnd/>
          </a:ln>
          <a:effectLst/>
        </p:spPr>
      </p:pic>
    </p:spTree>
    <p:extLst>
      <p:ext uri="{BB962C8B-B14F-4D97-AF65-F5344CB8AC3E}">
        <p14:creationId xmlns:p14="http://schemas.microsoft.com/office/powerpoint/2010/main" val="19757152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pPr/>
              <a:t>22</a:t>
            </a:fld>
            <a:endParaRPr lang="en-IN"/>
          </a:p>
        </p:txBody>
      </p:sp>
      <p:pic>
        <p:nvPicPr>
          <p:cNvPr id="6146" name="Picture 2"/>
          <p:cNvPicPr>
            <a:picLocks noChangeAspect="1" noChangeArrowheads="1"/>
          </p:cNvPicPr>
          <p:nvPr/>
        </p:nvPicPr>
        <p:blipFill>
          <a:blip r:embed="rId2"/>
          <a:srcRect/>
          <a:stretch>
            <a:fillRect/>
          </a:stretch>
        </p:blipFill>
        <p:spPr bwMode="auto">
          <a:xfrm>
            <a:off x="1428728" y="500042"/>
            <a:ext cx="4643470" cy="5000660"/>
          </a:xfrm>
          <a:prstGeom prst="rect">
            <a:avLst/>
          </a:prstGeom>
          <a:noFill/>
          <a:ln w="9525">
            <a:noFill/>
            <a:miter lim="800000"/>
            <a:headEnd/>
            <a:tailEnd/>
          </a:ln>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Normal Forms </a:t>
            </a:r>
          </a:p>
        </p:txBody>
      </p:sp>
      <p:sp>
        <p:nvSpPr>
          <p:cNvPr id="4" name="Content Placeholder 3"/>
          <p:cNvSpPr>
            <a:spLocks noGrp="1"/>
          </p:cNvSpPr>
          <p:nvPr>
            <p:ph idx="1"/>
          </p:nvPr>
        </p:nvSpPr>
        <p:spPr>
          <a:xfrm>
            <a:off x="0" y="1600200"/>
            <a:ext cx="8715404" cy="4873752"/>
          </a:xfrm>
        </p:spPr>
        <p:txBody>
          <a:bodyPr>
            <a:normAutofit/>
          </a:bodyPr>
          <a:lstStyle/>
          <a:p>
            <a:r>
              <a:rPr lang="en-US" b="1" dirty="0" err="1"/>
              <a:t>Greiback</a:t>
            </a:r>
            <a:r>
              <a:rPr lang="en-US" b="1" dirty="0"/>
              <a:t> Normal Form (GNF)</a:t>
            </a:r>
          </a:p>
          <a:p>
            <a:pPr>
              <a:buNone/>
            </a:pPr>
            <a:r>
              <a:rPr lang="en-US" b="1" dirty="0"/>
              <a:t>	</a:t>
            </a:r>
            <a:r>
              <a:rPr lang="en-US" dirty="0"/>
              <a:t>The grammar is in GNF, if the production is of the form A→ </a:t>
            </a:r>
            <a:r>
              <a:rPr lang="en-US" dirty="0" err="1"/>
              <a:t>aα</a:t>
            </a:r>
            <a:r>
              <a:rPr lang="en-US" dirty="0"/>
              <a:t> where A is the variable, a is the terminal and α is the collection of non-terminals.</a:t>
            </a:r>
          </a:p>
          <a:p>
            <a:pPr>
              <a:buNone/>
            </a:pPr>
            <a:r>
              <a:rPr lang="en-US" dirty="0"/>
              <a:t> The production rule for GNF is </a:t>
            </a:r>
          </a:p>
          <a:p>
            <a:pPr>
              <a:buNone/>
            </a:pPr>
            <a:r>
              <a:rPr lang="en-US" dirty="0"/>
              <a:t>	Non-terminal → One terminal . Any number of non-terminals</a:t>
            </a:r>
          </a:p>
          <a:p>
            <a:pPr>
              <a:buNone/>
            </a:pPr>
            <a:r>
              <a:rPr lang="en-US" dirty="0"/>
              <a:t>For example:</a:t>
            </a:r>
          </a:p>
          <a:p>
            <a:pPr>
              <a:buNone/>
            </a:pPr>
            <a:r>
              <a:rPr lang="en-US" dirty="0"/>
              <a:t>  S → </a:t>
            </a:r>
            <a:r>
              <a:rPr lang="en-US" dirty="0" err="1"/>
              <a:t>aABD</a:t>
            </a:r>
            <a:r>
              <a:rPr lang="en-US" dirty="0"/>
              <a:t>     is in GNF</a:t>
            </a:r>
            <a:endParaRPr lang="en-US" b="1" dirty="0"/>
          </a:p>
          <a:p>
            <a:pPr>
              <a:buNone/>
            </a:pPr>
            <a:r>
              <a:rPr lang="en-US" dirty="0"/>
              <a:t>  A → a   is in GNF</a:t>
            </a:r>
            <a:endParaRPr lang="en-US" b="1" dirty="0"/>
          </a:p>
          <a:p>
            <a:pPr>
              <a:buNone/>
            </a:pPr>
            <a:r>
              <a:rPr lang="en-US" dirty="0"/>
              <a:t>  B → </a:t>
            </a:r>
            <a:r>
              <a:rPr lang="en-US" dirty="0" err="1"/>
              <a:t>BbB</a:t>
            </a:r>
            <a:r>
              <a:rPr lang="en-US" dirty="0"/>
              <a:t>     is not in GNF</a:t>
            </a:r>
            <a:endParaRPr lang="en-US" b="1" dirty="0"/>
          </a:p>
        </p:txBody>
      </p:sp>
      <p:sp>
        <p:nvSpPr>
          <p:cNvPr id="2" name="Slide Number Placeholder 1"/>
          <p:cNvSpPr>
            <a:spLocks noGrp="1"/>
          </p:cNvSpPr>
          <p:nvPr>
            <p:ph type="sldNum" sz="quarter" idx="12"/>
          </p:nvPr>
        </p:nvSpPr>
        <p:spPr/>
        <p:txBody>
          <a:bodyPr/>
          <a:lstStyle/>
          <a:p>
            <a:fld id="{EA7D41E8-55CE-4D73-90D6-F936F71D14C1}" type="slidenum">
              <a:rPr lang="en-IN" smtClean="0"/>
              <a:pPr/>
              <a:t>23</a:t>
            </a:fld>
            <a:endParaRPr lang="en-IN"/>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pPr/>
              <a:t>24</a:t>
            </a:fld>
            <a:endParaRPr lang="en-IN"/>
          </a:p>
        </p:txBody>
      </p:sp>
      <p:sp>
        <p:nvSpPr>
          <p:cNvPr id="3" name="TextBox 2"/>
          <p:cNvSpPr txBox="1"/>
          <p:nvPr/>
        </p:nvSpPr>
        <p:spPr>
          <a:xfrm>
            <a:off x="251520" y="107340"/>
            <a:ext cx="9852377" cy="923330"/>
          </a:xfrm>
          <a:prstGeom prst="rect">
            <a:avLst/>
          </a:prstGeom>
          <a:noFill/>
        </p:spPr>
        <p:txBody>
          <a:bodyPr wrap="square" rtlCol="0">
            <a:spAutoFit/>
          </a:bodyPr>
          <a:lstStyle/>
          <a:p>
            <a:r>
              <a:rPr lang="en-IN" b="1" dirty="0">
                <a:solidFill>
                  <a:srgbClr val="C00000"/>
                </a:solidFill>
                <a:effectLst>
                  <a:outerShdw blurRad="38100" dist="38100" dir="2700000" algn="tl">
                    <a:srgbClr val="000000">
                      <a:alpha val="43137"/>
                    </a:srgbClr>
                  </a:outerShdw>
                </a:effectLst>
              </a:rPr>
              <a:t>Example – 1</a:t>
            </a:r>
          </a:p>
          <a:p>
            <a:pPr lvl="0"/>
            <a:r>
              <a:rPr lang="en-US" dirty="0"/>
              <a:t>Find the GNF equivalent of the grammar </a:t>
            </a:r>
          </a:p>
          <a:p>
            <a:pPr lvl="0"/>
            <a:r>
              <a:rPr lang="en-US" dirty="0"/>
              <a:t>S→AA |0, A→SS | 1</a:t>
            </a:r>
            <a:endParaRPr lang="en-IN" b="1" dirty="0">
              <a:solidFill>
                <a:srgbClr val="C00000"/>
              </a:solidFill>
              <a:effectLst>
                <a:outerShdw blurRad="38100" dist="38100" dir="2700000" algn="tl">
                  <a:srgbClr val="000000">
                    <a:alpha val="43137"/>
                  </a:srgbClr>
                </a:outerShdw>
              </a:effectLst>
            </a:endParaRPr>
          </a:p>
        </p:txBody>
      </p:sp>
      <p:pic>
        <p:nvPicPr>
          <p:cNvPr id="7170" name="Picture 2"/>
          <p:cNvPicPr>
            <a:picLocks noChangeAspect="1" noChangeArrowheads="1"/>
          </p:cNvPicPr>
          <p:nvPr/>
        </p:nvPicPr>
        <p:blipFill>
          <a:blip r:embed="rId2"/>
          <a:srcRect/>
          <a:stretch>
            <a:fillRect/>
          </a:stretch>
        </p:blipFill>
        <p:spPr bwMode="auto">
          <a:xfrm>
            <a:off x="357158" y="1285860"/>
            <a:ext cx="6929486" cy="4929222"/>
          </a:xfrm>
          <a:prstGeom prst="rect">
            <a:avLst/>
          </a:prstGeom>
          <a:noFill/>
          <a:ln w="9525">
            <a:noFill/>
            <a:miter lim="800000"/>
            <a:headEnd/>
            <a:tailEnd/>
          </a:ln>
          <a:effectLst/>
        </p:spPr>
      </p:pic>
    </p:spTree>
    <p:extLst>
      <p:ext uri="{BB962C8B-B14F-4D97-AF65-F5344CB8AC3E}">
        <p14:creationId xmlns:p14="http://schemas.microsoft.com/office/powerpoint/2010/main" val="19757152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pPr/>
              <a:t>25</a:t>
            </a:fld>
            <a:endParaRPr lang="en-IN"/>
          </a:p>
        </p:txBody>
      </p:sp>
      <p:pic>
        <p:nvPicPr>
          <p:cNvPr id="8194" name="Picture 2"/>
          <p:cNvPicPr>
            <a:picLocks noChangeAspect="1" noChangeArrowheads="1"/>
          </p:cNvPicPr>
          <p:nvPr/>
        </p:nvPicPr>
        <p:blipFill>
          <a:blip r:embed="rId2"/>
          <a:srcRect/>
          <a:stretch>
            <a:fillRect/>
          </a:stretch>
        </p:blipFill>
        <p:spPr bwMode="auto">
          <a:xfrm>
            <a:off x="428596" y="571481"/>
            <a:ext cx="7643866" cy="3500462"/>
          </a:xfrm>
          <a:prstGeom prst="rect">
            <a:avLst/>
          </a:prstGeom>
          <a:noFill/>
          <a:ln w="9525">
            <a:noFill/>
            <a:miter lim="800000"/>
            <a:headEnd/>
            <a:tailEnd/>
          </a:ln>
          <a:effectLst/>
        </p:spPr>
      </p:pic>
      <p:pic>
        <p:nvPicPr>
          <p:cNvPr id="8195" name="Picture 3"/>
          <p:cNvPicPr>
            <a:picLocks noChangeAspect="1" noChangeArrowheads="1"/>
          </p:cNvPicPr>
          <p:nvPr/>
        </p:nvPicPr>
        <p:blipFill>
          <a:blip r:embed="rId3"/>
          <a:srcRect/>
          <a:stretch>
            <a:fillRect/>
          </a:stretch>
        </p:blipFill>
        <p:spPr bwMode="auto">
          <a:xfrm>
            <a:off x="928662" y="4286256"/>
            <a:ext cx="6286544" cy="1643074"/>
          </a:xfrm>
          <a:prstGeom prst="rect">
            <a:avLst/>
          </a:prstGeom>
          <a:noFill/>
          <a:ln w="9525">
            <a:noFill/>
            <a:miter lim="800000"/>
            <a:headEnd/>
            <a:tailEnd/>
          </a:ln>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pPr/>
              <a:t>26</a:t>
            </a:fld>
            <a:endParaRPr lang="en-IN"/>
          </a:p>
        </p:txBody>
      </p:sp>
      <p:sp>
        <p:nvSpPr>
          <p:cNvPr id="3" name="TextBox 2"/>
          <p:cNvSpPr txBox="1"/>
          <p:nvPr/>
        </p:nvSpPr>
        <p:spPr>
          <a:xfrm>
            <a:off x="251520" y="107340"/>
            <a:ext cx="9852377" cy="1477328"/>
          </a:xfrm>
          <a:prstGeom prst="rect">
            <a:avLst/>
          </a:prstGeom>
          <a:noFill/>
        </p:spPr>
        <p:txBody>
          <a:bodyPr wrap="square" rtlCol="0">
            <a:spAutoFit/>
          </a:bodyPr>
          <a:lstStyle/>
          <a:p>
            <a:r>
              <a:rPr lang="en-IN" b="1" dirty="0">
                <a:solidFill>
                  <a:srgbClr val="C00000"/>
                </a:solidFill>
                <a:effectLst>
                  <a:outerShdw blurRad="38100" dist="38100" dir="2700000" algn="tl">
                    <a:srgbClr val="000000">
                      <a:alpha val="43137"/>
                    </a:srgbClr>
                  </a:outerShdw>
                </a:effectLst>
              </a:rPr>
              <a:t>Example – 2</a:t>
            </a:r>
          </a:p>
          <a:p>
            <a:pPr lvl="0"/>
            <a:r>
              <a:rPr lang="en-US" dirty="0"/>
              <a:t>Convert the following grammar into </a:t>
            </a:r>
            <a:r>
              <a:rPr lang="en-US" dirty="0" err="1"/>
              <a:t>Greiback</a:t>
            </a:r>
            <a:r>
              <a:rPr lang="en-US" dirty="0"/>
              <a:t> normal form. 	</a:t>
            </a:r>
          </a:p>
          <a:p>
            <a:r>
              <a:rPr lang="en-US" dirty="0"/>
              <a:t>S→ AB </a:t>
            </a:r>
          </a:p>
          <a:p>
            <a:r>
              <a:rPr lang="en-US" dirty="0"/>
              <a:t>A→ BS | b</a:t>
            </a:r>
          </a:p>
          <a:p>
            <a:r>
              <a:rPr lang="en-US" dirty="0"/>
              <a:t>B→SA |a</a:t>
            </a:r>
          </a:p>
        </p:txBody>
      </p:sp>
      <p:pic>
        <p:nvPicPr>
          <p:cNvPr id="9218" name="Picture 2"/>
          <p:cNvPicPr>
            <a:picLocks noChangeAspect="1" noChangeArrowheads="1"/>
          </p:cNvPicPr>
          <p:nvPr/>
        </p:nvPicPr>
        <p:blipFill>
          <a:blip r:embed="rId2"/>
          <a:srcRect/>
          <a:stretch>
            <a:fillRect/>
          </a:stretch>
        </p:blipFill>
        <p:spPr bwMode="auto">
          <a:xfrm>
            <a:off x="285720" y="1571612"/>
            <a:ext cx="7500990" cy="5000660"/>
          </a:xfrm>
          <a:prstGeom prst="rect">
            <a:avLst/>
          </a:prstGeom>
          <a:noFill/>
          <a:ln w="9525">
            <a:noFill/>
            <a:miter lim="800000"/>
            <a:headEnd/>
            <a:tailEnd/>
          </a:ln>
          <a:effectLst/>
        </p:spPr>
      </p:pic>
    </p:spTree>
    <p:extLst>
      <p:ext uri="{BB962C8B-B14F-4D97-AF65-F5344CB8AC3E}">
        <p14:creationId xmlns:p14="http://schemas.microsoft.com/office/powerpoint/2010/main" val="19757152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pPr/>
              <a:t>27</a:t>
            </a:fld>
            <a:endParaRPr lang="en-IN"/>
          </a:p>
        </p:txBody>
      </p:sp>
      <p:pic>
        <p:nvPicPr>
          <p:cNvPr id="10242" name="Picture 2"/>
          <p:cNvPicPr>
            <a:picLocks noChangeAspect="1" noChangeArrowheads="1"/>
          </p:cNvPicPr>
          <p:nvPr/>
        </p:nvPicPr>
        <p:blipFill>
          <a:blip r:embed="rId2"/>
          <a:srcRect/>
          <a:stretch>
            <a:fillRect/>
          </a:stretch>
        </p:blipFill>
        <p:spPr bwMode="auto">
          <a:xfrm>
            <a:off x="1071538" y="428604"/>
            <a:ext cx="6643734" cy="5429288"/>
          </a:xfrm>
          <a:prstGeom prst="rect">
            <a:avLst/>
          </a:prstGeom>
          <a:noFill/>
          <a:ln w="9525">
            <a:noFill/>
            <a:miter lim="800000"/>
            <a:headEnd/>
            <a:tailEnd/>
          </a:ln>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pPr/>
              <a:t>28</a:t>
            </a:fld>
            <a:endParaRPr lang="en-IN"/>
          </a:p>
        </p:txBody>
      </p:sp>
      <p:pic>
        <p:nvPicPr>
          <p:cNvPr id="11266" name="Picture 2"/>
          <p:cNvPicPr>
            <a:picLocks noChangeAspect="1" noChangeArrowheads="1"/>
          </p:cNvPicPr>
          <p:nvPr/>
        </p:nvPicPr>
        <p:blipFill>
          <a:blip r:embed="rId2"/>
          <a:srcRect/>
          <a:stretch>
            <a:fillRect/>
          </a:stretch>
        </p:blipFill>
        <p:spPr bwMode="auto">
          <a:xfrm>
            <a:off x="428596" y="642918"/>
            <a:ext cx="7786742" cy="5000660"/>
          </a:xfrm>
          <a:prstGeom prst="rect">
            <a:avLst/>
          </a:prstGeom>
          <a:noFill/>
          <a:ln w="9525">
            <a:noFill/>
            <a:miter lim="800000"/>
            <a:headEnd/>
            <a:tailEnd/>
          </a:ln>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116632"/>
            <a:ext cx="8579296" cy="706090"/>
          </a:xfrm>
        </p:spPr>
        <p:txBody>
          <a:bodyPr>
            <a:normAutofit/>
          </a:bodyPr>
          <a:lstStyle/>
          <a:p>
            <a:r>
              <a:rPr lang="en-IN" sz="2800" dirty="0"/>
              <a:t>Pushdown automata (Block diagram)</a:t>
            </a:r>
          </a:p>
        </p:txBody>
      </p:sp>
      <p:sp>
        <p:nvSpPr>
          <p:cNvPr id="3" name="Slide Number Placeholder 2"/>
          <p:cNvSpPr>
            <a:spLocks noGrp="1"/>
          </p:cNvSpPr>
          <p:nvPr>
            <p:ph type="sldNum" sz="quarter" idx="12"/>
          </p:nvPr>
        </p:nvSpPr>
        <p:spPr/>
        <p:txBody>
          <a:bodyPr/>
          <a:lstStyle/>
          <a:p>
            <a:fld id="{EA7D41E8-55CE-4D73-90D6-F936F71D14C1}" type="slidenum">
              <a:rPr lang="en-IN" smtClean="0"/>
              <a:pPr/>
              <a:t>29</a:t>
            </a:fld>
            <a:endParaRPr lang="en-IN"/>
          </a:p>
        </p:txBody>
      </p:sp>
      <p:pic>
        <p:nvPicPr>
          <p:cNvPr id="12290" name="Picture 2"/>
          <p:cNvPicPr>
            <a:picLocks noChangeAspect="1" noChangeArrowheads="1"/>
          </p:cNvPicPr>
          <p:nvPr/>
        </p:nvPicPr>
        <p:blipFill>
          <a:blip r:embed="rId2"/>
          <a:srcRect/>
          <a:stretch>
            <a:fillRect/>
          </a:stretch>
        </p:blipFill>
        <p:spPr bwMode="auto">
          <a:xfrm>
            <a:off x="285720" y="928670"/>
            <a:ext cx="7786742" cy="5643602"/>
          </a:xfrm>
          <a:prstGeom prst="rect">
            <a:avLst/>
          </a:prstGeom>
          <a:noFill/>
          <a:ln w="9525">
            <a:noFill/>
            <a:miter lim="800000"/>
            <a:headEnd/>
            <a:tailEnd/>
          </a:ln>
          <a:effectLst/>
        </p:spPr>
      </p:pic>
    </p:spTree>
    <p:extLst>
      <p:ext uri="{BB962C8B-B14F-4D97-AF65-F5344CB8AC3E}">
        <p14:creationId xmlns:p14="http://schemas.microsoft.com/office/powerpoint/2010/main" val="18902668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116632"/>
            <a:ext cx="8579296" cy="706090"/>
          </a:xfrm>
        </p:spPr>
        <p:txBody>
          <a:bodyPr>
            <a:normAutofit/>
          </a:bodyPr>
          <a:lstStyle/>
          <a:p>
            <a:r>
              <a:rPr lang="en-IN" sz="2800" dirty="0"/>
              <a:t>Formal definition of </a:t>
            </a:r>
            <a:r>
              <a:rPr lang="en-IN" sz="2800" dirty="0" err="1"/>
              <a:t>pda</a:t>
            </a:r>
            <a:r>
              <a:rPr lang="en-IN" sz="2800" dirty="0"/>
              <a:t> </a:t>
            </a:r>
          </a:p>
        </p:txBody>
      </p:sp>
      <p:sp>
        <p:nvSpPr>
          <p:cNvPr id="3" name="Slide Number Placeholder 2"/>
          <p:cNvSpPr>
            <a:spLocks noGrp="1"/>
          </p:cNvSpPr>
          <p:nvPr>
            <p:ph type="sldNum" sz="quarter" idx="12"/>
          </p:nvPr>
        </p:nvSpPr>
        <p:spPr/>
        <p:txBody>
          <a:bodyPr/>
          <a:lstStyle/>
          <a:p>
            <a:fld id="{EA7D41E8-55CE-4D73-90D6-F936F71D14C1}" type="slidenum">
              <a:rPr lang="en-IN" smtClean="0"/>
              <a:pPr/>
              <a:t>30</a:t>
            </a:fld>
            <a:endParaRPr lang="en-IN"/>
          </a:p>
        </p:txBody>
      </p:sp>
      <p:pic>
        <p:nvPicPr>
          <p:cNvPr id="13314" name="Picture 2"/>
          <p:cNvPicPr>
            <a:picLocks noChangeAspect="1" noChangeArrowheads="1"/>
          </p:cNvPicPr>
          <p:nvPr/>
        </p:nvPicPr>
        <p:blipFill>
          <a:blip r:embed="rId2"/>
          <a:srcRect/>
          <a:stretch>
            <a:fillRect/>
          </a:stretch>
        </p:blipFill>
        <p:spPr bwMode="auto">
          <a:xfrm>
            <a:off x="357158" y="1357298"/>
            <a:ext cx="7500991" cy="5214974"/>
          </a:xfrm>
          <a:prstGeom prst="rect">
            <a:avLst/>
          </a:prstGeom>
          <a:noFill/>
          <a:ln w="9525">
            <a:noFill/>
            <a:miter lim="800000"/>
            <a:headEnd/>
            <a:tailEnd/>
          </a:ln>
          <a:effectLst/>
        </p:spPr>
      </p:pic>
    </p:spTree>
    <p:extLst>
      <p:ext uri="{BB962C8B-B14F-4D97-AF65-F5344CB8AC3E}">
        <p14:creationId xmlns:p14="http://schemas.microsoft.com/office/powerpoint/2010/main" val="18902668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116632"/>
            <a:ext cx="8579296" cy="706090"/>
          </a:xfrm>
        </p:spPr>
        <p:txBody>
          <a:bodyPr>
            <a:normAutofit/>
          </a:bodyPr>
          <a:lstStyle/>
          <a:p>
            <a:r>
              <a:rPr lang="en-US" sz="2800" b="1" dirty="0"/>
              <a:t>Instantaneous Descriptions of PDA</a:t>
            </a:r>
            <a:endParaRPr lang="en-US" sz="2800" dirty="0"/>
          </a:p>
        </p:txBody>
      </p:sp>
      <p:sp>
        <p:nvSpPr>
          <p:cNvPr id="3" name="Slide Number Placeholder 2"/>
          <p:cNvSpPr>
            <a:spLocks noGrp="1"/>
          </p:cNvSpPr>
          <p:nvPr>
            <p:ph type="sldNum" sz="quarter" idx="12"/>
          </p:nvPr>
        </p:nvSpPr>
        <p:spPr/>
        <p:txBody>
          <a:bodyPr/>
          <a:lstStyle/>
          <a:p>
            <a:fld id="{EA7D41E8-55CE-4D73-90D6-F936F71D14C1}" type="slidenum">
              <a:rPr lang="en-IN" smtClean="0"/>
              <a:pPr/>
              <a:t>31</a:t>
            </a:fld>
            <a:endParaRPr lang="en-IN"/>
          </a:p>
        </p:txBody>
      </p:sp>
      <p:pic>
        <p:nvPicPr>
          <p:cNvPr id="14338" name="Picture 2"/>
          <p:cNvPicPr>
            <a:picLocks noChangeAspect="1" noChangeArrowheads="1"/>
          </p:cNvPicPr>
          <p:nvPr/>
        </p:nvPicPr>
        <p:blipFill>
          <a:blip r:embed="rId2"/>
          <a:srcRect/>
          <a:stretch>
            <a:fillRect/>
          </a:stretch>
        </p:blipFill>
        <p:spPr bwMode="auto">
          <a:xfrm>
            <a:off x="428596" y="1352550"/>
            <a:ext cx="7358114" cy="5148284"/>
          </a:xfrm>
          <a:prstGeom prst="rect">
            <a:avLst/>
          </a:prstGeom>
          <a:noFill/>
          <a:ln w="9525">
            <a:noFill/>
            <a:miter lim="800000"/>
            <a:headEnd/>
            <a:tailEnd/>
          </a:ln>
          <a:effectLst/>
        </p:spPr>
      </p:pic>
    </p:spTree>
    <p:extLst>
      <p:ext uri="{BB962C8B-B14F-4D97-AF65-F5344CB8AC3E}">
        <p14:creationId xmlns:p14="http://schemas.microsoft.com/office/powerpoint/2010/main" val="18902668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Theorem: Language acceptance from empty stack to final state</a:t>
            </a:r>
            <a:endParaRPr lang="en-US" b="1" dirty="0"/>
          </a:p>
        </p:txBody>
      </p:sp>
      <p:sp>
        <p:nvSpPr>
          <p:cNvPr id="3" name="Slide Number Placeholder 2"/>
          <p:cNvSpPr>
            <a:spLocks noGrp="1"/>
          </p:cNvSpPr>
          <p:nvPr>
            <p:ph type="sldNum" sz="quarter" idx="12"/>
          </p:nvPr>
        </p:nvSpPr>
        <p:spPr/>
        <p:txBody>
          <a:bodyPr/>
          <a:lstStyle/>
          <a:p>
            <a:fld id="{EA7D41E8-55CE-4D73-90D6-F936F71D14C1}" type="slidenum">
              <a:rPr lang="en-IN" smtClean="0"/>
              <a:pPr/>
              <a:t>32</a:t>
            </a:fld>
            <a:endParaRPr lang="en-IN"/>
          </a:p>
        </p:txBody>
      </p:sp>
      <p:pic>
        <p:nvPicPr>
          <p:cNvPr id="15363" name="Picture 3"/>
          <p:cNvPicPr>
            <a:picLocks noChangeAspect="1" noChangeArrowheads="1"/>
          </p:cNvPicPr>
          <p:nvPr/>
        </p:nvPicPr>
        <p:blipFill>
          <a:blip r:embed="rId2"/>
          <a:srcRect/>
          <a:stretch>
            <a:fillRect/>
          </a:stretch>
        </p:blipFill>
        <p:spPr bwMode="auto">
          <a:xfrm>
            <a:off x="500034" y="1500174"/>
            <a:ext cx="7500990" cy="5000660"/>
          </a:xfrm>
          <a:prstGeom prst="rect">
            <a:avLst/>
          </a:prstGeom>
          <a:noFill/>
          <a:ln w="9525">
            <a:noFill/>
            <a:miter lim="800000"/>
            <a:headEnd/>
            <a:tailEnd/>
          </a:ln>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EA7D41E8-55CE-4D73-90D6-F936F71D14C1}" type="slidenum">
              <a:rPr lang="en-IN" smtClean="0"/>
              <a:pPr/>
              <a:t>33</a:t>
            </a:fld>
            <a:endParaRPr lang="en-IN"/>
          </a:p>
        </p:txBody>
      </p:sp>
      <p:pic>
        <p:nvPicPr>
          <p:cNvPr id="16386" name="Picture 2"/>
          <p:cNvPicPr>
            <a:picLocks noChangeAspect="1" noChangeArrowheads="1"/>
          </p:cNvPicPr>
          <p:nvPr/>
        </p:nvPicPr>
        <p:blipFill>
          <a:blip r:embed="rId2"/>
          <a:srcRect/>
          <a:stretch>
            <a:fillRect/>
          </a:stretch>
        </p:blipFill>
        <p:spPr bwMode="auto">
          <a:xfrm>
            <a:off x="357158" y="285728"/>
            <a:ext cx="7072362" cy="6000792"/>
          </a:xfrm>
          <a:prstGeom prst="rect">
            <a:avLst/>
          </a:prstGeom>
          <a:noFill/>
          <a:ln w="9525">
            <a:noFill/>
            <a:miter lim="800000"/>
            <a:headEnd/>
            <a:tailEnd/>
          </a:ln>
          <a:effec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Theorem: Language acceptance from final state to empty stack</a:t>
            </a:r>
          </a:p>
        </p:txBody>
      </p:sp>
      <p:sp>
        <p:nvSpPr>
          <p:cNvPr id="3" name="Slide Number Placeholder 2"/>
          <p:cNvSpPr>
            <a:spLocks noGrp="1"/>
          </p:cNvSpPr>
          <p:nvPr>
            <p:ph type="sldNum" sz="quarter" idx="12"/>
          </p:nvPr>
        </p:nvSpPr>
        <p:spPr/>
        <p:txBody>
          <a:bodyPr/>
          <a:lstStyle/>
          <a:p>
            <a:fld id="{EA7D41E8-55CE-4D73-90D6-F936F71D14C1}" type="slidenum">
              <a:rPr lang="en-IN" smtClean="0"/>
              <a:pPr/>
              <a:t>34</a:t>
            </a:fld>
            <a:endParaRPr lang="en-IN"/>
          </a:p>
        </p:txBody>
      </p:sp>
      <p:pic>
        <p:nvPicPr>
          <p:cNvPr id="17411" name="Picture 3"/>
          <p:cNvPicPr>
            <a:picLocks noChangeAspect="1" noChangeArrowheads="1"/>
          </p:cNvPicPr>
          <p:nvPr/>
        </p:nvPicPr>
        <p:blipFill>
          <a:blip r:embed="rId2"/>
          <a:srcRect/>
          <a:stretch>
            <a:fillRect/>
          </a:stretch>
        </p:blipFill>
        <p:spPr bwMode="auto">
          <a:xfrm>
            <a:off x="500034" y="1595438"/>
            <a:ext cx="7358114" cy="4619644"/>
          </a:xfrm>
          <a:prstGeom prst="rect">
            <a:avLst/>
          </a:prstGeom>
          <a:noFill/>
          <a:ln w="9525">
            <a:noFill/>
            <a:miter lim="800000"/>
            <a:headEnd/>
            <a:tailEnd/>
          </a:ln>
          <a:effec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EA7D41E8-55CE-4D73-90D6-F936F71D14C1}" type="slidenum">
              <a:rPr lang="en-IN" smtClean="0"/>
              <a:pPr/>
              <a:t>35</a:t>
            </a:fld>
            <a:endParaRPr lang="en-IN"/>
          </a:p>
        </p:txBody>
      </p:sp>
      <p:pic>
        <p:nvPicPr>
          <p:cNvPr id="18434" name="Picture 2"/>
          <p:cNvPicPr>
            <a:picLocks noChangeAspect="1" noChangeArrowheads="1"/>
          </p:cNvPicPr>
          <p:nvPr/>
        </p:nvPicPr>
        <p:blipFill>
          <a:blip r:embed="rId2"/>
          <a:srcRect/>
          <a:stretch>
            <a:fillRect/>
          </a:stretch>
        </p:blipFill>
        <p:spPr bwMode="auto">
          <a:xfrm>
            <a:off x="714348" y="500042"/>
            <a:ext cx="6786610" cy="5715040"/>
          </a:xfrm>
          <a:prstGeom prst="rect">
            <a:avLst/>
          </a:prstGeom>
          <a:noFill/>
          <a:ln w="9525">
            <a:noFill/>
            <a:miter lim="800000"/>
            <a:headEnd/>
            <a:tailEnd/>
          </a:ln>
          <a:effec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pPr/>
              <a:t>36</a:t>
            </a:fld>
            <a:endParaRPr lang="en-IN"/>
          </a:p>
        </p:txBody>
      </p:sp>
      <p:sp>
        <p:nvSpPr>
          <p:cNvPr id="3" name="TextBox 2"/>
          <p:cNvSpPr txBox="1"/>
          <p:nvPr/>
        </p:nvSpPr>
        <p:spPr>
          <a:xfrm>
            <a:off x="251520" y="107340"/>
            <a:ext cx="9852377" cy="646331"/>
          </a:xfrm>
          <a:prstGeom prst="rect">
            <a:avLst/>
          </a:prstGeom>
          <a:noFill/>
        </p:spPr>
        <p:txBody>
          <a:bodyPr wrap="square" rtlCol="0">
            <a:spAutoFit/>
          </a:bodyPr>
          <a:lstStyle/>
          <a:p>
            <a:r>
              <a:rPr lang="en-IN" b="1" dirty="0">
                <a:solidFill>
                  <a:srgbClr val="C00000"/>
                </a:solidFill>
                <a:effectLst>
                  <a:outerShdw blurRad="38100" dist="38100" dir="2700000" algn="tl">
                    <a:srgbClr val="000000">
                      <a:alpha val="43137"/>
                    </a:srgbClr>
                  </a:outerShdw>
                </a:effectLst>
              </a:rPr>
              <a:t>Example – 1</a:t>
            </a:r>
          </a:p>
          <a:p>
            <a:pPr lvl="0"/>
            <a:r>
              <a:rPr lang="en-US" dirty="0"/>
              <a:t>Construct a PDA for the language L = {a</a:t>
            </a:r>
            <a:r>
              <a:rPr lang="en-US" baseline="30000" dirty="0"/>
              <a:t>n</a:t>
            </a:r>
            <a:r>
              <a:rPr lang="en-US" dirty="0"/>
              <a:t>b</a:t>
            </a:r>
            <a:r>
              <a:rPr lang="en-US" baseline="30000" dirty="0"/>
              <a:t>2n</a:t>
            </a:r>
            <a:r>
              <a:rPr lang="en-US" dirty="0"/>
              <a:t>|n ≥ 0}</a:t>
            </a:r>
          </a:p>
        </p:txBody>
      </p:sp>
      <p:pic>
        <p:nvPicPr>
          <p:cNvPr id="19458" name="Picture 2"/>
          <p:cNvPicPr>
            <a:picLocks noChangeAspect="1" noChangeArrowheads="1"/>
          </p:cNvPicPr>
          <p:nvPr/>
        </p:nvPicPr>
        <p:blipFill>
          <a:blip r:embed="rId2"/>
          <a:srcRect/>
          <a:stretch>
            <a:fillRect/>
          </a:stretch>
        </p:blipFill>
        <p:spPr bwMode="auto">
          <a:xfrm>
            <a:off x="642910" y="1142984"/>
            <a:ext cx="6786610" cy="4500594"/>
          </a:xfrm>
          <a:prstGeom prst="rect">
            <a:avLst/>
          </a:prstGeom>
          <a:noFill/>
          <a:ln w="9525">
            <a:noFill/>
            <a:miter lim="800000"/>
            <a:headEnd/>
            <a:tailEnd/>
          </a:ln>
          <a:effectLst/>
        </p:spPr>
      </p:pic>
    </p:spTree>
    <p:extLst>
      <p:ext uri="{BB962C8B-B14F-4D97-AF65-F5344CB8AC3E}">
        <p14:creationId xmlns:p14="http://schemas.microsoft.com/office/powerpoint/2010/main" val="19757152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pPr/>
              <a:t>37</a:t>
            </a:fld>
            <a:endParaRPr lang="en-IN"/>
          </a:p>
        </p:txBody>
      </p:sp>
      <p:pic>
        <p:nvPicPr>
          <p:cNvPr id="20482" name="Picture 2"/>
          <p:cNvPicPr>
            <a:picLocks noChangeAspect="1" noChangeArrowheads="1"/>
          </p:cNvPicPr>
          <p:nvPr/>
        </p:nvPicPr>
        <p:blipFill>
          <a:blip r:embed="rId2"/>
          <a:srcRect/>
          <a:stretch>
            <a:fillRect/>
          </a:stretch>
        </p:blipFill>
        <p:spPr bwMode="auto">
          <a:xfrm>
            <a:off x="785786" y="500042"/>
            <a:ext cx="6572296" cy="5929354"/>
          </a:xfrm>
          <a:prstGeom prst="rect">
            <a:avLst/>
          </a:prstGeom>
          <a:noFill/>
          <a:ln w="9525">
            <a:noFill/>
            <a:miter lim="800000"/>
            <a:headEnd/>
            <a:tailEnd/>
          </a:ln>
          <a:effec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pPr/>
              <a:t>38</a:t>
            </a:fld>
            <a:endParaRPr lang="en-IN"/>
          </a:p>
        </p:txBody>
      </p:sp>
      <p:sp>
        <p:nvSpPr>
          <p:cNvPr id="3" name="TextBox 2"/>
          <p:cNvSpPr txBox="1"/>
          <p:nvPr/>
        </p:nvSpPr>
        <p:spPr>
          <a:xfrm>
            <a:off x="251520" y="107340"/>
            <a:ext cx="9852377" cy="646331"/>
          </a:xfrm>
          <a:prstGeom prst="rect">
            <a:avLst/>
          </a:prstGeom>
          <a:noFill/>
        </p:spPr>
        <p:txBody>
          <a:bodyPr wrap="square" rtlCol="0">
            <a:spAutoFit/>
          </a:bodyPr>
          <a:lstStyle/>
          <a:p>
            <a:r>
              <a:rPr lang="en-IN" b="1" dirty="0">
                <a:solidFill>
                  <a:srgbClr val="C00000"/>
                </a:solidFill>
                <a:effectLst>
                  <a:outerShdw blurRad="38100" dist="38100" dir="2700000" algn="tl">
                    <a:srgbClr val="000000">
                      <a:alpha val="43137"/>
                    </a:srgbClr>
                  </a:outerShdw>
                </a:effectLst>
              </a:rPr>
              <a:t>Example – 2</a:t>
            </a:r>
          </a:p>
          <a:p>
            <a:pPr lvl="0"/>
            <a:r>
              <a:rPr lang="en-US" dirty="0"/>
              <a:t>Construct a PDA accepting by empty stack for the language L ={</a:t>
            </a:r>
            <a:r>
              <a:rPr lang="en-US" dirty="0" err="1"/>
              <a:t>a</a:t>
            </a:r>
            <a:r>
              <a:rPr lang="en-US" baseline="30000" dirty="0" err="1"/>
              <a:t>m</a:t>
            </a:r>
            <a:r>
              <a:rPr lang="en-US" dirty="0" err="1"/>
              <a:t>b</a:t>
            </a:r>
            <a:r>
              <a:rPr lang="en-US" baseline="30000" dirty="0" err="1"/>
              <a:t>m</a:t>
            </a:r>
            <a:r>
              <a:rPr lang="en-US" dirty="0" err="1"/>
              <a:t>c</a:t>
            </a:r>
            <a:r>
              <a:rPr lang="en-US" baseline="30000" dirty="0" err="1"/>
              <a:t>n</a:t>
            </a:r>
            <a:r>
              <a:rPr lang="en-US" dirty="0"/>
              <a:t> |</a:t>
            </a:r>
            <a:r>
              <a:rPr lang="en-US" dirty="0" err="1"/>
              <a:t>m,n≥l</a:t>
            </a:r>
            <a:r>
              <a:rPr lang="en-US" dirty="0"/>
              <a:t>}</a:t>
            </a:r>
            <a:r>
              <a:rPr lang="en-US" i="1" dirty="0"/>
              <a:t>.</a:t>
            </a:r>
            <a:endParaRPr lang="en-US" dirty="0"/>
          </a:p>
        </p:txBody>
      </p:sp>
      <p:pic>
        <p:nvPicPr>
          <p:cNvPr id="21506" name="Picture 2"/>
          <p:cNvPicPr>
            <a:picLocks noChangeAspect="1" noChangeArrowheads="1"/>
          </p:cNvPicPr>
          <p:nvPr/>
        </p:nvPicPr>
        <p:blipFill>
          <a:blip r:embed="rId2"/>
          <a:srcRect/>
          <a:stretch>
            <a:fillRect/>
          </a:stretch>
        </p:blipFill>
        <p:spPr bwMode="auto">
          <a:xfrm>
            <a:off x="642910" y="1071546"/>
            <a:ext cx="6858048" cy="5143536"/>
          </a:xfrm>
          <a:prstGeom prst="rect">
            <a:avLst/>
          </a:prstGeom>
          <a:noFill/>
          <a:ln w="9525">
            <a:noFill/>
            <a:miter lim="800000"/>
            <a:headEnd/>
            <a:tailEnd/>
          </a:ln>
          <a:effectLst/>
        </p:spPr>
      </p:pic>
    </p:spTree>
    <p:extLst>
      <p:ext uri="{BB962C8B-B14F-4D97-AF65-F5344CB8AC3E}">
        <p14:creationId xmlns:p14="http://schemas.microsoft.com/office/powerpoint/2010/main" val="197571521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pPr/>
              <a:t>39</a:t>
            </a:fld>
            <a:endParaRPr lang="en-IN"/>
          </a:p>
        </p:txBody>
      </p:sp>
      <p:pic>
        <p:nvPicPr>
          <p:cNvPr id="22530" name="Picture 2"/>
          <p:cNvPicPr>
            <a:picLocks noChangeAspect="1" noChangeArrowheads="1"/>
          </p:cNvPicPr>
          <p:nvPr/>
        </p:nvPicPr>
        <p:blipFill>
          <a:blip r:embed="rId2"/>
          <a:srcRect/>
          <a:stretch>
            <a:fillRect/>
          </a:stretch>
        </p:blipFill>
        <p:spPr bwMode="auto">
          <a:xfrm>
            <a:off x="1142976" y="714356"/>
            <a:ext cx="6286544" cy="5643602"/>
          </a:xfrm>
          <a:prstGeom prst="rect">
            <a:avLst/>
          </a:prstGeom>
          <a:noFill/>
          <a:ln w="9525">
            <a:noFill/>
            <a:miter lim="800000"/>
            <a:headEnd/>
            <a:tailEnd/>
          </a:ln>
          <a:effec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pPr/>
              <a:t>40</a:t>
            </a:fld>
            <a:endParaRPr lang="en-IN"/>
          </a:p>
        </p:txBody>
      </p:sp>
      <p:sp>
        <p:nvSpPr>
          <p:cNvPr id="3" name="TextBox 2"/>
          <p:cNvSpPr txBox="1"/>
          <p:nvPr/>
        </p:nvSpPr>
        <p:spPr>
          <a:xfrm>
            <a:off x="251520" y="107340"/>
            <a:ext cx="9852377" cy="1200329"/>
          </a:xfrm>
          <a:prstGeom prst="rect">
            <a:avLst/>
          </a:prstGeom>
          <a:noFill/>
        </p:spPr>
        <p:txBody>
          <a:bodyPr wrap="square" rtlCol="0">
            <a:spAutoFit/>
          </a:bodyPr>
          <a:lstStyle/>
          <a:p>
            <a:r>
              <a:rPr lang="en-IN" b="1" dirty="0">
                <a:solidFill>
                  <a:srgbClr val="C00000"/>
                </a:solidFill>
                <a:effectLst>
                  <a:outerShdw blurRad="38100" dist="38100" dir="2700000" algn="tl">
                    <a:srgbClr val="000000">
                      <a:alpha val="43137"/>
                    </a:srgbClr>
                  </a:outerShdw>
                </a:effectLst>
              </a:rPr>
              <a:t>Example – 3</a:t>
            </a:r>
          </a:p>
          <a:p>
            <a:r>
              <a:rPr lang="en-US" dirty="0"/>
              <a:t>Construct a Pushdown automata to accept the language L = {</a:t>
            </a:r>
            <a:r>
              <a:rPr lang="en-US" dirty="0" err="1"/>
              <a:t>a</a:t>
            </a:r>
            <a:r>
              <a:rPr lang="en-US" baseline="30000" dirty="0" err="1"/>
              <a:t>n</a:t>
            </a:r>
            <a:r>
              <a:rPr lang="en-US" dirty="0" err="1"/>
              <a:t>b</a:t>
            </a:r>
            <a:r>
              <a:rPr lang="en-US" baseline="30000" dirty="0" err="1"/>
              <a:t>n</a:t>
            </a:r>
            <a:r>
              <a:rPr lang="en-US" dirty="0"/>
              <a:t> | n ≥ 1} </a:t>
            </a:r>
          </a:p>
          <a:p>
            <a:r>
              <a:rPr lang="en-US" dirty="0"/>
              <a:t>by empty stack and by final state.</a:t>
            </a:r>
            <a:endParaRPr lang="en-IN" b="1" dirty="0">
              <a:solidFill>
                <a:srgbClr val="C00000"/>
              </a:solidFill>
              <a:effectLst>
                <a:outerShdw blurRad="38100" dist="38100" dir="2700000" algn="tl">
                  <a:srgbClr val="000000">
                    <a:alpha val="43137"/>
                  </a:srgbClr>
                </a:outerShdw>
              </a:effectLst>
            </a:endParaRPr>
          </a:p>
          <a:p>
            <a:endParaRPr lang="en-IN" b="1" dirty="0">
              <a:solidFill>
                <a:srgbClr val="C00000"/>
              </a:solidFill>
              <a:effectLst>
                <a:outerShdw blurRad="38100" dist="38100" dir="2700000" algn="tl">
                  <a:srgbClr val="000000">
                    <a:alpha val="43137"/>
                  </a:srgbClr>
                </a:outerShdw>
              </a:effectLst>
            </a:endParaRPr>
          </a:p>
        </p:txBody>
      </p:sp>
      <p:pic>
        <p:nvPicPr>
          <p:cNvPr id="23554" name="Picture 2"/>
          <p:cNvPicPr>
            <a:picLocks noChangeAspect="1" noChangeArrowheads="1"/>
          </p:cNvPicPr>
          <p:nvPr/>
        </p:nvPicPr>
        <p:blipFill>
          <a:blip r:embed="rId2"/>
          <a:srcRect/>
          <a:stretch>
            <a:fillRect/>
          </a:stretch>
        </p:blipFill>
        <p:spPr bwMode="auto">
          <a:xfrm>
            <a:off x="428596" y="1357298"/>
            <a:ext cx="7143800" cy="4857784"/>
          </a:xfrm>
          <a:prstGeom prst="rect">
            <a:avLst/>
          </a:prstGeom>
          <a:noFill/>
          <a:ln w="9525">
            <a:noFill/>
            <a:miter lim="800000"/>
            <a:headEnd/>
            <a:tailEnd/>
          </a:ln>
          <a:effectLst/>
        </p:spPr>
      </p:pic>
    </p:spTree>
    <p:extLst>
      <p:ext uri="{BB962C8B-B14F-4D97-AF65-F5344CB8AC3E}">
        <p14:creationId xmlns:p14="http://schemas.microsoft.com/office/powerpoint/2010/main" val="19757152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pPr/>
              <a:t>41</a:t>
            </a:fld>
            <a:endParaRPr lang="en-IN"/>
          </a:p>
        </p:txBody>
      </p:sp>
      <p:pic>
        <p:nvPicPr>
          <p:cNvPr id="24578" name="Picture 2"/>
          <p:cNvPicPr>
            <a:picLocks noChangeAspect="1" noChangeArrowheads="1"/>
          </p:cNvPicPr>
          <p:nvPr/>
        </p:nvPicPr>
        <p:blipFill>
          <a:blip r:embed="rId2"/>
          <a:srcRect/>
          <a:stretch>
            <a:fillRect/>
          </a:stretch>
        </p:blipFill>
        <p:spPr bwMode="auto">
          <a:xfrm>
            <a:off x="785786" y="500042"/>
            <a:ext cx="6500858" cy="5857916"/>
          </a:xfrm>
          <a:prstGeom prst="rect">
            <a:avLst/>
          </a:prstGeom>
          <a:noFill/>
          <a:ln w="9525">
            <a:noFill/>
            <a:miter lim="800000"/>
            <a:headEnd/>
            <a:tailEnd/>
          </a:ln>
          <a:effec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pPr/>
              <a:t>42</a:t>
            </a:fld>
            <a:endParaRPr lang="en-IN"/>
          </a:p>
        </p:txBody>
      </p:sp>
      <p:sp>
        <p:nvSpPr>
          <p:cNvPr id="3" name="TextBox 2"/>
          <p:cNvSpPr txBox="1"/>
          <p:nvPr/>
        </p:nvSpPr>
        <p:spPr>
          <a:xfrm>
            <a:off x="251520" y="107340"/>
            <a:ext cx="9852377" cy="923330"/>
          </a:xfrm>
          <a:prstGeom prst="rect">
            <a:avLst/>
          </a:prstGeom>
          <a:noFill/>
        </p:spPr>
        <p:txBody>
          <a:bodyPr wrap="square" rtlCol="0">
            <a:spAutoFit/>
          </a:bodyPr>
          <a:lstStyle/>
          <a:p>
            <a:r>
              <a:rPr lang="en-IN" b="1" dirty="0">
                <a:solidFill>
                  <a:srgbClr val="C00000"/>
                </a:solidFill>
                <a:effectLst>
                  <a:outerShdw blurRad="38100" dist="38100" dir="2700000" algn="tl">
                    <a:srgbClr val="000000">
                      <a:alpha val="43137"/>
                    </a:srgbClr>
                  </a:outerShdw>
                </a:effectLst>
              </a:rPr>
              <a:t>Example – 4</a:t>
            </a:r>
          </a:p>
          <a:p>
            <a:pPr lvl="0"/>
            <a:r>
              <a:rPr lang="en-US" dirty="0"/>
              <a:t>Construct the PDA for the Language L= {</a:t>
            </a:r>
            <a:r>
              <a:rPr lang="en-US" dirty="0" err="1"/>
              <a:t>wcw</a:t>
            </a:r>
            <a:r>
              <a:rPr lang="en-US" baseline="30000" dirty="0" err="1"/>
              <a:t>R</a:t>
            </a:r>
            <a:r>
              <a:rPr lang="en-US" dirty="0"/>
              <a:t> |</a:t>
            </a:r>
            <a:r>
              <a:rPr lang="en-US" dirty="0" err="1"/>
              <a:t>wis</a:t>
            </a:r>
            <a:r>
              <a:rPr lang="en-US" dirty="0"/>
              <a:t> in (0+1)*} by empty stack.</a:t>
            </a:r>
          </a:p>
          <a:p>
            <a:endParaRPr lang="en-IN" b="1" dirty="0">
              <a:solidFill>
                <a:srgbClr val="C00000"/>
              </a:solidFill>
              <a:effectLst>
                <a:outerShdw blurRad="38100" dist="38100" dir="2700000" algn="tl">
                  <a:srgbClr val="000000">
                    <a:alpha val="43137"/>
                  </a:srgbClr>
                </a:outerShdw>
              </a:effectLst>
            </a:endParaRPr>
          </a:p>
        </p:txBody>
      </p:sp>
      <p:pic>
        <p:nvPicPr>
          <p:cNvPr id="25602" name="Picture 2"/>
          <p:cNvPicPr>
            <a:picLocks noChangeAspect="1" noChangeArrowheads="1"/>
          </p:cNvPicPr>
          <p:nvPr/>
        </p:nvPicPr>
        <p:blipFill>
          <a:blip r:embed="rId2"/>
          <a:srcRect/>
          <a:stretch>
            <a:fillRect/>
          </a:stretch>
        </p:blipFill>
        <p:spPr bwMode="auto">
          <a:xfrm>
            <a:off x="428596" y="1071546"/>
            <a:ext cx="7215238" cy="5072098"/>
          </a:xfrm>
          <a:prstGeom prst="rect">
            <a:avLst/>
          </a:prstGeom>
          <a:noFill/>
          <a:ln w="9525">
            <a:noFill/>
            <a:miter lim="800000"/>
            <a:headEnd/>
            <a:tailEnd/>
          </a:ln>
          <a:effectLst/>
        </p:spPr>
      </p:pic>
    </p:spTree>
    <p:extLst>
      <p:ext uri="{BB962C8B-B14F-4D97-AF65-F5344CB8AC3E}">
        <p14:creationId xmlns:p14="http://schemas.microsoft.com/office/powerpoint/2010/main" val="197571521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pPr/>
              <a:t>43</a:t>
            </a:fld>
            <a:endParaRPr lang="en-IN"/>
          </a:p>
        </p:txBody>
      </p:sp>
      <p:pic>
        <p:nvPicPr>
          <p:cNvPr id="26626" name="Picture 2"/>
          <p:cNvPicPr>
            <a:picLocks noChangeAspect="1" noChangeArrowheads="1"/>
          </p:cNvPicPr>
          <p:nvPr/>
        </p:nvPicPr>
        <p:blipFill>
          <a:blip r:embed="rId2"/>
          <a:srcRect/>
          <a:stretch>
            <a:fillRect/>
          </a:stretch>
        </p:blipFill>
        <p:spPr bwMode="auto">
          <a:xfrm>
            <a:off x="642910" y="285728"/>
            <a:ext cx="6286544" cy="6143668"/>
          </a:xfrm>
          <a:prstGeom prst="rect">
            <a:avLst/>
          </a:prstGeom>
          <a:noFill/>
          <a:ln w="9525">
            <a:noFill/>
            <a:miter lim="800000"/>
            <a:headEnd/>
            <a:tailEnd/>
          </a:ln>
          <a:effec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pPr/>
              <a:t>44</a:t>
            </a:fld>
            <a:endParaRPr lang="en-IN"/>
          </a:p>
        </p:txBody>
      </p:sp>
      <p:pic>
        <p:nvPicPr>
          <p:cNvPr id="27650" name="Picture 2"/>
          <p:cNvPicPr>
            <a:picLocks noChangeAspect="1" noChangeArrowheads="1"/>
          </p:cNvPicPr>
          <p:nvPr/>
        </p:nvPicPr>
        <p:blipFill>
          <a:blip r:embed="rId2"/>
          <a:srcRect/>
          <a:stretch>
            <a:fillRect/>
          </a:stretch>
        </p:blipFill>
        <p:spPr bwMode="auto">
          <a:xfrm>
            <a:off x="714348" y="428604"/>
            <a:ext cx="4714908" cy="5357850"/>
          </a:xfrm>
          <a:prstGeom prst="rect">
            <a:avLst/>
          </a:prstGeom>
          <a:noFill/>
          <a:ln w="9525">
            <a:noFill/>
            <a:miter lim="800000"/>
            <a:headEnd/>
            <a:tailEnd/>
          </a:ln>
          <a:effec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2276872"/>
            <a:ext cx="8568952" cy="854968"/>
          </a:xfrm>
        </p:spPr>
        <p:txBody>
          <a:bodyPr>
            <a:norm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n-IN"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PUMPING LEMMA FOR CFL</a:t>
            </a:r>
          </a:p>
        </p:txBody>
      </p:sp>
      <p:sp>
        <p:nvSpPr>
          <p:cNvPr id="3" name="Slide Number Placeholder 2"/>
          <p:cNvSpPr>
            <a:spLocks noGrp="1"/>
          </p:cNvSpPr>
          <p:nvPr>
            <p:ph type="sldNum" sz="quarter" idx="12"/>
          </p:nvPr>
        </p:nvSpPr>
        <p:spPr/>
        <p:txBody>
          <a:bodyPr/>
          <a:lstStyle/>
          <a:p>
            <a:fld id="{EA7D41E8-55CE-4D73-90D6-F936F71D14C1}" type="slidenum">
              <a:rPr lang="en-IN" smtClean="0"/>
              <a:pPr/>
              <a:t>45</a:t>
            </a:fld>
            <a:endParaRPr lang="en-IN"/>
          </a:p>
        </p:txBody>
      </p:sp>
    </p:spTree>
    <p:extLst>
      <p:ext uri="{BB962C8B-B14F-4D97-AF65-F5344CB8AC3E}">
        <p14:creationId xmlns:p14="http://schemas.microsoft.com/office/powerpoint/2010/main" val="323837246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Pumping lemma for CFL</a:t>
            </a:r>
          </a:p>
        </p:txBody>
      </p:sp>
      <p:sp>
        <p:nvSpPr>
          <p:cNvPr id="3" name="Content Placeholder 2"/>
          <p:cNvSpPr>
            <a:spLocks noGrp="1"/>
          </p:cNvSpPr>
          <p:nvPr>
            <p:ph idx="1"/>
          </p:nvPr>
        </p:nvSpPr>
        <p:spPr>
          <a:xfrm>
            <a:off x="457200" y="1600200"/>
            <a:ext cx="8186766" cy="4873752"/>
          </a:xfrm>
        </p:spPr>
        <p:txBody>
          <a:bodyPr>
            <a:normAutofit fontScale="92500" lnSpcReduction="10000"/>
          </a:bodyPr>
          <a:lstStyle/>
          <a:p>
            <a:r>
              <a:rPr lang="en-US" dirty="0"/>
              <a:t>Pumping lemma is used to prove that the given language is not context free. The pumping lemma for CFL is the same as that of pumping lemma for regular language. </a:t>
            </a:r>
          </a:p>
          <a:p>
            <a:r>
              <a:rPr lang="en-US" dirty="0"/>
              <a:t>The difference is in pumping lemma for CFL, breaking the strings Z = </a:t>
            </a:r>
            <a:r>
              <a:rPr lang="en-US" dirty="0" err="1"/>
              <a:t>pqrst</a:t>
            </a:r>
            <a:r>
              <a:rPr lang="en-US" dirty="0"/>
              <a:t> as five parts whereas in regular language, break the string as three parts Z = </a:t>
            </a:r>
            <a:r>
              <a:rPr lang="en-US" dirty="0" err="1"/>
              <a:t>uvw</a:t>
            </a:r>
            <a:r>
              <a:rPr lang="en-US" dirty="0"/>
              <a:t>.</a:t>
            </a:r>
          </a:p>
          <a:p>
            <a:r>
              <a:rPr lang="en-US" b="1" dirty="0"/>
              <a:t>Methods for proving the given language is not context free</a:t>
            </a:r>
            <a:endParaRPr lang="en-US" dirty="0"/>
          </a:p>
          <a:p>
            <a:pPr lvl="0"/>
            <a:r>
              <a:rPr lang="en-US" dirty="0"/>
              <a:t>Assume a given language ‘L’ as context free language.</a:t>
            </a:r>
          </a:p>
          <a:p>
            <a:pPr lvl="0"/>
            <a:r>
              <a:rPr lang="en-US" dirty="0"/>
              <a:t>Choose sufficiently a long string z from given language L.</a:t>
            </a:r>
          </a:p>
          <a:p>
            <a:pPr lvl="0"/>
            <a:r>
              <a:rPr lang="en-US" dirty="0"/>
              <a:t>Then the length of the string |Z| ≥ n.</a:t>
            </a:r>
          </a:p>
          <a:p>
            <a:pPr lvl="0"/>
            <a:r>
              <a:rPr lang="en-US" dirty="0"/>
              <a:t>Break the string as Z=</a:t>
            </a:r>
            <a:r>
              <a:rPr lang="en-US" dirty="0" err="1"/>
              <a:t>pqrst</a:t>
            </a:r>
            <a:r>
              <a:rPr lang="en-US" dirty="0"/>
              <a:t> and satisfy the two </a:t>
            </a:r>
            <a:r>
              <a:rPr lang="en-US" dirty="0" err="1"/>
              <a:t>Conditions.Theyare</a:t>
            </a:r>
            <a:r>
              <a:rPr lang="en-US" dirty="0"/>
              <a:t>,</a:t>
            </a:r>
          </a:p>
          <a:p>
            <a:pPr lvl="0"/>
            <a:r>
              <a:rPr lang="en-US" b="1" dirty="0"/>
              <a:t>|</a:t>
            </a:r>
            <a:r>
              <a:rPr lang="en-US" b="1" dirty="0" err="1"/>
              <a:t>qrs</a:t>
            </a:r>
            <a:r>
              <a:rPr lang="en-US" b="1" dirty="0"/>
              <a:t>| ≤ n</a:t>
            </a:r>
            <a:endParaRPr lang="en-US" dirty="0"/>
          </a:p>
          <a:p>
            <a:pPr lvl="0"/>
            <a:r>
              <a:rPr lang="en-US" b="1" dirty="0"/>
              <a:t>|</a:t>
            </a:r>
            <a:r>
              <a:rPr lang="en-US" b="1" dirty="0" err="1"/>
              <a:t>qs</a:t>
            </a:r>
            <a:r>
              <a:rPr lang="en-US" b="1" dirty="0"/>
              <a:t>| ≥1 or </a:t>
            </a:r>
            <a:r>
              <a:rPr lang="en-US" b="1" dirty="0" err="1"/>
              <a:t>qs</a:t>
            </a:r>
            <a:r>
              <a:rPr lang="en-US" b="1" dirty="0"/>
              <a:t> ≠ ε</a:t>
            </a:r>
            <a:endParaRPr lang="en-US" dirty="0"/>
          </a:p>
          <a:p>
            <a:pPr lvl="0"/>
            <a:r>
              <a:rPr lang="en-US" dirty="0"/>
              <a:t>Find a suitable value for </a:t>
            </a:r>
            <a:r>
              <a:rPr lang="en-US" dirty="0" err="1"/>
              <a:t>i</a:t>
            </a:r>
            <a:r>
              <a:rPr lang="en-US" dirty="0"/>
              <a:t>, so that </a:t>
            </a:r>
            <a:r>
              <a:rPr lang="en-US" dirty="0" err="1"/>
              <a:t>pq</a:t>
            </a:r>
            <a:r>
              <a:rPr lang="en-US" baseline="30000" dirty="0" err="1"/>
              <a:t>i</a:t>
            </a:r>
            <a:r>
              <a:rPr lang="en-US" dirty="0" err="1"/>
              <a:t>rs</a:t>
            </a:r>
            <a:r>
              <a:rPr lang="en-US" baseline="30000" dirty="0" err="1"/>
              <a:t>i</a:t>
            </a:r>
            <a:r>
              <a:rPr lang="en-US" dirty="0" err="1"/>
              <a:t>tis</a:t>
            </a:r>
            <a:r>
              <a:rPr lang="en-US" dirty="0"/>
              <a:t> not in ‘L’.</a:t>
            </a:r>
          </a:p>
          <a:p>
            <a:pPr lvl="0"/>
            <a:r>
              <a:rPr lang="en-US" dirty="0"/>
              <a:t>Hence, proved that the given language is not context free.</a:t>
            </a:r>
          </a:p>
          <a:p>
            <a:pPr algn="just"/>
            <a:endParaRPr lang="en-IN" dirty="0"/>
          </a:p>
        </p:txBody>
      </p:sp>
      <p:sp>
        <p:nvSpPr>
          <p:cNvPr id="4" name="Slide Number Placeholder 3"/>
          <p:cNvSpPr>
            <a:spLocks noGrp="1"/>
          </p:cNvSpPr>
          <p:nvPr>
            <p:ph type="sldNum" sz="quarter" idx="12"/>
          </p:nvPr>
        </p:nvSpPr>
        <p:spPr/>
        <p:txBody>
          <a:bodyPr/>
          <a:lstStyle/>
          <a:p>
            <a:fld id="{EA7D41E8-55CE-4D73-90D6-F936F71D14C1}" type="slidenum">
              <a:rPr lang="en-IN" smtClean="0"/>
              <a:pPr/>
              <a:t>46</a:t>
            </a:fld>
            <a:endParaRPr lang="en-IN"/>
          </a:p>
        </p:txBody>
      </p:sp>
    </p:spTree>
    <p:extLst>
      <p:ext uri="{BB962C8B-B14F-4D97-AF65-F5344CB8AC3E}">
        <p14:creationId xmlns:p14="http://schemas.microsoft.com/office/powerpoint/2010/main" val="272490044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Theorem: Pumping Lemma for CFL</a:t>
            </a:r>
            <a:endParaRPr lang="en-US" dirty="0"/>
          </a:p>
        </p:txBody>
      </p:sp>
      <p:sp>
        <p:nvSpPr>
          <p:cNvPr id="4" name="Slide Number Placeholder 3"/>
          <p:cNvSpPr>
            <a:spLocks noGrp="1"/>
          </p:cNvSpPr>
          <p:nvPr>
            <p:ph type="sldNum" sz="quarter" idx="12"/>
          </p:nvPr>
        </p:nvSpPr>
        <p:spPr/>
        <p:txBody>
          <a:bodyPr/>
          <a:lstStyle/>
          <a:p>
            <a:fld id="{EA7D41E8-55CE-4D73-90D6-F936F71D14C1}" type="slidenum">
              <a:rPr lang="en-IN" smtClean="0"/>
              <a:pPr/>
              <a:t>47</a:t>
            </a:fld>
            <a:endParaRPr lang="en-IN"/>
          </a:p>
        </p:txBody>
      </p:sp>
      <p:pic>
        <p:nvPicPr>
          <p:cNvPr id="28674" name="Picture 2"/>
          <p:cNvPicPr>
            <a:picLocks noChangeAspect="1" noChangeArrowheads="1"/>
          </p:cNvPicPr>
          <p:nvPr/>
        </p:nvPicPr>
        <p:blipFill>
          <a:blip r:embed="rId2"/>
          <a:srcRect/>
          <a:stretch>
            <a:fillRect/>
          </a:stretch>
        </p:blipFill>
        <p:spPr bwMode="auto">
          <a:xfrm>
            <a:off x="357158" y="1571612"/>
            <a:ext cx="7572428" cy="5000660"/>
          </a:xfrm>
          <a:prstGeom prst="rect">
            <a:avLst/>
          </a:prstGeom>
          <a:noFill/>
          <a:ln w="9525">
            <a:noFill/>
            <a:miter lim="800000"/>
            <a:headEnd/>
            <a:tailEnd/>
          </a:ln>
          <a:effec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A7D41E8-55CE-4D73-90D6-F936F71D14C1}" type="slidenum">
              <a:rPr lang="en-IN" smtClean="0"/>
              <a:pPr/>
              <a:t>48</a:t>
            </a:fld>
            <a:endParaRPr lang="en-IN"/>
          </a:p>
        </p:txBody>
      </p:sp>
      <p:pic>
        <p:nvPicPr>
          <p:cNvPr id="29698" name="Picture 2"/>
          <p:cNvPicPr>
            <a:picLocks noChangeAspect="1" noChangeArrowheads="1"/>
          </p:cNvPicPr>
          <p:nvPr/>
        </p:nvPicPr>
        <p:blipFill>
          <a:blip r:embed="rId2"/>
          <a:srcRect/>
          <a:stretch>
            <a:fillRect/>
          </a:stretch>
        </p:blipFill>
        <p:spPr bwMode="auto">
          <a:xfrm>
            <a:off x="500034" y="357166"/>
            <a:ext cx="7643866" cy="6143668"/>
          </a:xfrm>
          <a:prstGeom prst="rect">
            <a:avLst/>
          </a:prstGeom>
          <a:noFill/>
          <a:ln w="9525">
            <a:noFill/>
            <a:miter lim="800000"/>
            <a:headEnd/>
            <a:tailEnd/>
          </a:ln>
          <a:effec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pPr/>
              <a:t>49</a:t>
            </a:fld>
            <a:endParaRPr lang="en-IN"/>
          </a:p>
        </p:txBody>
      </p:sp>
      <p:sp>
        <p:nvSpPr>
          <p:cNvPr id="3" name="TextBox 2"/>
          <p:cNvSpPr txBox="1"/>
          <p:nvPr/>
        </p:nvSpPr>
        <p:spPr>
          <a:xfrm>
            <a:off x="251520" y="190442"/>
            <a:ext cx="1462260" cy="369332"/>
          </a:xfrm>
          <a:prstGeom prst="rect">
            <a:avLst/>
          </a:prstGeom>
          <a:solidFill>
            <a:srgbClr val="FFC000"/>
          </a:solidFill>
        </p:spPr>
        <p:txBody>
          <a:bodyPr wrap="none" rtlCol="0">
            <a:spAutoFit/>
          </a:bodyPr>
          <a:lstStyle/>
          <a:p>
            <a:r>
              <a:rPr lang="en-IN" dirty="0"/>
              <a:t>Example -1:</a:t>
            </a:r>
          </a:p>
        </p:txBody>
      </p:sp>
      <p:pic>
        <p:nvPicPr>
          <p:cNvPr id="30722" name="Picture 2"/>
          <p:cNvPicPr>
            <a:picLocks noChangeAspect="1" noChangeArrowheads="1"/>
          </p:cNvPicPr>
          <p:nvPr/>
        </p:nvPicPr>
        <p:blipFill>
          <a:blip r:embed="rId2"/>
          <a:srcRect/>
          <a:stretch>
            <a:fillRect/>
          </a:stretch>
        </p:blipFill>
        <p:spPr bwMode="auto">
          <a:xfrm>
            <a:off x="2143108" y="214290"/>
            <a:ext cx="5000660" cy="500066"/>
          </a:xfrm>
          <a:prstGeom prst="rect">
            <a:avLst/>
          </a:prstGeom>
          <a:noFill/>
          <a:ln w="9525">
            <a:noFill/>
            <a:miter lim="800000"/>
            <a:headEnd/>
            <a:tailEnd/>
          </a:ln>
          <a:effectLst/>
        </p:spPr>
      </p:pic>
      <p:pic>
        <p:nvPicPr>
          <p:cNvPr id="30723" name="Picture 3"/>
          <p:cNvPicPr>
            <a:picLocks noChangeAspect="1" noChangeArrowheads="1"/>
          </p:cNvPicPr>
          <p:nvPr/>
        </p:nvPicPr>
        <p:blipFill>
          <a:blip r:embed="rId3"/>
          <a:srcRect/>
          <a:stretch>
            <a:fillRect/>
          </a:stretch>
        </p:blipFill>
        <p:spPr bwMode="auto">
          <a:xfrm>
            <a:off x="571472" y="857232"/>
            <a:ext cx="7500990" cy="5214974"/>
          </a:xfrm>
          <a:prstGeom prst="rect">
            <a:avLst/>
          </a:prstGeom>
          <a:noFill/>
          <a:ln w="9525">
            <a:noFill/>
            <a:miter lim="800000"/>
            <a:headEnd/>
            <a:tailEnd/>
          </a:ln>
          <a:effectLst/>
        </p:spPr>
      </p:pic>
    </p:spTree>
    <p:extLst>
      <p:ext uri="{BB962C8B-B14F-4D97-AF65-F5344CB8AC3E}">
        <p14:creationId xmlns:p14="http://schemas.microsoft.com/office/powerpoint/2010/main" val="4954177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2172</TotalTime>
  <Words>1263</Words>
  <Application>Microsoft Office PowerPoint</Application>
  <PresentationFormat>On-screen Show (4:3)</PresentationFormat>
  <Paragraphs>198</Paragraphs>
  <Slides>49</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49</vt:i4>
      </vt:variant>
    </vt:vector>
  </HeadingPairs>
  <TitlesOfParts>
    <vt:vector size="60" baseType="lpstr">
      <vt:lpstr>PMingLiU</vt:lpstr>
      <vt:lpstr>Aptos</vt:lpstr>
      <vt:lpstr>Aptos Display</vt:lpstr>
      <vt:lpstr>Arial</vt:lpstr>
      <vt:lpstr>Calibri</vt:lpstr>
      <vt:lpstr>Garamond</vt:lpstr>
      <vt:lpstr>Gill Sans MT</vt:lpstr>
      <vt:lpstr>Symbol</vt:lpstr>
      <vt:lpstr>Times New Roman</vt:lpstr>
      <vt:lpstr>Wingdings</vt:lpstr>
      <vt:lpstr>Office Theme</vt:lpstr>
      <vt:lpstr> THEORY OF COMPUTATION</vt:lpstr>
      <vt:lpstr>UNIT III:  GRAMMARS AND PUSH DOWN AUTOMATA </vt:lpstr>
      <vt:lpstr>Context-free Grammars</vt:lpstr>
      <vt:lpstr>Shorthand notation for productions</vt:lpstr>
      <vt:lpstr>PowerPoint Presentation</vt:lpstr>
      <vt:lpstr>PowerPoint Presentation</vt:lpstr>
      <vt:lpstr>PowerPoint Presentation</vt:lpstr>
      <vt:lpstr>Relationship between derivation (Leftmost and Rightmost) and derivation trees   Theorem  Let G = (V, T, P, S) be a context free grammar. Then S=&gt;α if and only if there is a derivation tree in grammar G which gives the string α. </vt:lpstr>
      <vt:lpstr>PowerPoint Presentation</vt:lpstr>
      <vt:lpstr>PowerPoint Presentation</vt:lpstr>
      <vt:lpstr>PowerPoint Presentation</vt:lpstr>
      <vt:lpstr>PowerPoint Presentation</vt:lpstr>
      <vt:lpstr>PowerPoint Presentation</vt:lpstr>
      <vt:lpstr>PowerPoint Presentation</vt:lpstr>
      <vt:lpstr>Ambiguity</vt:lpstr>
      <vt:lpstr>PowerPoint Presentation</vt:lpstr>
      <vt:lpstr>PowerPoint Presentation</vt:lpstr>
      <vt:lpstr>Normal Forms </vt:lpstr>
      <vt:lpstr>PowerPoint Presentation</vt:lpstr>
      <vt:lpstr>PowerPoint Presentation</vt:lpstr>
      <vt:lpstr>PowerPoint Presentation</vt:lpstr>
      <vt:lpstr>PowerPoint Presentation</vt:lpstr>
      <vt:lpstr>Normal Forms </vt:lpstr>
      <vt:lpstr>PowerPoint Presentation</vt:lpstr>
      <vt:lpstr>PowerPoint Presentation</vt:lpstr>
      <vt:lpstr>PowerPoint Presentation</vt:lpstr>
      <vt:lpstr>PowerPoint Presentation</vt:lpstr>
      <vt:lpstr>PowerPoint Presentation</vt:lpstr>
      <vt:lpstr>Pushdown automata (Block diagram)</vt:lpstr>
      <vt:lpstr>Formal definition of pda </vt:lpstr>
      <vt:lpstr>Instantaneous Descriptions of PDA</vt:lpstr>
      <vt:lpstr>Theorem: Language acceptance from empty stack to final state</vt:lpstr>
      <vt:lpstr>PowerPoint Presentation</vt:lpstr>
      <vt:lpstr>Theorem: Language acceptance from final state to empty stack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PUMPING LEMMA FOR CFL</vt:lpstr>
      <vt:lpstr>Pumping lemma for CFL</vt:lpstr>
      <vt:lpstr>Theorem: Pumping Lemma for CFL</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20BT31201 SOFTWARE ENGINEERING</dc:title>
  <dc:creator>ADMIN</dc:creator>
  <cp:lastModifiedBy>Sundareswaran R</cp:lastModifiedBy>
  <cp:revision>214</cp:revision>
  <dcterms:created xsi:type="dcterms:W3CDTF">2021-10-25T04:28:44Z</dcterms:created>
  <dcterms:modified xsi:type="dcterms:W3CDTF">2026-06-22T04:30:15Z</dcterms:modified>
</cp:coreProperties>
</file>