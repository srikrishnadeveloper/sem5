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40"/>
  </p:notesMasterIdLst>
  <p:sldIdLst>
    <p:sldId id="256" r:id="rId2"/>
    <p:sldId id="260" r:id="rId3"/>
    <p:sldId id="261" r:id="rId4"/>
    <p:sldId id="262" r:id="rId5"/>
    <p:sldId id="381" r:id="rId6"/>
    <p:sldId id="382" r:id="rId7"/>
    <p:sldId id="383" r:id="rId8"/>
    <p:sldId id="384" r:id="rId9"/>
    <p:sldId id="385" r:id="rId10"/>
    <p:sldId id="386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2" r:id="rId25"/>
    <p:sldId id="403" r:id="rId26"/>
    <p:sldId id="405" r:id="rId27"/>
    <p:sldId id="406" r:id="rId28"/>
    <p:sldId id="407" r:id="rId29"/>
    <p:sldId id="408" r:id="rId30"/>
    <p:sldId id="415" r:id="rId31"/>
    <p:sldId id="413" r:id="rId32"/>
    <p:sldId id="416" r:id="rId33"/>
    <p:sldId id="417" r:id="rId34"/>
    <p:sldId id="418" r:id="rId35"/>
    <p:sldId id="420" r:id="rId36"/>
    <p:sldId id="421" r:id="rId37"/>
    <p:sldId id="422" r:id="rId38"/>
    <p:sldId id="42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1188" y="44"/>
      </p:cViewPr>
      <p:guideLst>
        <p:guide orient="horz" pos="212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17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CC087-3CFB-4292-B39B-2C7C3871F070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1DCEE-A665-4B38-A0CD-88200CA0D81F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A0D1-266A-62D7-B21C-785A685006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61B6B-4322-6825-D834-FC4FE6509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68ACC-5C8C-968F-519E-A19BBD89E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7C06-38D9-4F75-9208-B2987A3C9070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491F1-4E82-9EA3-46FC-51285F6F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839EB-5D36-0E31-371B-FCD744AAF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369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FDDD-D9E2-7A17-98E7-56592E7ED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1541D-0CE4-0A54-CC89-334892E0C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CED5-C77B-D5E2-2103-CD178EB43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752C-DA30-4E88-89A3-1BC4A9424115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631CF-1D15-0C5E-4B28-3B4146BD5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971E-305D-4373-2174-C2DC0D291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70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9C58-3CC7-FA3E-99FC-D7E63C9C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1D0F-0ED1-6B1B-DD23-A4B2953E21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08328-067B-6DC9-6305-080A9BA8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4C4B-885A-458B-B688-361BB5DCEE2E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CD422-21AC-3371-9480-CB75FE630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8BEA1-78BA-A8FC-3149-B35D1743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1131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EFC5-6768-04B8-C868-7712ECDD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A1ABF-53A1-4122-B6A5-4C89BC803C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7D432-3CD9-D31D-B660-97917F8D1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DA2C3-9F50-8ED4-2225-9CAAD5D3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13F5-0CB9-4B06-A871-EFAD2F01D288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666A05-7288-28F8-201C-2FB5BB91C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63F06-486B-20DE-2DC3-916631C3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078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7272-ED9C-F65E-F9E9-A550E0BC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9D19C-3A68-9A74-E157-F7008F24E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D540C-A125-5559-2B56-594AB24DA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B46039-C953-78E7-76EE-386F156FC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3EA80E-422E-3C50-3297-22719D6A9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D22A1-B99C-E6EF-AF5F-6D60F4EE6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3666-9478-42CD-B2D5-848925466127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F11EB-22EB-EF34-9155-C0605D55C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988F-4293-8746-044B-F07C2033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9472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3858-52B4-12A3-5438-CD24E98D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9D0A7E-5723-6969-D78B-AED53DAA4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72AE-3102-4E05-A16E-35DED36A8E30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2BECD2-7323-54F1-98BC-9113744C8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FDF90-4AC0-BBAB-042E-2967E1B5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26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430C89-B51E-C008-D07A-6E5FCEE1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3DCD-E40D-4508-B82E-E448100CC6FB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3CCD8C-16C1-30AA-B67C-97513C506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4FF1B-AA7A-E700-0946-1F12B15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09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0AE2E-8CB6-5109-D554-ABB3D65B2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ACAAE-AFDB-3AB7-4E59-3B57A0290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6F18A-7D40-6ACA-2A70-1BE9C8FA3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4FD97-CE74-3BF9-A0E9-F9391BA9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E229-97E1-4CB0-B8D5-A3FFB3F431F3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87203-71C3-EB11-86D4-E254F6D37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C35AF-6F71-B4FE-212C-733F1FE0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198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B525-FFDA-3231-EFAF-3172F48BB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286DDB-3AF0-FEC4-3955-B97D8750DE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A55DC6-1E46-4B7A-A537-B21B181E8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FBC33-31D9-5E61-86B8-75F06643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5B7C-28E8-46DC-94A6-355B64A9A69A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268904-D30A-95C3-6C14-4156B2FC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F57C7-812F-BF87-D82C-780A8BEE9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335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ABF5-8B4A-E506-8B95-886625EA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F141A-BC47-1032-28D4-D45572A9E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EA124-088C-C90C-EDB6-CB898FF9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E314-4B9A-4B44-8AD8-F63C9FF7B1F6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EB8B-75D7-104F-76ED-7E3847A0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5810-609F-248C-97F8-B5F4CB9C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2189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B03912-9E07-1B2C-F5DF-3E5E56835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E451E-25BB-05D2-5464-3AA208B54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2A929-EA23-2696-04D7-9CCFDCF09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6619D-1235-4D0E-86F6-58F07B3A79A7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F0ACC-7F56-51CF-D85A-F2CE8A5B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17702-4C33-A684-64A7-0C64DEBA5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4195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5A516-EF1B-EF76-96FC-53062F21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9D436-4D3F-1F6E-C94D-36DB8D441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BFCCF-7EC1-17C9-A470-9C4E59AF41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AF841-8C5B-417B-A003-F89AB034564D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0E9A4-B556-1664-BA0A-FA86F84FC6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D7027-68F0-FFC8-80D4-4C59E7270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D41E8-55CE-4D73-90D6-F936F71D14C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845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IN" dirty="0"/>
              <a:t>THEORY OF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UNIT IV: </a:t>
            </a:r>
            <a:br>
              <a:rPr lang="en-IN" sz="2400" b="1" dirty="0"/>
            </a:br>
            <a:r>
              <a:rPr lang="en-IN" sz="2800" dirty="0"/>
              <a:t>Turing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 of Turing Machine </a:t>
            </a:r>
          </a:p>
          <a:p>
            <a:r>
              <a:rPr lang="en-US" dirty="0"/>
              <a:t>Church-Turing Thesis</a:t>
            </a:r>
          </a:p>
          <a:p>
            <a:r>
              <a:rPr lang="en-US" dirty="0"/>
              <a:t>Programming Techniques for Turing Machine Construction </a:t>
            </a:r>
          </a:p>
          <a:p>
            <a:r>
              <a:rPr lang="en-US" dirty="0"/>
              <a:t>Modifications of the Basic Turing Machine Model</a:t>
            </a:r>
          </a:p>
          <a:p>
            <a:pPr lvl="1"/>
            <a:r>
              <a:rPr lang="en-US" dirty="0"/>
              <a:t>Multi Tape</a:t>
            </a:r>
          </a:p>
          <a:p>
            <a:pPr lvl="1"/>
            <a:r>
              <a:rPr lang="en-US" dirty="0" err="1"/>
              <a:t>Multihead</a:t>
            </a:r>
            <a:endParaRPr lang="en-US" dirty="0"/>
          </a:p>
          <a:p>
            <a:pPr lvl="1"/>
            <a:r>
              <a:rPr lang="en-US" dirty="0"/>
              <a:t>Non-deterministic Turing Machines</a:t>
            </a:r>
          </a:p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</a:p>
          <a:p>
            <a:r>
              <a:rPr lang="en-US" dirty="0"/>
              <a:t>Problems in Turing Machine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Turing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r>
              <a:rPr lang="en-US" sz="2800" dirty="0"/>
              <a:t>Turing machine can solve any problem that a modern computer can </a:t>
            </a:r>
            <a:r>
              <a:rPr lang="en-US" sz="2800" dirty="0" err="1"/>
              <a:t>solve.The</a:t>
            </a:r>
            <a:r>
              <a:rPr lang="en-US" sz="2800" dirty="0"/>
              <a:t> Turing machine can be formally defined as follows,</a:t>
            </a:r>
          </a:p>
          <a:p>
            <a:r>
              <a:rPr lang="en-US" sz="2800" b="1" dirty="0"/>
              <a:t>M= (Q, ∑, Γ, δ, q</a:t>
            </a:r>
            <a:r>
              <a:rPr lang="en-US" sz="2800" b="1" baseline="-25000" dirty="0"/>
              <a:t>0</a:t>
            </a:r>
            <a:r>
              <a:rPr lang="en-US" sz="2800" b="1" dirty="0"/>
              <a:t>, ∆ or B, F)</a:t>
            </a:r>
            <a:endParaRPr lang="en-US" sz="2800" dirty="0"/>
          </a:p>
          <a:p>
            <a:r>
              <a:rPr lang="en-US" dirty="0"/>
              <a:t>Q- Finite set of states</a:t>
            </a:r>
            <a:endParaRPr lang="en-US" sz="2000" dirty="0"/>
          </a:p>
          <a:p>
            <a:r>
              <a:rPr lang="en-US" dirty="0"/>
              <a:t>∑- Finite set of input alphabets</a:t>
            </a:r>
            <a:endParaRPr lang="en-US" sz="2000" dirty="0"/>
          </a:p>
          <a:p>
            <a:r>
              <a:rPr lang="en-US" dirty="0"/>
              <a:t>Γ- Set of all tape symbols or External symbols</a:t>
            </a:r>
            <a:endParaRPr lang="en-US" sz="2000" dirty="0"/>
          </a:p>
          <a:p>
            <a:r>
              <a:rPr lang="en-US" dirty="0"/>
              <a:t>δ - Transition function</a:t>
            </a:r>
            <a:endParaRPr lang="en-US" sz="2000" dirty="0"/>
          </a:p>
          <a:p>
            <a:r>
              <a:rPr lang="en-US" dirty="0"/>
              <a:t>q</a:t>
            </a:r>
            <a:r>
              <a:rPr lang="en-US" baseline="-25000" dirty="0"/>
              <a:t>0</a:t>
            </a:r>
            <a:r>
              <a:rPr lang="en-US" dirty="0"/>
              <a:t>-Starting state</a:t>
            </a:r>
            <a:endParaRPr lang="en-US" sz="2000" dirty="0"/>
          </a:p>
          <a:p>
            <a:r>
              <a:rPr lang="en-US" dirty="0"/>
              <a:t>∆- Blank symbol or End marker</a:t>
            </a:r>
          </a:p>
          <a:p>
            <a:r>
              <a:rPr lang="en-US" sz="2000" dirty="0"/>
              <a:t>F- Set of final or accepting states</a:t>
            </a:r>
          </a:p>
          <a:p>
            <a:endParaRPr lang="en-US" sz="2000" dirty="0"/>
          </a:p>
          <a:p>
            <a:pPr algn="just"/>
            <a:endParaRPr lang="en-IN" sz="2000" dirty="0"/>
          </a:p>
          <a:p>
            <a:pPr algn="just"/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Church-Turing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mechanical computation can be performed by a Turing Machine</a:t>
            </a:r>
          </a:p>
          <a:p>
            <a:r>
              <a:rPr lang="en-US" dirty="0"/>
              <a:t>There is a TM-</a:t>
            </a:r>
            <a:r>
              <a:rPr lang="en-US" i="1" dirty="0"/>
              <a:t>n </a:t>
            </a:r>
            <a:r>
              <a:rPr lang="en-US" dirty="0"/>
              <a:t>corresponding to every computable problem</a:t>
            </a:r>
            <a:endParaRPr lang="en-US" i="1" dirty="0"/>
          </a:p>
          <a:p>
            <a:r>
              <a:rPr lang="en-US" dirty="0"/>
              <a:t>We can model any mechanical computer with a TM</a:t>
            </a:r>
          </a:p>
          <a:p>
            <a:r>
              <a:rPr lang="en-US" dirty="0"/>
              <a:t>The set of languages that can be decided by a TM is identical to the set of languages that can be decided by any mechanical computing machine</a:t>
            </a:r>
          </a:p>
          <a:p>
            <a:r>
              <a:rPr lang="en-US" dirty="0"/>
              <a:t>If there is no TM that decides problem P, there is no algorithm that solves problem 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4</a:t>
            </a:fld>
            <a:endParaRPr lang="en-IN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85720" y="6215082"/>
            <a:ext cx="8008938" cy="488950"/>
          </a:xfrm>
          <a:prstGeom prst="rect">
            <a:avLst/>
          </a:prstGeom>
          <a:noFill/>
          <a:ln w="31750">
            <a:solidFill>
              <a:srgbClr val="003366"/>
            </a:solidFill>
            <a:miter lim="800000"/>
          </a:ln>
        </p:spPr>
        <p:txBody>
          <a:bodyPr wrap="none">
            <a:spAutoFit/>
          </a:bodyPr>
          <a:lstStyle/>
          <a:p>
            <a:r>
              <a:rPr lang="en-US" dirty="0"/>
              <a:t>All of these statements are implied by the Church-Turing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Techniques for Turing Machine Construction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15262" cy="4873752"/>
          </a:xfrm>
        </p:spPr>
        <p:txBody>
          <a:bodyPr>
            <a:normAutofit/>
          </a:bodyPr>
          <a:lstStyle/>
          <a:p>
            <a:r>
              <a:rPr lang="en-US" dirty="0"/>
              <a:t>These are the four different techniques used to construct an efficient Turing machine which functions as powerful as conventional computer.</a:t>
            </a:r>
          </a:p>
          <a:p>
            <a:pPr>
              <a:buNone/>
            </a:pPr>
            <a:endParaRPr lang="en-US" dirty="0"/>
          </a:p>
          <a:p>
            <a:pPr lvl="0"/>
            <a:r>
              <a:rPr lang="en-US" dirty="0"/>
              <a:t>Storage in the state</a:t>
            </a:r>
          </a:p>
          <a:p>
            <a:pPr lvl="0"/>
            <a:r>
              <a:rPr lang="en-US" dirty="0"/>
              <a:t>Multiple tracks</a:t>
            </a:r>
          </a:p>
          <a:p>
            <a:pPr lvl="0"/>
            <a:r>
              <a:rPr lang="en-US" dirty="0"/>
              <a:t>Subroutines</a:t>
            </a:r>
          </a:p>
          <a:p>
            <a:pPr lvl="0"/>
            <a:r>
              <a:rPr lang="en-US" dirty="0"/>
              <a:t>Checking of symbols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58138" cy="1143000"/>
          </a:xfrm>
        </p:spPr>
        <p:txBody>
          <a:bodyPr>
            <a:normAutofit/>
          </a:bodyPr>
          <a:lstStyle/>
          <a:p>
            <a:r>
              <a:rPr lang="en-US" sz="2800" b="1" dirty="0"/>
              <a:t>Storage in the state or finite control</a:t>
            </a:r>
            <a:endParaRPr lang="en-US" sz="28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43050"/>
            <a:ext cx="7467600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58138" cy="1143000"/>
          </a:xfrm>
        </p:spPr>
        <p:txBody>
          <a:bodyPr>
            <a:normAutofit/>
          </a:bodyPr>
          <a:lstStyle/>
          <a:p>
            <a:r>
              <a:rPr lang="en-US" sz="2800" b="1" dirty="0"/>
              <a:t>Multiple tracks 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7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7858180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Subroutines</a:t>
            </a:r>
            <a:endParaRPr lang="en-US" sz="2800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tasks need to be performed repeatedly which can be done using subroutines. </a:t>
            </a:r>
          </a:p>
          <a:p>
            <a:r>
              <a:rPr lang="en-US" dirty="0"/>
              <a:t>The subroutines are also called as function.</a:t>
            </a:r>
          </a:p>
          <a:p>
            <a:r>
              <a:rPr lang="en-US" dirty="0"/>
              <a:t>The set of states in the subroutine has one start state and another state namely the return state.</a:t>
            </a:r>
          </a:p>
          <a:p>
            <a:r>
              <a:rPr lang="en-US" dirty="0"/>
              <a:t>The subroutines of the Turing machine perform some task simultaneously.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Checking of symbols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checking of symbols is an effective way of recognizing the language by Turing machine. The Turing machine can be extended by using checking off symbols. </a:t>
            </a:r>
          </a:p>
          <a:p>
            <a:r>
              <a:rPr lang="en-US" dirty="0"/>
              <a:t>The input symbol is placed in the input tape and the tape head is moved either left or right. </a:t>
            </a:r>
          </a:p>
          <a:p>
            <a:r>
              <a:rPr lang="en-US" dirty="0"/>
              <a:t>The symbol which is read is marked by special character.</a:t>
            </a:r>
          </a:p>
          <a:p>
            <a:r>
              <a:rPr lang="en-US" dirty="0"/>
              <a:t>This method is used by the Turing machine for the languages that contains the repeated strings and to compare the length of the two strings.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Modifications of the Basic Turing Machine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Tape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01014" cy="4873752"/>
          </a:xfrm>
        </p:spPr>
        <p:txBody>
          <a:bodyPr>
            <a:normAutofit/>
          </a:bodyPr>
          <a:lstStyle/>
          <a:p>
            <a:r>
              <a:rPr lang="en-US" dirty="0"/>
              <a:t>The Multi-tape Turing machine has a finite control state and finite number of tapes. Each tape in the multi-tape Turing machine is divided into cells and each cell can hold any symbol.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 lvl="0"/>
            <a:r>
              <a:rPr lang="en-US" dirty="0"/>
              <a:t>The finite sequence of input symbols is placed on the input tape.</a:t>
            </a:r>
          </a:p>
          <a:p>
            <a:pPr lvl="0"/>
            <a:r>
              <a:rPr lang="en-US" dirty="0"/>
              <a:t>All other cells of all the tapes hold blank symbols.</a:t>
            </a:r>
          </a:p>
          <a:p>
            <a:pPr lvl="0"/>
            <a:r>
              <a:rPr lang="en-US" dirty="0"/>
              <a:t>The finite control is in the initial state and the control head of the first tape is at the left end of the input.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Tape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285860"/>
            <a:ext cx="8715436" cy="51880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The moves of Multi-tape Turing machine depend on the following factors.</a:t>
            </a:r>
          </a:p>
          <a:p>
            <a:pPr lvl="0"/>
            <a:r>
              <a:rPr lang="en-US" dirty="0"/>
              <a:t>State of the finite control</a:t>
            </a:r>
          </a:p>
          <a:p>
            <a:pPr lvl="0"/>
            <a:r>
              <a:rPr lang="en-US" dirty="0"/>
              <a:t>Symbol scanned by each tape head</a:t>
            </a:r>
          </a:p>
          <a:p>
            <a:pPr lvl="0"/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12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071810"/>
            <a:ext cx="7153303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96908"/>
          </a:xfrm>
        </p:spPr>
        <p:txBody>
          <a:bodyPr>
            <a:normAutofit fontScale="90000"/>
          </a:bodyPr>
          <a:lstStyle/>
          <a:p>
            <a:r>
              <a:rPr lang="en-US" dirty="0"/>
              <a:t>Multi Head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071546"/>
            <a:ext cx="7901014" cy="5357850"/>
          </a:xfrm>
        </p:spPr>
        <p:txBody>
          <a:bodyPr>
            <a:normAutofit/>
          </a:bodyPr>
          <a:lstStyle/>
          <a:p>
            <a:r>
              <a:rPr lang="en-US" dirty="0"/>
              <a:t>A Multi-head Turing machine is a single tape TM having N heads reading symbols on the same tape.</a:t>
            </a:r>
          </a:p>
          <a:p>
            <a:pPr>
              <a:buNone/>
            </a:pPr>
            <a:endParaRPr lang="en-US" dirty="0"/>
          </a:p>
          <a:p>
            <a:pPr lvl="0"/>
            <a:r>
              <a:rPr lang="en-US" dirty="0"/>
              <a:t>In one steps all the heads sense the scanned symbols and move or write independently.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In one move the heads may move left, right or remain stationary.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13</a:t>
            </a:fld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head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285860"/>
            <a:ext cx="8715436" cy="5188092"/>
          </a:xfrm>
        </p:spPr>
        <p:txBody>
          <a:bodyPr>
            <a:normAutofit/>
          </a:bodyPr>
          <a:lstStyle/>
          <a:p>
            <a:pPr lvl="0"/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14</a:t>
            </a:fld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643050"/>
            <a:ext cx="5214973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deterministic  Turing machine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901014" cy="4873752"/>
          </a:xfrm>
        </p:spPr>
        <p:txBody>
          <a:bodyPr>
            <a:normAutofit/>
          </a:bodyPr>
          <a:lstStyle/>
          <a:p>
            <a:r>
              <a:rPr lang="en-US" dirty="0"/>
              <a:t>It is similar to deterministic Turing machine except that for any input symbol and current state it has number of choices.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string is accepted by a Non deterministic Turing machine If there is a sequences of moves that heads to a final state.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16</a:t>
            </a:fld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3839" y="1195388"/>
            <a:ext cx="8277252" cy="4948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  <a:br>
              <a:rPr lang="en-I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17</a:t>
            </a:fld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1" y="1385888"/>
            <a:ext cx="7296178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18</a:t>
            </a:fld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00250"/>
            <a:ext cx="8229600" cy="3857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19</a:t>
            </a:fld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9" y="1514474"/>
            <a:ext cx="8105802" cy="4129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20</a:t>
            </a:fld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3" y="1409700"/>
            <a:ext cx="8715375" cy="4305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Chomskian</a:t>
            </a:r>
            <a:r>
              <a:rPr lang="en-US" dirty="0"/>
              <a:t> hierarchy of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21</a:t>
            </a:fld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" y="1857364"/>
            <a:ext cx="81534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15" y="45085"/>
            <a:ext cx="7467600" cy="593090"/>
          </a:xfrm>
        </p:spPr>
        <p:txBody>
          <a:bodyPr/>
          <a:lstStyle/>
          <a:p>
            <a:r>
              <a:rPr lang="en-US"/>
              <a:t>Problems about Turing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215" y="621665"/>
            <a:ext cx="7939405" cy="85852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1.	Construct a Turing machine M for the 	language 	L = {a</a:t>
            </a:r>
            <a:r>
              <a:rPr lang="en-US" baseline="30000"/>
              <a:t>n</a:t>
            </a:r>
            <a:r>
              <a:rPr lang="en-US"/>
              <a:t> b</a:t>
            </a:r>
            <a:r>
              <a:rPr lang="en-US" baseline="30000"/>
              <a:t>n</a:t>
            </a:r>
            <a:r>
              <a:rPr lang="en-US"/>
              <a:t> | n ≥ 1}.</a:t>
            </a:r>
          </a:p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0025" y="1591310"/>
            <a:ext cx="8359775" cy="526605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22</a:t>
            </a:fld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80670"/>
            <a:ext cx="8167370" cy="6356985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23</a:t>
            </a:fld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8750" y="0"/>
            <a:ext cx="8844915" cy="296100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67335" y="2941955"/>
            <a:ext cx="8736330" cy="37325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24</a:t>
            </a:fld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705" y="116840"/>
            <a:ext cx="8281035" cy="1586230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sym typeface="+mn-ea"/>
              </a:rPr>
              <a:t>2.	Explain Turing machine as a computer of integer 	functions with an example. or Design a Turing 	machine that computes x+y where x and y are 	positive integers.</a:t>
            </a:r>
          </a:p>
          <a:p>
            <a:pPr marL="0" indent="0">
              <a:buNone/>
            </a:pPr>
            <a:endParaRPr lang="en-US">
              <a:sym typeface="+mn-ea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44805" y="1938655"/>
            <a:ext cx="8388350" cy="468693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25</a:t>
            </a:fld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3365" y="362585"/>
            <a:ext cx="8416925" cy="62179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26</a:t>
            </a:fld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7005" y="108585"/>
            <a:ext cx="8571230" cy="274256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70815" y="3002280"/>
            <a:ext cx="8575675" cy="367601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27</a:t>
            </a:fld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215" y="116840"/>
            <a:ext cx="8199120" cy="1039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3.	Design a Turing machine which reverses the 	given 	string {abb}. 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7865" y="1049020"/>
            <a:ext cx="7616825" cy="52057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28</a:t>
            </a:fld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64820" y="692785"/>
            <a:ext cx="6786880" cy="535495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29</a:t>
            </a:fld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3215" y="836930"/>
            <a:ext cx="8359775" cy="493712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30</a:t>
            </a:fld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95580" y="114935"/>
            <a:ext cx="8543290" cy="655574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31</a:t>
            </a:fld>
            <a:endParaRPr lang="en-I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215" y="116840"/>
            <a:ext cx="8328025" cy="8007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4.	Construct a Turing machine to perform proper 	subtraction.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3840" y="882650"/>
            <a:ext cx="8589010" cy="595312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32</a:t>
            </a:fld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26415" y="400685"/>
            <a:ext cx="5897880" cy="555117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33</a:t>
            </a:fld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35890" y="64770"/>
            <a:ext cx="8797925" cy="302133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86055" y="2940050"/>
            <a:ext cx="8747760" cy="376555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34</a:t>
            </a:fld>
            <a:endParaRPr lang="en-I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215" y="116840"/>
            <a:ext cx="8328025" cy="793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5.	Design a Turing Machine for checking the 	palindrome of the string of even length.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4190" y="1033780"/>
            <a:ext cx="8229600" cy="523621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35</a:t>
            </a:fld>
            <a:endParaRPr lang="en-I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67335"/>
            <a:ext cx="6904990" cy="625030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36</a:t>
            </a:fld>
            <a:endParaRPr lang="en-I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274320"/>
            <a:ext cx="7065010" cy="613537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37</a:t>
            </a:fld>
            <a:endParaRPr lang="en-I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0" y="35560"/>
            <a:ext cx="9020175" cy="2625725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57480" y="2661285"/>
            <a:ext cx="8863330" cy="41389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t>38</a:t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806</Words>
  <Application>Microsoft Office PowerPoint</Application>
  <PresentationFormat>On-screen Show (4:3)</PresentationFormat>
  <Paragraphs>130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 THEORY OF COMPUTATION</vt:lpstr>
      <vt:lpstr>UNIT IV:  Turing machine</vt:lpstr>
      <vt:lpstr>Turing machine</vt:lpstr>
      <vt:lpstr>Church-Turing Thesis</vt:lpstr>
      <vt:lpstr>Programming Techniques for Turing Machine Construction </vt:lpstr>
      <vt:lpstr>Storage in the state or finite control</vt:lpstr>
      <vt:lpstr>Multiple tracks </vt:lpstr>
      <vt:lpstr>Subroutines</vt:lpstr>
      <vt:lpstr>Checking of symbols</vt:lpstr>
      <vt:lpstr>Modifications of the Basic Turing Machine Model</vt:lpstr>
      <vt:lpstr>Multi Tape </vt:lpstr>
      <vt:lpstr>Multi Tape </vt:lpstr>
      <vt:lpstr>Multi Head </vt:lpstr>
      <vt:lpstr>Multi head </vt:lpstr>
      <vt:lpstr>Non deterministic  Turing machine </vt:lpstr>
      <vt:lpstr>Chomskian hierarchy of languages </vt:lpstr>
      <vt:lpstr>Chomskian hierarchy of languages </vt:lpstr>
      <vt:lpstr>Chomskian hierarchy of languages</vt:lpstr>
      <vt:lpstr>Chomskian hierarchy of languages</vt:lpstr>
      <vt:lpstr>Chomskian hierarchy of languages</vt:lpstr>
      <vt:lpstr>Chomskian hierarchy of languages</vt:lpstr>
      <vt:lpstr>Problems about Turing machine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20BT31201 SOFTWARE ENGINEERING</dc:title>
  <dc:creator>ADMIN</dc:creator>
  <cp:lastModifiedBy>Sundareswaran R</cp:lastModifiedBy>
  <cp:revision>244</cp:revision>
  <dcterms:created xsi:type="dcterms:W3CDTF">2021-10-25T04:28:00Z</dcterms:created>
  <dcterms:modified xsi:type="dcterms:W3CDTF">2026-06-22T04:30:46Z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99AFE5F4C98B448B93C3E6F3EAC9822D</vt:lpwstr>
  </property>
  <property fmtid="{D5CDD505-2E9C-101B-9397-08002B2CF9AE}" pid="3" name="KSOProductBuildVer">
    <vt:lpwstr>1033-11.2.0.11380</vt:lpwstr>
  </property>
</Properties>
</file>